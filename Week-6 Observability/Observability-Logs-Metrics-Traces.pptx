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D9D4DC-8A2C-4EF0-BCA6-1FD045332ED8}">
  <a:tblStyle styleId="{DFD9D4DC-8A2C-4EF0-BCA6-1FD045332ED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cold. Do not name a single tool yet.</a:t>
            </a:r>
            <a:br>
              <a:rPr lang="en-US"/>
            </a:br>
            <a:br>
              <a:rPr lang="en-US"/>
            </a:br>
            <a:r>
              <a:rPr lang="en-US"/>
              <a:t>Say: for three months you have been learning to build and ship things. This module is about the part nobody teaches — running the thing after it is live, at 2am, when it is broken and you did not write it.</a:t>
            </a:r>
            <a:br>
              <a:rPr lang="en-US"/>
            </a:br>
            <a:br>
              <a:rPr lang="en-US"/>
            </a:br>
            <a:r>
              <a:rPr lang="en-US"/>
              <a:t>The three dots are the whole module. Everything in the next three days is one of those three colours. Tell them the colours are consistent: amber is always logs, teal is always metrics, purple is always traces — in this deck and in the lab dashboards.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Ask the room: how would you debug this today, with what you know right now?</a:t>
            </a:r>
            <a:br>
              <a:rPr lang="en-US"/>
            </a:br>
            <a:br>
              <a:rPr lang="en-US"/>
            </a:br>
            <a:r>
              <a:rPr lang="en-US"/>
              <a:t>Let them answer. Someone will say 'check the logs'. Push: which logs, on which host, and how do you line up three containers' clocks?</a:t>
            </a:r>
            <a:br>
              <a:rPr lang="en-US"/>
            </a:br>
            <a:br>
              <a:rPr lang="en-US"/>
            </a:br>
            <a:r>
              <a:rPr lang="en-US"/>
              <a:t>Do not solve it. This slide is meant to feel uncomfortable. Everything for the next three days is a response to this discomfort.</a:t>
            </a:r>
            <a:br>
              <a:rPr lang="en-US"/>
            </a:br>
            <a:br>
              <a:rPr lang="en-US"/>
            </a:br>
            <a:r>
              <a:rPr lang="en-US"/>
              <a:t>The callout is the definition to write on the board. Repeat it at the end of Day 3.</a:t>
            </a:r>
            <a:endParaRPr/>
          </a:p>
        </p:txBody>
      </p:sp>
      <p:sp>
        <p:nvSpPr>
          <p:cNvPr id="40" name="Google Shape;4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one piece of vocabulary students will be asked about in interviews, so make it concrete rather than philosophical.</a:t>
            </a:r>
            <a:br>
              <a:rPr lang="en-US"/>
            </a:br>
            <a:br>
              <a:rPr lang="en-US"/>
            </a:br>
            <a:r>
              <a:rPr lang="en-US"/>
              <a:t>The classic framing is known-unknowns versus unknown-unknowns. That phrasing is fine but abstract for this room — the 'does it need a deploy' test lands better.</a:t>
            </a:r>
            <a:br>
              <a:rPr lang="en-US"/>
            </a:br>
            <a:br>
              <a:rPr lang="en-US"/>
            </a:br>
            <a:r>
              <a:rPr lang="en-US"/>
              <a:t>Warn them: the industry uses these words loosely and vendors use 'observability' to mean 'our product'. Do not fight about the words in a job interview. Explain the deploy test instead; it shows you understand the trade.</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mental hook for the whole module. If they remember one slide, make it this one.</a:t>
            </a:r>
            <a:br>
              <a:rPr lang="en-US"/>
            </a:br>
            <a:br>
              <a:rPr lang="en-US"/>
            </a:br>
            <a:r>
              <a:rPr lang="en-US"/>
              <a:t>Call out the ordering inversion explicitly: the incident order is metrics → traces → logs, but the teaching order is logs → metrics → traces. That is deliberate — logs are the signal they already have intuition for from print-debugging, so we start where their intuition already works and build outward.</a:t>
            </a:r>
            <a:br>
              <a:rPr lang="en-US"/>
            </a:br>
            <a:br>
              <a:rPr lang="en-US"/>
            </a:br>
            <a:r>
              <a:rPr lang="en-US"/>
              <a:t>Ask: which of the three do you already produce today without thinking about it? (Answer: logs. Every console.log is an unstructured log line.)</a:t>
            </a:r>
            <a:endParaRPr/>
          </a:p>
        </p:txBody>
      </p:sp>
      <p:sp>
        <p:nvSpPr>
          <p:cNvPr id="92" name="Google Shape;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time here — this table is the spine of the module and the reference students will come back to.</a:t>
            </a:r>
            <a:br>
              <a:rPr lang="en-US"/>
            </a:br>
            <a:br>
              <a:rPr lang="en-US"/>
            </a:br>
            <a:r>
              <a:rPr lang="en-US"/>
              <a:t>Drive the cost line hard: metrics cost is driven by cardinality (how many unique label combinations), not by request volume. Ten million requests against one route is the same cost as ten requests. That is why metrics are always-on and logs are not. It is also why Day 2's cardinality exercise blows up so fast.</a:t>
            </a:r>
            <a:br>
              <a:rPr lang="en-US"/>
            </a:br>
            <a:br>
              <a:rPr lang="en-US"/>
            </a:br>
            <a:r>
              <a:rPr lang="en-US"/>
              <a:t>Ask: if traces contain the timing of every hop, why not just use traces for everything? (Answer: cost, and you cannot alert on a trace you did not sample. Sampling is a Day 3 topic.)</a:t>
            </a:r>
            <a:endParaRPr/>
          </a:p>
        </p:txBody>
      </p:sp>
      <p:sp>
        <p:nvSpPr>
          <p:cNvPr id="127" name="Google Shape;1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this top to bottom as a story, not as a table. This is the narrative arc of a real incident.</a:t>
            </a:r>
            <a:br>
              <a:rPr lang="en-US"/>
            </a:br>
            <a:br>
              <a:rPr lang="en-US"/>
            </a:br>
            <a:r>
              <a:rPr lang="en-US"/>
              <a:t>The key teaching point is the handoff between signals — you do not pick one, you hand off between them. Metric → time window. Trace → service. Log → cause. The whole reason we spend Day 3's last hour on correlation is to make those handoffs one click instead of three tabs and a copy-paste.</a:t>
            </a:r>
            <a:br>
              <a:rPr lang="en-US"/>
            </a:br>
            <a:br>
              <a:rPr lang="en-US"/>
            </a:br>
            <a:r>
              <a:rPr lang="en-US"/>
              <a:t>The 'connection pool exhausted' example is the one they will actually hit in the lab, so plant it here.</a:t>
            </a:r>
            <a:endParaRPr/>
          </a:p>
        </p:txBody>
      </p:sp>
      <p:sp>
        <p:nvSpPr>
          <p:cNvPr id="179" name="Google Shape;17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the antidote to tool panic. Students see 40 logos in a job description and freeze. Show them there are only six slots and every logo fills one of them.</a:t>
            </a:r>
            <a:br>
              <a:rPr lang="en-US"/>
            </a:br>
            <a:br>
              <a:rPr lang="en-US"/>
            </a:br>
            <a:r>
              <a:rPr lang="en-US"/>
              <a:t>Drill: name a tool and ask which slot it fills. Fluent Bit? Slot 2. Thanos? Slot 3. Kibana? Slot 5. PagerDuty? Slot 6. Datadog? Slots 2 through 6, which is exactly why it costs what it costs.</a:t>
            </a:r>
            <a:br>
              <a:rPr lang="en-US"/>
            </a:br>
            <a:br>
              <a:rPr lang="en-US"/>
            </a:br>
            <a:r>
              <a:rPr lang="en-US"/>
              <a:t>The green box is the sentence that pays off on the OpenTelemetry slide at the end. Plant it now.</a:t>
            </a:r>
            <a:endParaRPr/>
          </a:p>
        </p:txBody>
      </p:sp>
      <p:sp>
        <p:nvSpPr>
          <p:cNvPr id="223" name="Google Shape;22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this short — five minutes. It is orientation, not content.</a:t>
            </a:r>
            <a:br>
              <a:rPr lang="en-US"/>
            </a:br>
            <a:br>
              <a:rPr lang="en-US"/>
            </a:br>
            <a:r>
              <a:rPr lang="en-US"/>
              <a:t>The important structural point: the application does not change between days. Only the instrumentation added to it changes. Same code, three lenses. That is why we can compare the signals honestly.</a:t>
            </a:r>
            <a:br>
              <a:rPr lang="en-US"/>
            </a:br>
            <a:br>
              <a:rPr lang="en-US"/>
            </a:br>
            <a:r>
              <a:rPr lang="en-US"/>
              <a:t>Why two API replicas: so that 'which instance served this request' becomes a real question on Day 1, and so load balancing shows up in the traces on Day 3.</a:t>
            </a:r>
            <a:br>
              <a:rPr lang="en-US"/>
            </a:br>
            <a:br>
              <a:rPr lang="en-US"/>
            </a:br>
            <a:r>
              <a:rPr lang="en-US"/>
              <a:t>Mention Promtail if anyone has googled ahead — it hit end of life on 2 March 2026 and Alloy replaces it. Every tutorial older than a year will tell them to use Promtail. Do not.</a:t>
            </a:r>
            <a:endParaRPr/>
          </a:p>
        </p:txBody>
      </p:sp>
      <p:sp>
        <p:nvSpPr>
          <p:cNvPr id="284" name="Google Shape;28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Day 1 as 'making the thing you already do useful'. They have all printed to the console to debug something. The gap between that and a log pipeline is smaller than they think, and the three ideas that close it are: structure, labels, and shipping off the box.</a:t>
            </a:r>
            <a:endParaRPr/>
          </a:p>
        </p:txBody>
      </p:sp>
      <p:sp>
        <p:nvSpPr>
          <p:cNvPr id="353" name="Google Shape;35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the example line out loud, slowly. Every field in it earns its place.</a:t>
            </a:r>
            <a:br>
              <a:rPr lang="en-US"/>
            </a:br>
            <a:br>
              <a:rPr lang="en-US"/>
            </a:br>
            <a:r>
              <a:rPr lang="en-US"/>
              <a:t>Ask the room to critique their own most recent debug print against the four boxes. Most will fail on 'who' and 'what' — a bare value with no identifier.</a:t>
            </a:r>
            <a:br>
              <a:rPr lang="en-US"/>
            </a:br>
            <a:br>
              <a:rPr lang="en-US"/>
            </a:br>
            <a:r>
              <a:rPr lang="en-US"/>
              <a:t>The 'error' anti-example is worth a laugh but make the serious point: an unactionable log line is worse than no log line, because you pay to store it and you still have to read past it.</a:t>
            </a:r>
            <a:endParaRPr/>
          </a:p>
        </p:txBody>
      </p:sp>
      <p:sp>
        <p:nvSpPr>
          <p:cNvPr id="374" name="Google Shape;37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highest-leverage slide of Day 1. If they take one habit away from this module, it is 'JSON to stdout'.</a:t>
            </a:r>
            <a:br>
              <a:rPr lang="en-US"/>
            </a:br>
            <a:br>
              <a:rPr lang="en-US"/>
            </a:br>
            <a:r>
              <a:rPr lang="en-US"/>
              <a:t>Node: pino or winston. Python: structlog or the stdlib logger with a JSON formatter. Go: log/slog with a JSON handler. Java: logback with a JSON encoder. Have them look up the one for their language as homework.</a:t>
            </a:r>
            <a:br>
              <a:rPr lang="en-US"/>
            </a:br>
            <a:br>
              <a:rPr lang="en-US"/>
            </a:br>
            <a:r>
              <a:rPr lang="en-US"/>
              <a:t>The multi-line stack trace point is worth dwelling on — it bites everyone eventually. In an unstructured pipeline a 30-line Java stack trace becomes 30 unrelated events, and the one line naming the exception gets separated from the one naming the cause.</a:t>
            </a:r>
            <a:br>
              <a:rPr lang="en-US"/>
            </a:br>
            <a:br>
              <a:rPr lang="en-US"/>
            </a:br>
            <a:r>
              <a:rPr lang="en-US"/>
              <a:t>The twelve-factor point is the portability argument and it prefigures the OpenTelemetry section. Same principle: keep the vendor out of your source code.</a:t>
            </a:r>
            <a:endParaRPr/>
          </a:p>
        </p:txBody>
      </p:sp>
      <p:sp>
        <p:nvSpPr>
          <p:cNvPr id="414" name="Google Shape;41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right-hand column is not a compliance lecture, it is a career-preservation lecture. Every one of those items has caused a real incident at a real company.</a:t>
            </a:r>
            <a:br>
              <a:rPr lang="en-US"/>
            </a:br>
            <a:br>
              <a:rPr lang="en-US"/>
            </a:br>
            <a:r>
              <a:rPr lang="en-US"/>
              <a:t>The 'just while we debug' line is the one to press on — it is always temporary and it is never removed. If you need a body, log a hash of it, or log it behind a flag that expires.</a:t>
            </a:r>
            <a:br>
              <a:rPr lang="en-US"/>
            </a:br>
            <a:br>
              <a:rPr lang="en-US"/>
            </a:br>
            <a:r>
              <a:rPr lang="en-US"/>
              <a:t>'Redact at the logger' means a serialiser-level redaction list in pino/structlog/logback, not a grep in the query. Once it is written it has been copied.</a:t>
            </a:r>
            <a:br>
              <a:rPr lang="en-US"/>
            </a:br>
            <a:br>
              <a:rPr lang="en-US"/>
            </a:br>
            <a:r>
              <a:rPr lang="en-US"/>
              <a:t>Levels: the common failure is a codebase where 40% of lines are ERROR because someone was scared of missing something. Then the alert on error rate is useless. Levels are a budget — spending them is a review-time decision.</a:t>
            </a:r>
            <a:endParaRPr/>
          </a:p>
        </p:txBody>
      </p:sp>
      <p:sp>
        <p:nvSpPr>
          <p:cNvPr id="445" name="Google Shape;44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Cover the right-hand panel and let them try to read the left one. Ask which request failed. They cannot tell — the two requests interleave and one succeeded.</a:t>
            </a:r>
            <a:br>
              <a:rPr lang="en-US"/>
            </a:br>
            <a:br>
              <a:rPr lang="en-US"/>
            </a:br>
            <a:r>
              <a:rPr lang="en-US"/>
              <a:t>Then reveal. The reaction to how much one field buys is the whole point of the slide.</a:t>
            </a:r>
            <a:br>
              <a:rPr lang="en-US"/>
            </a:br>
            <a:br>
              <a:rPr lang="en-US"/>
            </a:br>
            <a:r>
              <a:rPr lang="en-US"/>
              <a:t>Critically: do not let them build a homegrown request-ID system. Point out that they have just described tracing, badly, and that the standard field name is trace_id with a standard propagation header. On Day 3 they get parent-child structure and timings on top, for free.</a:t>
            </a:r>
            <a:br>
              <a:rPr lang="en-US"/>
            </a:br>
            <a:br>
              <a:rPr lang="en-US"/>
            </a:br>
            <a:r>
              <a:rPr lang="en-US"/>
              <a:t>Practical note for their own work: most web frameworks have a middleware for this already, and OTel's auto-instrumentation puts trace_id in the log context automatically if you wire the logger to it.</a:t>
            </a:r>
            <a:endParaRPr/>
          </a:p>
        </p:txBody>
      </p:sp>
      <p:sp>
        <p:nvSpPr>
          <p:cNvPr id="485" name="Google Shape;48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 2 is the one people skip and then get confused by. The application never writes a log file in a container world. It writes to stdout, the runtime captures it, and the agent reads what the runtime wrote. If a student's app writes to /var/log/app.log inside a container, the log is invisible and dies with the container.</a:t>
            </a:r>
            <a:br>
              <a:rPr lang="en-US"/>
            </a:br>
            <a:br>
              <a:rPr lang="en-US"/>
            </a:br>
            <a:r>
              <a:rPr lang="en-US"/>
              <a:t>The Promtail note will save them an hour of confusion when they google. Say the date out loud.</a:t>
            </a:r>
            <a:br>
              <a:rPr lang="en-US"/>
            </a:br>
            <a:br>
              <a:rPr lang="en-US"/>
            </a:br>
            <a:r>
              <a:rPr lang="en-US"/>
              <a:t>The security point is real and under-taught: mounting the Docker socket into Alloy gives it root on the host. In the lab that is fine. In production, that config file gets the same review as a firewall rule.</a:t>
            </a:r>
            <a:endParaRPr/>
          </a:p>
        </p:txBody>
      </p:sp>
      <p:sp>
        <p:nvSpPr>
          <p:cNvPr id="520" name="Google Shape;52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concept that makes Loki feel broken to anyone coming from Elasticsearch, so get ahead of it.</a:t>
            </a:r>
            <a:br>
              <a:rPr lang="en-US"/>
            </a:br>
            <a:br>
              <a:rPr lang="en-US"/>
            </a:br>
            <a:r>
              <a:rPr lang="en-US"/>
              <a:t>The analogy that works: an Elasticsearch index is like the index at the back of a textbook — every word listed with page numbers, and the index is nearly as thick as the book. Loki is like a shelf of labelled boxes — finding the right box is instant, then you read that box front to back.</a:t>
            </a:r>
            <a:br>
              <a:rPr lang="en-US"/>
            </a:br>
            <a:br>
              <a:rPr lang="en-US"/>
            </a:br>
            <a:r>
              <a:rPr lang="en-US"/>
              <a:t>Which is right? Depends on whether you usually know roughly where to look. For service logs you almost always do — you know the service and the time window. For security forensics across everything, you often do not, and full-text earns its cost.</a:t>
            </a:r>
            <a:br>
              <a:rPr lang="en-US"/>
            </a:br>
            <a:br>
              <a:rPr lang="en-US"/>
            </a:br>
            <a:r>
              <a:rPr lang="en-US"/>
              <a:t>The query example is worth writing on the board: the curly braces are the cheap part, the pipe is the expensive part.</a:t>
            </a:r>
            <a:endParaRPr/>
          </a:p>
        </p:txBody>
      </p:sp>
      <p:sp>
        <p:nvSpPr>
          <p:cNvPr id="580" name="Google Shape;58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 these live in Grafana rather than reading the slide. Start at rung 1 and add one thing at a time, showing the result each time.</a:t>
            </a:r>
            <a:br>
              <a:rPr lang="en-US"/>
            </a:br>
            <a:br>
              <a:rPr lang="en-US"/>
            </a:br>
            <a:r>
              <a:rPr lang="en-US"/>
              <a:t>Rung 4 is the slide that ties Day 1 to Day 2, so do not rush it. Point out that rate() over a log stream produces exactly the same shape of data as a Prometheus counter — which is why you can alert on it and graph it next to real metrics. Also point out the cost: this scans logs on every evaluation, so it is the expensive way to get a number you could have emitted as a counter.</a:t>
            </a:r>
            <a:br>
              <a:rPr lang="en-US"/>
            </a:br>
            <a:br>
              <a:rPr lang="en-US"/>
            </a:br>
            <a:r>
              <a:rPr lang="en-US"/>
              <a:t>The closing line is the transferable skill. Nobody should learn LogQL as LogQL. They should learn 'select, filter, parse, aggregate' and then look up the syntax for whatever they are handed at work.</a:t>
            </a:r>
            <a:endParaRPr/>
          </a:p>
        </p:txBody>
      </p:sp>
      <p:sp>
        <p:nvSpPr>
          <p:cNvPr id="607" name="Google Shape;60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 the arithmetic on the board rather than reading it: 500 × 8 = 4,000 lines/sec, × 86,400 = ~345 million lines/day, × 1 KB = ~345 GB/day. Let them feel it.</a:t>
            </a:r>
            <a:br>
              <a:rPr lang="en-US"/>
            </a:br>
            <a:br>
              <a:rPr lang="en-US"/>
            </a:br>
            <a:r>
              <a:rPr lang="en-US"/>
              <a:t>Deliberately do not put per-GB prices on the slide — they change, and they vary enormously by vendor and tier. What does not change is that ingest volume is the meter. Tell them to look up current pricing when they need it.</a:t>
            </a:r>
            <a:br>
              <a:rPr lang="en-US"/>
            </a:br>
            <a:br>
              <a:rPr lang="en-US"/>
            </a:br>
            <a:r>
              <a:rPr lang="en-US"/>
              <a:t>The retry-loop point is the one experienced engineers nod at: your logging bill spikes exactly during an incident, which is exactly when you can least afford a rate limit on your own telemetry.</a:t>
            </a:r>
            <a:br>
              <a:rPr lang="en-US"/>
            </a:br>
            <a:br>
              <a:rPr lang="en-US"/>
            </a:br>
            <a:r>
              <a:rPr lang="en-US"/>
              <a:t>Ask: which of the four levers requires a code change, and which can you do this afternoon from a config file? (Retention and tiering are config. Volume and sampling usually are not.)</a:t>
            </a:r>
            <a:endParaRPr/>
          </a:p>
        </p:txBody>
      </p:sp>
      <p:sp>
        <p:nvSpPr>
          <p:cNvPr id="651" name="Google Shape;65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2" name="Google Shape;69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 not try to cover all thirty names. The point is the four columns, which are the four ways any observability capability is ever bought.</a:t>
            </a:r>
            <a:br>
              <a:rPr lang="en-US"/>
            </a:br>
            <a:br>
              <a:rPr lang="en-US"/>
            </a:br>
            <a:r>
              <a:rPr lang="en-US"/>
              <a:t>Useful question for the room: which column is your employer in, and did anyone actually choose it? Most teams end up in column four by default because it was already switched on, and in column three after an incident scared someone.</a:t>
            </a:r>
            <a:br>
              <a:rPr lang="en-US"/>
            </a:br>
            <a:br>
              <a:rPr lang="en-US"/>
            </a:br>
            <a:r>
              <a:rPr lang="en-US"/>
              <a:t>The honest career advice: knowing Loki does not get you a job. Knowing that a log store is a label index plus compressed chunks, and that the query is select-filter-parse-aggregate, lets you be useful on any of these in a week.</a:t>
            </a:r>
            <a:br>
              <a:rPr lang="en-US"/>
            </a:br>
            <a:br>
              <a:rPr lang="en-US"/>
            </a:br>
            <a:r>
              <a:rPr lang="en-US"/>
              <a:t>Same four-column structure repeats for metrics and traces later — tell them so, it makes those slides fast.</a:t>
            </a:r>
            <a:endParaRPr/>
          </a:p>
        </p:txBody>
      </p:sp>
      <p:sp>
        <p:nvSpPr>
          <p:cNvPr id="693" name="Google Shape;69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trade up front: logs keep every detail and cost a fortune. Metrics throw almost everything away — on purpose — and that is why you can alert on them, keep a year of them, and query them instantly. Day 2 is about what to throw away and what to keep.</a:t>
            </a:r>
            <a:endParaRPr/>
          </a:p>
        </p:txBody>
      </p:sp>
      <p:sp>
        <p:nvSpPr>
          <p:cNvPr id="786" name="Google Shape;78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 name="Google Shape;80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the example line field by field. The braces are the part students find alien; make sure they see labels as columns they can group by, exactly like SQL GROUP BY.</a:t>
            </a:r>
            <a:br>
              <a:rPr lang="en-US"/>
            </a:br>
            <a:br>
              <a:rPr lang="en-US"/>
            </a:br>
            <a:r>
              <a:rPr lang="en-US"/>
              <a:t>The 'cost scales with cardinality, not traffic' line is the single most important sentence of Day 2, and it is deeply counter-intuitive to anyone whose mental model came from logs. Say it twice. It is what makes the cardinality exercise land two slides from now.</a:t>
            </a:r>
            <a:br>
              <a:rPr lang="en-US"/>
            </a:br>
            <a:br>
              <a:rPr lang="en-US"/>
            </a:br>
            <a:r>
              <a:rPr lang="en-US"/>
              <a:t>The warn box is the honest limit. If a student ever proposes solving a debugging problem by adding a metric with an order ID in it, this slide is why the answer is no.</a:t>
            </a:r>
            <a:endParaRPr/>
          </a:p>
        </p:txBody>
      </p:sp>
      <p:sp>
        <p:nvSpPr>
          <p:cNvPr id="807" name="Google Shape;80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3" name="Google Shape;84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Get them to classify things out loud before you reveal each answer: number of logged-in users right now? Gauge. Total logins ever? Counter. Time each login took? Histogram.</a:t>
            </a:r>
            <a:br>
              <a:rPr lang="en-US"/>
            </a:br>
            <a:br>
              <a:rPr lang="en-US"/>
            </a:br>
            <a:r>
              <a:rPr lang="en-US"/>
              <a:t>The counter reset point deserves a beat: counters reset on restart, which is why rate() exists — it handles the reset for you. Someone always asks 'why not just subtract'. That is the answer.</a:t>
            </a:r>
            <a:br>
              <a:rPr lang="en-US"/>
            </a:br>
            <a:br>
              <a:rPr lang="en-US"/>
            </a:br>
            <a:r>
              <a:rPr lang="en-US"/>
              <a:t>Summary versus histogram: the rule is 'histogram unless you have a specific reason'. The non-aggregatability of summaries is the reason, and it is fatal the moment you have more than one replica — which is always.</a:t>
            </a:r>
            <a:br>
              <a:rPr lang="en-US"/>
            </a:br>
            <a:br>
              <a:rPr lang="en-US"/>
            </a:br>
            <a:r>
              <a:rPr lang="en-US"/>
              <a:t>The rate-on-a-gauge failure is exercise 4.1 in the Day 2 lab. Flag it now so it is recognition rather than discovery.</a:t>
            </a:r>
            <a:endParaRPr/>
          </a:p>
        </p:txBody>
      </p:sp>
      <p:sp>
        <p:nvSpPr>
          <p:cNvPr id="844" name="Google Shape;84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 name="Google Shape;89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pull-vs-push argument is a decade-old religious war online. Give them the practical version and move on.</a:t>
            </a:r>
            <a:br>
              <a:rPr lang="en-US"/>
            </a:br>
            <a:br>
              <a:rPr lang="en-US"/>
            </a:br>
            <a:r>
              <a:rPr lang="en-US"/>
              <a:t>The strongest genuine argument for pull is the free liveness signal — the 'up' metric. You get 'is this instance reachable' for nothing, on every target, forever. In a push world, absence of data is ambiguous.</a:t>
            </a:r>
            <a:br>
              <a:rPr lang="en-US"/>
            </a:br>
            <a:br>
              <a:rPr lang="en-US"/>
            </a:br>
            <a:r>
              <a:rPr lang="en-US"/>
              <a:t>The strongest genuine argument for push is that a great deal of modern compute is unscrapeable: Lambda, Cloud Run, batch jobs, mobile apps, browsers.</a:t>
            </a:r>
            <a:br>
              <a:rPr lang="en-US"/>
            </a:br>
            <a:br>
              <a:rPr lang="en-US"/>
            </a:br>
            <a:r>
              <a:rPr lang="en-US"/>
              <a:t>Warn them off the classic Pushgateway abuse: using it as a general metrics proxy for normal services. It becomes a stale-data machine, because it keeps serving the last value after the sender is long gone.</a:t>
            </a:r>
            <a:endParaRPr/>
          </a:p>
        </p:txBody>
      </p:sp>
      <p:sp>
        <p:nvSpPr>
          <p:cNvPr id="896" name="Google Shape;89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8" name="Google Shape;92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slide that separates people who have run Prometheus from people who have only read about it. Give it real time.</a:t>
            </a:r>
            <a:br>
              <a:rPr lang="en-US"/>
            </a:br>
            <a:br>
              <a:rPr lang="en-US"/>
            </a:br>
            <a:r>
              <a:rPr lang="en-US"/>
              <a:t>The multiplication is the thing to make visceral: labels do not add, they multiply. Three labels with 10, 20 and 5 values is not 35 series, it is 1,000.</a:t>
            </a:r>
            <a:br>
              <a:rPr lang="en-US"/>
            </a:br>
            <a:br>
              <a:rPr lang="en-US"/>
            </a:br>
            <a:r>
              <a:rPr lang="en-US"/>
              <a:t>The histogram detail is the sting. People reason about cardinality using their counter and forget the histogram sitting next to it with eleven buckets, so the real cost is roughly fourteen times what they estimated.</a:t>
            </a:r>
            <a:br>
              <a:rPr lang="en-US"/>
            </a:br>
            <a:br>
              <a:rPr lang="en-US"/>
            </a:br>
            <a:r>
              <a:rPr lang="en-US"/>
              <a:t>The irreversibility point is what makes this a review-time concern rather than a rollback-time one. You cannot fix it fast. That is why 'is this label bounded' belongs in your PR checklist.</a:t>
            </a:r>
            <a:br>
              <a:rPr lang="en-US"/>
            </a:br>
            <a:br>
              <a:rPr lang="en-US"/>
            </a:br>
            <a:r>
              <a:rPr lang="en-US"/>
              <a:t>Lab hook: exercise 4.3 on Day 2 has them make this exact change and watch prometheus_tsdb_head_series climb in real time. Tell them it is coming.</a:t>
            </a:r>
            <a:endParaRPr/>
          </a:p>
        </p:txBody>
      </p:sp>
      <p:sp>
        <p:nvSpPr>
          <p:cNvPr id="929" name="Google Shape;92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5" name="Google Shape;98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 these live in the Prometheus expression browser, one at a time, showing the result after each. Reading PromQL off a slide teaches nothing.</a:t>
            </a:r>
            <a:br>
              <a:rPr lang="en-US"/>
            </a:br>
            <a:br>
              <a:rPr lang="en-US"/>
            </a:br>
            <a:r>
              <a:rPr lang="en-US"/>
              <a:t>Query 4 is the one to linger on. The 5.. versus 4.. choice is a real judgement call that shows up in every SLO conversation: a 404 for a product that does not exist is the client being wrong, and counting it against your availability makes the number useless. The lab's load generator deliberately sends 3% nonsense requests so that someone gets this wrong first.</a:t>
            </a:r>
            <a:br>
              <a:rPr lang="en-US"/>
            </a:br>
            <a:br>
              <a:rPr lang="en-US"/>
            </a:br>
            <a:r>
              <a:rPr lang="en-US"/>
              <a:t>Both failure modes at the bottom are silent. Emphasise that: PromQL does not have types in the way you would want, so it will happily compute nonsense. The only defence is knowing these two shapes.</a:t>
            </a:r>
            <a:br>
              <a:rPr lang="en-US"/>
            </a:br>
            <a:br>
              <a:rPr lang="en-US"/>
            </a:br>
            <a:r>
              <a:rPr lang="en-US"/>
              <a:t>If time allows, show predict_linear on memory as a bonus — alerting on where memory will be in an hour, rather than where it is, is the trick that gets you the page before the OOM kill.</a:t>
            </a:r>
            <a:endParaRPr/>
          </a:p>
        </p:txBody>
      </p:sp>
      <p:sp>
        <p:nvSpPr>
          <p:cNvPr id="986" name="Google Shape;98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2" name="Google Shape;103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frameworks matter less than having one. The disease this cures is 'we instrumented whatever was easy and now the dashboard has 60 panels and nobody looks at it'.</a:t>
            </a:r>
            <a:br>
              <a:rPr lang="en-US"/>
            </a:br>
            <a:br>
              <a:rPr lang="en-US"/>
            </a:br>
            <a:r>
              <a:rPr lang="en-US"/>
              <a:t>RED is the practical starting point for their own services. USE is for the resources underneath. The Golden Signals are the interview answer.</a:t>
            </a:r>
            <a:br>
              <a:rPr lang="en-US"/>
            </a:br>
            <a:br>
              <a:rPr lang="en-US"/>
            </a:br>
            <a:r>
              <a:rPr lang="en-US"/>
              <a:t>Saturation is worth a specific example: a connection pool at 100% utilisation with 193 requests queued is saturated, and it is the thing that actually took down the payment service in our earlier example. Utilisation alone would have shown 100% and looked the same as healthy peak load.</a:t>
            </a:r>
            <a:br>
              <a:rPr lang="en-US"/>
            </a:br>
            <a:br>
              <a:rPr lang="en-US"/>
            </a:br>
            <a:r>
              <a:rPr lang="en-US"/>
              <a:t>The business-metric point is the mark of a senior engineer. Give the concrete failure: every dashboard green, CPU fine, latency fine, error rate fine — because the payment provider silently started rejecting every transaction with a 200 response and a 'declined' body. Only orders_placed_total drops.</a:t>
            </a:r>
            <a:endParaRPr/>
          </a:p>
        </p:txBody>
      </p:sp>
      <p:sp>
        <p:nvSpPr>
          <p:cNvPr id="1033" name="Google Shape;103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8" name="Google Shape;106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two-humped distribution is the thing to draw on the board if the chart does not land: one hump at 90ms for cache hits, one at 2s for pool waits, and the average sits in the empty valley between them where literally no request lives.</a:t>
            </a:r>
            <a:br>
              <a:rPr lang="en-US"/>
            </a:br>
            <a:br>
              <a:rPr lang="en-US"/>
            </a:br>
            <a:r>
              <a:rPr lang="en-US"/>
              <a:t>42,000 people is the number to say out loud. Percentiles feel abstract until you multiply by traffic.</a:t>
            </a:r>
            <a:br>
              <a:rPr lang="en-US"/>
            </a:br>
            <a:br>
              <a:rPr lang="en-US"/>
            </a:br>
            <a:r>
              <a:rPr lang="en-US"/>
              <a:t>The 'cannot average percentiles' rule connects straight back to why we prefer histograms over summaries — histograms let you sum the bucket counts across instances and then compute the quantile, which is the mathematically correct order. Summaries do not.</a:t>
            </a:r>
            <a:br>
              <a:rPr lang="en-US"/>
            </a:br>
            <a:br>
              <a:rPr lang="en-US"/>
            </a:br>
            <a:r>
              <a:rPr lang="en-US"/>
              <a:t>If someone asks about p99.9 versus p99: cost. Each nine costs more engineering than the one before it, and the right target comes from what you promised, not from ambition.</a:t>
            </a:r>
            <a:endParaRPr/>
          </a:p>
        </p:txBody>
      </p:sp>
      <p:sp>
        <p:nvSpPr>
          <p:cNvPr id="1069" name="Google Shape;106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4" name="Google Shape;109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interesting structural fact here: Prometheus won the data model. Even competitors accept Prometheus remote-write and speak PromQL, because nobody wants to be the product that cannot ingest what customers already emit.</a:t>
            </a:r>
            <a:br>
              <a:rPr lang="en-US"/>
            </a:br>
            <a:br>
              <a:rPr lang="en-US"/>
            </a:br>
            <a:r>
              <a:rPr lang="en-US"/>
              <a:t>That is very good news for students — learn Prometheus properly and the knowledge transfers to nearly every option on this slide.</a:t>
            </a:r>
            <a:br>
              <a:rPr lang="en-US"/>
            </a:br>
            <a:br>
              <a:rPr lang="en-US"/>
            </a:br>
            <a:r>
              <a:rPr lang="en-US"/>
              <a:t>Call out the custom-metric pricing model on the SaaS column. It is where the cardinality lesson becomes a literal invoice: some vendors bill per unique time series, so one careless label is a line item your manager sees.</a:t>
            </a:r>
            <a:br>
              <a:rPr lang="en-US"/>
            </a:br>
            <a:br>
              <a:rPr lang="en-US"/>
            </a:br>
            <a:r>
              <a:rPr lang="en-US"/>
              <a:t>Chronosphere is worth a sentence: it was built specifically to control metric cost and cardinality at scale, and Palo Alto Networks bought it in January 2026 for over three billion dollars. That tells you how expensive this problem is for large companies.</a:t>
            </a:r>
            <a:endParaRPr/>
          </a:p>
        </p:txBody>
      </p:sp>
      <p:sp>
        <p:nvSpPr>
          <p:cNvPr id="1095" name="Google Shape;109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3" name="Google Shape;118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Day 3 is the one students find genuinely new. Logs and metrics have analogues they already know — print statements and counters. Traces do not. The mental model to install: a trace is a call stack that spans machines.</a:t>
            </a:r>
            <a:endParaRPr/>
          </a:p>
        </p:txBody>
      </p:sp>
      <p:sp>
        <p:nvSpPr>
          <p:cNvPr id="1184" name="Google Shape;118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4" name="Google Shape;120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'every dashboard is green' problem is the one to make personal. In a nine-service request each service measures only its own CPU time and reports honestly that it is fast, because most of its wall-clock time was spent blocked on a downstream call it does not measure.</a:t>
            </a:r>
            <a:br>
              <a:rPr lang="en-US"/>
            </a:br>
            <a:br>
              <a:rPr lang="en-US"/>
            </a:br>
            <a:r>
              <a:rPr lang="en-US"/>
              <a:t>The clock drift point is worth stating even though NTP is good now: milliseconds of skew between hosts are enough to invert the apparent order of two events that are 3ms apart, and you will confidently build a wrong theory on it. Traces carry explicit parent-child links, so ordering is structural rather than inferred.</a:t>
            </a:r>
            <a:br>
              <a:rPr lang="en-US"/>
            </a:br>
            <a:br>
              <a:rPr lang="en-US"/>
            </a:br>
            <a:r>
              <a:rPr lang="en-US"/>
              <a:t>End on the one-sentence definition and make them write it down.</a:t>
            </a:r>
            <a:endParaRPr/>
          </a:p>
        </p:txBody>
      </p:sp>
      <p:sp>
        <p:nvSpPr>
          <p:cNvPr id="1205" name="Google Shape;120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7" name="Google Shape;124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waterfall left to right, out loud, as a story. The visual grammar — nesting means causality, width means duration, indentation means depth — is what they need to internalise; the field names are secondary.</a:t>
            </a:r>
            <a:br>
              <a:rPr lang="en-US"/>
            </a:br>
            <a:br>
              <a:rPr lang="en-US"/>
            </a:br>
            <a:r>
              <a:rPr lang="en-US"/>
              <a:t>The last point on the attributes card matters and students miss it: high cardinality is a catastrophe on a metric label and completely fine on a span attribute. Put the order ID on the span. Traces are stored as individual events, so uniqueness costs nothing structurally — the cost control for traces is sampling, not cardinality.</a:t>
            </a:r>
            <a:br>
              <a:rPr lang="en-US"/>
            </a:br>
            <a:br>
              <a:rPr lang="en-US"/>
            </a:br>
            <a:r>
              <a:rPr lang="en-US"/>
              <a:t>That asymmetry is one of the best answers to 'why do we need three signals'.</a:t>
            </a:r>
            <a:endParaRPr/>
          </a:p>
        </p:txBody>
      </p:sp>
      <p:sp>
        <p:nvSpPr>
          <p:cNvPr id="1248" name="Google Shape;124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5" name="Google Shape;129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header is the whole mechanism. Show it in the browser dev tools on the lab app so it stops being abstract.</a:t>
            </a:r>
            <a:br>
              <a:rPr lang="en-US"/>
            </a:br>
            <a:br>
              <a:rPr lang="en-US"/>
            </a:br>
            <a:r>
              <a:rPr lang="en-US"/>
              <a:t>The sampled flag at the end is worth pointing at now and paying off on the sampling slide: the decision is usually made once, at the root, and carried down. That is why a trace is either fully kept or fully dropped, rather than half-sampled and useless.</a:t>
            </a:r>
            <a:br>
              <a:rPr lang="en-US"/>
            </a:br>
            <a:br>
              <a:rPr lang="en-US"/>
            </a:br>
            <a:r>
              <a:rPr lang="en-US"/>
              <a:t>The queue case is the one that bites teams in production. HTTP libraries get instrumented automatically; a message you publish to Kafka or RabbitMQ does not carry the header unless somebody explicitly puts it in the message attributes. If a student's system is event-driven, this is the thing to warn them about.</a:t>
            </a:r>
            <a:br>
              <a:rPr lang="en-US"/>
            </a:br>
            <a:br>
              <a:rPr lang="en-US"/>
            </a:br>
            <a:r>
              <a:rPr lang="en-US"/>
              <a:t>Diagnostic tip worth repeating: many short traces that all root at the same service means the caller before it is not propagating.</a:t>
            </a:r>
            <a:endParaRPr/>
          </a:p>
        </p:txBody>
      </p:sp>
      <p:sp>
        <p:nvSpPr>
          <p:cNvPr id="1296" name="Google Shape;129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0" name="Google Shape;134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sequencing advice is the real content here. Level 1 everywhere beats level 3 in one place, every time, because a trace is only as complete as its least instrumented hop.</a:t>
            </a:r>
            <a:br>
              <a:rPr lang="en-US"/>
            </a:br>
            <a:br>
              <a:rPr lang="en-US"/>
            </a:br>
            <a:r>
              <a:rPr lang="en-US"/>
              <a:t>Demo if you can: run the lab app with and without the auto-instrumentation flag and show the difference in Jaeger. It is a striking before-and-after.</a:t>
            </a:r>
            <a:br>
              <a:rPr lang="en-US"/>
            </a:br>
            <a:br>
              <a:rPr lang="en-US"/>
            </a:br>
            <a:r>
              <a:rPr lang="en-US"/>
              <a:t>service.name is worth its own beat. It is the single most common misconfiguration in OpenTelemetry — everything works, spans arrive, and every service is called unknown_service, so the trace is unreadable.</a:t>
            </a:r>
            <a:br>
              <a:rPr lang="en-US"/>
            </a:br>
            <a:br>
              <a:rPr lang="en-US"/>
            </a:br>
            <a:r>
              <a:rPr lang="en-US"/>
              <a:t>For level 3, the good instinct is: instrument the thing you had to guess about during the last incident. Every incident is a suggestion for one more attribute.</a:t>
            </a:r>
            <a:endParaRPr/>
          </a:p>
        </p:txBody>
      </p:sp>
      <p:sp>
        <p:nvSpPr>
          <p:cNvPr id="1341" name="Google Shape;134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6" name="Google Shape;138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390 million number is the whole argument. Say it and let it sit.</a:t>
            </a:r>
            <a:br>
              <a:rPr lang="en-US"/>
            </a:br>
            <a:br>
              <a:rPr lang="en-US"/>
            </a:br>
            <a:r>
              <a:rPr lang="en-US"/>
              <a:t>The conceptual point students most often miss: sampling is per trace, not per span. You keep a whole request or none of it, because half a trace is worse than useless.</a:t>
            </a:r>
            <a:br>
              <a:rPr lang="en-US"/>
            </a:br>
            <a:br>
              <a:rPr lang="en-US"/>
            </a:br>
            <a:r>
              <a:rPr lang="en-US"/>
              <a:t>Tail sampling is what everybody wants and what most teams do not run, because it needs a stateful collector layer with consistent routing. If a student's future employer runs it, they have a real observability team.</a:t>
            </a:r>
            <a:br>
              <a:rPr lang="en-US"/>
            </a:br>
            <a:br>
              <a:rPr lang="en-US"/>
            </a:br>
            <a:r>
              <a:rPr lang="en-US"/>
              <a:t>The closing warning is the one to test them on. It is the most common misuse of tracing in real teams: someone builds a dashboard by counting traces, and the numbers are silently wrong by a factor of a hundred. Traces answer 'why is this one slow', metrics answer 'how many'.</a:t>
            </a:r>
            <a:br>
              <a:rPr lang="en-US"/>
            </a:br>
            <a:br>
              <a:rPr lang="en-US"/>
            </a:br>
            <a:r>
              <a:rPr lang="en-US"/>
              <a:t>In our lab we run 100% sampling because volume is tiny. Say explicitly that this is a lab-only luxury.</a:t>
            </a:r>
            <a:endParaRPr/>
          </a:p>
        </p:txBody>
      </p:sp>
      <p:sp>
        <p:nvSpPr>
          <p:cNvPr id="1387" name="Google Shape;138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0" name="Google Shape;1420;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diagnostic pattern language. It is what actually makes tracing useful in an incident, and almost nobody teaches it explicitly.</a:t>
            </a:r>
            <a:br>
              <a:rPr lang="en-US"/>
            </a:br>
            <a:br>
              <a:rPr lang="en-US"/>
            </a:br>
            <a:r>
              <a:rPr lang="en-US"/>
              <a:t>The staircase is the most common real finding in a first tracing rollout — an ORM lazily loading in a loop. Teams routinely discover N+1 queries that had been there for years the week they turn tracing on.</a:t>
            </a:r>
            <a:br>
              <a:rPr lang="en-US"/>
            </a:br>
            <a:br>
              <a:rPr lang="en-US"/>
            </a:br>
            <a:r>
              <a:rPr lang="en-US"/>
              <a:t>The comb versus staircase distinction is the one to drill: same number of calls, same total work, wildly different user experience. Ask them which one they would rather have and why.</a:t>
            </a:r>
            <a:br>
              <a:rPr lang="en-US"/>
            </a:br>
            <a:br>
              <a:rPr lang="en-US"/>
            </a:br>
            <a:r>
              <a:rPr lang="en-US"/>
              <a:t>The gap deserves the emphasis it gets. Empty space is invisible, so people's eyes slide over it. Teach them to look for it deliberately: if the parent is 2000ms and the children add up to 200ms, the other 1800ms is the story.</a:t>
            </a:r>
            <a:br>
              <a:rPr lang="en-US"/>
            </a:br>
            <a:br>
              <a:rPr lang="en-US"/>
            </a:br>
            <a:r>
              <a:rPr lang="en-US"/>
              <a:t>In the lab they will see a gap that turns out to be connection pool wait time.</a:t>
            </a:r>
            <a:endParaRPr/>
          </a:p>
        </p:txBody>
      </p:sp>
      <p:sp>
        <p:nvSpPr>
          <p:cNvPr id="1421" name="Google Shape;1421;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8" name="Google Shape;1478;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the Lightstep story properly, it is the most instructive thing on this slide. Lightstep was founded by Ben Sigelman, who worked on Dapper at Google — the paper that invented distributed tracing — and was a driving force behind OpenTelemetry. ServiceNow bought them in 2021, absorbed the technology into their ITSM products, and shut the standalone product down on 1 March 2026 with no replacement.</a:t>
            </a:r>
            <a:br>
              <a:rPr lang="en-US"/>
            </a:br>
            <a:br>
              <a:rPr lang="en-US"/>
            </a:br>
            <a:r>
              <a:rPr lang="en-US"/>
              <a:t>The moral is not 'SaaS is bad'. It is that the vendor you choose today may not exist in three years, and the cost of that event depends entirely on one decision: whether your instrumentation is theirs or yours.</a:t>
            </a:r>
            <a:br>
              <a:rPr lang="en-US"/>
            </a:br>
            <a:br>
              <a:rPr lang="en-US"/>
            </a:br>
            <a:r>
              <a:rPr lang="en-US"/>
              <a:t>Customers who had instrumented with OTel changed an exporter endpoint. Customers on the proprietary agent re-instrumented every service under a deadline.</a:t>
            </a:r>
            <a:br>
              <a:rPr lang="en-US"/>
            </a:br>
            <a:br>
              <a:rPr lang="en-US"/>
            </a:br>
            <a:r>
              <a:rPr lang="en-US"/>
              <a:t>This sets up the OpenTelemetry slide, so land it hard and move straight on.</a:t>
            </a:r>
            <a:endParaRPr/>
          </a:p>
        </p:txBody>
      </p:sp>
      <p:sp>
        <p:nvSpPr>
          <p:cNvPr id="1479" name="Google Shape;1479;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7" name="Google Shape;1567;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section is the one that makes the module worth more than three tool tutorials. It is also the part that maps directly onto decisions they will be in the room for at work.</a:t>
            </a:r>
            <a:endParaRPr/>
          </a:p>
        </p:txBody>
      </p:sp>
      <p:sp>
        <p:nvSpPr>
          <p:cNvPr id="1568" name="Google Shape;1568;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0" name="Google Shape;159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this as the answer to the anxiety the vendor slides created. They just saw four columns of names, some of which will not exist in three years. OTel is the reason that is survivable.</a:t>
            </a:r>
            <a:br>
              <a:rPr lang="en-US"/>
            </a:br>
            <a:br>
              <a:rPr lang="en-US"/>
            </a:br>
            <a:r>
              <a:rPr lang="en-US"/>
              <a:t>Semantic conventions deserve more attention than they get. They are the unglamorous part that makes a Grafana dashboard built for one service work for another written in a different language — because both call it http.response.status_code rather than status, http_status or responseCode.</a:t>
            </a:r>
            <a:br>
              <a:rPr lang="en-US"/>
            </a:br>
            <a:br>
              <a:rPr lang="en-US"/>
            </a:br>
            <a:r>
              <a:rPr lang="en-US"/>
              <a:t>Be honest about maturity. Logs are the least mature of the three signals in OTel, and in several languages the log bridge is newer than the tracing support. Do not let them promise a full OTel logs migration at work without checking.</a:t>
            </a:r>
            <a:br>
              <a:rPr lang="en-US"/>
            </a:br>
            <a:br>
              <a:rPr lang="en-US"/>
            </a:br>
            <a:r>
              <a:rPr lang="en-US"/>
              <a:t>The dual-export point is a genuinely useful trick worth mentioning: you can send to your incumbent and to a candidate simultaneously during an evaluation, with no code change.</a:t>
            </a:r>
            <a:endParaRPr/>
          </a:p>
        </p:txBody>
      </p:sp>
      <p:sp>
        <p:nvSpPr>
          <p:cNvPr id="1591" name="Google Shape;1591;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5" name="Google Shape;1625;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Sell the collector on the organisational argument, not the technical one. In a company with eight teams, 'change your code' is a quarter of negotiation. 'Change the collector config' is an afternoon and one pull request that you own.</a:t>
            </a:r>
            <a:br>
              <a:rPr lang="en-US"/>
            </a:br>
            <a:br>
              <a:rPr lang="en-US"/>
            </a:br>
            <a:r>
              <a:rPr lang="en-US"/>
              <a:t>The cost story is the one that gets budget approved: find the top metric by series count, drop it in a processor, ship it, watch the bill fall. No application team is involved.</a:t>
            </a:r>
            <a:br>
              <a:rPr lang="en-US"/>
            </a:br>
            <a:br>
              <a:rPr lang="en-US"/>
            </a:br>
            <a:r>
              <a:rPr lang="en-US"/>
              <a:t>The redaction point is the incident-response version: someone logs a token, and you can stop it at the collector within minutes rather than waiting for eight deploys.</a:t>
            </a:r>
            <a:br>
              <a:rPr lang="en-US"/>
            </a:br>
            <a:br>
              <a:rPr lang="en-US"/>
            </a:br>
            <a:r>
              <a:rPr lang="en-US"/>
              <a:t>Tie back explicitly: Alloy on Day 1 is this, with Grafana's defaults. They have already used a Collector without knowing it.</a:t>
            </a:r>
            <a:endParaRPr/>
          </a:p>
        </p:txBody>
      </p:sp>
      <p:sp>
        <p:nvSpPr>
          <p:cNvPr id="1626" name="Google Shape;1626;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7" name="Google Shape;166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slide that answers 'why not just pick one signal'. The value is superlinear — three joined signals are worth much more than three separate ones.</a:t>
            </a:r>
            <a:br>
              <a:rPr lang="en-US"/>
            </a:br>
            <a:br>
              <a:rPr lang="en-US"/>
            </a:br>
            <a:r>
              <a:rPr lang="en-US"/>
              <a:t>Exemplars are worth explaining slowly because they are unfamiliar and slightly magical: a histogram bucket stores, alongside its count, the trace_id of one example request that landed in it. So the p99 bar on your graph is clickable, and it opens an actual slow request. That is the single best feature in modern observability tooling and hardly anyone turns it on.</a:t>
            </a:r>
            <a:br>
              <a:rPr lang="en-US"/>
            </a:br>
            <a:br>
              <a:rPr lang="en-US"/>
            </a:br>
            <a:r>
              <a:rPr lang="en-US"/>
              <a:t>The naming failure on the right is real and mundane and it defeats all of this. payment versus payment-svc versus payments is how correlation dies in practice, which is why OTel semantic conventions and a shared service.name matter more than they sound.</a:t>
            </a:r>
            <a:br>
              <a:rPr lang="en-US"/>
            </a:br>
            <a:br>
              <a:rPr lang="en-US"/>
            </a:br>
            <a:r>
              <a:rPr lang="en-US"/>
              <a:t>Demo this in Grafana on Day 3 if the timing allows — it is the moment the module clicks for most students.</a:t>
            </a:r>
            <a:endParaRPr/>
          </a:p>
        </p:txBody>
      </p:sp>
      <p:sp>
        <p:nvSpPr>
          <p:cNvPr id="1668" name="Google Shape;1668;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4" name="Shape 1714"/>
        <p:cNvGrpSpPr/>
        <p:nvPr/>
      </p:nvGrpSpPr>
      <p:grpSpPr>
        <a:xfrm>
          <a:off x="0" y="0"/>
          <a:ext cx="0" cy="0"/>
          <a:chOff x="0" y="0"/>
          <a:chExt cx="0" cy="0"/>
        </a:xfrm>
      </p:grpSpPr>
      <p:sp>
        <p:nvSpPr>
          <p:cNvPr id="1715" name="Google Shape;171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6" name="Google Shape;171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them a minute to just read it. This is the reference page they will photograph.</a:t>
            </a:r>
            <a:br>
              <a:rPr lang="en-US"/>
            </a:br>
            <a:br>
              <a:rPr lang="en-US"/>
            </a:br>
            <a:r>
              <a:rPr lang="en-US"/>
              <a:t>Do not test them on names. Test them on the columns: given a company, which column should they be in and why?</a:t>
            </a:r>
            <a:br>
              <a:rPr lang="en-US"/>
            </a:br>
            <a:br>
              <a:rPr lang="en-US"/>
            </a:br>
            <a:r>
              <a:rPr lang="en-US"/>
              <a:t>The fourth row is the one people forget exists — collection is a separate decision from storage, and it is the decision that determines how expensive the other ones are to change. A team using the OTel Collector can move between columns. A team using a vendor agent cannot.</a:t>
            </a:r>
            <a:br>
              <a:rPr lang="en-US"/>
            </a:br>
            <a:br>
              <a:rPr lang="en-US"/>
            </a:br>
            <a:r>
              <a:rPr lang="en-US"/>
              <a:t>If someone asks 'which is best': the honest answer is that below about twenty engineers, managed anything beats self-hosting, because the salary cost of running Elasticsearch dwarfs the licence. Above a few hundred, the SaaS bill starts justifying a platform team. Almost nobody should start by self-hosting a log cluster.</a:t>
            </a:r>
            <a:endParaRPr/>
          </a:p>
        </p:txBody>
      </p:sp>
      <p:sp>
        <p:nvSpPr>
          <p:cNvPr id="1717" name="Google Shape;1717;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0" name="Shape 1730"/>
        <p:cNvGrpSpPr/>
        <p:nvPr/>
      </p:nvGrpSpPr>
      <p:grpSpPr>
        <a:xfrm>
          <a:off x="0" y="0"/>
          <a:ext cx="0" cy="0"/>
          <a:chOff x="0" y="0"/>
          <a:chExt cx="0" cy="0"/>
        </a:xfrm>
      </p:grpSpPr>
      <p:sp>
        <p:nvSpPr>
          <p:cNvPr id="1731" name="Google Shape;173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2" name="Google Shape;173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'observability stack dies during the outage' point is not hypothetical and it is the strongest argument against self-hosting for a small team. If your Loki cluster and your application share infrastructure, they fail together, and you are blind exactly when you need to see.</a:t>
            </a:r>
            <a:br>
              <a:rPr lang="en-US"/>
            </a:br>
            <a:br>
              <a:rPr lang="en-US"/>
            </a:br>
            <a:r>
              <a:rPr lang="en-US"/>
              <a:t>The finance framing is worth spelling out because it surprises engineers: with per-custom-metric or per-GB pricing, adding a label is a purchasing decision. Engineers are not used to their code changes appearing on an invoice, and that is genuinely a new kind of constraint to design against.</a:t>
            </a:r>
            <a:br>
              <a:rPr lang="en-US"/>
            </a:br>
            <a:br>
              <a:rPr lang="en-US"/>
            </a:br>
            <a:r>
              <a:rPr lang="en-US"/>
              <a:t>The bottom line is the sentence to take to work. Own steps 1 and 2 from the pipeline slide; rent steps 3 to 6. It is also the sentence that makes the Lightstep story survivable rather than fatal.</a:t>
            </a:r>
            <a:endParaRPr/>
          </a:p>
        </p:txBody>
      </p:sp>
      <p:sp>
        <p:nvSpPr>
          <p:cNvPr id="1733" name="Google Shape;1733;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0" name="Shape 1760"/>
        <p:cNvGrpSpPr/>
        <p:nvPr/>
      </p:nvGrpSpPr>
      <p:grpSpPr>
        <a:xfrm>
          <a:off x="0" y="0"/>
          <a:ext cx="0" cy="0"/>
          <a:chOff x="0" y="0"/>
          <a:chExt cx="0" cy="0"/>
        </a:xfrm>
      </p:grpSpPr>
      <p:sp>
        <p:nvSpPr>
          <p:cNvPr id="1761" name="Google Shape;176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2" name="Google Shape;1762;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expectations honestly. The 'break it on purpose' rhythm is the pedagogical core: a tool you have only used when it worked is a tool you cannot debug.</a:t>
            </a:r>
            <a:br>
              <a:rPr lang="en-US"/>
            </a:br>
            <a:br>
              <a:rPr lang="en-US"/>
            </a:br>
            <a:r>
              <a:rPr lang="en-US"/>
              <a:t>Repeat the lab's own warning: nothing in the rig persists, nothing is authenticated, retention is capped at an hour so laptops survive, and traces are sampled at 100%. Every one of those would be wrong in production, and each day names its own gap.</a:t>
            </a:r>
            <a:br>
              <a:rPr lang="en-US"/>
            </a:br>
            <a:br>
              <a:rPr lang="en-US"/>
            </a:br>
            <a:r>
              <a:rPr lang="en-US"/>
              <a:t>If you are short on time, Day 2's cardinality exercise and Day 3's propagation break are the two that must not be cut. They are the ones that produce the recognition later.</a:t>
            </a:r>
            <a:endParaRPr/>
          </a:p>
        </p:txBody>
      </p:sp>
      <p:sp>
        <p:nvSpPr>
          <p:cNvPr id="1763" name="Google Shape;1763;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0" name="Shape 1800"/>
        <p:cNvGrpSpPr/>
        <p:nvPr/>
      </p:nvGrpSpPr>
      <p:grpSpPr>
        <a:xfrm>
          <a:off x="0" y="0"/>
          <a:ext cx="0" cy="0"/>
          <a:chOff x="0" y="0"/>
          <a:chExt cx="0" cy="0"/>
        </a:xfrm>
      </p:grpSpPr>
      <p:sp>
        <p:nvSpPr>
          <p:cNvPr id="1801" name="Google Shape;180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2" name="Google Shape;1802;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print-and-pin slide. Tell them so.</a:t>
            </a:r>
            <a:br>
              <a:rPr lang="en-US"/>
            </a:br>
            <a:br>
              <a:rPr lang="en-US"/>
            </a:br>
            <a:r>
              <a:rPr lang="en-US"/>
              <a:t>Good use of the last ten minutes: pick three at random and ask a student to explain why each one is true. If they can explain the why, they have the module.</a:t>
            </a:r>
            <a:br>
              <a:rPr lang="en-US"/>
            </a:br>
            <a:br>
              <a:rPr lang="en-US"/>
            </a:br>
            <a:r>
              <a:rPr lang="en-US"/>
              <a:t>The closing observation is the honest career point. Tools on their CV expire. These twelve do not, and they are what make someone useful in the first week at a company using a stack they have never seen.</a:t>
            </a:r>
            <a:endParaRPr/>
          </a:p>
        </p:txBody>
      </p:sp>
      <p:sp>
        <p:nvSpPr>
          <p:cNvPr id="1803" name="Google Shape;1803;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4" name="Shape 1864"/>
        <p:cNvGrpSpPr/>
        <p:nvPr/>
      </p:nvGrpSpPr>
      <p:grpSpPr>
        <a:xfrm>
          <a:off x="0" y="0"/>
          <a:ext cx="0" cy="0"/>
          <a:chOff x="0" y="0"/>
          <a:chExt cx="0" cy="0"/>
        </a:xfrm>
      </p:grpSpPr>
      <p:sp>
        <p:nvSpPr>
          <p:cNvPr id="1865" name="Google Shape;1865;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6" name="Google Shape;1866;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on the second sentence, not the first. The first is a slogan; the second is the actual lesson, and it is the one that changes how they write code next week.</a:t>
            </a:r>
            <a:br>
              <a:rPr lang="en-US"/>
            </a:br>
            <a:br>
              <a:rPr lang="en-US"/>
            </a:br>
            <a:r>
              <a:rPr lang="en-US"/>
              <a:t>Homework is deliberately tiny and checkable: name your language's structured logging library and say whether it emits JSON by default. That is it.</a:t>
            </a:r>
            <a:br>
              <a:rPr lang="en-US"/>
            </a:br>
            <a:br>
              <a:rPr lang="en-US"/>
            </a:br>
            <a:r>
              <a:rPr lang="en-US"/>
              <a:t>Leave the last question on the board for the whole three days if you can. Every instrumentation decision in the labs is an answer to it.</a:t>
            </a:r>
            <a:endParaRPr/>
          </a:p>
        </p:txBody>
      </p:sp>
      <p:sp>
        <p:nvSpPr>
          <p:cNvPr id="1867" name="Google Shape;1867;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620"/>
        </a:solidFill>
      </p:bgPr>
    </p:bg>
    <p:spTree>
      <p:nvGrpSpPr>
        <p:cNvPr id="15" name="Shape 15"/>
        <p:cNvGrpSpPr/>
        <p:nvPr/>
      </p:nvGrpSpPr>
      <p:grpSpPr>
        <a:xfrm>
          <a:off x="0" y="0"/>
          <a:ext cx="0" cy="0"/>
          <a:chOff x="0" y="0"/>
          <a:chExt cx="0" cy="0"/>
        </a:xfrm>
      </p:grpSpPr>
      <p:sp>
        <p:nvSpPr>
          <p:cNvPr id="16" name="Google Shape;16;p3"/>
          <p:cNvSpPr/>
          <p:nvPr/>
        </p:nvSpPr>
        <p:spPr>
          <a:xfrm>
            <a:off x="566928" y="1170432"/>
            <a:ext cx="310896" cy="310896"/>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42416" y="1170432"/>
            <a:ext cx="310896" cy="310896"/>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1517904" y="1170432"/>
            <a:ext cx="310896" cy="310896"/>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566928" y="1783080"/>
            <a:ext cx="87782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Observability</a:t>
            </a:r>
            <a:endParaRPr b="0" i="0" sz="5400" u="none" cap="none" strike="noStrike">
              <a:solidFill>
                <a:schemeClr val="dk1"/>
              </a:solidFill>
              <a:latin typeface="Calibri"/>
              <a:ea typeface="Calibri"/>
              <a:cs typeface="Calibri"/>
              <a:sym typeface="Calibri"/>
            </a:endParaRPr>
          </a:p>
        </p:txBody>
      </p:sp>
      <p:sp>
        <p:nvSpPr>
          <p:cNvPr id="20" name="Google Shape;20;p3"/>
          <p:cNvSpPr/>
          <p:nvPr/>
        </p:nvSpPr>
        <p:spPr>
          <a:xfrm>
            <a:off x="566928" y="2761488"/>
            <a:ext cx="8778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EBBC7"/>
              </a:buClr>
              <a:buSzPts val="1900"/>
              <a:buFont typeface="Calibri"/>
              <a:buNone/>
            </a:pPr>
            <a:r>
              <a:rPr b="0" i="0" lang="en-US" sz="1900" u="none" cap="none" strike="noStrike">
                <a:solidFill>
                  <a:srgbClr val="AEBBC7"/>
                </a:solidFill>
                <a:latin typeface="Calibri"/>
                <a:ea typeface="Calibri"/>
                <a:cs typeface="Calibri"/>
                <a:sym typeface="Calibri"/>
              </a:rPr>
              <a:t>Logs, metrics and traces — the concepts, before the lab</a:t>
            </a:r>
            <a:endParaRPr b="0" i="0" sz="1900" u="none" cap="none" strike="noStrike">
              <a:solidFill>
                <a:schemeClr val="dk1"/>
              </a:solidFill>
              <a:latin typeface="Calibri"/>
              <a:ea typeface="Calibri"/>
              <a:cs typeface="Calibri"/>
              <a:sym typeface="Calibri"/>
            </a:endParaRPr>
          </a:p>
        </p:txBody>
      </p:sp>
      <p:sp>
        <p:nvSpPr>
          <p:cNvPr id="21" name="Google Shape;21;p3"/>
          <p:cNvSpPr/>
          <p:nvPr/>
        </p:nvSpPr>
        <p:spPr>
          <a:xfrm>
            <a:off x="566928" y="3246120"/>
            <a:ext cx="87782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889A"/>
              </a:buClr>
              <a:buSzPts val="1400"/>
              <a:buFont typeface="Calibri"/>
              <a:buNone/>
            </a:pPr>
            <a:r>
              <a:rPr b="0" i="1" lang="en-US" sz="1400" u="none" cap="none" strike="noStrike">
                <a:solidFill>
                  <a:srgbClr val="76889A"/>
                </a:solidFill>
                <a:latin typeface="Calibri"/>
                <a:ea typeface="Calibri"/>
                <a:cs typeface="Calibri"/>
                <a:sym typeface="Calibri"/>
              </a:rPr>
              <a:t>Three days. One application. Three ways of seeing it.</a:t>
            </a:r>
            <a:endParaRPr b="0" i="0" sz="1400" u="none" cap="none" strike="noStrike">
              <a:solidFill>
                <a:schemeClr val="dk1"/>
              </a:solidFill>
              <a:latin typeface="Calibri"/>
              <a:ea typeface="Calibri"/>
              <a:cs typeface="Calibri"/>
              <a:sym typeface="Calibri"/>
            </a:endParaRPr>
          </a:p>
        </p:txBody>
      </p:sp>
      <p:sp>
        <p:nvSpPr>
          <p:cNvPr id="22" name="Google Shape;22;p3"/>
          <p:cNvSpPr/>
          <p:nvPr/>
        </p:nvSpPr>
        <p:spPr>
          <a:xfrm>
            <a:off x="566928" y="4160520"/>
            <a:ext cx="2148840" cy="841248"/>
          </a:xfrm>
          <a:prstGeom prst="roundRect">
            <a:avLst>
              <a:gd fmla="val 9783" name="adj"/>
            </a:avLst>
          </a:prstGeom>
          <a:solidFill>
            <a:srgbClr val="1C2634"/>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786384" y="4379976"/>
            <a:ext cx="402336" cy="402336"/>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1335024" y="4279392"/>
            <a:ext cx="12801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7"/>
              </a:buClr>
              <a:buSzPts val="950"/>
              <a:buFont typeface="Calibri"/>
              <a:buNone/>
            </a:pPr>
            <a:r>
              <a:rPr b="1" i="0" lang="en-US" sz="950" u="none" cap="none" strike="noStrike">
                <a:solidFill>
                  <a:srgbClr val="8A99A7"/>
                </a:solidFill>
                <a:latin typeface="Calibri"/>
                <a:ea typeface="Calibri"/>
                <a:cs typeface="Calibri"/>
                <a:sym typeface="Calibri"/>
              </a:rPr>
              <a:t>Day 1</a:t>
            </a:r>
            <a:endParaRPr b="0" i="0" sz="950" u="none" cap="none" strike="noStrike">
              <a:solidFill>
                <a:schemeClr val="dk1"/>
              </a:solidFill>
              <a:latin typeface="Calibri"/>
              <a:ea typeface="Calibri"/>
              <a:cs typeface="Calibri"/>
              <a:sym typeface="Calibri"/>
            </a:endParaRPr>
          </a:p>
        </p:txBody>
      </p:sp>
      <p:sp>
        <p:nvSpPr>
          <p:cNvPr id="25" name="Google Shape;25;p3"/>
          <p:cNvSpPr/>
          <p:nvPr/>
        </p:nvSpPr>
        <p:spPr>
          <a:xfrm>
            <a:off x="1335024" y="4517136"/>
            <a:ext cx="1280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Logs</a:t>
            </a:r>
            <a:endParaRPr b="0" i="0" sz="1500" u="none" cap="none" strike="noStrike">
              <a:solidFill>
                <a:schemeClr val="dk1"/>
              </a:solidFill>
              <a:latin typeface="Calibri"/>
              <a:ea typeface="Calibri"/>
              <a:cs typeface="Calibri"/>
              <a:sym typeface="Calibri"/>
            </a:endParaRPr>
          </a:p>
        </p:txBody>
      </p:sp>
      <p:sp>
        <p:nvSpPr>
          <p:cNvPr id="26" name="Google Shape;26;p3"/>
          <p:cNvSpPr/>
          <p:nvPr/>
        </p:nvSpPr>
        <p:spPr>
          <a:xfrm>
            <a:off x="2944368" y="4160520"/>
            <a:ext cx="2148840" cy="841248"/>
          </a:xfrm>
          <a:prstGeom prst="roundRect">
            <a:avLst>
              <a:gd fmla="val 9783" name="adj"/>
            </a:avLst>
          </a:prstGeom>
          <a:solidFill>
            <a:srgbClr val="1C2634"/>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3163824" y="4379976"/>
            <a:ext cx="402336" cy="402336"/>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3712464" y="4279392"/>
            <a:ext cx="12801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7"/>
              </a:buClr>
              <a:buSzPts val="950"/>
              <a:buFont typeface="Calibri"/>
              <a:buNone/>
            </a:pPr>
            <a:r>
              <a:rPr b="1" i="0" lang="en-US" sz="950" u="none" cap="none" strike="noStrike">
                <a:solidFill>
                  <a:srgbClr val="8A99A7"/>
                </a:solidFill>
                <a:latin typeface="Calibri"/>
                <a:ea typeface="Calibri"/>
                <a:cs typeface="Calibri"/>
                <a:sym typeface="Calibri"/>
              </a:rPr>
              <a:t>Day 2</a:t>
            </a:r>
            <a:endParaRPr b="0" i="0" sz="950" u="none" cap="none" strike="noStrike">
              <a:solidFill>
                <a:schemeClr val="dk1"/>
              </a:solidFill>
              <a:latin typeface="Calibri"/>
              <a:ea typeface="Calibri"/>
              <a:cs typeface="Calibri"/>
              <a:sym typeface="Calibri"/>
            </a:endParaRPr>
          </a:p>
        </p:txBody>
      </p:sp>
      <p:sp>
        <p:nvSpPr>
          <p:cNvPr id="29" name="Google Shape;29;p3"/>
          <p:cNvSpPr/>
          <p:nvPr/>
        </p:nvSpPr>
        <p:spPr>
          <a:xfrm>
            <a:off x="3712464" y="4517136"/>
            <a:ext cx="1280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Metrics</a:t>
            </a:r>
            <a:endParaRPr b="0" i="0" sz="1500" u="none" cap="none" strike="noStrike">
              <a:solidFill>
                <a:schemeClr val="dk1"/>
              </a:solidFill>
              <a:latin typeface="Calibri"/>
              <a:ea typeface="Calibri"/>
              <a:cs typeface="Calibri"/>
              <a:sym typeface="Calibri"/>
            </a:endParaRPr>
          </a:p>
        </p:txBody>
      </p:sp>
      <p:sp>
        <p:nvSpPr>
          <p:cNvPr id="30" name="Google Shape;30;p3"/>
          <p:cNvSpPr/>
          <p:nvPr/>
        </p:nvSpPr>
        <p:spPr>
          <a:xfrm>
            <a:off x="5321808" y="4160520"/>
            <a:ext cx="2148840" cy="841248"/>
          </a:xfrm>
          <a:prstGeom prst="roundRect">
            <a:avLst>
              <a:gd fmla="val 9783" name="adj"/>
            </a:avLst>
          </a:prstGeom>
          <a:solidFill>
            <a:srgbClr val="1C2634"/>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5541264" y="4379976"/>
            <a:ext cx="402336" cy="402336"/>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6089904" y="4279392"/>
            <a:ext cx="12801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9A7"/>
              </a:buClr>
              <a:buSzPts val="950"/>
              <a:buFont typeface="Calibri"/>
              <a:buNone/>
            </a:pPr>
            <a:r>
              <a:rPr b="1" i="0" lang="en-US" sz="950" u="none" cap="none" strike="noStrike">
                <a:solidFill>
                  <a:srgbClr val="8A99A7"/>
                </a:solidFill>
                <a:latin typeface="Calibri"/>
                <a:ea typeface="Calibri"/>
                <a:cs typeface="Calibri"/>
                <a:sym typeface="Calibri"/>
              </a:rPr>
              <a:t>Day 3</a:t>
            </a:r>
            <a:endParaRPr b="0" i="0" sz="950" u="none" cap="none" strike="noStrike">
              <a:solidFill>
                <a:schemeClr val="dk1"/>
              </a:solidFill>
              <a:latin typeface="Calibri"/>
              <a:ea typeface="Calibri"/>
              <a:cs typeface="Calibri"/>
              <a:sym typeface="Calibri"/>
            </a:endParaRPr>
          </a:p>
        </p:txBody>
      </p:sp>
      <p:sp>
        <p:nvSpPr>
          <p:cNvPr id="33" name="Google Shape;33;p3"/>
          <p:cNvSpPr/>
          <p:nvPr/>
        </p:nvSpPr>
        <p:spPr>
          <a:xfrm>
            <a:off x="6089904" y="4517136"/>
            <a:ext cx="1280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Traces</a:t>
            </a:r>
            <a:endParaRPr b="0" i="0" sz="1500" u="none" cap="none" strike="noStrike">
              <a:solidFill>
                <a:schemeClr val="dk1"/>
              </a:solidFill>
              <a:latin typeface="Calibri"/>
              <a:ea typeface="Calibri"/>
              <a:cs typeface="Calibri"/>
              <a:sym typeface="Calibri"/>
            </a:endParaRPr>
          </a:p>
        </p:txBody>
      </p:sp>
      <p:sp>
        <p:nvSpPr>
          <p:cNvPr id="34" name="Google Shape;34;p3"/>
          <p:cNvSpPr/>
          <p:nvPr/>
        </p:nvSpPr>
        <p:spPr>
          <a:xfrm>
            <a:off x="566928" y="5806440"/>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89"/>
              </a:buClr>
              <a:buSzPts val="1150"/>
              <a:buFont typeface="Calibri"/>
              <a:buNone/>
            </a:pPr>
            <a:r>
              <a:rPr b="0" i="0" lang="en-US" sz="1150" u="none" cap="none" strike="noStrike">
                <a:solidFill>
                  <a:srgbClr val="6B7A89"/>
                </a:solidFill>
                <a:latin typeface="Calibri"/>
                <a:ea typeface="Calibri"/>
                <a:cs typeface="Calibri"/>
                <a:sym typeface="Calibri"/>
              </a:rPr>
              <a:t>DevOps Bootcamp  ·  Observability module </a:t>
            </a:r>
            <a:endParaRPr b="0" i="0" sz="1150" u="none" cap="none" strike="noStrike">
              <a:solidFill>
                <a:schemeClr val="dk1"/>
              </a:solidFill>
              <a:latin typeface="Calibri"/>
              <a:ea typeface="Calibri"/>
              <a:cs typeface="Calibri"/>
              <a:sym typeface="Calibri"/>
            </a:endParaRPr>
          </a:p>
        </p:txBody>
      </p:sp>
      <p:sp>
        <p:nvSpPr>
          <p:cNvPr id="35" name="Google Shape;35;p3"/>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6B7A"/>
              </a:buClr>
              <a:buSzPts val="900"/>
              <a:buFont typeface="Calibri"/>
              <a:buNone/>
            </a:pPr>
            <a:r>
              <a:rPr b="0" i="0" lang="en-US" sz="900" u="none" cap="none" strike="noStrike">
                <a:solidFill>
                  <a:srgbClr val="5D6B7A"/>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36" name="Google Shape;36;p3"/>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D6B7A"/>
              </a:buClr>
              <a:buSzPts val="900"/>
              <a:buFont typeface="Calibri"/>
              <a:buNone/>
            </a:pPr>
            <a:r>
              <a:rPr b="0" i="0" lang="en-US" sz="900" u="none" cap="none" strike="noStrike">
                <a:solidFill>
                  <a:srgbClr val="5D6B7A"/>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4"/>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1050"/>
              <a:buFont typeface="Calibri"/>
              <a:buNone/>
            </a:pPr>
            <a:r>
              <a:rPr b="1" i="0" lang="en-US" sz="1050" u="none" cap="none" strike="noStrike">
                <a:solidFill>
                  <a:srgbClr val="AC2740"/>
                </a:solidFill>
                <a:latin typeface="Calibri"/>
                <a:ea typeface="Calibri"/>
                <a:cs typeface="Calibri"/>
                <a:sym typeface="Calibri"/>
              </a:rPr>
              <a:t>WHY THIS MODULE EXISTS</a:t>
            </a:r>
            <a:endParaRPr b="0" i="0" sz="1050" u="none" cap="none" strike="noStrike">
              <a:solidFill>
                <a:schemeClr val="dk1"/>
              </a:solidFill>
              <a:latin typeface="Calibri"/>
              <a:ea typeface="Calibri"/>
              <a:cs typeface="Calibri"/>
              <a:sym typeface="Calibri"/>
            </a:endParaRPr>
          </a:p>
        </p:txBody>
      </p:sp>
      <p:sp>
        <p:nvSpPr>
          <p:cNvPr id="43" name="Google Shape;43;p4"/>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“Ordering fails. Sometimes.”</a:t>
            </a:r>
            <a:endParaRPr b="0" i="0" sz="2900" u="none" cap="none" strike="noStrike">
              <a:solidFill>
                <a:schemeClr val="dk1"/>
              </a:solidFill>
              <a:latin typeface="Calibri"/>
              <a:ea typeface="Calibri"/>
              <a:cs typeface="Calibri"/>
              <a:sym typeface="Calibri"/>
            </a:endParaRPr>
          </a:p>
        </p:txBody>
      </p:sp>
      <p:sp>
        <p:nvSpPr>
          <p:cNvPr id="44" name="Google Shape;44;p4"/>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45" name="Google Shape;45;p4"/>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46" name="Google Shape;46;p4"/>
          <p:cNvSpPr/>
          <p:nvPr/>
        </p:nvSpPr>
        <p:spPr>
          <a:xfrm>
            <a:off x="566928" y="1298448"/>
            <a:ext cx="6400800"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400"/>
              <a:buFont typeface="Calibri"/>
              <a:buNone/>
            </a:pPr>
            <a:r>
              <a:rPr b="0" i="1" lang="en-US" sz="1400" u="none" cap="none" strike="noStrike">
                <a:solidFill>
                  <a:srgbClr val="5C6B7A"/>
                </a:solidFill>
                <a:latin typeface="Calibri"/>
                <a:ea typeface="Calibri"/>
                <a:cs typeface="Calibri"/>
                <a:sym typeface="Calibri"/>
              </a:rPr>
              <a:t>That is the entire bug report. It is also a real one.</a:t>
            </a:r>
            <a:endParaRPr b="0" i="0" sz="1400" u="none" cap="none" strike="noStrike">
              <a:solidFill>
                <a:schemeClr val="dk1"/>
              </a:solidFill>
              <a:latin typeface="Calibri"/>
              <a:ea typeface="Calibri"/>
              <a:cs typeface="Calibri"/>
              <a:sym typeface="Calibri"/>
            </a:endParaRPr>
          </a:p>
        </p:txBody>
      </p:sp>
      <p:sp>
        <p:nvSpPr>
          <p:cNvPr id="47" name="Google Shape;47;p4"/>
          <p:cNvSpPr/>
          <p:nvPr/>
        </p:nvSpPr>
        <p:spPr>
          <a:xfrm>
            <a:off x="566928" y="1874520"/>
            <a:ext cx="5349240" cy="2103120"/>
          </a:xfrm>
          <a:prstGeom prst="roundRect">
            <a:avLst>
              <a:gd fmla="val 3913"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786384" y="2057400"/>
            <a:ext cx="292608" cy="292608"/>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786384" y="205740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50" name="Google Shape;50;p4"/>
          <p:cNvSpPr/>
          <p:nvPr/>
        </p:nvSpPr>
        <p:spPr>
          <a:xfrm>
            <a:off x="1188720" y="2057400"/>
            <a:ext cx="4325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50"/>
              <a:buFont typeface="Calibri"/>
              <a:buNone/>
            </a:pPr>
            <a:r>
              <a:rPr b="1" i="0" lang="en-US" sz="1350" u="none" cap="none" strike="noStrike">
                <a:solidFill>
                  <a:srgbClr val="16202C"/>
                </a:solidFill>
                <a:latin typeface="Calibri"/>
                <a:ea typeface="Calibri"/>
                <a:cs typeface="Calibri"/>
                <a:sym typeface="Calibri"/>
              </a:rPr>
              <a:t>What you actually have</a:t>
            </a:r>
            <a:endParaRPr b="0" i="0" sz="1350" u="none" cap="none" strike="noStrike">
              <a:solidFill>
                <a:schemeClr val="dk1"/>
              </a:solidFill>
              <a:latin typeface="Calibri"/>
              <a:ea typeface="Calibri"/>
              <a:cs typeface="Calibri"/>
              <a:sym typeface="Calibri"/>
            </a:endParaRPr>
          </a:p>
        </p:txBody>
      </p:sp>
      <p:sp>
        <p:nvSpPr>
          <p:cNvPr id="51" name="Google Shape;51;p4"/>
          <p:cNvSpPr/>
          <p:nvPr/>
        </p:nvSpPr>
        <p:spPr>
          <a:xfrm>
            <a:off x="786384" y="2459736"/>
            <a:ext cx="4910328" cy="1353312"/>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Three services, two of them written by someone who left</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A customer who cannot reproduce it</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docker logs, and a terminal</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A suspicion, which is not evidence</a:t>
            </a:r>
            <a:endParaRPr b="0" i="0" sz="1150" u="none" cap="none" strike="noStrike">
              <a:solidFill>
                <a:schemeClr val="dk1"/>
              </a:solidFill>
              <a:latin typeface="Calibri"/>
              <a:ea typeface="Calibri"/>
              <a:cs typeface="Calibri"/>
              <a:sym typeface="Calibri"/>
            </a:endParaRPr>
          </a:p>
        </p:txBody>
      </p:sp>
      <p:sp>
        <p:nvSpPr>
          <p:cNvPr id="52" name="Google Shape;52;p4"/>
          <p:cNvSpPr/>
          <p:nvPr/>
        </p:nvSpPr>
        <p:spPr>
          <a:xfrm>
            <a:off x="6281928" y="1874520"/>
            <a:ext cx="5349240" cy="2103120"/>
          </a:xfrm>
          <a:prstGeom prst="roundRect">
            <a:avLst>
              <a:gd fmla="val 3913"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6501384" y="2057400"/>
            <a:ext cx="292608" cy="292608"/>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6501384" y="205740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55" name="Google Shape;55;p4"/>
          <p:cNvSpPr/>
          <p:nvPr/>
        </p:nvSpPr>
        <p:spPr>
          <a:xfrm>
            <a:off x="6903720" y="2057400"/>
            <a:ext cx="4325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50"/>
              <a:buFont typeface="Calibri"/>
              <a:buNone/>
            </a:pPr>
            <a:r>
              <a:rPr b="1" i="0" lang="en-US" sz="1350" u="none" cap="none" strike="noStrike">
                <a:solidFill>
                  <a:srgbClr val="16202C"/>
                </a:solidFill>
                <a:latin typeface="Calibri"/>
                <a:ea typeface="Calibri"/>
                <a:cs typeface="Calibri"/>
                <a:sym typeface="Calibri"/>
              </a:rPr>
              <a:t>What you need to be able to answer</a:t>
            </a:r>
            <a:endParaRPr b="0" i="0" sz="1350" u="none" cap="none" strike="noStrike">
              <a:solidFill>
                <a:schemeClr val="dk1"/>
              </a:solidFill>
              <a:latin typeface="Calibri"/>
              <a:ea typeface="Calibri"/>
              <a:cs typeface="Calibri"/>
              <a:sym typeface="Calibri"/>
            </a:endParaRPr>
          </a:p>
        </p:txBody>
      </p:sp>
      <p:sp>
        <p:nvSpPr>
          <p:cNvPr id="56" name="Google Shape;56;p4"/>
          <p:cNvSpPr/>
          <p:nvPr/>
        </p:nvSpPr>
        <p:spPr>
          <a:xfrm>
            <a:off x="6501384" y="2459736"/>
            <a:ext cx="4910328" cy="1353312"/>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How often is “sometimes”? Once an hour, or 3% of orders?</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Which service returns the failure, and which one causes it?</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Did it start at 14:20? What else happened at 14:20?</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Is it slow, or is it broken? Those are different pages.</a:t>
            </a:r>
            <a:endParaRPr b="0" i="0" sz="1150" u="none" cap="none" strike="noStrike">
              <a:solidFill>
                <a:schemeClr val="dk1"/>
              </a:solidFill>
              <a:latin typeface="Calibri"/>
              <a:ea typeface="Calibri"/>
              <a:cs typeface="Calibri"/>
              <a:sym typeface="Calibri"/>
            </a:endParaRPr>
          </a:p>
        </p:txBody>
      </p:sp>
      <p:sp>
        <p:nvSpPr>
          <p:cNvPr id="57" name="Google Shape;57;p4"/>
          <p:cNvSpPr/>
          <p:nvPr/>
        </p:nvSpPr>
        <p:spPr>
          <a:xfrm>
            <a:off x="566928" y="4206240"/>
            <a:ext cx="11057839" cy="1371600"/>
          </a:xfrm>
          <a:prstGeom prst="roundRect">
            <a:avLst>
              <a:gd fmla="val 6000"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731520" y="4334256"/>
            <a:ext cx="10728655" cy="1115568"/>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7FD1B9"/>
              </a:buClr>
              <a:buSzPts val="1100"/>
              <a:buFont typeface="Courier New"/>
              <a:buNone/>
            </a:pPr>
            <a:r>
              <a:rPr b="0" i="0" lang="en-US" sz="1100" u="none" cap="none" strike="noStrike">
                <a:solidFill>
                  <a:srgbClr val="7FD1B9"/>
                </a:solidFill>
                <a:latin typeface="Courier New"/>
                <a:ea typeface="Courier New"/>
                <a:cs typeface="Courier New"/>
                <a:sym typeface="Courier New"/>
              </a:rPr>
              <a:t>$ docker logs gateway --tail 5</a:t>
            </a:r>
            <a:endParaRPr b="0" i="0" sz="110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D6DEE7"/>
              </a:buClr>
              <a:buSzPts val="1100"/>
              <a:buFont typeface="Courier New"/>
              <a:buNone/>
            </a:pPr>
            <a:r>
              <a:rPr b="0" i="0" lang="en-US" sz="1100" u="none" cap="none" strike="noStrike">
                <a:solidFill>
                  <a:srgbClr val="D6DEE7"/>
                </a:solidFill>
                <a:latin typeface="Courier New"/>
                <a:ea typeface="Courier New"/>
                <a:cs typeface="Courier New"/>
                <a:sym typeface="Courier New"/>
              </a:rPr>
              <a:t>POST /orders 500 1243ms</a:t>
            </a:r>
            <a:endParaRPr b="0" i="0" sz="110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D6DEE7"/>
              </a:buClr>
              <a:buSzPts val="1100"/>
              <a:buFont typeface="Courier New"/>
              <a:buNone/>
            </a:pPr>
            <a:r>
              <a:rPr b="0" i="0" lang="en-US" sz="1100" u="none" cap="none" strike="noStrike">
                <a:solidFill>
                  <a:srgbClr val="D6DEE7"/>
                </a:solidFill>
                <a:latin typeface="Courier New"/>
                <a:ea typeface="Courier New"/>
                <a:cs typeface="Courier New"/>
                <a:sym typeface="Courier New"/>
              </a:rPr>
              <a:t>POST /orders 200 89ms</a:t>
            </a:r>
            <a:endParaRPr b="0" i="0" sz="110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D6DEE7"/>
              </a:buClr>
              <a:buSzPts val="1100"/>
              <a:buFont typeface="Courier New"/>
              <a:buNone/>
            </a:pPr>
            <a:r>
              <a:rPr b="0" i="0" lang="en-US" sz="1100" u="none" cap="none" strike="noStrike">
                <a:solidFill>
                  <a:srgbClr val="D6DEE7"/>
                </a:solidFill>
                <a:latin typeface="Courier New"/>
                <a:ea typeface="Courier New"/>
                <a:cs typeface="Courier New"/>
                <a:sym typeface="Courier New"/>
              </a:rPr>
              <a:t>POST /orders 500 2104ms</a:t>
            </a:r>
            <a:endParaRPr b="0" i="0" sz="110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E08A8A"/>
              </a:buClr>
              <a:buSzPts val="1100"/>
              <a:buFont typeface="Courier New"/>
              <a:buNone/>
            </a:pPr>
            <a:r>
              <a:rPr b="0" i="0" lang="en-US" sz="1100" u="none" cap="none" strike="noStrike">
                <a:solidFill>
                  <a:srgbClr val="E08A8A"/>
                </a:solidFill>
                <a:latin typeface="Courier New"/>
                <a:ea typeface="Courier New"/>
                <a:cs typeface="Courier New"/>
                <a:sym typeface="Courier New"/>
              </a:rPr>
              <a:t># ok. now find the other 40,000 requests, across 3 containers, from 14:00 to 14:30.</a:t>
            </a:r>
            <a:endParaRPr b="0" i="0" sz="1100" u="none" cap="none" strike="noStrike">
              <a:solidFill>
                <a:schemeClr val="dk1"/>
              </a:solidFill>
              <a:latin typeface="Calibri"/>
              <a:ea typeface="Calibri"/>
              <a:cs typeface="Calibri"/>
              <a:sym typeface="Calibri"/>
            </a:endParaRPr>
          </a:p>
        </p:txBody>
      </p:sp>
      <p:sp>
        <p:nvSpPr>
          <p:cNvPr id="59" name="Google Shape;59;p4"/>
          <p:cNvSpPr/>
          <p:nvPr/>
        </p:nvSpPr>
        <p:spPr>
          <a:xfrm>
            <a:off x="566928" y="5742432"/>
            <a:ext cx="11057839" cy="548640"/>
          </a:xfrm>
          <a:prstGeom prst="roundRect">
            <a:avLst>
              <a:gd fmla="val 15000"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768096" y="5879592"/>
            <a:ext cx="274320" cy="27432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768096" y="587959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62" name="Google Shape;62;p4"/>
          <p:cNvSpPr/>
          <p:nvPr/>
        </p:nvSpPr>
        <p:spPr>
          <a:xfrm>
            <a:off x="1170432" y="5742432"/>
            <a:ext cx="10234879" cy="5486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200"/>
              <a:buFont typeface="Calibri"/>
              <a:buNone/>
            </a:pPr>
            <a:r>
              <a:rPr b="0" i="0" lang="en-US" sz="1200" u="none" cap="none" strike="noStrike">
                <a:solidFill>
                  <a:srgbClr val="16202C"/>
                </a:solidFill>
                <a:latin typeface="Calibri"/>
                <a:ea typeface="Calibri"/>
                <a:cs typeface="Calibri"/>
                <a:sym typeface="Calibri"/>
              </a:rPr>
              <a:t>Observability is not a tool you install. It is the property of being able to answer a question you did not think of in advance.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5"/>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50"/>
              <a:buFont typeface="Calibri"/>
              <a:buNone/>
            </a:pPr>
            <a:r>
              <a:rPr b="1" i="0" lang="en-US" sz="1050" u="none" cap="none" strike="noStrike">
                <a:solidFill>
                  <a:srgbClr val="0C6B7D"/>
                </a:solidFill>
                <a:latin typeface="Calibri"/>
                <a:ea typeface="Calibri"/>
                <a:cs typeface="Calibri"/>
                <a:sym typeface="Calibri"/>
              </a:rPr>
              <a:t>THE DISTINCTION THAT MATTERS</a:t>
            </a:r>
            <a:endParaRPr b="0" i="0" sz="1050" u="none" cap="none" strike="noStrike">
              <a:solidFill>
                <a:schemeClr val="dk1"/>
              </a:solidFill>
              <a:latin typeface="Calibri"/>
              <a:ea typeface="Calibri"/>
              <a:cs typeface="Calibri"/>
              <a:sym typeface="Calibri"/>
            </a:endParaRPr>
          </a:p>
        </p:txBody>
      </p:sp>
      <p:sp>
        <p:nvSpPr>
          <p:cNvPr id="69" name="Google Shape;69;p5"/>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500"/>
              <a:buFont typeface="Cambria"/>
              <a:buNone/>
            </a:pPr>
            <a:r>
              <a:rPr b="1" i="0" lang="en-US" sz="2500" u="none" cap="none" strike="noStrike">
                <a:solidFill>
                  <a:srgbClr val="16202C"/>
                </a:solidFill>
                <a:latin typeface="Cambria"/>
                <a:ea typeface="Cambria"/>
                <a:cs typeface="Cambria"/>
                <a:sym typeface="Cambria"/>
              </a:rPr>
              <a:t>Monitoring answers old questions. Observability lets you ask new ones.</a:t>
            </a:r>
            <a:endParaRPr b="0" i="0" sz="2500" u="none" cap="none" strike="noStrike">
              <a:solidFill>
                <a:schemeClr val="dk1"/>
              </a:solidFill>
              <a:latin typeface="Calibri"/>
              <a:ea typeface="Calibri"/>
              <a:cs typeface="Calibri"/>
              <a:sym typeface="Calibri"/>
            </a:endParaRPr>
          </a:p>
        </p:txBody>
      </p:sp>
      <p:sp>
        <p:nvSpPr>
          <p:cNvPr id="70" name="Google Shape;70;p5"/>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71" name="Google Shape;71;p5"/>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72" name="Google Shape;72;p5"/>
          <p:cNvSpPr/>
          <p:nvPr/>
        </p:nvSpPr>
        <p:spPr>
          <a:xfrm>
            <a:off x="566928" y="1371600"/>
            <a:ext cx="5349240" cy="2743200"/>
          </a:xfrm>
          <a:prstGeom prst="roundRect">
            <a:avLst>
              <a:gd fmla="val 3000"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822960" y="155448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2000"/>
              <a:buFont typeface="Cambria"/>
              <a:buNone/>
            </a:pPr>
            <a:r>
              <a:rPr b="1" i="0" lang="en-US" sz="2000" u="none" cap="none" strike="noStrike">
                <a:solidFill>
                  <a:srgbClr val="5C6B7A"/>
                </a:solidFill>
                <a:latin typeface="Cambria"/>
                <a:ea typeface="Cambria"/>
                <a:cs typeface="Cambria"/>
                <a:sym typeface="Cambria"/>
              </a:rPr>
              <a:t>Monitoring</a:t>
            </a:r>
            <a:endParaRPr b="0" i="0" sz="2000" u="none" cap="none" strike="noStrike">
              <a:solidFill>
                <a:schemeClr val="dk1"/>
              </a:solidFill>
              <a:latin typeface="Calibri"/>
              <a:ea typeface="Calibri"/>
              <a:cs typeface="Calibri"/>
              <a:sym typeface="Calibri"/>
            </a:endParaRPr>
          </a:p>
        </p:txBody>
      </p:sp>
      <p:sp>
        <p:nvSpPr>
          <p:cNvPr id="74" name="Google Shape;74;p5"/>
          <p:cNvSpPr/>
          <p:nvPr/>
        </p:nvSpPr>
        <p:spPr>
          <a:xfrm>
            <a:off x="822960" y="1920240"/>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150"/>
              <a:buFont typeface="Calibri"/>
              <a:buNone/>
            </a:pPr>
            <a:r>
              <a:rPr b="0" i="1" lang="en-US" sz="1150" u="none" cap="none" strike="noStrike">
                <a:solidFill>
                  <a:srgbClr val="5C6B7A"/>
                </a:solidFill>
                <a:latin typeface="Calibri"/>
                <a:ea typeface="Calibri"/>
                <a:cs typeface="Calibri"/>
                <a:sym typeface="Calibri"/>
              </a:rPr>
              <a:t>Questions you wrote down in advance</a:t>
            </a:r>
            <a:endParaRPr b="0" i="0" sz="1150" u="none" cap="none" strike="noStrike">
              <a:solidFill>
                <a:schemeClr val="dk1"/>
              </a:solidFill>
              <a:latin typeface="Calibri"/>
              <a:ea typeface="Calibri"/>
              <a:cs typeface="Calibri"/>
              <a:sym typeface="Calibri"/>
            </a:endParaRPr>
          </a:p>
        </p:txBody>
      </p:sp>
      <p:sp>
        <p:nvSpPr>
          <p:cNvPr id="75" name="Google Shape;75;p5"/>
          <p:cNvSpPr/>
          <p:nvPr/>
        </p:nvSpPr>
        <p:spPr>
          <a:xfrm>
            <a:off x="822960" y="2286000"/>
            <a:ext cx="4846320" cy="173736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200"/>
              <a:buFont typeface="Calibri"/>
              <a:buChar char="•"/>
            </a:pPr>
            <a:r>
              <a:rPr b="0" i="0" lang="en-US" sz="1200" u="none" cap="none" strike="noStrike">
                <a:solidFill>
                  <a:srgbClr val="16202C"/>
                </a:solidFill>
                <a:latin typeface="Calibri"/>
                <a:ea typeface="Calibri"/>
                <a:cs typeface="Calibri"/>
                <a:sym typeface="Calibri"/>
              </a:rPr>
              <a:t>You decide, at build time, what to watch</a:t>
            </a:r>
            <a:endParaRPr b="0" i="0" sz="120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200"/>
              <a:buFont typeface="Calibri"/>
              <a:buChar char="•"/>
            </a:pPr>
            <a:r>
              <a:rPr b="0" i="0" lang="en-US" sz="1200" u="none" cap="none" strike="noStrike">
                <a:solidFill>
                  <a:srgbClr val="16202C"/>
                </a:solidFill>
                <a:latin typeface="Calibri"/>
                <a:ea typeface="Calibri"/>
                <a:cs typeface="Calibri"/>
                <a:sym typeface="Calibri"/>
              </a:rPr>
              <a:t>Dashboards and alerts are fixed in place</a:t>
            </a:r>
            <a:endParaRPr b="0" i="0" sz="120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200"/>
              <a:buFont typeface="Calibri"/>
              <a:buChar char="•"/>
            </a:pPr>
            <a:r>
              <a:rPr b="0" i="0" lang="en-US" sz="1200" u="none" cap="none" strike="noStrike">
                <a:solidFill>
                  <a:srgbClr val="16202C"/>
                </a:solidFill>
                <a:latin typeface="Calibri"/>
                <a:ea typeface="Calibri"/>
                <a:cs typeface="Calibri"/>
                <a:sym typeface="Calibri"/>
              </a:rPr>
              <a:t>Great for: is the disk full, is the process up</a:t>
            </a:r>
            <a:endParaRPr b="0" i="0" sz="120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200"/>
              <a:buFont typeface="Calibri"/>
              <a:buChar char="•"/>
            </a:pPr>
            <a:r>
              <a:rPr b="0" i="0" lang="en-US" sz="1200" u="none" cap="none" strike="noStrike">
                <a:solidFill>
                  <a:srgbClr val="16202C"/>
                </a:solidFill>
                <a:latin typeface="Calibri"/>
                <a:ea typeface="Calibri"/>
                <a:cs typeface="Calibri"/>
                <a:sym typeface="Calibri"/>
              </a:rPr>
              <a:t>Fails when: the failure is one nobody predicted</a:t>
            </a:r>
            <a:endParaRPr b="0" i="0" sz="1200" u="none" cap="none" strike="noStrike">
              <a:solidFill>
                <a:schemeClr val="dk1"/>
              </a:solidFill>
              <a:latin typeface="Calibri"/>
              <a:ea typeface="Calibri"/>
              <a:cs typeface="Calibri"/>
              <a:sym typeface="Calibri"/>
            </a:endParaRPr>
          </a:p>
        </p:txBody>
      </p:sp>
      <p:sp>
        <p:nvSpPr>
          <p:cNvPr id="76" name="Google Shape;76;p5"/>
          <p:cNvSpPr/>
          <p:nvPr/>
        </p:nvSpPr>
        <p:spPr>
          <a:xfrm>
            <a:off x="6281928" y="1371600"/>
            <a:ext cx="5349240" cy="2743200"/>
          </a:xfrm>
          <a:prstGeom prst="roundRect">
            <a:avLst>
              <a:gd fmla="val 3000"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6537960" y="155448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2000"/>
              <a:buFont typeface="Cambria"/>
              <a:buNone/>
            </a:pPr>
            <a:r>
              <a:rPr b="1" i="0" lang="en-US" sz="2000" u="none" cap="none" strike="noStrike">
                <a:solidFill>
                  <a:srgbClr val="0C6B7D"/>
                </a:solidFill>
                <a:latin typeface="Cambria"/>
                <a:ea typeface="Cambria"/>
                <a:cs typeface="Cambria"/>
                <a:sym typeface="Cambria"/>
              </a:rPr>
              <a:t>Observability</a:t>
            </a:r>
            <a:endParaRPr b="0" i="0" sz="2000" u="none" cap="none" strike="noStrike">
              <a:solidFill>
                <a:schemeClr val="dk1"/>
              </a:solidFill>
              <a:latin typeface="Calibri"/>
              <a:ea typeface="Calibri"/>
              <a:cs typeface="Calibri"/>
              <a:sym typeface="Calibri"/>
            </a:endParaRPr>
          </a:p>
        </p:txBody>
      </p:sp>
      <p:sp>
        <p:nvSpPr>
          <p:cNvPr id="78" name="Google Shape;78;p5"/>
          <p:cNvSpPr/>
          <p:nvPr/>
        </p:nvSpPr>
        <p:spPr>
          <a:xfrm>
            <a:off x="6537960" y="1920240"/>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150"/>
              <a:buFont typeface="Calibri"/>
              <a:buNone/>
            </a:pPr>
            <a:r>
              <a:rPr b="0" i="1" lang="en-US" sz="1150" u="none" cap="none" strike="noStrike">
                <a:solidFill>
                  <a:srgbClr val="5C6B7A"/>
                </a:solidFill>
                <a:latin typeface="Calibri"/>
                <a:ea typeface="Calibri"/>
                <a:cs typeface="Calibri"/>
                <a:sym typeface="Calibri"/>
              </a:rPr>
              <a:t>Questions you invent at 2am</a:t>
            </a:r>
            <a:endParaRPr b="0" i="0" sz="1150" u="none" cap="none" strike="noStrike">
              <a:solidFill>
                <a:schemeClr val="dk1"/>
              </a:solidFill>
              <a:latin typeface="Calibri"/>
              <a:ea typeface="Calibri"/>
              <a:cs typeface="Calibri"/>
              <a:sym typeface="Calibri"/>
            </a:endParaRPr>
          </a:p>
        </p:txBody>
      </p:sp>
      <p:sp>
        <p:nvSpPr>
          <p:cNvPr id="79" name="Google Shape;79;p5"/>
          <p:cNvSpPr/>
          <p:nvPr/>
        </p:nvSpPr>
        <p:spPr>
          <a:xfrm>
            <a:off x="6537960" y="2286000"/>
            <a:ext cx="4846320" cy="173736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200"/>
              <a:buFont typeface="Calibri"/>
              <a:buChar char="•"/>
            </a:pPr>
            <a:r>
              <a:rPr b="0" i="0" lang="en-US" sz="1200" u="none" cap="none" strike="noStrike">
                <a:solidFill>
                  <a:srgbClr val="16202C"/>
                </a:solidFill>
                <a:latin typeface="Calibri"/>
                <a:ea typeface="Calibri"/>
                <a:cs typeface="Calibri"/>
                <a:sym typeface="Calibri"/>
              </a:rPr>
              <a:t>You emit enough detail to slice it afterwards</a:t>
            </a:r>
            <a:endParaRPr b="0" i="0" sz="120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200"/>
              <a:buFont typeface="Calibri"/>
              <a:buChar char="•"/>
            </a:pPr>
            <a:r>
              <a:rPr b="0" i="0" lang="en-US" sz="1200" u="none" cap="none" strike="noStrike">
                <a:solidFill>
                  <a:srgbClr val="16202C"/>
                </a:solidFill>
                <a:latin typeface="Calibri"/>
                <a:ea typeface="Calibri"/>
                <a:cs typeface="Calibri"/>
                <a:sym typeface="Calibri"/>
              </a:rPr>
              <a:t>New question → new query, not a new deploy</a:t>
            </a:r>
            <a:endParaRPr b="0" i="0" sz="120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200"/>
              <a:buFont typeface="Calibri"/>
              <a:buChar char="•"/>
            </a:pPr>
            <a:r>
              <a:rPr b="0" i="0" lang="en-US" sz="1200" u="none" cap="none" strike="noStrike">
                <a:solidFill>
                  <a:srgbClr val="16202C"/>
                </a:solidFill>
                <a:latin typeface="Calibri"/>
                <a:ea typeface="Calibri"/>
                <a:cs typeface="Calibri"/>
                <a:sym typeface="Calibri"/>
              </a:rPr>
              <a:t>Great for: why is it slow only for Nepali users on Android</a:t>
            </a:r>
            <a:endParaRPr b="0" i="0" sz="120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200"/>
              <a:buFont typeface="Calibri"/>
              <a:buChar char="•"/>
            </a:pPr>
            <a:r>
              <a:rPr b="0" i="0" lang="en-US" sz="1200" u="none" cap="none" strike="noStrike">
                <a:solidFill>
                  <a:srgbClr val="16202C"/>
                </a:solidFill>
                <a:latin typeface="Calibri"/>
                <a:ea typeface="Calibri"/>
                <a:cs typeface="Calibri"/>
                <a:sym typeface="Calibri"/>
              </a:rPr>
              <a:t>Fails when: you did not emit the detail in the first place</a:t>
            </a:r>
            <a:endParaRPr b="0" i="0" sz="1200" u="none" cap="none" strike="noStrike">
              <a:solidFill>
                <a:schemeClr val="dk1"/>
              </a:solidFill>
              <a:latin typeface="Calibri"/>
              <a:ea typeface="Calibri"/>
              <a:cs typeface="Calibri"/>
              <a:sym typeface="Calibri"/>
            </a:endParaRPr>
          </a:p>
        </p:txBody>
      </p:sp>
      <p:sp>
        <p:nvSpPr>
          <p:cNvPr id="80" name="Google Shape;80;p5"/>
          <p:cNvSpPr/>
          <p:nvPr/>
        </p:nvSpPr>
        <p:spPr>
          <a:xfrm>
            <a:off x="566928" y="4315968"/>
            <a:ext cx="11057839" cy="1371600"/>
          </a:xfrm>
          <a:prstGeom prst="roundRect">
            <a:avLst>
              <a:gd fmla="val 6000"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786384" y="4498848"/>
            <a:ext cx="292608" cy="292608"/>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786384" y="449884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83" name="Google Shape;83;p5"/>
          <p:cNvSpPr/>
          <p:nvPr/>
        </p:nvSpPr>
        <p:spPr>
          <a:xfrm>
            <a:off x="1188720" y="4498848"/>
            <a:ext cx="10033711"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400"/>
              <a:buFont typeface="Calibri"/>
              <a:buNone/>
            </a:pPr>
            <a:r>
              <a:rPr b="1" i="0" lang="en-US" sz="1400" u="none" cap="none" strike="noStrike">
                <a:solidFill>
                  <a:srgbClr val="16202C"/>
                </a:solidFill>
                <a:latin typeface="Calibri"/>
                <a:ea typeface="Calibri"/>
                <a:cs typeface="Calibri"/>
                <a:sym typeface="Calibri"/>
              </a:rPr>
              <a:t>The honest version</a:t>
            </a:r>
            <a:endParaRPr b="0" i="0" sz="1400" u="none" cap="none" strike="noStrike">
              <a:solidFill>
                <a:schemeClr val="dk1"/>
              </a:solidFill>
              <a:latin typeface="Calibri"/>
              <a:ea typeface="Calibri"/>
              <a:cs typeface="Calibri"/>
              <a:sym typeface="Calibri"/>
            </a:endParaRPr>
          </a:p>
        </p:txBody>
      </p:sp>
      <p:sp>
        <p:nvSpPr>
          <p:cNvPr id="84" name="Google Shape;84;p5"/>
          <p:cNvSpPr/>
          <p:nvPr/>
        </p:nvSpPr>
        <p:spPr>
          <a:xfrm>
            <a:off x="786384" y="4901184"/>
            <a:ext cx="10618927" cy="621792"/>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250"/>
              <a:buFont typeface="Calibri"/>
              <a:buNone/>
            </a:pPr>
            <a:r>
              <a:rPr b="0" i="0" lang="en-US" sz="1250" u="none" cap="none" strike="noStrike">
                <a:solidFill>
                  <a:srgbClr val="16202C"/>
                </a:solidFill>
                <a:latin typeface="Calibri"/>
                <a:ea typeface="Calibri"/>
                <a:cs typeface="Calibri"/>
                <a:sym typeface="Calibri"/>
              </a:rPr>
              <a:t>Nobody has “observability” or “monitoring”. You have a pile of telemetry, and the question is how many unanticipated questions it can answer before you have to ship code to find out. That number is what the next three days move.</a:t>
            </a:r>
            <a:endParaRPr b="0" i="0" sz="1250" u="none" cap="none" strike="noStrike">
              <a:solidFill>
                <a:schemeClr val="dk1"/>
              </a:solidFill>
              <a:latin typeface="Calibri"/>
              <a:ea typeface="Calibri"/>
              <a:cs typeface="Calibri"/>
              <a:sym typeface="Calibri"/>
            </a:endParaRPr>
          </a:p>
        </p:txBody>
      </p:sp>
      <p:sp>
        <p:nvSpPr>
          <p:cNvPr id="85" name="Google Shape;85;p5"/>
          <p:cNvSpPr/>
          <p:nvPr/>
        </p:nvSpPr>
        <p:spPr>
          <a:xfrm>
            <a:off x="566928" y="5852160"/>
            <a:ext cx="11057839" cy="457200"/>
          </a:xfrm>
          <a:prstGeom prst="roundRect">
            <a:avLst>
              <a:gd fmla="val 18000"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768096" y="5943600"/>
            <a:ext cx="274320" cy="27432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768096" y="594360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i</a:t>
            </a:r>
            <a:endParaRPr b="0" i="0" sz="1200" u="none" cap="none" strike="noStrike">
              <a:solidFill>
                <a:schemeClr val="dk1"/>
              </a:solidFill>
              <a:latin typeface="Calibri"/>
              <a:ea typeface="Calibri"/>
              <a:cs typeface="Calibri"/>
              <a:sym typeface="Calibri"/>
            </a:endParaRPr>
          </a:p>
        </p:txBody>
      </p:sp>
      <p:sp>
        <p:nvSpPr>
          <p:cNvPr id="88" name="Google Shape;88;p5"/>
          <p:cNvSpPr/>
          <p:nvPr/>
        </p:nvSpPr>
        <p:spPr>
          <a:xfrm>
            <a:off x="1170432" y="5852160"/>
            <a:ext cx="1023487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Rule of thumb: if answering the question requires a code change and a deploy, you were monitoring, not observing.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p6"/>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050"/>
              <a:buFont typeface="Calibri"/>
              <a:buNone/>
            </a:pPr>
            <a:r>
              <a:rPr b="1" i="0" lang="en-US" sz="1050" u="none" cap="none" strike="noStrike">
                <a:solidFill>
                  <a:srgbClr val="16202C"/>
                </a:solidFill>
                <a:latin typeface="Calibri"/>
                <a:ea typeface="Calibri"/>
                <a:cs typeface="Calibri"/>
                <a:sym typeface="Calibri"/>
              </a:rPr>
              <a:t>THE SHAPE OF EVERY INCIDENT</a:t>
            </a:r>
            <a:endParaRPr b="0" i="0" sz="1050" u="none" cap="none" strike="noStrike">
              <a:solidFill>
                <a:schemeClr val="dk1"/>
              </a:solidFill>
              <a:latin typeface="Calibri"/>
              <a:ea typeface="Calibri"/>
              <a:cs typeface="Calibri"/>
              <a:sym typeface="Calibri"/>
            </a:endParaRPr>
          </a:p>
        </p:txBody>
      </p:sp>
      <p:sp>
        <p:nvSpPr>
          <p:cNvPr id="95" name="Google Shape;95;p6"/>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600"/>
              <a:buFont typeface="Cambria"/>
              <a:buNone/>
            </a:pPr>
            <a:r>
              <a:rPr b="1" i="0" lang="en-US" sz="2600" u="none" cap="none" strike="noStrike">
                <a:solidFill>
                  <a:srgbClr val="16202C"/>
                </a:solidFill>
                <a:latin typeface="Cambria"/>
                <a:ea typeface="Cambria"/>
                <a:cs typeface="Cambria"/>
                <a:sym typeface="Cambria"/>
              </a:rPr>
              <a:t>Every incident asks the same three questions, in the same order</a:t>
            </a:r>
            <a:endParaRPr b="0" i="0" sz="2600" u="none" cap="none" strike="noStrike">
              <a:solidFill>
                <a:schemeClr val="dk1"/>
              </a:solidFill>
              <a:latin typeface="Calibri"/>
              <a:ea typeface="Calibri"/>
              <a:cs typeface="Calibri"/>
              <a:sym typeface="Calibri"/>
            </a:endParaRPr>
          </a:p>
        </p:txBody>
      </p:sp>
      <p:sp>
        <p:nvSpPr>
          <p:cNvPr id="96" name="Google Shape;96;p6"/>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97" name="Google Shape;97;p6"/>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98" name="Google Shape;98;p6"/>
          <p:cNvSpPr/>
          <p:nvPr/>
        </p:nvSpPr>
        <p:spPr>
          <a:xfrm>
            <a:off x="566928" y="1481328"/>
            <a:ext cx="3511296" cy="3246120"/>
          </a:xfrm>
          <a:prstGeom prst="roundRect">
            <a:avLst>
              <a:gd fmla="val 2535"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841248" y="1737360"/>
            <a:ext cx="384048" cy="38404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841248" y="17373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101" name="Google Shape;101;p6"/>
          <p:cNvSpPr/>
          <p:nvPr/>
        </p:nvSpPr>
        <p:spPr>
          <a:xfrm>
            <a:off x="1353312" y="1773936"/>
            <a:ext cx="24688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50"/>
              <a:buFont typeface="Calibri"/>
              <a:buNone/>
            </a:pPr>
            <a:r>
              <a:rPr b="1" i="0" lang="en-US" sz="1050" u="none" cap="none" strike="noStrike">
                <a:solidFill>
                  <a:srgbClr val="0C6B7D"/>
                </a:solidFill>
                <a:latin typeface="Calibri"/>
                <a:ea typeface="Calibri"/>
                <a:cs typeface="Calibri"/>
                <a:sym typeface="Calibri"/>
              </a:rPr>
              <a:t>METRICS</a:t>
            </a:r>
            <a:endParaRPr b="0" i="0" sz="1050" u="none" cap="none" strike="noStrike">
              <a:solidFill>
                <a:schemeClr val="dk1"/>
              </a:solidFill>
              <a:latin typeface="Calibri"/>
              <a:ea typeface="Calibri"/>
              <a:cs typeface="Calibri"/>
              <a:sym typeface="Calibri"/>
            </a:endParaRPr>
          </a:p>
        </p:txBody>
      </p:sp>
      <p:sp>
        <p:nvSpPr>
          <p:cNvPr id="102" name="Google Shape;102;p6"/>
          <p:cNvSpPr/>
          <p:nvPr/>
        </p:nvSpPr>
        <p:spPr>
          <a:xfrm>
            <a:off x="841248" y="2286000"/>
            <a:ext cx="29626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800"/>
              <a:buFont typeface="Cambria"/>
              <a:buNone/>
            </a:pPr>
            <a:r>
              <a:rPr b="1" i="0" lang="en-US" sz="1800" u="none" cap="none" strike="noStrike">
                <a:solidFill>
                  <a:srgbClr val="16202C"/>
                </a:solidFill>
                <a:latin typeface="Cambria"/>
                <a:ea typeface="Cambria"/>
                <a:cs typeface="Cambria"/>
                <a:sym typeface="Cambria"/>
              </a:rPr>
              <a:t>Is something broken?</a:t>
            </a:r>
            <a:endParaRPr b="0" i="0" sz="1800" u="none" cap="none" strike="noStrike">
              <a:solidFill>
                <a:schemeClr val="dk1"/>
              </a:solidFill>
              <a:latin typeface="Calibri"/>
              <a:ea typeface="Calibri"/>
              <a:cs typeface="Calibri"/>
              <a:sym typeface="Calibri"/>
            </a:endParaRPr>
          </a:p>
        </p:txBody>
      </p:sp>
      <p:sp>
        <p:nvSpPr>
          <p:cNvPr id="103" name="Google Shape;103;p6"/>
          <p:cNvSpPr/>
          <p:nvPr/>
        </p:nvSpPr>
        <p:spPr>
          <a:xfrm>
            <a:off x="841248" y="2670048"/>
            <a:ext cx="296265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150"/>
              <a:buFont typeface="Calibri"/>
              <a:buNone/>
            </a:pPr>
            <a:r>
              <a:rPr b="0" i="1" lang="en-US" sz="1150" u="none" cap="none" strike="noStrike">
                <a:solidFill>
                  <a:srgbClr val="5C6B7A"/>
                </a:solidFill>
                <a:latin typeface="Calibri"/>
                <a:ea typeface="Calibri"/>
                <a:cs typeface="Calibri"/>
                <a:sym typeface="Calibri"/>
              </a:rPr>
              <a:t>and how badly, and for whom</a:t>
            </a:r>
            <a:endParaRPr b="0" i="0" sz="1150" u="none" cap="none" strike="noStrike">
              <a:solidFill>
                <a:schemeClr val="dk1"/>
              </a:solidFill>
              <a:latin typeface="Calibri"/>
              <a:ea typeface="Calibri"/>
              <a:cs typeface="Calibri"/>
              <a:sym typeface="Calibri"/>
            </a:endParaRPr>
          </a:p>
        </p:txBody>
      </p:sp>
      <p:sp>
        <p:nvSpPr>
          <p:cNvPr id="104" name="Google Shape;104;p6"/>
          <p:cNvSpPr/>
          <p:nvPr/>
        </p:nvSpPr>
        <p:spPr>
          <a:xfrm>
            <a:off x="841248" y="3054096"/>
            <a:ext cx="2962656"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200"/>
              <a:buFont typeface="Calibri"/>
              <a:buNone/>
            </a:pPr>
            <a:r>
              <a:rPr b="0" i="0" lang="en-US" sz="1200" u="none" cap="none" strike="noStrike">
                <a:solidFill>
                  <a:srgbClr val="16202C"/>
                </a:solidFill>
                <a:latin typeface="Calibri"/>
                <a:ea typeface="Calibri"/>
                <a:cs typeface="Calibri"/>
                <a:sym typeface="Calibri"/>
              </a:rPr>
              <a:t>A number crossed a line. Cheap to store, fast to query, always on. This is what wakes you up.</a:t>
            </a:r>
            <a:endParaRPr b="0" i="0" sz="1200" u="none" cap="none" strike="noStrike">
              <a:solidFill>
                <a:schemeClr val="dk1"/>
              </a:solidFill>
              <a:latin typeface="Calibri"/>
              <a:ea typeface="Calibri"/>
              <a:cs typeface="Calibri"/>
              <a:sym typeface="Calibri"/>
            </a:endParaRPr>
          </a:p>
        </p:txBody>
      </p:sp>
      <p:sp>
        <p:nvSpPr>
          <p:cNvPr id="105" name="Google Shape;105;p6"/>
          <p:cNvSpPr/>
          <p:nvPr/>
        </p:nvSpPr>
        <p:spPr>
          <a:xfrm>
            <a:off x="4306824" y="1481328"/>
            <a:ext cx="3511296" cy="3246120"/>
          </a:xfrm>
          <a:prstGeom prst="roundRect">
            <a:avLst>
              <a:gd fmla="val 2535"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4581144" y="1737360"/>
            <a:ext cx="384048" cy="384048"/>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4581144" y="17373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108" name="Google Shape;108;p6"/>
          <p:cNvSpPr/>
          <p:nvPr/>
        </p:nvSpPr>
        <p:spPr>
          <a:xfrm>
            <a:off x="5093208" y="1773936"/>
            <a:ext cx="24688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50"/>
              <a:buFont typeface="Calibri"/>
              <a:buNone/>
            </a:pPr>
            <a:r>
              <a:rPr b="1" i="0" lang="en-US" sz="1050" u="none" cap="none" strike="noStrike">
                <a:solidFill>
                  <a:srgbClr val="5C3FA6"/>
                </a:solidFill>
                <a:latin typeface="Calibri"/>
                <a:ea typeface="Calibri"/>
                <a:cs typeface="Calibri"/>
                <a:sym typeface="Calibri"/>
              </a:rPr>
              <a:t>TRACES</a:t>
            </a:r>
            <a:endParaRPr b="0" i="0" sz="1050" u="none" cap="none" strike="noStrike">
              <a:solidFill>
                <a:schemeClr val="dk1"/>
              </a:solidFill>
              <a:latin typeface="Calibri"/>
              <a:ea typeface="Calibri"/>
              <a:cs typeface="Calibri"/>
              <a:sym typeface="Calibri"/>
            </a:endParaRPr>
          </a:p>
        </p:txBody>
      </p:sp>
      <p:sp>
        <p:nvSpPr>
          <p:cNvPr id="109" name="Google Shape;109;p6"/>
          <p:cNvSpPr/>
          <p:nvPr/>
        </p:nvSpPr>
        <p:spPr>
          <a:xfrm>
            <a:off x="4581144" y="2286000"/>
            <a:ext cx="29626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800"/>
              <a:buFont typeface="Cambria"/>
              <a:buNone/>
            </a:pPr>
            <a:r>
              <a:rPr b="1" i="0" lang="en-US" sz="1800" u="none" cap="none" strike="noStrike">
                <a:solidFill>
                  <a:srgbClr val="16202C"/>
                </a:solidFill>
                <a:latin typeface="Cambria"/>
                <a:ea typeface="Cambria"/>
                <a:cs typeface="Cambria"/>
                <a:sym typeface="Cambria"/>
              </a:rPr>
              <a:t>Where is it broken?</a:t>
            </a:r>
            <a:endParaRPr b="0" i="0" sz="1800" u="none" cap="none" strike="noStrike">
              <a:solidFill>
                <a:schemeClr val="dk1"/>
              </a:solidFill>
              <a:latin typeface="Calibri"/>
              <a:ea typeface="Calibri"/>
              <a:cs typeface="Calibri"/>
              <a:sym typeface="Calibri"/>
            </a:endParaRPr>
          </a:p>
        </p:txBody>
      </p:sp>
      <p:sp>
        <p:nvSpPr>
          <p:cNvPr id="110" name="Google Shape;110;p6"/>
          <p:cNvSpPr/>
          <p:nvPr/>
        </p:nvSpPr>
        <p:spPr>
          <a:xfrm>
            <a:off x="4581144" y="2670048"/>
            <a:ext cx="296265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150"/>
              <a:buFont typeface="Calibri"/>
              <a:buNone/>
            </a:pPr>
            <a:r>
              <a:rPr b="0" i="1" lang="en-US" sz="1150" u="none" cap="none" strike="noStrike">
                <a:solidFill>
                  <a:srgbClr val="5C6B7A"/>
                </a:solidFill>
                <a:latin typeface="Calibri"/>
                <a:ea typeface="Calibri"/>
                <a:cs typeface="Calibri"/>
                <a:sym typeface="Calibri"/>
              </a:rPr>
              <a:t>which service, which hop</a:t>
            </a:r>
            <a:endParaRPr b="0" i="0" sz="1150" u="none" cap="none" strike="noStrike">
              <a:solidFill>
                <a:schemeClr val="dk1"/>
              </a:solidFill>
              <a:latin typeface="Calibri"/>
              <a:ea typeface="Calibri"/>
              <a:cs typeface="Calibri"/>
              <a:sym typeface="Calibri"/>
            </a:endParaRPr>
          </a:p>
        </p:txBody>
      </p:sp>
      <p:sp>
        <p:nvSpPr>
          <p:cNvPr id="111" name="Google Shape;111;p6"/>
          <p:cNvSpPr/>
          <p:nvPr/>
        </p:nvSpPr>
        <p:spPr>
          <a:xfrm>
            <a:off x="4581144" y="3054096"/>
            <a:ext cx="2962656"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200"/>
              <a:buFont typeface="Calibri"/>
              <a:buNone/>
            </a:pPr>
            <a:r>
              <a:rPr b="0" i="0" lang="en-US" sz="1200" u="none" cap="none" strike="noStrike">
                <a:solidFill>
                  <a:srgbClr val="16202C"/>
                </a:solidFill>
                <a:latin typeface="Calibri"/>
                <a:ea typeface="Calibri"/>
                <a:cs typeface="Calibri"/>
                <a:sym typeface="Calibri"/>
              </a:rPr>
              <a:t>One request's journey through every service, with timings. This is what narrows 9 suspects to 1.</a:t>
            </a:r>
            <a:endParaRPr b="0" i="0" sz="1200" u="none" cap="none" strike="noStrike">
              <a:solidFill>
                <a:schemeClr val="dk1"/>
              </a:solidFill>
              <a:latin typeface="Calibri"/>
              <a:ea typeface="Calibri"/>
              <a:cs typeface="Calibri"/>
              <a:sym typeface="Calibri"/>
            </a:endParaRPr>
          </a:p>
        </p:txBody>
      </p:sp>
      <p:sp>
        <p:nvSpPr>
          <p:cNvPr id="112" name="Google Shape;112;p6"/>
          <p:cNvSpPr/>
          <p:nvPr/>
        </p:nvSpPr>
        <p:spPr>
          <a:xfrm>
            <a:off x="8046720" y="1481328"/>
            <a:ext cx="3511296" cy="3246120"/>
          </a:xfrm>
          <a:prstGeom prst="roundRect">
            <a:avLst>
              <a:gd fmla="val 2535"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8321040" y="1737360"/>
            <a:ext cx="384048" cy="38404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8321040" y="173736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115" name="Google Shape;115;p6"/>
          <p:cNvSpPr/>
          <p:nvPr/>
        </p:nvSpPr>
        <p:spPr>
          <a:xfrm>
            <a:off x="8833104" y="1773936"/>
            <a:ext cx="24688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LOGS</a:t>
            </a:r>
            <a:endParaRPr b="0" i="0" sz="1050" u="none" cap="none" strike="noStrike">
              <a:solidFill>
                <a:schemeClr val="dk1"/>
              </a:solidFill>
              <a:latin typeface="Calibri"/>
              <a:ea typeface="Calibri"/>
              <a:cs typeface="Calibri"/>
              <a:sym typeface="Calibri"/>
            </a:endParaRPr>
          </a:p>
        </p:txBody>
      </p:sp>
      <p:sp>
        <p:nvSpPr>
          <p:cNvPr id="116" name="Google Shape;116;p6"/>
          <p:cNvSpPr/>
          <p:nvPr/>
        </p:nvSpPr>
        <p:spPr>
          <a:xfrm>
            <a:off x="8321040" y="2286000"/>
            <a:ext cx="29626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800"/>
              <a:buFont typeface="Cambria"/>
              <a:buNone/>
            </a:pPr>
            <a:r>
              <a:rPr b="1" i="0" lang="en-US" sz="1800" u="none" cap="none" strike="noStrike">
                <a:solidFill>
                  <a:srgbClr val="16202C"/>
                </a:solidFill>
                <a:latin typeface="Cambria"/>
                <a:ea typeface="Cambria"/>
                <a:cs typeface="Cambria"/>
                <a:sym typeface="Cambria"/>
              </a:rPr>
              <a:t>Why is it broken?</a:t>
            </a:r>
            <a:endParaRPr b="0" i="0" sz="1800" u="none" cap="none" strike="noStrike">
              <a:solidFill>
                <a:schemeClr val="dk1"/>
              </a:solidFill>
              <a:latin typeface="Calibri"/>
              <a:ea typeface="Calibri"/>
              <a:cs typeface="Calibri"/>
              <a:sym typeface="Calibri"/>
            </a:endParaRPr>
          </a:p>
        </p:txBody>
      </p:sp>
      <p:sp>
        <p:nvSpPr>
          <p:cNvPr id="117" name="Google Shape;117;p6"/>
          <p:cNvSpPr/>
          <p:nvPr/>
        </p:nvSpPr>
        <p:spPr>
          <a:xfrm>
            <a:off x="8321040" y="2670048"/>
            <a:ext cx="296265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150"/>
              <a:buFont typeface="Calibri"/>
              <a:buNone/>
            </a:pPr>
            <a:r>
              <a:rPr b="0" i="1" lang="en-US" sz="1150" u="none" cap="none" strike="noStrike">
                <a:solidFill>
                  <a:srgbClr val="5C6B7A"/>
                </a:solidFill>
                <a:latin typeface="Calibri"/>
                <a:ea typeface="Calibri"/>
                <a:cs typeface="Calibri"/>
                <a:sym typeface="Calibri"/>
              </a:rPr>
              <a:t>what exactly happened</a:t>
            </a:r>
            <a:endParaRPr b="0" i="0" sz="1150" u="none" cap="none" strike="noStrike">
              <a:solidFill>
                <a:schemeClr val="dk1"/>
              </a:solidFill>
              <a:latin typeface="Calibri"/>
              <a:ea typeface="Calibri"/>
              <a:cs typeface="Calibri"/>
              <a:sym typeface="Calibri"/>
            </a:endParaRPr>
          </a:p>
        </p:txBody>
      </p:sp>
      <p:sp>
        <p:nvSpPr>
          <p:cNvPr id="118" name="Google Shape;118;p6"/>
          <p:cNvSpPr/>
          <p:nvPr/>
        </p:nvSpPr>
        <p:spPr>
          <a:xfrm>
            <a:off x="8321040" y="3054096"/>
            <a:ext cx="2962656" cy="14630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200"/>
              <a:buFont typeface="Calibri"/>
              <a:buNone/>
            </a:pPr>
            <a:r>
              <a:rPr b="0" i="0" lang="en-US" sz="1200" u="none" cap="none" strike="noStrike">
                <a:solidFill>
                  <a:srgbClr val="16202C"/>
                </a:solidFill>
                <a:latin typeface="Calibri"/>
                <a:ea typeface="Calibri"/>
                <a:cs typeface="Calibri"/>
                <a:sym typeface="Calibri"/>
              </a:rPr>
              <a:t>The stack trace, the bad value, the timeout message. This is what you paste into the postmortem.</a:t>
            </a:r>
            <a:endParaRPr b="0" i="0" sz="1200" u="none" cap="none" strike="noStrike">
              <a:solidFill>
                <a:schemeClr val="dk1"/>
              </a:solidFill>
              <a:latin typeface="Calibri"/>
              <a:ea typeface="Calibri"/>
              <a:cs typeface="Calibri"/>
              <a:sym typeface="Calibri"/>
            </a:endParaRPr>
          </a:p>
        </p:txBody>
      </p:sp>
      <p:sp>
        <p:nvSpPr>
          <p:cNvPr id="119" name="Google Shape;119;p6"/>
          <p:cNvSpPr/>
          <p:nvPr/>
        </p:nvSpPr>
        <p:spPr>
          <a:xfrm>
            <a:off x="566928" y="4956048"/>
            <a:ext cx="11057839" cy="566928"/>
          </a:xfrm>
          <a:prstGeom prst="roundRect">
            <a:avLst>
              <a:gd fmla="val 14516"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768096" y="5102352"/>
            <a:ext cx="274320" cy="274320"/>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768096" y="510235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22" name="Google Shape;122;p6"/>
          <p:cNvSpPr/>
          <p:nvPr/>
        </p:nvSpPr>
        <p:spPr>
          <a:xfrm>
            <a:off x="1170432" y="4956048"/>
            <a:ext cx="10234879" cy="56692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200"/>
              <a:buFont typeface="Calibri"/>
              <a:buNone/>
            </a:pPr>
            <a:r>
              <a:rPr b="0" i="0" lang="en-US" sz="1200" u="none" cap="none" strike="noStrike">
                <a:solidFill>
                  <a:srgbClr val="16202C"/>
                </a:solidFill>
                <a:latin typeface="Calibri"/>
                <a:ea typeface="Calibri"/>
                <a:cs typeface="Calibri"/>
                <a:sym typeface="Calibri"/>
              </a:rPr>
              <a:t>You will meet them in the reverse order in the lab — logs first, because logs are the only signal you already half-know how to read.</a:t>
            </a:r>
            <a:endParaRPr b="0" i="0" sz="1200" u="none" cap="none" strike="noStrike">
              <a:solidFill>
                <a:schemeClr val="dk1"/>
              </a:solidFill>
              <a:latin typeface="Calibri"/>
              <a:ea typeface="Calibri"/>
              <a:cs typeface="Calibri"/>
              <a:sym typeface="Calibri"/>
            </a:endParaRPr>
          </a:p>
        </p:txBody>
      </p:sp>
      <p:sp>
        <p:nvSpPr>
          <p:cNvPr id="123" name="Google Shape;123;p6"/>
          <p:cNvSpPr/>
          <p:nvPr/>
        </p:nvSpPr>
        <p:spPr>
          <a:xfrm>
            <a:off x="566928" y="5669280"/>
            <a:ext cx="11057839" cy="5486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200"/>
              <a:buFont typeface="Calibri"/>
              <a:buNone/>
            </a:pPr>
            <a:r>
              <a:rPr b="0" i="0" lang="en-US" sz="1200" u="none" cap="none" strike="noStrike">
                <a:solidFill>
                  <a:srgbClr val="5C6B7A"/>
                </a:solidFill>
                <a:latin typeface="Calibri"/>
                <a:ea typeface="Calibri"/>
                <a:cs typeface="Calibri"/>
                <a:sym typeface="Calibri"/>
              </a:rPr>
              <a:t>A team that has only metrics knows it is broken and cannot say why. A team that has only logs can explain a failure it has not yet noticed. You need all three, and you need them joined together — which is the last section of this deck.</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7"/>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050"/>
              <a:buFont typeface="Calibri"/>
              <a:buNone/>
            </a:pPr>
            <a:r>
              <a:rPr b="1" i="0" lang="en-US" sz="1050" u="none" cap="none" strike="noStrike">
                <a:solidFill>
                  <a:srgbClr val="16202C"/>
                </a:solidFill>
                <a:latin typeface="Calibri"/>
                <a:ea typeface="Calibri"/>
                <a:cs typeface="Calibri"/>
                <a:sym typeface="Calibri"/>
              </a:rPr>
              <a:t>THE THREE SIGNALS</a:t>
            </a:r>
            <a:endParaRPr b="0" i="0" sz="1050" u="none" cap="none" strike="noStrike">
              <a:solidFill>
                <a:schemeClr val="dk1"/>
              </a:solidFill>
              <a:latin typeface="Calibri"/>
              <a:ea typeface="Calibri"/>
              <a:cs typeface="Calibri"/>
              <a:sym typeface="Calibri"/>
            </a:endParaRPr>
          </a:p>
        </p:txBody>
      </p:sp>
      <p:sp>
        <p:nvSpPr>
          <p:cNvPr id="130" name="Google Shape;130;p7"/>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Same event, three shapes of data</a:t>
            </a:r>
            <a:endParaRPr b="0" i="0" sz="2900" u="none" cap="none" strike="noStrike">
              <a:solidFill>
                <a:schemeClr val="dk1"/>
              </a:solidFill>
              <a:latin typeface="Calibri"/>
              <a:ea typeface="Calibri"/>
              <a:cs typeface="Calibri"/>
              <a:sym typeface="Calibri"/>
            </a:endParaRPr>
          </a:p>
        </p:txBody>
      </p:sp>
      <p:sp>
        <p:nvSpPr>
          <p:cNvPr id="131" name="Google Shape;131;p7"/>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32" name="Google Shape;132;p7"/>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133" name="Google Shape;133;p7"/>
          <p:cNvSpPr/>
          <p:nvPr/>
        </p:nvSpPr>
        <p:spPr>
          <a:xfrm>
            <a:off x="566928" y="1298448"/>
            <a:ext cx="3511296" cy="4160520"/>
          </a:xfrm>
          <a:prstGeom prst="roundRect">
            <a:avLst>
              <a:gd fmla="val 2344" name="adj"/>
            </a:avLst>
          </a:prstGeom>
          <a:solidFill>
            <a:srgbClr val="FFFFFF"/>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566928" y="1298448"/>
            <a:ext cx="3511296" cy="896112"/>
          </a:xfrm>
          <a:prstGeom prst="roundRect">
            <a:avLst>
              <a:gd fmla="val 9184"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822960" y="1517904"/>
            <a:ext cx="292608" cy="29260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1225296" y="1463040"/>
            <a:ext cx="26517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2100"/>
              <a:buFont typeface="Cambria"/>
              <a:buNone/>
            </a:pPr>
            <a:r>
              <a:rPr b="1" i="0" lang="en-US" sz="2100" u="none" cap="none" strike="noStrike">
                <a:solidFill>
                  <a:srgbClr val="BE6415"/>
                </a:solidFill>
                <a:latin typeface="Cambria"/>
                <a:ea typeface="Cambria"/>
                <a:cs typeface="Cambria"/>
                <a:sym typeface="Cambria"/>
              </a:rPr>
              <a:t>Logs</a:t>
            </a:r>
            <a:endParaRPr b="0" i="0" sz="2100" u="none" cap="none" strike="noStrike">
              <a:solidFill>
                <a:schemeClr val="dk1"/>
              </a:solidFill>
              <a:latin typeface="Calibri"/>
              <a:ea typeface="Calibri"/>
              <a:cs typeface="Calibri"/>
              <a:sym typeface="Calibri"/>
            </a:endParaRPr>
          </a:p>
        </p:txBody>
      </p:sp>
      <p:sp>
        <p:nvSpPr>
          <p:cNvPr id="137" name="Google Shape;137;p7"/>
          <p:cNvSpPr/>
          <p:nvPr/>
        </p:nvSpPr>
        <p:spPr>
          <a:xfrm>
            <a:off x="822960" y="1847088"/>
            <a:ext cx="3017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050"/>
              <a:buFont typeface="Calibri"/>
              <a:buNone/>
            </a:pPr>
            <a:r>
              <a:rPr b="0" i="1" lang="en-US" sz="1050" u="none" cap="none" strike="noStrike">
                <a:solidFill>
                  <a:srgbClr val="5C6B7A"/>
                </a:solidFill>
                <a:latin typeface="Calibri"/>
                <a:ea typeface="Calibri"/>
                <a:cs typeface="Calibri"/>
                <a:sym typeface="Calibri"/>
              </a:rPr>
              <a:t>A timestamped record of one discrete event</a:t>
            </a:r>
            <a:endParaRPr b="0" i="0" sz="1050" u="none" cap="none" strike="noStrike">
              <a:solidFill>
                <a:schemeClr val="dk1"/>
              </a:solidFill>
              <a:latin typeface="Calibri"/>
              <a:ea typeface="Calibri"/>
              <a:cs typeface="Calibri"/>
              <a:sym typeface="Calibri"/>
            </a:endParaRPr>
          </a:p>
        </p:txBody>
      </p:sp>
      <p:sp>
        <p:nvSpPr>
          <p:cNvPr id="138" name="Google Shape;138;p7"/>
          <p:cNvSpPr/>
          <p:nvPr/>
        </p:nvSpPr>
        <p:spPr>
          <a:xfrm>
            <a:off x="822960" y="2359152"/>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900"/>
              <a:buFont typeface="Calibri"/>
              <a:buNone/>
            </a:pPr>
            <a:r>
              <a:rPr b="1" i="0" lang="en-US" sz="900" u="none" cap="none" strike="noStrike">
                <a:solidFill>
                  <a:srgbClr val="BE6415"/>
                </a:solidFill>
                <a:latin typeface="Calibri"/>
                <a:ea typeface="Calibri"/>
                <a:cs typeface="Calibri"/>
                <a:sym typeface="Calibri"/>
              </a:rPr>
              <a:t>SHAPE</a:t>
            </a:r>
            <a:endParaRPr b="0" i="0" sz="900" u="none" cap="none" strike="noStrike">
              <a:solidFill>
                <a:schemeClr val="dk1"/>
              </a:solidFill>
              <a:latin typeface="Calibri"/>
              <a:ea typeface="Calibri"/>
              <a:cs typeface="Calibri"/>
              <a:sym typeface="Calibri"/>
            </a:endParaRPr>
          </a:p>
        </p:txBody>
      </p:sp>
      <p:sp>
        <p:nvSpPr>
          <p:cNvPr id="139" name="Google Shape;139;p7"/>
          <p:cNvSpPr/>
          <p:nvPr/>
        </p:nvSpPr>
        <p:spPr>
          <a:xfrm>
            <a:off x="822960" y="2569464"/>
            <a:ext cx="301752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Text or JSON, one line per event</a:t>
            </a:r>
            <a:endParaRPr b="0" i="0" sz="1150" u="none" cap="none" strike="noStrike">
              <a:solidFill>
                <a:schemeClr val="dk1"/>
              </a:solidFill>
              <a:latin typeface="Calibri"/>
              <a:ea typeface="Calibri"/>
              <a:cs typeface="Calibri"/>
              <a:sym typeface="Calibri"/>
            </a:endParaRPr>
          </a:p>
        </p:txBody>
      </p:sp>
      <p:sp>
        <p:nvSpPr>
          <p:cNvPr id="140" name="Google Shape;140;p7"/>
          <p:cNvSpPr/>
          <p:nvPr/>
        </p:nvSpPr>
        <p:spPr>
          <a:xfrm>
            <a:off x="822960" y="3145536"/>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900"/>
              <a:buFont typeface="Calibri"/>
              <a:buNone/>
            </a:pPr>
            <a:r>
              <a:rPr b="1" i="0" lang="en-US" sz="900" u="none" cap="none" strike="noStrike">
                <a:solidFill>
                  <a:srgbClr val="BE6415"/>
                </a:solidFill>
                <a:latin typeface="Calibri"/>
                <a:ea typeface="Calibri"/>
                <a:cs typeface="Calibri"/>
                <a:sym typeface="Calibri"/>
              </a:rPr>
              <a:t>ANSWERS</a:t>
            </a:r>
            <a:endParaRPr b="0" i="0" sz="900" u="none" cap="none" strike="noStrike">
              <a:solidFill>
                <a:schemeClr val="dk1"/>
              </a:solidFill>
              <a:latin typeface="Calibri"/>
              <a:ea typeface="Calibri"/>
              <a:cs typeface="Calibri"/>
              <a:sym typeface="Calibri"/>
            </a:endParaRPr>
          </a:p>
        </p:txBody>
      </p:sp>
      <p:sp>
        <p:nvSpPr>
          <p:cNvPr id="141" name="Google Shape;141;p7"/>
          <p:cNvSpPr/>
          <p:nvPr/>
        </p:nvSpPr>
        <p:spPr>
          <a:xfrm>
            <a:off x="822960" y="3355848"/>
            <a:ext cx="301752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What exactly happened, in detail</a:t>
            </a:r>
            <a:endParaRPr b="0" i="0" sz="1150" u="none" cap="none" strike="noStrike">
              <a:solidFill>
                <a:schemeClr val="dk1"/>
              </a:solidFill>
              <a:latin typeface="Calibri"/>
              <a:ea typeface="Calibri"/>
              <a:cs typeface="Calibri"/>
              <a:sym typeface="Calibri"/>
            </a:endParaRPr>
          </a:p>
        </p:txBody>
      </p:sp>
      <p:sp>
        <p:nvSpPr>
          <p:cNvPr id="142" name="Google Shape;142;p7"/>
          <p:cNvSpPr/>
          <p:nvPr/>
        </p:nvSpPr>
        <p:spPr>
          <a:xfrm>
            <a:off x="822960" y="3931920"/>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900"/>
              <a:buFont typeface="Calibri"/>
              <a:buNone/>
            </a:pPr>
            <a:r>
              <a:rPr b="1" i="0" lang="en-US" sz="900" u="none" cap="none" strike="noStrike">
                <a:solidFill>
                  <a:srgbClr val="BE6415"/>
                </a:solidFill>
                <a:latin typeface="Calibri"/>
                <a:ea typeface="Calibri"/>
                <a:cs typeface="Calibri"/>
                <a:sym typeface="Calibri"/>
              </a:rPr>
              <a:t>COST</a:t>
            </a:r>
            <a:endParaRPr b="0" i="0" sz="900" u="none" cap="none" strike="noStrike">
              <a:solidFill>
                <a:schemeClr val="dk1"/>
              </a:solidFill>
              <a:latin typeface="Calibri"/>
              <a:ea typeface="Calibri"/>
              <a:cs typeface="Calibri"/>
              <a:sym typeface="Calibri"/>
            </a:endParaRPr>
          </a:p>
        </p:txBody>
      </p:sp>
      <p:sp>
        <p:nvSpPr>
          <p:cNvPr id="143" name="Google Shape;143;p7"/>
          <p:cNvSpPr/>
          <p:nvPr/>
        </p:nvSpPr>
        <p:spPr>
          <a:xfrm>
            <a:off x="822960" y="4142232"/>
            <a:ext cx="301752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High — grows with traffic, linearly</a:t>
            </a:r>
            <a:endParaRPr b="0" i="0" sz="1150" u="none" cap="none" strike="noStrike">
              <a:solidFill>
                <a:schemeClr val="dk1"/>
              </a:solidFill>
              <a:latin typeface="Calibri"/>
              <a:ea typeface="Calibri"/>
              <a:cs typeface="Calibri"/>
              <a:sym typeface="Calibri"/>
            </a:endParaRPr>
          </a:p>
        </p:txBody>
      </p:sp>
      <p:sp>
        <p:nvSpPr>
          <p:cNvPr id="144" name="Google Shape;144;p7"/>
          <p:cNvSpPr/>
          <p:nvPr/>
        </p:nvSpPr>
        <p:spPr>
          <a:xfrm>
            <a:off x="822960" y="4718304"/>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900"/>
              <a:buFont typeface="Calibri"/>
              <a:buNone/>
            </a:pPr>
            <a:r>
              <a:rPr b="1" i="0" lang="en-US" sz="900" u="none" cap="none" strike="noStrike">
                <a:solidFill>
                  <a:srgbClr val="BE6415"/>
                </a:solidFill>
                <a:latin typeface="Calibri"/>
                <a:ea typeface="Calibri"/>
                <a:cs typeface="Calibri"/>
                <a:sym typeface="Calibri"/>
              </a:rPr>
              <a:t>WEAKNESS</a:t>
            </a:r>
            <a:endParaRPr b="0" i="0" sz="900" u="none" cap="none" strike="noStrike">
              <a:solidFill>
                <a:schemeClr val="dk1"/>
              </a:solidFill>
              <a:latin typeface="Calibri"/>
              <a:ea typeface="Calibri"/>
              <a:cs typeface="Calibri"/>
              <a:sym typeface="Calibri"/>
            </a:endParaRPr>
          </a:p>
        </p:txBody>
      </p:sp>
      <p:sp>
        <p:nvSpPr>
          <p:cNvPr id="145" name="Google Shape;145;p7"/>
          <p:cNvSpPr/>
          <p:nvPr/>
        </p:nvSpPr>
        <p:spPr>
          <a:xfrm>
            <a:off x="822960" y="4928616"/>
            <a:ext cx="301752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Volume. Finding the one line that matters.</a:t>
            </a:r>
            <a:endParaRPr b="0" i="0" sz="1150" u="none" cap="none" strike="noStrike">
              <a:solidFill>
                <a:schemeClr val="dk1"/>
              </a:solidFill>
              <a:latin typeface="Calibri"/>
              <a:ea typeface="Calibri"/>
              <a:cs typeface="Calibri"/>
              <a:sym typeface="Calibri"/>
            </a:endParaRPr>
          </a:p>
        </p:txBody>
      </p:sp>
      <p:sp>
        <p:nvSpPr>
          <p:cNvPr id="146" name="Google Shape;146;p7"/>
          <p:cNvSpPr/>
          <p:nvPr/>
        </p:nvSpPr>
        <p:spPr>
          <a:xfrm>
            <a:off x="4306824" y="1298448"/>
            <a:ext cx="3511296" cy="4160520"/>
          </a:xfrm>
          <a:prstGeom prst="roundRect">
            <a:avLst>
              <a:gd fmla="val 2344" name="adj"/>
            </a:avLst>
          </a:prstGeom>
          <a:solidFill>
            <a:srgbClr val="FFFFFF"/>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
          <p:cNvSpPr/>
          <p:nvPr/>
        </p:nvSpPr>
        <p:spPr>
          <a:xfrm>
            <a:off x="4306824" y="1298448"/>
            <a:ext cx="3511296" cy="896112"/>
          </a:xfrm>
          <a:prstGeom prst="roundRect">
            <a:avLst>
              <a:gd fmla="val 9184"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4562856" y="1517904"/>
            <a:ext cx="292608" cy="29260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4965192" y="1463040"/>
            <a:ext cx="26517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2100"/>
              <a:buFont typeface="Cambria"/>
              <a:buNone/>
            </a:pPr>
            <a:r>
              <a:rPr b="1" i="0" lang="en-US" sz="2100" u="none" cap="none" strike="noStrike">
                <a:solidFill>
                  <a:srgbClr val="0C6B7D"/>
                </a:solidFill>
                <a:latin typeface="Cambria"/>
                <a:ea typeface="Cambria"/>
                <a:cs typeface="Cambria"/>
                <a:sym typeface="Cambria"/>
              </a:rPr>
              <a:t>Metrics</a:t>
            </a:r>
            <a:endParaRPr b="0" i="0" sz="2100" u="none" cap="none" strike="noStrike">
              <a:solidFill>
                <a:schemeClr val="dk1"/>
              </a:solidFill>
              <a:latin typeface="Calibri"/>
              <a:ea typeface="Calibri"/>
              <a:cs typeface="Calibri"/>
              <a:sym typeface="Calibri"/>
            </a:endParaRPr>
          </a:p>
        </p:txBody>
      </p:sp>
      <p:sp>
        <p:nvSpPr>
          <p:cNvPr id="150" name="Google Shape;150;p7"/>
          <p:cNvSpPr/>
          <p:nvPr/>
        </p:nvSpPr>
        <p:spPr>
          <a:xfrm>
            <a:off x="4562856" y="1847088"/>
            <a:ext cx="3017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050"/>
              <a:buFont typeface="Calibri"/>
              <a:buNone/>
            </a:pPr>
            <a:r>
              <a:rPr b="0" i="1" lang="en-US" sz="1050" u="none" cap="none" strike="noStrike">
                <a:solidFill>
                  <a:srgbClr val="5C6B7A"/>
                </a:solidFill>
                <a:latin typeface="Calibri"/>
                <a:ea typeface="Calibri"/>
                <a:cs typeface="Calibri"/>
                <a:sym typeface="Calibri"/>
              </a:rPr>
              <a:t>A number, sampled on a schedule, over time</a:t>
            </a:r>
            <a:endParaRPr b="0" i="0" sz="1050" u="none" cap="none" strike="noStrike">
              <a:solidFill>
                <a:schemeClr val="dk1"/>
              </a:solidFill>
              <a:latin typeface="Calibri"/>
              <a:ea typeface="Calibri"/>
              <a:cs typeface="Calibri"/>
              <a:sym typeface="Calibri"/>
            </a:endParaRPr>
          </a:p>
        </p:txBody>
      </p:sp>
      <p:sp>
        <p:nvSpPr>
          <p:cNvPr id="151" name="Google Shape;151;p7"/>
          <p:cNvSpPr/>
          <p:nvPr/>
        </p:nvSpPr>
        <p:spPr>
          <a:xfrm>
            <a:off x="4562856" y="2359152"/>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900"/>
              <a:buFont typeface="Calibri"/>
              <a:buNone/>
            </a:pPr>
            <a:r>
              <a:rPr b="1" i="0" lang="en-US" sz="900" u="none" cap="none" strike="noStrike">
                <a:solidFill>
                  <a:srgbClr val="0C6B7D"/>
                </a:solidFill>
                <a:latin typeface="Calibri"/>
                <a:ea typeface="Calibri"/>
                <a:cs typeface="Calibri"/>
                <a:sym typeface="Calibri"/>
              </a:rPr>
              <a:t>SHAPE</a:t>
            </a:r>
            <a:endParaRPr b="0" i="0" sz="900" u="none" cap="none" strike="noStrike">
              <a:solidFill>
                <a:schemeClr val="dk1"/>
              </a:solidFill>
              <a:latin typeface="Calibri"/>
              <a:ea typeface="Calibri"/>
              <a:cs typeface="Calibri"/>
              <a:sym typeface="Calibri"/>
            </a:endParaRPr>
          </a:p>
        </p:txBody>
      </p:sp>
      <p:sp>
        <p:nvSpPr>
          <p:cNvPr id="152" name="Google Shape;152;p7"/>
          <p:cNvSpPr/>
          <p:nvPr/>
        </p:nvSpPr>
        <p:spPr>
          <a:xfrm>
            <a:off x="4562856" y="2569464"/>
            <a:ext cx="301752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name{labels} → value @ timestamp</a:t>
            </a:r>
            <a:endParaRPr b="0" i="0" sz="1150" u="none" cap="none" strike="noStrike">
              <a:solidFill>
                <a:schemeClr val="dk1"/>
              </a:solidFill>
              <a:latin typeface="Calibri"/>
              <a:ea typeface="Calibri"/>
              <a:cs typeface="Calibri"/>
              <a:sym typeface="Calibri"/>
            </a:endParaRPr>
          </a:p>
        </p:txBody>
      </p:sp>
      <p:sp>
        <p:nvSpPr>
          <p:cNvPr id="153" name="Google Shape;153;p7"/>
          <p:cNvSpPr/>
          <p:nvPr/>
        </p:nvSpPr>
        <p:spPr>
          <a:xfrm>
            <a:off x="4562856" y="3145536"/>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900"/>
              <a:buFont typeface="Calibri"/>
              <a:buNone/>
            </a:pPr>
            <a:r>
              <a:rPr b="1" i="0" lang="en-US" sz="900" u="none" cap="none" strike="noStrike">
                <a:solidFill>
                  <a:srgbClr val="0C6B7D"/>
                </a:solidFill>
                <a:latin typeface="Calibri"/>
                <a:ea typeface="Calibri"/>
                <a:cs typeface="Calibri"/>
                <a:sym typeface="Calibri"/>
              </a:rPr>
              <a:t>ANSWERS</a:t>
            </a:r>
            <a:endParaRPr b="0" i="0" sz="900" u="none" cap="none" strike="noStrike">
              <a:solidFill>
                <a:schemeClr val="dk1"/>
              </a:solidFill>
              <a:latin typeface="Calibri"/>
              <a:ea typeface="Calibri"/>
              <a:cs typeface="Calibri"/>
              <a:sym typeface="Calibri"/>
            </a:endParaRPr>
          </a:p>
        </p:txBody>
      </p:sp>
      <p:sp>
        <p:nvSpPr>
          <p:cNvPr id="154" name="Google Shape;154;p7"/>
          <p:cNvSpPr/>
          <p:nvPr/>
        </p:nvSpPr>
        <p:spPr>
          <a:xfrm>
            <a:off x="4562856" y="3355848"/>
            <a:ext cx="301752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How much, how many, how fast — in aggregate</a:t>
            </a:r>
            <a:endParaRPr b="0" i="0" sz="1150" u="none" cap="none" strike="noStrike">
              <a:solidFill>
                <a:schemeClr val="dk1"/>
              </a:solidFill>
              <a:latin typeface="Calibri"/>
              <a:ea typeface="Calibri"/>
              <a:cs typeface="Calibri"/>
              <a:sym typeface="Calibri"/>
            </a:endParaRPr>
          </a:p>
        </p:txBody>
      </p:sp>
      <p:sp>
        <p:nvSpPr>
          <p:cNvPr id="155" name="Google Shape;155;p7"/>
          <p:cNvSpPr/>
          <p:nvPr/>
        </p:nvSpPr>
        <p:spPr>
          <a:xfrm>
            <a:off x="4562856" y="3931920"/>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900"/>
              <a:buFont typeface="Calibri"/>
              <a:buNone/>
            </a:pPr>
            <a:r>
              <a:rPr b="1" i="0" lang="en-US" sz="900" u="none" cap="none" strike="noStrike">
                <a:solidFill>
                  <a:srgbClr val="0C6B7D"/>
                </a:solidFill>
                <a:latin typeface="Calibri"/>
                <a:ea typeface="Calibri"/>
                <a:cs typeface="Calibri"/>
                <a:sym typeface="Calibri"/>
              </a:rPr>
              <a:t>COST</a:t>
            </a:r>
            <a:endParaRPr b="0" i="0" sz="900" u="none" cap="none" strike="noStrike">
              <a:solidFill>
                <a:schemeClr val="dk1"/>
              </a:solidFill>
              <a:latin typeface="Calibri"/>
              <a:ea typeface="Calibri"/>
              <a:cs typeface="Calibri"/>
              <a:sym typeface="Calibri"/>
            </a:endParaRPr>
          </a:p>
        </p:txBody>
      </p:sp>
      <p:sp>
        <p:nvSpPr>
          <p:cNvPr id="156" name="Google Shape;156;p7"/>
          <p:cNvSpPr/>
          <p:nvPr/>
        </p:nvSpPr>
        <p:spPr>
          <a:xfrm>
            <a:off x="4562856" y="4142232"/>
            <a:ext cx="301752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Low — grows with cardinality, not traffic</a:t>
            </a:r>
            <a:endParaRPr b="0" i="0" sz="1150" u="none" cap="none" strike="noStrike">
              <a:solidFill>
                <a:schemeClr val="dk1"/>
              </a:solidFill>
              <a:latin typeface="Calibri"/>
              <a:ea typeface="Calibri"/>
              <a:cs typeface="Calibri"/>
              <a:sym typeface="Calibri"/>
            </a:endParaRPr>
          </a:p>
        </p:txBody>
      </p:sp>
      <p:sp>
        <p:nvSpPr>
          <p:cNvPr id="157" name="Google Shape;157;p7"/>
          <p:cNvSpPr/>
          <p:nvPr/>
        </p:nvSpPr>
        <p:spPr>
          <a:xfrm>
            <a:off x="4562856" y="4718304"/>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900"/>
              <a:buFont typeface="Calibri"/>
              <a:buNone/>
            </a:pPr>
            <a:r>
              <a:rPr b="1" i="0" lang="en-US" sz="900" u="none" cap="none" strike="noStrike">
                <a:solidFill>
                  <a:srgbClr val="0C6B7D"/>
                </a:solidFill>
                <a:latin typeface="Calibri"/>
                <a:ea typeface="Calibri"/>
                <a:cs typeface="Calibri"/>
                <a:sym typeface="Calibri"/>
              </a:rPr>
              <a:t>WEAKNESS</a:t>
            </a:r>
            <a:endParaRPr b="0" i="0" sz="900" u="none" cap="none" strike="noStrike">
              <a:solidFill>
                <a:schemeClr val="dk1"/>
              </a:solidFill>
              <a:latin typeface="Calibri"/>
              <a:ea typeface="Calibri"/>
              <a:cs typeface="Calibri"/>
              <a:sym typeface="Calibri"/>
            </a:endParaRPr>
          </a:p>
        </p:txBody>
      </p:sp>
      <p:sp>
        <p:nvSpPr>
          <p:cNvPr id="158" name="Google Shape;158;p7"/>
          <p:cNvSpPr/>
          <p:nvPr/>
        </p:nvSpPr>
        <p:spPr>
          <a:xfrm>
            <a:off x="4562856" y="4928616"/>
            <a:ext cx="301752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Aggregated. No individual request survives.</a:t>
            </a:r>
            <a:endParaRPr b="0" i="0" sz="1150" u="none" cap="none" strike="noStrike">
              <a:solidFill>
                <a:schemeClr val="dk1"/>
              </a:solidFill>
              <a:latin typeface="Calibri"/>
              <a:ea typeface="Calibri"/>
              <a:cs typeface="Calibri"/>
              <a:sym typeface="Calibri"/>
            </a:endParaRPr>
          </a:p>
        </p:txBody>
      </p:sp>
      <p:sp>
        <p:nvSpPr>
          <p:cNvPr id="159" name="Google Shape;159;p7"/>
          <p:cNvSpPr/>
          <p:nvPr/>
        </p:nvSpPr>
        <p:spPr>
          <a:xfrm>
            <a:off x="8046720" y="1298448"/>
            <a:ext cx="3511296" cy="4160520"/>
          </a:xfrm>
          <a:prstGeom prst="roundRect">
            <a:avLst>
              <a:gd fmla="val 2344" name="adj"/>
            </a:avLst>
          </a:prstGeom>
          <a:solidFill>
            <a:srgbClr val="FFFFFF"/>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p:nvPr/>
        </p:nvSpPr>
        <p:spPr>
          <a:xfrm>
            <a:off x="8046720" y="1298448"/>
            <a:ext cx="3511296" cy="896112"/>
          </a:xfrm>
          <a:prstGeom prst="roundRect">
            <a:avLst>
              <a:gd fmla="val 9184"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
          <p:cNvSpPr/>
          <p:nvPr/>
        </p:nvSpPr>
        <p:spPr>
          <a:xfrm>
            <a:off x="8302752" y="1517904"/>
            <a:ext cx="292608" cy="292608"/>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p:nvPr/>
        </p:nvSpPr>
        <p:spPr>
          <a:xfrm>
            <a:off x="8705088" y="1463040"/>
            <a:ext cx="26517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2100"/>
              <a:buFont typeface="Cambria"/>
              <a:buNone/>
            </a:pPr>
            <a:r>
              <a:rPr b="1" i="0" lang="en-US" sz="2100" u="none" cap="none" strike="noStrike">
                <a:solidFill>
                  <a:srgbClr val="5C3FA6"/>
                </a:solidFill>
                <a:latin typeface="Cambria"/>
                <a:ea typeface="Cambria"/>
                <a:cs typeface="Cambria"/>
                <a:sym typeface="Cambria"/>
              </a:rPr>
              <a:t>Traces</a:t>
            </a:r>
            <a:endParaRPr b="0" i="0" sz="2100" u="none" cap="none" strike="noStrike">
              <a:solidFill>
                <a:schemeClr val="dk1"/>
              </a:solidFill>
              <a:latin typeface="Calibri"/>
              <a:ea typeface="Calibri"/>
              <a:cs typeface="Calibri"/>
              <a:sym typeface="Calibri"/>
            </a:endParaRPr>
          </a:p>
        </p:txBody>
      </p:sp>
      <p:sp>
        <p:nvSpPr>
          <p:cNvPr id="163" name="Google Shape;163;p7"/>
          <p:cNvSpPr/>
          <p:nvPr/>
        </p:nvSpPr>
        <p:spPr>
          <a:xfrm>
            <a:off x="8302752" y="1847088"/>
            <a:ext cx="30175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050"/>
              <a:buFont typeface="Calibri"/>
              <a:buNone/>
            </a:pPr>
            <a:r>
              <a:rPr b="0" i="1" lang="en-US" sz="1050" u="none" cap="none" strike="noStrike">
                <a:solidFill>
                  <a:srgbClr val="5C6B7A"/>
                </a:solidFill>
                <a:latin typeface="Calibri"/>
                <a:ea typeface="Calibri"/>
                <a:cs typeface="Calibri"/>
                <a:sym typeface="Calibri"/>
              </a:rPr>
              <a:t>The causal path of one request across services</a:t>
            </a:r>
            <a:endParaRPr b="0" i="0" sz="1050" u="none" cap="none" strike="noStrike">
              <a:solidFill>
                <a:schemeClr val="dk1"/>
              </a:solidFill>
              <a:latin typeface="Calibri"/>
              <a:ea typeface="Calibri"/>
              <a:cs typeface="Calibri"/>
              <a:sym typeface="Calibri"/>
            </a:endParaRPr>
          </a:p>
        </p:txBody>
      </p:sp>
      <p:sp>
        <p:nvSpPr>
          <p:cNvPr id="164" name="Google Shape;164;p7"/>
          <p:cNvSpPr/>
          <p:nvPr/>
        </p:nvSpPr>
        <p:spPr>
          <a:xfrm>
            <a:off x="8302752" y="2359152"/>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900"/>
              <a:buFont typeface="Calibri"/>
              <a:buNone/>
            </a:pPr>
            <a:r>
              <a:rPr b="1" i="0" lang="en-US" sz="900" u="none" cap="none" strike="noStrike">
                <a:solidFill>
                  <a:srgbClr val="5C3FA6"/>
                </a:solidFill>
                <a:latin typeface="Calibri"/>
                <a:ea typeface="Calibri"/>
                <a:cs typeface="Calibri"/>
                <a:sym typeface="Calibri"/>
              </a:rPr>
              <a:t>SHAPE</a:t>
            </a:r>
            <a:endParaRPr b="0" i="0" sz="900" u="none" cap="none" strike="noStrike">
              <a:solidFill>
                <a:schemeClr val="dk1"/>
              </a:solidFill>
              <a:latin typeface="Calibri"/>
              <a:ea typeface="Calibri"/>
              <a:cs typeface="Calibri"/>
              <a:sym typeface="Calibri"/>
            </a:endParaRPr>
          </a:p>
        </p:txBody>
      </p:sp>
      <p:sp>
        <p:nvSpPr>
          <p:cNvPr id="165" name="Google Shape;165;p7"/>
          <p:cNvSpPr/>
          <p:nvPr/>
        </p:nvSpPr>
        <p:spPr>
          <a:xfrm>
            <a:off x="8302752" y="2569464"/>
            <a:ext cx="301752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A tree of spans sharing a trace_id</a:t>
            </a:r>
            <a:endParaRPr b="0" i="0" sz="1150" u="none" cap="none" strike="noStrike">
              <a:solidFill>
                <a:schemeClr val="dk1"/>
              </a:solidFill>
              <a:latin typeface="Calibri"/>
              <a:ea typeface="Calibri"/>
              <a:cs typeface="Calibri"/>
              <a:sym typeface="Calibri"/>
            </a:endParaRPr>
          </a:p>
        </p:txBody>
      </p:sp>
      <p:sp>
        <p:nvSpPr>
          <p:cNvPr id="166" name="Google Shape;166;p7"/>
          <p:cNvSpPr/>
          <p:nvPr/>
        </p:nvSpPr>
        <p:spPr>
          <a:xfrm>
            <a:off x="8302752" y="3145536"/>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900"/>
              <a:buFont typeface="Calibri"/>
              <a:buNone/>
            </a:pPr>
            <a:r>
              <a:rPr b="1" i="0" lang="en-US" sz="900" u="none" cap="none" strike="noStrike">
                <a:solidFill>
                  <a:srgbClr val="5C3FA6"/>
                </a:solidFill>
                <a:latin typeface="Calibri"/>
                <a:ea typeface="Calibri"/>
                <a:cs typeface="Calibri"/>
                <a:sym typeface="Calibri"/>
              </a:rPr>
              <a:t>ANSWERS</a:t>
            </a:r>
            <a:endParaRPr b="0" i="0" sz="900" u="none" cap="none" strike="noStrike">
              <a:solidFill>
                <a:schemeClr val="dk1"/>
              </a:solidFill>
              <a:latin typeface="Calibri"/>
              <a:ea typeface="Calibri"/>
              <a:cs typeface="Calibri"/>
              <a:sym typeface="Calibri"/>
            </a:endParaRPr>
          </a:p>
        </p:txBody>
      </p:sp>
      <p:sp>
        <p:nvSpPr>
          <p:cNvPr id="167" name="Google Shape;167;p7"/>
          <p:cNvSpPr/>
          <p:nvPr/>
        </p:nvSpPr>
        <p:spPr>
          <a:xfrm>
            <a:off x="8302752" y="3355848"/>
            <a:ext cx="301752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Where the time went, and in what order</a:t>
            </a:r>
            <a:endParaRPr b="0" i="0" sz="1150" u="none" cap="none" strike="noStrike">
              <a:solidFill>
                <a:schemeClr val="dk1"/>
              </a:solidFill>
              <a:latin typeface="Calibri"/>
              <a:ea typeface="Calibri"/>
              <a:cs typeface="Calibri"/>
              <a:sym typeface="Calibri"/>
            </a:endParaRPr>
          </a:p>
        </p:txBody>
      </p:sp>
      <p:sp>
        <p:nvSpPr>
          <p:cNvPr id="168" name="Google Shape;168;p7"/>
          <p:cNvSpPr/>
          <p:nvPr/>
        </p:nvSpPr>
        <p:spPr>
          <a:xfrm>
            <a:off x="8302752" y="3931920"/>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900"/>
              <a:buFont typeface="Calibri"/>
              <a:buNone/>
            </a:pPr>
            <a:r>
              <a:rPr b="1" i="0" lang="en-US" sz="900" u="none" cap="none" strike="noStrike">
                <a:solidFill>
                  <a:srgbClr val="5C3FA6"/>
                </a:solidFill>
                <a:latin typeface="Calibri"/>
                <a:ea typeface="Calibri"/>
                <a:cs typeface="Calibri"/>
                <a:sym typeface="Calibri"/>
              </a:rPr>
              <a:t>COST</a:t>
            </a:r>
            <a:endParaRPr b="0" i="0" sz="900" u="none" cap="none" strike="noStrike">
              <a:solidFill>
                <a:schemeClr val="dk1"/>
              </a:solidFill>
              <a:latin typeface="Calibri"/>
              <a:ea typeface="Calibri"/>
              <a:cs typeface="Calibri"/>
              <a:sym typeface="Calibri"/>
            </a:endParaRPr>
          </a:p>
        </p:txBody>
      </p:sp>
      <p:sp>
        <p:nvSpPr>
          <p:cNvPr id="169" name="Google Shape;169;p7"/>
          <p:cNvSpPr/>
          <p:nvPr/>
        </p:nvSpPr>
        <p:spPr>
          <a:xfrm>
            <a:off x="8302752" y="4142232"/>
            <a:ext cx="301752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Very high at 100% — hence sampling</a:t>
            </a:r>
            <a:endParaRPr b="0" i="0" sz="1150" u="none" cap="none" strike="noStrike">
              <a:solidFill>
                <a:schemeClr val="dk1"/>
              </a:solidFill>
              <a:latin typeface="Calibri"/>
              <a:ea typeface="Calibri"/>
              <a:cs typeface="Calibri"/>
              <a:sym typeface="Calibri"/>
            </a:endParaRPr>
          </a:p>
        </p:txBody>
      </p:sp>
      <p:sp>
        <p:nvSpPr>
          <p:cNvPr id="170" name="Google Shape;170;p7"/>
          <p:cNvSpPr/>
          <p:nvPr/>
        </p:nvSpPr>
        <p:spPr>
          <a:xfrm>
            <a:off x="8302752" y="4718304"/>
            <a:ext cx="3017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900"/>
              <a:buFont typeface="Calibri"/>
              <a:buNone/>
            </a:pPr>
            <a:r>
              <a:rPr b="1" i="0" lang="en-US" sz="900" u="none" cap="none" strike="noStrike">
                <a:solidFill>
                  <a:srgbClr val="5C3FA6"/>
                </a:solidFill>
                <a:latin typeface="Calibri"/>
                <a:ea typeface="Calibri"/>
                <a:cs typeface="Calibri"/>
                <a:sym typeface="Calibri"/>
              </a:rPr>
              <a:t>WEAKNESS</a:t>
            </a:r>
            <a:endParaRPr b="0" i="0" sz="900" u="none" cap="none" strike="noStrike">
              <a:solidFill>
                <a:schemeClr val="dk1"/>
              </a:solidFill>
              <a:latin typeface="Calibri"/>
              <a:ea typeface="Calibri"/>
              <a:cs typeface="Calibri"/>
              <a:sym typeface="Calibri"/>
            </a:endParaRPr>
          </a:p>
        </p:txBody>
      </p:sp>
      <p:sp>
        <p:nvSpPr>
          <p:cNvPr id="171" name="Google Shape;171;p7"/>
          <p:cNvSpPr/>
          <p:nvPr/>
        </p:nvSpPr>
        <p:spPr>
          <a:xfrm>
            <a:off x="8302752" y="4928616"/>
            <a:ext cx="301752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Needs propagation everywhere, or it breaks.</a:t>
            </a:r>
            <a:endParaRPr b="0" i="0" sz="1150" u="none" cap="none" strike="noStrike">
              <a:solidFill>
                <a:schemeClr val="dk1"/>
              </a:solidFill>
              <a:latin typeface="Calibri"/>
              <a:ea typeface="Calibri"/>
              <a:cs typeface="Calibri"/>
              <a:sym typeface="Calibri"/>
            </a:endParaRPr>
          </a:p>
        </p:txBody>
      </p:sp>
      <p:sp>
        <p:nvSpPr>
          <p:cNvPr id="172" name="Google Shape;172;p7"/>
          <p:cNvSpPr/>
          <p:nvPr/>
        </p:nvSpPr>
        <p:spPr>
          <a:xfrm>
            <a:off x="566928" y="5669280"/>
            <a:ext cx="11057839" cy="548640"/>
          </a:xfrm>
          <a:prstGeom prst="roundRect">
            <a:avLst>
              <a:gd fmla="val 15000"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768096" y="5806440"/>
            <a:ext cx="274320" cy="274320"/>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768096" y="58064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75" name="Google Shape;175;p7"/>
          <p:cNvSpPr/>
          <p:nvPr/>
        </p:nvSpPr>
        <p:spPr>
          <a:xfrm>
            <a:off x="1170432" y="5669280"/>
            <a:ext cx="10234879" cy="5486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200"/>
              <a:buFont typeface="Calibri"/>
              <a:buNone/>
            </a:pPr>
            <a:r>
              <a:rPr b="0" i="0" lang="en-US" sz="1200" u="none" cap="none" strike="noStrike">
                <a:solidFill>
                  <a:srgbClr val="16202C"/>
                </a:solidFill>
                <a:latin typeface="Calibri"/>
                <a:ea typeface="Calibri"/>
                <a:cs typeface="Calibri"/>
                <a:sym typeface="Calibri"/>
              </a:rPr>
              <a:t>The trade is always the same: detail per event versus cost per event. Logs keep everything and cost the most. Metrics throw away everything except a number, and cost almost nothing.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sp>
        <p:nvSpPr>
          <p:cNvPr id="181" name="Google Shape;181;p8"/>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050"/>
              <a:buFont typeface="Calibri"/>
              <a:buNone/>
            </a:pPr>
            <a:r>
              <a:rPr b="1" i="0" lang="en-US" sz="1050" u="none" cap="none" strike="noStrike">
                <a:solidFill>
                  <a:srgbClr val="16202C"/>
                </a:solidFill>
                <a:latin typeface="Calibri"/>
                <a:ea typeface="Calibri"/>
                <a:cs typeface="Calibri"/>
                <a:sym typeface="Calibri"/>
              </a:rPr>
              <a:t>THE SAME 90 SECONDS</a:t>
            </a:r>
            <a:endParaRPr b="0" i="0" sz="1050" u="none" cap="none" strike="noStrike">
              <a:solidFill>
                <a:schemeClr val="dk1"/>
              </a:solidFill>
              <a:latin typeface="Calibri"/>
              <a:ea typeface="Calibri"/>
              <a:cs typeface="Calibri"/>
              <a:sym typeface="Calibri"/>
            </a:endParaRPr>
          </a:p>
        </p:txBody>
      </p:sp>
      <p:sp>
        <p:nvSpPr>
          <p:cNvPr id="182" name="Google Shape;182;p8"/>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One outage, seen three ways</a:t>
            </a:r>
            <a:endParaRPr b="0" i="0" sz="2900" u="none" cap="none" strike="noStrike">
              <a:solidFill>
                <a:schemeClr val="dk1"/>
              </a:solidFill>
              <a:latin typeface="Calibri"/>
              <a:ea typeface="Calibri"/>
              <a:cs typeface="Calibri"/>
              <a:sym typeface="Calibri"/>
            </a:endParaRPr>
          </a:p>
        </p:txBody>
      </p:sp>
      <p:sp>
        <p:nvSpPr>
          <p:cNvPr id="183" name="Google Shape;183;p8"/>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84" name="Google Shape;184;p8"/>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185" name="Google Shape;185;p8"/>
          <p:cNvSpPr/>
          <p:nvPr/>
        </p:nvSpPr>
        <p:spPr>
          <a:xfrm>
            <a:off x="566928" y="1234440"/>
            <a:ext cx="11057839" cy="365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300"/>
              <a:buFont typeface="Calibri"/>
              <a:buNone/>
            </a:pPr>
            <a:r>
              <a:rPr b="0" i="1" lang="en-US" sz="1300" u="none" cap="none" strike="noStrike">
                <a:solidFill>
                  <a:srgbClr val="5C6B7A"/>
                </a:solidFill>
                <a:latin typeface="Calibri"/>
                <a:ea typeface="Calibri"/>
                <a:cs typeface="Calibri"/>
                <a:sym typeface="Calibri"/>
              </a:rPr>
              <a:t>Payment starts failing at 14:22. Here is what each signal shows you — and what it refuses to tell you.</a:t>
            </a:r>
            <a:endParaRPr b="0" i="0" sz="1300" u="none" cap="none" strike="noStrike">
              <a:solidFill>
                <a:schemeClr val="dk1"/>
              </a:solidFill>
              <a:latin typeface="Calibri"/>
              <a:ea typeface="Calibri"/>
              <a:cs typeface="Calibri"/>
              <a:sym typeface="Calibri"/>
            </a:endParaRPr>
          </a:p>
        </p:txBody>
      </p:sp>
      <p:sp>
        <p:nvSpPr>
          <p:cNvPr id="186" name="Google Shape;186;p8"/>
          <p:cNvSpPr/>
          <p:nvPr/>
        </p:nvSpPr>
        <p:spPr>
          <a:xfrm>
            <a:off x="566928" y="1700784"/>
            <a:ext cx="11057839" cy="1225296"/>
          </a:xfrm>
          <a:prstGeom prst="roundRect">
            <a:avLst>
              <a:gd fmla="val 6716" name="adj"/>
            </a:avLst>
          </a:prstGeom>
          <a:solidFill>
            <a:srgbClr val="FFFFFF"/>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566928" y="1700784"/>
            <a:ext cx="1572768" cy="1225296"/>
          </a:xfrm>
          <a:prstGeom prst="roundRect">
            <a:avLst>
              <a:gd fmla="val 6716"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786384" y="2011680"/>
            <a:ext cx="274320" cy="27432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713232" y="2322576"/>
            <a:ext cx="12801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1050"/>
              <a:buFont typeface="Calibri"/>
              <a:buNone/>
            </a:pPr>
            <a:r>
              <a:rPr b="1" i="0" lang="en-US" sz="1050" u="none" cap="none" strike="noStrike">
                <a:solidFill>
                  <a:srgbClr val="0C6B7D"/>
                </a:solidFill>
                <a:latin typeface="Calibri"/>
                <a:ea typeface="Calibri"/>
                <a:cs typeface="Calibri"/>
                <a:sym typeface="Calibri"/>
              </a:rPr>
              <a:t>METRICS</a:t>
            </a:r>
            <a:endParaRPr b="0" i="0" sz="1050" u="none" cap="none" strike="noStrike">
              <a:solidFill>
                <a:schemeClr val="dk1"/>
              </a:solidFill>
              <a:latin typeface="Calibri"/>
              <a:ea typeface="Calibri"/>
              <a:cs typeface="Calibri"/>
              <a:sym typeface="Calibri"/>
            </a:endParaRPr>
          </a:p>
        </p:txBody>
      </p:sp>
      <p:sp>
        <p:nvSpPr>
          <p:cNvPr id="190" name="Google Shape;190;p8"/>
          <p:cNvSpPr/>
          <p:nvPr/>
        </p:nvSpPr>
        <p:spPr>
          <a:xfrm>
            <a:off x="2340864" y="1828800"/>
            <a:ext cx="5486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850"/>
              <a:buFont typeface="Calibri"/>
              <a:buNone/>
            </a:pPr>
            <a:r>
              <a:rPr b="1" i="0" lang="en-US" sz="850" u="none" cap="none" strike="noStrike">
                <a:solidFill>
                  <a:srgbClr val="0C6B7D"/>
                </a:solidFill>
                <a:latin typeface="Calibri"/>
                <a:ea typeface="Calibri"/>
                <a:cs typeface="Calibri"/>
                <a:sym typeface="Calibri"/>
              </a:rPr>
              <a:t>SAW</a:t>
            </a:r>
            <a:endParaRPr b="0" i="0" sz="850" u="none" cap="none" strike="noStrike">
              <a:solidFill>
                <a:schemeClr val="dk1"/>
              </a:solidFill>
              <a:latin typeface="Calibri"/>
              <a:ea typeface="Calibri"/>
              <a:cs typeface="Calibri"/>
              <a:sym typeface="Calibri"/>
            </a:endParaRPr>
          </a:p>
        </p:txBody>
      </p:sp>
      <p:sp>
        <p:nvSpPr>
          <p:cNvPr id="191" name="Google Shape;191;p8"/>
          <p:cNvSpPr/>
          <p:nvPr/>
        </p:nvSpPr>
        <p:spPr>
          <a:xfrm>
            <a:off x="2340864" y="2011680"/>
            <a:ext cx="4937760" cy="3657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200"/>
              <a:buFont typeface="Calibri"/>
              <a:buNone/>
            </a:pPr>
            <a:r>
              <a:rPr b="0" i="0" lang="en-US" sz="1200" u="none" cap="none" strike="noStrike">
                <a:solidFill>
                  <a:srgbClr val="16202C"/>
                </a:solidFill>
                <a:latin typeface="Calibri"/>
                <a:ea typeface="Calibri"/>
                <a:cs typeface="Calibri"/>
                <a:sym typeface="Calibri"/>
              </a:rPr>
              <a:t>Error ratio on /orders went from 0.2% to 27% at 14:22:15.</a:t>
            </a:r>
            <a:endParaRPr b="0" i="0" sz="1200" u="none" cap="none" strike="noStrike">
              <a:solidFill>
                <a:schemeClr val="dk1"/>
              </a:solidFill>
              <a:latin typeface="Calibri"/>
              <a:ea typeface="Calibri"/>
              <a:cs typeface="Calibri"/>
              <a:sym typeface="Calibri"/>
            </a:endParaRPr>
          </a:p>
        </p:txBody>
      </p:sp>
      <p:sp>
        <p:nvSpPr>
          <p:cNvPr id="192" name="Google Shape;192;p8"/>
          <p:cNvSpPr/>
          <p:nvPr/>
        </p:nvSpPr>
        <p:spPr>
          <a:xfrm>
            <a:off x="2340864" y="2432304"/>
            <a:ext cx="17373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COULD NOT SAY</a:t>
            </a:r>
            <a:endParaRPr b="0" i="0" sz="850" u="none" cap="none" strike="noStrike">
              <a:solidFill>
                <a:schemeClr val="dk1"/>
              </a:solidFill>
              <a:latin typeface="Calibri"/>
              <a:ea typeface="Calibri"/>
              <a:cs typeface="Calibri"/>
              <a:sym typeface="Calibri"/>
            </a:endParaRPr>
          </a:p>
        </p:txBody>
      </p:sp>
      <p:sp>
        <p:nvSpPr>
          <p:cNvPr id="193" name="Google Shape;193;p8"/>
          <p:cNvSpPr/>
          <p:nvPr/>
        </p:nvSpPr>
        <p:spPr>
          <a:xfrm>
            <a:off x="2340864" y="2606040"/>
            <a:ext cx="49377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C6B7A"/>
              </a:buClr>
              <a:buSzPts val="1100"/>
              <a:buFont typeface="Calibri"/>
              <a:buNone/>
            </a:pPr>
            <a:r>
              <a:rPr b="0" i="1" lang="en-US" sz="1100" u="none" cap="none" strike="noStrike">
                <a:solidFill>
                  <a:srgbClr val="5C6B7A"/>
                </a:solidFill>
                <a:latin typeface="Calibri"/>
                <a:ea typeface="Calibri"/>
                <a:cs typeface="Calibri"/>
                <a:sym typeface="Calibri"/>
              </a:rPr>
              <a:t>Which of the 40,000 failed orders, and why — no idea.</a:t>
            </a:r>
            <a:endParaRPr b="0" i="0" sz="1100" u="none" cap="none" strike="noStrike">
              <a:solidFill>
                <a:schemeClr val="dk1"/>
              </a:solidFill>
              <a:latin typeface="Calibri"/>
              <a:ea typeface="Calibri"/>
              <a:cs typeface="Calibri"/>
              <a:sym typeface="Calibri"/>
            </a:endParaRPr>
          </a:p>
        </p:txBody>
      </p:sp>
      <p:sp>
        <p:nvSpPr>
          <p:cNvPr id="194" name="Google Shape;194;p8"/>
          <p:cNvSpPr/>
          <p:nvPr/>
        </p:nvSpPr>
        <p:spPr>
          <a:xfrm>
            <a:off x="7516368" y="2084832"/>
            <a:ext cx="3968496" cy="457200"/>
          </a:xfrm>
          <a:prstGeom prst="roundRect">
            <a:avLst>
              <a:gd fmla="val 16000"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p:nvPr/>
        </p:nvSpPr>
        <p:spPr>
          <a:xfrm>
            <a:off x="7626096" y="2084832"/>
            <a:ext cx="3749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4DF"/>
              </a:buClr>
              <a:buSzPts val="850"/>
              <a:buFont typeface="Courier New"/>
              <a:buNone/>
            </a:pPr>
            <a:r>
              <a:rPr b="0" i="0" lang="en-US" sz="850" u="none" cap="none" strike="noStrike">
                <a:solidFill>
                  <a:srgbClr val="C8D4DF"/>
                </a:solidFill>
                <a:latin typeface="Courier New"/>
                <a:ea typeface="Courier New"/>
                <a:cs typeface="Courier New"/>
                <a:sym typeface="Courier New"/>
              </a:rPr>
              <a:t>sum(rate(http_requests_total{status=~"5.."}[5m]))</a:t>
            </a:r>
            <a:endParaRPr b="0" i="0" sz="850" u="none" cap="none" strike="noStrike">
              <a:solidFill>
                <a:schemeClr val="dk1"/>
              </a:solidFill>
              <a:latin typeface="Calibri"/>
              <a:ea typeface="Calibri"/>
              <a:cs typeface="Calibri"/>
              <a:sym typeface="Calibri"/>
            </a:endParaRPr>
          </a:p>
        </p:txBody>
      </p:sp>
      <p:sp>
        <p:nvSpPr>
          <p:cNvPr id="196" name="Google Shape;196;p8"/>
          <p:cNvSpPr/>
          <p:nvPr/>
        </p:nvSpPr>
        <p:spPr>
          <a:xfrm>
            <a:off x="566928" y="3090672"/>
            <a:ext cx="11057839" cy="1225296"/>
          </a:xfrm>
          <a:prstGeom prst="roundRect">
            <a:avLst>
              <a:gd fmla="val 6716" name="adj"/>
            </a:avLst>
          </a:prstGeom>
          <a:solidFill>
            <a:srgbClr val="FFFFFF"/>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p:nvPr/>
        </p:nvSpPr>
        <p:spPr>
          <a:xfrm>
            <a:off x="566928" y="3090672"/>
            <a:ext cx="1572768" cy="1225296"/>
          </a:xfrm>
          <a:prstGeom prst="roundRect">
            <a:avLst>
              <a:gd fmla="val 6716"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786384" y="3401568"/>
            <a:ext cx="274320" cy="27432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a:off x="713232" y="3712464"/>
            <a:ext cx="12801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1050"/>
              <a:buFont typeface="Calibri"/>
              <a:buNone/>
            </a:pPr>
            <a:r>
              <a:rPr b="1" i="0" lang="en-US" sz="1050" u="none" cap="none" strike="noStrike">
                <a:solidFill>
                  <a:srgbClr val="5C3FA6"/>
                </a:solidFill>
                <a:latin typeface="Calibri"/>
                <a:ea typeface="Calibri"/>
                <a:cs typeface="Calibri"/>
                <a:sym typeface="Calibri"/>
              </a:rPr>
              <a:t>TRACES</a:t>
            </a:r>
            <a:endParaRPr b="0" i="0" sz="1050" u="none" cap="none" strike="noStrike">
              <a:solidFill>
                <a:schemeClr val="dk1"/>
              </a:solidFill>
              <a:latin typeface="Calibri"/>
              <a:ea typeface="Calibri"/>
              <a:cs typeface="Calibri"/>
              <a:sym typeface="Calibri"/>
            </a:endParaRPr>
          </a:p>
        </p:txBody>
      </p:sp>
      <p:sp>
        <p:nvSpPr>
          <p:cNvPr id="200" name="Google Shape;200;p8"/>
          <p:cNvSpPr/>
          <p:nvPr/>
        </p:nvSpPr>
        <p:spPr>
          <a:xfrm>
            <a:off x="2340864" y="3218688"/>
            <a:ext cx="5486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SAW</a:t>
            </a:r>
            <a:endParaRPr b="0" i="0" sz="850" u="none" cap="none" strike="noStrike">
              <a:solidFill>
                <a:schemeClr val="dk1"/>
              </a:solidFill>
              <a:latin typeface="Calibri"/>
              <a:ea typeface="Calibri"/>
              <a:cs typeface="Calibri"/>
              <a:sym typeface="Calibri"/>
            </a:endParaRPr>
          </a:p>
        </p:txBody>
      </p:sp>
      <p:sp>
        <p:nvSpPr>
          <p:cNvPr id="201" name="Google Shape;201;p8"/>
          <p:cNvSpPr/>
          <p:nvPr/>
        </p:nvSpPr>
        <p:spPr>
          <a:xfrm>
            <a:off x="2340864" y="3401568"/>
            <a:ext cx="4937760" cy="3657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200"/>
              <a:buFont typeface="Calibri"/>
              <a:buNone/>
            </a:pPr>
            <a:r>
              <a:rPr b="0" i="0" lang="en-US" sz="1200" u="none" cap="none" strike="noStrike">
                <a:solidFill>
                  <a:srgbClr val="16202C"/>
                </a:solidFill>
                <a:latin typeface="Calibri"/>
                <a:ea typeface="Calibri"/>
                <a:cs typeface="Calibri"/>
                <a:sym typeface="Calibri"/>
              </a:rPr>
              <a:t>Every failing request spends 2,000ms in payment → db, then times out.</a:t>
            </a:r>
            <a:endParaRPr b="0" i="0" sz="1200" u="none" cap="none" strike="noStrike">
              <a:solidFill>
                <a:schemeClr val="dk1"/>
              </a:solidFill>
              <a:latin typeface="Calibri"/>
              <a:ea typeface="Calibri"/>
              <a:cs typeface="Calibri"/>
              <a:sym typeface="Calibri"/>
            </a:endParaRPr>
          </a:p>
        </p:txBody>
      </p:sp>
      <p:sp>
        <p:nvSpPr>
          <p:cNvPr id="202" name="Google Shape;202;p8"/>
          <p:cNvSpPr/>
          <p:nvPr/>
        </p:nvSpPr>
        <p:spPr>
          <a:xfrm>
            <a:off x="2340864" y="3822192"/>
            <a:ext cx="17373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COULD NOT SAY</a:t>
            </a:r>
            <a:endParaRPr b="0" i="0" sz="850" u="none" cap="none" strike="noStrike">
              <a:solidFill>
                <a:schemeClr val="dk1"/>
              </a:solidFill>
              <a:latin typeface="Calibri"/>
              <a:ea typeface="Calibri"/>
              <a:cs typeface="Calibri"/>
              <a:sym typeface="Calibri"/>
            </a:endParaRPr>
          </a:p>
        </p:txBody>
      </p:sp>
      <p:sp>
        <p:nvSpPr>
          <p:cNvPr id="203" name="Google Shape;203;p8"/>
          <p:cNvSpPr/>
          <p:nvPr/>
        </p:nvSpPr>
        <p:spPr>
          <a:xfrm>
            <a:off x="2340864" y="3995928"/>
            <a:ext cx="49377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C6B7A"/>
              </a:buClr>
              <a:buSzPts val="1100"/>
              <a:buFont typeface="Calibri"/>
              <a:buNone/>
            </a:pPr>
            <a:r>
              <a:rPr b="0" i="1" lang="en-US" sz="1100" u="none" cap="none" strike="noStrike">
                <a:solidFill>
                  <a:srgbClr val="5C6B7A"/>
                </a:solidFill>
                <a:latin typeface="Calibri"/>
                <a:ea typeface="Calibri"/>
                <a:cs typeface="Calibri"/>
                <a:sym typeface="Calibri"/>
              </a:rPr>
              <a:t>Tells you where the time went. Not what the database said.</a:t>
            </a:r>
            <a:endParaRPr b="0" i="0" sz="1100" u="none" cap="none" strike="noStrike">
              <a:solidFill>
                <a:schemeClr val="dk1"/>
              </a:solidFill>
              <a:latin typeface="Calibri"/>
              <a:ea typeface="Calibri"/>
              <a:cs typeface="Calibri"/>
              <a:sym typeface="Calibri"/>
            </a:endParaRPr>
          </a:p>
        </p:txBody>
      </p:sp>
      <p:sp>
        <p:nvSpPr>
          <p:cNvPr id="204" name="Google Shape;204;p8"/>
          <p:cNvSpPr/>
          <p:nvPr/>
        </p:nvSpPr>
        <p:spPr>
          <a:xfrm>
            <a:off x="7516368" y="3474720"/>
            <a:ext cx="3968496" cy="457200"/>
          </a:xfrm>
          <a:prstGeom prst="roundRect">
            <a:avLst>
              <a:gd fmla="val 16000"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7626096" y="3474720"/>
            <a:ext cx="3749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4DF"/>
              </a:buClr>
              <a:buSzPts val="850"/>
              <a:buFont typeface="Courier New"/>
              <a:buNone/>
            </a:pPr>
            <a:r>
              <a:rPr b="0" i="0" lang="en-US" sz="850" u="none" cap="none" strike="noStrike">
                <a:solidFill>
                  <a:srgbClr val="C8D4DF"/>
                </a:solidFill>
                <a:latin typeface="Courier New"/>
                <a:ea typeface="Courier New"/>
                <a:cs typeface="Courier New"/>
                <a:sym typeface="Courier New"/>
              </a:rPr>
              <a:t>trace 7f3a2c... : gateway 2043ms → payment 2011ms → db 2000ms ✗</a:t>
            </a:r>
            <a:endParaRPr b="0" i="0" sz="850" u="none" cap="none" strike="noStrike">
              <a:solidFill>
                <a:schemeClr val="dk1"/>
              </a:solidFill>
              <a:latin typeface="Calibri"/>
              <a:ea typeface="Calibri"/>
              <a:cs typeface="Calibri"/>
              <a:sym typeface="Calibri"/>
            </a:endParaRPr>
          </a:p>
        </p:txBody>
      </p:sp>
      <p:sp>
        <p:nvSpPr>
          <p:cNvPr id="206" name="Google Shape;206;p8"/>
          <p:cNvSpPr/>
          <p:nvPr/>
        </p:nvSpPr>
        <p:spPr>
          <a:xfrm>
            <a:off x="566928" y="4480560"/>
            <a:ext cx="11057839" cy="1225296"/>
          </a:xfrm>
          <a:prstGeom prst="roundRect">
            <a:avLst>
              <a:gd fmla="val 6716" name="adj"/>
            </a:avLst>
          </a:prstGeom>
          <a:solidFill>
            <a:srgbClr val="FFFFFF"/>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566928" y="4480560"/>
            <a:ext cx="1572768" cy="1225296"/>
          </a:xfrm>
          <a:prstGeom prst="roundRect">
            <a:avLst>
              <a:gd fmla="val 6716"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a:off x="786384" y="4791456"/>
            <a:ext cx="274320" cy="27432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p:nvPr/>
        </p:nvSpPr>
        <p:spPr>
          <a:xfrm>
            <a:off x="713232" y="5102352"/>
            <a:ext cx="12801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LOGS</a:t>
            </a:r>
            <a:endParaRPr b="0" i="0" sz="1050" u="none" cap="none" strike="noStrike">
              <a:solidFill>
                <a:schemeClr val="dk1"/>
              </a:solidFill>
              <a:latin typeface="Calibri"/>
              <a:ea typeface="Calibri"/>
              <a:cs typeface="Calibri"/>
              <a:sym typeface="Calibri"/>
            </a:endParaRPr>
          </a:p>
        </p:txBody>
      </p:sp>
      <p:sp>
        <p:nvSpPr>
          <p:cNvPr id="210" name="Google Shape;210;p8"/>
          <p:cNvSpPr/>
          <p:nvPr/>
        </p:nvSpPr>
        <p:spPr>
          <a:xfrm>
            <a:off x="2340864" y="4608576"/>
            <a:ext cx="5486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SAW</a:t>
            </a:r>
            <a:endParaRPr b="0" i="0" sz="850" u="none" cap="none" strike="noStrike">
              <a:solidFill>
                <a:schemeClr val="dk1"/>
              </a:solidFill>
              <a:latin typeface="Calibri"/>
              <a:ea typeface="Calibri"/>
              <a:cs typeface="Calibri"/>
              <a:sym typeface="Calibri"/>
            </a:endParaRPr>
          </a:p>
        </p:txBody>
      </p:sp>
      <p:sp>
        <p:nvSpPr>
          <p:cNvPr id="211" name="Google Shape;211;p8"/>
          <p:cNvSpPr/>
          <p:nvPr/>
        </p:nvSpPr>
        <p:spPr>
          <a:xfrm>
            <a:off x="2340864" y="4791456"/>
            <a:ext cx="4937760" cy="3657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200"/>
              <a:buFont typeface="Calibri"/>
              <a:buNone/>
            </a:pPr>
            <a:r>
              <a:rPr b="0" i="0" lang="en-US" sz="1200" u="none" cap="none" strike="noStrike">
                <a:solidFill>
                  <a:srgbClr val="16202C"/>
                </a:solidFill>
                <a:latin typeface="Calibri"/>
                <a:ea typeface="Calibri"/>
                <a:cs typeface="Calibri"/>
                <a:sym typeface="Calibri"/>
              </a:rPr>
              <a:t>connection pool exhausted, max=10, waiting=193 — in the payment service.</a:t>
            </a:r>
            <a:endParaRPr b="0" i="0" sz="1200" u="none" cap="none" strike="noStrike">
              <a:solidFill>
                <a:schemeClr val="dk1"/>
              </a:solidFill>
              <a:latin typeface="Calibri"/>
              <a:ea typeface="Calibri"/>
              <a:cs typeface="Calibri"/>
              <a:sym typeface="Calibri"/>
            </a:endParaRPr>
          </a:p>
        </p:txBody>
      </p:sp>
      <p:sp>
        <p:nvSpPr>
          <p:cNvPr id="212" name="Google Shape;212;p8"/>
          <p:cNvSpPr/>
          <p:nvPr/>
        </p:nvSpPr>
        <p:spPr>
          <a:xfrm>
            <a:off x="2340864" y="5212080"/>
            <a:ext cx="17373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COULD NOT SAY</a:t>
            </a:r>
            <a:endParaRPr b="0" i="0" sz="850" u="none" cap="none" strike="noStrike">
              <a:solidFill>
                <a:schemeClr val="dk1"/>
              </a:solidFill>
              <a:latin typeface="Calibri"/>
              <a:ea typeface="Calibri"/>
              <a:cs typeface="Calibri"/>
              <a:sym typeface="Calibri"/>
            </a:endParaRPr>
          </a:p>
        </p:txBody>
      </p:sp>
      <p:sp>
        <p:nvSpPr>
          <p:cNvPr id="213" name="Google Shape;213;p8"/>
          <p:cNvSpPr/>
          <p:nvPr/>
        </p:nvSpPr>
        <p:spPr>
          <a:xfrm>
            <a:off x="2340864" y="5385816"/>
            <a:ext cx="49377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C6B7A"/>
              </a:buClr>
              <a:buSzPts val="1100"/>
              <a:buFont typeface="Calibri"/>
              <a:buNone/>
            </a:pPr>
            <a:r>
              <a:rPr b="0" i="1" lang="en-US" sz="1100" u="none" cap="none" strike="noStrike">
                <a:solidFill>
                  <a:srgbClr val="5C6B7A"/>
                </a:solidFill>
                <a:latin typeface="Calibri"/>
                <a:ea typeface="Calibri"/>
                <a:cs typeface="Calibri"/>
                <a:sym typeface="Calibri"/>
              </a:rPr>
              <a:t>Was there in every incident. Also in the 12 that were fine.</a:t>
            </a:r>
            <a:endParaRPr b="0" i="0" sz="1100" u="none" cap="none" strike="noStrike">
              <a:solidFill>
                <a:schemeClr val="dk1"/>
              </a:solidFill>
              <a:latin typeface="Calibri"/>
              <a:ea typeface="Calibri"/>
              <a:cs typeface="Calibri"/>
              <a:sym typeface="Calibri"/>
            </a:endParaRPr>
          </a:p>
        </p:txBody>
      </p:sp>
      <p:sp>
        <p:nvSpPr>
          <p:cNvPr id="214" name="Google Shape;214;p8"/>
          <p:cNvSpPr/>
          <p:nvPr/>
        </p:nvSpPr>
        <p:spPr>
          <a:xfrm>
            <a:off x="7516368" y="4864608"/>
            <a:ext cx="3968496" cy="457200"/>
          </a:xfrm>
          <a:prstGeom prst="roundRect">
            <a:avLst>
              <a:gd fmla="val 16000"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7626096" y="4864608"/>
            <a:ext cx="3749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4DF"/>
              </a:buClr>
              <a:buSzPts val="850"/>
              <a:buFont typeface="Courier New"/>
              <a:buNone/>
            </a:pPr>
            <a:r>
              <a:rPr b="0" i="0" lang="en-US" sz="850" u="none" cap="none" strike="noStrike">
                <a:solidFill>
                  <a:srgbClr val="C8D4DF"/>
                </a:solidFill>
                <a:latin typeface="Courier New"/>
                <a:ea typeface="Courier New"/>
                <a:cs typeface="Courier New"/>
                <a:sym typeface="Courier New"/>
              </a:rPr>
              <a:t>{service="payment"} |= "pool" | json | level="error"</a:t>
            </a:r>
            <a:endParaRPr b="0" i="0" sz="850" u="none" cap="none" strike="noStrike">
              <a:solidFill>
                <a:schemeClr val="dk1"/>
              </a:solidFill>
              <a:latin typeface="Calibri"/>
              <a:ea typeface="Calibri"/>
              <a:cs typeface="Calibri"/>
              <a:sym typeface="Calibri"/>
            </a:endParaRPr>
          </a:p>
        </p:txBody>
      </p:sp>
      <p:sp>
        <p:nvSpPr>
          <p:cNvPr id="216" name="Google Shape;216;p8"/>
          <p:cNvSpPr/>
          <p:nvPr/>
        </p:nvSpPr>
        <p:spPr>
          <a:xfrm>
            <a:off x="566928" y="5943600"/>
            <a:ext cx="11057839" cy="475488"/>
          </a:xfrm>
          <a:prstGeom prst="roundRect">
            <a:avLst>
              <a:gd fmla="val 17308"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p:nvPr/>
        </p:nvSpPr>
        <p:spPr>
          <a:xfrm>
            <a:off x="768096" y="6044184"/>
            <a:ext cx="274320" cy="274320"/>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768096" y="60441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219" name="Google Shape;219;p8"/>
          <p:cNvSpPr/>
          <p:nvPr/>
        </p:nvSpPr>
        <p:spPr>
          <a:xfrm>
            <a:off x="1170432" y="5943600"/>
            <a:ext cx="10234879" cy="47548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Notice the handoff: the metric gave you a time, the trace gave you a service, the log gave you the cause. Any one alone is a longer night.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9"/>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050"/>
              <a:buFont typeface="Calibri"/>
              <a:buNone/>
            </a:pPr>
            <a:r>
              <a:rPr b="1" i="0" lang="en-US" sz="1050" u="none" cap="none" strike="noStrike">
                <a:solidFill>
                  <a:srgbClr val="16202C"/>
                </a:solidFill>
                <a:latin typeface="Calibri"/>
                <a:ea typeface="Calibri"/>
                <a:cs typeface="Calibri"/>
                <a:sym typeface="Calibri"/>
              </a:rPr>
              <a:t>EVERY STACK, EVERY VENDOR</a:t>
            </a:r>
            <a:endParaRPr b="0" i="0" sz="1050" u="none" cap="none" strike="noStrike">
              <a:solidFill>
                <a:schemeClr val="dk1"/>
              </a:solidFill>
              <a:latin typeface="Calibri"/>
              <a:ea typeface="Calibri"/>
              <a:cs typeface="Calibri"/>
              <a:sym typeface="Calibri"/>
            </a:endParaRPr>
          </a:p>
        </p:txBody>
      </p:sp>
      <p:sp>
        <p:nvSpPr>
          <p:cNvPr id="226" name="Google Shape;226;p9"/>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The pipeline is always the same six steps</a:t>
            </a:r>
            <a:endParaRPr b="0" i="0" sz="2900" u="none" cap="none" strike="noStrike">
              <a:solidFill>
                <a:schemeClr val="dk1"/>
              </a:solidFill>
              <a:latin typeface="Calibri"/>
              <a:ea typeface="Calibri"/>
              <a:cs typeface="Calibri"/>
              <a:sym typeface="Calibri"/>
            </a:endParaRPr>
          </a:p>
        </p:txBody>
      </p:sp>
      <p:sp>
        <p:nvSpPr>
          <p:cNvPr id="227" name="Google Shape;227;p9"/>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228" name="Google Shape;228;p9"/>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229" name="Google Shape;229;p9"/>
          <p:cNvSpPr/>
          <p:nvPr/>
        </p:nvSpPr>
        <p:spPr>
          <a:xfrm>
            <a:off x="566928" y="1234440"/>
            <a:ext cx="11057839" cy="365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300"/>
              <a:buFont typeface="Calibri"/>
              <a:buNone/>
            </a:pPr>
            <a:r>
              <a:rPr b="0" i="1" lang="en-US" sz="1300" u="none" cap="none" strike="noStrike">
                <a:solidFill>
                  <a:srgbClr val="5C6B7A"/>
                </a:solidFill>
                <a:latin typeface="Calibri"/>
                <a:ea typeface="Calibri"/>
                <a:cs typeface="Calibri"/>
                <a:sym typeface="Calibri"/>
              </a:rPr>
              <a:t>Datadog, Grafana, CloudWatch, a shell script — all of them are this. Only the boxes change.</a:t>
            </a:r>
            <a:endParaRPr b="0" i="0" sz="1300" u="none" cap="none" strike="noStrike">
              <a:solidFill>
                <a:schemeClr val="dk1"/>
              </a:solidFill>
              <a:latin typeface="Calibri"/>
              <a:ea typeface="Calibri"/>
              <a:cs typeface="Calibri"/>
              <a:sym typeface="Calibri"/>
            </a:endParaRPr>
          </a:p>
        </p:txBody>
      </p:sp>
      <p:sp>
        <p:nvSpPr>
          <p:cNvPr id="230" name="Google Shape;230;p9"/>
          <p:cNvSpPr/>
          <p:nvPr/>
        </p:nvSpPr>
        <p:spPr>
          <a:xfrm>
            <a:off x="566928" y="1737360"/>
            <a:ext cx="1700784" cy="2194560"/>
          </a:xfrm>
          <a:prstGeom prst="roundRect">
            <a:avLst>
              <a:gd fmla="val 4839"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768096" y="1920240"/>
            <a:ext cx="292608" cy="292608"/>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p:nvPr/>
        </p:nvSpPr>
        <p:spPr>
          <a:xfrm>
            <a:off x="768096" y="192024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1</a:t>
            </a:r>
            <a:endParaRPr b="0" i="0" sz="1150" u="none" cap="none" strike="noStrike">
              <a:solidFill>
                <a:schemeClr val="dk1"/>
              </a:solidFill>
              <a:latin typeface="Calibri"/>
              <a:ea typeface="Calibri"/>
              <a:cs typeface="Calibri"/>
              <a:sym typeface="Calibri"/>
            </a:endParaRPr>
          </a:p>
        </p:txBody>
      </p:sp>
      <p:sp>
        <p:nvSpPr>
          <p:cNvPr id="233" name="Google Shape;233;p9"/>
          <p:cNvSpPr/>
          <p:nvPr/>
        </p:nvSpPr>
        <p:spPr>
          <a:xfrm>
            <a:off x="713232" y="2359152"/>
            <a:ext cx="140817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50"/>
              <a:buFont typeface="Calibri"/>
              <a:buNone/>
            </a:pPr>
            <a:r>
              <a:rPr b="1" i="0" lang="en-US" sz="1350" u="none" cap="none" strike="noStrike">
                <a:solidFill>
                  <a:srgbClr val="16202C"/>
                </a:solidFill>
                <a:latin typeface="Calibri"/>
                <a:ea typeface="Calibri"/>
                <a:cs typeface="Calibri"/>
                <a:sym typeface="Calibri"/>
              </a:rPr>
              <a:t>Instrument</a:t>
            </a:r>
            <a:endParaRPr b="0" i="0" sz="1350" u="none" cap="none" strike="noStrike">
              <a:solidFill>
                <a:schemeClr val="dk1"/>
              </a:solidFill>
              <a:latin typeface="Calibri"/>
              <a:ea typeface="Calibri"/>
              <a:cs typeface="Calibri"/>
              <a:sym typeface="Calibri"/>
            </a:endParaRPr>
          </a:p>
        </p:txBody>
      </p:sp>
      <p:sp>
        <p:nvSpPr>
          <p:cNvPr id="234" name="Google Shape;234;p9"/>
          <p:cNvSpPr/>
          <p:nvPr/>
        </p:nvSpPr>
        <p:spPr>
          <a:xfrm>
            <a:off x="713232" y="2688336"/>
            <a:ext cx="1408176"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Code emits the signal</a:t>
            </a:r>
            <a:endParaRPr b="0" i="0" sz="1050" u="none" cap="none" strike="noStrike">
              <a:solidFill>
                <a:schemeClr val="dk1"/>
              </a:solidFill>
              <a:latin typeface="Calibri"/>
              <a:ea typeface="Calibri"/>
              <a:cs typeface="Calibri"/>
              <a:sym typeface="Calibri"/>
            </a:endParaRPr>
          </a:p>
        </p:txBody>
      </p:sp>
      <p:sp>
        <p:nvSpPr>
          <p:cNvPr id="235" name="Google Shape;235;p9"/>
          <p:cNvSpPr/>
          <p:nvPr/>
        </p:nvSpPr>
        <p:spPr>
          <a:xfrm>
            <a:off x="713232" y="3200400"/>
            <a:ext cx="1408176"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93A2B0"/>
              </a:buClr>
              <a:buSzPts val="950"/>
              <a:buFont typeface="Calibri"/>
              <a:buNone/>
            </a:pPr>
            <a:r>
              <a:rPr b="0" i="1" lang="en-US" sz="950" u="none" cap="none" strike="noStrike">
                <a:solidFill>
                  <a:srgbClr val="93A2B0"/>
                </a:solidFill>
                <a:latin typeface="Calibri"/>
                <a:ea typeface="Calibri"/>
                <a:cs typeface="Calibri"/>
                <a:sym typeface="Calibri"/>
              </a:rPr>
              <a:t>OTel SDK, prom-client, a logger</a:t>
            </a:r>
            <a:endParaRPr b="0" i="0" sz="950" u="none" cap="none" strike="noStrike">
              <a:solidFill>
                <a:schemeClr val="dk1"/>
              </a:solidFill>
              <a:latin typeface="Calibri"/>
              <a:ea typeface="Calibri"/>
              <a:cs typeface="Calibri"/>
              <a:sym typeface="Calibri"/>
            </a:endParaRPr>
          </a:p>
        </p:txBody>
      </p:sp>
      <p:sp>
        <p:nvSpPr>
          <p:cNvPr id="236" name="Google Shape;236;p9"/>
          <p:cNvSpPr/>
          <p:nvPr/>
        </p:nvSpPr>
        <p:spPr>
          <a:xfrm>
            <a:off x="2267712" y="2651760"/>
            <a:ext cx="17373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600"/>
              <a:buFont typeface="Calibri"/>
              <a:buNone/>
            </a:pPr>
            <a:r>
              <a:rPr b="1" i="0" lang="en-US" sz="1600" u="none" cap="none" strike="noStrike">
                <a:solidFill>
                  <a:srgbClr val="93A2B0"/>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37" name="Google Shape;237;p9"/>
          <p:cNvSpPr/>
          <p:nvPr/>
        </p:nvSpPr>
        <p:spPr>
          <a:xfrm>
            <a:off x="2441448" y="1737360"/>
            <a:ext cx="1700784" cy="2194560"/>
          </a:xfrm>
          <a:prstGeom prst="roundRect">
            <a:avLst>
              <a:gd fmla="val 4839"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2642616" y="1920240"/>
            <a:ext cx="292608" cy="292608"/>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2642616" y="192024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2</a:t>
            </a:r>
            <a:endParaRPr b="0" i="0" sz="1150" u="none" cap="none" strike="noStrike">
              <a:solidFill>
                <a:schemeClr val="dk1"/>
              </a:solidFill>
              <a:latin typeface="Calibri"/>
              <a:ea typeface="Calibri"/>
              <a:cs typeface="Calibri"/>
              <a:sym typeface="Calibri"/>
            </a:endParaRPr>
          </a:p>
        </p:txBody>
      </p:sp>
      <p:sp>
        <p:nvSpPr>
          <p:cNvPr id="240" name="Google Shape;240;p9"/>
          <p:cNvSpPr/>
          <p:nvPr/>
        </p:nvSpPr>
        <p:spPr>
          <a:xfrm>
            <a:off x="2587752" y="2359152"/>
            <a:ext cx="140817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50"/>
              <a:buFont typeface="Calibri"/>
              <a:buNone/>
            </a:pPr>
            <a:r>
              <a:rPr b="1" i="0" lang="en-US" sz="1350" u="none" cap="none" strike="noStrike">
                <a:solidFill>
                  <a:srgbClr val="16202C"/>
                </a:solidFill>
                <a:latin typeface="Calibri"/>
                <a:ea typeface="Calibri"/>
                <a:cs typeface="Calibri"/>
                <a:sym typeface="Calibri"/>
              </a:rPr>
              <a:t>Collect</a:t>
            </a:r>
            <a:endParaRPr b="0" i="0" sz="1350" u="none" cap="none" strike="noStrike">
              <a:solidFill>
                <a:schemeClr val="dk1"/>
              </a:solidFill>
              <a:latin typeface="Calibri"/>
              <a:ea typeface="Calibri"/>
              <a:cs typeface="Calibri"/>
              <a:sym typeface="Calibri"/>
            </a:endParaRPr>
          </a:p>
        </p:txBody>
      </p:sp>
      <p:sp>
        <p:nvSpPr>
          <p:cNvPr id="241" name="Google Shape;241;p9"/>
          <p:cNvSpPr/>
          <p:nvPr/>
        </p:nvSpPr>
        <p:spPr>
          <a:xfrm>
            <a:off x="2587752" y="2688336"/>
            <a:ext cx="1408176"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An agent picks it up</a:t>
            </a:r>
            <a:endParaRPr b="0" i="0" sz="1050" u="none" cap="none" strike="noStrike">
              <a:solidFill>
                <a:schemeClr val="dk1"/>
              </a:solidFill>
              <a:latin typeface="Calibri"/>
              <a:ea typeface="Calibri"/>
              <a:cs typeface="Calibri"/>
              <a:sym typeface="Calibri"/>
            </a:endParaRPr>
          </a:p>
        </p:txBody>
      </p:sp>
      <p:sp>
        <p:nvSpPr>
          <p:cNvPr id="242" name="Google Shape;242;p9"/>
          <p:cNvSpPr/>
          <p:nvPr/>
        </p:nvSpPr>
        <p:spPr>
          <a:xfrm>
            <a:off x="2587752" y="3200400"/>
            <a:ext cx="1408176"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93A2B0"/>
              </a:buClr>
              <a:buSzPts val="950"/>
              <a:buFont typeface="Calibri"/>
              <a:buNone/>
            </a:pPr>
            <a:r>
              <a:rPr b="0" i="1" lang="en-US" sz="950" u="none" cap="none" strike="noStrike">
                <a:solidFill>
                  <a:srgbClr val="93A2B0"/>
                </a:solidFill>
                <a:latin typeface="Calibri"/>
                <a:ea typeface="Calibri"/>
                <a:cs typeface="Calibri"/>
                <a:sym typeface="Calibri"/>
              </a:rPr>
              <a:t>Alloy, OTel Collector, Fluent Bit</a:t>
            </a:r>
            <a:endParaRPr b="0" i="0" sz="950" u="none" cap="none" strike="noStrike">
              <a:solidFill>
                <a:schemeClr val="dk1"/>
              </a:solidFill>
              <a:latin typeface="Calibri"/>
              <a:ea typeface="Calibri"/>
              <a:cs typeface="Calibri"/>
              <a:sym typeface="Calibri"/>
            </a:endParaRPr>
          </a:p>
        </p:txBody>
      </p:sp>
      <p:sp>
        <p:nvSpPr>
          <p:cNvPr id="243" name="Google Shape;243;p9"/>
          <p:cNvSpPr/>
          <p:nvPr/>
        </p:nvSpPr>
        <p:spPr>
          <a:xfrm>
            <a:off x="4142232" y="2651760"/>
            <a:ext cx="17373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600"/>
              <a:buFont typeface="Calibri"/>
              <a:buNone/>
            </a:pPr>
            <a:r>
              <a:rPr b="1" i="0" lang="en-US" sz="1600" u="none" cap="none" strike="noStrike">
                <a:solidFill>
                  <a:srgbClr val="93A2B0"/>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44" name="Google Shape;244;p9"/>
          <p:cNvSpPr/>
          <p:nvPr/>
        </p:nvSpPr>
        <p:spPr>
          <a:xfrm>
            <a:off x="4315968" y="1737360"/>
            <a:ext cx="1700784" cy="2194560"/>
          </a:xfrm>
          <a:prstGeom prst="roundRect">
            <a:avLst>
              <a:gd fmla="val 4839"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4517136" y="1920240"/>
            <a:ext cx="292608" cy="292608"/>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4517136" y="192024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3</a:t>
            </a:r>
            <a:endParaRPr b="0" i="0" sz="1150" u="none" cap="none" strike="noStrike">
              <a:solidFill>
                <a:schemeClr val="dk1"/>
              </a:solidFill>
              <a:latin typeface="Calibri"/>
              <a:ea typeface="Calibri"/>
              <a:cs typeface="Calibri"/>
              <a:sym typeface="Calibri"/>
            </a:endParaRPr>
          </a:p>
        </p:txBody>
      </p:sp>
      <p:sp>
        <p:nvSpPr>
          <p:cNvPr id="247" name="Google Shape;247;p9"/>
          <p:cNvSpPr/>
          <p:nvPr/>
        </p:nvSpPr>
        <p:spPr>
          <a:xfrm>
            <a:off x="4462272" y="2359152"/>
            <a:ext cx="140817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50"/>
              <a:buFont typeface="Calibri"/>
              <a:buNone/>
            </a:pPr>
            <a:r>
              <a:rPr b="1" i="0" lang="en-US" sz="1350" u="none" cap="none" strike="noStrike">
                <a:solidFill>
                  <a:srgbClr val="16202C"/>
                </a:solidFill>
                <a:latin typeface="Calibri"/>
                <a:ea typeface="Calibri"/>
                <a:cs typeface="Calibri"/>
                <a:sym typeface="Calibri"/>
              </a:rPr>
              <a:t>Store</a:t>
            </a:r>
            <a:endParaRPr b="0" i="0" sz="1350" u="none" cap="none" strike="noStrike">
              <a:solidFill>
                <a:schemeClr val="dk1"/>
              </a:solidFill>
              <a:latin typeface="Calibri"/>
              <a:ea typeface="Calibri"/>
              <a:cs typeface="Calibri"/>
              <a:sym typeface="Calibri"/>
            </a:endParaRPr>
          </a:p>
        </p:txBody>
      </p:sp>
      <p:sp>
        <p:nvSpPr>
          <p:cNvPr id="248" name="Google Shape;248;p9"/>
          <p:cNvSpPr/>
          <p:nvPr/>
        </p:nvSpPr>
        <p:spPr>
          <a:xfrm>
            <a:off x="4462272" y="2688336"/>
            <a:ext cx="1408176"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A database built for the shape</a:t>
            </a:r>
            <a:endParaRPr b="0" i="0" sz="1050" u="none" cap="none" strike="noStrike">
              <a:solidFill>
                <a:schemeClr val="dk1"/>
              </a:solidFill>
              <a:latin typeface="Calibri"/>
              <a:ea typeface="Calibri"/>
              <a:cs typeface="Calibri"/>
              <a:sym typeface="Calibri"/>
            </a:endParaRPr>
          </a:p>
        </p:txBody>
      </p:sp>
      <p:sp>
        <p:nvSpPr>
          <p:cNvPr id="249" name="Google Shape;249;p9"/>
          <p:cNvSpPr/>
          <p:nvPr/>
        </p:nvSpPr>
        <p:spPr>
          <a:xfrm>
            <a:off x="4462272" y="3200400"/>
            <a:ext cx="1408176"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93A2B0"/>
              </a:buClr>
              <a:buSzPts val="950"/>
              <a:buFont typeface="Calibri"/>
              <a:buNone/>
            </a:pPr>
            <a:r>
              <a:rPr b="0" i="1" lang="en-US" sz="950" u="none" cap="none" strike="noStrike">
                <a:solidFill>
                  <a:srgbClr val="93A2B0"/>
                </a:solidFill>
                <a:latin typeface="Calibri"/>
                <a:ea typeface="Calibri"/>
                <a:cs typeface="Calibri"/>
                <a:sym typeface="Calibri"/>
              </a:rPr>
              <a:t>Loki, Prometheus, Jaeger</a:t>
            </a:r>
            <a:endParaRPr b="0" i="0" sz="950" u="none" cap="none" strike="noStrike">
              <a:solidFill>
                <a:schemeClr val="dk1"/>
              </a:solidFill>
              <a:latin typeface="Calibri"/>
              <a:ea typeface="Calibri"/>
              <a:cs typeface="Calibri"/>
              <a:sym typeface="Calibri"/>
            </a:endParaRPr>
          </a:p>
        </p:txBody>
      </p:sp>
      <p:sp>
        <p:nvSpPr>
          <p:cNvPr id="250" name="Google Shape;250;p9"/>
          <p:cNvSpPr/>
          <p:nvPr/>
        </p:nvSpPr>
        <p:spPr>
          <a:xfrm>
            <a:off x="6016752" y="2651760"/>
            <a:ext cx="17373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600"/>
              <a:buFont typeface="Calibri"/>
              <a:buNone/>
            </a:pPr>
            <a:r>
              <a:rPr b="1" i="0" lang="en-US" sz="1600" u="none" cap="none" strike="noStrike">
                <a:solidFill>
                  <a:srgbClr val="93A2B0"/>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51" name="Google Shape;251;p9"/>
          <p:cNvSpPr/>
          <p:nvPr/>
        </p:nvSpPr>
        <p:spPr>
          <a:xfrm>
            <a:off x="6190488" y="1737360"/>
            <a:ext cx="1700784" cy="2194560"/>
          </a:xfrm>
          <a:prstGeom prst="roundRect">
            <a:avLst>
              <a:gd fmla="val 4839"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p:nvPr/>
        </p:nvSpPr>
        <p:spPr>
          <a:xfrm>
            <a:off x="6391656" y="1920240"/>
            <a:ext cx="292608" cy="292608"/>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9"/>
          <p:cNvSpPr/>
          <p:nvPr/>
        </p:nvSpPr>
        <p:spPr>
          <a:xfrm>
            <a:off x="6391656" y="192024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4</a:t>
            </a:r>
            <a:endParaRPr b="0" i="0" sz="1150" u="none" cap="none" strike="noStrike">
              <a:solidFill>
                <a:schemeClr val="dk1"/>
              </a:solidFill>
              <a:latin typeface="Calibri"/>
              <a:ea typeface="Calibri"/>
              <a:cs typeface="Calibri"/>
              <a:sym typeface="Calibri"/>
            </a:endParaRPr>
          </a:p>
        </p:txBody>
      </p:sp>
      <p:sp>
        <p:nvSpPr>
          <p:cNvPr id="254" name="Google Shape;254;p9"/>
          <p:cNvSpPr/>
          <p:nvPr/>
        </p:nvSpPr>
        <p:spPr>
          <a:xfrm>
            <a:off x="6336792" y="2359152"/>
            <a:ext cx="140817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50"/>
              <a:buFont typeface="Calibri"/>
              <a:buNone/>
            </a:pPr>
            <a:r>
              <a:rPr b="1" i="0" lang="en-US" sz="1350" u="none" cap="none" strike="noStrike">
                <a:solidFill>
                  <a:srgbClr val="16202C"/>
                </a:solidFill>
                <a:latin typeface="Calibri"/>
                <a:ea typeface="Calibri"/>
                <a:cs typeface="Calibri"/>
                <a:sym typeface="Calibri"/>
              </a:rPr>
              <a:t>Query</a:t>
            </a:r>
            <a:endParaRPr b="0" i="0" sz="1350" u="none" cap="none" strike="noStrike">
              <a:solidFill>
                <a:schemeClr val="dk1"/>
              </a:solidFill>
              <a:latin typeface="Calibri"/>
              <a:ea typeface="Calibri"/>
              <a:cs typeface="Calibri"/>
              <a:sym typeface="Calibri"/>
            </a:endParaRPr>
          </a:p>
        </p:txBody>
      </p:sp>
      <p:sp>
        <p:nvSpPr>
          <p:cNvPr id="255" name="Google Shape;255;p9"/>
          <p:cNvSpPr/>
          <p:nvPr/>
        </p:nvSpPr>
        <p:spPr>
          <a:xfrm>
            <a:off x="6336792" y="2688336"/>
            <a:ext cx="1408176"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A language to ask questions</a:t>
            </a:r>
            <a:endParaRPr b="0" i="0" sz="1050" u="none" cap="none" strike="noStrike">
              <a:solidFill>
                <a:schemeClr val="dk1"/>
              </a:solidFill>
              <a:latin typeface="Calibri"/>
              <a:ea typeface="Calibri"/>
              <a:cs typeface="Calibri"/>
              <a:sym typeface="Calibri"/>
            </a:endParaRPr>
          </a:p>
        </p:txBody>
      </p:sp>
      <p:sp>
        <p:nvSpPr>
          <p:cNvPr id="256" name="Google Shape;256;p9"/>
          <p:cNvSpPr/>
          <p:nvPr/>
        </p:nvSpPr>
        <p:spPr>
          <a:xfrm>
            <a:off x="6336792" y="3200400"/>
            <a:ext cx="1408176"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93A2B0"/>
              </a:buClr>
              <a:buSzPts val="950"/>
              <a:buFont typeface="Calibri"/>
              <a:buNone/>
            </a:pPr>
            <a:r>
              <a:rPr b="0" i="1" lang="en-US" sz="950" u="none" cap="none" strike="noStrike">
                <a:solidFill>
                  <a:srgbClr val="93A2B0"/>
                </a:solidFill>
                <a:latin typeface="Calibri"/>
                <a:ea typeface="Calibri"/>
                <a:cs typeface="Calibri"/>
                <a:sym typeface="Calibri"/>
              </a:rPr>
              <a:t>LogQL, PromQL, TraceQL</a:t>
            </a:r>
            <a:endParaRPr b="0" i="0" sz="950" u="none" cap="none" strike="noStrike">
              <a:solidFill>
                <a:schemeClr val="dk1"/>
              </a:solidFill>
              <a:latin typeface="Calibri"/>
              <a:ea typeface="Calibri"/>
              <a:cs typeface="Calibri"/>
              <a:sym typeface="Calibri"/>
            </a:endParaRPr>
          </a:p>
        </p:txBody>
      </p:sp>
      <p:sp>
        <p:nvSpPr>
          <p:cNvPr id="257" name="Google Shape;257;p9"/>
          <p:cNvSpPr/>
          <p:nvPr/>
        </p:nvSpPr>
        <p:spPr>
          <a:xfrm>
            <a:off x="7891272" y="2651760"/>
            <a:ext cx="17373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600"/>
              <a:buFont typeface="Calibri"/>
              <a:buNone/>
            </a:pPr>
            <a:r>
              <a:rPr b="1" i="0" lang="en-US" sz="1600" u="none" cap="none" strike="noStrike">
                <a:solidFill>
                  <a:srgbClr val="93A2B0"/>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58" name="Google Shape;258;p9"/>
          <p:cNvSpPr/>
          <p:nvPr/>
        </p:nvSpPr>
        <p:spPr>
          <a:xfrm>
            <a:off x="8065008" y="1737360"/>
            <a:ext cx="1700784" cy="2194560"/>
          </a:xfrm>
          <a:prstGeom prst="roundRect">
            <a:avLst>
              <a:gd fmla="val 4839"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
          <p:cNvSpPr/>
          <p:nvPr/>
        </p:nvSpPr>
        <p:spPr>
          <a:xfrm>
            <a:off x="8266176" y="1920240"/>
            <a:ext cx="292608" cy="292608"/>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a:off x="8266176" y="192024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5</a:t>
            </a:r>
            <a:endParaRPr b="0" i="0" sz="1150" u="none" cap="none" strike="noStrike">
              <a:solidFill>
                <a:schemeClr val="dk1"/>
              </a:solidFill>
              <a:latin typeface="Calibri"/>
              <a:ea typeface="Calibri"/>
              <a:cs typeface="Calibri"/>
              <a:sym typeface="Calibri"/>
            </a:endParaRPr>
          </a:p>
        </p:txBody>
      </p:sp>
      <p:sp>
        <p:nvSpPr>
          <p:cNvPr id="261" name="Google Shape;261;p9"/>
          <p:cNvSpPr/>
          <p:nvPr/>
        </p:nvSpPr>
        <p:spPr>
          <a:xfrm>
            <a:off x="8211312" y="2359152"/>
            <a:ext cx="140817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50"/>
              <a:buFont typeface="Calibri"/>
              <a:buNone/>
            </a:pPr>
            <a:r>
              <a:rPr b="1" i="0" lang="en-US" sz="1350" u="none" cap="none" strike="noStrike">
                <a:solidFill>
                  <a:srgbClr val="16202C"/>
                </a:solidFill>
                <a:latin typeface="Calibri"/>
                <a:ea typeface="Calibri"/>
                <a:cs typeface="Calibri"/>
                <a:sym typeface="Calibri"/>
              </a:rPr>
              <a:t>Visualise</a:t>
            </a:r>
            <a:endParaRPr b="0" i="0" sz="1350" u="none" cap="none" strike="noStrike">
              <a:solidFill>
                <a:schemeClr val="dk1"/>
              </a:solidFill>
              <a:latin typeface="Calibri"/>
              <a:ea typeface="Calibri"/>
              <a:cs typeface="Calibri"/>
              <a:sym typeface="Calibri"/>
            </a:endParaRPr>
          </a:p>
        </p:txBody>
      </p:sp>
      <p:sp>
        <p:nvSpPr>
          <p:cNvPr id="262" name="Google Shape;262;p9"/>
          <p:cNvSpPr/>
          <p:nvPr/>
        </p:nvSpPr>
        <p:spPr>
          <a:xfrm>
            <a:off x="8211312" y="2688336"/>
            <a:ext cx="1408176"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Humans read pictures faster</a:t>
            </a:r>
            <a:endParaRPr b="0" i="0" sz="1050" u="none" cap="none" strike="noStrike">
              <a:solidFill>
                <a:schemeClr val="dk1"/>
              </a:solidFill>
              <a:latin typeface="Calibri"/>
              <a:ea typeface="Calibri"/>
              <a:cs typeface="Calibri"/>
              <a:sym typeface="Calibri"/>
            </a:endParaRPr>
          </a:p>
        </p:txBody>
      </p:sp>
      <p:sp>
        <p:nvSpPr>
          <p:cNvPr id="263" name="Google Shape;263;p9"/>
          <p:cNvSpPr/>
          <p:nvPr/>
        </p:nvSpPr>
        <p:spPr>
          <a:xfrm>
            <a:off x="8211312" y="3200400"/>
            <a:ext cx="1408176"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93A2B0"/>
              </a:buClr>
              <a:buSzPts val="950"/>
              <a:buFont typeface="Calibri"/>
              <a:buNone/>
            </a:pPr>
            <a:r>
              <a:rPr b="0" i="1" lang="en-US" sz="950" u="none" cap="none" strike="noStrike">
                <a:solidFill>
                  <a:srgbClr val="93A2B0"/>
                </a:solidFill>
                <a:latin typeface="Calibri"/>
                <a:ea typeface="Calibri"/>
                <a:cs typeface="Calibri"/>
                <a:sym typeface="Calibri"/>
              </a:rPr>
              <a:t>Grafana, Kibana</a:t>
            </a:r>
            <a:endParaRPr b="0" i="0" sz="950" u="none" cap="none" strike="noStrike">
              <a:solidFill>
                <a:schemeClr val="dk1"/>
              </a:solidFill>
              <a:latin typeface="Calibri"/>
              <a:ea typeface="Calibri"/>
              <a:cs typeface="Calibri"/>
              <a:sym typeface="Calibri"/>
            </a:endParaRPr>
          </a:p>
        </p:txBody>
      </p:sp>
      <p:sp>
        <p:nvSpPr>
          <p:cNvPr id="264" name="Google Shape;264;p9"/>
          <p:cNvSpPr/>
          <p:nvPr/>
        </p:nvSpPr>
        <p:spPr>
          <a:xfrm>
            <a:off x="9765792" y="2651760"/>
            <a:ext cx="17373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600"/>
              <a:buFont typeface="Calibri"/>
              <a:buNone/>
            </a:pPr>
            <a:r>
              <a:rPr b="1" i="0" lang="en-US" sz="1600" u="none" cap="none" strike="noStrike">
                <a:solidFill>
                  <a:srgbClr val="93A2B0"/>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65" name="Google Shape;265;p9"/>
          <p:cNvSpPr/>
          <p:nvPr/>
        </p:nvSpPr>
        <p:spPr>
          <a:xfrm>
            <a:off x="9939528" y="1737360"/>
            <a:ext cx="1700784" cy="2194560"/>
          </a:xfrm>
          <a:prstGeom prst="roundRect">
            <a:avLst>
              <a:gd fmla="val 4839"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9"/>
          <p:cNvSpPr/>
          <p:nvPr/>
        </p:nvSpPr>
        <p:spPr>
          <a:xfrm>
            <a:off x="10140696" y="1920240"/>
            <a:ext cx="292608" cy="292608"/>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10140696" y="192024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6</a:t>
            </a:r>
            <a:endParaRPr b="0" i="0" sz="1150" u="none" cap="none" strike="noStrike">
              <a:solidFill>
                <a:schemeClr val="dk1"/>
              </a:solidFill>
              <a:latin typeface="Calibri"/>
              <a:ea typeface="Calibri"/>
              <a:cs typeface="Calibri"/>
              <a:sym typeface="Calibri"/>
            </a:endParaRPr>
          </a:p>
        </p:txBody>
      </p:sp>
      <p:sp>
        <p:nvSpPr>
          <p:cNvPr id="268" name="Google Shape;268;p9"/>
          <p:cNvSpPr/>
          <p:nvPr/>
        </p:nvSpPr>
        <p:spPr>
          <a:xfrm>
            <a:off x="10085832" y="2359152"/>
            <a:ext cx="1408176"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50"/>
              <a:buFont typeface="Calibri"/>
              <a:buNone/>
            </a:pPr>
            <a:r>
              <a:rPr b="1" i="0" lang="en-US" sz="1350" u="none" cap="none" strike="noStrike">
                <a:solidFill>
                  <a:srgbClr val="16202C"/>
                </a:solidFill>
                <a:latin typeface="Calibri"/>
                <a:ea typeface="Calibri"/>
                <a:cs typeface="Calibri"/>
                <a:sym typeface="Calibri"/>
              </a:rPr>
              <a:t>Alert</a:t>
            </a:r>
            <a:endParaRPr b="0" i="0" sz="1350" u="none" cap="none" strike="noStrike">
              <a:solidFill>
                <a:schemeClr val="dk1"/>
              </a:solidFill>
              <a:latin typeface="Calibri"/>
              <a:ea typeface="Calibri"/>
              <a:cs typeface="Calibri"/>
              <a:sym typeface="Calibri"/>
            </a:endParaRPr>
          </a:p>
        </p:txBody>
      </p:sp>
      <p:sp>
        <p:nvSpPr>
          <p:cNvPr id="269" name="Google Shape;269;p9"/>
          <p:cNvSpPr/>
          <p:nvPr/>
        </p:nvSpPr>
        <p:spPr>
          <a:xfrm>
            <a:off x="10085832" y="2688336"/>
            <a:ext cx="1408176"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Wake someone, only if needed</a:t>
            </a:r>
            <a:endParaRPr b="0" i="0" sz="1050" u="none" cap="none" strike="noStrike">
              <a:solidFill>
                <a:schemeClr val="dk1"/>
              </a:solidFill>
              <a:latin typeface="Calibri"/>
              <a:ea typeface="Calibri"/>
              <a:cs typeface="Calibri"/>
              <a:sym typeface="Calibri"/>
            </a:endParaRPr>
          </a:p>
        </p:txBody>
      </p:sp>
      <p:sp>
        <p:nvSpPr>
          <p:cNvPr id="270" name="Google Shape;270;p9"/>
          <p:cNvSpPr/>
          <p:nvPr/>
        </p:nvSpPr>
        <p:spPr>
          <a:xfrm>
            <a:off x="10085832" y="3200400"/>
            <a:ext cx="1408176" cy="60350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93A2B0"/>
              </a:buClr>
              <a:buSzPts val="950"/>
              <a:buFont typeface="Calibri"/>
              <a:buNone/>
            </a:pPr>
            <a:r>
              <a:rPr b="0" i="1" lang="en-US" sz="950" u="none" cap="none" strike="noStrike">
                <a:solidFill>
                  <a:srgbClr val="93A2B0"/>
                </a:solidFill>
                <a:latin typeface="Calibri"/>
                <a:ea typeface="Calibri"/>
                <a:cs typeface="Calibri"/>
                <a:sym typeface="Calibri"/>
              </a:rPr>
              <a:t>Alertmanager, PagerDuty</a:t>
            </a:r>
            <a:endParaRPr b="0" i="0" sz="950" u="none" cap="none" strike="noStrike">
              <a:solidFill>
                <a:schemeClr val="dk1"/>
              </a:solidFill>
              <a:latin typeface="Calibri"/>
              <a:ea typeface="Calibri"/>
              <a:cs typeface="Calibri"/>
              <a:sym typeface="Calibri"/>
            </a:endParaRPr>
          </a:p>
        </p:txBody>
      </p:sp>
      <p:sp>
        <p:nvSpPr>
          <p:cNvPr id="271" name="Google Shape;271;p9"/>
          <p:cNvSpPr/>
          <p:nvPr/>
        </p:nvSpPr>
        <p:spPr>
          <a:xfrm>
            <a:off x="566928" y="4224528"/>
            <a:ext cx="5349240" cy="1554480"/>
          </a:xfrm>
          <a:prstGeom prst="roundRect">
            <a:avLst>
              <a:gd fmla="val 5294"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9"/>
          <p:cNvSpPr/>
          <p:nvPr/>
        </p:nvSpPr>
        <p:spPr>
          <a:xfrm>
            <a:off x="786384" y="4407408"/>
            <a:ext cx="292608" cy="292608"/>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9"/>
          <p:cNvSpPr/>
          <p:nvPr/>
        </p:nvSpPr>
        <p:spPr>
          <a:xfrm>
            <a:off x="786384" y="440740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274" name="Google Shape;274;p9"/>
          <p:cNvSpPr/>
          <p:nvPr/>
        </p:nvSpPr>
        <p:spPr>
          <a:xfrm>
            <a:off x="1188720" y="4407408"/>
            <a:ext cx="4325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Steps 1 and 2 are the ones you own</a:t>
            </a:r>
            <a:endParaRPr b="0" i="0" sz="1300" u="none" cap="none" strike="noStrike">
              <a:solidFill>
                <a:schemeClr val="dk1"/>
              </a:solidFill>
              <a:latin typeface="Calibri"/>
              <a:ea typeface="Calibri"/>
              <a:cs typeface="Calibri"/>
              <a:sym typeface="Calibri"/>
            </a:endParaRPr>
          </a:p>
        </p:txBody>
      </p:sp>
      <p:sp>
        <p:nvSpPr>
          <p:cNvPr id="275" name="Google Shape;275;p9"/>
          <p:cNvSpPr/>
          <p:nvPr/>
        </p:nvSpPr>
        <p:spPr>
          <a:xfrm>
            <a:off x="786384" y="4809744"/>
            <a:ext cx="4910328" cy="804672"/>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Everything downstream can be swapped. Your instrumentation cannot — it is in your source code. This is the whole argument for OpenTelemetry, and we come back to it at the end.</a:t>
            </a:r>
            <a:endParaRPr b="0" i="0" sz="1150" u="none" cap="none" strike="noStrike">
              <a:solidFill>
                <a:schemeClr val="dk1"/>
              </a:solidFill>
              <a:latin typeface="Calibri"/>
              <a:ea typeface="Calibri"/>
              <a:cs typeface="Calibri"/>
              <a:sym typeface="Calibri"/>
            </a:endParaRPr>
          </a:p>
        </p:txBody>
      </p:sp>
      <p:sp>
        <p:nvSpPr>
          <p:cNvPr id="276" name="Google Shape;276;p9"/>
          <p:cNvSpPr/>
          <p:nvPr/>
        </p:nvSpPr>
        <p:spPr>
          <a:xfrm>
            <a:off x="6281928" y="4224528"/>
            <a:ext cx="5349240" cy="1554480"/>
          </a:xfrm>
          <a:prstGeom prst="roundRect">
            <a:avLst>
              <a:gd fmla="val 5294"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9"/>
          <p:cNvSpPr/>
          <p:nvPr/>
        </p:nvSpPr>
        <p:spPr>
          <a:xfrm>
            <a:off x="6501384" y="4407408"/>
            <a:ext cx="292608" cy="29260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9"/>
          <p:cNvSpPr/>
          <p:nvPr/>
        </p:nvSpPr>
        <p:spPr>
          <a:xfrm>
            <a:off x="6501384" y="440740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279" name="Google Shape;279;p9"/>
          <p:cNvSpPr/>
          <p:nvPr/>
        </p:nvSpPr>
        <p:spPr>
          <a:xfrm>
            <a:off x="6903720" y="4407408"/>
            <a:ext cx="4325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Steps 3 to 6 are what you pay for</a:t>
            </a:r>
            <a:endParaRPr b="0" i="0" sz="1300" u="none" cap="none" strike="noStrike">
              <a:solidFill>
                <a:schemeClr val="dk1"/>
              </a:solidFill>
              <a:latin typeface="Calibri"/>
              <a:ea typeface="Calibri"/>
              <a:cs typeface="Calibri"/>
              <a:sym typeface="Calibri"/>
            </a:endParaRPr>
          </a:p>
        </p:txBody>
      </p:sp>
      <p:sp>
        <p:nvSpPr>
          <p:cNvPr id="280" name="Google Shape;280;p9"/>
          <p:cNvSpPr/>
          <p:nvPr/>
        </p:nvSpPr>
        <p:spPr>
          <a:xfrm>
            <a:off x="6501384" y="4809744"/>
            <a:ext cx="4910328" cy="804672"/>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“Buy an observability platform” means buying steps 3–6 as a service. “Self-host the LGTM stack” means running them yourself. The signals are identical either way.</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5" name="Shape 285"/>
        <p:cNvGrpSpPr/>
        <p:nvPr/>
      </p:nvGrpSpPr>
      <p:grpSpPr>
        <a:xfrm>
          <a:off x="0" y="0"/>
          <a:ext cx="0" cy="0"/>
          <a:chOff x="0" y="0"/>
          <a:chExt cx="0" cy="0"/>
        </a:xfrm>
      </p:grpSpPr>
      <p:sp>
        <p:nvSpPr>
          <p:cNvPr id="286" name="Google Shape;286;p10"/>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050"/>
              <a:buFont typeface="Calibri"/>
              <a:buNone/>
            </a:pPr>
            <a:r>
              <a:rPr b="1" i="0" lang="en-US" sz="1050" u="none" cap="none" strike="noStrike">
                <a:solidFill>
                  <a:srgbClr val="16202C"/>
                </a:solidFill>
                <a:latin typeface="Calibri"/>
                <a:ea typeface="Calibri"/>
                <a:cs typeface="Calibri"/>
                <a:sym typeface="Calibri"/>
              </a:rPr>
              <a:t>WHAT WE RUN FOR THREE DAYS</a:t>
            </a:r>
            <a:endParaRPr b="0" i="0" sz="1050" u="none" cap="none" strike="noStrike">
              <a:solidFill>
                <a:schemeClr val="dk1"/>
              </a:solidFill>
              <a:latin typeface="Calibri"/>
              <a:ea typeface="Calibri"/>
              <a:cs typeface="Calibri"/>
              <a:sym typeface="Calibri"/>
            </a:endParaRPr>
          </a:p>
        </p:txBody>
      </p:sp>
      <p:sp>
        <p:nvSpPr>
          <p:cNvPr id="287" name="Google Shape;287;p10"/>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One application, instrumented in front of you</a:t>
            </a:r>
            <a:endParaRPr b="0" i="0" sz="2900" u="none" cap="none" strike="noStrike">
              <a:solidFill>
                <a:schemeClr val="dk1"/>
              </a:solidFill>
              <a:latin typeface="Calibri"/>
              <a:ea typeface="Calibri"/>
              <a:cs typeface="Calibri"/>
              <a:sym typeface="Calibri"/>
            </a:endParaRPr>
          </a:p>
        </p:txBody>
      </p:sp>
      <p:sp>
        <p:nvSpPr>
          <p:cNvPr id="288" name="Google Shape;288;p10"/>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289" name="Google Shape;289;p10"/>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
        <p:nvSpPr>
          <p:cNvPr id="290" name="Google Shape;290;p10"/>
          <p:cNvSpPr/>
          <p:nvPr/>
        </p:nvSpPr>
        <p:spPr>
          <a:xfrm>
            <a:off x="566928" y="1234440"/>
            <a:ext cx="11057839" cy="365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300"/>
              <a:buFont typeface="Calibri"/>
              <a:buNone/>
            </a:pPr>
            <a:r>
              <a:rPr b="0" i="1" lang="en-US" sz="1300" u="none" cap="none" strike="noStrike">
                <a:solidFill>
                  <a:srgbClr val="5C6B7A"/>
                </a:solidFill>
                <a:latin typeface="Calibri"/>
                <a:ea typeface="Calibri"/>
                <a:cs typeface="Calibri"/>
                <a:sym typeface="Calibri"/>
              </a:rPr>
              <a:t>Chiya Shop — a tea ordering service. Small enough to read, broken enough to be interesting.</a:t>
            </a:r>
            <a:endParaRPr b="0" i="0" sz="1300" u="none" cap="none" strike="noStrike">
              <a:solidFill>
                <a:schemeClr val="dk1"/>
              </a:solidFill>
              <a:latin typeface="Calibri"/>
              <a:ea typeface="Calibri"/>
              <a:cs typeface="Calibri"/>
              <a:sym typeface="Calibri"/>
            </a:endParaRPr>
          </a:p>
        </p:txBody>
      </p:sp>
      <p:sp>
        <p:nvSpPr>
          <p:cNvPr id="291" name="Google Shape;291;p10"/>
          <p:cNvSpPr/>
          <p:nvPr/>
        </p:nvSpPr>
        <p:spPr>
          <a:xfrm>
            <a:off x="566928" y="1737360"/>
            <a:ext cx="11057839" cy="1517904"/>
          </a:xfrm>
          <a:prstGeom prst="roundRect">
            <a:avLst>
              <a:gd fmla="val 5422"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0"/>
          <p:cNvSpPr/>
          <p:nvPr/>
        </p:nvSpPr>
        <p:spPr>
          <a:xfrm>
            <a:off x="786384" y="1847088"/>
            <a:ext cx="2743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00"/>
              <a:buFont typeface="Calibri"/>
              <a:buNone/>
            </a:pPr>
            <a:r>
              <a:rPr b="1" i="0" lang="en-US" sz="900" u="none" cap="none" strike="noStrike">
                <a:solidFill>
                  <a:srgbClr val="5C6B7A"/>
                </a:solidFill>
                <a:latin typeface="Calibri"/>
                <a:ea typeface="Calibri"/>
                <a:cs typeface="Calibri"/>
                <a:sym typeface="Calibri"/>
              </a:rPr>
              <a:t>THE APPLICATION</a:t>
            </a:r>
            <a:endParaRPr b="0" i="0" sz="900" u="none" cap="none" strike="noStrike">
              <a:solidFill>
                <a:schemeClr val="dk1"/>
              </a:solidFill>
              <a:latin typeface="Calibri"/>
              <a:ea typeface="Calibri"/>
              <a:cs typeface="Calibri"/>
              <a:sym typeface="Calibri"/>
            </a:endParaRPr>
          </a:p>
        </p:txBody>
      </p:sp>
      <p:sp>
        <p:nvSpPr>
          <p:cNvPr id="293" name="Google Shape;293;p10"/>
          <p:cNvSpPr/>
          <p:nvPr/>
        </p:nvSpPr>
        <p:spPr>
          <a:xfrm>
            <a:off x="841248" y="2176272"/>
            <a:ext cx="1773936" cy="859536"/>
          </a:xfrm>
          <a:prstGeom prst="roundRect">
            <a:avLst>
              <a:gd fmla="val 9574"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0"/>
          <p:cNvSpPr/>
          <p:nvPr/>
        </p:nvSpPr>
        <p:spPr>
          <a:xfrm>
            <a:off x="932688" y="2286000"/>
            <a:ext cx="159105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C"/>
              </a:buClr>
              <a:buSzPts val="1200"/>
              <a:buFont typeface="Courier New"/>
              <a:buNone/>
            </a:pPr>
            <a:r>
              <a:rPr b="1" i="0" lang="en-US" sz="1200" u="none" cap="none" strike="noStrike">
                <a:solidFill>
                  <a:srgbClr val="16202C"/>
                </a:solidFill>
                <a:latin typeface="Courier New"/>
                <a:ea typeface="Courier New"/>
                <a:cs typeface="Courier New"/>
                <a:sym typeface="Courier New"/>
              </a:rPr>
              <a:t>loadgen</a:t>
            </a:r>
            <a:endParaRPr b="0" i="0" sz="1200" u="none" cap="none" strike="noStrike">
              <a:solidFill>
                <a:schemeClr val="dk1"/>
              </a:solidFill>
              <a:latin typeface="Calibri"/>
              <a:ea typeface="Calibri"/>
              <a:cs typeface="Calibri"/>
              <a:sym typeface="Calibri"/>
            </a:endParaRPr>
          </a:p>
        </p:txBody>
      </p:sp>
      <p:sp>
        <p:nvSpPr>
          <p:cNvPr id="295" name="Google Shape;295;p10"/>
          <p:cNvSpPr/>
          <p:nvPr/>
        </p:nvSpPr>
        <p:spPr>
          <a:xfrm>
            <a:off x="932688" y="2578608"/>
            <a:ext cx="159105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constant traffic</a:t>
            </a:r>
            <a:endParaRPr b="0" i="0" sz="1000" u="none" cap="none" strike="noStrike">
              <a:solidFill>
                <a:schemeClr val="dk1"/>
              </a:solidFill>
              <a:latin typeface="Calibri"/>
              <a:ea typeface="Calibri"/>
              <a:cs typeface="Calibri"/>
              <a:sym typeface="Calibri"/>
            </a:endParaRPr>
          </a:p>
        </p:txBody>
      </p:sp>
      <p:sp>
        <p:nvSpPr>
          <p:cNvPr id="296" name="Google Shape;296;p10"/>
          <p:cNvSpPr/>
          <p:nvPr/>
        </p:nvSpPr>
        <p:spPr>
          <a:xfrm>
            <a:off x="2615184" y="2468880"/>
            <a:ext cx="34747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500"/>
              <a:buFont typeface="Calibri"/>
              <a:buNone/>
            </a:pPr>
            <a:r>
              <a:rPr b="1" i="0" lang="en-US" sz="1500" u="none" cap="none" strike="noStrike">
                <a:solidFill>
                  <a:srgbClr val="93A2B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297" name="Google Shape;297;p10"/>
          <p:cNvSpPr/>
          <p:nvPr/>
        </p:nvSpPr>
        <p:spPr>
          <a:xfrm>
            <a:off x="2962656" y="2176272"/>
            <a:ext cx="1773936" cy="859536"/>
          </a:xfrm>
          <a:prstGeom prst="roundRect">
            <a:avLst>
              <a:gd fmla="val 9574"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0"/>
          <p:cNvSpPr/>
          <p:nvPr/>
        </p:nvSpPr>
        <p:spPr>
          <a:xfrm>
            <a:off x="3054096" y="2286000"/>
            <a:ext cx="159105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C"/>
              </a:buClr>
              <a:buSzPts val="1200"/>
              <a:buFont typeface="Courier New"/>
              <a:buNone/>
            </a:pPr>
            <a:r>
              <a:rPr b="1" i="0" lang="en-US" sz="1200" u="none" cap="none" strike="noStrike">
                <a:solidFill>
                  <a:srgbClr val="16202C"/>
                </a:solidFill>
                <a:latin typeface="Courier New"/>
                <a:ea typeface="Courier New"/>
                <a:cs typeface="Courier New"/>
                <a:sym typeface="Courier New"/>
              </a:rPr>
              <a:t>nginx</a:t>
            </a:r>
            <a:endParaRPr b="0" i="0" sz="1200" u="none" cap="none" strike="noStrike">
              <a:solidFill>
                <a:schemeClr val="dk1"/>
              </a:solidFill>
              <a:latin typeface="Calibri"/>
              <a:ea typeface="Calibri"/>
              <a:cs typeface="Calibri"/>
              <a:sym typeface="Calibri"/>
            </a:endParaRPr>
          </a:p>
        </p:txBody>
      </p:sp>
      <p:sp>
        <p:nvSpPr>
          <p:cNvPr id="299" name="Google Shape;299;p10"/>
          <p:cNvSpPr/>
          <p:nvPr/>
        </p:nvSpPr>
        <p:spPr>
          <a:xfrm>
            <a:off x="3054096" y="2578608"/>
            <a:ext cx="159105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reverse proxy</a:t>
            </a:r>
            <a:endParaRPr b="0" i="0" sz="1000" u="none" cap="none" strike="noStrike">
              <a:solidFill>
                <a:schemeClr val="dk1"/>
              </a:solidFill>
              <a:latin typeface="Calibri"/>
              <a:ea typeface="Calibri"/>
              <a:cs typeface="Calibri"/>
              <a:sym typeface="Calibri"/>
            </a:endParaRPr>
          </a:p>
        </p:txBody>
      </p:sp>
      <p:sp>
        <p:nvSpPr>
          <p:cNvPr id="300" name="Google Shape;300;p10"/>
          <p:cNvSpPr/>
          <p:nvPr/>
        </p:nvSpPr>
        <p:spPr>
          <a:xfrm>
            <a:off x="4736592" y="2468880"/>
            <a:ext cx="34747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500"/>
              <a:buFont typeface="Calibri"/>
              <a:buNone/>
            </a:pPr>
            <a:r>
              <a:rPr b="1" i="0" lang="en-US" sz="1500" u="none" cap="none" strike="noStrike">
                <a:solidFill>
                  <a:srgbClr val="93A2B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301" name="Google Shape;301;p10"/>
          <p:cNvSpPr/>
          <p:nvPr/>
        </p:nvSpPr>
        <p:spPr>
          <a:xfrm>
            <a:off x="5084064" y="2176272"/>
            <a:ext cx="1773936" cy="859536"/>
          </a:xfrm>
          <a:prstGeom prst="roundRect">
            <a:avLst>
              <a:gd fmla="val 9574"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0"/>
          <p:cNvSpPr/>
          <p:nvPr/>
        </p:nvSpPr>
        <p:spPr>
          <a:xfrm>
            <a:off x="5175504" y="2286000"/>
            <a:ext cx="159105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C"/>
              </a:buClr>
              <a:buSzPts val="1200"/>
              <a:buFont typeface="Courier New"/>
              <a:buNone/>
            </a:pPr>
            <a:r>
              <a:rPr b="1" i="0" lang="en-US" sz="1200" u="none" cap="none" strike="noStrike">
                <a:solidFill>
                  <a:srgbClr val="16202C"/>
                </a:solidFill>
                <a:latin typeface="Courier New"/>
                <a:ea typeface="Courier New"/>
                <a:cs typeface="Courier New"/>
                <a:sym typeface="Courier New"/>
              </a:rPr>
              <a:t>api × 2</a:t>
            </a:r>
            <a:endParaRPr b="0" i="0" sz="1200" u="none" cap="none" strike="noStrike">
              <a:solidFill>
                <a:schemeClr val="dk1"/>
              </a:solidFill>
              <a:latin typeface="Calibri"/>
              <a:ea typeface="Calibri"/>
              <a:cs typeface="Calibri"/>
              <a:sym typeface="Calibri"/>
            </a:endParaRPr>
          </a:p>
        </p:txBody>
      </p:sp>
      <p:sp>
        <p:nvSpPr>
          <p:cNvPr id="303" name="Google Shape;303;p10"/>
          <p:cNvSpPr/>
          <p:nvPr/>
        </p:nvSpPr>
        <p:spPr>
          <a:xfrm>
            <a:off x="5175504" y="2578608"/>
            <a:ext cx="159105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the code we edit</a:t>
            </a:r>
            <a:endParaRPr b="0" i="0" sz="1000" u="none" cap="none" strike="noStrike">
              <a:solidFill>
                <a:schemeClr val="dk1"/>
              </a:solidFill>
              <a:latin typeface="Calibri"/>
              <a:ea typeface="Calibri"/>
              <a:cs typeface="Calibri"/>
              <a:sym typeface="Calibri"/>
            </a:endParaRPr>
          </a:p>
        </p:txBody>
      </p:sp>
      <p:sp>
        <p:nvSpPr>
          <p:cNvPr id="304" name="Google Shape;304;p10"/>
          <p:cNvSpPr/>
          <p:nvPr/>
        </p:nvSpPr>
        <p:spPr>
          <a:xfrm>
            <a:off x="6858000" y="2468880"/>
            <a:ext cx="34747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500"/>
              <a:buFont typeface="Calibri"/>
              <a:buNone/>
            </a:pPr>
            <a:r>
              <a:rPr b="1" i="0" lang="en-US" sz="1500" u="none" cap="none" strike="noStrike">
                <a:solidFill>
                  <a:srgbClr val="93A2B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305" name="Google Shape;305;p10"/>
          <p:cNvSpPr/>
          <p:nvPr/>
        </p:nvSpPr>
        <p:spPr>
          <a:xfrm>
            <a:off x="7205472" y="2176272"/>
            <a:ext cx="1773936" cy="859536"/>
          </a:xfrm>
          <a:prstGeom prst="roundRect">
            <a:avLst>
              <a:gd fmla="val 9574"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0"/>
          <p:cNvSpPr/>
          <p:nvPr/>
        </p:nvSpPr>
        <p:spPr>
          <a:xfrm>
            <a:off x="7296912" y="2286000"/>
            <a:ext cx="159105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C"/>
              </a:buClr>
              <a:buSzPts val="1200"/>
              <a:buFont typeface="Courier New"/>
              <a:buNone/>
            </a:pPr>
            <a:r>
              <a:rPr b="1" i="0" lang="en-US" sz="1200" u="none" cap="none" strike="noStrike">
                <a:solidFill>
                  <a:srgbClr val="16202C"/>
                </a:solidFill>
                <a:latin typeface="Courier New"/>
                <a:ea typeface="Courier New"/>
                <a:cs typeface="Courier New"/>
                <a:sym typeface="Courier New"/>
              </a:rPr>
              <a:t>postgres</a:t>
            </a:r>
            <a:endParaRPr b="0" i="0" sz="1200" u="none" cap="none" strike="noStrike">
              <a:solidFill>
                <a:schemeClr val="dk1"/>
              </a:solidFill>
              <a:latin typeface="Calibri"/>
              <a:ea typeface="Calibri"/>
              <a:cs typeface="Calibri"/>
              <a:sym typeface="Calibri"/>
            </a:endParaRPr>
          </a:p>
        </p:txBody>
      </p:sp>
      <p:sp>
        <p:nvSpPr>
          <p:cNvPr id="307" name="Google Shape;307;p10"/>
          <p:cNvSpPr/>
          <p:nvPr/>
        </p:nvSpPr>
        <p:spPr>
          <a:xfrm>
            <a:off x="7296912" y="2578608"/>
            <a:ext cx="159105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orders</a:t>
            </a:r>
            <a:endParaRPr b="0" i="0" sz="1000" u="none" cap="none" strike="noStrike">
              <a:solidFill>
                <a:schemeClr val="dk1"/>
              </a:solidFill>
              <a:latin typeface="Calibri"/>
              <a:ea typeface="Calibri"/>
              <a:cs typeface="Calibri"/>
              <a:sym typeface="Calibri"/>
            </a:endParaRPr>
          </a:p>
        </p:txBody>
      </p:sp>
      <p:sp>
        <p:nvSpPr>
          <p:cNvPr id="308" name="Google Shape;308;p10"/>
          <p:cNvSpPr/>
          <p:nvPr/>
        </p:nvSpPr>
        <p:spPr>
          <a:xfrm>
            <a:off x="8979408" y="2468880"/>
            <a:ext cx="34747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500"/>
              <a:buFont typeface="Calibri"/>
              <a:buNone/>
            </a:pPr>
            <a:r>
              <a:rPr b="1" i="0" lang="en-US" sz="1500" u="none" cap="none" strike="noStrike">
                <a:solidFill>
                  <a:srgbClr val="93A2B0"/>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309" name="Google Shape;309;p10"/>
          <p:cNvSpPr/>
          <p:nvPr/>
        </p:nvSpPr>
        <p:spPr>
          <a:xfrm>
            <a:off x="9326880" y="2176272"/>
            <a:ext cx="1773936" cy="859536"/>
          </a:xfrm>
          <a:prstGeom prst="roundRect">
            <a:avLst>
              <a:gd fmla="val 9574"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0"/>
          <p:cNvSpPr/>
          <p:nvPr/>
        </p:nvSpPr>
        <p:spPr>
          <a:xfrm>
            <a:off x="9418320" y="2286000"/>
            <a:ext cx="1591056"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C"/>
              </a:buClr>
              <a:buSzPts val="1200"/>
              <a:buFont typeface="Courier New"/>
              <a:buNone/>
            </a:pPr>
            <a:r>
              <a:rPr b="1" i="0" lang="en-US" sz="1200" u="none" cap="none" strike="noStrike">
                <a:solidFill>
                  <a:srgbClr val="16202C"/>
                </a:solidFill>
                <a:latin typeface="Courier New"/>
                <a:ea typeface="Courier New"/>
                <a:cs typeface="Courier New"/>
                <a:sym typeface="Courier New"/>
              </a:rPr>
              <a:t>redis</a:t>
            </a:r>
            <a:endParaRPr b="0" i="0" sz="1200" u="none" cap="none" strike="noStrike">
              <a:solidFill>
                <a:schemeClr val="dk1"/>
              </a:solidFill>
              <a:latin typeface="Calibri"/>
              <a:ea typeface="Calibri"/>
              <a:cs typeface="Calibri"/>
              <a:sym typeface="Calibri"/>
            </a:endParaRPr>
          </a:p>
        </p:txBody>
      </p:sp>
      <p:sp>
        <p:nvSpPr>
          <p:cNvPr id="311" name="Google Shape;311;p10"/>
          <p:cNvSpPr/>
          <p:nvPr/>
        </p:nvSpPr>
        <p:spPr>
          <a:xfrm>
            <a:off x="9418320" y="2578608"/>
            <a:ext cx="159105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catalog cache</a:t>
            </a:r>
            <a:endParaRPr b="0" i="0" sz="1000" u="none" cap="none" strike="noStrike">
              <a:solidFill>
                <a:schemeClr val="dk1"/>
              </a:solidFill>
              <a:latin typeface="Calibri"/>
              <a:ea typeface="Calibri"/>
              <a:cs typeface="Calibri"/>
              <a:sym typeface="Calibri"/>
            </a:endParaRPr>
          </a:p>
        </p:txBody>
      </p:sp>
      <p:sp>
        <p:nvSpPr>
          <p:cNvPr id="312" name="Google Shape;312;p10"/>
          <p:cNvSpPr/>
          <p:nvPr/>
        </p:nvSpPr>
        <p:spPr>
          <a:xfrm>
            <a:off x="566928" y="3474720"/>
            <a:ext cx="3511296" cy="2286000"/>
          </a:xfrm>
          <a:prstGeom prst="roundRect">
            <a:avLst>
              <a:gd fmla="val 3600" name="adj"/>
            </a:avLst>
          </a:prstGeom>
          <a:solidFill>
            <a:srgbClr val="FFFFFF"/>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0"/>
          <p:cNvSpPr/>
          <p:nvPr/>
        </p:nvSpPr>
        <p:spPr>
          <a:xfrm>
            <a:off x="566928" y="3474720"/>
            <a:ext cx="3511296" cy="566928"/>
          </a:xfrm>
          <a:prstGeom prst="roundRect">
            <a:avLst>
              <a:gd fmla="val 14516"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0"/>
          <p:cNvSpPr/>
          <p:nvPr/>
        </p:nvSpPr>
        <p:spPr>
          <a:xfrm>
            <a:off x="804672" y="3648456"/>
            <a:ext cx="219456" cy="219456"/>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0"/>
          <p:cNvSpPr/>
          <p:nvPr/>
        </p:nvSpPr>
        <p:spPr>
          <a:xfrm>
            <a:off x="1115568" y="3529584"/>
            <a:ext cx="1005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1" i="0" lang="en-US" sz="950" u="none" cap="none" strike="noStrike">
                <a:solidFill>
                  <a:srgbClr val="5C6B7A"/>
                </a:solidFill>
                <a:latin typeface="Calibri"/>
                <a:ea typeface="Calibri"/>
                <a:cs typeface="Calibri"/>
                <a:sym typeface="Calibri"/>
              </a:rPr>
              <a:t>DAY 1</a:t>
            </a:r>
            <a:endParaRPr b="0" i="0" sz="950" u="none" cap="none" strike="noStrike">
              <a:solidFill>
                <a:schemeClr val="dk1"/>
              </a:solidFill>
              <a:latin typeface="Calibri"/>
              <a:ea typeface="Calibri"/>
              <a:cs typeface="Calibri"/>
              <a:sym typeface="Calibri"/>
            </a:endParaRPr>
          </a:p>
        </p:txBody>
      </p:sp>
      <p:sp>
        <p:nvSpPr>
          <p:cNvPr id="316" name="Google Shape;316;p10"/>
          <p:cNvSpPr/>
          <p:nvPr/>
        </p:nvSpPr>
        <p:spPr>
          <a:xfrm>
            <a:off x="1938528" y="3529584"/>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700"/>
              <a:buFont typeface="Cambria"/>
              <a:buNone/>
            </a:pPr>
            <a:r>
              <a:rPr b="1" i="0" lang="en-US" sz="1700" u="none" cap="none" strike="noStrike">
                <a:solidFill>
                  <a:srgbClr val="BE6415"/>
                </a:solidFill>
                <a:latin typeface="Cambria"/>
                <a:ea typeface="Cambria"/>
                <a:cs typeface="Cambria"/>
                <a:sym typeface="Cambria"/>
              </a:rPr>
              <a:t>Logs</a:t>
            </a:r>
            <a:endParaRPr b="0" i="0" sz="1700" u="none" cap="none" strike="noStrike">
              <a:solidFill>
                <a:schemeClr val="dk1"/>
              </a:solidFill>
              <a:latin typeface="Calibri"/>
              <a:ea typeface="Calibri"/>
              <a:cs typeface="Calibri"/>
              <a:sym typeface="Calibri"/>
            </a:endParaRPr>
          </a:p>
        </p:txBody>
      </p:sp>
      <p:sp>
        <p:nvSpPr>
          <p:cNvPr id="317" name="Google Shape;317;p10"/>
          <p:cNvSpPr/>
          <p:nvPr/>
        </p:nvSpPr>
        <p:spPr>
          <a:xfrm>
            <a:off x="804672" y="4169664"/>
            <a:ext cx="1200333"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0"/>
          <p:cNvSpPr/>
          <p:nvPr/>
        </p:nvSpPr>
        <p:spPr>
          <a:xfrm>
            <a:off x="804672" y="4169664"/>
            <a:ext cx="1200333"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950"/>
              <a:buFont typeface="Calibri"/>
              <a:buNone/>
            </a:pPr>
            <a:r>
              <a:rPr b="1" i="0" lang="en-US" sz="950" u="none" cap="none" strike="noStrike">
                <a:solidFill>
                  <a:srgbClr val="BE6415"/>
                </a:solidFill>
                <a:latin typeface="Calibri"/>
                <a:ea typeface="Calibri"/>
                <a:cs typeface="Calibri"/>
                <a:sym typeface="Calibri"/>
              </a:rPr>
              <a:t>Grafana Alloy</a:t>
            </a:r>
            <a:endParaRPr b="0" i="0" sz="950" u="none" cap="none" strike="noStrike">
              <a:solidFill>
                <a:schemeClr val="dk1"/>
              </a:solidFill>
              <a:latin typeface="Calibri"/>
              <a:ea typeface="Calibri"/>
              <a:cs typeface="Calibri"/>
              <a:sym typeface="Calibri"/>
            </a:endParaRPr>
          </a:p>
        </p:txBody>
      </p:sp>
      <p:sp>
        <p:nvSpPr>
          <p:cNvPr id="319" name="Google Shape;319;p10"/>
          <p:cNvSpPr/>
          <p:nvPr/>
        </p:nvSpPr>
        <p:spPr>
          <a:xfrm>
            <a:off x="2096445" y="4169664"/>
            <a:ext cx="559247"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0"/>
          <p:cNvSpPr/>
          <p:nvPr/>
        </p:nvSpPr>
        <p:spPr>
          <a:xfrm>
            <a:off x="2096445" y="4169664"/>
            <a:ext cx="559247"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950"/>
              <a:buFont typeface="Calibri"/>
              <a:buNone/>
            </a:pPr>
            <a:r>
              <a:rPr b="1" i="0" lang="en-US" sz="950" u="none" cap="none" strike="noStrike">
                <a:solidFill>
                  <a:srgbClr val="BE6415"/>
                </a:solidFill>
                <a:latin typeface="Calibri"/>
                <a:ea typeface="Calibri"/>
                <a:cs typeface="Calibri"/>
                <a:sym typeface="Calibri"/>
              </a:rPr>
              <a:t>Loki</a:t>
            </a:r>
            <a:endParaRPr b="0" i="0" sz="950" u="none" cap="none" strike="noStrike">
              <a:solidFill>
                <a:schemeClr val="dk1"/>
              </a:solidFill>
              <a:latin typeface="Calibri"/>
              <a:ea typeface="Calibri"/>
              <a:cs typeface="Calibri"/>
              <a:sym typeface="Calibri"/>
            </a:endParaRPr>
          </a:p>
        </p:txBody>
      </p:sp>
      <p:sp>
        <p:nvSpPr>
          <p:cNvPr id="321" name="Google Shape;321;p10"/>
          <p:cNvSpPr/>
          <p:nvPr/>
        </p:nvSpPr>
        <p:spPr>
          <a:xfrm>
            <a:off x="2747132" y="4169664"/>
            <a:ext cx="772942"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0"/>
          <p:cNvSpPr/>
          <p:nvPr/>
        </p:nvSpPr>
        <p:spPr>
          <a:xfrm>
            <a:off x="2747132" y="4169664"/>
            <a:ext cx="77294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950"/>
              <a:buFont typeface="Calibri"/>
              <a:buNone/>
            </a:pPr>
            <a:r>
              <a:rPr b="1" i="0" lang="en-US" sz="950" u="none" cap="none" strike="noStrike">
                <a:solidFill>
                  <a:srgbClr val="BE6415"/>
                </a:solidFill>
                <a:latin typeface="Calibri"/>
                <a:ea typeface="Calibri"/>
                <a:cs typeface="Calibri"/>
                <a:sym typeface="Calibri"/>
              </a:rPr>
              <a:t>Grafana</a:t>
            </a:r>
            <a:endParaRPr b="0" i="0" sz="950" u="none" cap="none" strike="noStrike">
              <a:solidFill>
                <a:schemeClr val="dk1"/>
              </a:solidFill>
              <a:latin typeface="Calibri"/>
              <a:ea typeface="Calibri"/>
              <a:cs typeface="Calibri"/>
              <a:sym typeface="Calibri"/>
            </a:endParaRPr>
          </a:p>
        </p:txBody>
      </p:sp>
      <p:sp>
        <p:nvSpPr>
          <p:cNvPr id="323" name="Google Shape;323;p10"/>
          <p:cNvSpPr/>
          <p:nvPr/>
        </p:nvSpPr>
        <p:spPr>
          <a:xfrm>
            <a:off x="804672" y="4956048"/>
            <a:ext cx="3035808"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100"/>
              <a:buFont typeface="Calibri"/>
              <a:buNone/>
            </a:pPr>
            <a:r>
              <a:rPr b="0" i="0" lang="en-US" sz="1100" u="none" cap="none" strike="noStrike">
                <a:solidFill>
                  <a:srgbClr val="5C6B7A"/>
                </a:solidFill>
                <a:latin typeface="Calibri"/>
                <a:ea typeface="Calibri"/>
                <a:cs typeface="Calibri"/>
                <a:sym typeface="Calibri"/>
              </a:rPr>
              <a:t>The app prints to stdout. Alloy tails the container, Loki stores, Grafana queries.</a:t>
            </a:r>
            <a:endParaRPr b="0" i="0" sz="1100" u="none" cap="none" strike="noStrike">
              <a:solidFill>
                <a:schemeClr val="dk1"/>
              </a:solidFill>
              <a:latin typeface="Calibri"/>
              <a:ea typeface="Calibri"/>
              <a:cs typeface="Calibri"/>
              <a:sym typeface="Calibri"/>
            </a:endParaRPr>
          </a:p>
        </p:txBody>
      </p:sp>
      <p:sp>
        <p:nvSpPr>
          <p:cNvPr id="324" name="Google Shape;324;p10"/>
          <p:cNvSpPr/>
          <p:nvPr/>
        </p:nvSpPr>
        <p:spPr>
          <a:xfrm>
            <a:off x="4306824" y="3474720"/>
            <a:ext cx="3511296" cy="2286000"/>
          </a:xfrm>
          <a:prstGeom prst="roundRect">
            <a:avLst>
              <a:gd fmla="val 3600" name="adj"/>
            </a:avLst>
          </a:prstGeom>
          <a:solidFill>
            <a:srgbClr val="FFFFFF"/>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0"/>
          <p:cNvSpPr/>
          <p:nvPr/>
        </p:nvSpPr>
        <p:spPr>
          <a:xfrm>
            <a:off x="4306824" y="3474720"/>
            <a:ext cx="3511296" cy="566928"/>
          </a:xfrm>
          <a:prstGeom prst="roundRect">
            <a:avLst>
              <a:gd fmla="val 14516"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0"/>
          <p:cNvSpPr/>
          <p:nvPr/>
        </p:nvSpPr>
        <p:spPr>
          <a:xfrm>
            <a:off x="4544568" y="3648456"/>
            <a:ext cx="219456" cy="219456"/>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0"/>
          <p:cNvSpPr/>
          <p:nvPr/>
        </p:nvSpPr>
        <p:spPr>
          <a:xfrm>
            <a:off x="4855464" y="3529584"/>
            <a:ext cx="1005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1" i="0" lang="en-US" sz="950" u="none" cap="none" strike="noStrike">
                <a:solidFill>
                  <a:srgbClr val="5C6B7A"/>
                </a:solidFill>
                <a:latin typeface="Calibri"/>
                <a:ea typeface="Calibri"/>
                <a:cs typeface="Calibri"/>
                <a:sym typeface="Calibri"/>
              </a:rPr>
              <a:t>DAY 2</a:t>
            </a:r>
            <a:endParaRPr b="0" i="0" sz="950" u="none" cap="none" strike="noStrike">
              <a:solidFill>
                <a:schemeClr val="dk1"/>
              </a:solidFill>
              <a:latin typeface="Calibri"/>
              <a:ea typeface="Calibri"/>
              <a:cs typeface="Calibri"/>
              <a:sym typeface="Calibri"/>
            </a:endParaRPr>
          </a:p>
        </p:txBody>
      </p:sp>
      <p:sp>
        <p:nvSpPr>
          <p:cNvPr id="328" name="Google Shape;328;p10"/>
          <p:cNvSpPr/>
          <p:nvPr/>
        </p:nvSpPr>
        <p:spPr>
          <a:xfrm>
            <a:off x="5678424" y="3529584"/>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700"/>
              <a:buFont typeface="Cambria"/>
              <a:buNone/>
            </a:pPr>
            <a:r>
              <a:rPr b="1" i="0" lang="en-US" sz="1700" u="none" cap="none" strike="noStrike">
                <a:solidFill>
                  <a:srgbClr val="0C6B7D"/>
                </a:solidFill>
                <a:latin typeface="Cambria"/>
                <a:ea typeface="Cambria"/>
                <a:cs typeface="Cambria"/>
                <a:sym typeface="Cambria"/>
              </a:rPr>
              <a:t>Metrics</a:t>
            </a:r>
            <a:endParaRPr b="0" i="0" sz="1700" u="none" cap="none" strike="noStrike">
              <a:solidFill>
                <a:schemeClr val="dk1"/>
              </a:solidFill>
              <a:latin typeface="Calibri"/>
              <a:ea typeface="Calibri"/>
              <a:cs typeface="Calibri"/>
              <a:sym typeface="Calibri"/>
            </a:endParaRPr>
          </a:p>
        </p:txBody>
      </p:sp>
      <p:sp>
        <p:nvSpPr>
          <p:cNvPr id="329" name="Google Shape;329;p10"/>
          <p:cNvSpPr/>
          <p:nvPr/>
        </p:nvSpPr>
        <p:spPr>
          <a:xfrm>
            <a:off x="4544568" y="4169664"/>
            <a:ext cx="1057869"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0"/>
          <p:cNvSpPr/>
          <p:nvPr/>
        </p:nvSpPr>
        <p:spPr>
          <a:xfrm>
            <a:off x="4544568" y="4169664"/>
            <a:ext cx="105786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950"/>
              <a:buFont typeface="Calibri"/>
              <a:buNone/>
            </a:pPr>
            <a:r>
              <a:rPr b="1" i="0" lang="en-US" sz="950" u="none" cap="none" strike="noStrike">
                <a:solidFill>
                  <a:srgbClr val="0C6B7D"/>
                </a:solidFill>
                <a:latin typeface="Calibri"/>
                <a:ea typeface="Calibri"/>
                <a:cs typeface="Calibri"/>
                <a:sym typeface="Calibri"/>
              </a:rPr>
              <a:t>prom-client</a:t>
            </a:r>
            <a:endParaRPr b="0" i="0" sz="950" u="none" cap="none" strike="noStrike">
              <a:solidFill>
                <a:schemeClr val="dk1"/>
              </a:solidFill>
              <a:latin typeface="Calibri"/>
              <a:ea typeface="Calibri"/>
              <a:cs typeface="Calibri"/>
              <a:sym typeface="Calibri"/>
            </a:endParaRPr>
          </a:p>
        </p:txBody>
      </p:sp>
      <p:sp>
        <p:nvSpPr>
          <p:cNvPr id="331" name="Google Shape;331;p10"/>
          <p:cNvSpPr/>
          <p:nvPr/>
        </p:nvSpPr>
        <p:spPr>
          <a:xfrm>
            <a:off x="5693877" y="4169664"/>
            <a:ext cx="986638"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0"/>
          <p:cNvSpPr/>
          <p:nvPr/>
        </p:nvSpPr>
        <p:spPr>
          <a:xfrm>
            <a:off x="5693877" y="4169664"/>
            <a:ext cx="98663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950"/>
              <a:buFont typeface="Calibri"/>
              <a:buNone/>
            </a:pPr>
            <a:r>
              <a:rPr b="1" i="0" lang="en-US" sz="950" u="none" cap="none" strike="noStrike">
                <a:solidFill>
                  <a:srgbClr val="0C6B7D"/>
                </a:solidFill>
                <a:latin typeface="Calibri"/>
                <a:ea typeface="Calibri"/>
                <a:cs typeface="Calibri"/>
                <a:sym typeface="Calibri"/>
              </a:rPr>
              <a:t>Prometheus</a:t>
            </a:r>
            <a:endParaRPr b="0" i="0" sz="950" u="none" cap="none" strike="noStrike">
              <a:solidFill>
                <a:schemeClr val="dk1"/>
              </a:solidFill>
              <a:latin typeface="Calibri"/>
              <a:ea typeface="Calibri"/>
              <a:cs typeface="Calibri"/>
              <a:sym typeface="Calibri"/>
            </a:endParaRPr>
          </a:p>
        </p:txBody>
      </p:sp>
      <p:sp>
        <p:nvSpPr>
          <p:cNvPr id="333" name="Google Shape;333;p10"/>
          <p:cNvSpPr/>
          <p:nvPr/>
        </p:nvSpPr>
        <p:spPr>
          <a:xfrm>
            <a:off x="6771955" y="4169664"/>
            <a:ext cx="772942"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0"/>
          <p:cNvSpPr/>
          <p:nvPr/>
        </p:nvSpPr>
        <p:spPr>
          <a:xfrm>
            <a:off x="6771955" y="4169664"/>
            <a:ext cx="77294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950"/>
              <a:buFont typeface="Calibri"/>
              <a:buNone/>
            </a:pPr>
            <a:r>
              <a:rPr b="1" i="0" lang="en-US" sz="950" u="none" cap="none" strike="noStrike">
                <a:solidFill>
                  <a:srgbClr val="0C6B7D"/>
                </a:solidFill>
                <a:latin typeface="Calibri"/>
                <a:ea typeface="Calibri"/>
                <a:cs typeface="Calibri"/>
                <a:sym typeface="Calibri"/>
              </a:rPr>
              <a:t>Grafana</a:t>
            </a:r>
            <a:endParaRPr b="0" i="0" sz="950" u="none" cap="none" strike="noStrike">
              <a:solidFill>
                <a:schemeClr val="dk1"/>
              </a:solidFill>
              <a:latin typeface="Calibri"/>
              <a:ea typeface="Calibri"/>
              <a:cs typeface="Calibri"/>
              <a:sym typeface="Calibri"/>
            </a:endParaRPr>
          </a:p>
        </p:txBody>
      </p:sp>
      <p:sp>
        <p:nvSpPr>
          <p:cNvPr id="335" name="Google Shape;335;p10"/>
          <p:cNvSpPr/>
          <p:nvPr/>
        </p:nvSpPr>
        <p:spPr>
          <a:xfrm>
            <a:off x="4544568" y="4956048"/>
            <a:ext cx="3035808"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100"/>
              <a:buFont typeface="Calibri"/>
              <a:buNone/>
            </a:pPr>
            <a:r>
              <a:rPr b="0" i="0" lang="en-US" sz="1100" u="none" cap="none" strike="noStrike">
                <a:solidFill>
                  <a:srgbClr val="5C6B7A"/>
                </a:solidFill>
                <a:latin typeface="Calibri"/>
                <a:ea typeface="Calibri"/>
                <a:cs typeface="Calibri"/>
                <a:sym typeface="Calibri"/>
              </a:rPr>
              <a:t>The app exposes /metrics. Prometheus scrapes it every 15s and keeps the numbers.</a:t>
            </a:r>
            <a:endParaRPr b="0" i="0" sz="1100" u="none" cap="none" strike="noStrike">
              <a:solidFill>
                <a:schemeClr val="dk1"/>
              </a:solidFill>
              <a:latin typeface="Calibri"/>
              <a:ea typeface="Calibri"/>
              <a:cs typeface="Calibri"/>
              <a:sym typeface="Calibri"/>
            </a:endParaRPr>
          </a:p>
        </p:txBody>
      </p:sp>
      <p:sp>
        <p:nvSpPr>
          <p:cNvPr id="336" name="Google Shape;336;p10"/>
          <p:cNvSpPr/>
          <p:nvPr/>
        </p:nvSpPr>
        <p:spPr>
          <a:xfrm>
            <a:off x="8046720" y="3474720"/>
            <a:ext cx="3511296" cy="2286000"/>
          </a:xfrm>
          <a:prstGeom prst="roundRect">
            <a:avLst>
              <a:gd fmla="val 3600" name="adj"/>
            </a:avLst>
          </a:prstGeom>
          <a:solidFill>
            <a:srgbClr val="FFFFFF"/>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0"/>
          <p:cNvSpPr/>
          <p:nvPr/>
        </p:nvSpPr>
        <p:spPr>
          <a:xfrm>
            <a:off x="8046720" y="3474720"/>
            <a:ext cx="3511296" cy="566928"/>
          </a:xfrm>
          <a:prstGeom prst="roundRect">
            <a:avLst>
              <a:gd fmla="val 14516"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0"/>
          <p:cNvSpPr/>
          <p:nvPr/>
        </p:nvSpPr>
        <p:spPr>
          <a:xfrm>
            <a:off x="8284464" y="3648456"/>
            <a:ext cx="219456" cy="219456"/>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0"/>
          <p:cNvSpPr/>
          <p:nvPr/>
        </p:nvSpPr>
        <p:spPr>
          <a:xfrm>
            <a:off x="8595360" y="3529584"/>
            <a:ext cx="1005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1" i="0" lang="en-US" sz="950" u="none" cap="none" strike="noStrike">
                <a:solidFill>
                  <a:srgbClr val="5C6B7A"/>
                </a:solidFill>
                <a:latin typeface="Calibri"/>
                <a:ea typeface="Calibri"/>
                <a:cs typeface="Calibri"/>
                <a:sym typeface="Calibri"/>
              </a:rPr>
              <a:t>DAY 3</a:t>
            </a:r>
            <a:endParaRPr b="0" i="0" sz="950" u="none" cap="none" strike="noStrike">
              <a:solidFill>
                <a:schemeClr val="dk1"/>
              </a:solidFill>
              <a:latin typeface="Calibri"/>
              <a:ea typeface="Calibri"/>
              <a:cs typeface="Calibri"/>
              <a:sym typeface="Calibri"/>
            </a:endParaRPr>
          </a:p>
        </p:txBody>
      </p:sp>
      <p:sp>
        <p:nvSpPr>
          <p:cNvPr id="340" name="Google Shape;340;p10"/>
          <p:cNvSpPr/>
          <p:nvPr/>
        </p:nvSpPr>
        <p:spPr>
          <a:xfrm>
            <a:off x="9418320" y="3529584"/>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700"/>
              <a:buFont typeface="Cambria"/>
              <a:buNone/>
            </a:pPr>
            <a:r>
              <a:rPr b="1" i="0" lang="en-US" sz="1700" u="none" cap="none" strike="noStrike">
                <a:solidFill>
                  <a:srgbClr val="5C3FA6"/>
                </a:solidFill>
                <a:latin typeface="Cambria"/>
                <a:ea typeface="Cambria"/>
                <a:cs typeface="Cambria"/>
                <a:sym typeface="Cambria"/>
              </a:rPr>
              <a:t>Traces</a:t>
            </a:r>
            <a:endParaRPr b="0" i="0" sz="1700" u="none" cap="none" strike="noStrike">
              <a:solidFill>
                <a:schemeClr val="dk1"/>
              </a:solidFill>
              <a:latin typeface="Calibri"/>
              <a:ea typeface="Calibri"/>
              <a:cs typeface="Calibri"/>
              <a:sym typeface="Calibri"/>
            </a:endParaRPr>
          </a:p>
        </p:txBody>
      </p:sp>
      <p:sp>
        <p:nvSpPr>
          <p:cNvPr id="341" name="Google Shape;341;p10"/>
          <p:cNvSpPr/>
          <p:nvPr/>
        </p:nvSpPr>
        <p:spPr>
          <a:xfrm>
            <a:off x="8284464" y="4169664"/>
            <a:ext cx="1485260"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0"/>
          <p:cNvSpPr/>
          <p:nvPr/>
        </p:nvSpPr>
        <p:spPr>
          <a:xfrm>
            <a:off x="8284464" y="4169664"/>
            <a:ext cx="148526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950"/>
              <a:buFont typeface="Calibri"/>
              <a:buNone/>
            </a:pPr>
            <a:r>
              <a:rPr b="1" i="0" lang="en-US" sz="950" u="none" cap="none" strike="noStrike">
                <a:solidFill>
                  <a:srgbClr val="5C3FA6"/>
                </a:solidFill>
                <a:latin typeface="Calibri"/>
                <a:ea typeface="Calibri"/>
                <a:cs typeface="Calibri"/>
                <a:sym typeface="Calibri"/>
              </a:rPr>
              <a:t>OpenTelemetry SDK</a:t>
            </a:r>
            <a:endParaRPr b="0" i="0" sz="950" u="none" cap="none" strike="noStrike">
              <a:solidFill>
                <a:schemeClr val="dk1"/>
              </a:solidFill>
              <a:latin typeface="Calibri"/>
              <a:ea typeface="Calibri"/>
              <a:cs typeface="Calibri"/>
              <a:sym typeface="Calibri"/>
            </a:endParaRPr>
          </a:p>
        </p:txBody>
      </p:sp>
      <p:sp>
        <p:nvSpPr>
          <p:cNvPr id="343" name="Google Shape;343;p10"/>
          <p:cNvSpPr/>
          <p:nvPr/>
        </p:nvSpPr>
        <p:spPr>
          <a:xfrm>
            <a:off x="9861164" y="4169664"/>
            <a:ext cx="701711"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0"/>
          <p:cNvSpPr/>
          <p:nvPr/>
        </p:nvSpPr>
        <p:spPr>
          <a:xfrm>
            <a:off x="9861164" y="4169664"/>
            <a:ext cx="701711"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950"/>
              <a:buFont typeface="Calibri"/>
              <a:buNone/>
            </a:pPr>
            <a:r>
              <a:rPr b="1" i="0" lang="en-US" sz="950" u="none" cap="none" strike="noStrike">
                <a:solidFill>
                  <a:srgbClr val="5C3FA6"/>
                </a:solidFill>
                <a:latin typeface="Calibri"/>
                <a:ea typeface="Calibri"/>
                <a:cs typeface="Calibri"/>
                <a:sym typeface="Calibri"/>
              </a:rPr>
              <a:t>Jaeger</a:t>
            </a:r>
            <a:endParaRPr b="0" i="0" sz="950" u="none" cap="none" strike="noStrike">
              <a:solidFill>
                <a:schemeClr val="dk1"/>
              </a:solidFill>
              <a:latin typeface="Calibri"/>
              <a:ea typeface="Calibri"/>
              <a:cs typeface="Calibri"/>
              <a:sym typeface="Calibri"/>
            </a:endParaRPr>
          </a:p>
        </p:txBody>
      </p:sp>
      <p:sp>
        <p:nvSpPr>
          <p:cNvPr id="345" name="Google Shape;345;p10"/>
          <p:cNvSpPr/>
          <p:nvPr/>
        </p:nvSpPr>
        <p:spPr>
          <a:xfrm>
            <a:off x="8284464" y="4956048"/>
            <a:ext cx="3035808"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100"/>
              <a:buFont typeface="Calibri"/>
              <a:buNone/>
            </a:pPr>
            <a:r>
              <a:rPr b="0" i="0" lang="en-US" sz="1100" u="none" cap="none" strike="noStrike">
                <a:solidFill>
                  <a:srgbClr val="5C6B7A"/>
                </a:solidFill>
                <a:latin typeface="Calibri"/>
                <a:ea typeface="Calibri"/>
                <a:cs typeface="Calibri"/>
                <a:sym typeface="Calibri"/>
              </a:rPr>
              <a:t>The app emits spans over OTLP. Jaeger stitches them into one request tree.</a:t>
            </a:r>
            <a:endParaRPr b="0" i="0" sz="1100" u="none" cap="none" strike="noStrike">
              <a:solidFill>
                <a:schemeClr val="dk1"/>
              </a:solidFill>
              <a:latin typeface="Calibri"/>
              <a:ea typeface="Calibri"/>
              <a:cs typeface="Calibri"/>
              <a:sym typeface="Calibri"/>
            </a:endParaRPr>
          </a:p>
        </p:txBody>
      </p:sp>
      <p:sp>
        <p:nvSpPr>
          <p:cNvPr id="346" name="Google Shape;346;p10"/>
          <p:cNvSpPr/>
          <p:nvPr/>
        </p:nvSpPr>
        <p:spPr>
          <a:xfrm>
            <a:off x="566928" y="5943600"/>
            <a:ext cx="11057839" cy="475488"/>
          </a:xfrm>
          <a:prstGeom prst="roundRect">
            <a:avLst>
              <a:gd fmla="val 17308"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0"/>
          <p:cNvSpPr/>
          <p:nvPr/>
        </p:nvSpPr>
        <p:spPr>
          <a:xfrm>
            <a:off x="768096" y="6044184"/>
            <a:ext cx="274320" cy="27432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0"/>
          <p:cNvSpPr/>
          <p:nvPr/>
        </p:nvSpPr>
        <p:spPr>
          <a:xfrm>
            <a:off x="768096" y="60441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349" name="Google Shape;349;p10"/>
          <p:cNvSpPr/>
          <p:nvPr/>
        </p:nvSpPr>
        <p:spPr>
          <a:xfrm>
            <a:off x="1170432" y="5943600"/>
            <a:ext cx="10234879" cy="47548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Nothing here persists and nothing here is secured. It is a teaching rig, not a starter template. We will say why at the end of each day.</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620"/>
        </a:solidFill>
      </p:bgPr>
    </p:bg>
    <p:spTree>
      <p:nvGrpSpPr>
        <p:cNvPr id="354" name="Shape 354"/>
        <p:cNvGrpSpPr/>
        <p:nvPr/>
      </p:nvGrpSpPr>
      <p:grpSpPr>
        <a:xfrm>
          <a:off x="0" y="0"/>
          <a:ext cx="0" cy="0"/>
          <a:chOff x="0" y="0"/>
          <a:chExt cx="0" cy="0"/>
        </a:xfrm>
      </p:grpSpPr>
      <p:sp>
        <p:nvSpPr>
          <p:cNvPr id="355" name="Google Shape;355;p11"/>
          <p:cNvSpPr/>
          <p:nvPr/>
        </p:nvSpPr>
        <p:spPr>
          <a:xfrm>
            <a:off x="8595360" y="1051560"/>
            <a:ext cx="3200400" cy="320040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1"/>
          <p:cNvSpPr/>
          <p:nvPr/>
        </p:nvSpPr>
        <p:spPr>
          <a:xfrm>
            <a:off x="9372600" y="1828800"/>
            <a:ext cx="1645920" cy="164592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1"/>
          <p:cNvSpPr/>
          <p:nvPr/>
        </p:nvSpPr>
        <p:spPr>
          <a:xfrm>
            <a:off x="9372600" y="1828800"/>
            <a:ext cx="1645920" cy="1645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01</a:t>
            </a:r>
            <a:endParaRPr b="0" i="0" sz="4400" u="none" cap="none" strike="noStrike">
              <a:solidFill>
                <a:schemeClr val="dk1"/>
              </a:solidFill>
              <a:latin typeface="Calibri"/>
              <a:ea typeface="Calibri"/>
              <a:cs typeface="Calibri"/>
              <a:sym typeface="Calibri"/>
            </a:endParaRPr>
          </a:p>
        </p:txBody>
      </p:sp>
      <p:sp>
        <p:nvSpPr>
          <p:cNvPr id="358" name="Google Shape;358;p11"/>
          <p:cNvSpPr/>
          <p:nvPr/>
        </p:nvSpPr>
        <p:spPr>
          <a:xfrm>
            <a:off x="566928" y="2057400"/>
            <a:ext cx="7498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150"/>
              <a:buFont typeface="Calibri"/>
              <a:buNone/>
            </a:pPr>
            <a:r>
              <a:rPr b="1" i="0" lang="en-US" sz="1150" u="none" cap="none" strike="noStrike">
                <a:solidFill>
                  <a:srgbClr val="BE6415"/>
                </a:solidFill>
                <a:latin typeface="Calibri"/>
                <a:ea typeface="Calibri"/>
                <a:cs typeface="Calibri"/>
                <a:sym typeface="Calibri"/>
              </a:rPr>
              <a:t>DAY 1</a:t>
            </a:r>
            <a:endParaRPr b="0" i="0" sz="1150" u="none" cap="none" strike="noStrike">
              <a:solidFill>
                <a:schemeClr val="dk1"/>
              </a:solidFill>
              <a:latin typeface="Calibri"/>
              <a:ea typeface="Calibri"/>
              <a:cs typeface="Calibri"/>
              <a:sym typeface="Calibri"/>
            </a:endParaRPr>
          </a:p>
        </p:txBody>
      </p:sp>
      <p:sp>
        <p:nvSpPr>
          <p:cNvPr id="359" name="Google Shape;359;p11"/>
          <p:cNvSpPr/>
          <p:nvPr/>
        </p:nvSpPr>
        <p:spPr>
          <a:xfrm>
            <a:off x="566928" y="2377440"/>
            <a:ext cx="74980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Logs</a:t>
            </a:r>
            <a:endParaRPr b="0" i="0" sz="4000" u="none" cap="none" strike="noStrike">
              <a:solidFill>
                <a:schemeClr val="dk1"/>
              </a:solidFill>
              <a:latin typeface="Calibri"/>
              <a:ea typeface="Calibri"/>
              <a:cs typeface="Calibri"/>
              <a:sym typeface="Calibri"/>
            </a:endParaRPr>
          </a:p>
        </p:txBody>
      </p:sp>
      <p:sp>
        <p:nvSpPr>
          <p:cNvPr id="360" name="Google Shape;360;p11"/>
          <p:cNvSpPr/>
          <p:nvPr/>
        </p:nvSpPr>
        <p:spPr>
          <a:xfrm>
            <a:off x="566928" y="3291840"/>
            <a:ext cx="7315200"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7C4"/>
              </a:buClr>
              <a:buSzPts val="1450"/>
              <a:buFont typeface="Calibri"/>
              <a:buNone/>
            </a:pPr>
            <a:r>
              <a:rPr b="0" i="0" lang="en-US" sz="1450" u="none" cap="none" strike="noStrike">
                <a:solidFill>
                  <a:srgbClr val="A9B7C4"/>
                </a:solidFill>
                <a:latin typeface="Calibri"/>
                <a:ea typeface="Calibri"/>
                <a:cs typeface="Calibri"/>
                <a:sym typeface="Calibri"/>
              </a:rPr>
              <a:t>The signal you already produce by accident. Every console.log you have ever written was a log line — just one nobody could search.</a:t>
            </a:r>
            <a:endParaRPr b="0" i="0" sz="1450" u="none" cap="none" strike="noStrike">
              <a:solidFill>
                <a:schemeClr val="dk1"/>
              </a:solidFill>
              <a:latin typeface="Calibri"/>
              <a:ea typeface="Calibri"/>
              <a:cs typeface="Calibri"/>
              <a:sym typeface="Calibri"/>
            </a:endParaRPr>
          </a:p>
        </p:txBody>
      </p:sp>
      <p:sp>
        <p:nvSpPr>
          <p:cNvPr id="361" name="Google Shape;361;p11"/>
          <p:cNvSpPr/>
          <p:nvPr/>
        </p:nvSpPr>
        <p:spPr>
          <a:xfrm>
            <a:off x="566928" y="4343400"/>
            <a:ext cx="1297808"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1"/>
          <p:cNvSpPr/>
          <p:nvPr/>
        </p:nvSpPr>
        <p:spPr>
          <a:xfrm>
            <a:off x="566928" y="4343400"/>
            <a:ext cx="129780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Grafana Alloy</a:t>
            </a:r>
            <a:endParaRPr b="0" i="0" sz="1050" u="none" cap="none" strike="noStrike">
              <a:solidFill>
                <a:schemeClr val="dk1"/>
              </a:solidFill>
              <a:latin typeface="Calibri"/>
              <a:ea typeface="Calibri"/>
              <a:cs typeface="Calibri"/>
              <a:sym typeface="Calibri"/>
            </a:endParaRPr>
          </a:p>
        </p:txBody>
      </p:sp>
      <p:sp>
        <p:nvSpPr>
          <p:cNvPr id="363" name="Google Shape;363;p11"/>
          <p:cNvSpPr/>
          <p:nvPr/>
        </p:nvSpPr>
        <p:spPr>
          <a:xfrm>
            <a:off x="1956176" y="4343400"/>
            <a:ext cx="589239"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a:off x="1956176" y="4343400"/>
            <a:ext cx="58923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Loki</a:t>
            </a:r>
            <a:endParaRPr b="0" i="0" sz="1050" u="none" cap="none" strike="noStrike">
              <a:solidFill>
                <a:schemeClr val="dk1"/>
              </a:solidFill>
              <a:latin typeface="Calibri"/>
              <a:ea typeface="Calibri"/>
              <a:cs typeface="Calibri"/>
              <a:sym typeface="Calibri"/>
            </a:endParaRPr>
          </a:p>
        </p:txBody>
      </p:sp>
      <p:sp>
        <p:nvSpPr>
          <p:cNvPr id="365" name="Google Shape;365;p11"/>
          <p:cNvSpPr/>
          <p:nvPr/>
        </p:nvSpPr>
        <p:spPr>
          <a:xfrm>
            <a:off x="2636855" y="4343400"/>
            <a:ext cx="825429"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1"/>
          <p:cNvSpPr/>
          <p:nvPr/>
        </p:nvSpPr>
        <p:spPr>
          <a:xfrm>
            <a:off x="2636855" y="4343400"/>
            <a:ext cx="82542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Grafana</a:t>
            </a:r>
            <a:endParaRPr b="0" i="0" sz="1050" u="none" cap="none" strike="noStrike">
              <a:solidFill>
                <a:schemeClr val="dk1"/>
              </a:solidFill>
              <a:latin typeface="Calibri"/>
              <a:ea typeface="Calibri"/>
              <a:cs typeface="Calibri"/>
              <a:sym typeface="Calibri"/>
            </a:endParaRPr>
          </a:p>
        </p:txBody>
      </p:sp>
      <p:sp>
        <p:nvSpPr>
          <p:cNvPr id="367" name="Google Shape;367;p11"/>
          <p:cNvSpPr/>
          <p:nvPr/>
        </p:nvSpPr>
        <p:spPr>
          <a:xfrm>
            <a:off x="3553724" y="4343400"/>
            <a:ext cx="667969"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1"/>
          <p:cNvSpPr/>
          <p:nvPr/>
        </p:nvSpPr>
        <p:spPr>
          <a:xfrm>
            <a:off x="3553724" y="4343400"/>
            <a:ext cx="66796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LogQL</a:t>
            </a:r>
            <a:endParaRPr b="0" i="0" sz="1050" u="none" cap="none" strike="noStrike">
              <a:solidFill>
                <a:schemeClr val="dk1"/>
              </a:solidFill>
              <a:latin typeface="Calibri"/>
              <a:ea typeface="Calibri"/>
              <a:cs typeface="Calibri"/>
              <a:sym typeface="Calibri"/>
            </a:endParaRPr>
          </a:p>
        </p:txBody>
      </p:sp>
      <p:sp>
        <p:nvSpPr>
          <p:cNvPr id="369" name="Google Shape;369;p11"/>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6B7A"/>
              </a:buClr>
              <a:buSzPts val="900"/>
              <a:buFont typeface="Calibri"/>
              <a:buNone/>
            </a:pPr>
            <a:r>
              <a:rPr b="0" i="0" lang="en-US" sz="900" u="none" cap="none" strike="noStrike">
                <a:solidFill>
                  <a:srgbClr val="5D6B7A"/>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370" name="Google Shape;370;p11"/>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D6B7A"/>
              </a:buClr>
              <a:buSzPts val="900"/>
              <a:buFont typeface="Calibri"/>
              <a:buNone/>
            </a:pPr>
            <a:r>
              <a:rPr b="0" i="0" lang="en-US" sz="900" u="none" cap="none" strike="noStrike">
                <a:solidFill>
                  <a:srgbClr val="5D6B7A"/>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5" name="Shape 375"/>
        <p:cNvGrpSpPr/>
        <p:nvPr/>
      </p:nvGrpSpPr>
      <p:grpSpPr>
        <a:xfrm>
          <a:off x="0" y="0"/>
          <a:ext cx="0" cy="0"/>
          <a:chOff x="0" y="0"/>
          <a:chExt cx="0" cy="0"/>
        </a:xfrm>
      </p:grpSpPr>
      <p:sp>
        <p:nvSpPr>
          <p:cNvPr id="376" name="Google Shape;376;p12"/>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DEFINITION</a:t>
            </a:r>
            <a:endParaRPr b="0" i="0" sz="1050" u="none" cap="none" strike="noStrike">
              <a:solidFill>
                <a:schemeClr val="dk1"/>
              </a:solidFill>
              <a:latin typeface="Calibri"/>
              <a:ea typeface="Calibri"/>
              <a:cs typeface="Calibri"/>
              <a:sym typeface="Calibri"/>
            </a:endParaRPr>
          </a:p>
        </p:txBody>
      </p:sp>
      <p:sp>
        <p:nvSpPr>
          <p:cNvPr id="377" name="Google Shape;377;p12"/>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700"/>
              <a:buFont typeface="Cambria"/>
              <a:buNone/>
            </a:pPr>
            <a:r>
              <a:rPr b="1" i="0" lang="en-US" sz="2700" u="none" cap="none" strike="noStrike">
                <a:solidFill>
                  <a:srgbClr val="16202C"/>
                </a:solidFill>
                <a:latin typeface="Cambria"/>
                <a:ea typeface="Cambria"/>
                <a:cs typeface="Cambria"/>
                <a:sym typeface="Cambria"/>
              </a:rPr>
              <a:t>A log is one timestamped record of one discrete event</a:t>
            </a:r>
            <a:endParaRPr b="0" i="0" sz="2700" u="none" cap="none" strike="noStrike">
              <a:solidFill>
                <a:schemeClr val="dk1"/>
              </a:solidFill>
              <a:latin typeface="Calibri"/>
              <a:ea typeface="Calibri"/>
              <a:cs typeface="Calibri"/>
              <a:sym typeface="Calibri"/>
            </a:endParaRPr>
          </a:p>
        </p:txBody>
      </p:sp>
      <p:sp>
        <p:nvSpPr>
          <p:cNvPr id="378" name="Google Shape;378;p12"/>
          <p:cNvSpPr/>
          <p:nvPr/>
        </p:nvSpPr>
        <p:spPr>
          <a:xfrm>
            <a:off x="10754258" y="402336"/>
            <a:ext cx="870509" cy="329184"/>
          </a:xfrm>
          <a:prstGeom prst="roundRect">
            <a:avLst>
              <a:gd fmla="val 50000" name="adj"/>
            </a:avLst>
          </a:prstGeom>
          <a:solidFill>
            <a:srgbClr val="FAEFE2"/>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2"/>
          <p:cNvSpPr/>
          <p:nvPr/>
        </p:nvSpPr>
        <p:spPr>
          <a:xfrm>
            <a:off x="10927994" y="525780"/>
            <a:ext cx="91440" cy="9144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2"/>
          <p:cNvSpPr/>
          <p:nvPr/>
        </p:nvSpPr>
        <p:spPr>
          <a:xfrm>
            <a:off x="11065154" y="402336"/>
            <a:ext cx="46817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00"/>
              <a:buFont typeface="Calibri"/>
              <a:buNone/>
            </a:pPr>
            <a:r>
              <a:rPr b="1" i="0" lang="en-US" sz="1000" u="none" cap="none" strike="noStrike">
                <a:solidFill>
                  <a:srgbClr val="BE6415"/>
                </a:solidFill>
                <a:latin typeface="Calibri"/>
                <a:ea typeface="Calibri"/>
                <a:cs typeface="Calibri"/>
                <a:sym typeface="Calibri"/>
              </a:rPr>
              <a:t>Logs</a:t>
            </a:r>
            <a:endParaRPr b="0" i="0" sz="1000" u="none" cap="none" strike="noStrike">
              <a:solidFill>
                <a:schemeClr val="dk1"/>
              </a:solidFill>
              <a:latin typeface="Calibri"/>
              <a:ea typeface="Calibri"/>
              <a:cs typeface="Calibri"/>
              <a:sym typeface="Calibri"/>
            </a:endParaRPr>
          </a:p>
        </p:txBody>
      </p:sp>
      <p:sp>
        <p:nvSpPr>
          <p:cNvPr id="381" name="Google Shape;381;p12"/>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382" name="Google Shape;382;p12"/>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
        <p:nvSpPr>
          <p:cNvPr id="383" name="Google Shape;383;p12"/>
          <p:cNvSpPr/>
          <p:nvPr/>
        </p:nvSpPr>
        <p:spPr>
          <a:xfrm>
            <a:off x="566928" y="1417320"/>
            <a:ext cx="11057839" cy="841248"/>
          </a:xfrm>
          <a:prstGeom prst="roundRect">
            <a:avLst>
              <a:gd fmla="val 9783"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2"/>
          <p:cNvSpPr/>
          <p:nvPr/>
        </p:nvSpPr>
        <p:spPr>
          <a:xfrm>
            <a:off x="731520" y="1545336"/>
            <a:ext cx="10728655" cy="58521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0C48A"/>
              </a:buClr>
              <a:buSzPts val="1200"/>
              <a:buFont typeface="Courier New"/>
              <a:buNone/>
            </a:pPr>
            <a:r>
              <a:rPr b="0" i="0" lang="en-US" sz="1200" u="none" cap="none" strike="noStrike">
                <a:solidFill>
                  <a:srgbClr val="F0C48A"/>
                </a:solidFill>
                <a:latin typeface="Courier New"/>
                <a:ea typeface="Courier New"/>
                <a:cs typeface="Courier New"/>
                <a:sym typeface="Courier New"/>
              </a:rPr>
              <a:t>2026-07-29T14:22:07.443Z  ERROR  payment  order_id=8821  user=u_301  attempt=2</a:t>
            </a:r>
            <a:endParaRPr b="0" i="0" sz="1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6DEE7"/>
              </a:buClr>
              <a:buSzPts val="1200"/>
              <a:buFont typeface="Courier New"/>
              <a:buNone/>
            </a:pPr>
            <a:r>
              <a:rPr b="0" i="0" lang="en-US" sz="1200" u="none" cap="none" strike="noStrike">
                <a:solidFill>
                  <a:srgbClr val="D6DEE7"/>
                </a:solidFill>
                <a:latin typeface="Courier New"/>
                <a:ea typeface="Courier New"/>
                <a:cs typeface="Courier New"/>
                <a:sym typeface="Courier New"/>
              </a:rPr>
              <a:t>  payment gateway timed out after 2000ms (pool exhausted: max=10 waiting=193)</a:t>
            </a:r>
            <a:endParaRPr b="0" i="0" sz="1200" u="none" cap="none" strike="noStrike">
              <a:solidFill>
                <a:schemeClr val="dk1"/>
              </a:solidFill>
              <a:latin typeface="Calibri"/>
              <a:ea typeface="Calibri"/>
              <a:cs typeface="Calibri"/>
              <a:sym typeface="Calibri"/>
            </a:endParaRPr>
          </a:p>
        </p:txBody>
      </p:sp>
      <p:sp>
        <p:nvSpPr>
          <p:cNvPr id="385" name="Google Shape;385;p12"/>
          <p:cNvSpPr/>
          <p:nvPr/>
        </p:nvSpPr>
        <p:spPr>
          <a:xfrm>
            <a:off x="566928" y="2450592"/>
            <a:ext cx="2615184" cy="1572768"/>
          </a:xfrm>
          <a:prstGeom prst="roundRect">
            <a:avLst>
              <a:gd fmla="val 5233"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2"/>
          <p:cNvSpPr/>
          <p:nvPr/>
        </p:nvSpPr>
        <p:spPr>
          <a:xfrm>
            <a:off x="768096" y="2615184"/>
            <a:ext cx="22128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400"/>
              <a:buFont typeface="Calibri"/>
              <a:buNone/>
            </a:pPr>
            <a:r>
              <a:rPr b="1" i="0" lang="en-US" sz="1400" u="none" cap="none" strike="noStrike">
                <a:solidFill>
                  <a:srgbClr val="BE6415"/>
                </a:solidFill>
                <a:latin typeface="Calibri"/>
                <a:ea typeface="Calibri"/>
                <a:cs typeface="Calibri"/>
                <a:sym typeface="Calibri"/>
              </a:rPr>
              <a:t>When</a:t>
            </a:r>
            <a:endParaRPr b="0" i="0" sz="1400" u="none" cap="none" strike="noStrike">
              <a:solidFill>
                <a:schemeClr val="dk1"/>
              </a:solidFill>
              <a:latin typeface="Calibri"/>
              <a:ea typeface="Calibri"/>
              <a:cs typeface="Calibri"/>
              <a:sym typeface="Calibri"/>
            </a:endParaRPr>
          </a:p>
        </p:txBody>
      </p:sp>
      <p:sp>
        <p:nvSpPr>
          <p:cNvPr id="387" name="Google Shape;387;p12"/>
          <p:cNvSpPr/>
          <p:nvPr/>
        </p:nvSpPr>
        <p:spPr>
          <a:xfrm>
            <a:off x="768096" y="2962656"/>
            <a:ext cx="2212848" cy="9144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ISO-8601, UTC, milliseconds. Never local time — you will be correlating across machines.</a:t>
            </a:r>
            <a:endParaRPr b="0" i="0" sz="1100" u="none" cap="none" strike="noStrike">
              <a:solidFill>
                <a:schemeClr val="dk1"/>
              </a:solidFill>
              <a:latin typeface="Calibri"/>
              <a:ea typeface="Calibri"/>
              <a:cs typeface="Calibri"/>
              <a:sym typeface="Calibri"/>
            </a:endParaRPr>
          </a:p>
        </p:txBody>
      </p:sp>
      <p:sp>
        <p:nvSpPr>
          <p:cNvPr id="388" name="Google Shape;388;p12"/>
          <p:cNvSpPr/>
          <p:nvPr/>
        </p:nvSpPr>
        <p:spPr>
          <a:xfrm>
            <a:off x="3364992" y="2450592"/>
            <a:ext cx="2615184" cy="1572768"/>
          </a:xfrm>
          <a:prstGeom prst="roundRect">
            <a:avLst>
              <a:gd fmla="val 5233"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2"/>
          <p:cNvSpPr/>
          <p:nvPr/>
        </p:nvSpPr>
        <p:spPr>
          <a:xfrm>
            <a:off x="3566160" y="2615184"/>
            <a:ext cx="22128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400"/>
              <a:buFont typeface="Calibri"/>
              <a:buNone/>
            </a:pPr>
            <a:r>
              <a:rPr b="1" i="0" lang="en-US" sz="1400" u="none" cap="none" strike="noStrike">
                <a:solidFill>
                  <a:srgbClr val="BE6415"/>
                </a:solidFill>
                <a:latin typeface="Calibri"/>
                <a:ea typeface="Calibri"/>
                <a:cs typeface="Calibri"/>
                <a:sym typeface="Calibri"/>
              </a:rPr>
              <a:t>How bad</a:t>
            </a:r>
            <a:endParaRPr b="0" i="0" sz="1400" u="none" cap="none" strike="noStrike">
              <a:solidFill>
                <a:schemeClr val="dk1"/>
              </a:solidFill>
              <a:latin typeface="Calibri"/>
              <a:ea typeface="Calibri"/>
              <a:cs typeface="Calibri"/>
              <a:sym typeface="Calibri"/>
            </a:endParaRPr>
          </a:p>
        </p:txBody>
      </p:sp>
      <p:sp>
        <p:nvSpPr>
          <p:cNvPr id="390" name="Google Shape;390;p12"/>
          <p:cNvSpPr/>
          <p:nvPr/>
        </p:nvSpPr>
        <p:spPr>
          <a:xfrm>
            <a:off x="3566160" y="2962656"/>
            <a:ext cx="2212848" cy="9144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A level: DEBUG / INFO / WARN / ERROR. This is what lets you filter 99% of the noise away.</a:t>
            </a:r>
            <a:endParaRPr b="0" i="0" sz="1100" u="none" cap="none" strike="noStrike">
              <a:solidFill>
                <a:schemeClr val="dk1"/>
              </a:solidFill>
              <a:latin typeface="Calibri"/>
              <a:ea typeface="Calibri"/>
              <a:cs typeface="Calibri"/>
              <a:sym typeface="Calibri"/>
            </a:endParaRPr>
          </a:p>
        </p:txBody>
      </p:sp>
      <p:sp>
        <p:nvSpPr>
          <p:cNvPr id="391" name="Google Shape;391;p12"/>
          <p:cNvSpPr/>
          <p:nvPr/>
        </p:nvSpPr>
        <p:spPr>
          <a:xfrm>
            <a:off x="6163056" y="2450592"/>
            <a:ext cx="2615184" cy="1572768"/>
          </a:xfrm>
          <a:prstGeom prst="roundRect">
            <a:avLst>
              <a:gd fmla="val 5233"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2"/>
          <p:cNvSpPr/>
          <p:nvPr/>
        </p:nvSpPr>
        <p:spPr>
          <a:xfrm>
            <a:off x="6364224" y="2615184"/>
            <a:ext cx="22128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400"/>
              <a:buFont typeface="Calibri"/>
              <a:buNone/>
            </a:pPr>
            <a:r>
              <a:rPr b="1" i="0" lang="en-US" sz="1400" u="none" cap="none" strike="noStrike">
                <a:solidFill>
                  <a:srgbClr val="BE6415"/>
                </a:solidFill>
                <a:latin typeface="Calibri"/>
                <a:ea typeface="Calibri"/>
                <a:cs typeface="Calibri"/>
                <a:sym typeface="Calibri"/>
              </a:rPr>
              <a:t>Who</a:t>
            </a:r>
            <a:endParaRPr b="0" i="0" sz="1400" u="none" cap="none" strike="noStrike">
              <a:solidFill>
                <a:schemeClr val="dk1"/>
              </a:solidFill>
              <a:latin typeface="Calibri"/>
              <a:ea typeface="Calibri"/>
              <a:cs typeface="Calibri"/>
              <a:sym typeface="Calibri"/>
            </a:endParaRPr>
          </a:p>
        </p:txBody>
      </p:sp>
      <p:sp>
        <p:nvSpPr>
          <p:cNvPr id="393" name="Google Shape;393;p12"/>
          <p:cNvSpPr/>
          <p:nvPr/>
        </p:nvSpPr>
        <p:spPr>
          <a:xfrm>
            <a:off x="6364224" y="2962656"/>
            <a:ext cx="2212848" cy="9144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The service, instance and version. Without this, three containers' output is one soup.</a:t>
            </a:r>
            <a:endParaRPr b="0" i="0" sz="1100" u="none" cap="none" strike="noStrike">
              <a:solidFill>
                <a:schemeClr val="dk1"/>
              </a:solidFill>
              <a:latin typeface="Calibri"/>
              <a:ea typeface="Calibri"/>
              <a:cs typeface="Calibri"/>
              <a:sym typeface="Calibri"/>
            </a:endParaRPr>
          </a:p>
        </p:txBody>
      </p:sp>
      <p:sp>
        <p:nvSpPr>
          <p:cNvPr id="394" name="Google Shape;394;p12"/>
          <p:cNvSpPr/>
          <p:nvPr/>
        </p:nvSpPr>
        <p:spPr>
          <a:xfrm>
            <a:off x="8961120" y="2450592"/>
            <a:ext cx="2615184" cy="1572768"/>
          </a:xfrm>
          <a:prstGeom prst="roundRect">
            <a:avLst>
              <a:gd fmla="val 5233"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2"/>
          <p:cNvSpPr/>
          <p:nvPr/>
        </p:nvSpPr>
        <p:spPr>
          <a:xfrm>
            <a:off x="9162288" y="2615184"/>
            <a:ext cx="221284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400"/>
              <a:buFont typeface="Calibri"/>
              <a:buNone/>
            </a:pPr>
            <a:r>
              <a:rPr b="1" i="0" lang="en-US" sz="1400" u="none" cap="none" strike="noStrike">
                <a:solidFill>
                  <a:srgbClr val="BE6415"/>
                </a:solidFill>
                <a:latin typeface="Calibri"/>
                <a:ea typeface="Calibri"/>
                <a:cs typeface="Calibri"/>
                <a:sym typeface="Calibri"/>
              </a:rPr>
              <a:t>What</a:t>
            </a:r>
            <a:endParaRPr b="0" i="0" sz="1400" u="none" cap="none" strike="noStrike">
              <a:solidFill>
                <a:schemeClr val="dk1"/>
              </a:solidFill>
              <a:latin typeface="Calibri"/>
              <a:ea typeface="Calibri"/>
              <a:cs typeface="Calibri"/>
              <a:sym typeface="Calibri"/>
            </a:endParaRPr>
          </a:p>
        </p:txBody>
      </p:sp>
      <p:sp>
        <p:nvSpPr>
          <p:cNvPr id="396" name="Google Shape;396;p12"/>
          <p:cNvSpPr/>
          <p:nvPr/>
        </p:nvSpPr>
        <p:spPr>
          <a:xfrm>
            <a:off x="9162288" y="2962656"/>
            <a:ext cx="2212848" cy="9144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The event, plus every identifier you will want to search by later.</a:t>
            </a:r>
            <a:endParaRPr b="0" i="0" sz="1100" u="none" cap="none" strike="noStrike">
              <a:solidFill>
                <a:schemeClr val="dk1"/>
              </a:solidFill>
              <a:latin typeface="Calibri"/>
              <a:ea typeface="Calibri"/>
              <a:cs typeface="Calibri"/>
              <a:sym typeface="Calibri"/>
            </a:endParaRPr>
          </a:p>
        </p:txBody>
      </p:sp>
      <p:sp>
        <p:nvSpPr>
          <p:cNvPr id="397" name="Google Shape;397;p12"/>
          <p:cNvSpPr/>
          <p:nvPr/>
        </p:nvSpPr>
        <p:spPr>
          <a:xfrm>
            <a:off x="566928" y="4261104"/>
            <a:ext cx="5349240" cy="1517904"/>
          </a:xfrm>
          <a:prstGeom prst="roundRect">
            <a:avLst>
              <a:gd fmla="val 5422"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2"/>
          <p:cNvSpPr/>
          <p:nvPr/>
        </p:nvSpPr>
        <p:spPr>
          <a:xfrm>
            <a:off x="786384" y="4443984"/>
            <a:ext cx="292608" cy="292608"/>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2"/>
          <p:cNvSpPr/>
          <p:nvPr/>
        </p:nvSpPr>
        <p:spPr>
          <a:xfrm>
            <a:off x="786384" y="444398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400" name="Google Shape;400;p12"/>
          <p:cNvSpPr/>
          <p:nvPr/>
        </p:nvSpPr>
        <p:spPr>
          <a:xfrm>
            <a:off x="1188720" y="4443984"/>
            <a:ext cx="4325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A log line is for a human, eventually</a:t>
            </a:r>
            <a:endParaRPr b="0" i="0" sz="1300" u="none" cap="none" strike="noStrike">
              <a:solidFill>
                <a:schemeClr val="dk1"/>
              </a:solidFill>
              <a:latin typeface="Calibri"/>
              <a:ea typeface="Calibri"/>
              <a:cs typeface="Calibri"/>
              <a:sym typeface="Calibri"/>
            </a:endParaRPr>
          </a:p>
        </p:txBody>
      </p:sp>
      <p:sp>
        <p:nvSpPr>
          <p:cNvPr id="401" name="Google Shape;401;p12"/>
          <p:cNvSpPr/>
          <p:nvPr/>
        </p:nvSpPr>
        <p:spPr>
          <a:xfrm>
            <a:off x="786384" y="4846320"/>
            <a:ext cx="4910328" cy="76809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Someone will read it at 2am with no context. Write it so the sentence stands alone: what failed, what the values were, and what the code was trying to do.</a:t>
            </a:r>
            <a:endParaRPr b="0" i="0" sz="1150" u="none" cap="none" strike="noStrike">
              <a:solidFill>
                <a:schemeClr val="dk1"/>
              </a:solidFill>
              <a:latin typeface="Calibri"/>
              <a:ea typeface="Calibri"/>
              <a:cs typeface="Calibri"/>
              <a:sym typeface="Calibri"/>
            </a:endParaRPr>
          </a:p>
        </p:txBody>
      </p:sp>
      <p:sp>
        <p:nvSpPr>
          <p:cNvPr id="402" name="Google Shape;402;p12"/>
          <p:cNvSpPr/>
          <p:nvPr/>
        </p:nvSpPr>
        <p:spPr>
          <a:xfrm>
            <a:off x="6281928" y="4261104"/>
            <a:ext cx="5349240" cy="1517904"/>
          </a:xfrm>
          <a:prstGeom prst="roundRect">
            <a:avLst>
              <a:gd fmla="val 5422"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2"/>
          <p:cNvSpPr/>
          <p:nvPr/>
        </p:nvSpPr>
        <p:spPr>
          <a:xfrm>
            <a:off x="6501384" y="4443984"/>
            <a:ext cx="292608" cy="292608"/>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2"/>
          <p:cNvSpPr/>
          <p:nvPr/>
        </p:nvSpPr>
        <p:spPr>
          <a:xfrm>
            <a:off x="6501384" y="444398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405" name="Google Shape;405;p12"/>
          <p:cNvSpPr/>
          <p:nvPr/>
        </p:nvSpPr>
        <p:spPr>
          <a:xfrm>
            <a:off x="6903720" y="4443984"/>
            <a:ext cx="4325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Which is why “error” is not a log line</a:t>
            </a:r>
            <a:endParaRPr b="0" i="0" sz="1300" u="none" cap="none" strike="noStrike">
              <a:solidFill>
                <a:schemeClr val="dk1"/>
              </a:solidFill>
              <a:latin typeface="Calibri"/>
              <a:ea typeface="Calibri"/>
              <a:cs typeface="Calibri"/>
              <a:sym typeface="Calibri"/>
            </a:endParaRPr>
          </a:p>
        </p:txBody>
      </p:sp>
      <p:sp>
        <p:nvSpPr>
          <p:cNvPr id="406" name="Google Shape;406;p12"/>
          <p:cNvSpPr/>
          <p:nvPr/>
        </p:nvSpPr>
        <p:spPr>
          <a:xfrm>
            <a:off x="6501384" y="4846320"/>
            <a:ext cx="4910328" cy="76809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“Something went wrong”, “here”, “done” and a bare stack trace with no identifiers are all real lines from real production codebases. They cost storage and return nothing.</a:t>
            </a:r>
            <a:endParaRPr b="0" i="0" sz="1150" u="none" cap="none" strike="noStrike">
              <a:solidFill>
                <a:schemeClr val="dk1"/>
              </a:solidFill>
              <a:latin typeface="Calibri"/>
              <a:ea typeface="Calibri"/>
              <a:cs typeface="Calibri"/>
              <a:sym typeface="Calibri"/>
            </a:endParaRPr>
          </a:p>
        </p:txBody>
      </p:sp>
      <p:sp>
        <p:nvSpPr>
          <p:cNvPr id="407" name="Google Shape;407;p12"/>
          <p:cNvSpPr/>
          <p:nvPr/>
        </p:nvSpPr>
        <p:spPr>
          <a:xfrm>
            <a:off x="566928" y="5925312"/>
            <a:ext cx="11057839" cy="475488"/>
          </a:xfrm>
          <a:prstGeom prst="roundRect">
            <a:avLst>
              <a:gd fmla="val 17308"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2"/>
          <p:cNvSpPr/>
          <p:nvPr/>
        </p:nvSpPr>
        <p:spPr>
          <a:xfrm>
            <a:off x="768096" y="6025896"/>
            <a:ext cx="274320" cy="27432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2"/>
          <p:cNvSpPr/>
          <p:nvPr/>
        </p:nvSpPr>
        <p:spPr>
          <a:xfrm>
            <a:off x="768096" y="602589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410" name="Google Shape;410;p12"/>
          <p:cNvSpPr/>
          <p:nvPr/>
        </p:nvSpPr>
        <p:spPr>
          <a:xfrm>
            <a:off x="1170432" y="5925312"/>
            <a:ext cx="10234879" cy="47548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Test for a good log line: could a colleague who has never seen this code act on it, without opening the source?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p13"/>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THE FIRST REAL DECISION</a:t>
            </a:r>
            <a:endParaRPr b="0" i="0" sz="1050" u="none" cap="none" strike="noStrike">
              <a:solidFill>
                <a:schemeClr val="dk1"/>
              </a:solidFill>
              <a:latin typeface="Calibri"/>
              <a:ea typeface="Calibri"/>
              <a:cs typeface="Calibri"/>
              <a:sym typeface="Calibri"/>
            </a:endParaRPr>
          </a:p>
        </p:txBody>
      </p:sp>
      <p:sp>
        <p:nvSpPr>
          <p:cNvPr id="417" name="Google Shape;417;p13"/>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700"/>
              <a:buFont typeface="Cambria"/>
              <a:buNone/>
            </a:pPr>
            <a:r>
              <a:rPr b="1" i="0" lang="en-US" sz="2700" u="none" cap="none" strike="noStrike">
                <a:solidFill>
                  <a:srgbClr val="16202C"/>
                </a:solidFill>
                <a:latin typeface="Cambria"/>
                <a:ea typeface="Cambria"/>
                <a:cs typeface="Cambria"/>
                <a:sym typeface="Cambria"/>
              </a:rPr>
              <a:t>Structured logs, or you are writing regexes forever</a:t>
            </a:r>
            <a:endParaRPr b="0" i="0" sz="2700" u="none" cap="none" strike="noStrike">
              <a:solidFill>
                <a:schemeClr val="dk1"/>
              </a:solidFill>
              <a:latin typeface="Calibri"/>
              <a:ea typeface="Calibri"/>
              <a:cs typeface="Calibri"/>
              <a:sym typeface="Calibri"/>
            </a:endParaRPr>
          </a:p>
        </p:txBody>
      </p:sp>
      <p:sp>
        <p:nvSpPr>
          <p:cNvPr id="418" name="Google Shape;418;p13"/>
          <p:cNvSpPr/>
          <p:nvPr/>
        </p:nvSpPr>
        <p:spPr>
          <a:xfrm>
            <a:off x="10754258" y="402336"/>
            <a:ext cx="870509" cy="329184"/>
          </a:xfrm>
          <a:prstGeom prst="roundRect">
            <a:avLst>
              <a:gd fmla="val 50000" name="adj"/>
            </a:avLst>
          </a:prstGeom>
          <a:solidFill>
            <a:srgbClr val="FAEFE2"/>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3"/>
          <p:cNvSpPr/>
          <p:nvPr/>
        </p:nvSpPr>
        <p:spPr>
          <a:xfrm>
            <a:off x="10927994" y="525780"/>
            <a:ext cx="91440" cy="9144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3"/>
          <p:cNvSpPr/>
          <p:nvPr/>
        </p:nvSpPr>
        <p:spPr>
          <a:xfrm>
            <a:off x="11065154" y="402336"/>
            <a:ext cx="46817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00"/>
              <a:buFont typeface="Calibri"/>
              <a:buNone/>
            </a:pPr>
            <a:r>
              <a:rPr b="1" i="0" lang="en-US" sz="1000" u="none" cap="none" strike="noStrike">
                <a:solidFill>
                  <a:srgbClr val="BE6415"/>
                </a:solidFill>
                <a:latin typeface="Calibri"/>
                <a:ea typeface="Calibri"/>
                <a:cs typeface="Calibri"/>
                <a:sym typeface="Calibri"/>
              </a:rPr>
              <a:t>Logs</a:t>
            </a:r>
            <a:endParaRPr b="0" i="0" sz="1000" u="none" cap="none" strike="noStrike">
              <a:solidFill>
                <a:schemeClr val="dk1"/>
              </a:solidFill>
              <a:latin typeface="Calibri"/>
              <a:ea typeface="Calibri"/>
              <a:cs typeface="Calibri"/>
              <a:sym typeface="Calibri"/>
            </a:endParaRPr>
          </a:p>
        </p:txBody>
      </p:sp>
      <p:sp>
        <p:nvSpPr>
          <p:cNvPr id="421" name="Google Shape;421;p13"/>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422" name="Google Shape;422;p13"/>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
        <p:nvSpPr>
          <p:cNvPr id="423" name="Google Shape;423;p13"/>
          <p:cNvSpPr/>
          <p:nvPr/>
        </p:nvSpPr>
        <p:spPr>
          <a:xfrm>
            <a:off x="566928" y="1371600"/>
            <a:ext cx="5349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1000"/>
              <a:buFont typeface="Calibri"/>
              <a:buNone/>
            </a:pPr>
            <a:r>
              <a:rPr b="1" i="0" lang="en-US" sz="1000" u="none" cap="none" strike="noStrike">
                <a:solidFill>
                  <a:srgbClr val="AC2740"/>
                </a:solidFill>
                <a:latin typeface="Calibri"/>
                <a:ea typeface="Calibri"/>
                <a:cs typeface="Calibri"/>
                <a:sym typeface="Calibri"/>
              </a:rPr>
              <a:t>UNSTRUCTURED — written for a human, parsed by nobody</a:t>
            </a:r>
            <a:endParaRPr b="0" i="0" sz="1000" u="none" cap="none" strike="noStrike">
              <a:solidFill>
                <a:schemeClr val="dk1"/>
              </a:solidFill>
              <a:latin typeface="Calibri"/>
              <a:ea typeface="Calibri"/>
              <a:cs typeface="Calibri"/>
              <a:sym typeface="Calibri"/>
            </a:endParaRPr>
          </a:p>
        </p:txBody>
      </p:sp>
      <p:sp>
        <p:nvSpPr>
          <p:cNvPr id="424" name="Google Shape;424;p13"/>
          <p:cNvSpPr/>
          <p:nvPr/>
        </p:nvSpPr>
        <p:spPr>
          <a:xfrm>
            <a:off x="566928" y="1682496"/>
            <a:ext cx="5349240" cy="1371600"/>
          </a:xfrm>
          <a:prstGeom prst="roundRect">
            <a:avLst>
              <a:gd fmla="val 6000"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3"/>
          <p:cNvSpPr/>
          <p:nvPr/>
        </p:nvSpPr>
        <p:spPr>
          <a:xfrm>
            <a:off x="731520" y="1810512"/>
            <a:ext cx="5020056" cy="1115568"/>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9FB3C4"/>
              </a:buClr>
              <a:buSzPts val="950"/>
              <a:buFont typeface="Courier New"/>
              <a:buNone/>
            </a:pPr>
            <a:r>
              <a:rPr b="0" i="0" lang="en-US" sz="950" u="none" cap="none" strike="noStrike">
                <a:solidFill>
                  <a:srgbClr val="9FB3C4"/>
                </a:solidFill>
                <a:latin typeface="Courier New"/>
                <a:ea typeface="Courier New"/>
                <a:cs typeface="Courier New"/>
                <a:sym typeface="Courier New"/>
              </a:rPr>
              <a:t>console.log(`order ${id} failed for ${user}` +</a:t>
            </a:r>
            <a:endParaRPr b="0" i="0" sz="95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9FB3C4"/>
              </a:buClr>
              <a:buSzPts val="950"/>
              <a:buFont typeface="Courier New"/>
              <a:buNone/>
            </a:pPr>
            <a:r>
              <a:rPr b="0" i="0" lang="en-US" sz="950" u="none" cap="none" strike="noStrike">
                <a:solidFill>
                  <a:srgbClr val="9FB3C4"/>
                </a:solidFill>
                <a:latin typeface="Courier New"/>
                <a:ea typeface="Courier New"/>
                <a:cs typeface="Courier New"/>
                <a:sym typeface="Courier New"/>
              </a:rPr>
              <a:t>            ` after ${ms}ms`);</a:t>
            </a:r>
            <a:endParaRPr b="0" i="0" sz="95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D6DEE7"/>
              </a:buClr>
              <a:buSzPts val="950"/>
              <a:buFont typeface="Courier New"/>
              <a:buNone/>
            </a:pPr>
            <a:r>
              <a:rPr b="0" i="0" lang="en-US" sz="950" u="none" cap="none" strike="noStrike">
                <a:solidFill>
                  <a:srgbClr val="D6DEE7"/>
                </a:solidFill>
                <a:latin typeface="Courier New"/>
                <a:ea typeface="Courier New"/>
                <a:cs typeface="Courier New"/>
                <a:sym typeface="Courier New"/>
              </a:rPr>
              <a:t>order 8821 failed for u_301 after 2043ms</a:t>
            </a:r>
            <a:endParaRPr b="0" i="0" sz="950" u="none" cap="none" strike="noStrike">
              <a:solidFill>
                <a:schemeClr val="dk1"/>
              </a:solidFill>
              <a:latin typeface="Calibri"/>
              <a:ea typeface="Calibri"/>
              <a:cs typeface="Calibri"/>
              <a:sym typeface="Calibri"/>
            </a:endParaRPr>
          </a:p>
        </p:txBody>
      </p:sp>
      <p:sp>
        <p:nvSpPr>
          <p:cNvPr id="426" name="Google Shape;426;p13"/>
          <p:cNvSpPr/>
          <p:nvPr/>
        </p:nvSpPr>
        <p:spPr>
          <a:xfrm>
            <a:off x="566928" y="3182112"/>
            <a:ext cx="5349240" cy="1243584"/>
          </a:xfrm>
          <a:prstGeom prst="roundRect">
            <a:avLst>
              <a:gd fmla="val 6618"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3"/>
          <p:cNvSpPr/>
          <p:nvPr/>
        </p:nvSpPr>
        <p:spPr>
          <a:xfrm>
            <a:off x="786384" y="3310128"/>
            <a:ext cx="4937760" cy="100584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To count failures per user you must write a regex</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4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Someone reorders the sentence → every regex breaks</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4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Multi-line stack traces arrive as 30 separate events</a:t>
            </a:r>
            <a:endParaRPr b="0" i="0" sz="1150" u="none" cap="none" strike="noStrike">
              <a:solidFill>
                <a:schemeClr val="dk1"/>
              </a:solidFill>
              <a:latin typeface="Calibri"/>
              <a:ea typeface="Calibri"/>
              <a:cs typeface="Calibri"/>
              <a:sym typeface="Calibri"/>
            </a:endParaRPr>
          </a:p>
        </p:txBody>
      </p:sp>
      <p:sp>
        <p:nvSpPr>
          <p:cNvPr id="428" name="Google Shape;428;p13"/>
          <p:cNvSpPr/>
          <p:nvPr/>
        </p:nvSpPr>
        <p:spPr>
          <a:xfrm>
            <a:off x="6281928" y="1371600"/>
            <a:ext cx="5349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1000"/>
              <a:buFont typeface="Calibri"/>
              <a:buNone/>
            </a:pPr>
            <a:r>
              <a:rPr b="1" i="0" lang="en-US" sz="1000" u="none" cap="none" strike="noStrike">
                <a:solidFill>
                  <a:srgbClr val="1B7048"/>
                </a:solidFill>
                <a:latin typeface="Calibri"/>
                <a:ea typeface="Calibri"/>
                <a:cs typeface="Calibri"/>
                <a:sym typeface="Calibri"/>
              </a:rPr>
              <a:t>STRUCTURED — written for a machine, rendered for a human</a:t>
            </a:r>
            <a:endParaRPr b="0" i="0" sz="1000" u="none" cap="none" strike="noStrike">
              <a:solidFill>
                <a:schemeClr val="dk1"/>
              </a:solidFill>
              <a:latin typeface="Calibri"/>
              <a:ea typeface="Calibri"/>
              <a:cs typeface="Calibri"/>
              <a:sym typeface="Calibri"/>
            </a:endParaRPr>
          </a:p>
        </p:txBody>
      </p:sp>
      <p:sp>
        <p:nvSpPr>
          <p:cNvPr id="429" name="Google Shape;429;p13"/>
          <p:cNvSpPr/>
          <p:nvPr/>
        </p:nvSpPr>
        <p:spPr>
          <a:xfrm>
            <a:off x="6281928" y="1682496"/>
            <a:ext cx="5349240" cy="1371600"/>
          </a:xfrm>
          <a:prstGeom prst="roundRect">
            <a:avLst>
              <a:gd fmla="val 6000"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3"/>
          <p:cNvSpPr/>
          <p:nvPr/>
        </p:nvSpPr>
        <p:spPr>
          <a:xfrm>
            <a:off x="6446520" y="1810512"/>
            <a:ext cx="5020056" cy="1115568"/>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9FB3C4"/>
              </a:buClr>
              <a:buSzPts val="950"/>
              <a:buFont typeface="Courier New"/>
              <a:buNone/>
            </a:pPr>
            <a:r>
              <a:rPr b="0" i="0" lang="en-US" sz="950" u="none" cap="none" strike="noStrike">
                <a:solidFill>
                  <a:srgbClr val="9FB3C4"/>
                </a:solidFill>
                <a:latin typeface="Courier New"/>
                <a:ea typeface="Courier New"/>
                <a:cs typeface="Courier New"/>
                <a:sym typeface="Courier New"/>
              </a:rPr>
              <a:t>log.error({ order_id: id, user, duration_ms: ms },</a:t>
            </a:r>
            <a:endParaRPr b="0" i="0" sz="95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9FB3C4"/>
              </a:buClr>
              <a:buSzPts val="950"/>
              <a:buFont typeface="Courier New"/>
              <a:buNone/>
            </a:pPr>
            <a:r>
              <a:rPr b="0" i="0" lang="en-US" sz="950" u="none" cap="none" strike="noStrike">
                <a:solidFill>
                  <a:srgbClr val="9FB3C4"/>
                </a:solidFill>
                <a:latin typeface="Courier New"/>
                <a:ea typeface="Courier New"/>
                <a:cs typeface="Courier New"/>
                <a:sym typeface="Courier New"/>
              </a:rPr>
              <a:t>          'order failed');</a:t>
            </a:r>
            <a:endParaRPr b="0" i="0" sz="95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8FD3B4"/>
              </a:buClr>
              <a:buSzPts val="950"/>
              <a:buFont typeface="Courier New"/>
              <a:buNone/>
            </a:pPr>
            <a:r>
              <a:rPr b="0" i="0" lang="en-US" sz="950" u="none" cap="none" strike="noStrike">
                <a:solidFill>
                  <a:srgbClr val="8FD3B4"/>
                </a:solidFill>
                <a:latin typeface="Courier New"/>
                <a:ea typeface="Courier New"/>
                <a:cs typeface="Courier New"/>
                <a:sym typeface="Courier New"/>
              </a:rPr>
              <a:t>{"level":"error","order_id":8821,"user":"u_301",</a:t>
            </a:r>
            <a:endParaRPr b="0" i="0" sz="95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8FD3B4"/>
              </a:buClr>
              <a:buSzPts val="950"/>
              <a:buFont typeface="Courier New"/>
              <a:buNone/>
            </a:pPr>
            <a:r>
              <a:rPr b="0" i="0" lang="en-US" sz="950" u="none" cap="none" strike="noStrike">
                <a:solidFill>
                  <a:srgbClr val="8FD3B4"/>
                </a:solidFill>
                <a:latin typeface="Courier New"/>
                <a:ea typeface="Courier New"/>
                <a:cs typeface="Courier New"/>
                <a:sym typeface="Courier New"/>
              </a:rPr>
              <a:t> "duration_ms":2043,"msg":"order failed"}</a:t>
            </a:r>
            <a:endParaRPr b="0" i="0" sz="950" u="none" cap="none" strike="noStrike">
              <a:solidFill>
                <a:schemeClr val="dk1"/>
              </a:solidFill>
              <a:latin typeface="Calibri"/>
              <a:ea typeface="Calibri"/>
              <a:cs typeface="Calibri"/>
              <a:sym typeface="Calibri"/>
            </a:endParaRPr>
          </a:p>
        </p:txBody>
      </p:sp>
      <p:sp>
        <p:nvSpPr>
          <p:cNvPr id="431" name="Google Shape;431;p13"/>
          <p:cNvSpPr/>
          <p:nvPr/>
        </p:nvSpPr>
        <p:spPr>
          <a:xfrm>
            <a:off x="6281928" y="3182112"/>
            <a:ext cx="5349240" cy="1243584"/>
          </a:xfrm>
          <a:prstGeom prst="roundRect">
            <a:avLst>
              <a:gd fmla="val 6618"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3"/>
          <p:cNvSpPr/>
          <p:nvPr/>
        </p:nvSpPr>
        <p:spPr>
          <a:xfrm>
            <a:off x="6501384" y="3310128"/>
            <a:ext cx="4937760" cy="100584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Filter, group and count by field, with no parsing</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4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Add a field tomorrow — nothing that exists breaks</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4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One event is one JSON object, however many lines it prints</a:t>
            </a:r>
            <a:endParaRPr b="0" i="0" sz="1150" u="none" cap="none" strike="noStrike">
              <a:solidFill>
                <a:schemeClr val="dk1"/>
              </a:solidFill>
              <a:latin typeface="Calibri"/>
              <a:ea typeface="Calibri"/>
              <a:cs typeface="Calibri"/>
              <a:sym typeface="Calibri"/>
            </a:endParaRPr>
          </a:p>
        </p:txBody>
      </p:sp>
      <p:sp>
        <p:nvSpPr>
          <p:cNvPr id="433" name="Google Shape;433;p13"/>
          <p:cNvSpPr/>
          <p:nvPr/>
        </p:nvSpPr>
        <p:spPr>
          <a:xfrm>
            <a:off x="566928" y="4590288"/>
            <a:ext cx="11057839" cy="1170432"/>
          </a:xfrm>
          <a:prstGeom prst="roundRect">
            <a:avLst>
              <a:gd fmla="val 7031"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3"/>
          <p:cNvSpPr/>
          <p:nvPr/>
        </p:nvSpPr>
        <p:spPr>
          <a:xfrm>
            <a:off x="786384" y="4773168"/>
            <a:ext cx="292608" cy="29260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3"/>
          <p:cNvSpPr/>
          <p:nvPr/>
        </p:nvSpPr>
        <p:spPr>
          <a:xfrm>
            <a:off x="786384" y="477316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436" name="Google Shape;436;p13"/>
          <p:cNvSpPr/>
          <p:nvPr/>
        </p:nvSpPr>
        <p:spPr>
          <a:xfrm>
            <a:off x="1188720" y="4773168"/>
            <a:ext cx="10033711"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The rule: log to stdout, as JSON, and let something else move it</a:t>
            </a:r>
            <a:endParaRPr b="0" i="0" sz="1300" u="none" cap="none" strike="noStrike">
              <a:solidFill>
                <a:schemeClr val="dk1"/>
              </a:solidFill>
              <a:latin typeface="Calibri"/>
              <a:ea typeface="Calibri"/>
              <a:cs typeface="Calibri"/>
              <a:sym typeface="Calibri"/>
            </a:endParaRPr>
          </a:p>
        </p:txBody>
      </p:sp>
      <p:sp>
        <p:nvSpPr>
          <p:cNvPr id="437" name="Google Shape;437;p13"/>
          <p:cNvSpPr/>
          <p:nvPr/>
        </p:nvSpPr>
        <p:spPr>
          <a:xfrm>
            <a:off x="786384" y="5175504"/>
            <a:ext cx="10618927" cy="42062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200"/>
              <a:buFont typeface="Calibri"/>
              <a:buNone/>
            </a:pPr>
            <a:r>
              <a:rPr b="0" i="0" lang="en-US" sz="1200" u="none" cap="none" strike="noStrike">
                <a:solidFill>
                  <a:srgbClr val="16202C"/>
                </a:solidFill>
                <a:latin typeface="Calibri"/>
                <a:ea typeface="Calibri"/>
                <a:cs typeface="Calibri"/>
                <a:sym typeface="Calibri"/>
              </a:rPr>
              <a:t>Your application should not know where its logs end up. No file paths, no rotation, no shipping code, no vendor SDK in the logger. Write JSON to stdout; the platform captures it. This is the twelve-factor rule and it is the reason you can change log vendors in an afternoon.</a:t>
            </a:r>
            <a:endParaRPr b="0" i="0" sz="1200" u="none" cap="none" strike="noStrike">
              <a:solidFill>
                <a:schemeClr val="dk1"/>
              </a:solidFill>
              <a:latin typeface="Calibri"/>
              <a:ea typeface="Calibri"/>
              <a:cs typeface="Calibri"/>
              <a:sym typeface="Calibri"/>
            </a:endParaRPr>
          </a:p>
        </p:txBody>
      </p:sp>
      <p:sp>
        <p:nvSpPr>
          <p:cNvPr id="438" name="Google Shape;438;p13"/>
          <p:cNvSpPr/>
          <p:nvPr/>
        </p:nvSpPr>
        <p:spPr>
          <a:xfrm>
            <a:off x="566928" y="5907024"/>
            <a:ext cx="11057839" cy="475488"/>
          </a:xfrm>
          <a:prstGeom prst="roundRect">
            <a:avLst>
              <a:gd fmla="val 17308"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3"/>
          <p:cNvSpPr/>
          <p:nvPr/>
        </p:nvSpPr>
        <p:spPr>
          <a:xfrm>
            <a:off x="768096" y="6007608"/>
            <a:ext cx="274320" cy="27432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3"/>
          <p:cNvSpPr/>
          <p:nvPr/>
        </p:nvSpPr>
        <p:spPr>
          <a:xfrm>
            <a:off x="768096" y="600760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441" name="Google Shape;441;p13"/>
          <p:cNvSpPr/>
          <p:nvPr/>
        </p:nvSpPr>
        <p:spPr>
          <a:xfrm>
            <a:off x="1170432" y="5907024"/>
            <a:ext cx="10234879" cy="47548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Cost of the mistake: unstructured logs are not “slightly worse”. They are unqueryable at volume, and re-logging means re-deploying every service.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sp>
        <p:nvSpPr>
          <p:cNvPr id="447" name="Google Shape;447;p14"/>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DISCIPLINE</a:t>
            </a:r>
            <a:endParaRPr b="0" i="0" sz="1050" u="none" cap="none" strike="noStrike">
              <a:solidFill>
                <a:schemeClr val="dk1"/>
              </a:solidFill>
              <a:latin typeface="Calibri"/>
              <a:ea typeface="Calibri"/>
              <a:cs typeface="Calibri"/>
              <a:sym typeface="Calibri"/>
            </a:endParaRPr>
          </a:p>
        </p:txBody>
      </p:sp>
      <p:sp>
        <p:nvSpPr>
          <p:cNvPr id="448" name="Google Shape;448;p14"/>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Levels are a budget. Fields are a liability.</a:t>
            </a:r>
            <a:endParaRPr b="0" i="0" sz="2900" u="none" cap="none" strike="noStrike">
              <a:solidFill>
                <a:schemeClr val="dk1"/>
              </a:solidFill>
              <a:latin typeface="Calibri"/>
              <a:ea typeface="Calibri"/>
              <a:cs typeface="Calibri"/>
              <a:sym typeface="Calibri"/>
            </a:endParaRPr>
          </a:p>
        </p:txBody>
      </p:sp>
      <p:sp>
        <p:nvSpPr>
          <p:cNvPr id="449" name="Google Shape;449;p14"/>
          <p:cNvSpPr/>
          <p:nvPr/>
        </p:nvSpPr>
        <p:spPr>
          <a:xfrm>
            <a:off x="10754258" y="402336"/>
            <a:ext cx="870509" cy="329184"/>
          </a:xfrm>
          <a:prstGeom prst="roundRect">
            <a:avLst>
              <a:gd fmla="val 50000" name="adj"/>
            </a:avLst>
          </a:prstGeom>
          <a:solidFill>
            <a:srgbClr val="FAEFE2"/>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4"/>
          <p:cNvSpPr/>
          <p:nvPr/>
        </p:nvSpPr>
        <p:spPr>
          <a:xfrm>
            <a:off x="10927994" y="525780"/>
            <a:ext cx="91440" cy="9144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4"/>
          <p:cNvSpPr/>
          <p:nvPr/>
        </p:nvSpPr>
        <p:spPr>
          <a:xfrm>
            <a:off x="11065154" y="402336"/>
            <a:ext cx="46817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00"/>
              <a:buFont typeface="Calibri"/>
              <a:buNone/>
            </a:pPr>
            <a:r>
              <a:rPr b="1" i="0" lang="en-US" sz="1000" u="none" cap="none" strike="noStrike">
                <a:solidFill>
                  <a:srgbClr val="BE6415"/>
                </a:solidFill>
                <a:latin typeface="Calibri"/>
                <a:ea typeface="Calibri"/>
                <a:cs typeface="Calibri"/>
                <a:sym typeface="Calibri"/>
              </a:rPr>
              <a:t>Logs</a:t>
            </a:r>
            <a:endParaRPr b="0" i="0" sz="1000" u="none" cap="none" strike="noStrike">
              <a:solidFill>
                <a:schemeClr val="dk1"/>
              </a:solidFill>
              <a:latin typeface="Calibri"/>
              <a:ea typeface="Calibri"/>
              <a:cs typeface="Calibri"/>
              <a:sym typeface="Calibri"/>
            </a:endParaRPr>
          </a:p>
        </p:txBody>
      </p:sp>
      <p:sp>
        <p:nvSpPr>
          <p:cNvPr id="452" name="Google Shape;452;p14"/>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453" name="Google Shape;453;p14"/>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
        <p:nvSpPr>
          <p:cNvPr id="454" name="Google Shape;454;p14"/>
          <p:cNvSpPr/>
          <p:nvPr/>
        </p:nvSpPr>
        <p:spPr>
          <a:xfrm>
            <a:off x="566928" y="1371600"/>
            <a:ext cx="5349240" cy="3200400"/>
          </a:xfrm>
          <a:prstGeom prst="roundRect">
            <a:avLst>
              <a:gd fmla="val 2571"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4"/>
          <p:cNvSpPr/>
          <p:nvPr/>
        </p:nvSpPr>
        <p:spPr>
          <a:xfrm>
            <a:off x="804672" y="1517904"/>
            <a:ext cx="4846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950"/>
              <a:buFont typeface="Calibri"/>
              <a:buNone/>
            </a:pPr>
            <a:r>
              <a:rPr b="1" i="0" lang="en-US" sz="950" u="none" cap="none" strike="noStrike">
                <a:solidFill>
                  <a:srgbClr val="BE6415"/>
                </a:solidFill>
                <a:latin typeface="Calibri"/>
                <a:ea typeface="Calibri"/>
                <a:cs typeface="Calibri"/>
                <a:sym typeface="Calibri"/>
              </a:rPr>
              <a:t>USE THE LEVELS AS THEY WERE MEANT</a:t>
            </a:r>
            <a:endParaRPr b="0" i="0" sz="950" u="none" cap="none" strike="noStrike">
              <a:solidFill>
                <a:schemeClr val="dk1"/>
              </a:solidFill>
              <a:latin typeface="Calibri"/>
              <a:ea typeface="Calibri"/>
              <a:cs typeface="Calibri"/>
              <a:sym typeface="Calibri"/>
            </a:endParaRPr>
          </a:p>
        </p:txBody>
      </p:sp>
      <p:sp>
        <p:nvSpPr>
          <p:cNvPr id="456" name="Google Shape;456;p14"/>
          <p:cNvSpPr/>
          <p:nvPr/>
        </p:nvSpPr>
        <p:spPr>
          <a:xfrm>
            <a:off x="804672" y="1847088"/>
            <a:ext cx="841248" cy="310896"/>
          </a:xfrm>
          <a:prstGeom prst="roundRect">
            <a:avLst>
              <a:gd fmla="val 17647" name="adj"/>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4"/>
          <p:cNvSpPr/>
          <p:nvPr/>
        </p:nvSpPr>
        <p:spPr>
          <a:xfrm>
            <a:off x="804672" y="1847088"/>
            <a:ext cx="84124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ERROR</a:t>
            </a:r>
            <a:endParaRPr b="0" i="0" sz="950" u="none" cap="none" strike="noStrike">
              <a:solidFill>
                <a:schemeClr val="dk1"/>
              </a:solidFill>
              <a:latin typeface="Calibri"/>
              <a:ea typeface="Calibri"/>
              <a:cs typeface="Calibri"/>
              <a:sym typeface="Calibri"/>
            </a:endParaRPr>
          </a:p>
        </p:txBody>
      </p:sp>
      <p:sp>
        <p:nvSpPr>
          <p:cNvPr id="458" name="Google Shape;458;p14"/>
          <p:cNvSpPr/>
          <p:nvPr/>
        </p:nvSpPr>
        <p:spPr>
          <a:xfrm>
            <a:off x="1773936" y="1828800"/>
            <a:ext cx="3913632"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A human must eventually act. Page-worthy or ticket-worthy.</a:t>
            </a:r>
            <a:endParaRPr b="0" i="0" sz="1150" u="none" cap="none" strike="noStrike">
              <a:solidFill>
                <a:schemeClr val="dk1"/>
              </a:solidFill>
              <a:latin typeface="Calibri"/>
              <a:ea typeface="Calibri"/>
              <a:cs typeface="Calibri"/>
              <a:sym typeface="Calibri"/>
            </a:endParaRPr>
          </a:p>
        </p:txBody>
      </p:sp>
      <p:sp>
        <p:nvSpPr>
          <p:cNvPr id="459" name="Google Shape;459;p14"/>
          <p:cNvSpPr/>
          <p:nvPr/>
        </p:nvSpPr>
        <p:spPr>
          <a:xfrm>
            <a:off x="804672" y="2505456"/>
            <a:ext cx="841248" cy="310896"/>
          </a:xfrm>
          <a:prstGeom prst="roundRect">
            <a:avLst>
              <a:gd fmla="val 17647" name="adj"/>
            </a:avLst>
          </a:prstGeom>
          <a:solidFill>
            <a:srgbClr val="B07A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4"/>
          <p:cNvSpPr/>
          <p:nvPr/>
        </p:nvSpPr>
        <p:spPr>
          <a:xfrm>
            <a:off x="804672" y="2505456"/>
            <a:ext cx="84124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WARN</a:t>
            </a:r>
            <a:endParaRPr b="0" i="0" sz="950" u="none" cap="none" strike="noStrike">
              <a:solidFill>
                <a:schemeClr val="dk1"/>
              </a:solidFill>
              <a:latin typeface="Calibri"/>
              <a:ea typeface="Calibri"/>
              <a:cs typeface="Calibri"/>
              <a:sym typeface="Calibri"/>
            </a:endParaRPr>
          </a:p>
        </p:txBody>
      </p:sp>
      <p:sp>
        <p:nvSpPr>
          <p:cNvPr id="461" name="Google Shape;461;p14"/>
          <p:cNvSpPr/>
          <p:nvPr/>
        </p:nvSpPr>
        <p:spPr>
          <a:xfrm>
            <a:off x="1773936" y="2487168"/>
            <a:ext cx="3913632"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Degraded but handled. A retry succeeded; a fallback fired.</a:t>
            </a:r>
            <a:endParaRPr b="0" i="0" sz="1150" u="none" cap="none" strike="noStrike">
              <a:solidFill>
                <a:schemeClr val="dk1"/>
              </a:solidFill>
              <a:latin typeface="Calibri"/>
              <a:ea typeface="Calibri"/>
              <a:cs typeface="Calibri"/>
              <a:sym typeface="Calibri"/>
            </a:endParaRPr>
          </a:p>
        </p:txBody>
      </p:sp>
      <p:sp>
        <p:nvSpPr>
          <p:cNvPr id="462" name="Google Shape;462;p14"/>
          <p:cNvSpPr/>
          <p:nvPr/>
        </p:nvSpPr>
        <p:spPr>
          <a:xfrm>
            <a:off x="804672" y="3163824"/>
            <a:ext cx="841248" cy="310896"/>
          </a:xfrm>
          <a:prstGeom prst="roundRect">
            <a:avLst>
              <a:gd fmla="val 17647" name="adj"/>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4"/>
          <p:cNvSpPr/>
          <p:nvPr/>
        </p:nvSpPr>
        <p:spPr>
          <a:xfrm>
            <a:off x="804672" y="3163824"/>
            <a:ext cx="84124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INFO</a:t>
            </a:r>
            <a:endParaRPr b="0" i="0" sz="950" u="none" cap="none" strike="noStrike">
              <a:solidFill>
                <a:schemeClr val="dk1"/>
              </a:solidFill>
              <a:latin typeface="Calibri"/>
              <a:ea typeface="Calibri"/>
              <a:cs typeface="Calibri"/>
              <a:sym typeface="Calibri"/>
            </a:endParaRPr>
          </a:p>
        </p:txBody>
      </p:sp>
      <p:sp>
        <p:nvSpPr>
          <p:cNvPr id="464" name="Google Shape;464;p14"/>
          <p:cNvSpPr/>
          <p:nvPr/>
        </p:nvSpPr>
        <p:spPr>
          <a:xfrm>
            <a:off x="1773936" y="3145536"/>
            <a:ext cx="3913632"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A business event happened. Order placed. User registered.</a:t>
            </a:r>
            <a:endParaRPr b="0" i="0" sz="1150" u="none" cap="none" strike="noStrike">
              <a:solidFill>
                <a:schemeClr val="dk1"/>
              </a:solidFill>
              <a:latin typeface="Calibri"/>
              <a:ea typeface="Calibri"/>
              <a:cs typeface="Calibri"/>
              <a:sym typeface="Calibri"/>
            </a:endParaRPr>
          </a:p>
        </p:txBody>
      </p:sp>
      <p:sp>
        <p:nvSpPr>
          <p:cNvPr id="465" name="Google Shape;465;p14"/>
          <p:cNvSpPr/>
          <p:nvPr/>
        </p:nvSpPr>
        <p:spPr>
          <a:xfrm>
            <a:off x="804672" y="3822192"/>
            <a:ext cx="841248" cy="310896"/>
          </a:xfrm>
          <a:prstGeom prst="roundRect">
            <a:avLst>
              <a:gd fmla="val 17647" name="adj"/>
            </a:avLst>
          </a:prstGeom>
          <a:solidFill>
            <a:srgbClr val="5C6B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4"/>
          <p:cNvSpPr/>
          <p:nvPr/>
        </p:nvSpPr>
        <p:spPr>
          <a:xfrm>
            <a:off x="804672" y="3822192"/>
            <a:ext cx="84124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DEBUG</a:t>
            </a:r>
            <a:endParaRPr b="0" i="0" sz="950" u="none" cap="none" strike="noStrike">
              <a:solidFill>
                <a:schemeClr val="dk1"/>
              </a:solidFill>
              <a:latin typeface="Calibri"/>
              <a:ea typeface="Calibri"/>
              <a:cs typeface="Calibri"/>
              <a:sym typeface="Calibri"/>
            </a:endParaRPr>
          </a:p>
        </p:txBody>
      </p:sp>
      <p:sp>
        <p:nvSpPr>
          <p:cNvPr id="467" name="Google Shape;467;p14"/>
          <p:cNvSpPr/>
          <p:nvPr/>
        </p:nvSpPr>
        <p:spPr>
          <a:xfrm>
            <a:off x="1773936" y="3803904"/>
            <a:ext cx="3913632" cy="5486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Developer detail. Off in production, on for one service, briefly.</a:t>
            </a:r>
            <a:endParaRPr b="0" i="0" sz="1150" u="none" cap="none" strike="noStrike">
              <a:solidFill>
                <a:schemeClr val="dk1"/>
              </a:solidFill>
              <a:latin typeface="Calibri"/>
              <a:ea typeface="Calibri"/>
              <a:cs typeface="Calibri"/>
              <a:sym typeface="Calibri"/>
            </a:endParaRPr>
          </a:p>
        </p:txBody>
      </p:sp>
      <p:sp>
        <p:nvSpPr>
          <p:cNvPr id="468" name="Google Shape;468;p14"/>
          <p:cNvSpPr/>
          <p:nvPr/>
        </p:nvSpPr>
        <p:spPr>
          <a:xfrm>
            <a:off x="804672" y="4224528"/>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050"/>
              <a:buFont typeface="Calibri"/>
              <a:buNone/>
            </a:pPr>
            <a:r>
              <a:rPr b="0" i="1" lang="en-US" sz="1050" u="none" cap="none" strike="noStrike">
                <a:solidFill>
                  <a:srgbClr val="5C6B7A"/>
                </a:solidFill>
                <a:latin typeface="Calibri"/>
                <a:ea typeface="Calibri"/>
                <a:cs typeface="Calibri"/>
                <a:sym typeface="Calibri"/>
              </a:rPr>
              <a:t>If everything is ERROR, nothing is. Levels work only if review enforces them.</a:t>
            </a:r>
            <a:endParaRPr b="0" i="0" sz="1050" u="none" cap="none" strike="noStrike">
              <a:solidFill>
                <a:schemeClr val="dk1"/>
              </a:solidFill>
              <a:latin typeface="Calibri"/>
              <a:ea typeface="Calibri"/>
              <a:cs typeface="Calibri"/>
              <a:sym typeface="Calibri"/>
            </a:endParaRPr>
          </a:p>
        </p:txBody>
      </p:sp>
      <p:sp>
        <p:nvSpPr>
          <p:cNvPr id="469" name="Google Shape;469;p14"/>
          <p:cNvSpPr/>
          <p:nvPr/>
        </p:nvSpPr>
        <p:spPr>
          <a:xfrm>
            <a:off x="6281928" y="1371600"/>
            <a:ext cx="5349240" cy="3200400"/>
          </a:xfrm>
          <a:prstGeom prst="roundRect">
            <a:avLst>
              <a:gd fmla="val 2571"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4"/>
          <p:cNvSpPr/>
          <p:nvPr/>
        </p:nvSpPr>
        <p:spPr>
          <a:xfrm>
            <a:off x="6519672" y="1517904"/>
            <a:ext cx="4846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NEVER LOG THESE. NOT ONCE. NOT AT DEBUG.</a:t>
            </a:r>
            <a:endParaRPr b="0" i="0" sz="950" u="none" cap="none" strike="noStrike">
              <a:solidFill>
                <a:schemeClr val="dk1"/>
              </a:solidFill>
              <a:latin typeface="Calibri"/>
              <a:ea typeface="Calibri"/>
              <a:cs typeface="Calibri"/>
              <a:sym typeface="Calibri"/>
            </a:endParaRPr>
          </a:p>
        </p:txBody>
      </p:sp>
      <p:sp>
        <p:nvSpPr>
          <p:cNvPr id="471" name="Google Shape;471;p14"/>
          <p:cNvSpPr/>
          <p:nvPr/>
        </p:nvSpPr>
        <p:spPr>
          <a:xfrm>
            <a:off x="6519672" y="1847088"/>
            <a:ext cx="4846320" cy="228600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Passwords, tokens, API keys, session cookies, card numbers</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Full request or response bodies “just while we debug”</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Personal data you would not put in an email: names, phone numbers, addresses, national ID</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Anything a regulator would call personal data — logs are copied to five systems and kept for a year</a:t>
            </a:r>
            <a:endParaRPr b="0" i="0" sz="1150" u="none" cap="none" strike="noStrike">
              <a:solidFill>
                <a:schemeClr val="dk1"/>
              </a:solidFill>
              <a:latin typeface="Calibri"/>
              <a:ea typeface="Calibri"/>
              <a:cs typeface="Calibri"/>
              <a:sym typeface="Calibri"/>
            </a:endParaRPr>
          </a:p>
        </p:txBody>
      </p:sp>
      <p:sp>
        <p:nvSpPr>
          <p:cNvPr id="472" name="Google Shape;472;p14"/>
          <p:cNvSpPr/>
          <p:nvPr/>
        </p:nvSpPr>
        <p:spPr>
          <a:xfrm>
            <a:off x="6519672" y="4224528"/>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1100"/>
              <a:buFont typeface="Calibri"/>
              <a:buNone/>
            </a:pPr>
            <a:r>
              <a:rPr b="1" i="0" lang="en-US" sz="1100" u="none" cap="none" strike="noStrike">
                <a:solidFill>
                  <a:srgbClr val="AC2740"/>
                </a:solidFill>
                <a:latin typeface="Calibri"/>
                <a:ea typeface="Calibri"/>
                <a:cs typeface="Calibri"/>
                <a:sym typeface="Calibri"/>
              </a:rPr>
              <a:t>A leak in logs is a breach. Redact at the logger, not at the query.</a:t>
            </a:r>
            <a:endParaRPr b="0" i="0" sz="1100" u="none" cap="none" strike="noStrike">
              <a:solidFill>
                <a:schemeClr val="dk1"/>
              </a:solidFill>
              <a:latin typeface="Calibri"/>
              <a:ea typeface="Calibri"/>
              <a:cs typeface="Calibri"/>
              <a:sym typeface="Calibri"/>
            </a:endParaRPr>
          </a:p>
        </p:txBody>
      </p:sp>
      <p:sp>
        <p:nvSpPr>
          <p:cNvPr id="473" name="Google Shape;473;p14"/>
          <p:cNvSpPr/>
          <p:nvPr/>
        </p:nvSpPr>
        <p:spPr>
          <a:xfrm>
            <a:off x="566928" y="4754880"/>
            <a:ext cx="11057839" cy="1024128"/>
          </a:xfrm>
          <a:prstGeom prst="roundRect">
            <a:avLst>
              <a:gd fmla="val 8036"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4"/>
          <p:cNvSpPr/>
          <p:nvPr/>
        </p:nvSpPr>
        <p:spPr>
          <a:xfrm>
            <a:off x="786384" y="4937760"/>
            <a:ext cx="292608" cy="29260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
          <p:cNvSpPr/>
          <p:nvPr/>
        </p:nvSpPr>
        <p:spPr>
          <a:xfrm>
            <a:off x="786384" y="493776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i</a:t>
            </a:r>
            <a:endParaRPr b="0" i="0" sz="1150" u="none" cap="none" strike="noStrike">
              <a:solidFill>
                <a:schemeClr val="dk1"/>
              </a:solidFill>
              <a:latin typeface="Calibri"/>
              <a:ea typeface="Calibri"/>
              <a:cs typeface="Calibri"/>
              <a:sym typeface="Calibri"/>
            </a:endParaRPr>
          </a:p>
        </p:txBody>
      </p:sp>
      <p:sp>
        <p:nvSpPr>
          <p:cNvPr id="476" name="Google Shape;476;p14"/>
          <p:cNvSpPr/>
          <p:nvPr/>
        </p:nvSpPr>
        <p:spPr>
          <a:xfrm>
            <a:off x="1188720" y="4937760"/>
            <a:ext cx="10033711"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Log the identifier, not the value</a:t>
            </a:r>
            <a:endParaRPr b="0" i="0" sz="1300" u="none" cap="none" strike="noStrike">
              <a:solidFill>
                <a:schemeClr val="dk1"/>
              </a:solidFill>
              <a:latin typeface="Calibri"/>
              <a:ea typeface="Calibri"/>
              <a:cs typeface="Calibri"/>
              <a:sym typeface="Calibri"/>
            </a:endParaRPr>
          </a:p>
        </p:txBody>
      </p:sp>
      <p:sp>
        <p:nvSpPr>
          <p:cNvPr id="477" name="Google Shape;477;p14"/>
          <p:cNvSpPr/>
          <p:nvPr/>
        </p:nvSpPr>
        <p:spPr>
          <a:xfrm>
            <a:off x="786384" y="5340096"/>
            <a:ext cx="10618927" cy="2743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user_id=u_301 is searchable, joinable and harmless. email=ram@example.com is a liability that lives in your log store, your backups, and your vendor's backups. The identifier gets you to the same customer through a system that is actually access-controlled.</a:t>
            </a:r>
            <a:endParaRPr b="0" i="0" sz="1100" u="none" cap="none" strike="noStrike">
              <a:solidFill>
                <a:schemeClr val="dk1"/>
              </a:solidFill>
              <a:latin typeface="Calibri"/>
              <a:ea typeface="Calibri"/>
              <a:cs typeface="Calibri"/>
              <a:sym typeface="Calibri"/>
            </a:endParaRPr>
          </a:p>
        </p:txBody>
      </p:sp>
      <p:sp>
        <p:nvSpPr>
          <p:cNvPr id="478" name="Google Shape;478;p14"/>
          <p:cNvSpPr/>
          <p:nvPr/>
        </p:nvSpPr>
        <p:spPr>
          <a:xfrm>
            <a:off x="566928" y="5925312"/>
            <a:ext cx="11057839" cy="457200"/>
          </a:xfrm>
          <a:prstGeom prst="roundRect">
            <a:avLst>
              <a:gd fmla="val 18000"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4"/>
          <p:cNvSpPr/>
          <p:nvPr/>
        </p:nvSpPr>
        <p:spPr>
          <a:xfrm>
            <a:off x="768096" y="6016752"/>
            <a:ext cx="274320" cy="27432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4"/>
          <p:cNvSpPr/>
          <p:nvPr/>
        </p:nvSpPr>
        <p:spPr>
          <a:xfrm>
            <a:off x="768096" y="601675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481" name="Google Shape;481;p14"/>
          <p:cNvSpPr/>
          <p:nvPr/>
        </p:nvSpPr>
        <p:spPr>
          <a:xfrm>
            <a:off x="1170432" y="5925312"/>
            <a:ext cx="1023487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In the lab: every log line is public to the whole class. Treat it as production. That is the point.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6" name="Shape 486"/>
        <p:cNvGrpSpPr/>
        <p:nvPr/>
      </p:nvGrpSpPr>
      <p:grpSpPr>
        <a:xfrm>
          <a:off x="0" y="0"/>
          <a:ext cx="0" cy="0"/>
          <a:chOff x="0" y="0"/>
          <a:chExt cx="0" cy="0"/>
        </a:xfrm>
      </p:grpSpPr>
      <p:sp>
        <p:nvSpPr>
          <p:cNvPr id="487" name="Google Shape;487;p15"/>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THE PROBLEM LOGS CANNOT SOLVE ALONE</a:t>
            </a:r>
            <a:endParaRPr b="0" i="0" sz="1050" u="none" cap="none" strike="noStrike">
              <a:solidFill>
                <a:schemeClr val="dk1"/>
              </a:solidFill>
              <a:latin typeface="Calibri"/>
              <a:ea typeface="Calibri"/>
              <a:cs typeface="Calibri"/>
              <a:sym typeface="Calibri"/>
            </a:endParaRPr>
          </a:p>
        </p:txBody>
      </p:sp>
      <p:sp>
        <p:nvSpPr>
          <p:cNvPr id="488" name="Google Shape;488;p15"/>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500"/>
              <a:buFont typeface="Cambria"/>
              <a:buNone/>
            </a:pPr>
            <a:r>
              <a:rPr b="1" i="0" lang="en-US" sz="2500" u="none" cap="none" strike="noStrike">
                <a:solidFill>
                  <a:srgbClr val="16202C"/>
                </a:solidFill>
                <a:latin typeface="Cambria"/>
                <a:ea typeface="Cambria"/>
                <a:cs typeface="Cambria"/>
                <a:sym typeface="Cambria"/>
              </a:rPr>
              <a:t>Three services, interleaved, and no way to tell which lines belong together</a:t>
            </a:r>
            <a:endParaRPr b="0" i="0" sz="2500" u="none" cap="none" strike="noStrike">
              <a:solidFill>
                <a:schemeClr val="dk1"/>
              </a:solidFill>
              <a:latin typeface="Calibri"/>
              <a:ea typeface="Calibri"/>
              <a:cs typeface="Calibri"/>
              <a:sym typeface="Calibri"/>
            </a:endParaRPr>
          </a:p>
        </p:txBody>
      </p:sp>
      <p:sp>
        <p:nvSpPr>
          <p:cNvPr id="489" name="Google Shape;489;p15"/>
          <p:cNvSpPr/>
          <p:nvPr/>
        </p:nvSpPr>
        <p:spPr>
          <a:xfrm>
            <a:off x="10754258" y="402336"/>
            <a:ext cx="870509" cy="329184"/>
          </a:xfrm>
          <a:prstGeom prst="roundRect">
            <a:avLst>
              <a:gd fmla="val 50000" name="adj"/>
            </a:avLst>
          </a:prstGeom>
          <a:solidFill>
            <a:srgbClr val="FAEFE2"/>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5"/>
          <p:cNvSpPr/>
          <p:nvPr/>
        </p:nvSpPr>
        <p:spPr>
          <a:xfrm>
            <a:off x="10927994" y="525780"/>
            <a:ext cx="91440" cy="9144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5"/>
          <p:cNvSpPr/>
          <p:nvPr/>
        </p:nvSpPr>
        <p:spPr>
          <a:xfrm>
            <a:off x="11065154" y="402336"/>
            <a:ext cx="46817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00"/>
              <a:buFont typeface="Calibri"/>
              <a:buNone/>
            </a:pPr>
            <a:r>
              <a:rPr b="1" i="0" lang="en-US" sz="1000" u="none" cap="none" strike="noStrike">
                <a:solidFill>
                  <a:srgbClr val="BE6415"/>
                </a:solidFill>
                <a:latin typeface="Calibri"/>
                <a:ea typeface="Calibri"/>
                <a:cs typeface="Calibri"/>
                <a:sym typeface="Calibri"/>
              </a:rPr>
              <a:t>Logs</a:t>
            </a:r>
            <a:endParaRPr b="0" i="0" sz="1000" u="none" cap="none" strike="noStrike">
              <a:solidFill>
                <a:schemeClr val="dk1"/>
              </a:solidFill>
              <a:latin typeface="Calibri"/>
              <a:ea typeface="Calibri"/>
              <a:cs typeface="Calibri"/>
              <a:sym typeface="Calibri"/>
            </a:endParaRPr>
          </a:p>
        </p:txBody>
      </p:sp>
      <p:sp>
        <p:nvSpPr>
          <p:cNvPr id="492" name="Google Shape;492;p15"/>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493" name="Google Shape;493;p15"/>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
        <p:nvSpPr>
          <p:cNvPr id="494" name="Google Shape;494;p15"/>
          <p:cNvSpPr/>
          <p:nvPr/>
        </p:nvSpPr>
        <p:spPr>
          <a:xfrm>
            <a:off x="566928" y="1481328"/>
            <a:ext cx="5349240" cy="2084832"/>
          </a:xfrm>
          <a:prstGeom prst="roundRect">
            <a:avLst>
              <a:gd fmla="val 3947"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5"/>
          <p:cNvSpPr/>
          <p:nvPr/>
        </p:nvSpPr>
        <p:spPr>
          <a:xfrm>
            <a:off x="731520" y="1609344"/>
            <a:ext cx="5020056" cy="1828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6DEE7"/>
              </a:buClr>
              <a:buSzPts val="900"/>
              <a:buFont typeface="Courier New"/>
              <a:buNone/>
            </a:pPr>
            <a:r>
              <a:rPr b="0" i="0" lang="en-US" sz="900" u="none" cap="none" strike="noStrike">
                <a:solidFill>
                  <a:srgbClr val="D6DEE7"/>
                </a:solidFill>
                <a:latin typeface="Courier New"/>
                <a:ea typeface="Courier New"/>
                <a:cs typeface="Courier New"/>
                <a:sym typeface="Courier New"/>
              </a:rPr>
              <a:t>14:22:07.441  gateway   POST /orders received</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6DEE7"/>
              </a:buClr>
              <a:buSzPts val="900"/>
              <a:buFont typeface="Courier New"/>
              <a:buNone/>
            </a:pPr>
            <a:r>
              <a:rPr b="0" i="0" lang="en-US" sz="900" u="none" cap="none" strike="noStrike">
                <a:solidFill>
                  <a:srgbClr val="D6DEE7"/>
                </a:solidFill>
                <a:latin typeface="Courier New"/>
                <a:ea typeface="Courier New"/>
                <a:cs typeface="Courier New"/>
                <a:sym typeface="Courier New"/>
              </a:rPr>
              <a:t>14:22:07.442  gateway   POST /orders received</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6DEE7"/>
              </a:buClr>
              <a:buSzPts val="900"/>
              <a:buFont typeface="Courier New"/>
              <a:buNone/>
            </a:pPr>
            <a:r>
              <a:rPr b="0" i="0" lang="en-US" sz="900" u="none" cap="none" strike="noStrike">
                <a:solidFill>
                  <a:srgbClr val="D6DEE7"/>
                </a:solidFill>
                <a:latin typeface="Courier New"/>
                <a:ea typeface="Courier New"/>
                <a:cs typeface="Courier New"/>
                <a:sym typeface="Courier New"/>
              </a:rPr>
              <a:t>14:22:07.443  catalog   lookup tea_id=44</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6DEE7"/>
              </a:buClr>
              <a:buSzPts val="900"/>
              <a:buFont typeface="Courier New"/>
              <a:buNone/>
            </a:pPr>
            <a:r>
              <a:rPr b="0" i="0" lang="en-US" sz="900" u="none" cap="none" strike="noStrike">
                <a:solidFill>
                  <a:srgbClr val="D6DEE7"/>
                </a:solidFill>
                <a:latin typeface="Courier New"/>
                <a:ea typeface="Courier New"/>
                <a:cs typeface="Courier New"/>
                <a:sym typeface="Courier New"/>
              </a:rPr>
              <a:t>14:22:07.449  payment   charging 450 NPR</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6DEE7"/>
              </a:buClr>
              <a:buSzPts val="900"/>
              <a:buFont typeface="Courier New"/>
              <a:buNone/>
            </a:pPr>
            <a:r>
              <a:rPr b="0" i="0" lang="en-US" sz="900" u="none" cap="none" strike="noStrike">
                <a:solidFill>
                  <a:srgbClr val="D6DEE7"/>
                </a:solidFill>
                <a:latin typeface="Courier New"/>
                <a:ea typeface="Courier New"/>
                <a:cs typeface="Courier New"/>
                <a:sym typeface="Courier New"/>
              </a:rPr>
              <a:t>14:22:07.451  catalog   lookup tea_id=91</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E08A8A"/>
              </a:buClr>
              <a:buSzPts val="900"/>
              <a:buFont typeface="Courier New"/>
              <a:buNone/>
            </a:pPr>
            <a:r>
              <a:rPr b="0" i="0" lang="en-US" sz="900" u="none" cap="none" strike="noStrike">
                <a:solidFill>
                  <a:srgbClr val="E08A8A"/>
                </a:solidFill>
                <a:latin typeface="Courier New"/>
                <a:ea typeface="Courier New"/>
                <a:cs typeface="Courier New"/>
                <a:sym typeface="Courier New"/>
              </a:rPr>
              <a:t>14:22:09.443  payment   timeout after 2000ms</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E08A8A"/>
              </a:buClr>
              <a:buSzPts val="900"/>
              <a:buFont typeface="Courier New"/>
              <a:buNone/>
            </a:pPr>
            <a:r>
              <a:rPr b="0" i="0" lang="en-US" sz="900" u="none" cap="none" strike="noStrike">
                <a:solidFill>
                  <a:srgbClr val="E08A8A"/>
                </a:solidFill>
                <a:latin typeface="Courier New"/>
                <a:ea typeface="Courier New"/>
                <a:cs typeface="Courier New"/>
                <a:sym typeface="Courier New"/>
              </a:rPr>
              <a:t>14:22:09.444  gateway   500</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8FD3B4"/>
              </a:buClr>
              <a:buSzPts val="900"/>
              <a:buFont typeface="Courier New"/>
              <a:buNone/>
            </a:pPr>
            <a:r>
              <a:rPr b="0" i="0" lang="en-US" sz="900" u="none" cap="none" strike="noStrike">
                <a:solidFill>
                  <a:srgbClr val="8FD3B4"/>
                </a:solidFill>
                <a:latin typeface="Courier New"/>
                <a:ea typeface="Courier New"/>
                <a:cs typeface="Courier New"/>
                <a:sym typeface="Courier New"/>
              </a:rPr>
              <a:t>14:22:09.512  gateway   201</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C08A6A"/>
              </a:buClr>
              <a:buSzPts val="900"/>
              <a:buFont typeface="Courier New"/>
              <a:buNone/>
            </a:pPr>
            <a:r>
              <a:rPr b="0" i="0" lang="en-US" sz="900" u="none" cap="none" strike="noStrike">
                <a:solidFill>
                  <a:srgbClr val="C08A6A"/>
                </a:solidFill>
                <a:latin typeface="Courier New"/>
                <a:ea typeface="Courier New"/>
                <a:cs typeface="Courier New"/>
                <a:sym typeface="Courier New"/>
              </a:rPr>
              <a:t># which request failed? both? one? which tea?</a:t>
            </a:r>
            <a:endParaRPr b="0" i="0" sz="900" u="none" cap="none" strike="noStrike">
              <a:solidFill>
                <a:schemeClr val="dk1"/>
              </a:solidFill>
              <a:latin typeface="Calibri"/>
              <a:ea typeface="Calibri"/>
              <a:cs typeface="Calibri"/>
              <a:sym typeface="Calibri"/>
            </a:endParaRPr>
          </a:p>
        </p:txBody>
      </p:sp>
      <p:sp>
        <p:nvSpPr>
          <p:cNvPr id="496" name="Google Shape;496;p15"/>
          <p:cNvSpPr/>
          <p:nvPr/>
        </p:nvSpPr>
        <p:spPr>
          <a:xfrm>
            <a:off x="6281928" y="1481328"/>
            <a:ext cx="5349240" cy="2084832"/>
          </a:xfrm>
          <a:prstGeom prst="roundRect">
            <a:avLst>
              <a:gd fmla="val 3947"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5"/>
          <p:cNvSpPr/>
          <p:nvPr/>
        </p:nvSpPr>
        <p:spPr>
          <a:xfrm>
            <a:off x="6446520" y="1609344"/>
            <a:ext cx="5020056" cy="1828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6DEE7"/>
              </a:buClr>
              <a:buSzPts val="900"/>
              <a:buFont typeface="Courier New"/>
              <a:buNone/>
            </a:pPr>
            <a:r>
              <a:rPr b="0" i="0" lang="en-US" sz="900" u="none" cap="none" strike="noStrike">
                <a:solidFill>
                  <a:srgbClr val="D6DEE7"/>
                </a:solidFill>
                <a:latin typeface="Courier New"/>
                <a:ea typeface="Courier New"/>
                <a:cs typeface="Courier New"/>
                <a:sym typeface="Courier New"/>
              </a:rPr>
              <a:t>14:22:07.441  gateway   req=a1f POST /orders</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6DEE7"/>
              </a:buClr>
              <a:buSzPts val="900"/>
              <a:buFont typeface="Courier New"/>
              <a:buNone/>
            </a:pPr>
            <a:r>
              <a:rPr b="0" i="0" lang="en-US" sz="900" u="none" cap="none" strike="noStrike">
                <a:solidFill>
                  <a:srgbClr val="D6DEE7"/>
                </a:solidFill>
                <a:latin typeface="Courier New"/>
                <a:ea typeface="Courier New"/>
                <a:cs typeface="Courier New"/>
                <a:sym typeface="Courier New"/>
              </a:rPr>
              <a:t>14:22:07.442  gateway   req=b7c POST /orders</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6DEE7"/>
              </a:buClr>
              <a:buSzPts val="900"/>
              <a:buFont typeface="Courier New"/>
              <a:buNone/>
            </a:pPr>
            <a:r>
              <a:rPr b="0" i="0" lang="en-US" sz="900" u="none" cap="none" strike="noStrike">
                <a:solidFill>
                  <a:srgbClr val="D6DEE7"/>
                </a:solidFill>
                <a:latin typeface="Courier New"/>
                <a:ea typeface="Courier New"/>
                <a:cs typeface="Courier New"/>
                <a:sym typeface="Courier New"/>
              </a:rPr>
              <a:t>14:22:07.443  catalog   req=a1f lookup tea_id=44</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6DEE7"/>
              </a:buClr>
              <a:buSzPts val="900"/>
              <a:buFont typeface="Courier New"/>
              <a:buNone/>
            </a:pPr>
            <a:r>
              <a:rPr b="0" i="0" lang="en-US" sz="900" u="none" cap="none" strike="noStrike">
                <a:solidFill>
                  <a:srgbClr val="D6DEE7"/>
                </a:solidFill>
                <a:latin typeface="Courier New"/>
                <a:ea typeface="Courier New"/>
                <a:cs typeface="Courier New"/>
                <a:sym typeface="Courier New"/>
              </a:rPr>
              <a:t>14:22:07.449  payment   req=a1f charging 450 NPR</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D6DEE7"/>
              </a:buClr>
              <a:buSzPts val="900"/>
              <a:buFont typeface="Courier New"/>
              <a:buNone/>
            </a:pPr>
            <a:r>
              <a:rPr b="0" i="0" lang="en-US" sz="900" u="none" cap="none" strike="noStrike">
                <a:solidFill>
                  <a:srgbClr val="D6DEE7"/>
                </a:solidFill>
                <a:latin typeface="Courier New"/>
                <a:ea typeface="Courier New"/>
                <a:cs typeface="Courier New"/>
                <a:sym typeface="Courier New"/>
              </a:rPr>
              <a:t>14:22:07.451  catalog   req=b7c lookup tea_id=91</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E08A8A"/>
              </a:buClr>
              <a:buSzPts val="900"/>
              <a:buFont typeface="Courier New"/>
              <a:buNone/>
            </a:pPr>
            <a:r>
              <a:rPr b="0" i="0" lang="en-US" sz="900" u="none" cap="none" strike="noStrike">
                <a:solidFill>
                  <a:srgbClr val="E08A8A"/>
                </a:solidFill>
                <a:latin typeface="Courier New"/>
                <a:ea typeface="Courier New"/>
                <a:cs typeface="Courier New"/>
                <a:sym typeface="Courier New"/>
              </a:rPr>
              <a:t>14:22:09.443  payment   req=a1f timeout 2000ms</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E08A8A"/>
              </a:buClr>
              <a:buSzPts val="900"/>
              <a:buFont typeface="Courier New"/>
              <a:buNone/>
            </a:pPr>
            <a:r>
              <a:rPr b="0" i="0" lang="en-US" sz="900" u="none" cap="none" strike="noStrike">
                <a:solidFill>
                  <a:srgbClr val="E08A8A"/>
                </a:solidFill>
                <a:latin typeface="Courier New"/>
                <a:ea typeface="Courier New"/>
                <a:cs typeface="Courier New"/>
                <a:sym typeface="Courier New"/>
              </a:rPr>
              <a:t>14:22:09.444  gateway   req=a1f 500</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8FD3B4"/>
              </a:buClr>
              <a:buSzPts val="900"/>
              <a:buFont typeface="Courier New"/>
              <a:buNone/>
            </a:pPr>
            <a:r>
              <a:rPr b="0" i="0" lang="en-US" sz="900" u="none" cap="none" strike="noStrike">
                <a:solidFill>
                  <a:srgbClr val="8FD3B4"/>
                </a:solidFill>
                <a:latin typeface="Courier New"/>
                <a:ea typeface="Courier New"/>
                <a:cs typeface="Courier New"/>
                <a:sym typeface="Courier New"/>
              </a:rPr>
              <a:t>14:22:09.512  gateway   req=b7c 201</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8FD3B4"/>
              </a:buClr>
              <a:buSzPts val="900"/>
              <a:buFont typeface="Courier New"/>
              <a:buNone/>
            </a:pPr>
            <a:r>
              <a:rPr b="0" i="0" lang="en-US" sz="900" u="none" cap="none" strike="noStrike">
                <a:solidFill>
                  <a:srgbClr val="8FD3B4"/>
                </a:solidFill>
                <a:latin typeface="Courier New"/>
                <a:ea typeface="Courier New"/>
                <a:cs typeface="Courier New"/>
                <a:sym typeface="Courier New"/>
              </a:rPr>
              <a:t># one field. now the story reads itself.</a:t>
            </a:r>
            <a:endParaRPr b="0" i="0" sz="900" u="none" cap="none" strike="noStrike">
              <a:solidFill>
                <a:schemeClr val="dk1"/>
              </a:solidFill>
              <a:latin typeface="Calibri"/>
              <a:ea typeface="Calibri"/>
              <a:cs typeface="Calibri"/>
              <a:sym typeface="Calibri"/>
            </a:endParaRPr>
          </a:p>
        </p:txBody>
      </p:sp>
      <p:sp>
        <p:nvSpPr>
          <p:cNvPr id="498" name="Google Shape;498;p15"/>
          <p:cNvSpPr/>
          <p:nvPr/>
        </p:nvSpPr>
        <p:spPr>
          <a:xfrm>
            <a:off x="566928" y="3730752"/>
            <a:ext cx="3511296" cy="1847088"/>
          </a:xfrm>
          <a:prstGeom prst="roundRect">
            <a:avLst>
              <a:gd fmla="val 4455"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5"/>
          <p:cNvSpPr/>
          <p:nvPr/>
        </p:nvSpPr>
        <p:spPr>
          <a:xfrm>
            <a:off x="786384" y="3913632"/>
            <a:ext cx="292608" cy="29260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5"/>
          <p:cNvSpPr/>
          <p:nvPr/>
        </p:nvSpPr>
        <p:spPr>
          <a:xfrm>
            <a:off x="786384" y="391363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1</a:t>
            </a:r>
            <a:endParaRPr b="0" i="0" sz="1150" u="none" cap="none" strike="noStrike">
              <a:solidFill>
                <a:schemeClr val="dk1"/>
              </a:solidFill>
              <a:latin typeface="Calibri"/>
              <a:ea typeface="Calibri"/>
              <a:cs typeface="Calibri"/>
              <a:sym typeface="Calibri"/>
            </a:endParaRPr>
          </a:p>
        </p:txBody>
      </p:sp>
      <p:sp>
        <p:nvSpPr>
          <p:cNvPr id="501" name="Google Shape;501;p15"/>
          <p:cNvSpPr/>
          <p:nvPr/>
        </p:nvSpPr>
        <p:spPr>
          <a:xfrm>
            <a:off x="1188720" y="3913632"/>
            <a:ext cx="248716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Generate it at the edge</a:t>
            </a:r>
            <a:endParaRPr b="0" i="0" sz="1300" u="none" cap="none" strike="noStrike">
              <a:solidFill>
                <a:schemeClr val="dk1"/>
              </a:solidFill>
              <a:latin typeface="Calibri"/>
              <a:ea typeface="Calibri"/>
              <a:cs typeface="Calibri"/>
              <a:sym typeface="Calibri"/>
            </a:endParaRPr>
          </a:p>
        </p:txBody>
      </p:sp>
      <p:sp>
        <p:nvSpPr>
          <p:cNvPr id="502" name="Google Shape;502;p15"/>
          <p:cNvSpPr/>
          <p:nvPr/>
        </p:nvSpPr>
        <p:spPr>
          <a:xfrm>
            <a:off x="786384" y="4315968"/>
            <a:ext cx="3072384" cy="10972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The first service to touch the request mints an ID — or accepts one from the load balancer. Never generate it twice.</a:t>
            </a:r>
            <a:endParaRPr b="0" i="0" sz="1150" u="none" cap="none" strike="noStrike">
              <a:solidFill>
                <a:schemeClr val="dk1"/>
              </a:solidFill>
              <a:latin typeface="Calibri"/>
              <a:ea typeface="Calibri"/>
              <a:cs typeface="Calibri"/>
              <a:sym typeface="Calibri"/>
            </a:endParaRPr>
          </a:p>
        </p:txBody>
      </p:sp>
      <p:sp>
        <p:nvSpPr>
          <p:cNvPr id="503" name="Google Shape;503;p15"/>
          <p:cNvSpPr/>
          <p:nvPr/>
        </p:nvSpPr>
        <p:spPr>
          <a:xfrm>
            <a:off x="4306824" y="3730752"/>
            <a:ext cx="3511296" cy="1847088"/>
          </a:xfrm>
          <a:prstGeom prst="roundRect">
            <a:avLst>
              <a:gd fmla="val 4455"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5"/>
          <p:cNvSpPr/>
          <p:nvPr/>
        </p:nvSpPr>
        <p:spPr>
          <a:xfrm>
            <a:off x="4526280" y="3913632"/>
            <a:ext cx="292608" cy="29260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5"/>
          <p:cNvSpPr/>
          <p:nvPr/>
        </p:nvSpPr>
        <p:spPr>
          <a:xfrm>
            <a:off x="4526280" y="391363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2</a:t>
            </a:r>
            <a:endParaRPr b="0" i="0" sz="1150" u="none" cap="none" strike="noStrike">
              <a:solidFill>
                <a:schemeClr val="dk1"/>
              </a:solidFill>
              <a:latin typeface="Calibri"/>
              <a:ea typeface="Calibri"/>
              <a:cs typeface="Calibri"/>
              <a:sym typeface="Calibri"/>
            </a:endParaRPr>
          </a:p>
        </p:txBody>
      </p:sp>
      <p:sp>
        <p:nvSpPr>
          <p:cNvPr id="506" name="Google Shape;506;p15"/>
          <p:cNvSpPr/>
          <p:nvPr/>
        </p:nvSpPr>
        <p:spPr>
          <a:xfrm>
            <a:off x="4928616" y="3913632"/>
            <a:ext cx="248716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Pass it on every hop</a:t>
            </a:r>
            <a:endParaRPr b="0" i="0" sz="1300" u="none" cap="none" strike="noStrike">
              <a:solidFill>
                <a:schemeClr val="dk1"/>
              </a:solidFill>
              <a:latin typeface="Calibri"/>
              <a:ea typeface="Calibri"/>
              <a:cs typeface="Calibri"/>
              <a:sym typeface="Calibri"/>
            </a:endParaRPr>
          </a:p>
        </p:txBody>
      </p:sp>
      <p:sp>
        <p:nvSpPr>
          <p:cNvPr id="507" name="Google Shape;507;p15"/>
          <p:cNvSpPr/>
          <p:nvPr/>
        </p:nvSpPr>
        <p:spPr>
          <a:xfrm>
            <a:off x="4526280" y="4315968"/>
            <a:ext cx="3072384" cy="10972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An HTTP header on outbound calls, a field on every queue message. Miss one hop and the chain is cut from there down.</a:t>
            </a:r>
            <a:endParaRPr b="0" i="0" sz="1150" u="none" cap="none" strike="noStrike">
              <a:solidFill>
                <a:schemeClr val="dk1"/>
              </a:solidFill>
              <a:latin typeface="Calibri"/>
              <a:ea typeface="Calibri"/>
              <a:cs typeface="Calibri"/>
              <a:sym typeface="Calibri"/>
            </a:endParaRPr>
          </a:p>
        </p:txBody>
      </p:sp>
      <p:sp>
        <p:nvSpPr>
          <p:cNvPr id="508" name="Google Shape;508;p15"/>
          <p:cNvSpPr/>
          <p:nvPr/>
        </p:nvSpPr>
        <p:spPr>
          <a:xfrm>
            <a:off x="8046720" y="3730752"/>
            <a:ext cx="3511296" cy="1847088"/>
          </a:xfrm>
          <a:prstGeom prst="roundRect">
            <a:avLst>
              <a:gd fmla="val 4455"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5"/>
          <p:cNvSpPr/>
          <p:nvPr/>
        </p:nvSpPr>
        <p:spPr>
          <a:xfrm>
            <a:off x="8266176" y="3913632"/>
            <a:ext cx="292608" cy="292608"/>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5"/>
          <p:cNvSpPr/>
          <p:nvPr/>
        </p:nvSpPr>
        <p:spPr>
          <a:xfrm>
            <a:off x="8266176" y="391363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3</a:t>
            </a:r>
            <a:endParaRPr b="0" i="0" sz="1150" u="none" cap="none" strike="noStrike">
              <a:solidFill>
                <a:schemeClr val="dk1"/>
              </a:solidFill>
              <a:latin typeface="Calibri"/>
              <a:ea typeface="Calibri"/>
              <a:cs typeface="Calibri"/>
              <a:sym typeface="Calibri"/>
            </a:endParaRPr>
          </a:p>
        </p:txBody>
      </p:sp>
      <p:sp>
        <p:nvSpPr>
          <p:cNvPr id="511" name="Google Shape;511;p15"/>
          <p:cNvSpPr/>
          <p:nvPr/>
        </p:nvSpPr>
        <p:spPr>
          <a:xfrm>
            <a:off x="8668512" y="3913632"/>
            <a:ext cx="248716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This is a trace, badly</a:t>
            </a:r>
            <a:endParaRPr b="0" i="0" sz="1300" u="none" cap="none" strike="noStrike">
              <a:solidFill>
                <a:schemeClr val="dk1"/>
              </a:solidFill>
              <a:latin typeface="Calibri"/>
              <a:ea typeface="Calibri"/>
              <a:cs typeface="Calibri"/>
              <a:sym typeface="Calibri"/>
            </a:endParaRPr>
          </a:p>
        </p:txBody>
      </p:sp>
      <p:sp>
        <p:nvSpPr>
          <p:cNvPr id="512" name="Google Shape;512;p15"/>
          <p:cNvSpPr/>
          <p:nvPr/>
        </p:nvSpPr>
        <p:spPr>
          <a:xfrm>
            <a:off x="8266176" y="4315968"/>
            <a:ext cx="3072384" cy="10972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You have just reinvented distributed tracing without the timings or the parent-child tree. On Day 3 we use trace_id instead — and get all of it for free.</a:t>
            </a:r>
            <a:endParaRPr b="0" i="0" sz="1150" u="none" cap="none" strike="noStrike">
              <a:solidFill>
                <a:schemeClr val="dk1"/>
              </a:solidFill>
              <a:latin typeface="Calibri"/>
              <a:ea typeface="Calibri"/>
              <a:cs typeface="Calibri"/>
              <a:sym typeface="Calibri"/>
            </a:endParaRPr>
          </a:p>
        </p:txBody>
      </p:sp>
      <p:sp>
        <p:nvSpPr>
          <p:cNvPr id="513" name="Google Shape;513;p15"/>
          <p:cNvSpPr/>
          <p:nvPr/>
        </p:nvSpPr>
        <p:spPr>
          <a:xfrm>
            <a:off x="566928" y="5742432"/>
            <a:ext cx="11057839" cy="512064"/>
          </a:xfrm>
          <a:prstGeom prst="roundRect">
            <a:avLst>
              <a:gd fmla="val 16071"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5"/>
          <p:cNvSpPr/>
          <p:nvPr/>
        </p:nvSpPr>
        <p:spPr>
          <a:xfrm>
            <a:off x="768096" y="5861304"/>
            <a:ext cx="274320" cy="27432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5"/>
          <p:cNvSpPr/>
          <p:nvPr/>
        </p:nvSpPr>
        <p:spPr>
          <a:xfrm>
            <a:off x="768096" y="586130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516" name="Google Shape;516;p15"/>
          <p:cNvSpPr/>
          <p:nvPr/>
        </p:nvSpPr>
        <p:spPr>
          <a:xfrm>
            <a:off x="1170432" y="5742432"/>
            <a:ext cx="10234879" cy="512064"/>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So: put the trace_id in your log lines from the start. One field turns your logs and your traces into one searchable thing — the payoff slide at the end of this deck.</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1" name="Shape 521"/>
        <p:cNvGrpSpPr/>
        <p:nvPr/>
      </p:nvGrpSpPr>
      <p:grpSpPr>
        <a:xfrm>
          <a:off x="0" y="0"/>
          <a:ext cx="0" cy="0"/>
          <a:chOff x="0" y="0"/>
          <a:chExt cx="0" cy="0"/>
        </a:xfrm>
      </p:grpSpPr>
      <p:sp>
        <p:nvSpPr>
          <p:cNvPr id="522" name="Google Shape;522;p16"/>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THE PIPELINE, CONCRETELY</a:t>
            </a:r>
            <a:endParaRPr b="0" i="0" sz="1050" u="none" cap="none" strike="noStrike">
              <a:solidFill>
                <a:schemeClr val="dk1"/>
              </a:solidFill>
              <a:latin typeface="Calibri"/>
              <a:ea typeface="Calibri"/>
              <a:cs typeface="Calibri"/>
              <a:sym typeface="Calibri"/>
            </a:endParaRPr>
          </a:p>
        </p:txBody>
      </p:sp>
      <p:sp>
        <p:nvSpPr>
          <p:cNvPr id="523" name="Google Shape;523;p16"/>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From a print statement to a query box</a:t>
            </a:r>
            <a:endParaRPr b="0" i="0" sz="2900" u="none" cap="none" strike="noStrike">
              <a:solidFill>
                <a:schemeClr val="dk1"/>
              </a:solidFill>
              <a:latin typeface="Calibri"/>
              <a:ea typeface="Calibri"/>
              <a:cs typeface="Calibri"/>
              <a:sym typeface="Calibri"/>
            </a:endParaRPr>
          </a:p>
        </p:txBody>
      </p:sp>
      <p:sp>
        <p:nvSpPr>
          <p:cNvPr id="524" name="Google Shape;524;p16"/>
          <p:cNvSpPr/>
          <p:nvPr/>
        </p:nvSpPr>
        <p:spPr>
          <a:xfrm>
            <a:off x="10754258" y="402336"/>
            <a:ext cx="870509" cy="329184"/>
          </a:xfrm>
          <a:prstGeom prst="roundRect">
            <a:avLst>
              <a:gd fmla="val 50000" name="adj"/>
            </a:avLst>
          </a:prstGeom>
          <a:solidFill>
            <a:srgbClr val="FAEFE2"/>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6"/>
          <p:cNvSpPr/>
          <p:nvPr/>
        </p:nvSpPr>
        <p:spPr>
          <a:xfrm>
            <a:off x="10927994" y="525780"/>
            <a:ext cx="91440" cy="9144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6"/>
          <p:cNvSpPr/>
          <p:nvPr/>
        </p:nvSpPr>
        <p:spPr>
          <a:xfrm>
            <a:off x="11065154" y="402336"/>
            <a:ext cx="46817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00"/>
              <a:buFont typeface="Calibri"/>
              <a:buNone/>
            </a:pPr>
            <a:r>
              <a:rPr b="1" i="0" lang="en-US" sz="1000" u="none" cap="none" strike="noStrike">
                <a:solidFill>
                  <a:srgbClr val="BE6415"/>
                </a:solidFill>
                <a:latin typeface="Calibri"/>
                <a:ea typeface="Calibri"/>
                <a:cs typeface="Calibri"/>
                <a:sym typeface="Calibri"/>
              </a:rPr>
              <a:t>Logs</a:t>
            </a:r>
            <a:endParaRPr b="0" i="0" sz="1000" u="none" cap="none" strike="noStrike">
              <a:solidFill>
                <a:schemeClr val="dk1"/>
              </a:solidFill>
              <a:latin typeface="Calibri"/>
              <a:ea typeface="Calibri"/>
              <a:cs typeface="Calibri"/>
              <a:sym typeface="Calibri"/>
            </a:endParaRPr>
          </a:p>
        </p:txBody>
      </p:sp>
      <p:sp>
        <p:nvSpPr>
          <p:cNvPr id="527" name="Google Shape;527;p16"/>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528" name="Google Shape;528;p16"/>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
        <p:nvSpPr>
          <p:cNvPr id="529" name="Google Shape;529;p16"/>
          <p:cNvSpPr/>
          <p:nvPr/>
        </p:nvSpPr>
        <p:spPr>
          <a:xfrm>
            <a:off x="566928" y="1481328"/>
            <a:ext cx="2048256" cy="2286000"/>
          </a:xfrm>
          <a:prstGeom prst="roundRect">
            <a:avLst>
              <a:gd fmla="val 4018"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6"/>
          <p:cNvSpPr/>
          <p:nvPr/>
        </p:nvSpPr>
        <p:spPr>
          <a:xfrm>
            <a:off x="768096" y="1664208"/>
            <a:ext cx="292608" cy="29260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6"/>
          <p:cNvSpPr/>
          <p:nvPr/>
        </p:nvSpPr>
        <p:spPr>
          <a:xfrm>
            <a:off x="768096" y="166420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1</a:t>
            </a:r>
            <a:endParaRPr b="0" i="0" sz="1150" u="none" cap="none" strike="noStrike">
              <a:solidFill>
                <a:schemeClr val="dk1"/>
              </a:solidFill>
              <a:latin typeface="Calibri"/>
              <a:ea typeface="Calibri"/>
              <a:cs typeface="Calibri"/>
              <a:sym typeface="Calibri"/>
            </a:endParaRPr>
          </a:p>
        </p:txBody>
      </p:sp>
      <p:sp>
        <p:nvSpPr>
          <p:cNvPr id="532" name="Google Shape;532;p16"/>
          <p:cNvSpPr/>
          <p:nvPr/>
        </p:nvSpPr>
        <p:spPr>
          <a:xfrm>
            <a:off x="731520" y="2084832"/>
            <a:ext cx="17190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50"/>
              <a:buFont typeface="Calibri"/>
              <a:buNone/>
            </a:pPr>
            <a:r>
              <a:rPr b="1" i="0" lang="en-US" sz="1350" u="none" cap="none" strike="noStrike">
                <a:solidFill>
                  <a:srgbClr val="16202C"/>
                </a:solidFill>
                <a:latin typeface="Calibri"/>
                <a:ea typeface="Calibri"/>
                <a:cs typeface="Calibri"/>
                <a:sym typeface="Calibri"/>
              </a:rPr>
              <a:t>Your code</a:t>
            </a:r>
            <a:endParaRPr b="0" i="0" sz="1350" u="none" cap="none" strike="noStrike">
              <a:solidFill>
                <a:schemeClr val="dk1"/>
              </a:solidFill>
              <a:latin typeface="Calibri"/>
              <a:ea typeface="Calibri"/>
              <a:cs typeface="Calibri"/>
              <a:sym typeface="Calibri"/>
            </a:endParaRPr>
          </a:p>
        </p:txBody>
      </p:sp>
      <p:sp>
        <p:nvSpPr>
          <p:cNvPr id="533" name="Google Shape;533;p16"/>
          <p:cNvSpPr/>
          <p:nvPr/>
        </p:nvSpPr>
        <p:spPr>
          <a:xfrm>
            <a:off x="731520" y="2395728"/>
            <a:ext cx="1719072" cy="40233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100"/>
              <a:buFont typeface="Calibri"/>
              <a:buNone/>
            </a:pPr>
            <a:r>
              <a:rPr b="0" i="0" lang="en-US" sz="1100" u="none" cap="none" strike="noStrike">
                <a:solidFill>
                  <a:srgbClr val="5C6B7A"/>
                </a:solidFill>
                <a:latin typeface="Calibri"/>
                <a:ea typeface="Calibri"/>
                <a:cs typeface="Calibri"/>
                <a:sym typeface="Calibri"/>
              </a:rPr>
              <a:t>writes JSON to stdout</a:t>
            </a:r>
            <a:endParaRPr b="0" i="0" sz="1100" u="none" cap="none" strike="noStrike">
              <a:solidFill>
                <a:schemeClr val="dk1"/>
              </a:solidFill>
              <a:latin typeface="Calibri"/>
              <a:ea typeface="Calibri"/>
              <a:cs typeface="Calibri"/>
              <a:sym typeface="Calibri"/>
            </a:endParaRPr>
          </a:p>
        </p:txBody>
      </p:sp>
      <p:sp>
        <p:nvSpPr>
          <p:cNvPr id="534" name="Google Shape;534;p16"/>
          <p:cNvSpPr/>
          <p:nvPr/>
        </p:nvSpPr>
        <p:spPr>
          <a:xfrm>
            <a:off x="731520" y="2834640"/>
            <a:ext cx="1719072" cy="822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E6415"/>
              </a:buClr>
              <a:buSzPts val="950"/>
              <a:buFont typeface="Calibri"/>
              <a:buNone/>
            </a:pPr>
            <a:r>
              <a:rPr b="0" i="1" lang="en-US" sz="950" u="none" cap="none" strike="noStrike">
                <a:solidFill>
                  <a:srgbClr val="BE6415"/>
                </a:solidFill>
                <a:latin typeface="Calibri"/>
                <a:ea typeface="Calibri"/>
                <a:cs typeface="Calibri"/>
                <a:sym typeface="Calibri"/>
              </a:rPr>
              <a:t>pino / structlog / slog</a:t>
            </a:r>
            <a:endParaRPr b="0" i="0" sz="950" u="none" cap="none" strike="noStrike">
              <a:solidFill>
                <a:schemeClr val="dk1"/>
              </a:solidFill>
              <a:latin typeface="Calibri"/>
              <a:ea typeface="Calibri"/>
              <a:cs typeface="Calibri"/>
              <a:sym typeface="Calibri"/>
            </a:endParaRPr>
          </a:p>
        </p:txBody>
      </p:sp>
      <p:sp>
        <p:nvSpPr>
          <p:cNvPr id="535" name="Google Shape;535;p16"/>
          <p:cNvSpPr/>
          <p:nvPr/>
        </p:nvSpPr>
        <p:spPr>
          <a:xfrm>
            <a:off x="2615184" y="2468880"/>
            <a:ext cx="1828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600"/>
              <a:buFont typeface="Calibri"/>
              <a:buNone/>
            </a:pPr>
            <a:r>
              <a:rPr b="1" i="0" lang="en-US" sz="1600" u="none" cap="none" strike="noStrike">
                <a:solidFill>
                  <a:srgbClr val="93A2B0"/>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536" name="Google Shape;536;p16"/>
          <p:cNvSpPr/>
          <p:nvPr/>
        </p:nvSpPr>
        <p:spPr>
          <a:xfrm>
            <a:off x="2798064" y="1481328"/>
            <a:ext cx="2048256" cy="2286000"/>
          </a:xfrm>
          <a:prstGeom prst="roundRect">
            <a:avLst>
              <a:gd fmla="val 4018"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6"/>
          <p:cNvSpPr/>
          <p:nvPr/>
        </p:nvSpPr>
        <p:spPr>
          <a:xfrm>
            <a:off x="2999232" y="1664208"/>
            <a:ext cx="292608" cy="29260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6"/>
          <p:cNvSpPr/>
          <p:nvPr/>
        </p:nvSpPr>
        <p:spPr>
          <a:xfrm>
            <a:off x="2999232" y="166420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2</a:t>
            </a:r>
            <a:endParaRPr b="0" i="0" sz="1150" u="none" cap="none" strike="noStrike">
              <a:solidFill>
                <a:schemeClr val="dk1"/>
              </a:solidFill>
              <a:latin typeface="Calibri"/>
              <a:ea typeface="Calibri"/>
              <a:cs typeface="Calibri"/>
              <a:sym typeface="Calibri"/>
            </a:endParaRPr>
          </a:p>
        </p:txBody>
      </p:sp>
      <p:sp>
        <p:nvSpPr>
          <p:cNvPr id="539" name="Google Shape;539;p16"/>
          <p:cNvSpPr/>
          <p:nvPr/>
        </p:nvSpPr>
        <p:spPr>
          <a:xfrm>
            <a:off x="2962656" y="2084832"/>
            <a:ext cx="17190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50"/>
              <a:buFont typeface="Calibri"/>
              <a:buNone/>
            </a:pPr>
            <a:r>
              <a:rPr b="1" i="0" lang="en-US" sz="1350" u="none" cap="none" strike="noStrike">
                <a:solidFill>
                  <a:srgbClr val="16202C"/>
                </a:solidFill>
                <a:latin typeface="Calibri"/>
                <a:ea typeface="Calibri"/>
                <a:cs typeface="Calibri"/>
                <a:sym typeface="Calibri"/>
              </a:rPr>
              <a:t>The runtime</a:t>
            </a:r>
            <a:endParaRPr b="0" i="0" sz="1350" u="none" cap="none" strike="noStrike">
              <a:solidFill>
                <a:schemeClr val="dk1"/>
              </a:solidFill>
              <a:latin typeface="Calibri"/>
              <a:ea typeface="Calibri"/>
              <a:cs typeface="Calibri"/>
              <a:sym typeface="Calibri"/>
            </a:endParaRPr>
          </a:p>
        </p:txBody>
      </p:sp>
      <p:sp>
        <p:nvSpPr>
          <p:cNvPr id="540" name="Google Shape;540;p16"/>
          <p:cNvSpPr/>
          <p:nvPr/>
        </p:nvSpPr>
        <p:spPr>
          <a:xfrm>
            <a:off x="2962656" y="2395728"/>
            <a:ext cx="1719072" cy="40233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100"/>
              <a:buFont typeface="Calibri"/>
              <a:buNone/>
            </a:pPr>
            <a:r>
              <a:rPr b="0" i="0" lang="en-US" sz="1100" u="none" cap="none" strike="noStrike">
                <a:solidFill>
                  <a:srgbClr val="5C6B7A"/>
                </a:solidFill>
                <a:latin typeface="Calibri"/>
                <a:ea typeface="Calibri"/>
                <a:cs typeface="Calibri"/>
                <a:sym typeface="Calibri"/>
              </a:rPr>
              <a:t>captures stdout to a file</a:t>
            </a:r>
            <a:endParaRPr b="0" i="0" sz="1100" u="none" cap="none" strike="noStrike">
              <a:solidFill>
                <a:schemeClr val="dk1"/>
              </a:solidFill>
              <a:latin typeface="Calibri"/>
              <a:ea typeface="Calibri"/>
              <a:cs typeface="Calibri"/>
              <a:sym typeface="Calibri"/>
            </a:endParaRPr>
          </a:p>
        </p:txBody>
      </p:sp>
      <p:sp>
        <p:nvSpPr>
          <p:cNvPr id="541" name="Google Shape;541;p16"/>
          <p:cNvSpPr/>
          <p:nvPr/>
        </p:nvSpPr>
        <p:spPr>
          <a:xfrm>
            <a:off x="2962656" y="2834640"/>
            <a:ext cx="1719072" cy="822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E6415"/>
              </a:buClr>
              <a:buSzPts val="950"/>
              <a:buFont typeface="Calibri"/>
              <a:buNone/>
            </a:pPr>
            <a:r>
              <a:rPr b="0" i="1" lang="en-US" sz="950" u="none" cap="none" strike="noStrike">
                <a:solidFill>
                  <a:srgbClr val="BE6415"/>
                </a:solidFill>
                <a:latin typeface="Calibri"/>
                <a:ea typeface="Calibri"/>
                <a:cs typeface="Calibri"/>
                <a:sym typeface="Calibri"/>
              </a:rPr>
              <a:t>Docker json-file driver,</a:t>
            </a:r>
            <a:endParaRPr b="0" i="0" sz="95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BE6415"/>
              </a:buClr>
              <a:buSzPts val="950"/>
              <a:buFont typeface="Calibri"/>
              <a:buNone/>
            </a:pPr>
            <a:r>
              <a:rPr b="0" i="1" lang="en-US" sz="950" u="none" cap="none" strike="noStrike">
                <a:solidFill>
                  <a:srgbClr val="BE6415"/>
                </a:solidFill>
                <a:latin typeface="Calibri"/>
                <a:ea typeface="Calibri"/>
                <a:cs typeface="Calibri"/>
                <a:sym typeface="Calibri"/>
              </a:rPr>
              <a:t>kubelet on /var/log/pods</a:t>
            </a:r>
            <a:endParaRPr b="0" i="0" sz="950" u="none" cap="none" strike="noStrike">
              <a:solidFill>
                <a:schemeClr val="dk1"/>
              </a:solidFill>
              <a:latin typeface="Calibri"/>
              <a:ea typeface="Calibri"/>
              <a:cs typeface="Calibri"/>
              <a:sym typeface="Calibri"/>
            </a:endParaRPr>
          </a:p>
        </p:txBody>
      </p:sp>
      <p:sp>
        <p:nvSpPr>
          <p:cNvPr id="542" name="Google Shape;542;p16"/>
          <p:cNvSpPr/>
          <p:nvPr/>
        </p:nvSpPr>
        <p:spPr>
          <a:xfrm>
            <a:off x="4846320" y="2468880"/>
            <a:ext cx="1828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600"/>
              <a:buFont typeface="Calibri"/>
              <a:buNone/>
            </a:pPr>
            <a:r>
              <a:rPr b="1" i="0" lang="en-US" sz="1600" u="none" cap="none" strike="noStrike">
                <a:solidFill>
                  <a:srgbClr val="93A2B0"/>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543" name="Google Shape;543;p16"/>
          <p:cNvSpPr/>
          <p:nvPr/>
        </p:nvSpPr>
        <p:spPr>
          <a:xfrm>
            <a:off x="5029200" y="1481328"/>
            <a:ext cx="2048256" cy="2286000"/>
          </a:xfrm>
          <a:prstGeom prst="roundRect">
            <a:avLst>
              <a:gd fmla="val 4018"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6"/>
          <p:cNvSpPr/>
          <p:nvPr/>
        </p:nvSpPr>
        <p:spPr>
          <a:xfrm>
            <a:off x="5230368" y="1664208"/>
            <a:ext cx="292608" cy="29260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a:off x="5230368" y="166420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3</a:t>
            </a:r>
            <a:endParaRPr b="0" i="0" sz="1150" u="none" cap="none" strike="noStrike">
              <a:solidFill>
                <a:schemeClr val="dk1"/>
              </a:solidFill>
              <a:latin typeface="Calibri"/>
              <a:ea typeface="Calibri"/>
              <a:cs typeface="Calibri"/>
              <a:sym typeface="Calibri"/>
            </a:endParaRPr>
          </a:p>
        </p:txBody>
      </p:sp>
      <p:sp>
        <p:nvSpPr>
          <p:cNvPr id="546" name="Google Shape;546;p16"/>
          <p:cNvSpPr/>
          <p:nvPr/>
        </p:nvSpPr>
        <p:spPr>
          <a:xfrm>
            <a:off x="5193792" y="2084832"/>
            <a:ext cx="17190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50"/>
              <a:buFont typeface="Calibri"/>
              <a:buNone/>
            </a:pPr>
            <a:r>
              <a:rPr b="1" i="0" lang="en-US" sz="1350" u="none" cap="none" strike="noStrike">
                <a:solidFill>
                  <a:srgbClr val="16202C"/>
                </a:solidFill>
                <a:latin typeface="Calibri"/>
                <a:ea typeface="Calibri"/>
                <a:cs typeface="Calibri"/>
                <a:sym typeface="Calibri"/>
              </a:rPr>
              <a:t>An agent</a:t>
            </a:r>
            <a:endParaRPr b="0" i="0" sz="1350" u="none" cap="none" strike="noStrike">
              <a:solidFill>
                <a:schemeClr val="dk1"/>
              </a:solidFill>
              <a:latin typeface="Calibri"/>
              <a:ea typeface="Calibri"/>
              <a:cs typeface="Calibri"/>
              <a:sym typeface="Calibri"/>
            </a:endParaRPr>
          </a:p>
        </p:txBody>
      </p:sp>
      <p:sp>
        <p:nvSpPr>
          <p:cNvPr id="547" name="Google Shape;547;p16"/>
          <p:cNvSpPr/>
          <p:nvPr/>
        </p:nvSpPr>
        <p:spPr>
          <a:xfrm>
            <a:off x="5193792" y="2395728"/>
            <a:ext cx="1719072" cy="40233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100"/>
              <a:buFont typeface="Calibri"/>
              <a:buNone/>
            </a:pPr>
            <a:r>
              <a:rPr b="0" i="0" lang="en-US" sz="1100" u="none" cap="none" strike="noStrike">
                <a:solidFill>
                  <a:srgbClr val="5C6B7A"/>
                </a:solidFill>
                <a:latin typeface="Calibri"/>
                <a:ea typeface="Calibri"/>
                <a:cs typeface="Calibri"/>
                <a:sym typeface="Calibri"/>
              </a:rPr>
              <a:t>tails, labels and ships it</a:t>
            </a:r>
            <a:endParaRPr b="0" i="0" sz="1100" u="none" cap="none" strike="noStrike">
              <a:solidFill>
                <a:schemeClr val="dk1"/>
              </a:solidFill>
              <a:latin typeface="Calibri"/>
              <a:ea typeface="Calibri"/>
              <a:cs typeface="Calibri"/>
              <a:sym typeface="Calibri"/>
            </a:endParaRPr>
          </a:p>
        </p:txBody>
      </p:sp>
      <p:sp>
        <p:nvSpPr>
          <p:cNvPr id="548" name="Google Shape;548;p16"/>
          <p:cNvSpPr/>
          <p:nvPr/>
        </p:nvSpPr>
        <p:spPr>
          <a:xfrm>
            <a:off x="5193792" y="2834640"/>
            <a:ext cx="1719072" cy="822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E6415"/>
              </a:buClr>
              <a:buSzPts val="950"/>
              <a:buFont typeface="Calibri"/>
              <a:buNone/>
            </a:pPr>
            <a:r>
              <a:rPr b="0" i="1" lang="en-US" sz="950" u="none" cap="none" strike="noStrike">
                <a:solidFill>
                  <a:srgbClr val="BE6415"/>
                </a:solidFill>
                <a:latin typeface="Calibri"/>
                <a:ea typeface="Calibri"/>
                <a:cs typeface="Calibri"/>
                <a:sym typeface="Calibri"/>
              </a:rPr>
              <a:t>Grafana Alloy, OTel Collector,</a:t>
            </a:r>
            <a:endParaRPr b="0" i="0" sz="95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BE6415"/>
              </a:buClr>
              <a:buSzPts val="950"/>
              <a:buFont typeface="Calibri"/>
              <a:buNone/>
            </a:pPr>
            <a:r>
              <a:rPr b="0" i="1" lang="en-US" sz="950" u="none" cap="none" strike="noStrike">
                <a:solidFill>
                  <a:srgbClr val="BE6415"/>
                </a:solidFill>
                <a:latin typeface="Calibri"/>
                <a:ea typeface="Calibri"/>
                <a:cs typeface="Calibri"/>
                <a:sym typeface="Calibri"/>
              </a:rPr>
              <a:t>Fluent Bit, Vector</a:t>
            </a:r>
            <a:endParaRPr b="0" i="0" sz="950" u="none" cap="none" strike="noStrike">
              <a:solidFill>
                <a:schemeClr val="dk1"/>
              </a:solidFill>
              <a:latin typeface="Calibri"/>
              <a:ea typeface="Calibri"/>
              <a:cs typeface="Calibri"/>
              <a:sym typeface="Calibri"/>
            </a:endParaRPr>
          </a:p>
        </p:txBody>
      </p:sp>
      <p:sp>
        <p:nvSpPr>
          <p:cNvPr id="549" name="Google Shape;549;p16"/>
          <p:cNvSpPr/>
          <p:nvPr/>
        </p:nvSpPr>
        <p:spPr>
          <a:xfrm>
            <a:off x="7077456" y="2468880"/>
            <a:ext cx="1828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600"/>
              <a:buFont typeface="Calibri"/>
              <a:buNone/>
            </a:pPr>
            <a:r>
              <a:rPr b="1" i="0" lang="en-US" sz="1600" u="none" cap="none" strike="noStrike">
                <a:solidFill>
                  <a:srgbClr val="93A2B0"/>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550" name="Google Shape;550;p16"/>
          <p:cNvSpPr/>
          <p:nvPr/>
        </p:nvSpPr>
        <p:spPr>
          <a:xfrm>
            <a:off x="7260336" y="1481328"/>
            <a:ext cx="2048256" cy="2286000"/>
          </a:xfrm>
          <a:prstGeom prst="roundRect">
            <a:avLst>
              <a:gd fmla="val 4018"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6"/>
          <p:cNvSpPr/>
          <p:nvPr/>
        </p:nvSpPr>
        <p:spPr>
          <a:xfrm>
            <a:off x="7461504" y="1664208"/>
            <a:ext cx="292608" cy="29260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6"/>
          <p:cNvSpPr/>
          <p:nvPr/>
        </p:nvSpPr>
        <p:spPr>
          <a:xfrm>
            <a:off x="7461504" y="166420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4</a:t>
            </a:r>
            <a:endParaRPr b="0" i="0" sz="1150" u="none" cap="none" strike="noStrike">
              <a:solidFill>
                <a:schemeClr val="dk1"/>
              </a:solidFill>
              <a:latin typeface="Calibri"/>
              <a:ea typeface="Calibri"/>
              <a:cs typeface="Calibri"/>
              <a:sym typeface="Calibri"/>
            </a:endParaRPr>
          </a:p>
        </p:txBody>
      </p:sp>
      <p:sp>
        <p:nvSpPr>
          <p:cNvPr id="553" name="Google Shape;553;p16"/>
          <p:cNvSpPr/>
          <p:nvPr/>
        </p:nvSpPr>
        <p:spPr>
          <a:xfrm>
            <a:off x="7424928" y="2084832"/>
            <a:ext cx="17190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50"/>
              <a:buFont typeface="Calibri"/>
              <a:buNone/>
            </a:pPr>
            <a:r>
              <a:rPr b="1" i="0" lang="en-US" sz="1350" u="none" cap="none" strike="noStrike">
                <a:solidFill>
                  <a:srgbClr val="16202C"/>
                </a:solidFill>
                <a:latin typeface="Calibri"/>
                <a:ea typeface="Calibri"/>
                <a:cs typeface="Calibri"/>
                <a:sym typeface="Calibri"/>
              </a:rPr>
              <a:t>A log store</a:t>
            </a:r>
            <a:endParaRPr b="0" i="0" sz="1350" u="none" cap="none" strike="noStrike">
              <a:solidFill>
                <a:schemeClr val="dk1"/>
              </a:solidFill>
              <a:latin typeface="Calibri"/>
              <a:ea typeface="Calibri"/>
              <a:cs typeface="Calibri"/>
              <a:sym typeface="Calibri"/>
            </a:endParaRPr>
          </a:p>
        </p:txBody>
      </p:sp>
      <p:sp>
        <p:nvSpPr>
          <p:cNvPr id="554" name="Google Shape;554;p16"/>
          <p:cNvSpPr/>
          <p:nvPr/>
        </p:nvSpPr>
        <p:spPr>
          <a:xfrm>
            <a:off x="7424928" y="2395728"/>
            <a:ext cx="1719072" cy="40233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100"/>
              <a:buFont typeface="Calibri"/>
              <a:buNone/>
            </a:pPr>
            <a:r>
              <a:rPr b="0" i="0" lang="en-US" sz="1100" u="none" cap="none" strike="noStrike">
                <a:solidFill>
                  <a:srgbClr val="5C6B7A"/>
                </a:solidFill>
                <a:latin typeface="Calibri"/>
                <a:ea typeface="Calibri"/>
                <a:cs typeface="Calibri"/>
                <a:sym typeface="Calibri"/>
              </a:rPr>
              <a:t>indexes and retains it</a:t>
            </a:r>
            <a:endParaRPr b="0" i="0" sz="1100" u="none" cap="none" strike="noStrike">
              <a:solidFill>
                <a:schemeClr val="dk1"/>
              </a:solidFill>
              <a:latin typeface="Calibri"/>
              <a:ea typeface="Calibri"/>
              <a:cs typeface="Calibri"/>
              <a:sym typeface="Calibri"/>
            </a:endParaRPr>
          </a:p>
        </p:txBody>
      </p:sp>
      <p:sp>
        <p:nvSpPr>
          <p:cNvPr id="555" name="Google Shape;555;p16"/>
          <p:cNvSpPr/>
          <p:nvPr/>
        </p:nvSpPr>
        <p:spPr>
          <a:xfrm>
            <a:off x="7424928" y="2834640"/>
            <a:ext cx="1719072" cy="822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E6415"/>
              </a:buClr>
              <a:buSzPts val="950"/>
              <a:buFont typeface="Calibri"/>
              <a:buNone/>
            </a:pPr>
            <a:r>
              <a:rPr b="0" i="1" lang="en-US" sz="950" u="none" cap="none" strike="noStrike">
                <a:solidFill>
                  <a:srgbClr val="BE6415"/>
                </a:solidFill>
                <a:latin typeface="Calibri"/>
                <a:ea typeface="Calibri"/>
                <a:cs typeface="Calibri"/>
                <a:sym typeface="Calibri"/>
              </a:rPr>
              <a:t>Loki, OpenSearch,</a:t>
            </a:r>
            <a:endParaRPr b="0" i="0" sz="95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BE6415"/>
              </a:buClr>
              <a:buSzPts val="950"/>
              <a:buFont typeface="Calibri"/>
              <a:buNone/>
            </a:pPr>
            <a:r>
              <a:rPr b="0" i="1" lang="en-US" sz="950" u="none" cap="none" strike="noStrike">
                <a:solidFill>
                  <a:srgbClr val="BE6415"/>
                </a:solidFill>
                <a:latin typeface="Calibri"/>
                <a:ea typeface="Calibri"/>
                <a:cs typeface="Calibri"/>
                <a:sym typeface="Calibri"/>
              </a:rPr>
              <a:t>Elasticsearch, ClickHouse</a:t>
            </a:r>
            <a:endParaRPr b="0" i="0" sz="950" u="none" cap="none" strike="noStrike">
              <a:solidFill>
                <a:schemeClr val="dk1"/>
              </a:solidFill>
              <a:latin typeface="Calibri"/>
              <a:ea typeface="Calibri"/>
              <a:cs typeface="Calibri"/>
              <a:sym typeface="Calibri"/>
            </a:endParaRPr>
          </a:p>
        </p:txBody>
      </p:sp>
      <p:sp>
        <p:nvSpPr>
          <p:cNvPr id="556" name="Google Shape;556;p16"/>
          <p:cNvSpPr/>
          <p:nvPr/>
        </p:nvSpPr>
        <p:spPr>
          <a:xfrm>
            <a:off x="9308592" y="2468880"/>
            <a:ext cx="1828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600"/>
              <a:buFont typeface="Calibri"/>
              <a:buNone/>
            </a:pPr>
            <a:r>
              <a:rPr b="1" i="0" lang="en-US" sz="1600" u="none" cap="none" strike="noStrike">
                <a:solidFill>
                  <a:srgbClr val="93A2B0"/>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557" name="Google Shape;557;p16"/>
          <p:cNvSpPr/>
          <p:nvPr/>
        </p:nvSpPr>
        <p:spPr>
          <a:xfrm>
            <a:off x="9491472" y="1481328"/>
            <a:ext cx="2048256" cy="2286000"/>
          </a:xfrm>
          <a:prstGeom prst="roundRect">
            <a:avLst>
              <a:gd fmla="val 4018"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a:off x="9692640" y="1664208"/>
            <a:ext cx="292608" cy="29260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6"/>
          <p:cNvSpPr/>
          <p:nvPr/>
        </p:nvSpPr>
        <p:spPr>
          <a:xfrm>
            <a:off x="9692640" y="166420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5</a:t>
            </a:r>
            <a:endParaRPr b="0" i="0" sz="1150" u="none" cap="none" strike="noStrike">
              <a:solidFill>
                <a:schemeClr val="dk1"/>
              </a:solidFill>
              <a:latin typeface="Calibri"/>
              <a:ea typeface="Calibri"/>
              <a:cs typeface="Calibri"/>
              <a:sym typeface="Calibri"/>
            </a:endParaRPr>
          </a:p>
        </p:txBody>
      </p:sp>
      <p:sp>
        <p:nvSpPr>
          <p:cNvPr id="560" name="Google Shape;560;p16"/>
          <p:cNvSpPr/>
          <p:nvPr/>
        </p:nvSpPr>
        <p:spPr>
          <a:xfrm>
            <a:off x="9656064" y="2084832"/>
            <a:ext cx="171907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50"/>
              <a:buFont typeface="Calibri"/>
              <a:buNone/>
            </a:pPr>
            <a:r>
              <a:rPr b="1" i="0" lang="en-US" sz="1350" u="none" cap="none" strike="noStrike">
                <a:solidFill>
                  <a:srgbClr val="16202C"/>
                </a:solidFill>
                <a:latin typeface="Calibri"/>
                <a:ea typeface="Calibri"/>
                <a:cs typeface="Calibri"/>
                <a:sym typeface="Calibri"/>
              </a:rPr>
              <a:t>A UI</a:t>
            </a:r>
            <a:endParaRPr b="0" i="0" sz="1350" u="none" cap="none" strike="noStrike">
              <a:solidFill>
                <a:schemeClr val="dk1"/>
              </a:solidFill>
              <a:latin typeface="Calibri"/>
              <a:ea typeface="Calibri"/>
              <a:cs typeface="Calibri"/>
              <a:sym typeface="Calibri"/>
            </a:endParaRPr>
          </a:p>
        </p:txBody>
      </p:sp>
      <p:sp>
        <p:nvSpPr>
          <p:cNvPr id="561" name="Google Shape;561;p16"/>
          <p:cNvSpPr/>
          <p:nvPr/>
        </p:nvSpPr>
        <p:spPr>
          <a:xfrm>
            <a:off x="9656064" y="2395728"/>
            <a:ext cx="1719072" cy="40233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100"/>
              <a:buFont typeface="Calibri"/>
              <a:buNone/>
            </a:pPr>
            <a:r>
              <a:rPr b="0" i="0" lang="en-US" sz="1100" u="none" cap="none" strike="noStrike">
                <a:solidFill>
                  <a:srgbClr val="5C6B7A"/>
                </a:solidFill>
                <a:latin typeface="Calibri"/>
                <a:ea typeface="Calibri"/>
                <a:cs typeface="Calibri"/>
                <a:sym typeface="Calibri"/>
              </a:rPr>
              <a:t>queries and renders it</a:t>
            </a:r>
            <a:endParaRPr b="0" i="0" sz="1100" u="none" cap="none" strike="noStrike">
              <a:solidFill>
                <a:schemeClr val="dk1"/>
              </a:solidFill>
              <a:latin typeface="Calibri"/>
              <a:ea typeface="Calibri"/>
              <a:cs typeface="Calibri"/>
              <a:sym typeface="Calibri"/>
            </a:endParaRPr>
          </a:p>
        </p:txBody>
      </p:sp>
      <p:sp>
        <p:nvSpPr>
          <p:cNvPr id="562" name="Google Shape;562;p16"/>
          <p:cNvSpPr/>
          <p:nvPr/>
        </p:nvSpPr>
        <p:spPr>
          <a:xfrm>
            <a:off x="9656064" y="2834640"/>
            <a:ext cx="1719072" cy="8229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E6415"/>
              </a:buClr>
              <a:buSzPts val="950"/>
              <a:buFont typeface="Calibri"/>
              <a:buNone/>
            </a:pPr>
            <a:r>
              <a:rPr b="0" i="1" lang="en-US" sz="950" u="none" cap="none" strike="noStrike">
                <a:solidFill>
                  <a:srgbClr val="BE6415"/>
                </a:solidFill>
                <a:latin typeface="Calibri"/>
                <a:ea typeface="Calibri"/>
                <a:cs typeface="Calibri"/>
                <a:sym typeface="Calibri"/>
              </a:rPr>
              <a:t>Grafana, Kibana</a:t>
            </a:r>
            <a:endParaRPr b="0" i="0" sz="950" u="none" cap="none" strike="noStrike">
              <a:solidFill>
                <a:schemeClr val="dk1"/>
              </a:solidFill>
              <a:latin typeface="Calibri"/>
              <a:ea typeface="Calibri"/>
              <a:cs typeface="Calibri"/>
              <a:sym typeface="Calibri"/>
            </a:endParaRPr>
          </a:p>
        </p:txBody>
      </p:sp>
      <p:sp>
        <p:nvSpPr>
          <p:cNvPr id="563" name="Google Shape;563;p16"/>
          <p:cNvSpPr/>
          <p:nvPr/>
        </p:nvSpPr>
        <p:spPr>
          <a:xfrm>
            <a:off x="566928" y="3968496"/>
            <a:ext cx="5349240" cy="1481328"/>
          </a:xfrm>
          <a:prstGeom prst="roundRect">
            <a:avLst>
              <a:gd fmla="val 5556"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6"/>
          <p:cNvSpPr/>
          <p:nvPr/>
        </p:nvSpPr>
        <p:spPr>
          <a:xfrm>
            <a:off x="786384" y="4151376"/>
            <a:ext cx="292608" cy="29260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6"/>
          <p:cNvSpPr/>
          <p:nvPr/>
        </p:nvSpPr>
        <p:spPr>
          <a:xfrm>
            <a:off x="786384" y="415137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3</a:t>
            </a:r>
            <a:endParaRPr b="0" i="0" sz="1150" u="none" cap="none" strike="noStrike">
              <a:solidFill>
                <a:schemeClr val="dk1"/>
              </a:solidFill>
              <a:latin typeface="Calibri"/>
              <a:ea typeface="Calibri"/>
              <a:cs typeface="Calibri"/>
              <a:sym typeface="Calibri"/>
            </a:endParaRPr>
          </a:p>
        </p:txBody>
      </p:sp>
      <p:sp>
        <p:nvSpPr>
          <p:cNvPr id="566" name="Google Shape;566;p16"/>
          <p:cNvSpPr/>
          <p:nvPr/>
        </p:nvSpPr>
        <p:spPr>
          <a:xfrm>
            <a:off x="1188720" y="4151376"/>
            <a:ext cx="4325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Why the agent is a separate process</a:t>
            </a:r>
            <a:endParaRPr b="0" i="0" sz="1300" u="none" cap="none" strike="noStrike">
              <a:solidFill>
                <a:schemeClr val="dk1"/>
              </a:solidFill>
              <a:latin typeface="Calibri"/>
              <a:ea typeface="Calibri"/>
              <a:cs typeface="Calibri"/>
              <a:sym typeface="Calibri"/>
            </a:endParaRPr>
          </a:p>
        </p:txBody>
      </p:sp>
      <p:sp>
        <p:nvSpPr>
          <p:cNvPr id="567" name="Google Shape;567;p16"/>
          <p:cNvSpPr/>
          <p:nvPr/>
        </p:nvSpPr>
        <p:spPr>
          <a:xfrm>
            <a:off x="786384" y="4553712"/>
            <a:ext cx="4910328"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It survives your app crashing, buffers when the backend is down, adds host and container metadata your app cannot know, and lets you change backends without touching code.</a:t>
            </a:r>
            <a:endParaRPr b="0" i="0" sz="1150" u="none" cap="none" strike="noStrike">
              <a:solidFill>
                <a:schemeClr val="dk1"/>
              </a:solidFill>
              <a:latin typeface="Calibri"/>
              <a:ea typeface="Calibri"/>
              <a:cs typeface="Calibri"/>
              <a:sym typeface="Calibri"/>
            </a:endParaRPr>
          </a:p>
        </p:txBody>
      </p:sp>
      <p:sp>
        <p:nvSpPr>
          <p:cNvPr id="568" name="Google Shape;568;p16"/>
          <p:cNvSpPr/>
          <p:nvPr/>
        </p:nvSpPr>
        <p:spPr>
          <a:xfrm>
            <a:off x="6281928" y="3968496"/>
            <a:ext cx="5349240" cy="1481328"/>
          </a:xfrm>
          <a:prstGeom prst="roundRect">
            <a:avLst>
              <a:gd fmla="val 5556"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6"/>
          <p:cNvSpPr/>
          <p:nvPr/>
        </p:nvSpPr>
        <p:spPr>
          <a:xfrm>
            <a:off x="6501384" y="4151376"/>
            <a:ext cx="292608" cy="292608"/>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6"/>
          <p:cNvSpPr/>
          <p:nvPr/>
        </p:nvSpPr>
        <p:spPr>
          <a:xfrm>
            <a:off x="6501384" y="415137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571" name="Google Shape;571;p16"/>
          <p:cNvSpPr/>
          <p:nvPr/>
        </p:nvSpPr>
        <p:spPr>
          <a:xfrm>
            <a:off x="6903720" y="4151376"/>
            <a:ext cx="4325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Promtail is dead — it reached end of life on 2 March 2026</a:t>
            </a:r>
            <a:endParaRPr b="0" i="0" sz="1300" u="none" cap="none" strike="noStrike">
              <a:solidFill>
                <a:schemeClr val="dk1"/>
              </a:solidFill>
              <a:latin typeface="Calibri"/>
              <a:ea typeface="Calibri"/>
              <a:cs typeface="Calibri"/>
              <a:sym typeface="Calibri"/>
            </a:endParaRPr>
          </a:p>
        </p:txBody>
      </p:sp>
      <p:sp>
        <p:nvSpPr>
          <p:cNvPr id="572" name="Google Shape;572;p16"/>
          <p:cNvSpPr/>
          <p:nvPr/>
        </p:nvSpPr>
        <p:spPr>
          <a:xfrm>
            <a:off x="6501384" y="4553712"/>
            <a:ext cx="4910328"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Every tutorial older than a year still uses it. Grafana Alloy replaces it and is a distribution of the OpenTelemetry Collector, so it handles logs, metrics and traces in one agent.</a:t>
            </a:r>
            <a:endParaRPr b="0" i="0" sz="1150" u="none" cap="none" strike="noStrike">
              <a:solidFill>
                <a:schemeClr val="dk1"/>
              </a:solidFill>
              <a:latin typeface="Calibri"/>
              <a:ea typeface="Calibri"/>
              <a:cs typeface="Calibri"/>
              <a:sym typeface="Calibri"/>
            </a:endParaRPr>
          </a:p>
        </p:txBody>
      </p:sp>
      <p:sp>
        <p:nvSpPr>
          <p:cNvPr id="573" name="Google Shape;573;p16"/>
          <p:cNvSpPr/>
          <p:nvPr/>
        </p:nvSpPr>
        <p:spPr>
          <a:xfrm>
            <a:off x="566928" y="5614416"/>
            <a:ext cx="11057839" cy="658368"/>
          </a:xfrm>
          <a:prstGeom prst="roundRect">
            <a:avLst>
              <a:gd fmla="val 12500"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6"/>
          <p:cNvSpPr/>
          <p:nvPr/>
        </p:nvSpPr>
        <p:spPr>
          <a:xfrm>
            <a:off x="768096" y="5806440"/>
            <a:ext cx="274320" cy="27432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6"/>
          <p:cNvSpPr/>
          <p:nvPr/>
        </p:nvSpPr>
        <p:spPr>
          <a:xfrm>
            <a:off x="768096" y="58064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576" name="Google Shape;576;p16"/>
          <p:cNvSpPr/>
          <p:nvPr/>
        </p:nvSpPr>
        <p:spPr>
          <a:xfrm>
            <a:off x="1170432" y="5614416"/>
            <a:ext cx="10234879" cy="65836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The agent needs the Docker socket or the host log directory to do its job. That is root-equivalent access on the host. Treat your log agent's configuration as security-sensitive infrastructure, not as a sidecar nobody reviews.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1" name="Shape 581"/>
        <p:cNvGrpSpPr/>
        <p:nvPr/>
      </p:nvGrpSpPr>
      <p:grpSpPr>
        <a:xfrm>
          <a:off x="0" y="0"/>
          <a:ext cx="0" cy="0"/>
          <a:chOff x="0" y="0"/>
          <a:chExt cx="0" cy="0"/>
        </a:xfrm>
      </p:grpSpPr>
      <p:sp>
        <p:nvSpPr>
          <p:cNvPr id="582" name="Google Shape;582;p17"/>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WHY LOG STORES DIFFER</a:t>
            </a:r>
            <a:endParaRPr b="0" i="0" sz="1050" u="none" cap="none" strike="noStrike">
              <a:solidFill>
                <a:schemeClr val="dk1"/>
              </a:solidFill>
              <a:latin typeface="Calibri"/>
              <a:ea typeface="Calibri"/>
              <a:cs typeface="Calibri"/>
              <a:sym typeface="Calibri"/>
            </a:endParaRPr>
          </a:p>
        </p:txBody>
      </p:sp>
      <p:sp>
        <p:nvSpPr>
          <p:cNvPr id="583" name="Google Shape;583;p17"/>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Index everything, or index almost nothing</a:t>
            </a:r>
            <a:endParaRPr b="0" i="0" sz="2900" u="none" cap="none" strike="noStrike">
              <a:solidFill>
                <a:schemeClr val="dk1"/>
              </a:solidFill>
              <a:latin typeface="Calibri"/>
              <a:ea typeface="Calibri"/>
              <a:cs typeface="Calibri"/>
              <a:sym typeface="Calibri"/>
            </a:endParaRPr>
          </a:p>
        </p:txBody>
      </p:sp>
      <p:sp>
        <p:nvSpPr>
          <p:cNvPr id="584" name="Google Shape;584;p17"/>
          <p:cNvSpPr/>
          <p:nvPr/>
        </p:nvSpPr>
        <p:spPr>
          <a:xfrm>
            <a:off x="10754258" y="402336"/>
            <a:ext cx="870509" cy="329184"/>
          </a:xfrm>
          <a:prstGeom prst="roundRect">
            <a:avLst>
              <a:gd fmla="val 50000" name="adj"/>
            </a:avLst>
          </a:prstGeom>
          <a:solidFill>
            <a:srgbClr val="FAEFE2"/>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7"/>
          <p:cNvSpPr/>
          <p:nvPr/>
        </p:nvSpPr>
        <p:spPr>
          <a:xfrm>
            <a:off x="10927994" y="525780"/>
            <a:ext cx="91440" cy="9144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7"/>
          <p:cNvSpPr/>
          <p:nvPr/>
        </p:nvSpPr>
        <p:spPr>
          <a:xfrm>
            <a:off x="11065154" y="402336"/>
            <a:ext cx="46817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00"/>
              <a:buFont typeface="Calibri"/>
              <a:buNone/>
            </a:pPr>
            <a:r>
              <a:rPr b="1" i="0" lang="en-US" sz="1000" u="none" cap="none" strike="noStrike">
                <a:solidFill>
                  <a:srgbClr val="BE6415"/>
                </a:solidFill>
                <a:latin typeface="Calibri"/>
                <a:ea typeface="Calibri"/>
                <a:cs typeface="Calibri"/>
                <a:sym typeface="Calibri"/>
              </a:rPr>
              <a:t>Logs</a:t>
            </a:r>
            <a:endParaRPr b="0" i="0" sz="1000" u="none" cap="none" strike="noStrike">
              <a:solidFill>
                <a:schemeClr val="dk1"/>
              </a:solidFill>
              <a:latin typeface="Calibri"/>
              <a:ea typeface="Calibri"/>
              <a:cs typeface="Calibri"/>
              <a:sym typeface="Calibri"/>
            </a:endParaRPr>
          </a:p>
        </p:txBody>
      </p:sp>
      <p:sp>
        <p:nvSpPr>
          <p:cNvPr id="587" name="Google Shape;587;p17"/>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588" name="Google Shape;588;p17"/>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
        <p:nvSpPr>
          <p:cNvPr id="589" name="Google Shape;589;p17"/>
          <p:cNvSpPr/>
          <p:nvPr/>
        </p:nvSpPr>
        <p:spPr>
          <a:xfrm>
            <a:off x="566928" y="1234440"/>
            <a:ext cx="11057839" cy="365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300"/>
              <a:buFont typeface="Calibri"/>
              <a:buNone/>
            </a:pPr>
            <a:r>
              <a:rPr b="0" i="1" lang="en-US" sz="1300" u="none" cap="none" strike="noStrike">
                <a:solidFill>
                  <a:srgbClr val="5C6B7A"/>
                </a:solidFill>
                <a:latin typeface="Calibri"/>
                <a:ea typeface="Calibri"/>
                <a:cs typeface="Calibri"/>
                <a:sym typeface="Calibri"/>
              </a:rPr>
              <a:t>This single design choice explains most of the price difference between log products.</a:t>
            </a:r>
            <a:endParaRPr b="0" i="0" sz="1300" u="none" cap="none" strike="noStrike">
              <a:solidFill>
                <a:schemeClr val="dk1"/>
              </a:solidFill>
              <a:latin typeface="Calibri"/>
              <a:ea typeface="Calibri"/>
              <a:cs typeface="Calibri"/>
              <a:sym typeface="Calibri"/>
            </a:endParaRPr>
          </a:p>
        </p:txBody>
      </p:sp>
      <p:sp>
        <p:nvSpPr>
          <p:cNvPr id="590" name="Google Shape;590;p17"/>
          <p:cNvSpPr/>
          <p:nvPr/>
        </p:nvSpPr>
        <p:spPr>
          <a:xfrm>
            <a:off x="566928" y="1700784"/>
            <a:ext cx="5349240" cy="2487168"/>
          </a:xfrm>
          <a:prstGeom prst="roundRect">
            <a:avLst>
              <a:gd fmla="val 3309"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7"/>
          <p:cNvSpPr/>
          <p:nvPr/>
        </p:nvSpPr>
        <p:spPr>
          <a:xfrm>
            <a:off x="822960" y="1865376"/>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900"/>
              <a:buFont typeface="Cambria"/>
              <a:buNone/>
            </a:pPr>
            <a:r>
              <a:rPr b="1" i="0" lang="en-US" sz="1900" u="none" cap="none" strike="noStrike">
                <a:solidFill>
                  <a:srgbClr val="0C6B7D"/>
                </a:solidFill>
                <a:latin typeface="Cambria"/>
                <a:ea typeface="Cambria"/>
                <a:cs typeface="Cambria"/>
                <a:sym typeface="Cambria"/>
              </a:rPr>
              <a:t>Full-text index</a:t>
            </a:r>
            <a:endParaRPr b="0" i="0" sz="1900" u="none" cap="none" strike="noStrike">
              <a:solidFill>
                <a:schemeClr val="dk1"/>
              </a:solidFill>
              <a:latin typeface="Calibri"/>
              <a:ea typeface="Calibri"/>
              <a:cs typeface="Calibri"/>
              <a:sym typeface="Calibri"/>
            </a:endParaRPr>
          </a:p>
        </p:txBody>
      </p:sp>
      <p:sp>
        <p:nvSpPr>
          <p:cNvPr id="592" name="Google Shape;592;p17"/>
          <p:cNvSpPr/>
          <p:nvPr/>
        </p:nvSpPr>
        <p:spPr>
          <a:xfrm>
            <a:off x="822960" y="2231136"/>
            <a:ext cx="4846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100"/>
              <a:buFont typeface="Calibri"/>
              <a:buNone/>
            </a:pPr>
            <a:r>
              <a:rPr b="0" i="1" lang="en-US" sz="1100" u="none" cap="none" strike="noStrike">
                <a:solidFill>
                  <a:srgbClr val="5C6B7A"/>
                </a:solidFill>
                <a:latin typeface="Calibri"/>
                <a:ea typeface="Calibri"/>
                <a:cs typeface="Calibri"/>
                <a:sym typeface="Calibri"/>
              </a:rPr>
              <a:t>Elasticsearch, OpenSearch, Splunk</a:t>
            </a:r>
            <a:endParaRPr b="0" i="0" sz="1100" u="none" cap="none" strike="noStrike">
              <a:solidFill>
                <a:schemeClr val="dk1"/>
              </a:solidFill>
              <a:latin typeface="Calibri"/>
              <a:ea typeface="Calibri"/>
              <a:cs typeface="Calibri"/>
              <a:sym typeface="Calibri"/>
            </a:endParaRPr>
          </a:p>
        </p:txBody>
      </p:sp>
      <p:sp>
        <p:nvSpPr>
          <p:cNvPr id="593" name="Google Shape;593;p17"/>
          <p:cNvSpPr/>
          <p:nvPr/>
        </p:nvSpPr>
        <p:spPr>
          <a:xfrm>
            <a:off x="822960" y="2560320"/>
            <a:ext cx="4846320" cy="155448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Every word in every line goes into an inverted index</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Searching arbitrary text is fast, at any age of data</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The index can be as large as the data itself</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You pay in RAM, disk and cluster operations — forever</a:t>
            </a:r>
            <a:endParaRPr b="0" i="0" sz="1150" u="none" cap="none" strike="noStrike">
              <a:solidFill>
                <a:schemeClr val="dk1"/>
              </a:solidFill>
              <a:latin typeface="Calibri"/>
              <a:ea typeface="Calibri"/>
              <a:cs typeface="Calibri"/>
              <a:sym typeface="Calibri"/>
            </a:endParaRPr>
          </a:p>
        </p:txBody>
      </p:sp>
      <p:sp>
        <p:nvSpPr>
          <p:cNvPr id="594" name="Google Shape;594;p17"/>
          <p:cNvSpPr/>
          <p:nvPr/>
        </p:nvSpPr>
        <p:spPr>
          <a:xfrm>
            <a:off x="6281928" y="1700784"/>
            <a:ext cx="5349240" cy="2487168"/>
          </a:xfrm>
          <a:prstGeom prst="roundRect">
            <a:avLst>
              <a:gd fmla="val 3309"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7"/>
          <p:cNvSpPr/>
          <p:nvPr/>
        </p:nvSpPr>
        <p:spPr>
          <a:xfrm>
            <a:off x="6537960" y="1865376"/>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900"/>
              <a:buFont typeface="Cambria"/>
              <a:buNone/>
            </a:pPr>
            <a:r>
              <a:rPr b="1" i="0" lang="en-US" sz="1900" u="none" cap="none" strike="noStrike">
                <a:solidFill>
                  <a:srgbClr val="BE6415"/>
                </a:solidFill>
                <a:latin typeface="Cambria"/>
                <a:ea typeface="Cambria"/>
                <a:cs typeface="Cambria"/>
                <a:sym typeface="Cambria"/>
              </a:rPr>
              <a:t>Index the labels only</a:t>
            </a:r>
            <a:endParaRPr b="0" i="0" sz="1900" u="none" cap="none" strike="noStrike">
              <a:solidFill>
                <a:schemeClr val="dk1"/>
              </a:solidFill>
              <a:latin typeface="Calibri"/>
              <a:ea typeface="Calibri"/>
              <a:cs typeface="Calibri"/>
              <a:sym typeface="Calibri"/>
            </a:endParaRPr>
          </a:p>
        </p:txBody>
      </p:sp>
      <p:sp>
        <p:nvSpPr>
          <p:cNvPr id="596" name="Google Shape;596;p17"/>
          <p:cNvSpPr/>
          <p:nvPr/>
        </p:nvSpPr>
        <p:spPr>
          <a:xfrm>
            <a:off x="6537960" y="2231136"/>
            <a:ext cx="4846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100"/>
              <a:buFont typeface="Calibri"/>
              <a:buNone/>
            </a:pPr>
            <a:r>
              <a:rPr b="0" i="1" lang="en-US" sz="1100" u="none" cap="none" strike="noStrike">
                <a:solidFill>
                  <a:srgbClr val="5C6B7A"/>
                </a:solidFill>
                <a:latin typeface="Calibri"/>
                <a:ea typeface="Calibri"/>
                <a:cs typeface="Calibri"/>
                <a:sym typeface="Calibri"/>
              </a:rPr>
              <a:t>Loki (and Loki-shaped stores)</a:t>
            </a:r>
            <a:endParaRPr b="0" i="0" sz="1100" u="none" cap="none" strike="noStrike">
              <a:solidFill>
                <a:schemeClr val="dk1"/>
              </a:solidFill>
              <a:latin typeface="Calibri"/>
              <a:ea typeface="Calibri"/>
              <a:cs typeface="Calibri"/>
              <a:sym typeface="Calibri"/>
            </a:endParaRPr>
          </a:p>
        </p:txBody>
      </p:sp>
      <p:sp>
        <p:nvSpPr>
          <p:cNvPr id="597" name="Google Shape;597;p17"/>
          <p:cNvSpPr/>
          <p:nvPr/>
        </p:nvSpPr>
        <p:spPr>
          <a:xfrm>
            <a:off x="6537960" y="2560320"/>
            <a:ext cx="4846320" cy="155448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Only a small set of labels is indexed; the line itself is compressed and stored whole</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Cheap to store, cheap to run, object storage friendly</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A text search is a brute-force scan of the matching streams</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You pay in query time — so the label selector has to narrow it first</a:t>
            </a:r>
            <a:endParaRPr b="0" i="0" sz="1150" u="none" cap="none" strike="noStrike">
              <a:solidFill>
                <a:schemeClr val="dk1"/>
              </a:solidFill>
              <a:latin typeface="Calibri"/>
              <a:ea typeface="Calibri"/>
              <a:cs typeface="Calibri"/>
              <a:sym typeface="Calibri"/>
            </a:endParaRPr>
          </a:p>
        </p:txBody>
      </p:sp>
      <p:sp>
        <p:nvSpPr>
          <p:cNvPr id="598" name="Google Shape;598;p17"/>
          <p:cNvSpPr/>
          <p:nvPr/>
        </p:nvSpPr>
        <p:spPr>
          <a:xfrm>
            <a:off x="566928" y="4315968"/>
            <a:ext cx="11057839" cy="1042416"/>
          </a:xfrm>
          <a:prstGeom prst="roundRect">
            <a:avLst>
              <a:gd fmla="val 7895"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7"/>
          <p:cNvSpPr/>
          <p:nvPr/>
        </p:nvSpPr>
        <p:spPr>
          <a:xfrm>
            <a:off x="731520" y="4443984"/>
            <a:ext cx="10728655" cy="78638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FD3B4"/>
              </a:buClr>
              <a:buSzPts val="1050"/>
              <a:buFont typeface="Courier New"/>
              <a:buNone/>
            </a:pPr>
            <a:r>
              <a:rPr b="0" i="0" lang="en-US" sz="1050" u="none" cap="none" strike="noStrike">
                <a:solidFill>
                  <a:srgbClr val="8FD3B4"/>
                </a:solidFill>
                <a:latin typeface="Courier New"/>
                <a:ea typeface="Courier New"/>
                <a:cs typeface="Courier New"/>
                <a:sym typeface="Courier New"/>
              </a:rPr>
              <a:t>{service="payment", env="prod"}  |= "pool exhausted"</a:t>
            </a:r>
            <a:endParaRPr b="0" i="0" sz="10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9FB3C4"/>
              </a:buClr>
              <a:buSzPts val="1050"/>
              <a:buFont typeface="Courier New"/>
              <a:buNone/>
            </a:pPr>
            <a:r>
              <a:rPr b="0" i="0" lang="en-US" sz="1050" u="none" cap="none" strike="noStrike">
                <a:solidFill>
                  <a:srgbClr val="9FB3C4"/>
                </a:solidFill>
                <a:latin typeface="Courier New"/>
                <a:ea typeface="Courier New"/>
                <a:cs typeface="Courier New"/>
                <a:sym typeface="Courier New"/>
              </a:rPr>
              <a:t> └ indexed: picks the streams          └ not indexed: scanned inside them</a:t>
            </a:r>
            <a:endParaRPr b="0" i="0" sz="1050" u="none" cap="none" strike="noStrike">
              <a:solidFill>
                <a:schemeClr val="dk1"/>
              </a:solidFill>
              <a:latin typeface="Calibri"/>
              <a:ea typeface="Calibri"/>
              <a:cs typeface="Calibri"/>
              <a:sym typeface="Calibri"/>
            </a:endParaRPr>
          </a:p>
        </p:txBody>
      </p:sp>
      <p:sp>
        <p:nvSpPr>
          <p:cNvPr id="600" name="Google Shape;600;p17"/>
          <p:cNvSpPr/>
          <p:nvPr/>
        </p:nvSpPr>
        <p:spPr>
          <a:xfrm>
            <a:off x="566928" y="5504688"/>
            <a:ext cx="11057839" cy="768096"/>
          </a:xfrm>
          <a:prstGeom prst="roundRect">
            <a:avLst>
              <a:gd fmla="val 10714"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7"/>
          <p:cNvSpPr/>
          <p:nvPr/>
        </p:nvSpPr>
        <p:spPr>
          <a:xfrm>
            <a:off x="768096" y="5751576"/>
            <a:ext cx="274320" cy="27432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7"/>
          <p:cNvSpPr/>
          <p:nvPr/>
        </p:nvSpPr>
        <p:spPr>
          <a:xfrm>
            <a:off x="768096" y="575157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603" name="Google Shape;603;p17"/>
          <p:cNvSpPr/>
          <p:nvPr/>
        </p:nvSpPr>
        <p:spPr>
          <a:xfrm>
            <a:off x="1170432" y="5504688"/>
            <a:ext cx="10234879" cy="768096"/>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The consequence you will feel in the lab: in Loki a query with no label selector, or one that matches everything, is not slow — it is refused or it times out. “Search all logs for this word” is a Splunk habit that does not transfer. Narrow by labels first, always.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8" name="Shape 608"/>
        <p:cNvGrpSpPr/>
        <p:nvPr/>
      </p:nvGrpSpPr>
      <p:grpSpPr>
        <a:xfrm>
          <a:off x="0" y="0"/>
          <a:ext cx="0" cy="0"/>
          <a:chOff x="0" y="0"/>
          <a:chExt cx="0" cy="0"/>
        </a:xfrm>
      </p:grpSpPr>
      <p:sp>
        <p:nvSpPr>
          <p:cNvPr id="609" name="Google Shape;609;p18"/>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THE QUERY LANGUAGE</a:t>
            </a:r>
            <a:endParaRPr b="0" i="0" sz="1050" u="none" cap="none" strike="noStrike">
              <a:solidFill>
                <a:schemeClr val="dk1"/>
              </a:solidFill>
              <a:latin typeface="Calibri"/>
              <a:ea typeface="Calibri"/>
              <a:cs typeface="Calibri"/>
              <a:sym typeface="Calibri"/>
            </a:endParaRPr>
          </a:p>
        </p:txBody>
      </p:sp>
      <p:sp>
        <p:nvSpPr>
          <p:cNvPr id="610" name="Google Shape;610;p18"/>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LogQL: pick a stream, filter it, parse it, count it</a:t>
            </a:r>
            <a:endParaRPr b="0" i="0" sz="2900" u="none" cap="none" strike="noStrike">
              <a:solidFill>
                <a:schemeClr val="dk1"/>
              </a:solidFill>
              <a:latin typeface="Calibri"/>
              <a:ea typeface="Calibri"/>
              <a:cs typeface="Calibri"/>
              <a:sym typeface="Calibri"/>
            </a:endParaRPr>
          </a:p>
        </p:txBody>
      </p:sp>
      <p:sp>
        <p:nvSpPr>
          <p:cNvPr id="611" name="Google Shape;611;p18"/>
          <p:cNvSpPr/>
          <p:nvPr/>
        </p:nvSpPr>
        <p:spPr>
          <a:xfrm>
            <a:off x="10754258" y="402336"/>
            <a:ext cx="870509" cy="329184"/>
          </a:xfrm>
          <a:prstGeom prst="roundRect">
            <a:avLst>
              <a:gd fmla="val 50000" name="adj"/>
            </a:avLst>
          </a:prstGeom>
          <a:solidFill>
            <a:srgbClr val="FAEFE2"/>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8"/>
          <p:cNvSpPr/>
          <p:nvPr/>
        </p:nvSpPr>
        <p:spPr>
          <a:xfrm>
            <a:off x="10927994" y="525780"/>
            <a:ext cx="91440" cy="9144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8"/>
          <p:cNvSpPr/>
          <p:nvPr/>
        </p:nvSpPr>
        <p:spPr>
          <a:xfrm>
            <a:off x="11065154" y="402336"/>
            <a:ext cx="46817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00"/>
              <a:buFont typeface="Calibri"/>
              <a:buNone/>
            </a:pPr>
            <a:r>
              <a:rPr b="1" i="0" lang="en-US" sz="1000" u="none" cap="none" strike="noStrike">
                <a:solidFill>
                  <a:srgbClr val="BE6415"/>
                </a:solidFill>
                <a:latin typeface="Calibri"/>
                <a:ea typeface="Calibri"/>
                <a:cs typeface="Calibri"/>
                <a:sym typeface="Calibri"/>
              </a:rPr>
              <a:t>Logs</a:t>
            </a:r>
            <a:endParaRPr b="0" i="0" sz="1000" u="none" cap="none" strike="noStrike">
              <a:solidFill>
                <a:schemeClr val="dk1"/>
              </a:solidFill>
              <a:latin typeface="Calibri"/>
              <a:ea typeface="Calibri"/>
              <a:cs typeface="Calibri"/>
              <a:sym typeface="Calibri"/>
            </a:endParaRPr>
          </a:p>
        </p:txBody>
      </p:sp>
      <p:sp>
        <p:nvSpPr>
          <p:cNvPr id="614" name="Google Shape;614;p18"/>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615" name="Google Shape;615;p18"/>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
        <p:nvSpPr>
          <p:cNvPr id="616" name="Google Shape;616;p18"/>
          <p:cNvSpPr/>
          <p:nvPr/>
        </p:nvSpPr>
        <p:spPr>
          <a:xfrm>
            <a:off x="566928" y="1389888"/>
            <a:ext cx="11057839" cy="969264"/>
          </a:xfrm>
          <a:prstGeom prst="roundRect">
            <a:avLst>
              <a:gd fmla="val 8491"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8"/>
          <p:cNvSpPr/>
          <p:nvPr/>
        </p:nvSpPr>
        <p:spPr>
          <a:xfrm>
            <a:off x="786384" y="1719072"/>
            <a:ext cx="310896" cy="310896"/>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8"/>
          <p:cNvSpPr/>
          <p:nvPr/>
        </p:nvSpPr>
        <p:spPr>
          <a:xfrm>
            <a:off x="786384" y="17190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619" name="Google Shape;619;p18"/>
          <p:cNvSpPr/>
          <p:nvPr/>
        </p:nvSpPr>
        <p:spPr>
          <a:xfrm>
            <a:off x="1225296" y="1499616"/>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Select the stream</a:t>
            </a:r>
            <a:endParaRPr b="0" i="0" sz="1300" u="none" cap="none" strike="noStrike">
              <a:solidFill>
                <a:schemeClr val="dk1"/>
              </a:solidFill>
              <a:latin typeface="Calibri"/>
              <a:ea typeface="Calibri"/>
              <a:cs typeface="Calibri"/>
              <a:sym typeface="Calibri"/>
            </a:endParaRPr>
          </a:p>
        </p:txBody>
      </p:sp>
      <p:sp>
        <p:nvSpPr>
          <p:cNvPr id="620" name="Google Shape;620;p18"/>
          <p:cNvSpPr/>
          <p:nvPr/>
        </p:nvSpPr>
        <p:spPr>
          <a:xfrm>
            <a:off x="1225296" y="1828800"/>
            <a:ext cx="310896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Label matchers only. This is the indexed part, and it is mandatory.</a:t>
            </a:r>
            <a:endParaRPr b="0" i="0" sz="1050" u="none" cap="none" strike="noStrike">
              <a:solidFill>
                <a:schemeClr val="dk1"/>
              </a:solidFill>
              <a:latin typeface="Calibri"/>
              <a:ea typeface="Calibri"/>
              <a:cs typeface="Calibri"/>
              <a:sym typeface="Calibri"/>
            </a:endParaRPr>
          </a:p>
        </p:txBody>
      </p:sp>
      <p:sp>
        <p:nvSpPr>
          <p:cNvPr id="621" name="Google Shape;621;p18"/>
          <p:cNvSpPr/>
          <p:nvPr/>
        </p:nvSpPr>
        <p:spPr>
          <a:xfrm>
            <a:off x="4498848" y="1591056"/>
            <a:ext cx="6949440" cy="566928"/>
          </a:xfrm>
          <a:prstGeom prst="roundRect">
            <a:avLst>
              <a:gd fmla="val 12903"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8"/>
          <p:cNvSpPr/>
          <p:nvPr/>
        </p:nvSpPr>
        <p:spPr>
          <a:xfrm>
            <a:off x="4626864" y="1591056"/>
            <a:ext cx="669340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4DF"/>
              </a:buClr>
              <a:buSzPts val="950"/>
              <a:buFont typeface="Courier New"/>
              <a:buNone/>
            </a:pPr>
            <a:r>
              <a:rPr b="0" i="0" lang="en-US" sz="950" u="none" cap="none" strike="noStrike">
                <a:solidFill>
                  <a:srgbClr val="C8D4DF"/>
                </a:solidFill>
                <a:latin typeface="Courier New"/>
                <a:ea typeface="Courier New"/>
                <a:cs typeface="Courier New"/>
                <a:sym typeface="Courier New"/>
              </a:rPr>
              <a:t>{service="payment", env="prod"}</a:t>
            </a:r>
            <a:endParaRPr b="0" i="0" sz="950" u="none" cap="none" strike="noStrike">
              <a:solidFill>
                <a:schemeClr val="dk1"/>
              </a:solidFill>
              <a:latin typeface="Calibri"/>
              <a:ea typeface="Calibri"/>
              <a:cs typeface="Calibri"/>
              <a:sym typeface="Calibri"/>
            </a:endParaRPr>
          </a:p>
        </p:txBody>
      </p:sp>
      <p:sp>
        <p:nvSpPr>
          <p:cNvPr id="623" name="Google Shape;623;p18"/>
          <p:cNvSpPr/>
          <p:nvPr/>
        </p:nvSpPr>
        <p:spPr>
          <a:xfrm>
            <a:off x="566928" y="2487168"/>
            <a:ext cx="11057839" cy="969264"/>
          </a:xfrm>
          <a:prstGeom prst="roundRect">
            <a:avLst>
              <a:gd fmla="val 8491"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8"/>
          <p:cNvSpPr/>
          <p:nvPr/>
        </p:nvSpPr>
        <p:spPr>
          <a:xfrm>
            <a:off x="786384" y="2816352"/>
            <a:ext cx="310896" cy="310896"/>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8"/>
          <p:cNvSpPr/>
          <p:nvPr/>
        </p:nvSpPr>
        <p:spPr>
          <a:xfrm>
            <a:off x="786384" y="281635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626" name="Google Shape;626;p18"/>
          <p:cNvSpPr/>
          <p:nvPr/>
        </p:nvSpPr>
        <p:spPr>
          <a:xfrm>
            <a:off x="1225296" y="2596896"/>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Filter the line</a:t>
            </a:r>
            <a:endParaRPr b="0" i="0" sz="1300" u="none" cap="none" strike="noStrike">
              <a:solidFill>
                <a:schemeClr val="dk1"/>
              </a:solidFill>
              <a:latin typeface="Calibri"/>
              <a:ea typeface="Calibri"/>
              <a:cs typeface="Calibri"/>
              <a:sym typeface="Calibri"/>
            </a:endParaRPr>
          </a:p>
        </p:txBody>
      </p:sp>
      <p:sp>
        <p:nvSpPr>
          <p:cNvPr id="627" name="Google Shape;627;p18"/>
          <p:cNvSpPr/>
          <p:nvPr/>
        </p:nvSpPr>
        <p:spPr>
          <a:xfrm>
            <a:off x="1225296" y="2926080"/>
            <a:ext cx="310896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Substring match on the raw line. |= contains, != excludes, |~ regex.</a:t>
            </a:r>
            <a:endParaRPr b="0" i="0" sz="1050" u="none" cap="none" strike="noStrike">
              <a:solidFill>
                <a:schemeClr val="dk1"/>
              </a:solidFill>
              <a:latin typeface="Calibri"/>
              <a:ea typeface="Calibri"/>
              <a:cs typeface="Calibri"/>
              <a:sym typeface="Calibri"/>
            </a:endParaRPr>
          </a:p>
        </p:txBody>
      </p:sp>
      <p:sp>
        <p:nvSpPr>
          <p:cNvPr id="628" name="Google Shape;628;p18"/>
          <p:cNvSpPr/>
          <p:nvPr/>
        </p:nvSpPr>
        <p:spPr>
          <a:xfrm>
            <a:off x="4498848" y="2688336"/>
            <a:ext cx="6949440" cy="566928"/>
          </a:xfrm>
          <a:prstGeom prst="roundRect">
            <a:avLst>
              <a:gd fmla="val 12903"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8"/>
          <p:cNvSpPr/>
          <p:nvPr/>
        </p:nvSpPr>
        <p:spPr>
          <a:xfrm>
            <a:off x="4626864" y="2688336"/>
            <a:ext cx="669340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4DF"/>
              </a:buClr>
              <a:buSzPts val="950"/>
              <a:buFont typeface="Courier New"/>
              <a:buNone/>
            </a:pPr>
            <a:r>
              <a:rPr b="0" i="0" lang="en-US" sz="950" u="none" cap="none" strike="noStrike">
                <a:solidFill>
                  <a:srgbClr val="C8D4DF"/>
                </a:solidFill>
                <a:latin typeface="Courier New"/>
                <a:ea typeface="Courier New"/>
                <a:cs typeface="Courier New"/>
                <a:sym typeface="Courier New"/>
              </a:rPr>
              <a:t>{service="payment"} |= "timeout" != "healthcheck"</a:t>
            </a:r>
            <a:endParaRPr b="0" i="0" sz="950" u="none" cap="none" strike="noStrike">
              <a:solidFill>
                <a:schemeClr val="dk1"/>
              </a:solidFill>
              <a:latin typeface="Calibri"/>
              <a:ea typeface="Calibri"/>
              <a:cs typeface="Calibri"/>
              <a:sym typeface="Calibri"/>
            </a:endParaRPr>
          </a:p>
        </p:txBody>
      </p:sp>
      <p:sp>
        <p:nvSpPr>
          <p:cNvPr id="630" name="Google Shape;630;p18"/>
          <p:cNvSpPr/>
          <p:nvPr/>
        </p:nvSpPr>
        <p:spPr>
          <a:xfrm>
            <a:off x="566928" y="3584448"/>
            <a:ext cx="11057839" cy="969264"/>
          </a:xfrm>
          <a:prstGeom prst="roundRect">
            <a:avLst>
              <a:gd fmla="val 8491"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8"/>
          <p:cNvSpPr/>
          <p:nvPr/>
        </p:nvSpPr>
        <p:spPr>
          <a:xfrm>
            <a:off x="786384" y="3913632"/>
            <a:ext cx="310896" cy="310896"/>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8"/>
          <p:cNvSpPr/>
          <p:nvPr/>
        </p:nvSpPr>
        <p:spPr>
          <a:xfrm>
            <a:off x="786384" y="391363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633" name="Google Shape;633;p18"/>
          <p:cNvSpPr/>
          <p:nvPr/>
        </p:nvSpPr>
        <p:spPr>
          <a:xfrm>
            <a:off x="1225296" y="3694176"/>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Parse into fields</a:t>
            </a:r>
            <a:endParaRPr b="0" i="0" sz="1300" u="none" cap="none" strike="noStrike">
              <a:solidFill>
                <a:schemeClr val="dk1"/>
              </a:solidFill>
              <a:latin typeface="Calibri"/>
              <a:ea typeface="Calibri"/>
              <a:cs typeface="Calibri"/>
              <a:sym typeface="Calibri"/>
            </a:endParaRPr>
          </a:p>
        </p:txBody>
      </p:sp>
      <p:sp>
        <p:nvSpPr>
          <p:cNvPr id="634" name="Google Shape;634;p18"/>
          <p:cNvSpPr/>
          <p:nvPr/>
        </p:nvSpPr>
        <p:spPr>
          <a:xfrm>
            <a:off x="1225296" y="4023360"/>
            <a:ext cx="310896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Now the JSON you logged pays off: filter on a field, not on text.</a:t>
            </a:r>
            <a:endParaRPr b="0" i="0" sz="1050" u="none" cap="none" strike="noStrike">
              <a:solidFill>
                <a:schemeClr val="dk1"/>
              </a:solidFill>
              <a:latin typeface="Calibri"/>
              <a:ea typeface="Calibri"/>
              <a:cs typeface="Calibri"/>
              <a:sym typeface="Calibri"/>
            </a:endParaRPr>
          </a:p>
        </p:txBody>
      </p:sp>
      <p:sp>
        <p:nvSpPr>
          <p:cNvPr id="635" name="Google Shape;635;p18"/>
          <p:cNvSpPr/>
          <p:nvPr/>
        </p:nvSpPr>
        <p:spPr>
          <a:xfrm>
            <a:off x="4498848" y="3785616"/>
            <a:ext cx="6949440" cy="566928"/>
          </a:xfrm>
          <a:prstGeom prst="roundRect">
            <a:avLst>
              <a:gd fmla="val 12903"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8"/>
          <p:cNvSpPr/>
          <p:nvPr/>
        </p:nvSpPr>
        <p:spPr>
          <a:xfrm>
            <a:off x="4626864" y="3785616"/>
            <a:ext cx="669340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4DF"/>
              </a:buClr>
              <a:buSzPts val="950"/>
              <a:buFont typeface="Courier New"/>
              <a:buNone/>
            </a:pPr>
            <a:r>
              <a:rPr b="0" i="0" lang="en-US" sz="950" u="none" cap="none" strike="noStrike">
                <a:solidFill>
                  <a:srgbClr val="C8D4DF"/>
                </a:solidFill>
                <a:latin typeface="Courier New"/>
                <a:ea typeface="Courier New"/>
                <a:cs typeface="Courier New"/>
                <a:sym typeface="Courier New"/>
              </a:rPr>
              <a:t>{service="payment"} | json | duration_ms &gt; 1000</a:t>
            </a:r>
            <a:endParaRPr b="0" i="0" sz="950" u="none" cap="none" strike="noStrike">
              <a:solidFill>
                <a:schemeClr val="dk1"/>
              </a:solidFill>
              <a:latin typeface="Calibri"/>
              <a:ea typeface="Calibri"/>
              <a:cs typeface="Calibri"/>
              <a:sym typeface="Calibri"/>
            </a:endParaRPr>
          </a:p>
        </p:txBody>
      </p:sp>
      <p:sp>
        <p:nvSpPr>
          <p:cNvPr id="637" name="Google Shape;637;p18"/>
          <p:cNvSpPr/>
          <p:nvPr/>
        </p:nvSpPr>
        <p:spPr>
          <a:xfrm>
            <a:off x="566928" y="4681728"/>
            <a:ext cx="11057839" cy="969264"/>
          </a:xfrm>
          <a:prstGeom prst="roundRect">
            <a:avLst>
              <a:gd fmla="val 8491"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8"/>
          <p:cNvSpPr/>
          <p:nvPr/>
        </p:nvSpPr>
        <p:spPr>
          <a:xfrm>
            <a:off x="786384" y="5010912"/>
            <a:ext cx="310896" cy="310896"/>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8"/>
          <p:cNvSpPr/>
          <p:nvPr/>
        </p:nvSpPr>
        <p:spPr>
          <a:xfrm>
            <a:off x="786384" y="501091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640" name="Google Shape;640;p18"/>
          <p:cNvSpPr/>
          <p:nvPr/>
        </p:nvSpPr>
        <p:spPr>
          <a:xfrm>
            <a:off x="1225296" y="4791456"/>
            <a:ext cx="28346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Turn logs into a number</a:t>
            </a:r>
            <a:endParaRPr b="0" i="0" sz="1300" u="none" cap="none" strike="noStrike">
              <a:solidFill>
                <a:schemeClr val="dk1"/>
              </a:solidFill>
              <a:latin typeface="Calibri"/>
              <a:ea typeface="Calibri"/>
              <a:cs typeface="Calibri"/>
              <a:sym typeface="Calibri"/>
            </a:endParaRPr>
          </a:p>
        </p:txBody>
      </p:sp>
      <p:sp>
        <p:nvSpPr>
          <p:cNvPr id="641" name="Google Shape;641;p18"/>
          <p:cNvSpPr/>
          <p:nvPr/>
        </p:nvSpPr>
        <p:spPr>
          <a:xfrm>
            <a:off x="1225296" y="5120640"/>
            <a:ext cx="310896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A log query becomes a metric. This is how you alert on logs — and it is Day 2's idea, early.</a:t>
            </a:r>
            <a:endParaRPr b="0" i="0" sz="1050" u="none" cap="none" strike="noStrike">
              <a:solidFill>
                <a:schemeClr val="dk1"/>
              </a:solidFill>
              <a:latin typeface="Calibri"/>
              <a:ea typeface="Calibri"/>
              <a:cs typeface="Calibri"/>
              <a:sym typeface="Calibri"/>
            </a:endParaRPr>
          </a:p>
        </p:txBody>
      </p:sp>
      <p:sp>
        <p:nvSpPr>
          <p:cNvPr id="642" name="Google Shape;642;p18"/>
          <p:cNvSpPr/>
          <p:nvPr/>
        </p:nvSpPr>
        <p:spPr>
          <a:xfrm>
            <a:off x="4498848" y="4882896"/>
            <a:ext cx="6949440" cy="566928"/>
          </a:xfrm>
          <a:prstGeom prst="roundRect">
            <a:avLst>
              <a:gd fmla="val 12903"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8"/>
          <p:cNvSpPr/>
          <p:nvPr/>
        </p:nvSpPr>
        <p:spPr>
          <a:xfrm>
            <a:off x="4626864" y="4882896"/>
            <a:ext cx="669340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4DF"/>
              </a:buClr>
              <a:buSzPts val="950"/>
              <a:buFont typeface="Courier New"/>
              <a:buNone/>
            </a:pPr>
            <a:r>
              <a:rPr b="0" i="0" lang="en-US" sz="950" u="none" cap="none" strike="noStrike">
                <a:solidFill>
                  <a:srgbClr val="C8D4DF"/>
                </a:solidFill>
                <a:latin typeface="Courier New"/>
                <a:ea typeface="Courier New"/>
                <a:cs typeface="Courier New"/>
                <a:sym typeface="Courier New"/>
              </a:rPr>
              <a:t>sum by (service) (rate({env="prod"} | json | level="error" [5m]))</a:t>
            </a:r>
            <a:endParaRPr b="0" i="0" sz="950" u="none" cap="none" strike="noStrike">
              <a:solidFill>
                <a:schemeClr val="dk1"/>
              </a:solidFill>
              <a:latin typeface="Calibri"/>
              <a:ea typeface="Calibri"/>
              <a:cs typeface="Calibri"/>
              <a:sym typeface="Calibri"/>
            </a:endParaRPr>
          </a:p>
        </p:txBody>
      </p:sp>
      <p:sp>
        <p:nvSpPr>
          <p:cNvPr id="644" name="Google Shape;644;p18"/>
          <p:cNvSpPr/>
          <p:nvPr/>
        </p:nvSpPr>
        <p:spPr>
          <a:xfrm>
            <a:off x="566928" y="5797296"/>
            <a:ext cx="11057839" cy="512064"/>
          </a:xfrm>
          <a:prstGeom prst="roundRect">
            <a:avLst>
              <a:gd fmla="val 16071"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8"/>
          <p:cNvSpPr/>
          <p:nvPr/>
        </p:nvSpPr>
        <p:spPr>
          <a:xfrm>
            <a:off x="768096" y="5916168"/>
            <a:ext cx="274320" cy="27432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8"/>
          <p:cNvSpPr/>
          <p:nvPr/>
        </p:nvSpPr>
        <p:spPr>
          <a:xfrm>
            <a:off x="768096" y="591616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647" name="Google Shape;647;p18"/>
          <p:cNvSpPr/>
          <p:nvPr/>
        </p:nvSpPr>
        <p:spPr>
          <a:xfrm>
            <a:off x="1170432" y="5797296"/>
            <a:ext cx="10234879" cy="512064"/>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Every log query language is these four rungs in a different syntax. Splunk SPL, Elasticsearch KQL, CloudWatch Logs Insights, Azure KQL — learn the shape once.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2" name="Shape 652"/>
        <p:cNvGrpSpPr/>
        <p:nvPr/>
      </p:nvGrpSpPr>
      <p:grpSpPr>
        <a:xfrm>
          <a:off x="0" y="0"/>
          <a:ext cx="0" cy="0"/>
          <a:chOff x="0" y="0"/>
          <a:chExt cx="0" cy="0"/>
        </a:xfrm>
      </p:grpSpPr>
      <p:sp>
        <p:nvSpPr>
          <p:cNvPr id="653" name="Google Shape;653;p19"/>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THE PART THAT ENDS CAREERS</a:t>
            </a:r>
            <a:endParaRPr b="0" i="0" sz="1050" u="none" cap="none" strike="noStrike">
              <a:solidFill>
                <a:schemeClr val="dk1"/>
              </a:solidFill>
              <a:latin typeface="Calibri"/>
              <a:ea typeface="Calibri"/>
              <a:cs typeface="Calibri"/>
              <a:sym typeface="Calibri"/>
            </a:endParaRPr>
          </a:p>
        </p:txBody>
      </p:sp>
      <p:sp>
        <p:nvSpPr>
          <p:cNvPr id="654" name="Google Shape;654;p19"/>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Logs are the line item that surprises everyone</a:t>
            </a:r>
            <a:endParaRPr b="0" i="0" sz="2900" u="none" cap="none" strike="noStrike">
              <a:solidFill>
                <a:schemeClr val="dk1"/>
              </a:solidFill>
              <a:latin typeface="Calibri"/>
              <a:ea typeface="Calibri"/>
              <a:cs typeface="Calibri"/>
              <a:sym typeface="Calibri"/>
            </a:endParaRPr>
          </a:p>
        </p:txBody>
      </p:sp>
      <p:sp>
        <p:nvSpPr>
          <p:cNvPr id="655" name="Google Shape;655;p19"/>
          <p:cNvSpPr/>
          <p:nvPr/>
        </p:nvSpPr>
        <p:spPr>
          <a:xfrm>
            <a:off x="10754258" y="402336"/>
            <a:ext cx="870509" cy="329184"/>
          </a:xfrm>
          <a:prstGeom prst="roundRect">
            <a:avLst>
              <a:gd fmla="val 50000" name="adj"/>
            </a:avLst>
          </a:prstGeom>
          <a:solidFill>
            <a:srgbClr val="FAEFE2"/>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9"/>
          <p:cNvSpPr/>
          <p:nvPr/>
        </p:nvSpPr>
        <p:spPr>
          <a:xfrm>
            <a:off x="10927994" y="525780"/>
            <a:ext cx="91440" cy="9144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9"/>
          <p:cNvSpPr/>
          <p:nvPr/>
        </p:nvSpPr>
        <p:spPr>
          <a:xfrm>
            <a:off x="11065154" y="402336"/>
            <a:ext cx="46817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00"/>
              <a:buFont typeface="Calibri"/>
              <a:buNone/>
            </a:pPr>
            <a:r>
              <a:rPr b="1" i="0" lang="en-US" sz="1000" u="none" cap="none" strike="noStrike">
                <a:solidFill>
                  <a:srgbClr val="BE6415"/>
                </a:solidFill>
                <a:latin typeface="Calibri"/>
                <a:ea typeface="Calibri"/>
                <a:cs typeface="Calibri"/>
                <a:sym typeface="Calibri"/>
              </a:rPr>
              <a:t>Logs</a:t>
            </a:r>
            <a:endParaRPr b="0" i="0" sz="1000" u="none" cap="none" strike="noStrike">
              <a:solidFill>
                <a:schemeClr val="dk1"/>
              </a:solidFill>
              <a:latin typeface="Calibri"/>
              <a:ea typeface="Calibri"/>
              <a:cs typeface="Calibri"/>
              <a:sym typeface="Calibri"/>
            </a:endParaRPr>
          </a:p>
        </p:txBody>
      </p:sp>
      <p:sp>
        <p:nvSpPr>
          <p:cNvPr id="658" name="Google Shape;658;p19"/>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659" name="Google Shape;659;p19"/>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
        <p:nvSpPr>
          <p:cNvPr id="660" name="Google Shape;660;p19"/>
          <p:cNvSpPr/>
          <p:nvPr/>
        </p:nvSpPr>
        <p:spPr>
          <a:xfrm>
            <a:off x="566928" y="1234440"/>
            <a:ext cx="11057839" cy="365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300"/>
              <a:buFont typeface="Calibri"/>
              <a:buNone/>
            </a:pPr>
            <a:r>
              <a:rPr b="0" i="1" lang="en-US" sz="1300" u="none" cap="none" strike="noStrike">
                <a:solidFill>
                  <a:srgbClr val="5C6B7A"/>
                </a:solidFill>
                <a:latin typeface="Calibri"/>
                <a:ea typeface="Calibri"/>
                <a:cs typeface="Calibri"/>
                <a:sym typeface="Calibri"/>
              </a:rPr>
              <a:t>A worked example. Small service, nothing exotic, no mistakes yet.</a:t>
            </a:r>
            <a:endParaRPr b="0" i="0" sz="1300" u="none" cap="none" strike="noStrike">
              <a:solidFill>
                <a:schemeClr val="dk1"/>
              </a:solidFill>
              <a:latin typeface="Calibri"/>
              <a:ea typeface="Calibri"/>
              <a:cs typeface="Calibri"/>
              <a:sym typeface="Calibri"/>
            </a:endParaRPr>
          </a:p>
        </p:txBody>
      </p:sp>
      <p:sp>
        <p:nvSpPr>
          <p:cNvPr id="661" name="Google Shape;661;p19"/>
          <p:cNvSpPr/>
          <p:nvPr/>
        </p:nvSpPr>
        <p:spPr>
          <a:xfrm>
            <a:off x="566928" y="1719072"/>
            <a:ext cx="2615184" cy="1572768"/>
          </a:xfrm>
          <a:prstGeom prst="roundRect">
            <a:avLst>
              <a:gd fmla="val 5233"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9"/>
          <p:cNvSpPr/>
          <p:nvPr/>
        </p:nvSpPr>
        <p:spPr>
          <a:xfrm>
            <a:off x="713232" y="1847088"/>
            <a:ext cx="2322576"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3000"/>
              <a:buFont typeface="Cambria"/>
              <a:buNone/>
            </a:pPr>
            <a:r>
              <a:rPr b="1" i="0" lang="en-US" sz="3000" u="none" cap="none" strike="noStrike">
                <a:solidFill>
                  <a:srgbClr val="BE6415"/>
                </a:solidFill>
                <a:latin typeface="Cambria"/>
                <a:ea typeface="Cambria"/>
                <a:cs typeface="Cambria"/>
                <a:sym typeface="Cambria"/>
              </a:rPr>
              <a:t>500</a:t>
            </a:r>
            <a:endParaRPr b="0" i="0" sz="3000" u="none" cap="none" strike="noStrike">
              <a:solidFill>
                <a:schemeClr val="dk1"/>
              </a:solidFill>
              <a:latin typeface="Calibri"/>
              <a:ea typeface="Calibri"/>
              <a:cs typeface="Calibri"/>
              <a:sym typeface="Calibri"/>
            </a:endParaRPr>
          </a:p>
        </p:txBody>
      </p:sp>
      <p:sp>
        <p:nvSpPr>
          <p:cNvPr id="663" name="Google Shape;663;p19"/>
          <p:cNvSpPr/>
          <p:nvPr/>
        </p:nvSpPr>
        <p:spPr>
          <a:xfrm>
            <a:off x="713232" y="2523744"/>
            <a:ext cx="23225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C"/>
              </a:buClr>
              <a:buSzPts val="1150"/>
              <a:buFont typeface="Calibri"/>
              <a:buNone/>
            </a:pPr>
            <a:r>
              <a:rPr b="1" i="0" lang="en-US" sz="1150" u="none" cap="none" strike="noStrike">
                <a:solidFill>
                  <a:srgbClr val="16202C"/>
                </a:solidFill>
                <a:latin typeface="Calibri"/>
                <a:ea typeface="Calibri"/>
                <a:cs typeface="Calibri"/>
                <a:sym typeface="Calibri"/>
              </a:rPr>
              <a:t>requests per second</a:t>
            </a:r>
            <a:endParaRPr b="0" i="0" sz="1150" u="none" cap="none" strike="noStrike">
              <a:solidFill>
                <a:schemeClr val="dk1"/>
              </a:solidFill>
              <a:latin typeface="Calibri"/>
              <a:ea typeface="Calibri"/>
              <a:cs typeface="Calibri"/>
              <a:sym typeface="Calibri"/>
            </a:endParaRPr>
          </a:p>
        </p:txBody>
      </p:sp>
      <p:sp>
        <p:nvSpPr>
          <p:cNvPr id="664" name="Google Shape;664;p19"/>
          <p:cNvSpPr/>
          <p:nvPr/>
        </p:nvSpPr>
        <p:spPr>
          <a:xfrm>
            <a:off x="713232" y="2834640"/>
            <a:ext cx="23225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1000"/>
              <a:buFont typeface="Calibri"/>
              <a:buNone/>
            </a:pPr>
            <a:r>
              <a:rPr b="0" i="1" lang="en-US" sz="1000" u="none" cap="none" strike="noStrike">
                <a:solidFill>
                  <a:srgbClr val="5C6B7A"/>
                </a:solidFill>
                <a:latin typeface="Calibri"/>
                <a:ea typeface="Calibri"/>
                <a:cs typeface="Calibri"/>
                <a:sym typeface="Calibri"/>
              </a:rPr>
              <a:t>a modest service</a:t>
            </a:r>
            <a:endParaRPr b="0" i="0" sz="1000" u="none" cap="none" strike="noStrike">
              <a:solidFill>
                <a:schemeClr val="dk1"/>
              </a:solidFill>
              <a:latin typeface="Calibri"/>
              <a:ea typeface="Calibri"/>
              <a:cs typeface="Calibri"/>
              <a:sym typeface="Calibri"/>
            </a:endParaRPr>
          </a:p>
        </p:txBody>
      </p:sp>
      <p:sp>
        <p:nvSpPr>
          <p:cNvPr id="665" name="Google Shape;665;p19"/>
          <p:cNvSpPr/>
          <p:nvPr/>
        </p:nvSpPr>
        <p:spPr>
          <a:xfrm>
            <a:off x="3182112" y="2377440"/>
            <a:ext cx="1828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400"/>
              <a:buFont typeface="Calibri"/>
              <a:buNone/>
            </a:pPr>
            <a:r>
              <a:rPr b="1" i="0" lang="en-US" sz="1400" u="none" cap="none" strike="noStrike">
                <a:solidFill>
                  <a:srgbClr val="93A2B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666" name="Google Shape;666;p19"/>
          <p:cNvSpPr/>
          <p:nvPr/>
        </p:nvSpPr>
        <p:spPr>
          <a:xfrm>
            <a:off x="3364992" y="1719072"/>
            <a:ext cx="2615184" cy="1572768"/>
          </a:xfrm>
          <a:prstGeom prst="roundRect">
            <a:avLst>
              <a:gd fmla="val 5233"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9"/>
          <p:cNvSpPr/>
          <p:nvPr/>
        </p:nvSpPr>
        <p:spPr>
          <a:xfrm>
            <a:off x="3511296" y="1847088"/>
            <a:ext cx="2322576"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3000"/>
              <a:buFont typeface="Cambria"/>
              <a:buNone/>
            </a:pPr>
            <a:r>
              <a:rPr b="1" i="0" lang="en-US" sz="3000" u="none" cap="none" strike="noStrike">
                <a:solidFill>
                  <a:srgbClr val="BE6415"/>
                </a:solidFill>
                <a:latin typeface="Cambria"/>
                <a:ea typeface="Cambria"/>
                <a:cs typeface="Cambria"/>
                <a:sym typeface="Cambria"/>
              </a:rPr>
              <a:t>8</a:t>
            </a:r>
            <a:endParaRPr b="0" i="0" sz="3000" u="none" cap="none" strike="noStrike">
              <a:solidFill>
                <a:schemeClr val="dk1"/>
              </a:solidFill>
              <a:latin typeface="Calibri"/>
              <a:ea typeface="Calibri"/>
              <a:cs typeface="Calibri"/>
              <a:sym typeface="Calibri"/>
            </a:endParaRPr>
          </a:p>
        </p:txBody>
      </p:sp>
      <p:sp>
        <p:nvSpPr>
          <p:cNvPr id="668" name="Google Shape;668;p19"/>
          <p:cNvSpPr/>
          <p:nvPr/>
        </p:nvSpPr>
        <p:spPr>
          <a:xfrm>
            <a:off x="3511296" y="2523744"/>
            <a:ext cx="23225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C"/>
              </a:buClr>
              <a:buSzPts val="1150"/>
              <a:buFont typeface="Calibri"/>
              <a:buNone/>
            </a:pPr>
            <a:r>
              <a:rPr b="1" i="0" lang="en-US" sz="1150" u="none" cap="none" strike="noStrike">
                <a:solidFill>
                  <a:srgbClr val="16202C"/>
                </a:solidFill>
                <a:latin typeface="Calibri"/>
                <a:ea typeface="Calibri"/>
                <a:cs typeface="Calibri"/>
                <a:sym typeface="Calibri"/>
              </a:rPr>
              <a:t>log lines per request</a:t>
            </a:r>
            <a:endParaRPr b="0" i="0" sz="1150" u="none" cap="none" strike="noStrike">
              <a:solidFill>
                <a:schemeClr val="dk1"/>
              </a:solidFill>
              <a:latin typeface="Calibri"/>
              <a:ea typeface="Calibri"/>
              <a:cs typeface="Calibri"/>
              <a:sym typeface="Calibri"/>
            </a:endParaRPr>
          </a:p>
        </p:txBody>
      </p:sp>
      <p:sp>
        <p:nvSpPr>
          <p:cNvPr id="669" name="Google Shape;669;p19"/>
          <p:cNvSpPr/>
          <p:nvPr/>
        </p:nvSpPr>
        <p:spPr>
          <a:xfrm>
            <a:off x="3511296" y="2834640"/>
            <a:ext cx="23225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1000"/>
              <a:buFont typeface="Calibri"/>
              <a:buNone/>
            </a:pPr>
            <a:r>
              <a:rPr b="0" i="1" lang="en-US" sz="1000" u="none" cap="none" strike="noStrike">
                <a:solidFill>
                  <a:srgbClr val="5C6B7A"/>
                </a:solidFill>
                <a:latin typeface="Calibri"/>
                <a:ea typeface="Calibri"/>
                <a:cs typeface="Calibri"/>
                <a:sym typeface="Calibri"/>
              </a:rPr>
              <a:t>in, out, and six in between</a:t>
            </a:r>
            <a:endParaRPr b="0" i="0" sz="1000" u="none" cap="none" strike="noStrike">
              <a:solidFill>
                <a:schemeClr val="dk1"/>
              </a:solidFill>
              <a:latin typeface="Calibri"/>
              <a:ea typeface="Calibri"/>
              <a:cs typeface="Calibri"/>
              <a:sym typeface="Calibri"/>
            </a:endParaRPr>
          </a:p>
        </p:txBody>
      </p:sp>
      <p:sp>
        <p:nvSpPr>
          <p:cNvPr id="670" name="Google Shape;670;p19"/>
          <p:cNvSpPr/>
          <p:nvPr/>
        </p:nvSpPr>
        <p:spPr>
          <a:xfrm>
            <a:off x="5980176" y="2377440"/>
            <a:ext cx="1828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400"/>
              <a:buFont typeface="Calibri"/>
              <a:buNone/>
            </a:pPr>
            <a:r>
              <a:rPr b="1" i="0" lang="en-US" sz="1400" u="none" cap="none" strike="noStrike">
                <a:solidFill>
                  <a:srgbClr val="93A2B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671" name="Google Shape;671;p19"/>
          <p:cNvSpPr/>
          <p:nvPr/>
        </p:nvSpPr>
        <p:spPr>
          <a:xfrm>
            <a:off x="6163056" y="1719072"/>
            <a:ext cx="2615184" cy="1572768"/>
          </a:xfrm>
          <a:prstGeom prst="roundRect">
            <a:avLst>
              <a:gd fmla="val 5233"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9"/>
          <p:cNvSpPr/>
          <p:nvPr/>
        </p:nvSpPr>
        <p:spPr>
          <a:xfrm>
            <a:off x="6309360" y="1847088"/>
            <a:ext cx="2322576"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3000"/>
              <a:buFont typeface="Cambria"/>
              <a:buNone/>
            </a:pPr>
            <a:r>
              <a:rPr b="1" i="0" lang="en-US" sz="3000" u="none" cap="none" strike="noStrike">
                <a:solidFill>
                  <a:srgbClr val="BE6415"/>
                </a:solidFill>
                <a:latin typeface="Cambria"/>
                <a:ea typeface="Cambria"/>
                <a:cs typeface="Cambria"/>
                <a:sym typeface="Cambria"/>
              </a:rPr>
              <a:t>~350 GB</a:t>
            </a:r>
            <a:endParaRPr b="0" i="0" sz="3000" u="none" cap="none" strike="noStrike">
              <a:solidFill>
                <a:schemeClr val="dk1"/>
              </a:solidFill>
              <a:latin typeface="Calibri"/>
              <a:ea typeface="Calibri"/>
              <a:cs typeface="Calibri"/>
              <a:sym typeface="Calibri"/>
            </a:endParaRPr>
          </a:p>
        </p:txBody>
      </p:sp>
      <p:sp>
        <p:nvSpPr>
          <p:cNvPr id="673" name="Google Shape;673;p19"/>
          <p:cNvSpPr/>
          <p:nvPr/>
        </p:nvSpPr>
        <p:spPr>
          <a:xfrm>
            <a:off x="6309360" y="2523744"/>
            <a:ext cx="23225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C"/>
              </a:buClr>
              <a:buSzPts val="1150"/>
              <a:buFont typeface="Calibri"/>
              <a:buNone/>
            </a:pPr>
            <a:r>
              <a:rPr b="1" i="0" lang="en-US" sz="1150" u="none" cap="none" strike="noStrike">
                <a:solidFill>
                  <a:srgbClr val="16202C"/>
                </a:solidFill>
                <a:latin typeface="Calibri"/>
                <a:ea typeface="Calibri"/>
                <a:cs typeface="Calibri"/>
                <a:sym typeface="Calibri"/>
              </a:rPr>
              <a:t>of logs per day</a:t>
            </a:r>
            <a:endParaRPr b="0" i="0" sz="1150" u="none" cap="none" strike="noStrike">
              <a:solidFill>
                <a:schemeClr val="dk1"/>
              </a:solidFill>
              <a:latin typeface="Calibri"/>
              <a:ea typeface="Calibri"/>
              <a:cs typeface="Calibri"/>
              <a:sym typeface="Calibri"/>
            </a:endParaRPr>
          </a:p>
        </p:txBody>
      </p:sp>
      <p:sp>
        <p:nvSpPr>
          <p:cNvPr id="674" name="Google Shape;674;p19"/>
          <p:cNvSpPr/>
          <p:nvPr/>
        </p:nvSpPr>
        <p:spPr>
          <a:xfrm>
            <a:off x="6309360" y="2834640"/>
            <a:ext cx="23225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1000"/>
              <a:buFont typeface="Calibri"/>
              <a:buNone/>
            </a:pPr>
            <a:r>
              <a:rPr b="0" i="1" lang="en-US" sz="1000" u="none" cap="none" strike="noStrike">
                <a:solidFill>
                  <a:srgbClr val="5C6B7A"/>
                </a:solidFill>
                <a:latin typeface="Calibri"/>
                <a:ea typeface="Calibri"/>
                <a:cs typeface="Calibri"/>
                <a:sym typeface="Calibri"/>
              </a:rPr>
              <a:t>at ~1 KB per line</a:t>
            </a:r>
            <a:endParaRPr b="0" i="0" sz="1000" u="none" cap="none" strike="noStrike">
              <a:solidFill>
                <a:schemeClr val="dk1"/>
              </a:solidFill>
              <a:latin typeface="Calibri"/>
              <a:ea typeface="Calibri"/>
              <a:cs typeface="Calibri"/>
              <a:sym typeface="Calibri"/>
            </a:endParaRPr>
          </a:p>
        </p:txBody>
      </p:sp>
      <p:sp>
        <p:nvSpPr>
          <p:cNvPr id="675" name="Google Shape;675;p19"/>
          <p:cNvSpPr/>
          <p:nvPr/>
        </p:nvSpPr>
        <p:spPr>
          <a:xfrm>
            <a:off x="8778240" y="2377440"/>
            <a:ext cx="1828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400"/>
              <a:buFont typeface="Calibri"/>
              <a:buNone/>
            </a:pPr>
            <a:r>
              <a:rPr b="1" i="0" lang="en-US" sz="1400" u="none" cap="none" strike="noStrike">
                <a:solidFill>
                  <a:srgbClr val="93A2B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676" name="Google Shape;676;p19"/>
          <p:cNvSpPr/>
          <p:nvPr/>
        </p:nvSpPr>
        <p:spPr>
          <a:xfrm>
            <a:off x="8961120" y="1719072"/>
            <a:ext cx="2615184" cy="1572768"/>
          </a:xfrm>
          <a:prstGeom prst="roundRect">
            <a:avLst>
              <a:gd fmla="val 5233"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9"/>
          <p:cNvSpPr/>
          <p:nvPr/>
        </p:nvSpPr>
        <p:spPr>
          <a:xfrm>
            <a:off x="9107424" y="1847088"/>
            <a:ext cx="2322576"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C2740"/>
              </a:buClr>
              <a:buSzPts val="3000"/>
              <a:buFont typeface="Cambria"/>
              <a:buNone/>
            </a:pPr>
            <a:r>
              <a:rPr b="1" i="0" lang="en-US" sz="3000" u="none" cap="none" strike="noStrike">
                <a:solidFill>
                  <a:srgbClr val="AC2740"/>
                </a:solidFill>
                <a:latin typeface="Cambria"/>
                <a:ea typeface="Cambria"/>
                <a:cs typeface="Cambria"/>
                <a:sym typeface="Cambria"/>
              </a:rPr>
              <a:t>× 30 days</a:t>
            </a:r>
            <a:endParaRPr b="0" i="0" sz="3000" u="none" cap="none" strike="noStrike">
              <a:solidFill>
                <a:schemeClr val="dk1"/>
              </a:solidFill>
              <a:latin typeface="Calibri"/>
              <a:ea typeface="Calibri"/>
              <a:cs typeface="Calibri"/>
              <a:sym typeface="Calibri"/>
            </a:endParaRPr>
          </a:p>
        </p:txBody>
      </p:sp>
      <p:sp>
        <p:nvSpPr>
          <p:cNvPr id="678" name="Google Shape;678;p19"/>
          <p:cNvSpPr/>
          <p:nvPr/>
        </p:nvSpPr>
        <p:spPr>
          <a:xfrm>
            <a:off x="9107424" y="2523744"/>
            <a:ext cx="23225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2C"/>
              </a:buClr>
              <a:buSzPts val="1150"/>
              <a:buFont typeface="Calibri"/>
              <a:buNone/>
            </a:pPr>
            <a:r>
              <a:rPr b="1" i="0" lang="en-US" sz="1150" u="none" cap="none" strike="noStrike">
                <a:solidFill>
                  <a:srgbClr val="16202C"/>
                </a:solidFill>
                <a:latin typeface="Calibri"/>
                <a:ea typeface="Calibri"/>
                <a:cs typeface="Calibri"/>
                <a:sym typeface="Calibri"/>
              </a:rPr>
              <a:t>of retention</a:t>
            </a:r>
            <a:endParaRPr b="0" i="0" sz="1150" u="none" cap="none" strike="noStrike">
              <a:solidFill>
                <a:schemeClr val="dk1"/>
              </a:solidFill>
              <a:latin typeface="Calibri"/>
              <a:ea typeface="Calibri"/>
              <a:cs typeface="Calibri"/>
              <a:sym typeface="Calibri"/>
            </a:endParaRPr>
          </a:p>
        </p:txBody>
      </p:sp>
      <p:sp>
        <p:nvSpPr>
          <p:cNvPr id="679" name="Google Shape;679;p19"/>
          <p:cNvSpPr/>
          <p:nvPr/>
        </p:nvSpPr>
        <p:spPr>
          <a:xfrm>
            <a:off x="9107424" y="2834640"/>
            <a:ext cx="23225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1000"/>
              <a:buFont typeface="Calibri"/>
              <a:buNone/>
            </a:pPr>
            <a:r>
              <a:rPr b="0" i="1" lang="en-US" sz="1000" u="none" cap="none" strike="noStrike">
                <a:solidFill>
                  <a:srgbClr val="5C6B7A"/>
                </a:solidFill>
                <a:latin typeface="Calibri"/>
                <a:ea typeface="Calibri"/>
                <a:cs typeface="Calibri"/>
                <a:sym typeface="Calibri"/>
              </a:rPr>
              <a:t>and now it is ~10 TB</a:t>
            </a:r>
            <a:endParaRPr b="0" i="0" sz="1000" u="none" cap="none" strike="noStrike">
              <a:solidFill>
                <a:schemeClr val="dk1"/>
              </a:solidFill>
              <a:latin typeface="Calibri"/>
              <a:ea typeface="Calibri"/>
              <a:cs typeface="Calibri"/>
              <a:sym typeface="Calibri"/>
            </a:endParaRPr>
          </a:p>
        </p:txBody>
      </p:sp>
      <p:sp>
        <p:nvSpPr>
          <p:cNvPr id="680" name="Google Shape;680;p19"/>
          <p:cNvSpPr/>
          <p:nvPr/>
        </p:nvSpPr>
        <p:spPr>
          <a:xfrm>
            <a:off x="566928" y="3456432"/>
            <a:ext cx="5349240" cy="2194560"/>
          </a:xfrm>
          <a:prstGeom prst="roundRect">
            <a:avLst>
              <a:gd fmla="val 3750"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9"/>
          <p:cNvSpPr/>
          <p:nvPr/>
        </p:nvSpPr>
        <p:spPr>
          <a:xfrm>
            <a:off x="804672" y="3602736"/>
            <a:ext cx="4846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950"/>
              <a:buFont typeface="Calibri"/>
              <a:buNone/>
            </a:pPr>
            <a:r>
              <a:rPr b="1" i="0" lang="en-US" sz="950" u="none" cap="none" strike="noStrike">
                <a:solidFill>
                  <a:srgbClr val="BE6415"/>
                </a:solidFill>
                <a:latin typeface="Calibri"/>
                <a:ea typeface="Calibri"/>
                <a:cs typeface="Calibri"/>
                <a:sym typeface="Calibri"/>
              </a:rPr>
              <a:t>THE FOUR LEVERS, IN ORDER OF LEVERAGE</a:t>
            </a:r>
            <a:endParaRPr b="0" i="0" sz="950" u="none" cap="none" strike="noStrike">
              <a:solidFill>
                <a:schemeClr val="dk1"/>
              </a:solidFill>
              <a:latin typeface="Calibri"/>
              <a:ea typeface="Calibri"/>
              <a:cs typeface="Calibri"/>
              <a:sym typeface="Calibri"/>
            </a:endParaRPr>
          </a:p>
        </p:txBody>
      </p:sp>
      <p:sp>
        <p:nvSpPr>
          <p:cNvPr id="682" name="Google Shape;682;p19"/>
          <p:cNvSpPr/>
          <p:nvPr/>
        </p:nvSpPr>
        <p:spPr>
          <a:xfrm>
            <a:off x="804672" y="3931920"/>
            <a:ext cx="4846320" cy="164592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Retention — 30 days of everything is a choice, not a law. Most questions are asked within 48 hours.</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Volume — delete the DEBUG line in the hot loop. One line can be half your bill.</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Sampling — keep 1 in 100 successful requests, keep 100% of errors.</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Tiering — hot for a week, cheap object storage after that.</a:t>
            </a:r>
            <a:endParaRPr b="0" i="0" sz="1150" u="none" cap="none" strike="noStrike">
              <a:solidFill>
                <a:schemeClr val="dk1"/>
              </a:solidFill>
              <a:latin typeface="Calibri"/>
              <a:ea typeface="Calibri"/>
              <a:cs typeface="Calibri"/>
              <a:sym typeface="Calibri"/>
            </a:endParaRPr>
          </a:p>
        </p:txBody>
      </p:sp>
      <p:sp>
        <p:nvSpPr>
          <p:cNvPr id="683" name="Google Shape;683;p19"/>
          <p:cNvSpPr/>
          <p:nvPr/>
        </p:nvSpPr>
        <p:spPr>
          <a:xfrm>
            <a:off x="6281928" y="3456432"/>
            <a:ext cx="5349240" cy="2194560"/>
          </a:xfrm>
          <a:prstGeom prst="roundRect">
            <a:avLst>
              <a:gd fmla="val 3750"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9"/>
          <p:cNvSpPr/>
          <p:nvPr/>
        </p:nvSpPr>
        <p:spPr>
          <a:xfrm>
            <a:off x="6519672" y="3602736"/>
            <a:ext cx="4846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HOW THE BILL ACTUALLY EXPLODES</a:t>
            </a:r>
            <a:endParaRPr b="0" i="0" sz="950" u="none" cap="none" strike="noStrike">
              <a:solidFill>
                <a:schemeClr val="dk1"/>
              </a:solidFill>
              <a:latin typeface="Calibri"/>
              <a:ea typeface="Calibri"/>
              <a:cs typeface="Calibri"/>
              <a:sym typeface="Calibri"/>
            </a:endParaRPr>
          </a:p>
        </p:txBody>
      </p:sp>
      <p:sp>
        <p:nvSpPr>
          <p:cNvPr id="685" name="Google Shape;685;p19"/>
          <p:cNvSpPr/>
          <p:nvPr/>
        </p:nvSpPr>
        <p:spPr>
          <a:xfrm>
            <a:off x="6519672" y="3931920"/>
            <a:ext cx="4846320" cy="164592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Someone turns on DEBUG in production to chase a bug, and leaves it on</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A retry loop starts logging on every attempt during an outage — the bill spikes exactly when you are already having a bad day</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A health check endpoint logs, and it is polled every second, per replica, forever</a:t>
            </a:r>
            <a:endParaRPr b="0" i="0" sz="1150" u="none" cap="none" strike="noStrike">
              <a:solidFill>
                <a:schemeClr val="dk1"/>
              </a:solidFill>
              <a:latin typeface="Calibri"/>
              <a:ea typeface="Calibri"/>
              <a:cs typeface="Calibri"/>
              <a:sym typeface="Calibri"/>
            </a:endParaRPr>
          </a:p>
        </p:txBody>
      </p:sp>
      <p:sp>
        <p:nvSpPr>
          <p:cNvPr id="686" name="Google Shape;686;p19"/>
          <p:cNvSpPr/>
          <p:nvPr/>
        </p:nvSpPr>
        <p:spPr>
          <a:xfrm>
            <a:off x="566928" y="5797296"/>
            <a:ext cx="11057839" cy="512064"/>
          </a:xfrm>
          <a:prstGeom prst="roundRect">
            <a:avLst>
              <a:gd fmla="val 16071"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9"/>
          <p:cNvSpPr/>
          <p:nvPr/>
        </p:nvSpPr>
        <p:spPr>
          <a:xfrm>
            <a:off x="768096" y="5916168"/>
            <a:ext cx="274320" cy="27432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9"/>
          <p:cNvSpPr/>
          <p:nvPr/>
        </p:nvSpPr>
        <p:spPr>
          <a:xfrm>
            <a:off x="768096" y="591616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689" name="Google Shape;689;p19"/>
          <p:cNvSpPr/>
          <p:nvPr/>
        </p:nvSpPr>
        <p:spPr>
          <a:xfrm>
            <a:off x="1170432" y="5797296"/>
            <a:ext cx="10234879" cy="512064"/>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Every SaaS log vendor prices on ingested volume. That means your logging habits, written months ago by someone who has left, set the invoice.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4" name="Shape 694"/>
        <p:cNvGrpSpPr/>
        <p:nvPr/>
      </p:nvGrpSpPr>
      <p:grpSpPr>
        <a:xfrm>
          <a:off x="0" y="0"/>
          <a:ext cx="0" cy="0"/>
          <a:chOff x="0" y="0"/>
          <a:chExt cx="0" cy="0"/>
        </a:xfrm>
      </p:grpSpPr>
      <p:sp>
        <p:nvSpPr>
          <p:cNvPr id="695" name="Google Shape;695;p20"/>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50"/>
              <a:buFont typeface="Calibri"/>
              <a:buNone/>
            </a:pPr>
            <a:r>
              <a:rPr b="1" i="0" lang="en-US" sz="1050" u="none" cap="none" strike="noStrike">
                <a:solidFill>
                  <a:srgbClr val="BE6415"/>
                </a:solidFill>
                <a:latin typeface="Calibri"/>
                <a:ea typeface="Calibri"/>
                <a:cs typeface="Calibri"/>
                <a:sym typeface="Calibri"/>
              </a:rPr>
              <a:t>THE MARKET</a:t>
            </a:r>
            <a:endParaRPr b="0" i="0" sz="1050" u="none" cap="none" strike="noStrike">
              <a:solidFill>
                <a:schemeClr val="dk1"/>
              </a:solidFill>
              <a:latin typeface="Calibri"/>
              <a:ea typeface="Calibri"/>
              <a:cs typeface="Calibri"/>
              <a:sym typeface="Calibri"/>
            </a:endParaRPr>
          </a:p>
        </p:txBody>
      </p:sp>
      <p:sp>
        <p:nvSpPr>
          <p:cNvPr id="696" name="Google Shape;696;p20"/>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Where you can put logs</a:t>
            </a:r>
            <a:endParaRPr b="0" i="0" sz="2900" u="none" cap="none" strike="noStrike">
              <a:solidFill>
                <a:schemeClr val="dk1"/>
              </a:solidFill>
              <a:latin typeface="Calibri"/>
              <a:ea typeface="Calibri"/>
              <a:cs typeface="Calibri"/>
              <a:sym typeface="Calibri"/>
            </a:endParaRPr>
          </a:p>
        </p:txBody>
      </p:sp>
      <p:sp>
        <p:nvSpPr>
          <p:cNvPr id="697" name="Google Shape;697;p20"/>
          <p:cNvSpPr/>
          <p:nvPr/>
        </p:nvSpPr>
        <p:spPr>
          <a:xfrm>
            <a:off x="10754258" y="402336"/>
            <a:ext cx="870509" cy="329184"/>
          </a:xfrm>
          <a:prstGeom prst="roundRect">
            <a:avLst>
              <a:gd fmla="val 50000" name="adj"/>
            </a:avLst>
          </a:prstGeom>
          <a:solidFill>
            <a:srgbClr val="FAEFE2"/>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0"/>
          <p:cNvSpPr/>
          <p:nvPr/>
        </p:nvSpPr>
        <p:spPr>
          <a:xfrm>
            <a:off x="10927994" y="525780"/>
            <a:ext cx="91440" cy="9144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0"/>
          <p:cNvSpPr/>
          <p:nvPr/>
        </p:nvSpPr>
        <p:spPr>
          <a:xfrm>
            <a:off x="11065154" y="402336"/>
            <a:ext cx="46817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000"/>
              <a:buFont typeface="Calibri"/>
              <a:buNone/>
            </a:pPr>
            <a:r>
              <a:rPr b="1" i="0" lang="en-US" sz="1000" u="none" cap="none" strike="noStrike">
                <a:solidFill>
                  <a:srgbClr val="BE6415"/>
                </a:solidFill>
                <a:latin typeface="Calibri"/>
                <a:ea typeface="Calibri"/>
                <a:cs typeface="Calibri"/>
                <a:sym typeface="Calibri"/>
              </a:rPr>
              <a:t>Logs</a:t>
            </a:r>
            <a:endParaRPr b="0" i="0" sz="1000" u="none" cap="none" strike="noStrike">
              <a:solidFill>
                <a:schemeClr val="dk1"/>
              </a:solidFill>
              <a:latin typeface="Calibri"/>
              <a:ea typeface="Calibri"/>
              <a:cs typeface="Calibri"/>
              <a:sym typeface="Calibri"/>
            </a:endParaRPr>
          </a:p>
        </p:txBody>
      </p:sp>
      <p:sp>
        <p:nvSpPr>
          <p:cNvPr id="700" name="Google Shape;700;p20"/>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701" name="Google Shape;701;p20"/>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18</a:t>
            </a:r>
            <a:endParaRPr b="0" i="0" sz="900" u="none" cap="none" strike="noStrike">
              <a:solidFill>
                <a:schemeClr val="dk1"/>
              </a:solidFill>
              <a:latin typeface="Calibri"/>
              <a:ea typeface="Calibri"/>
              <a:cs typeface="Calibri"/>
              <a:sym typeface="Calibri"/>
            </a:endParaRPr>
          </a:p>
        </p:txBody>
      </p:sp>
      <p:sp>
        <p:nvSpPr>
          <p:cNvPr id="702" name="Google Shape;702;p20"/>
          <p:cNvSpPr/>
          <p:nvPr/>
        </p:nvSpPr>
        <p:spPr>
          <a:xfrm>
            <a:off x="566928" y="1234440"/>
            <a:ext cx="11057839" cy="365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300"/>
              <a:buFont typeface="Calibri"/>
              <a:buNone/>
            </a:pPr>
            <a:r>
              <a:rPr b="0" i="1" lang="en-US" sz="1300" u="none" cap="none" strike="noStrike">
                <a:solidFill>
                  <a:srgbClr val="5C6B7A"/>
                </a:solidFill>
                <a:latin typeface="Calibri"/>
                <a:ea typeface="Calibri"/>
                <a:cs typeface="Calibri"/>
                <a:sym typeface="Calibri"/>
              </a:rPr>
              <a:t>Four buying models. The signal is identical in all four — what changes is who runs it and how you pay.</a:t>
            </a:r>
            <a:endParaRPr b="0" i="0" sz="1300" u="none" cap="none" strike="noStrike">
              <a:solidFill>
                <a:schemeClr val="dk1"/>
              </a:solidFill>
              <a:latin typeface="Calibri"/>
              <a:ea typeface="Calibri"/>
              <a:cs typeface="Calibri"/>
              <a:sym typeface="Calibri"/>
            </a:endParaRPr>
          </a:p>
        </p:txBody>
      </p:sp>
      <p:sp>
        <p:nvSpPr>
          <p:cNvPr id="703" name="Google Shape;703;p20"/>
          <p:cNvSpPr/>
          <p:nvPr/>
        </p:nvSpPr>
        <p:spPr>
          <a:xfrm>
            <a:off x="566928" y="1700784"/>
            <a:ext cx="2615184" cy="4023360"/>
          </a:xfrm>
          <a:prstGeom prst="roundRect">
            <a:avLst>
              <a:gd fmla="val 3147"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0"/>
          <p:cNvSpPr/>
          <p:nvPr/>
        </p:nvSpPr>
        <p:spPr>
          <a:xfrm>
            <a:off x="566928" y="1700784"/>
            <a:ext cx="2615184" cy="786384"/>
          </a:xfrm>
          <a:prstGeom prst="roundRect">
            <a:avLst>
              <a:gd fmla="val 10465"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0"/>
          <p:cNvSpPr/>
          <p:nvPr/>
        </p:nvSpPr>
        <p:spPr>
          <a:xfrm>
            <a:off x="749808" y="1883664"/>
            <a:ext cx="182880" cy="18288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0"/>
          <p:cNvSpPr/>
          <p:nvPr/>
        </p:nvSpPr>
        <p:spPr>
          <a:xfrm>
            <a:off x="1024128" y="1773936"/>
            <a:ext cx="20482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Run it yourself</a:t>
            </a:r>
            <a:endParaRPr b="0" i="0" sz="1300" u="none" cap="none" strike="noStrike">
              <a:solidFill>
                <a:schemeClr val="dk1"/>
              </a:solidFill>
              <a:latin typeface="Calibri"/>
              <a:ea typeface="Calibri"/>
              <a:cs typeface="Calibri"/>
              <a:sym typeface="Calibri"/>
            </a:endParaRPr>
          </a:p>
        </p:txBody>
      </p:sp>
      <p:sp>
        <p:nvSpPr>
          <p:cNvPr id="707" name="Google Shape;707;p20"/>
          <p:cNvSpPr/>
          <p:nvPr/>
        </p:nvSpPr>
        <p:spPr>
          <a:xfrm>
            <a:off x="749808" y="213969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0" i="1" lang="en-US" sz="950" u="none" cap="none" strike="noStrike">
                <a:solidFill>
                  <a:srgbClr val="5C6B7A"/>
                </a:solidFill>
                <a:latin typeface="Calibri"/>
                <a:ea typeface="Calibri"/>
                <a:cs typeface="Calibri"/>
                <a:sym typeface="Calibri"/>
              </a:rPr>
              <a:t>Open source, your servers</a:t>
            </a:r>
            <a:endParaRPr b="0" i="0" sz="950" u="none" cap="none" strike="noStrike">
              <a:solidFill>
                <a:schemeClr val="dk1"/>
              </a:solidFill>
              <a:latin typeface="Calibri"/>
              <a:ea typeface="Calibri"/>
              <a:cs typeface="Calibri"/>
              <a:sym typeface="Calibri"/>
            </a:endParaRPr>
          </a:p>
        </p:txBody>
      </p:sp>
      <p:sp>
        <p:nvSpPr>
          <p:cNvPr id="708" name="Google Shape;708;p20"/>
          <p:cNvSpPr/>
          <p:nvPr/>
        </p:nvSpPr>
        <p:spPr>
          <a:xfrm>
            <a:off x="731520" y="2615184"/>
            <a:ext cx="1084113"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0"/>
          <p:cNvSpPr/>
          <p:nvPr/>
        </p:nvSpPr>
        <p:spPr>
          <a:xfrm>
            <a:off x="731520" y="2615184"/>
            <a:ext cx="1084113"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900"/>
              <a:buFont typeface="Calibri"/>
              <a:buNone/>
            </a:pPr>
            <a:r>
              <a:rPr b="1" i="0" lang="en-US" sz="900" u="none" cap="none" strike="noStrike">
                <a:solidFill>
                  <a:srgbClr val="BE6415"/>
                </a:solidFill>
                <a:latin typeface="Calibri"/>
                <a:ea typeface="Calibri"/>
                <a:cs typeface="Calibri"/>
                <a:sym typeface="Calibri"/>
              </a:rPr>
              <a:t>Grafana Loki</a:t>
            </a:r>
            <a:endParaRPr b="0" i="0" sz="900" u="none" cap="none" strike="noStrike">
              <a:solidFill>
                <a:schemeClr val="dk1"/>
              </a:solidFill>
              <a:latin typeface="Calibri"/>
              <a:ea typeface="Calibri"/>
              <a:cs typeface="Calibri"/>
              <a:sym typeface="Calibri"/>
            </a:endParaRPr>
          </a:p>
        </p:txBody>
      </p:sp>
      <p:sp>
        <p:nvSpPr>
          <p:cNvPr id="710" name="Google Shape;710;p20"/>
          <p:cNvSpPr/>
          <p:nvPr/>
        </p:nvSpPr>
        <p:spPr>
          <a:xfrm>
            <a:off x="1907073" y="2615184"/>
            <a:ext cx="949147"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0"/>
          <p:cNvSpPr/>
          <p:nvPr/>
        </p:nvSpPr>
        <p:spPr>
          <a:xfrm>
            <a:off x="1907073" y="2615184"/>
            <a:ext cx="949147"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900"/>
              <a:buFont typeface="Calibri"/>
              <a:buNone/>
            </a:pPr>
            <a:r>
              <a:rPr b="1" i="0" lang="en-US" sz="900" u="none" cap="none" strike="noStrike">
                <a:solidFill>
                  <a:srgbClr val="BE6415"/>
                </a:solidFill>
                <a:latin typeface="Calibri"/>
                <a:ea typeface="Calibri"/>
                <a:cs typeface="Calibri"/>
                <a:sym typeface="Calibri"/>
              </a:rPr>
              <a:t>OpenSearch</a:t>
            </a:r>
            <a:endParaRPr b="0" i="0" sz="900" u="none" cap="none" strike="noStrike">
              <a:solidFill>
                <a:schemeClr val="dk1"/>
              </a:solidFill>
              <a:latin typeface="Calibri"/>
              <a:ea typeface="Calibri"/>
              <a:cs typeface="Calibri"/>
              <a:sym typeface="Calibri"/>
            </a:endParaRPr>
          </a:p>
        </p:txBody>
      </p:sp>
      <p:sp>
        <p:nvSpPr>
          <p:cNvPr id="712" name="Google Shape;712;p20"/>
          <p:cNvSpPr/>
          <p:nvPr/>
        </p:nvSpPr>
        <p:spPr>
          <a:xfrm>
            <a:off x="731520" y="2944368"/>
            <a:ext cx="1758940"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0"/>
          <p:cNvSpPr/>
          <p:nvPr/>
        </p:nvSpPr>
        <p:spPr>
          <a:xfrm>
            <a:off x="731520" y="2944368"/>
            <a:ext cx="17589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900"/>
              <a:buFont typeface="Calibri"/>
              <a:buNone/>
            </a:pPr>
            <a:r>
              <a:rPr b="1" i="0" lang="en-US" sz="900" u="none" cap="none" strike="noStrike">
                <a:solidFill>
                  <a:srgbClr val="BE6415"/>
                </a:solidFill>
                <a:latin typeface="Calibri"/>
                <a:ea typeface="Calibri"/>
                <a:cs typeface="Calibri"/>
                <a:sym typeface="Calibri"/>
              </a:rPr>
              <a:t>Elasticsearch + Kibana</a:t>
            </a:r>
            <a:endParaRPr b="0" i="0" sz="900" u="none" cap="none" strike="noStrike">
              <a:solidFill>
                <a:schemeClr val="dk1"/>
              </a:solidFill>
              <a:latin typeface="Calibri"/>
              <a:ea typeface="Calibri"/>
              <a:cs typeface="Calibri"/>
              <a:sym typeface="Calibri"/>
            </a:endParaRPr>
          </a:p>
        </p:txBody>
      </p:sp>
      <p:sp>
        <p:nvSpPr>
          <p:cNvPr id="714" name="Google Shape;714;p20"/>
          <p:cNvSpPr/>
          <p:nvPr/>
        </p:nvSpPr>
        <p:spPr>
          <a:xfrm>
            <a:off x="731520" y="3273552"/>
            <a:ext cx="746699"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0"/>
          <p:cNvSpPr/>
          <p:nvPr/>
        </p:nvSpPr>
        <p:spPr>
          <a:xfrm>
            <a:off x="731520" y="3273552"/>
            <a:ext cx="74669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900"/>
              <a:buFont typeface="Calibri"/>
              <a:buNone/>
            </a:pPr>
            <a:r>
              <a:rPr b="1" i="0" lang="en-US" sz="900" u="none" cap="none" strike="noStrike">
                <a:solidFill>
                  <a:srgbClr val="BE6415"/>
                </a:solidFill>
                <a:latin typeface="Calibri"/>
                <a:ea typeface="Calibri"/>
                <a:cs typeface="Calibri"/>
                <a:sym typeface="Calibri"/>
              </a:rPr>
              <a:t>Graylog</a:t>
            </a:r>
            <a:endParaRPr b="0" i="0" sz="900" u="none" cap="none" strike="noStrike">
              <a:solidFill>
                <a:schemeClr val="dk1"/>
              </a:solidFill>
              <a:latin typeface="Calibri"/>
              <a:ea typeface="Calibri"/>
              <a:cs typeface="Calibri"/>
              <a:sym typeface="Calibri"/>
            </a:endParaRPr>
          </a:p>
        </p:txBody>
      </p:sp>
      <p:sp>
        <p:nvSpPr>
          <p:cNvPr id="716" name="Google Shape;716;p20"/>
          <p:cNvSpPr/>
          <p:nvPr/>
        </p:nvSpPr>
        <p:spPr>
          <a:xfrm>
            <a:off x="1569659" y="3273552"/>
            <a:ext cx="1084113"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0"/>
          <p:cNvSpPr/>
          <p:nvPr/>
        </p:nvSpPr>
        <p:spPr>
          <a:xfrm>
            <a:off x="1569659" y="3273552"/>
            <a:ext cx="1084113"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900"/>
              <a:buFont typeface="Calibri"/>
              <a:buNone/>
            </a:pPr>
            <a:r>
              <a:rPr b="1" i="0" lang="en-US" sz="900" u="none" cap="none" strike="noStrike">
                <a:solidFill>
                  <a:srgbClr val="BE6415"/>
                </a:solidFill>
                <a:latin typeface="Calibri"/>
                <a:ea typeface="Calibri"/>
                <a:cs typeface="Calibri"/>
                <a:sym typeface="Calibri"/>
              </a:rPr>
              <a:t>VictoriaLogs</a:t>
            </a:r>
            <a:endParaRPr b="0" i="0" sz="900" u="none" cap="none" strike="noStrike">
              <a:solidFill>
                <a:schemeClr val="dk1"/>
              </a:solidFill>
              <a:latin typeface="Calibri"/>
              <a:ea typeface="Calibri"/>
              <a:cs typeface="Calibri"/>
              <a:sym typeface="Calibri"/>
            </a:endParaRPr>
          </a:p>
        </p:txBody>
      </p:sp>
      <p:sp>
        <p:nvSpPr>
          <p:cNvPr id="718" name="Google Shape;718;p20"/>
          <p:cNvSpPr/>
          <p:nvPr/>
        </p:nvSpPr>
        <p:spPr>
          <a:xfrm>
            <a:off x="731520" y="3602736"/>
            <a:ext cx="814182"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0"/>
          <p:cNvSpPr/>
          <p:nvPr/>
        </p:nvSpPr>
        <p:spPr>
          <a:xfrm>
            <a:off x="731520" y="3602736"/>
            <a:ext cx="81418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900"/>
              <a:buFont typeface="Calibri"/>
              <a:buNone/>
            </a:pPr>
            <a:r>
              <a:rPr b="1" i="0" lang="en-US" sz="900" u="none" cap="none" strike="noStrike">
                <a:solidFill>
                  <a:srgbClr val="BE6415"/>
                </a:solidFill>
                <a:latin typeface="Calibri"/>
                <a:ea typeface="Calibri"/>
                <a:cs typeface="Calibri"/>
                <a:sym typeface="Calibri"/>
              </a:rPr>
              <a:t>Quickwit</a:t>
            </a:r>
            <a:endParaRPr b="0" i="0" sz="900" u="none" cap="none" strike="noStrike">
              <a:solidFill>
                <a:schemeClr val="dk1"/>
              </a:solidFill>
              <a:latin typeface="Calibri"/>
              <a:ea typeface="Calibri"/>
              <a:cs typeface="Calibri"/>
              <a:sym typeface="Calibri"/>
            </a:endParaRPr>
          </a:p>
        </p:txBody>
      </p:sp>
      <p:sp>
        <p:nvSpPr>
          <p:cNvPr id="720" name="Google Shape;720;p20"/>
          <p:cNvSpPr/>
          <p:nvPr/>
        </p:nvSpPr>
        <p:spPr>
          <a:xfrm>
            <a:off x="1637142" y="3602736"/>
            <a:ext cx="949147"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0"/>
          <p:cNvSpPr/>
          <p:nvPr/>
        </p:nvSpPr>
        <p:spPr>
          <a:xfrm>
            <a:off x="1637142" y="3602736"/>
            <a:ext cx="949147"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900"/>
              <a:buFont typeface="Calibri"/>
              <a:buNone/>
            </a:pPr>
            <a:r>
              <a:rPr b="1" i="0" lang="en-US" sz="900" u="none" cap="none" strike="noStrike">
                <a:solidFill>
                  <a:srgbClr val="BE6415"/>
                </a:solidFill>
                <a:latin typeface="Calibri"/>
                <a:ea typeface="Calibri"/>
                <a:cs typeface="Calibri"/>
                <a:sym typeface="Calibri"/>
              </a:rPr>
              <a:t>ClickHouse</a:t>
            </a:r>
            <a:endParaRPr b="0" i="0" sz="900" u="none" cap="none" strike="noStrike">
              <a:solidFill>
                <a:schemeClr val="dk1"/>
              </a:solidFill>
              <a:latin typeface="Calibri"/>
              <a:ea typeface="Calibri"/>
              <a:cs typeface="Calibri"/>
              <a:sym typeface="Calibri"/>
            </a:endParaRPr>
          </a:p>
        </p:txBody>
      </p:sp>
      <p:sp>
        <p:nvSpPr>
          <p:cNvPr id="722" name="Google Shape;722;p20"/>
          <p:cNvSpPr/>
          <p:nvPr/>
        </p:nvSpPr>
        <p:spPr>
          <a:xfrm>
            <a:off x="731520" y="3931920"/>
            <a:ext cx="679216"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0"/>
          <p:cNvSpPr/>
          <p:nvPr/>
        </p:nvSpPr>
        <p:spPr>
          <a:xfrm>
            <a:off x="731520" y="3931920"/>
            <a:ext cx="67921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900"/>
              <a:buFont typeface="Calibri"/>
              <a:buNone/>
            </a:pPr>
            <a:r>
              <a:rPr b="1" i="0" lang="en-US" sz="900" u="none" cap="none" strike="noStrike">
                <a:solidFill>
                  <a:srgbClr val="BE6415"/>
                </a:solidFill>
                <a:latin typeface="Calibri"/>
                <a:ea typeface="Calibri"/>
                <a:cs typeface="Calibri"/>
                <a:sym typeface="Calibri"/>
              </a:rPr>
              <a:t>SigNoz</a:t>
            </a:r>
            <a:endParaRPr b="0" i="0" sz="900" u="none" cap="none" strike="noStrike">
              <a:solidFill>
                <a:schemeClr val="dk1"/>
              </a:solidFill>
              <a:latin typeface="Calibri"/>
              <a:ea typeface="Calibri"/>
              <a:cs typeface="Calibri"/>
              <a:sym typeface="Calibri"/>
            </a:endParaRPr>
          </a:p>
        </p:txBody>
      </p:sp>
      <p:sp>
        <p:nvSpPr>
          <p:cNvPr id="724" name="Google Shape;724;p20"/>
          <p:cNvSpPr/>
          <p:nvPr/>
        </p:nvSpPr>
        <p:spPr>
          <a:xfrm>
            <a:off x="1502176" y="3931920"/>
            <a:ext cx="1016630"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0"/>
          <p:cNvSpPr/>
          <p:nvPr/>
        </p:nvSpPr>
        <p:spPr>
          <a:xfrm>
            <a:off x="1502176" y="3931920"/>
            <a:ext cx="101663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900"/>
              <a:buFont typeface="Calibri"/>
              <a:buNone/>
            </a:pPr>
            <a:r>
              <a:rPr b="1" i="0" lang="en-US" sz="900" u="none" cap="none" strike="noStrike">
                <a:solidFill>
                  <a:srgbClr val="BE6415"/>
                </a:solidFill>
                <a:latin typeface="Calibri"/>
                <a:ea typeface="Calibri"/>
                <a:cs typeface="Calibri"/>
                <a:sym typeface="Calibri"/>
              </a:rPr>
              <a:t>OpenObserve</a:t>
            </a:r>
            <a:endParaRPr b="0" i="0" sz="900" u="none" cap="none" strike="noStrike">
              <a:solidFill>
                <a:schemeClr val="dk1"/>
              </a:solidFill>
              <a:latin typeface="Calibri"/>
              <a:ea typeface="Calibri"/>
              <a:cs typeface="Calibri"/>
              <a:sym typeface="Calibri"/>
            </a:endParaRPr>
          </a:p>
        </p:txBody>
      </p:sp>
      <p:sp>
        <p:nvSpPr>
          <p:cNvPr id="726" name="Google Shape;726;p20"/>
          <p:cNvSpPr/>
          <p:nvPr/>
        </p:nvSpPr>
        <p:spPr>
          <a:xfrm>
            <a:off x="749808" y="4407408"/>
            <a:ext cx="2286000" cy="118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Cheapest licence, most expensive engineer. You are now on call for the thing that tells you when you are on call.</a:t>
            </a:r>
            <a:endParaRPr b="0" i="0" sz="1050" u="none" cap="none" strike="noStrike">
              <a:solidFill>
                <a:schemeClr val="dk1"/>
              </a:solidFill>
              <a:latin typeface="Calibri"/>
              <a:ea typeface="Calibri"/>
              <a:cs typeface="Calibri"/>
              <a:sym typeface="Calibri"/>
            </a:endParaRPr>
          </a:p>
        </p:txBody>
      </p:sp>
      <p:sp>
        <p:nvSpPr>
          <p:cNvPr id="727" name="Google Shape;727;p20"/>
          <p:cNvSpPr/>
          <p:nvPr/>
        </p:nvSpPr>
        <p:spPr>
          <a:xfrm>
            <a:off x="3364992" y="1700784"/>
            <a:ext cx="2615184" cy="4023360"/>
          </a:xfrm>
          <a:prstGeom prst="roundRect">
            <a:avLst>
              <a:gd fmla="val 3147"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0"/>
          <p:cNvSpPr/>
          <p:nvPr/>
        </p:nvSpPr>
        <p:spPr>
          <a:xfrm>
            <a:off x="3364992" y="1700784"/>
            <a:ext cx="2615184" cy="786384"/>
          </a:xfrm>
          <a:prstGeom prst="roundRect">
            <a:avLst>
              <a:gd fmla="val 10465"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0"/>
          <p:cNvSpPr/>
          <p:nvPr/>
        </p:nvSpPr>
        <p:spPr>
          <a:xfrm>
            <a:off x="3547872" y="1883664"/>
            <a:ext cx="182880" cy="18288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0"/>
          <p:cNvSpPr/>
          <p:nvPr/>
        </p:nvSpPr>
        <p:spPr>
          <a:xfrm>
            <a:off x="3822192" y="1773936"/>
            <a:ext cx="20482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Managed open source</a:t>
            </a:r>
            <a:endParaRPr b="0" i="0" sz="1300" u="none" cap="none" strike="noStrike">
              <a:solidFill>
                <a:schemeClr val="dk1"/>
              </a:solidFill>
              <a:latin typeface="Calibri"/>
              <a:ea typeface="Calibri"/>
              <a:cs typeface="Calibri"/>
              <a:sym typeface="Calibri"/>
            </a:endParaRPr>
          </a:p>
        </p:txBody>
      </p:sp>
      <p:sp>
        <p:nvSpPr>
          <p:cNvPr id="731" name="Google Shape;731;p20"/>
          <p:cNvSpPr/>
          <p:nvPr/>
        </p:nvSpPr>
        <p:spPr>
          <a:xfrm>
            <a:off x="3547872" y="213969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0" i="1" lang="en-US" sz="950" u="none" cap="none" strike="noStrike">
                <a:solidFill>
                  <a:srgbClr val="5C6B7A"/>
                </a:solidFill>
                <a:latin typeface="Calibri"/>
                <a:ea typeface="Calibri"/>
                <a:cs typeface="Calibri"/>
                <a:sym typeface="Calibri"/>
              </a:rPr>
              <a:t>Same tools, someone else's problem</a:t>
            </a:r>
            <a:endParaRPr b="0" i="0" sz="950" u="none" cap="none" strike="noStrike">
              <a:solidFill>
                <a:schemeClr val="dk1"/>
              </a:solidFill>
              <a:latin typeface="Calibri"/>
              <a:ea typeface="Calibri"/>
              <a:cs typeface="Calibri"/>
              <a:sym typeface="Calibri"/>
            </a:endParaRPr>
          </a:p>
        </p:txBody>
      </p:sp>
      <p:sp>
        <p:nvSpPr>
          <p:cNvPr id="732" name="Google Shape;732;p20"/>
          <p:cNvSpPr/>
          <p:nvPr/>
        </p:nvSpPr>
        <p:spPr>
          <a:xfrm>
            <a:off x="3529584" y="2615184"/>
            <a:ext cx="1489009"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0"/>
          <p:cNvSpPr/>
          <p:nvPr/>
        </p:nvSpPr>
        <p:spPr>
          <a:xfrm>
            <a:off x="3529584" y="2615184"/>
            <a:ext cx="148900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900"/>
              <a:buFont typeface="Calibri"/>
              <a:buNone/>
            </a:pPr>
            <a:r>
              <a:rPr b="1" i="0" lang="en-US" sz="900" u="none" cap="none" strike="noStrike">
                <a:solidFill>
                  <a:srgbClr val="0C6B7D"/>
                </a:solidFill>
                <a:latin typeface="Calibri"/>
                <a:ea typeface="Calibri"/>
                <a:cs typeface="Calibri"/>
                <a:sym typeface="Calibri"/>
              </a:rPr>
              <a:t>Grafana Cloud Logs</a:t>
            </a:r>
            <a:endParaRPr b="0" i="0" sz="900" u="none" cap="none" strike="noStrike">
              <a:solidFill>
                <a:schemeClr val="dk1"/>
              </a:solidFill>
              <a:latin typeface="Calibri"/>
              <a:ea typeface="Calibri"/>
              <a:cs typeface="Calibri"/>
              <a:sym typeface="Calibri"/>
            </a:endParaRPr>
          </a:p>
        </p:txBody>
      </p:sp>
      <p:sp>
        <p:nvSpPr>
          <p:cNvPr id="734" name="Google Shape;734;p20"/>
          <p:cNvSpPr/>
          <p:nvPr/>
        </p:nvSpPr>
        <p:spPr>
          <a:xfrm>
            <a:off x="3529584" y="2944368"/>
            <a:ext cx="1151595"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0"/>
          <p:cNvSpPr/>
          <p:nvPr/>
        </p:nvSpPr>
        <p:spPr>
          <a:xfrm>
            <a:off x="3529584" y="2944368"/>
            <a:ext cx="1151595"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900"/>
              <a:buFont typeface="Calibri"/>
              <a:buNone/>
            </a:pPr>
            <a:r>
              <a:rPr b="1" i="0" lang="en-US" sz="900" u="none" cap="none" strike="noStrike">
                <a:solidFill>
                  <a:srgbClr val="0C6B7D"/>
                </a:solidFill>
                <a:latin typeface="Calibri"/>
                <a:ea typeface="Calibri"/>
                <a:cs typeface="Calibri"/>
                <a:sym typeface="Calibri"/>
              </a:rPr>
              <a:t>Elastic Cloud</a:t>
            </a:r>
            <a:endParaRPr b="0" i="0" sz="900" u="none" cap="none" strike="noStrike">
              <a:solidFill>
                <a:schemeClr val="dk1"/>
              </a:solidFill>
              <a:latin typeface="Calibri"/>
              <a:ea typeface="Calibri"/>
              <a:cs typeface="Calibri"/>
              <a:sym typeface="Calibri"/>
            </a:endParaRPr>
          </a:p>
        </p:txBody>
      </p:sp>
      <p:sp>
        <p:nvSpPr>
          <p:cNvPr id="736" name="Google Shape;736;p20"/>
          <p:cNvSpPr/>
          <p:nvPr/>
        </p:nvSpPr>
        <p:spPr>
          <a:xfrm>
            <a:off x="3529584" y="3273552"/>
            <a:ext cx="1758940"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0"/>
          <p:cNvSpPr/>
          <p:nvPr/>
        </p:nvSpPr>
        <p:spPr>
          <a:xfrm>
            <a:off x="3529584" y="3273552"/>
            <a:ext cx="17589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900"/>
              <a:buFont typeface="Calibri"/>
              <a:buNone/>
            </a:pPr>
            <a:r>
              <a:rPr b="1" i="0" lang="en-US" sz="900" u="none" cap="none" strike="noStrike">
                <a:solidFill>
                  <a:srgbClr val="0C6B7D"/>
                </a:solidFill>
                <a:latin typeface="Calibri"/>
                <a:ea typeface="Calibri"/>
                <a:cs typeface="Calibri"/>
                <a:sym typeface="Calibri"/>
              </a:rPr>
              <a:t>AWS OpenSearch Service</a:t>
            </a:r>
            <a:endParaRPr b="0" i="0" sz="900" u="none" cap="none" strike="noStrike">
              <a:solidFill>
                <a:schemeClr val="dk1"/>
              </a:solidFill>
              <a:latin typeface="Calibri"/>
              <a:ea typeface="Calibri"/>
              <a:cs typeface="Calibri"/>
              <a:sym typeface="Calibri"/>
            </a:endParaRPr>
          </a:p>
        </p:txBody>
      </p:sp>
      <p:sp>
        <p:nvSpPr>
          <p:cNvPr id="738" name="Google Shape;738;p20"/>
          <p:cNvSpPr/>
          <p:nvPr/>
        </p:nvSpPr>
        <p:spPr>
          <a:xfrm>
            <a:off x="3529584" y="3602736"/>
            <a:ext cx="746699"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0"/>
          <p:cNvSpPr/>
          <p:nvPr/>
        </p:nvSpPr>
        <p:spPr>
          <a:xfrm>
            <a:off x="3529584" y="3602736"/>
            <a:ext cx="74669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900"/>
              <a:buFont typeface="Calibri"/>
              <a:buNone/>
            </a:pPr>
            <a:r>
              <a:rPr b="1" i="0" lang="en-US" sz="900" u="none" cap="none" strike="noStrike">
                <a:solidFill>
                  <a:srgbClr val="0C6B7D"/>
                </a:solidFill>
                <a:latin typeface="Calibri"/>
                <a:ea typeface="Calibri"/>
                <a:cs typeface="Calibri"/>
                <a:sym typeface="Calibri"/>
              </a:rPr>
              <a:t>Logz.io</a:t>
            </a:r>
            <a:endParaRPr b="0" i="0" sz="900" u="none" cap="none" strike="noStrike">
              <a:solidFill>
                <a:schemeClr val="dk1"/>
              </a:solidFill>
              <a:latin typeface="Calibri"/>
              <a:ea typeface="Calibri"/>
              <a:cs typeface="Calibri"/>
              <a:sym typeface="Calibri"/>
            </a:endParaRPr>
          </a:p>
        </p:txBody>
      </p:sp>
      <p:sp>
        <p:nvSpPr>
          <p:cNvPr id="740" name="Google Shape;740;p20"/>
          <p:cNvSpPr/>
          <p:nvPr/>
        </p:nvSpPr>
        <p:spPr>
          <a:xfrm>
            <a:off x="4367723" y="3602736"/>
            <a:ext cx="611734"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0"/>
          <p:cNvSpPr/>
          <p:nvPr/>
        </p:nvSpPr>
        <p:spPr>
          <a:xfrm>
            <a:off x="4367723" y="3602736"/>
            <a:ext cx="611734"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900"/>
              <a:buFont typeface="Calibri"/>
              <a:buNone/>
            </a:pPr>
            <a:r>
              <a:rPr b="1" i="0" lang="en-US" sz="900" u="none" cap="none" strike="noStrike">
                <a:solidFill>
                  <a:srgbClr val="0C6B7D"/>
                </a:solidFill>
                <a:latin typeface="Calibri"/>
                <a:ea typeface="Calibri"/>
                <a:cs typeface="Calibri"/>
                <a:sym typeface="Calibri"/>
              </a:rPr>
              <a:t>Aiven</a:t>
            </a:r>
            <a:endParaRPr b="0" i="0" sz="900" u="none" cap="none" strike="noStrike">
              <a:solidFill>
                <a:schemeClr val="dk1"/>
              </a:solidFill>
              <a:latin typeface="Calibri"/>
              <a:ea typeface="Calibri"/>
              <a:cs typeface="Calibri"/>
              <a:sym typeface="Calibri"/>
            </a:endParaRPr>
          </a:p>
        </p:txBody>
      </p:sp>
      <p:sp>
        <p:nvSpPr>
          <p:cNvPr id="742" name="Google Shape;742;p20"/>
          <p:cNvSpPr/>
          <p:nvPr/>
        </p:nvSpPr>
        <p:spPr>
          <a:xfrm>
            <a:off x="3547872" y="4078224"/>
            <a:ext cx="2286000" cy="151790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Same query language and dashboards, no cluster to operate. The usual first move once self-hosting hurts.</a:t>
            </a:r>
            <a:endParaRPr b="0" i="0" sz="1050" u="none" cap="none" strike="noStrike">
              <a:solidFill>
                <a:schemeClr val="dk1"/>
              </a:solidFill>
              <a:latin typeface="Calibri"/>
              <a:ea typeface="Calibri"/>
              <a:cs typeface="Calibri"/>
              <a:sym typeface="Calibri"/>
            </a:endParaRPr>
          </a:p>
        </p:txBody>
      </p:sp>
      <p:sp>
        <p:nvSpPr>
          <p:cNvPr id="743" name="Google Shape;743;p20"/>
          <p:cNvSpPr/>
          <p:nvPr/>
        </p:nvSpPr>
        <p:spPr>
          <a:xfrm>
            <a:off x="6163056" y="1700784"/>
            <a:ext cx="2615184" cy="4023360"/>
          </a:xfrm>
          <a:prstGeom prst="roundRect">
            <a:avLst>
              <a:gd fmla="val 3147"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0"/>
          <p:cNvSpPr/>
          <p:nvPr/>
        </p:nvSpPr>
        <p:spPr>
          <a:xfrm>
            <a:off x="6163056" y="1700784"/>
            <a:ext cx="2615184" cy="786384"/>
          </a:xfrm>
          <a:prstGeom prst="roundRect">
            <a:avLst>
              <a:gd fmla="val 10465"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0"/>
          <p:cNvSpPr/>
          <p:nvPr/>
        </p:nvSpPr>
        <p:spPr>
          <a:xfrm>
            <a:off x="6345936" y="1883664"/>
            <a:ext cx="182880" cy="18288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0"/>
          <p:cNvSpPr/>
          <p:nvPr/>
        </p:nvSpPr>
        <p:spPr>
          <a:xfrm>
            <a:off x="6620256" y="1773936"/>
            <a:ext cx="20482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Full-platform SaaS</a:t>
            </a:r>
            <a:endParaRPr b="0" i="0" sz="1300" u="none" cap="none" strike="noStrike">
              <a:solidFill>
                <a:schemeClr val="dk1"/>
              </a:solidFill>
              <a:latin typeface="Calibri"/>
              <a:ea typeface="Calibri"/>
              <a:cs typeface="Calibri"/>
              <a:sym typeface="Calibri"/>
            </a:endParaRPr>
          </a:p>
        </p:txBody>
      </p:sp>
      <p:sp>
        <p:nvSpPr>
          <p:cNvPr id="747" name="Google Shape;747;p20"/>
          <p:cNvSpPr/>
          <p:nvPr/>
        </p:nvSpPr>
        <p:spPr>
          <a:xfrm>
            <a:off x="6345936" y="213969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0" i="1" lang="en-US" sz="950" u="none" cap="none" strike="noStrike">
                <a:solidFill>
                  <a:srgbClr val="5C6B7A"/>
                </a:solidFill>
                <a:latin typeface="Calibri"/>
                <a:ea typeface="Calibri"/>
                <a:cs typeface="Calibri"/>
                <a:sym typeface="Calibri"/>
              </a:rPr>
              <a:t>Logs bundled with everything else</a:t>
            </a:r>
            <a:endParaRPr b="0" i="0" sz="950" u="none" cap="none" strike="noStrike">
              <a:solidFill>
                <a:schemeClr val="dk1"/>
              </a:solidFill>
              <a:latin typeface="Calibri"/>
              <a:ea typeface="Calibri"/>
              <a:cs typeface="Calibri"/>
              <a:sym typeface="Calibri"/>
            </a:endParaRPr>
          </a:p>
        </p:txBody>
      </p:sp>
      <p:sp>
        <p:nvSpPr>
          <p:cNvPr id="748" name="Google Shape;748;p20"/>
          <p:cNvSpPr/>
          <p:nvPr/>
        </p:nvSpPr>
        <p:spPr>
          <a:xfrm>
            <a:off x="6327648" y="2615184"/>
            <a:ext cx="746699"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0"/>
          <p:cNvSpPr/>
          <p:nvPr/>
        </p:nvSpPr>
        <p:spPr>
          <a:xfrm>
            <a:off x="6327648" y="2615184"/>
            <a:ext cx="74669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900"/>
              <a:buFont typeface="Calibri"/>
              <a:buNone/>
            </a:pPr>
            <a:r>
              <a:rPr b="1" i="0" lang="en-US" sz="900" u="none" cap="none" strike="noStrike">
                <a:solidFill>
                  <a:srgbClr val="5C3FA6"/>
                </a:solidFill>
                <a:latin typeface="Calibri"/>
                <a:ea typeface="Calibri"/>
                <a:cs typeface="Calibri"/>
                <a:sym typeface="Calibri"/>
              </a:rPr>
              <a:t>Datadog</a:t>
            </a:r>
            <a:endParaRPr b="0" i="0" sz="900" u="none" cap="none" strike="noStrike">
              <a:solidFill>
                <a:schemeClr val="dk1"/>
              </a:solidFill>
              <a:latin typeface="Calibri"/>
              <a:ea typeface="Calibri"/>
              <a:cs typeface="Calibri"/>
              <a:sym typeface="Calibri"/>
            </a:endParaRPr>
          </a:p>
        </p:txBody>
      </p:sp>
      <p:sp>
        <p:nvSpPr>
          <p:cNvPr id="750" name="Google Shape;750;p20"/>
          <p:cNvSpPr/>
          <p:nvPr/>
        </p:nvSpPr>
        <p:spPr>
          <a:xfrm>
            <a:off x="7165787" y="2615184"/>
            <a:ext cx="1219078"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0"/>
          <p:cNvSpPr/>
          <p:nvPr/>
        </p:nvSpPr>
        <p:spPr>
          <a:xfrm>
            <a:off x="7165787" y="2615184"/>
            <a:ext cx="121907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900"/>
              <a:buFont typeface="Calibri"/>
              <a:buNone/>
            </a:pPr>
            <a:r>
              <a:rPr b="1" i="0" lang="en-US" sz="900" u="none" cap="none" strike="noStrike">
                <a:solidFill>
                  <a:srgbClr val="5C3FA6"/>
                </a:solidFill>
                <a:latin typeface="Calibri"/>
                <a:ea typeface="Calibri"/>
                <a:cs typeface="Calibri"/>
                <a:sym typeface="Calibri"/>
              </a:rPr>
              <a:t>Splunk (Cisco)</a:t>
            </a:r>
            <a:endParaRPr b="0" i="0" sz="900" u="none" cap="none" strike="noStrike">
              <a:solidFill>
                <a:schemeClr val="dk1"/>
              </a:solidFill>
              <a:latin typeface="Calibri"/>
              <a:ea typeface="Calibri"/>
              <a:cs typeface="Calibri"/>
              <a:sym typeface="Calibri"/>
            </a:endParaRPr>
          </a:p>
        </p:txBody>
      </p:sp>
      <p:sp>
        <p:nvSpPr>
          <p:cNvPr id="752" name="Google Shape;752;p20"/>
          <p:cNvSpPr/>
          <p:nvPr/>
        </p:nvSpPr>
        <p:spPr>
          <a:xfrm>
            <a:off x="6327648" y="2944368"/>
            <a:ext cx="881664"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0"/>
          <p:cNvSpPr/>
          <p:nvPr/>
        </p:nvSpPr>
        <p:spPr>
          <a:xfrm>
            <a:off x="6327648" y="2944368"/>
            <a:ext cx="881664"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900"/>
              <a:buFont typeface="Calibri"/>
              <a:buNone/>
            </a:pPr>
            <a:r>
              <a:rPr b="1" i="0" lang="en-US" sz="900" u="none" cap="none" strike="noStrike">
                <a:solidFill>
                  <a:srgbClr val="5C3FA6"/>
                </a:solidFill>
                <a:latin typeface="Calibri"/>
                <a:ea typeface="Calibri"/>
                <a:cs typeface="Calibri"/>
                <a:sym typeface="Calibri"/>
              </a:rPr>
              <a:t>New Relic</a:t>
            </a:r>
            <a:endParaRPr b="0" i="0" sz="900" u="none" cap="none" strike="noStrike">
              <a:solidFill>
                <a:schemeClr val="dk1"/>
              </a:solidFill>
              <a:latin typeface="Calibri"/>
              <a:ea typeface="Calibri"/>
              <a:cs typeface="Calibri"/>
              <a:sym typeface="Calibri"/>
            </a:endParaRPr>
          </a:p>
        </p:txBody>
      </p:sp>
      <p:sp>
        <p:nvSpPr>
          <p:cNvPr id="754" name="Google Shape;754;p20"/>
          <p:cNvSpPr/>
          <p:nvPr/>
        </p:nvSpPr>
        <p:spPr>
          <a:xfrm>
            <a:off x="7300752" y="2944368"/>
            <a:ext cx="881664"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0"/>
          <p:cNvSpPr/>
          <p:nvPr/>
        </p:nvSpPr>
        <p:spPr>
          <a:xfrm>
            <a:off x="7300752" y="2944368"/>
            <a:ext cx="881664"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900"/>
              <a:buFont typeface="Calibri"/>
              <a:buNone/>
            </a:pPr>
            <a:r>
              <a:rPr b="1" i="0" lang="en-US" sz="900" u="none" cap="none" strike="noStrike">
                <a:solidFill>
                  <a:srgbClr val="5C3FA6"/>
                </a:solidFill>
                <a:latin typeface="Calibri"/>
                <a:ea typeface="Calibri"/>
                <a:cs typeface="Calibri"/>
                <a:sym typeface="Calibri"/>
              </a:rPr>
              <a:t>Dynatrace</a:t>
            </a:r>
            <a:endParaRPr b="0" i="0" sz="900" u="none" cap="none" strike="noStrike">
              <a:solidFill>
                <a:schemeClr val="dk1"/>
              </a:solidFill>
              <a:latin typeface="Calibri"/>
              <a:ea typeface="Calibri"/>
              <a:cs typeface="Calibri"/>
              <a:sym typeface="Calibri"/>
            </a:endParaRPr>
          </a:p>
        </p:txBody>
      </p:sp>
      <p:sp>
        <p:nvSpPr>
          <p:cNvPr id="756" name="Google Shape;756;p20"/>
          <p:cNvSpPr/>
          <p:nvPr/>
        </p:nvSpPr>
        <p:spPr>
          <a:xfrm>
            <a:off x="6327648" y="3273552"/>
            <a:ext cx="949147"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0"/>
          <p:cNvSpPr/>
          <p:nvPr/>
        </p:nvSpPr>
        <p:spPr>
          <a:xfrm>
            <a:off x="6327648" y="3273552"/>
            <a:ext cx="949147"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900"/>
              <a:buFont typeface="Calibri"/>
              <a:buNone/>
            </a:pPr>
            <a:r>
              <a:rPr b="1" i="0" lang="en-US" sz="900" u="none" cap="none" strike="noStrike">
                <a:solidFill>
                  <a:srgbClr val="5C3FA6"/>
                </a:solidFill>
                <a:latin typeface="Calibri"/>
                <a:ea typeface="Calibri"/>
                <a:cs typeface="Calibri"/>
                <a:sym typeface="Calibri"/>
              </a:rPr>
              <a:t>Sumo Logic</a:t>
            </a:r>
            <a:endParaRPr b="0" i="0" sz="900" u="none" cap="none" strike="noStrike">
              <a:solidFill>
                <a:schemeClr val="dk1"/>
              </a:solidFill>
              <a:latin typeface="Calibri"/>
              <a:ea typeface="Calibri"/>
              <a:cs typeface="Calibri"/>
              <a:sym typeface="Calibri"/>
            </a:endParaRPr>
          </a:p>
        </p:txBody>
      </p:sp>
      <p:sp>
        <p:nvSpPr>
          <p:cNvPr id="758" name="Google Shape;758;p20"/>
          <p:cNvSpPr/>
          <p:nvPr/>
        </p:nvSpPr>
        <p:spPr>
          <a:xfrm>
            <a:off x="7368235" y="3273552"/>
            <a:ext cx="881664"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0"/>
          <p:cNvSpPr/>
          <p:nvPr/>
        </p:nvSpPr>
        <p:spPr>
          <a:xfrm>
            <a:off x="7368235" y="3273552"/>
            <a:ext cx="881664"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900"/>
              <a:buFont typeface="Calibri"/>
              <a:buNone/>
            </a:pPr>
            <a:r>
              <a:rPr b="1" i="0" lang="en-US" sz="900" u="none" cap="none" strike="noStrike">
                <a:solidFill>
                  <a:srgbClr val="5C3FA6"/>
                </a:solidFill>
                <a:latin typeface="Calibri"/>
                <a:ea typeface="Calibri"/>
                <a:cs typeface="Calibri"/>
                <a:sym typeface="Calibri"/>
              </a:rPr>
              <a:t>Coralogix</a:t>
            </a:r>
            <a:endParaRPr b="0" i="0" sz="900" u="none" cap="none" strike="noStrike">
              <a:solidFill>
                <a:schemeClr val="dk1"/>
              </a:solidFill>
              <a:latin typeface="Calibri"/>
              <a:ea typeface="Calibri"/>
              <a:cs typeface="Calibri"/>
              <a:sym typeface="Calibri"/>
            </a:endParaRPr>
          </a:p>
        </p:txBody>
      </p:sp>
      <p:sp>
        <p:nvSpPr>
          <p:cNvPr id="760" name="Google Shape;760;p20"/>
          <p:cNvSpPr/>
          <p:nvPr/>
        </p:nvSpPr>
        <p:spPr>
          <a:xfrm>
            <a:off x="6327648" y="3602736"/>
            <a:ext cx="1084113"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0"/>
          <p:cNvSpPr/>
          <p:nvPr/>
        </p:nvSpPr>
        <p:spPr>
          <a:xfrm>
            <a:off x="6327648" y="3602736"/>
            <a:ext cx="1084113"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900"/>
              <a:buFont typeface="Calibri"/>
              <a:buNone/>
            </a:pPr>
            <a:r>
              <a:rPr b="1" i="0" lang="en-US" sz="900" u="none" cap="none" strike="noStrike">
                <a:solidFill>
                  <a:srgbClr val="5C3FA6"/>
                </a:solidFill>
                <a:latin typeface="Calibri"/>
                <a:ea typeface="Calibri"/>
                <a:cs typeface="Calibri"/>
                <a:sym typeface="Calibri"/>
              </a:rPr>
              <a:t>Better Stack</a:t>
            </a:r>
            <a:endParaRPr b="0" i="0" sz="900" u="none" cap="none" strike="noStrike">
              <a:solidFill>
                <a:schemeClr val="dk1"/>
              </a:solidFill>
              <a:latin typeface="Calibri"/>
              <a:ea typeface="Calibri"/>
              <a:cs typeface="Calibri"/>
              <a:sym typeface="Calibri"/>
            </a:endParaRPr>
          </a:p>
        </p:txBody>
      </p:sp>
      <p:sp>
        <p:nvSpPr>
          <p:cNvPr id="762" name="Google Shape;762;p20"/>
          <p:cNvSpPr/>
          <p:nvPr/>
        </p:nvSpPr>
        <p:spPr>
          <a:xfrm>
            <a:off x="7503201" y="3602736"/>
            <a:ext cx="611734"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0"/>
          <p:cNvSpPr/>
          <p:nvPr/>
        </p:nvSpPr>
        <p:spPr>
          <a:xfrm>
            <a:off x="7503201" y="3602736"/>
            <a:ext cx="611734"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900"/>
              <a:buFont typeface="Calibri"/>
              <a:buNone/>
            </a:pPr>
            <a:r>
              <a:rPr b="1" i="0" lang="en-US" sz="900" u="none" cap="none" strike="noStrike">
                <a:solidFill>
                  <a:srgbClr val="5C3FA6"/>
                </a:solidFill>
                <a:latin typeface="Calibri"/>
                <a:ea typeface="Calibri"/>
                <a:cs typeface="Calibri"/>
                <a:sym typeface="Calibri"/>
              </a:rPr>
              <a:t>Axiom</a:t>
            </a:r>
            <a:endParaRPr b="0" i="0" sz="900" u="none" cap="none" strike="noStrike">
              <a:solidFill>
                <a:schemeClr val="dk1"/>
              </a:solidFill>
              <a:latin typeface="Calibri"/>
              <a:ea typeface="Calibri"/>
              <a:cs typeface="Calibri"/>
              <a:sym typeface="Calibri"/>
            </a:endParaRPr>
          </a:p>
        </p:txBody>
      </p:sp>
      <p:sp>
        <p:nvSpPr>
          <p:cNvPr id="764" name="Google Shape;764;p20"/>
          <p:cNvSpPr/>
          <p:nvPr/>
        </p:nvSpPr>
        <p:spPr>
          <a:xfrm>
            <a:off x="6327648" y="3931920"/>
            <a:ext cx="611734"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0"/>
          <p:cNvSpPr/>
          <p:nvPr/>
        </p:nvSpPr>
        <p:spPr>
          <a:xfrm>
            <a:off x="6327648" y="3931920"/>
            <a:ext cx="611734"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900"/>
              <a:buFont typeface="Calibri"/>
              <a:buNone/>
            </a:pPr>
            <a:r>
              <a:rPr b="1" i="0" lang="en-US" sz="900" u="none" cap="none" strike="noStrike">
                <a:solidFill>
                  <a:srgbClr val="5C3FA6"/>
                </a:solidFill>
                <a:latin typeface="Calibri"/>
                <a:ea typeface="Calibri"/>
                <a:cs typeface="Calibri"/>
                <a:sym typeface="Calibri"/>
              </a:rPr>
              <a:t>Mezmo</a:t>
            </a:r>
            <a:endParaRPr b="0" i="0" sz="900" u="none" cap="none" strike="noStrike">
              <a:solidFill>
                <a:schemeClr val="dk1"/>
              </a:solidFill>
              <a:latin typeface="Calibri"/>
              <a:ea typeface="Calibri"/>
              <a:cs typeface="Calibri"/>
              <a:sym typeface="Calibri"/>
            </a:endParaRPr>
          </a:p>
        </p:txBody>
      </p:sp>
      <p:sp>
        <p:nvSpPr>
          <p:cNvPr id="766" name="Google Shape;766;p20"/>
          <p:cNvSpPr/>
          <p:nvPr/>
        </p:nvSpPr>
        <p:spPr>
          <a:xfrm>
            <a:off x="6345936" y="4407408"/>
            <a:ext cx="2286000" cy="118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Fastest to value, deepest correlation, and the bill that gets escalated to finance. Priced per GB ingested.</a:t>
            </a:r>
            <a:endParaRPr b="0" i="0" sz="1050" u="none" cap="none" strike="noStrike">
              <a:solidFill>
                <a:schemeClr val="dk1"/>
              </a:solidFill>
              <a:latin typeface="Calibri"/>
              <a:ea typeface="Calibri"/>
              <a:cs typeface="Calibri"/>
              <a:sym typeface="Calibri"/>
            </a:endParaRPr>
          </a:p>
        </p:txBody>
      </p:sp>
      <p:sp>
        <p:nvSpPr>
          <p:cNvPr id="767" name="Google Shape;767;p20"/>
          <p:cNvSpPr/>
          <p:nvPr/>
        </p:nvSpPr>
        <p:spPr>
          <a:xfrm>
            <a:off x="8961120" y="1700784"/>
            <a:ext cx="2615184" cy="4023360"/>
          </a:xfrm>
          <a:prstGeom prst="roundRect">
            <a:avLst>
              <a:gd fmla="val 3147"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0"/>
          <p:cNvSpPr/>
          <p:nvPr/>
        </p:nvSpPr>
        <p:spPr>
          <a:xfrm>
            <a:off x="8961120" y="1700784"/>
            <a:ext cx="2615184" cy="786384"/>
          </a:xfrm>
          <a:prstGeom prst="roundRect">
            <a:avLst>
              <a:gd fmla="val 10465"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0"/>
          <p:cNvSpPr/>
          <p:nvPr/>
        </p:nvSpPr>
        <p:spPr>
          <a:xfrm>
            <a:off x="9144000" y="1883664"/>
            <a:ext cx="182880" cy="182880"/>
          </a:xfrm>
          <a:prstGeom prst="ellipse">
            <a:avLst/>
          </a:prstGeom>
          <a:solidFill>
            <a:srgbClr val="5C6B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0"/>
          <p:cNvSpPr/>
          <p:nvPr/>
        </p:nvSpPr>
        <p:spPr>
          <a:xfrm>
            <a:off x="9418320" y="1773936"/>
            <a:ext cx="20482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Your cloud provider</a:t>
            </a:r>
            <a:endParaRPr b="0" i="0" sz="1300" u="none" cap="none" strike="noStrike">
              <a:solidFill>
                <a:schemeClr val="dk1"/>
              </a:solidFill>
              <a:latin typeface="Calibri"/>
              <a:ea typeface="Calibri"/>
              <a:cs typeface="Calibri"/>
              <a:sym typeface="Calibri"/>
            </a:endParaRPr>
          </a:p>
        </p:txBody>
      </p:sp>
      <p:sp>
        <p:nvSpPr>
          <p:cNvPr id="771" name="Google Shape;771;p20"/>
          <p:cNvSpPr/>
          <p:nvPr/>
        </p:nvSpPr>
        <p:spPr>
          <a:xfrm>
            <a:off x="9144000" y="213969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0" i="1" lang="en-US" sz="950" u="none" cap="none" strike="noStrike">
                <a:solidFill>
                  <a:srgbClr val="5C6B7A"/>
                </a:solidFill>
                <a:latin typeface="Calibri"/>
                <a:ea typeface="Calibri"/>
                <a:cs typeface="Calibri"/>
                <a:sym typeface="Calibri"/>
              </a:rPr>
              <a:t>Already there, already billing</a:t>
            </a:r>
            <a:endParaRPr b="0" i="0" sz="950" u="none" cap="none" strike="noStrike">
              <a:solidFill>
                <a:schemeClr val="dk1"/>
              </a:solidFill>
              <a:latin typeface="Calibri"/>
              <a:ea typeface="Calibri"/>
              <a:cs typeface="Calibri"/>
              <a:sym typeface="Calibri"/>
            </a:endParaRPr>
          </a:p>
        </p:txBody>
      </p:sp>
      <p:sp>
        <p:nvSpPr>
          <p:cNvPr id="772" name="Google Shape;772;p20"/>
          <p:cNvSpPr/>
          <p:nvPr/>
        </p:nvSpPr>
        <p:spPr>
          <a:xfrm>
            <a:off x="9125712" y="2615184"/>
            <a:ext cx="1556492" cy="246888"/>
          </a:xfrm>
          <a:prstGeom prst="roundRect">
            <a:avLst>
              <a:gd fmla="val 50000" name="adj"/>
            </a:avLst>
          </a:prstGeom>
          <a:solidFill>
            <a:srgbClr val="FFFFFF"/>
          </a:solidFill>
          <a:ln cap="flat" cmpd="sng" w="9525">
            <a:solidFill>
              <a:srgbClr val="5C6B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0"/>
          <p:cNvSpPr/>
          <p:nvPr/>
        </p:nvSpPr>
        <p:spPr>
          <a:xfrm>
            <a:off x="9125712" y="2615184"/>
            <a:ext cx="155649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900"/>
              <a:buFont typeface="Calibri"/>
              <a:buNone/>
            </a:pPr>
            <a:r>
              <a:rPr b="1" i="0" lang="en-US" sz="900" u="none" cap="none" strike="noStrike">
                <a:solidFill>
                  <a:srgbClr val="5C6B7A"/>
                </a:solidFill>
                <a:latin typeface="Calibri"/>
                <a:ea typeface="Calibri"/>
                <a:cs typeface="Calibri"/>
                <a:sym typeface="Calibri"/>
              </a:rPr>
              <a:t>AWS CloudWatch Logs</a:t>
            </a:r>
            <a:endParaRPr b="0" i="0" sz="900" u="none" cap="none" strike="noStrike">
              <a:solidFill>
                <a:schemeClr val="dk1"/>
              </a:solidFill>
              <a:latin typeface="Calibri"/>
              <a:ea typeface="Calibri"/>
              <a:cs typeface="Calibri"/>
              <a:sym typeface="Calibri"/>
            </a:endParaRPr>
          </a:p>
        </p:txBody>
      </p:sp>
      <p:sp>
        <p:nvSpPr>
          <p:cNvPr id="774" name="Google Shape;774;p20"/>
          <p:cNvSpPr/>
          <p:nvPr/>
        </p:nvSpPr>
        <p:spPr>
          <a:xfrm>
            <a:off x="9125712" y="2944368"/>
            <a:ext cx="1489009" cy="246888"/>
          </a:xfrm>
          <a:prstGeom prst="roundRect">
            <a:avLst>
              <a:gd fmla="val 50000" name="adj"/>
            </a:avLst>
          </a:prstGeom>
          <a:solidFill>
            <a:srgbClr val="FFFFFF"/>
          </a:solidFill>
          <a:ln cap="flat" cmpd="sng" w="9525">
            <a:solidFill>
              <a:srgbClr val="5C6B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0"/>
          <p:cNvSpPr/>
          <p:nvPr/>
        </p:nvSpPr>
        <p:spPr>
          <a:xfrm>
            <a:off x="9125712" y="2944368"/>
            <a:ext cx="148900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900"/>
              <a:buFont typeface="Calibri"/>
              <a:buNone/>
            </a:pPr>
            <a:r>
              <a:rPr b="1" i="0" lang="en-US" sz="900" u="none" cap="none" strike="noStrike">
                <a:solidFill>
                  <a:srgbClr val="5C6B7A"/>
                </a:solidFill>
                <a:latin typeface="Calibri"/>
                <a:ea typeface="Calibri"/>
                <a:cs typeface="Calibri"/>
                <a:sym typeface="Calibri"/>
              </a:rPr>
              <a:t>Azure Monitor Logs</a:t>
            </a:r>
            <a:endParaRPr b="0" i="0" sz="900" u="none" cap="none" strike="noStrike">
              <a:solidFill>
                <a:schemeClr val="dk1"/>
              </a:solidFill>
              <a:latin typeface="Calibri"/>
              <a:ea typeface="Calibri"/>
              <a:cs typeface="Calibri"/>
              <a:sym typeface="Calibri"/>
            </a:endParaRPr>
          </a:p>
        </p:txBody>
      </p:sp>
      <p:sp>
        <p:nvSpPr>
          <p:cNvPr id="776" name="Google Shape;776;p20"/>
          <p:cNvSpPr/>
          <p:nvPr/>
        </p:nvSpPr>
        <p:spPr>
          <a:xfrm>
            <a:off x="9125712" y="3273552"/>
            <a:ext cx="1623974" cy="246888"/>
          </a:xfrm>
          <a:prstGeom prst="roundRect">
            <a:avLst>
              <a:gd fmla="val 50000" name="adj"/>
            </a:avLst>
          </a:prstGeom>
          <a:solidFill>
            <a:srgbClr val="FFFFFF"/>
          </a:solidFill>
          <a:ln cap="flat" cmpd="sng" w="9525">
            <a:solidFill>
              <a:srgbClr val="5C6B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0"/>
          <p:cNvSpPr/>
          <p:nvPr/>
        </p:nvSpPr>
        <p:spPr>
          <a:xfrm>
            <a:off x="9125712" y="3273552"/>
            <a:ext cx="1623974"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900"/>
              <a:buFont typeface="Calibri"/>
              <a:buNone/>
            </a:pPr>
            <a:r>
              <a:rPr b="1" i="0" lang="en-US" sz="900" u="none" cap="none" strike="noStrike">
                <a:solidFill>
                  <a:srgbClr val="5C6B7A"/>
                </a:solidFill>
                <a:latin typeface="Calibri"/>
                <a:ea typeface="Calibri"/>
                <a:cs typeface="Calibri"/>
                <a:sym typeface="Calibri"/>
              </a:rPr>
              <a:t>Google Cloud Logging</a:t>
            </a:r>
            <a:endParaRPr b="0" i="0" sz="900" u="none" cap="none" strike="noStrike">
              <a:solidFill>
                <a:schemeClr val="dk1"/>
              </a:solidFill>
              <a:latin typeface="Calibri"/>
              <a:ea typeface="Calibri"/>
              <a:cs typeface="Calibri"/>
              <a:sym typeface="Calibri"/>
            </a:endParaRPr>
          </a:p>
        </p:txBody>
      </p:sp>
      <p:sp>
        <p:nvSpPr>
          <p:cNvPr id="778" name="Google Shape;778;p20"/>
          <p:cNvSpPr/>
          <p:nvPr/>
        </p:nvSpPr>
        <p:spPr>
          <a:xfrm>
            <a:off x="9144000" y="3749040"/>
            <a:ext cx="2286000" cy="184708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Zero setup for cloud infrastructure logs, weakest query experience of the four, and the default nobody chose.</a:t>
            </a:r>
            <a:endParaRPr b="0" i="0" sz="1050" u="none" cap="none" strike="noStrike">
              <a:solidFill>
                <a:schemeClr val="dk1"/>
              </a:solidFill>
              <a:latin typeface="Calibri"/>
              <a:ea typeface="Calibri"/>
              <a:cs typeface="Calibri"/>
              <a:sym typeface="Calibri"/>
            </a:endParaRPr>
          </a:p>
        </p:txBody>
      </p:sp>
      <p:sp>
        <p:nvSpPr>
          <p:cNvPr id="779" name="Google Shape;779;p20"/>
          <p:cNvSpPr/>
          <p:nvPr/>
        </p:nvSpPr>
        <p:spPr>
          <a:xfrm>
            <a:off x="566928" y="5870448"/>
            <a:ext cx="11057839" cy="457200"/>
          </a:xfrm>
          <a:prstGeom prst="roundRect">
            <a:avLst>
              <a:gd fmla="val 18000"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0"/>
          <p:cNvSpPr/>
          <p:nvPr/>
        </p:nvSpPr>
        <p:spPr>
          <a:xfrm>
            <a:off x="768096" y="5961888"/>
            <a:ext cx="274320" cy="27432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0"/>
          <p:cNvSpPr/>
          <p:nvPr/>
        </p:nvSpPr>
        <p:spPr>
          <a:xfrm>
            <a:off x="768096" y="59618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782" name="Google Shape;782;p20"/>
          <p:cNvSpPr/>
          <p:nvPr/>
        </p:nvSpPr>
        <p:spPr>
          <a:xfrm>
            <a:off x="1170432" y="5870448"/>
            <a:ext cx="1023487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We use Loki because it runs on a laptop and shows the ideas clearly — not because it is the right answer at your future job.</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620"/>
        </a:solidFill>
      </p:bgPr>
    </p:bg>
    <p:spTree>
      <p:nvGrpSpPr>
        <p:cNvPr id="787" name="Shape 787"/>
        <p:cNvGrpSpPr/>
        <p:nvPr/>
      </p:nvGrpSpPr>
      <p:grpSpPr>
        <a:xfrm>
          <a:off x="0" y="0"/>
          <a:ext cx="0" cy="0"/>
          <a:chOff x="0" y="0"/>
          <a:chExt cx="0" cy="0"/>
        </a:xfrm>
      </p:grpSpPr>
      <p:sp>
        <p:nvSpPr>
          <p:cNvPr id="788" name="Google Shape;788;p21"/>
          <p:cNvSpPr/>
          <p:nvPr/>
        </p:nvSpPr>
        <p:spPr>
          <a:xfrm>
            <a:off x="8595360" y="1051560"/>
            <a:ext cx="3200400" cy="320040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1"/>
          <p:cNvSpPr/>
          <p:nvPr/>
        </p:nvSpPr>
        <p:spPr>
          <a:xfrm>
            <a:off x="9372600" y="1828800"/>
            <a:ext cx="1645920" cy="164592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1"/>
          <p:cNvSpPr/>
          <p:nvPr/>
        </p:nvSpPr>
        <p:spPr>
          <a:xfrm>
            <a:off x="9372600" y="1828800"/>
            <a:ext cx="1645920" cy="1645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02</a:t>
            </a:r>
            <a:endParaRPr b="0" i="0" sz="4400" u="none" cap="none" strike="noStrike">
              <a:solidFill>
                <a:schemeClr val="dk1"/>
              </a:solidFill>
              <a:latin typeface="Calibri"/>
              <a:ea typeface="Calibri"/>
              <a:cs typeface="Calibri"/>
              <a:sym typeface="Calibri"/>
            </a:endParaRPr>
          </a:p>
        </p:txBody>
      </p:sp>
      <p:sp>
        <p:nvSpPr>
          <p:cNvPr id="791" name="Google Shape;791;p21"/>
          <p:cNvSpPr/>
          <p:nvPr/>
        </p:nvSpPr>
        <p:spPr>
          <a:xfrm>
            <a:off x="566928" y="2057400"/>
            <a:ext cx="7498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150"/>
              <a:buFont typeface="Calibri"/>
              <a:buNone/>
            </a:pPr>
            <a:r>
              <a:rPr b="1" i="0" lang="en-US" sz="1150" u="none" cap="none" strike="noStrike">
                <a:solidFill>
                  <a:srgbClr val="0C6B7D"/>
                </a:solidFill>
                <a:latin typeface="Calibri"/>
                <a:ea typeface="Calibri"/>
                <a:cs typeface="Calibri"/>
                <a:sym typeface="Calibri"/>
              </a:rPr>
              <a:t>DAY 2</a:t>
            </a:r>
            <a:endParaRPr b="0" i="0" sz="1150" u="none" cap="none" strike="noStrike">
              <a:solidFill>
                <a:schemeClr val="dk1"/>
              </a:solidFill>
              <a:latin typeface="Calibri"/>
              <a:ea typeface="Calibri"/>
              <a:cs typeface="Calibri"/>
              <a:sym typeface="Calibri"/>
            </a:endParaRPr>
          </a:p>
        </p:txBody>
      </p:sp>
      <p:sp>
        <p:nvSpPr>
          <p:cNvPr id="792" name="Google Shape;792;p21"/>
          <p:cNvSpPr/>
          <p:nvPr/>
        </p:nvSpPr>
        <p:spPr>
          <a:xfrm>
            <a:off x="566928" y="2377440"/>
            <a:ext cx="74980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Metrics</a:t>
            </a:r>
            <a:endParaRPr b="0" i="0" sz="4000" u="none" cap="none" strike="noStrike">
              <a:solidFill>
                <a:schemeClr val="dk1"/>
              </a:solidFill>
              <a:latin typeface="Calibri"/>
              <a:ea typeface="Calibri"/>
              <a:cs typeface="Calibri"/>
              <a:sym typeface="Calibri"/>
            </a:endParaRPr>
          </a:p>
        </p:txBody>
      </p:sp>
      <p:sp>
        <p:nvSpPr>
          <p:cNvPr id="793" name="Google Shape;793;p21"/>
          <p:cNvSpPr/>
          <p:nvPr/>
        </p:nvSpPr>
        <p:spPr>
          <a:xfrm>
            <a:off x="566928" y="3291840"/>
            <a:ext cx="7315200"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7C4"/>
              </a:buClr>
              <a:buSzPts val="1450"/>
              <a:buFont typeface="Calibri"/>
              <a:buNone/>
            </a:pPr>
            <a:r>
              <a:rPr b="0" i="0" lang="en-US" sz="1450" u="none" cap="none" strike="noStrike">
                <a:solidFill>
                  <a:srgbClr val="A9B7C4"/>
                </a:solidFill>
                <a:latin typeface="Calibri"/>
                <a:ea typeface="Calibri"/>
                <a:cs typeface="Calibri"/>
                <a:sym typeface="Calibri"/>
              </a:rPr>
              <a:t>Numbers over time, deliberately stripped of detail so they stay cheap enough to keep forever and query in milliseconds.</a:t>
            </a:r>
            <a:endParaRPr b="0" i="0" sz="1450" u="none" cap="none" strike="noStrike">
              <a:solidFill>
                <a:schemeClr val="dk1"/>
              </a:solidFill>
              <a:latin typeface="Calibri"/>
              <a:ea typeface="Calibri"/>
              <a:cs typeface="Calibri"/>
              <a:sym typeface="Calibri"/>
            </a:endParaRPr>
          </a:p>
        </p:txBody>
      </p:sp>
      <p:sp>
        <p:nvSpPr>
          <p:cNvPr id="794" name="Google Shape;794;p21"/>
          <p:cNvSpPr/>
          <p:nvPr/>
        </p:nvSpPr>
        <p:spPr>
          <a:xfrm>
            <a:off x="566928" y="4343400"/>
            <a:ext cx="1061618"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1"/>
          <p:cNvSpPr/>
          <p:nvPr/>
        </p:nvSpPr>
        <p:spPr>
          <a:xfrm>
            <a:off x="566928" y="4343400"/>
            <a:ext cx="106161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1050"/>
              <a:buFont typeface="Calibri"/>
              <a:buNone/>
            </a:pPr>
            <a:r>
              <a:rPr b="1" i="0" lang="en-US" sz="1050" u="none" cap="none" strike="noStrike">
                <a:solidFill>
                  <a:srgbClr val="0C6B7D"/>
                </a:solidFill>
                <a:latin typeface="Calibri"/>
                <a:ea typeface="Calibri"/>
                <a:cs typeface="Calibri"/>
                <a:sym typeface="Calibri"/>
              </a:rPr>
              <a:t>Prometheus</a:t>
            </a:r>
            <a:endParaRPr b="0" i="0" sz="1050" u="none" cap="none" strike="noStrike">
              <a:solidFill>
                <a:schemeClr val="dk1"/>
              </a:solidFill>
              <a:latin typeface="Calibri"/>
              <a:ea typeface="Calibri"/>
              <a:cs typeface="Calibri"/>
              <a:sym typeface="Calibri"/>
            </a:endParaRPr>
          </a:p>
        </p:txBody>
      </p:sp>
      <p:sp>
        <p:nvSpPr>
          <p:cNvPr id="796" name="Google Shape;796;p21"/>
          <p:cNvSpPr/>
          <p:nvPr/>
        </p:nvSpPr>
        <p:spPr>
          <a:xfrm>
            <a:off x="1719986" y="4343400"/>
            <a:ext cx="746699"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1"/>
          <p:cNvSpPr/>
          <p:nvPr/>
        </p:nvSpPr>
        <p:spPr>
          <a:xfrm>
            <a:off x="1719986" y="4343400"/>
            <a:ext cx="74669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1050"/>
              <a:buFont typeface="Calibri"/>
              <a:buNone/>
            </a:pPr>
            <a:r>
              <a:rPr b="1" i="0" lang="en-US" sz="1050" u="none" cap="none" strike="noStrike">
                <a:solidFill>
                  <a:srgbClr val="0C6B7D"/>
                </a:solidFill>
                <a:latin typeface="Calibri"/>
                <a:ea typeface="Calibri"/>
                <a:cs typeface="Calibri"/>
                <a:sym typeface="Calibri"/>
              </a:rPr>
              <a:t>PromQL</a:t>
            </a:r>
            <a:endParaRPr b="0" i="0" sz="1050" u="none" cap="none" strike="noStrike">
              <a:solidFill>
                <a:schemeClr val="dk1"/>
              </a:solidFill>
              <a:latin typeface="Calibri"/>
              <a:ea typeface="Calibri"/>
              <a:cs typeface="Calibri"/>
              <a:sym typeface="Calibri"/>
            </a:endParaRPr>
          </a:p>
        </p:txBody>
      </p:sp>
      <p:sp>
        <p:nvSpPr>
          <p:cNvPr id="798" name="Google Shape;798;p21"/>
          <p:cNvSpPr/>
          <p:nvPr/>
        </p:nvSpPr>
        <p:spPr>
          <a:xfrm>
            <a:off x="2558125" y="4343400"/>
            <a:ext cx="825429"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1"/>
          <p:cNvSpPr/>
          <p:nvPr/>
        </p:nvSpPr>
        <p:spPr>
          <a:xfrm>
            <a:off x="2558125" y="4343400"/>
            <a:ext cx="82542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1050"/>
              <a:buFont typeface="Calibri"/>
              <a:buNone/>
            </a:pPr>
            <a:r>
              <a:rPr b="1" i="0" lang="en-US" sz="1050" u="none" cap="none" strike="noStrike">
                <a:solidFill>
                  <a:srgbClr val="0C6B7D"/>
                </a:solidFill>
                <a:latin typeface="Calibri"/>
                <a:ea typeface="Calibri"/>
                <a:cs typeface="Calibri"/>
                <a:sym typeface="Calibri"/>
              </a:rPr>
              <a:t>Grafana</a:t>
            </a:r>
            <a:endParaRPr b="0" i="0" sz="1050" u="none" cap="none" strike="noStrike">
              <a:solidFill>
                <a:schemeClr val="dk1"/>
              </a:solidFill>
              <a:latin typeface="Calibri"/>
              <a:ea typeface="Calibri"/>
              <a:cs typeface="Calibri"/>
              <a:sym typeface="Calibri"/>
            </a:endParaRPr>
          </a:p>
        </p:txBody>
      </p:sp>
      <p:sp>
        <p:nvSpPr>
          <p:cNvPr id="800" name="Google Shape;800;p21"/>
          <p:cNvSpPr/>
          <p:nvPr/>
        </p:nvSpPr>
        <p:spPr>
          <a:xfrm>
            <a:off x="3474994" y="4343400"/>
            <a:ext cx="1140348"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1"/>
          <p:cNvSpPr/>
          <p:nvPr/>
        </p:nvSpPr>
        <p:spPr>
          <a:xfrm>
            <a:off x="3474994" y="4343400"/>
            <a:ext cx="114034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1050"/>
              <a:buFont typeface="Calibri"/>
              <a:buNone/>
            </a:pPr>
            <a:r>
              <a:rPr b="1" i="0" lang="en-US" sz="1050" u="none" cap="none" strike="noStrike">
                <a:solidFill>
                  <a:srgbClr val="0C6B7D"/>
                </a:solidFill>
                <a:latin typeface="Calibri"/>
                <a:ea typeface="Calibri"/>
                <a:cs typeface="Calibri"/>
                <a:sym typeface="Calibri"/>
              </a:rPr>
              <a:t>prom-client</a:t>
            </a:r>
            <a:endParaRPr b="0" i="0" sz="1050" u="none" cap="none" strike="noStrike">
              <a:solidFill>
                <a:schemeClr val="dk1"/>
              </a:solidFill>
              <a:latin typeface="Calibri"/>
              <a:ea typeface="Calibri"/>
              <a:cs typeface="Calibri"/>
              <a:sym typeface="Calibri"/>
            </a:endParaRPr>
          </a:p>
        </p:txBody>
      </p:sp>
      <p:sp>
        <p:nvSpPr>
          <p:cNvPr id="802" name="Google Shape;802;p21"/>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6B7A"/>
              </a:buClr>
              <a:buSzPts val="900"/>
              <a:buFont typeface="Calibri"/>
              <a:buNone/>
            </a:pPr>
            <a:r>
              <a:rPr b="0" i="0" lang="en-US" sz="900" u="none" cap="none" strike="noStrike">
                <a:solidFill>
                  <a:srgbClr val="5D6B7A"/>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803" name="Google Shape;803;p21"/>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D6B7A"/>
              </a:buClr>
              <a:buSzPts val="900"/>
              <a:buFont typeface="Calibri"/>
              <a:buNone/>
            </a:pPr>
            <a:r>
              <a:rPr b="0" i="0" lang="en-US" sz="900" u="none" cap="none" strike="noStrike">
                <a:solidFill>
                  <a:srgbClr val="5D6B7A"/>
                </a:solidFill>
                <a:latin typeface="Calibri"/>
                <a:ea typeface="Calibri"/>
                <a:cs typeface="Calibri"/>
                <a:sym typeface="Calibri"/>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8" name="Shape 808"/>
        <p:cNvGrpSpPr/>
        <p:nvPr/>
      </p:nvGrpSpPr>
      <p:grpSpPr>
        <a:xfrm>
          <a:off x="0" y="0"/>
          <a:ext cx="0" cy="0"/>
          <a:chOff x="0" y="0"/>
          <a:chExt cx="0" cy="0"/>
        </a:xfrm>
      </p:grpSpPr>
      <p:sp>
        <p:nvSpPr>
          <p:cNvPr id="809" name="Google Shape;809;p22"/>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50"/>
              <a:buFont typeface="Calibri"/>
              <a:buNone/>
            </a:pPr>
            <a:r>
              <a:rPr b="1" i="0" lang="en-US" sz="1050" u="none" cap="none" strike="noStrike">
                <a:solidFill>
                  <a:srgbClr val="0C6B7D"/>
                </a:solidFill>
                <a:latin typeface="Calibri"/>
                <a:ea typeface="Calibri"/>
                <a:cs typeface="Calibri"/>
                <a:sym typeface="Calibri"/>
              </a:rPr>
              <a:t>DEFINITION</a:t>
            </a:r>
            <a:endParaRPr b="0" i="0" sz="1050" u="none" cap="none" strike="noStrike">
              <a:solidFill>
                <a:schemeClr val="dk1"/>
              </a:solidFill>
              <a:latin typeface="Calibri"/>
              <a:ea typeface="Calibri"/>
              <a:cs typeface="Calibri"/>
              <a:sym typeface="Calibri"/>
            </a:endParaRPr>
          </a:p>
        </p:txBody>
      </p:sp>
      <p:sp>
        <p:nvSpPr>
          <p:cNvPr id="810" name="Google Shape;810;p22"/>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700"/>
              <a:buFont typeface="Cambria"/>
              <a:buNone/>
            </a:pPr>
            <a:r>
              <a:rPr b="1" i="0" lang="en-US" sz="2700" u="none" cap="none" strike="noStrike">
                <a:solidFill>
                  <a:srgbClr val="16202C"/>
                </a:solidFill>
                <a:latin typeface="Cambria"/>
                <a:ea typeface="Cambria"/>
                <a:cs typeface="Cambria"/>
                <a:sym typeface="Cambria"/>
              </a:rPr>
              <a:t>A metric is a number, with labels, sampled on a schedule</a:t>
            </a:r>
            <a:endParaRPr b="0" i="0" sz="2700" u="none" cap="none" strike="noStrike">
              <a:solidFill>
                <a:schemeClr val="dk1"/>
              </a:solidFill>
              <a:latin typeface="Calibri"/>
              <a:ea typeface="Calibri"/>
              <a:cs typeface="Calibri"/>
              <a:sym typeface="Calibri"/>
            </a:endParaRPr>
          </a:p>
        </p:txBody>
      </p:sp>
      <p:sp>
        <p:nvSpPr>
          <p:cNvPr id="811" name="Google Shape;811;p22"/>
          <p:cNvSpPr/>
          <p:nvPr/>
        </p:nvSpPr>
        <p:spPr>
          <a:xfrm>
            <a:off x="10457993" y="402336"/>
            <a:ext cx="1166774" cy="329184"/>
          </a:xfrm>
          <a:prstGeom prst="roundRect">
            <a:avLst>
              <a:gd fmla="val 50000" name="adj"/>
            </a:avLst>
          </a:prstGeom>
          <a:solidFill>
            <a:srgbClr val="E2F0F3"/>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2"/>
          <p:cNvSpPr/>
          <p:nvPr/>
        </p:nvSpPr>
        <p:spPr>
          <a:xfrm>
            <a:off x="10631729" y="525780"/>
            <a:ext cx="91440" cy="9144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2"/>
          <p:cNvSpPr/>
          <p:nvPr/>
        </p:nvSpPr>
        <p:spPr>
          <a:xfrm>
            <a:off x="10768889" y="402336"/>
            <a:ext cx="76443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00"/>
              <a:buFont typeface="Calibri"/>
              <a:buNone/>
            </a:pPr>
            <a:r>
              <a:rPr b="1" i="0" lang="en-US" sz="1000" u="none" cap="none" strike="noStrike">
                <a:solidFill>
                  <a:srgbClr val="0C6B7D"/>
                </a:solidFill>
                <a:latin typeface="Calibri"/>
                <a:ea typeface="Calibri"/>
                <a:cs typeface="Calibri"/>
                <a:sym typeface="Calibri"/>
              </a:rPr>
              <a:t>Metrics</a:t>
            </a:r>
            <a:endParaRPr b="0" i="0" sz="1000" u="none" cap="none" strike="noStrike">
              <a:solidFill>
                <a:schemeClr val="dk1"/>
              </a:solidFill>
              <a:latin typeface="Calibri"/>
              <a:ea typeface="Calibri"/>
              <a:cs typeface="Calibri"/>
              <a:sym typeface="Calibri"/>
            </a:endParaRPr>
          </a:p>
        </p:txBody>
      </p:sp>
      <p:sp>
        <p:nvSpPr>
          <p:cNvPr id="814" name="Google Shape;814;p22"/>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815" name="Google Shape;815;p22"/>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20</a:t>
            </a:r>
            <a:endParaRPr b="0" i="0" sz="900" u="none" cap="none" strike="noStrike">
              <a:solidFill>
                <a:schemeClr val="dk1"/>
              </a:solidFill>
              <a:latin typeface="Calibri"/>
              <a:ea typeface="Calibri"/>
              <a:cs typeface="Calibri"/>
              <a:sym typeface="Calibri"/>
            </a:endParaRPr>
          </a:p>
        </p:txBody>
      </p:sp>
      <p:sp>
        <p:nvSpPr>
          <p:cNvPr id="816" name="Google Shape;816;p22"/>
          <p:cNvSpPr/>
          <p:nvPr/>
        </p:nvSpPr>
        <p:spPr>
          <a:xfrm>
            <a:off x="566928" y="1417320"/>
            <a:ext cx="11057839" cy="969264"/>
          </a:xfrm>
          <a:prstGeom prst="roundRect">
            <a:avLst>
              <a:gd fmla="val 8491"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2"/>
          <p:cNvSpPr/>
          <p:nvPr/>
        </p:nvSpPr>
        <p:spPr>
          <a:xfrm>
            <a:off x="731520" y="1545336"/>
            <a:ext cx="10728655" cy="71323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8FD3B4"/>
              </a:buClr>
              <a:buSzPts val="1150"/>
              <a:buFont typeface="Courier New"/>
              <a:buNone/>
            </a:pPr>
            <a:r>
              <a:rPr b="0" i="0" lang="en-US" sz="1150" u="none" cap="none" strike="noStrike">
                <a:solidFill>
                  <a:srgbClr val="8FD3B4"/>
                </a:solidFill>
                <a:latin typeface="Courier New"/>
                <a:ea typeface="Courier New"/>
                <a:cs typeface="Courier New"/>
                <a:sym typeface="Courier New"/>
              </a:rPr>
              <a:t>http_requests_total{service="payment", route="/orders", method="POST", status="500"}  4821</a:t>
            </a:r>
            <a:endParaRPr b="0" i="0" sz="11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9FB3C4"/>
              </a:buClr>
              <a:buSzPts val="1150"/>
              <a:buFont typeface="Courier New"/>
              <a:buNone/>
            </a:pPr>
            <a:r>
              <a:rPr b="0" i="0" lang="en-US" sz="1150" u="none" cap="none" strike="noStrike">
                <a:solidFill>
                  <a:srgbClr val="9FB3C4"/>
                </a:solidFill>
                <a:latin typeface="Courier New"/>
                <a:ea typeface="Courier New"/>
                <a:cs typeface="Courier New"/>
                <a:sym typeface="Courier New"/>
              </a:rPr>
              <a:t>  └ metric name        └ labels: the dimensions you can slice by                        └ value</a:t>
            </a:r>
            <a:endParaRPr b="0" i="0" sz="1150" u="none" cap="none" strike="noStrike">
              <a:solidFill>
                <a:schemeClr val="dk1"/>
              </a:solidFill>
              <a:latin typeface="Calibri"/>
              <a:ea typeface="Calibri"/>
              <a:cs typeface="Calibri"/>
              <a:sym typeface="Calibri"/>
            </a:endParaRPr>
          </a:p>
        </p:txBody>
      </p:sp>
      <p:sp>
        <p:nvSpPr>
          <p:cNvPr id="818" name="Google Shape;818;p22"/>
          <p:cNvSpPr/>
          <p:nvPr/>
        </p:nvSpPr>
        <p:spPr>
          <a:xfrm>
            <a:off x="566928" y="2578608"/>
            <a:ext cx="3511296" cy="1627632"/>
          </a:xfrm>
          <a:prstGeom prst="roundRect">
            <a:avLst>
              <a:gd fmla="val 5056"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2"/>
          <p:cNvSpPr/>
          <p:nvPr/>
        </p:nvSpPr>
        <p:spPr>
          <a:xfrm>
            <a:off x="786384" y="2743200"/>
            <a:ext cx="30723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400"/>
              <a:buFont typeface="Calibri"/>
              <a:buNone/>
            </a:pPr>
            <a:r>
              <a:rPr b="1" i="0" lang="en-US" sz="1400" u="none" cap="none" strike="noStrike">
                <a:solidFill>
                  <a:srgbClr val="0C6B7D"/>
                </a:solidFill>
                <a:latin typeface="Calibri"/>
                <a:ea typeface="Calibri"/>
                <a:cs typeface="Calibri"/>
                <a:sym typeface="Calibri"/>
              </a:rPr>
              <a:t>It is a time series</a:t>
            </a:r>
            <a:endParaRPr b="0" i="0" sz="1400" u="none" cap="none" strike="noStrike">
              <a:solidFill>
                <a:schemeClr val="dk1"/>
              </a:solidFill>
              <a:latin typeface="Calibri"/>
              <a:ea typeface="Calibri"/>
              <a:cs typeface="Calibri"/>
              <a:sym typeface="Calibri"/>
            </a:endParaRPr>
          </a:p>
        </p:txBody>
      </p:sp>
      <p:sp>
        <p:nvSpPr>
          <p:cNvPr id="820" name="Google Shape;820;p22"/>
          <p:cNvSpPr/>
          <p:nvPr/>
        </p:nvSpPr>
        <p:spPr>
          <a:xfrm>
            <a:off x="786384" y="3108960"/>
            <a:ext cx="3072384" cy="10058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One unique combination of name and labels is one series. Prometheus stores a value for it every scrape — typically every 15 seconds, forever.</a:t>
            </a:r>
            <a:endParaRPr b="0" i="0" sz="1150" u="none" cap="none" strike="noStrike">
              <a:solidFill>
                <a:schemeClr val="dk1"/>
              </a:solidFill>
              <a:latin typeface="Calibri"/>
              <a:ea typeface="Calibri"/>
              <a:cs typeface="Calibri"/>
              <a:sym typeface="Calibri"/>
            </a:endParaRPr>
          </a:p>
        </p:txBody>
      </p:sp>
      <p:sp>
        <p:nvSpPr>
          <p:cNvPr id="821" name="Google Shape;821;p22"/>
          <p:cNvSpPr/>
          <p:nvPr/>
        </p:nvSpPr>
        <p:spPr>
          <a:xfrm>
            <a:off x="4306824" y="2578608"/>
            <a:ext cx="3511296" cy="1627632"/>
          </a:xfrm>
          <a:prstGeom prst="roundRect">
            <a:avLst>
              <a:gd fmla="val 5056"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2"/>
          <p:cNvSpPr/>
          <p:nvPr/>
        </p:nvSpPr>
        <p:spPr>
          <a:xfrm>
            <a:off x="4526280" y="2743200"/>
            <a:ext cx="30723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400"/>
              <a:buFont typeface="Calibri"/>
              <a:buNone/>
            </a:pPr>
            <a:r>
              <a:rPr b="1" i="0" lang="en-US" sz="1400" u="none" cap="none" strike="noStrike">
                <a:solidFill>
                  <a:srgbClr val="0C6B7D"/>
                </a:solidFill>
                <a:latin typeface="Calibri"/>
                <a:ea typeface="Calibri"/>
                <a:cs typeface="Calibri"/>
                <a:sym typeface="Calibri"/>
              </a:rPr>
              <a:t>It is already aggregated</a:t>
            </a:r>
            <a:endParaRPr b="0" i="0" sz="1400" u="none" cap="none" strike="noStrike">
              <a:solidFill>
                <a:schemeClr val="dk1"/>
              </a:solidFill>
              <a:latin typeface="Calibri"/>
              <a:ea typeface="Calibri"/>
              <a:cs typeface="Calibri"/>
              <a:sym typeface="Calibri"/>
            </a:endParaRPr>
          </a:p>
        </p:txBody>
      </p:sp>
      <p:sp>
        <p:nvSpPr>
          <p:cNvPr id="823" name="Google Shape;823;p22"/>
          <p:cNvSpPr/>
          <p:nvPr/>
        </p:nvSpPr>
        <p:spPr>
          <a:xfrm>
            <a:off x="4526280" y="3108960"/>
            <a:ext cx="3072384" cy="10058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4,821 requests failed. Which ones? Gone. You traded the individual events away in exchange for a number you can keep cheaply.</a:t>
            </a:r>
            <a:endParaRPr b="0" i="0" sz="1150" u="none" cap="none" strike="noStrike">
              <a:solidFill>
                <a:schemeClr val="dk1"/>
              </a:solidFill>
              <a:latin typeface="Calibri"/>
              <a:ea typeface="Calibri"/>
              <a:cs typeface="Calibri"/>
              <a:sym typeface="Calibri"/>
            </a:endParaRPr>
          </a:p>
        </p:txBody>
      </p:sp>
      <p:sp>
        <p:nvSpPr>
          <p:cNvPr id="824" name="Google Shape;824;p22"/>
          <p:cNvSpPr/>
          <p:nvPr/>
        </p:nvSpPr>
        <p:spPr>
          <a:xfrm>
            <a:off x="8046720" y="2578608"/>
            <a:ext cx="3511296" cy="1627632"/>
          </a:xfrm>
          <a:prstGeom prst="roundRect">
            <a:avLst>
              <a:gd fmla="val 5056"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2"/>
          <p:cNvSpPr/>
          <p:nvPr/>
        </p:nvSpPr>
        <p:spPr>
          <a:xfrm>
            <a:off x="8266176" y="2743200"/>
            <a:ext cx="307238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400"/>
              <a:buFont typeface="Calibri"/>
              <a:buNone/>
            </a:pPr>
            <a:r>
              <a:rPr b="1" i="0" lang="en-US" sz="1400" u="none" cap="none" strike="noStrike">
                <a:solidFill>
                  <a:srgbClr val="0C6B7D"/>
                </a:solidFill>
                <a:latin typeface="Calibri"/>
                <a:ea typeface="Calibri"/>
                <a:cs typeface="Calibri"/>
                <a:sym typeface="Calibri"/>
              </a:rPr>
              <a:t>It is dimensional</a:t>
            </a:r>
            <a:endParaRPr b="0" i="0" sz="1400" u="none" cap="none" strike="noStrike">
              <a:solidFill>
                <a:schemeClr val="dk1"/>
              </a:solidFill>
              <a:latin typeface="Calibri"/>
              <a:ea typeface="Calibri"/>
              <a:cs typeface="Calibri"/>
              <a:sym typeface="Calibri"/>
            </a:endParaRPr>
          </a:p>
        </p:txBody>
      </p:sp>
      <p:sp>
        <p:nvSpPr>
          <p:cNvPr id="826" name="Google Shape;826;p22"/>
          <p:cNvSpPr/>
          <p:nvPr/>
        </p:nvSpPr>
        <p:spPr>
          <a:xfrm>
            <a:off x="8266176" y="3108960"/>
            <a:ext cx="3072384" cy="10058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Labels are what make one metric answer many questions: by service, by route, by status, by version — without emitting a new metric for each.</a:t>
            </a:r>
            <a:endParaRPr b="0" i="0" sz="1150" u="none" cap="none" strike="noStrike">
              <a:solidFill>
                <a:schemeClr val="dk1"/>
              </a:solidFill>
              <a:latin typeface="Calibri"/>
              <a:ea typeface="Calibri"/>
              <a:cs typeface="Calibri"/>
              <a:sym typeface="Calibri"/>
            </a:endParaRPr>
          </a:p>
        </p:txBody>
      </p:sp>
      <p:sp>
        <p:nvSpPr>
          <p:cNvPr id="827" name="Google Shape;827;p22"/>
          <p:cNvSpPr/>
          <p:nvPr/>
        </p:nvSpPr>
        <p:spPr>
          <a:xfrm>
            <a:off x="566928" y="4425696"/>
            <a:ext cx="5349240" cy="1371600"/>
          </a:xfrm>
          <a:prstGeom prst="roundRect">
            <a:avLst>
              <a:gd fmla="val 6000"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2"/>
          <p:cNvSpPr/>
          <p:nvPr/>
        </p:nvSpPr>
        <p:spPr>
          <a:xfrm>
            <a:off x="786384" y="4608576"/>
            <a:ext cx="292608" cy="29260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2"/>
          <p:cNvSpPr/>
          <p:nvPr/>
        </p:nvSpPr>
        <p:spPr>
          <a:xfrm>
            <a:off x="786384" y="460857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830" name="Google Shape;830;p22"/>
          <p:cNvSpPr/>
          <p:nvPr/>
        </p:nvSpPr>
        <p:spPr>
          <a:xfrm>
            <a:off x="1188720" y="4608576"/>
            <a:ext cx="4325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This is why metrics can wake you up</a:t>
            </a:r>
            <a:endParaRPr b="0" i="0" sz="1300" u="none" cap="none" strike="noStrike">
              <a:solidFill>
                <a:schemeClr val="dk1"/>
              </a:solidFill>
              <a:latin typeface="Calibri"/>
              <a:ea typeface="Calibri"/>
              <a:cs typeface="Calibri"/>
              <a:sym typeface="Calibri"/>
            </a:endParaRPr>
          </a:p>
        </p:txBody>
      </p:sp>
      <p:sp>
        <p:nvSpPr>
          <p:cNvPr id="831" name="Google Shape;831;p22"/>
          <p:cNvSpPr/>
          <p:nvPr/>
        </p:nvSpPr>
        <p:spPr>
          <a:xfrm>
            <a:off x="786384" y="5010912"/>
            <a:ext cx="4910328" cy="621792"/>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Cheap to store, fast to query, complete by default — no sampling. An alert can evaluate every 15 seconds against a year of history without breaking anything.</a:t>
            </a:r>
            <a:endParaRPr b="0" i="0" sz="1150" u="none" cap="none" strike="noStrike">
              <a:solidFill>
                <a:schemeClr val="dk1"/>
              </a:solidFill>
              <a:latin typeface="Calibri"/>
              <a:ea typeface="Calibri"/>
              <a:cs typeface="Calibri"/>
              <a:sym typeface="Calibri"/>
            </a:endParaRPr>
          </a:p>
        </p:txBody>
      </p:sp>
      <p:sp>
        <p:nvSpPr>
          <p:cNvPr id="832" name="Google Shape;832;p22"/>
          <p:cNvSpPr/>
          <p:nvPr/>
        </p:nvSpPr>
        <p:spPr>
          <a:xfrm>
            <a:off x="6281928" y="4425696"/>
            <a:ext cx="5349240" cy="1371600"/>
          </a:xfrm>
          <a:prstGeom prst="roundRect">
            <a:avLst>
              <a:gd fmla="val 6000"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2"/>
          <p:cNvSpPr/>
          <p:nvPr/>
        </p:nvSpPr>
        <p:spPr>
          <a:xfrm>
            <a:off x="6501384" y="4608576"/>
            <a:ext cx="292608" cy="292608"/>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2"/>
          <p:cNvSpPr/>
          <p:nvPr/>
        </p:nvSpPr>
        <p:spPr>
          <a:xfrm>
            <a:off x="6501384" y="460857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835" name="Google Shape;835;p22"/>
          <p:cNvSpPr/>
          <p:nvPr/>
        </p:nvSpPr>
        <p:spPr>
          <a:xfrm>
            <a:off x="6903720" y="4608576"/>
            <a:ext cx="4325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And why metrics can never explain anything</a:t>
            </a:r>
            <a:endParaRPr b="0" i="0" sz="1300" u="none" cap="none" strike="noStrike">
              <a:solidFill>
                <a:schemeClr val="dk1"/>
              </a:solidFill>
              <a:latin typeface="Calibri"/>
              <a:ea typeface="Calibri"/>
              <a:cs typeface="Calibri"/>
              <a:sym typeface="Calibri"/>
            </a:endParaRPr>
          </a:p>
        </p:txBody>
      </p:sp>
      <p:sp>
        <p:nvSpPr>
          <p:cNvPr id="836" name="Google Shape;836;p22"/>
          <p:cNvSpPr/>
          <p:nvPr/>
        </p:nvSpPr>
        <p:spPr>
          <a:xfrm>
            <a:off x="6501384" y="5010912"/>
            <a:ext cx="4910328" cy="621792"/>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“27% of orders failed” is a metric. “Order 8821 failed because the connection pool was exhausted” is not, and never will be. Metrics are the alarm, not the answer.</a:t>
            </a:r>
            <a:endParaRPr b="0" i="0" sz="1150" u="none" cap="none" strike="noStrike">
              <a:solidFill>
                <a:schemeClr val="dk1"/>
              </a:solidFill>
              <a:latin typeface="Calibri"/>
              <a:ea typeface="Calibri"/>
              <a:cs typeface="Calibri"/>
              <a:sym typeface="Calibri"/>
            </a:endParaRPr>
          </a:p>
        </p:txBody>
      </p:sp>
      <p:sp>
        <p:nvSpPr>
          <p:cNvPr id="837" name="Google Shape;837;p22"/>
          <p:cNvSpPr/>
          <p:nvPr/>
        </p:nvSpPr>
        <p:spPr>
          <a:xfrm>
            <a:off x="566928" y="5943600"/>
            <a:ext cx="11057839" cy="457200"/>
          </a:xfrm>
          <a:prstGeom prst="roundRect">
            <a:avLst>
              <a:gd fmla="val 18000"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2"/>
          <p:cNvSpPr/>
          <p:nvPr/>
        </p:nvSpPr>
        <p:spPr>
          <a:xfrm>
            <a:off x="768096" y="6035040"/>
            <a:ext cx="274320" cy="27432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2"/>
          <p:cNvSpPr/>
          <p:nvPr/>
        </p:nvSpPr>
        <p:spPr>
          <a:xfrm>
            <a:off x="768096" y="60350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840" name="Google Shape;840;p22"/>
          <p:cNvSpPr/>
          <p:nvPr/>
        </p:nvSpPr>
        <p:spPr>
          <a:xfrm>
            <a:off x="1170432" y="5943600"/>
            <a:ext cx="1023487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Cost scales with the number of unique label combinations — not with traffic. Ten requests and ten million cost the same.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5" name="Shape 845"/>
        <p:cNvGrpSpPr/>
        <p:nvPr/>
      </p:nvGrpSpPr>
      <p:grpSpPr>
        <a:xfrm>
          <a:off x="0" y="0"/>
          <a:ext cx="0" cy="0"/>
          <a:chOff x="0" y="0"/>
          <a:chExt cx="0" cy="0"/>
        </a:xfrm>
      </p:grpSpPr>
      <p:sp>
        <p:nvSpPr>
          <p:cNvPr id="846" name="Google Shape;846;p23"/>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50"/>
              <a:buFont typeface="Calibri"/>
              <a:buNone/>
            </a:pPr>
            <a:r>
              <a:rPr b="1" i="0" lang="en-US" sz="1050" u="none" cap="none" strike="noStrike">
                <a:solidFill>
                  <a:srgbClr val="0C6B7D"/>
                </a:solidFill>
                <a:latin typeface="Calibri"/>
                <a:ea typeface="Calibri"/>
                <a:cs typeface="Calibri"/>
                <a:sym typeface="Calibri"/>
              </a:rPr>
              <a:t>THE VOCABULARY</a:t>
            </a:r>
            <a:endParaRPr b="0" i="0" sz="1050" u="none" cap="none" strike="noStrike">
              <a:solidFill>
                <a:schemeClr val="dk1"/>
              </a:solidFill>
              <a:latin typeface="Calibri"/>
              <a:ea typeface="Calibri"/>
              <a:cs typeface="Calibri"/>
              <a:sym typeface="Calibri"/>
            </a:endParaRPr>
          </a:p>
        </p:txBody>
      </p:sp>
      <p:sp>
        <p:nvSpPr>
          <p:cNvPr id="847" name="Google Shape;847;p23"/>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Four types. Using the wrong one fails silently.</a:t>
            </a:r>
            <a:endParaRPr b="0" i="0" sz="2900" u="none" cap="none" strike="noStrike">
              <a:solidFill>
                <a:schemeClr val="dk1"/>
              </a:solidFill>
              <a:latin typeface="Calibri"/>
              <a:ea typeface="Calibri"/>
              <a:cs typeface="Calibri"/>
              <a:sym typeface="Calibri"/>
            </a:endParaRPr>
          </a:p>
        </p:txBody>
      </p:sp>
      <p:sp>
        <p:nvSpPr>
          <p:cNvPr id="848" name="Google Shape;848;p23"/>
          <p:cNvSpPr/>
          <p:nvPr/>
        </p:nvSpPr>
        <p:spPr>
          <a:xfrm>
            <a:off x="10457993" y="402336"/>
            <a:ext cx="1166774" cy="329184"/>
          </a:xfrm>
          <a:prstGeom prst="roundRect">
            <a:avLst>
              <a:gd fmla="val 50000" name="adj"/>
            </a:avLst>
          </a:prstGeom>
          <a:solidFill>
            <a:srgbClr val="E2F0F3"/>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3"/>
          <p:cNvSpPr/>
          <p:nvPr/>
        </p:nvSpPr>
        <p:spPr>
          <a:xfrm>
            <a:off x="10631729" y="525780"/>
            <a:ext cx="91440" cy="9144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3"/>
          <p:cNvSpPr/>
          <p:nvPr/>
        </p:nvSpPr>
        <p:spPr>
          <a:xfrm>
            <a:off x="10768889" y="402336"/>
            <a:ext cx="76443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00"/>
              <a:buFont typeface="Calibri"/>
              <a:buNone/>
            </a:pPr>
            <a:r>
              <a:rPr b="1" i="0" lang="en-US" sz="1000" u="none" cap="none" strike="noStrike">
                <a:solidFill>
                  <a:srgbClr val="0C6B7D"/>
                </a:solidFill>
                <a:latin typeface="Calibri"/>
                <a:ea typeface="Calibri"/>
                <a:cs typeface="Calibri"/>
                <a:sym typeface="Calibri"/>
              </a:rPr>
              <a:t>Metrics</a:t>
            </a:r>
            <a:endParaRPr b="0" i="0" sz="1000" u="none" cap="none" strike="noStrike">
              <a:solidFill>
                <a:schemeClr val="dk1"/>
              </a:solidFill>
              <a:latin typeface="Calibri"/>
              <a:ea typeface="Calibri"/>
              <a:cs typeface="Calibri"/>
              <a:sym typeface="Calibri"/>
            </a:endParaRPr>
          </a:p>
        </p:txBody>
      </p:sp>
      <p:sp>
        <p:nvSpPr>
          <p:cNvPr id="851" name="Google Shape;851;p23"/>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852" name="Google Shape;852;p23"/>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21</a:t>
            </a:r>
            <a:endParaRPr b="0" i="0" sz="900" u="none" cap="none" strike="noStrike">
              <a:solidFill>
                <a:schemeClr val="dk1"/>
              </a:solidFill>
              <a:latin typeface="Calibri"/>
              <a:ea typeface="Calibri"/>
              <a:cs typeface="Calibri"/>
              <a:sym typeface="Calibri"/>
            </a:endParaRPr>
          </a:p>
        </p:txBody>
      </p:sp>
      <p:sp>
        <p:nvSpPr>
          <p:cNvPr id="853" name="Google Shape;853;p23"/>
          <p:cNvSpPr/>
          <p:nvPr/>
        </p:nvSpPr>
        <p:spPr>
          <a:xfrm>
            <a:off x="566928" y="1371600"/>
            <a:ext cx="5349240" cy="2048256"/>
          </a:xfrm>
          <a:prstGeom prst="roundRect">
            <a:avLst>
              <a:gd fmla="val 4018" name="adj"/>
            </a:avLst>
          </a:prstGeom>
          <a:solidFill>
            <a:srgbClr val="FFFFFF"/>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3"/>
          <p:cNvSpPr/>
          <p:nvPr/>
        </p:nvSpPr>
        <p:spPr>
          <a:xfrm>
            <a:off x="566928" y="1371600"/>
            <a:ext cx="5349240" cy="566928"/>
          </a:xfrm>
          <a:prstGeom prst="roundRect">
            <a:avLst>
              <a:gd fmla="val 14516"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3"/>
          <p:cNvSpPr/>
          <p:nvPr/>
        </p:nvSpPr>
        <p:spPr>
          <a:xfrm>
            <a:off x="804672" y="1371600"/>
            <a:ext cx="1828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800"/>
              <a:buFont typeface="Cambria"/>
              <a:buNone/>
            </a:pPr>
            <a:r>
              <a:rPr b="1" i="0" lang="en-US" sz="1800" u="none" cap="none" strike="noStrike">
                <a:solidFill>
                  <a:srgbClr val="0C6B7D"/>
                </a:solidFill>
                <a:latin typeface="Cambria"/>
                <a:ea typeface="Cambria"/>
                <a:cs typeface="Cambria"/>
                <a:sym typeface="Cambria"/>
              </a:rPr>
              <a:t>Counter</a:t>
            </a:r>
            <a:endParaRPr b="0" i="0" sz="1800" u="none" cap="none" strike="noStrike">
              <a:solidFill>
                <a:schemeClr val="dk1"/>
              </a:solidFill>
              <a:latin typeface="Calibri"/>
              <a:ea typeface="Calibri"/>
              <a:cs typeface="Calibri"/>
              <a:sym typeface="Calibri"/>
            </a:endParaRPr>
          </a:p>
        </p:txBody>
      </p:sp>
      <p:sp>
        <p:nvSpPr>
          <p:cNvPr id="856" name="Google Shape;856;p23"/>
          <p:cNvSpPr/>
          <p:nvPr/>
        </p:nvSpPr>
        <p:spPr>
          <a:xfrm>
            <a:off x="2542032" y="1371600"/>
            <a:ext cx="3200400" cy="566928"/>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Only ever goes up. Resets to zero when the process restarts.</a:t>
            </a:r>
            <a:endParaRPr b="0" i="0" sz="1050" u="none" cap="none" strike="noStrike">
              <a:solidFill>
                <a:schemeClr val="dk1"/>
              </a:solidFill>
              <a:latin typeface="Calibri"/>
              <a:ea typeface="Calibri"/>
              <a:cs typeface="Calibri"/>
              <a:sym typeface="Calibri"/>
            </a:endParaRPr>
          </a:p>
        </p:txBody>
      </p:sp>
      <p:sp>
        <p:nvSpPr>
          <p:cNvPr id="857" name="Google Shape;857;p23"/>
          <p:cNvSpPr/>
          <p:nvPr/>
        </p:nvSpPr>
        <p:spPr>
          <a:xfrm>
            <a:off x="804672" y="2029968"/>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EXAMPLE</a:t>
            </a:r>
            <a:endParaRPr b="0" i="0" sz="850" u="none" cap="none" strike="noStrike">
              <a:solidFill>
                <a:schemeClr val="dk1"/>
              </a:solidFill>
              <a:latin typeface="Calibri"/>
              <a:ea typeface="Calibri"/>
              <a:cs typeface="Calibri"/>
              <a:sym typeface="Calibri"/>
            </a:endParaRPr>
          </a:p>
        </p:txBody>
      </p:sp>
      <p:sp>
        <p:nvSpPr>
          <p:cNvPr id="858" name="Google Shape;858;p23"/>
          <p:cNvSpPr/>
          <p:nvPr/>
        </p:nvSpPr>
        <p:spPr>
          <a:xfrm>
            <a:off x="1865376" y="2011680"/>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950"/>
              <a:buFont typeface="Courier New"/>
              <a:buNone/>
            </a:pPr>
            <a:r>
              <a:rPr b="0" i="0" lang="en-US" sz="950" u="none" cap="none" strike="noStrike">
                <a:solidFill>
                  <a:srgbClr val="16202C"/>
                </a:solidFill>
                <a:latin typeface="Courier New"/>
                <a:ea typeface="Courier New"/>
                <a:cs typeface="Courier New"/>
                <a:sym typeface="Courier New"/>
              </a:rPr>
              <a:t>orders_total, errors_total, bytes_sent_total</a:t>
            </a:r>
            <a:endParaRPr b="0" i="0" sz="950" u="none" cap="none" strike="noStrike">
              <a:solidFill>
                <a:schemeClr val="dk1"/>
              </a:solidFill>
              <a:latin typeface="Calibri"/>
              <a:ea typeface="Calibri"/>
              <a:cs typeface="Calibri"/>
              <a:sym typeface="Calibri"/>
            </a:endParaRPr>
          </a:p>
        </p:txBody>
      </p:sp>
      <p:sp>
        <p:nvSpPr>
          <p:cNvPr id="859" name="Google Shape;859;p23"/>
          <p:cNvSpPr/>
          <p:nvPr/>
        </p:nvSpPr>
        <p:spPr>
          <a:xfrm>
            <a:off x="804672" y="2322576"/>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QUERY IT WITH</a:t>
            </a:r>
            <a:endParaRPr b="0" i="0" sz="850" u="none" cap="none" strike="noStrike">
              <a:solidFill>
                <a:schemeClr val="dk1"/>
              </a:solidFill>
              <a:latin typeface="Calibri"/>
              <a:ea typeface="Calibri"/>
              <a:cs typeface="Calibri"/>
              <a:sym typeface="Calibri"/>
            </a:endParaRPr>
          </a:p>
        </p:txBody>
      </p:sp>
      <p:sp>
        <p:nvSpPr>
          <p:cNvPr id="860" name="Google Shape;860;p23"/>
          <p:cNvSpPr/>
          <p:nvPr/>
        </p:nvSpPr>
        <p:spPr>
          <a:xfrm>
            <a:off x="1865376" y="2304288"/>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950"/>
              <a:buFont typeface="Courier New"/>
              <a:buNone/>
            </a:pPr>
            <a:r>
              <a:rPr b="1" i="0" lang="en-US" sz="950" u="none" cap="none" strike="noStrike">
                <a:solidFill>
                  <a:srgbClr val="0C6B7D"/>
                </a:solidFill>
                <a:latin typeface="Courier New"/>
                <a:ea typeface="Courier New"/>
                <a:cs typeface="Courier New"/>
                <a:sym typeface="Courier New"/>
              </a:rPr>
              <a:t>rate(x[5m]) — never the raw value</a:t>
            </a:r>
            <a:endParaRPr b="0" i="0" sz="950" u="none" cap="none" strike="noStrike">
              <a:solidFill>
                <a:schemeClr val="dk1"/>
              </a:solidFill>
              <a:latin typeface="Calibri"/>
              <a:ea typeface="Calibri"/>
              <a:cs typeface="Calibri"/>
              <a:sym typeface="Calibri"/>
            </a:endParaRPr>
          </a:p>
        </p:txBody>
      </p:sp>
      <p:sp>
        <p:nvSpPr>
          <p:cNvPr id="861" name="Google Shape;861;p23"/>
          <p:cNvSpPr/>
          <p:nvPr/>
        </p:nvSpPr>
        <p:spPr>
          <a:xfrm>
            <a:off x="804672" y="2633472"/>
            <a:ext cx="4882896" cy="65836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The raw number is meaningless (“4,821 since when?”). The rate of change is the useful thing.</a:t>
            </a:r>
            <a:endParaRPr b="0" i="0" sz="1100" u="none" cap="none" strike="noStrike">
              <a:solidFill>
                <a:schemeClr val="dk1"/>
              </a:solidFill>
              <a:latin typeface="Calibri"/>
              <a:ea typeface="Calibri"/>
              <a:cs typeface="Calibri"/>
              <a:sym typeface="Calibri"/>
            </a:endParaRPr>
          </a:p>
        </p:txBody>
      </p:sp>
      <p:sp>
        <p:nvSpPr>
          <p:cNvPr id="862" name="Google Shape;862;p23"/>
          <p:cNvSpPr/>
          <p:nvPr/>
        </p:nvSpPr>
        <p:spPr>
          <a:xfrm>
            <a:off x="6281928" y="1371600"/>
            <a:ext cx="5349240" cy="2048256"/>
          </a:xfrm>
          <a:prstGeom prst="roundRect">
            <a:avLst>
              <a:gd fmla="val 4018" name="adj"/>
            </a:avLst>
          </a:prstGeom>
          <a:solidFill>
            <a:srgbClr val="FFFFFF"/>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3"/>
          <p:cNvSpPr/>
          <p:nvPr/>
        </p:nvSpPr>
        <p:spPr>
          <a:xfrm>
            <a:off x="6281928" y="1371600"/>
            <a:ext cx="5349240" cy="566928"/>
          </a:xfrm>
          <a:prstGeom prst="roundRect">
            <a:avLst>
              <a:gd fmla="val 14516"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3"/>
          <p:cNvSpPr/>
          <p:nvPr/>
        </p:nvSpPr>
        <p:spPr>
          <a:xfrm>
            <a:off x="6519672" y="1371600"/>
            <a:ext cx="1828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800"/>
              <a:buFont typeface="Cambria"/>
              <a:buNone/>
            </a:pPr>
            <a:r>
              <a:rPr b="1" i="0" lang="en-US" sz="1800" u="none" cap="none" strike="noStrike">
                <a:solidFill>
                  <a:srgbClr val="0C6B7D"/>
                </a:solidFill>
                <a:latin typeface="Cambria"/>
                <a:ea typeface="Cambria"/>
                <a:cs typeface="Cambria"/>
                <a:sym typeface="Cambria"/>
              </a:rPr>
              <a:t>Gauge</a:t>
            </a:r>
            <a:endParaRPr b="0" i="0" sz="1800" u="none" cap="none" strike="noStrike">
              <a:solidFill>
                <a:schemeClr val="dk1"/>
              </a:solidFill>
              <a:latin typeface="Calibri"/>
              <a:ea typeface="Calibri"/>
              <a:cs typeface="Calibri"/>
              <a:sym typeface="Calibri"/>
            </a:endParaRPr>
          </a:p>
        </p:txBody>
      </p:sp>
      <p:sp>
        <p:nvSpPr>
          <p:cNvPr id="865" name="Google Shape;865;p23"/>
          <p:cNvSpPr/>
          <p:nvPr/>
        </p:nvSpPr>
        <p:spPr>
          <a:xfrm>
            <a:off x="8257032" y="1371600"/>
            <a:ext cx="3200400" cy="566928"/>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Goes up and down. A measurement of right now.</a:t>
            </a:r>
            <a:endParaRPr b="0" i="0" sz="1050" u="none" cap="none" strike="noStrike">
              <a:solidFill>
                <a:schemeClr val="dk1"/>
              </a:solidFill>
              <a:latin typeface="Calibri"/>
              <a:ea typeface="Calibri"/>
              <a:cs typeface="Calibri"/>
              <a:sym typeface="Calibri"/>
            </a:endParaRPr>
          </a:p>
        </p:txBody>
      </p:sp>
      <p:sp>
        <p:nvSpPr>
          <p:cNvPr id="866" name="Google Shape;866;p23"/>
          <p:cNvSpPr/>
          <p:nvPr/>
        </p:nvSpPr>
        <p:spPr>
          <a:xfrm>
            <a:off x="6519672" y="2029968"/>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EXAMPLE</a:t>
            </a:r>
            <a:endParaRPr b="0" i="0" sz="850" u="none" cap="none" strike="noStrike">
              <a:solidFill>
                <a:schemeClr val="dk1"/>
              </a:solidFill>
              <a:latin typeface="Calibri"/>
              <a:ea typeface="Calibri"/>
              <a:cs typeface="Calibri"/>
              <a:sym typeface="Calibri"/>
            </a:endParaRPr>
          </a:p>
        </p:txBody>
      </p:sp>
      <p:sp>
        <p:nvSpPr>
          <p:cNvPr id="867" name="Google Shape;867;p23"/>
          <p:cNvSpPr/>
          <p:nvPr/>
        </p:nvSpPr>
        <p:spPr>
          <a:xfrm>
            <a:off x="7580376" y="2011680"/>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950"/>
              <a:buFont typeface="Courier New"/>
              <a:buNone/>
            </a:pPr>
            <a:r>
              <a:rPr b="0" i="0" lang="en-US" sz="950" u="none" cap="none" strike="noStrike">
                <a:solidFill>
                  <a:srgbClr val="16202C"/>
                </a:solidFill>
                <a:latin typeface="Courier New"/>
                <a:ea typeface="Courier New"/>
                <a:cs typeface="Courier New"/>
                <a:sym typeface="Courier New"/>
              </a:rPr>
              <a:t>queue_depth, temperature, tea_stock, memory_bytes</a:t>
            </a:r>
            <a:endParaRPr b="0" i="0" sz="950" u="none" cap="none" strike="noStrike">
              <a:solidFill>
                <a:schemeClr val="dk1"/>
              </a:solidFill>
              <a:latin typeface="Calibri"/>
              <a:ea typeface="Calibri"/>
              <a:cs typeface="Calibri"/>
              <a:sym typeface="Calibri"/>
            </a:endParaRPr>
          </a:p>
        </p:txBody>
      </p:sp>
      <p:sp>
        <p:nvSpPr>
          <p:cNvPr id="868" name="Google Shape;868;p23"/>
          <p:cNvSpPr/>
          <p:nvPr/>
        </p:nvSpPr>
        <p:spPr>
          <a:xfrm>
            <a:off x="6519672" y="2322576"/>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QUERY IT WITH</a:t>
            </a:r>
            <a:endParaRPr b="0" i="0" sz="850" u="none" cap="none" strike="noStrike">
              <a:solidFill>
                <a:schemeClr val="dk1"/>
              </a:solidFill>
              <a:latin typeface="Calibri"/>
              <a:ea typeface="Calibri"/>
              <a:cs typeface="Calibri"/>
              <a:sym typeface="Calibri"/>
            </a:endParaRPr>
          </a:p>
        </p:txBody>
      </p:sp>
      <p:sp>
        <p:nvSpPr>
          <p:cNvPr id="869" name="Google Shape;869;p23"/>
          <p:cNvSpPr/>
          <p:nvPr/>
        </p:nvSpPr>
        <p:spPr>
          <a:xfrm>
            <a:off x="7580376" y="2304288"/>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950"/>
              <a:buFont typeface="Courier New"/>
              <a:buNone/>
            </a:pPr>
            <a:r>
              <a:rPr b="1" i="0" lang="en-US" sz="950" u="none" cap="none" strike="noStrike">
                <a:solidFill>
                  <a:srgbClr val="0C6B7D"/>
                </a:solidFill>
                <a:latin typeface="Courier New"/>
                <a:ea typeface="Courier New"/>
                <a:cs typeface="Courier New"/>
                <a:sym typeface="Courier New"/>
              </a:rPr>
              <a:t>the raw value, or delta() / deriv()</a:t>
            </a:r>
            <a:endParaRPr b="0" i="0" sz="950" u="none" cap="none" strike="noStrike">
              <a:solidFill>
                <a:schemeClr val="dk1"/>
              </a:solidFill>
              <a:latin typeface="Calibri"/>
              <a:ea typeface="Calibri"/>
              <a:cs typeface="Calibri"/>
              <a:sym typeface="Calibri"/>
            </a:endParaRPr>
          </a:p>
        </p:txBody>
      </p:sp>
      <p:sp>
        <p:nvSpPr>
          <p:cNvPr id="870" name="Google Shape;870;p23"/>
          <p:cNvSpPr/>
          <p:nvPr/>
        </p:nvSpPr>
        <p:spPr>
          <a:xfrm>
            <a:off x="6519672" y="2633472"/>
            <a:ext cx="4882896" cy="65836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Sampled every 15s, so anything that happens between scrapes is invisible. Spikes hide here.</a:t>
            </a:r>
            <a:endParaRPr b="0" i="0" sz="1100" u="none" cap="none" strike="noStrike">
              <a:solidFill>
                <a:schemeClr val="dk1"/>
              </a:solidFill>
              <a:latin typeface="Calibri"/>
              <a:ea typeface="Calibri"/>
              <a:cs typeface="Calibri"/>
              <a:sym typeface="Calibri"/>
            </a:endParaRPr>
          </a:p>
        </p:txBody>
      </p:sp>
      <p:sp>
        <p:nvSpPr>
          <p:cNvPr id="871" name="Google Shape;871;p23"/>
          <p:cNvSpPr/>
          <p:nvPr/>
        </p:nvSpPr>
        <p:spPr>
          <a:xfrm>
            <a:off x="566928" y="3602736"/>
            <a:ext cx="5349240" cy="2048256"/>
          </a:xfrm>
          <a:prstGeom prst="roundRect">
            <a:avLst>
              <a:gd fmla="val 4018" name="adj"/>
            </a:avLst>
          </a:prstGeom>
          <a:solidFill>
            <a:srgbClr val="FFFFFF"/>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3"/>
          <p:cNvSpPr/>
          <p:nvPr/>
        </p:nvSpPr>
        <p:spPr>
          <a:xfrm>
            <a:off x="566928" y="3602736"/>
            <a:ext cx="5349240" cy="566928"/>
          </a:xfrm>
          <a:prstGeom prst="roundRect">
            <a:avLst>
              <a:gd fmla="val 14516"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3"/>
          <p:cNvSpPr/>
          <p:nvPr/>
        </p:nvSpPr>
        <p:spPr>
          <a:xfrm>
            <a:off x="804672" y="3602736"/>
            <a:ext cx="1828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800"/>
              <a:buFont typeface="Cambria"/>
              <a:buNone/>
            </a:pPr>
            <a:r>
              <a:rPr b="1" i="0" lang="en-US" sz="1800" u="none" cap="none" strike="noStrike">
                <a:solidFill>
                  <a:srgbClr val="5C3FA6"/>
                </a:solidFill>
                <a:latin typeface="Cambria"/>
                <a:ea typeface="Cambria"/>
                <a:cs typeface="Cambria"/>
                <a:sym typeface="Cambria"/>
              </a:rPr>
              <a:t>Histogram</a:t>
            </a:r>
            <a:endParaRPr b="0" i="0" sz="1800" u="none" cap="none" strike="noStrike">
              <a:solidFill>
                <a:schemeClr val="dk1"/>
              </a:solidFill>
              <a:latin typeface="Calibri"/>
              <a:ea typeface="Calibri"/>
              <a:cs typeface="Calibri"/>
              <a:sym typeface="Calibri"/>
            </a:endParaRPr>
          </a:p>
        </p:txBody>
      </p:sp>
      <p:sp>
        <p:nvSpPr>
          <p:cNvPr id="874" name="Google Shape;874;p23"/>
          <p:cNvSpPr/>
          <p:nvPr/>
        </p:nvSpPr>
        <p:spPr>
          <a:xfrm>
            <a:off x="2542032" y="3602736"/>
            <a:ext cx="3200400" cy="566928"/>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Counts observations into buckets, plus a sum and a count.</a:t>
            </a:r>
            <a:endParaRPr b="0" i="0" sz="1050" u="none" cap="none" strike="noStrike">
              <a:solidFill>
                <a:schemeClr val="dk1"/>
              </a:solidFill>
              <a:latin typeface="Calibri"/>
              <a:ea typeface="Calibri"/>
              <a:cs typeface="Calibri"/>
              <a:sym typeface="Calibri"/>
            </a:endParaRPr>
          </a:p>
        </p:txBody>
      </p:sp>
      <p:sp>
        <p:nvSpPr>
          <p:cNvPr id="875" name="Google Shape;875;p23"/>
          <p:cNvSpPr/>
          <p:nvPr/>
        </p:nvSpPr>
        <p:spPr>
          <a:xfrm>
            <a:off x="804672" y="4261104"/>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EXAMPLE</a:t>
            </a:r>
            <a:endParaRPr b="0" i="0" sz="850" u="none" cap="none" strike="noStrike">
              <a:solidFill>
                <a:schemeClr val="dk1"/>
              </a:solidFill>
              <a:latin typeface="Calibri"/>
              <a:ea typeface="Calibri"/>
              <a:cs typeface="Calibri"/>
              <a:sym typeface="Calibri"/>
            </a:endParaRPr>
          </a:p>
        </p:txBody>
      </p:sp>
      <p:sp>
        <p:nvSpPr>
          <p:cNvPr id="876" name="Google Shape;876;p23"/>
          <p:cNvSpPr/>
          <p:nvPr/>
        </p:nvSpPr>
        <p:spPr>
          <a:xfrm>
            <a:off x="1865376" y="4242816"/>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950"/>
              <a:buFont typeface="Courier New"/>
              <a:buNone/>
            </a:pPr>
            <a:r>
              <a:rPr b="0" i="0" lang="en-US" sz="950" u="none" cap="none" strike="noStrike">
                <a:solidFill>
                  <a:srgbClr val="16202C"/>
                </a:solidFill>
                <a:latin typeface="Courier New"/>
                <a:ea typeface="Courier New"/>
                <a:cs typeface="Courier New"/>
                <a:sym typeface="Courier New"/>
              </a:rPr>
              <a:t>http_request_duration_seconds</a:t>
            </a:r>
            <a:endParaRPr b="0" i="0" sz="950" u="none" cap="none" strike="noStrike">
              <a:solidFill>
                <a:schemeClr val="dk1"/>
              </a:solidFill>
              <a:latin typeface="Calibri"/>
              <a:ea typeface="Calibri"/>
              <a:cs typeface="Calibri"/>
              <a:sym typeface="Calibri"/>
            </a:endParaRPr>
          </a:p>
        </p:txBody>
      </p:sp>
      <p:sp>
        <p:nvSpPr>
          <p:cNvPr id="877" name="Google Shape;877;p23"/>
          <p:cNvSpPr/>
          <p:nvPr/>
        </p:nvSpPr>
        <p:spPr>
          <a:xfrm>
            <a:off x="804672" y="4553712"/>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QUERY IT WITH</a:t>
            </a:r>
            <a:endParaRPr b="0" i="0" sz="850" u="none" cap="none" strike="noStrike">
              <a:solidFill>
                <a:schemeClr val="dk1"/>
              </a:solidFill>
              <a:latin typeface="Calibri"/>
              <a:ea typeface="Calibri"/>
              <a:cs typeface="Calibri"/>
              <a:sym typeface="Calibri"/>
            </a:endParaRPr>
          </a:p>
        </p:txBody>
      </p:sp>
      <p:sp>
        <p:nvSpPr>
          <p:cNvPr id="878" name="Google Shape;878;p23"/>
          <p:cNvSpPr/>
          <p:nvPr/>
        </p:nvSpPr>
        <p:spPr>
          <a:xfrm>
            <a:off x="1865376" y="4535424"/>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950"/>
              <a:buFont typeface="Courier New"/>
              <a:buNone/>
            </a:pPr>
            <a:r>
              <a:rPr b="1" i="0" lang="en-US" sz="950" u="none" cap="none" strike="noStrike">
                <a:solidFill>
                  <a:srgbClr val="5C3FA6"/>
                </a:solidFill>
                <a:latin typeface="Courier New"/>
                <a:ea typeface="Courier New"/>
                <a:cs typeface="Courier New"/>
                <a:sym typeface="Courier New"/>
              </a:rPr>
              <a:t>histogram_quantile(0.95, ...)</a:t>
            </a:r>
            <a:endParaRPr b="0" i="0" sz="950" u="none" cap="none" strike="noStrike">
              <a:solidFill>
                <a:schemeClr val="dk1"/>
              </a:solidFill>
              <a:latin typeface="Calibri"/>
              <a:ea typeface="Calibri"/>
              <a:cs typeface="Calibri"/>
              <a:sym typeface="Calibri"/>
            </a:endParaRPr>
          </a:p>
        </p:txBody>
      </p:sp>
      <p:sp>
        <p:nvSpPr>
          <p:cNvPr id="879" name="Google Shape;879;p23"/>
          <p:cNvSpPr/>
          <p:nvPr/>
        </p:nvSpPr>
        <p:spPr>
          <a:xfrm>
            <a:off x="804672" y="4864608"/>
            <a:ext cx="4882896" cy="65836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How you get p95 latency. Percentiles are computed at query time from bucket counts.</a:t>
            </a:r>
            <a:endParaRPr b="0" i="0" sz="1100" u="none" cap="none" strike="noStrike">
              <a:solidFill>
                <a:schemeClr val="dk1"/>
              </a:solidFill>
              <a:latin typeface="Calibri"/>
              <a:ea typeface="Calibri"/>
              <a:cs typeface="Calibri"/>
              <a:sym typeface="Calibri"/>
            </a:endParaRPr>
          </a:p>
        </p:txBody>
      </p:sp>
      <p:sp>
        <p:nvSpPr>
          <p:cNvPr id="880" name="Google Shape;880;p23"/>
          <p:cNvSpPr/>
          <p:nvPr/>
        </p:nvSpPr>
        <p:spPr>
          <a:xfrm>
            <a:off x="6281928" y="3602736"/>
            <a:ext cx="5349240" cy="2048256"/>
          </a:xfrm>
          <a:prstGeom prst="roundRect">
            <a:avLst>
              <a:gd fmla="val 4018" name="adj"/>
            </a:avLst>
          </a:prstGeom>
          <a:solidFill>
            <a:srgbClr val="FFFFFF"/>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3"/>
          <p:cNvSpPr/>
          <p:nvPr/>
        </p:nvSpPr>
        <p:spPr>
          <a:xfrm>
            <a:off x="6281928" y="3602736"/>
            <a:ext cx="5349240" cy="566928"/>
          </a:xfrm>
          <a:prstGeom prst="roundRect">
            <a:avLst>
              <a:gd fmla="val 14516"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3"/>
          <p:cNvSpPr/>
          <p:nvPr/>
        </p:nvSpPr>
        <p:spPr>
          <a:xfrm>
            <a:off x="6519672" y="3602736"/>
            <a:ext cx="18288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1800"/>
              <a:buFont typeface="Cambria"/>
              <a:buNone/>
            </a:pPr>
            <a:r>
              <a:rPr b="1" i="0" lang="en-US" sz="1800" u="none" cap="none" strike="noStrike">
                <a:solidFill>
                  <a:srgbClr val="AC2740"/>
                </a:solidFill>
                <a:latin typeface="Cambria"/>
                <a:ea typeface="Cambria"/>
                <a:cs typeface="Cambria"/>
                <a:sym typeface="Cambria"/>
              </a:rPr>
              <a:t>Summary</a:t>
            </a:r>
            <a:endParaRPr b="0" i="0" sz="1800" u="none" cap="none" strike="noStrike">
              <a:solidFill>
                <a:schemeClr val="dk1"/>
              </a:solidFill>
              <a:latin typeface="Calibri"/>
              <a:ea typeface="Calibri"/>
              <a:cs typeface="Calibri"/>
              <a:sym typeface="Calibri"/>
            </a:endParaRPr>
          </a:p>
        </p:txBody>
      </p:sp>
      <p:sp>
        <p:nvSpPr>
          <p:cNvPr id="883" name="Google Shape;883;p23"/>
          <p:cNvSpPr/>
          <p:nvPr/>
        </p:nvSpPr>
        <p:spPr>
          <a:xfrm>
            <a:off x="8257032" y="3602736"/>
            <a:ext cx="3200400" cy="566928"/>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Like a histogram, but quantiles are computed in the client.</a:t>
            </a:r>
            <a:endParaRPr b="0" i="0" sz="1050" u="none" cap="none" strike="noStrike">
              <a:solidFill>
                <a:schemeClr val="dk1"/>
              </a:solidFill>
              <a:latin typeface="Calibri"/>
              <a:ea typeface="Calibri"/>
              <a:cs typeface="Calibri"/>
              <a:sym typeface="Calibri"/>
            </a:endParaRPr>
          </a:p>
        </p:txBody>
      </p:sp>
      <p:sp>
        <p:nvSpPr>
          <p:cNvPr id="884" name="Google Shape;884;p23"/>
          <p:cNvSpPr/>
          <p:nvPr/>
        </p:nvSpPr>
        <p:spPr>
          <a:xfrm>
            <a:off x="6519672" y="4261104"/>
            <a:ext cx="10058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EXAMPLE</a:t>
            </a:r>
            <a:endParaRPr b="0" i="0" sz="850" u="none" cap="none" strike="noStrike">
              <a:solidFill>
                <a:schemeClr val="dk1"/>
              </a:solidFill>
              <a:latin typeface="Calibri"/>
              <a:ea typeface="Calibri"/>
              <a:cs typeface="Calibri"/>
              <a:sym typeface="Calibri"/>
            </a:endParaRPr>
          </a:p>
        </p:txBody>
      </p:sp>
      <p:sp>
        <p:nvSpPr>
          <p:cNvPr id="885" name="Google Shape;885;p23"/>
          <p:cNvSpPr/>
          <p:nvPr/>
        </p:nvSpPr>
        <p:spPr>
          <a:xfrm>
            <a:off x="7580376" y="4242816"/>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950"/>
              <a:buFont typeface="Courier New"/>
              <a:buNone/>
            </a:pPr>
            <a:r>
              <a:rPr b="0" i="0" lang="en-US" sz="950" u="none" cap="none" strike="noStrike">
                <a:solidFill>
                  <a:srgbClr val="16202C"/>
                </a:solidFill>
                <a:latin typeface="Courier New"/>
                <a:ea typeface="Courier New"/>
                <a:cs typeface="Courier New"/>
                <a:sym typeface="Courier New"/>
              </a:rPr>
              <a:t>rarely what you want in new code</a:t>
            </a:r>
            <a:endParaRPr b="0" i="0" sz="950" u="none" cap="none" strike="noStrike">
              <a:solidFill>
                <a:schemeClr val="dk1"/>
              </a:solidFill>
              <a:latin typeface="Calibri"/>
              <a:ea typeface="Calibri"/>
              <a:cs typeface="Calibri"/>
              <a:sym typeface="Calibri"/>
            </a:endParaRPr>
          </a:p>
        </p:txBody>
      </p:sp>
      <p:sp>
        <p:nvSpPr>
          <p:cNvPr id="886" name="Google Shape;886;p23"/>
          <p:cNvSpPr/>
          <p:nvPr/>
        </p:nvSpPr>
        <p:spPr>
          <a:xfrm>
            <a:off x="6519672" y="4553712"/>
            <a:ext cx="10972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QUERY IT WITH</a:t>
            </a:r>
            <a:endParaRPr b="0" i="0" sz="850" u="none" cap="none" strike="noStrike">
              <a:solidFill>
                <a:schemeClr val="dk1"/>
              </a:solidFill>
              <a:latin typeface="Calibri"/>
              <a:ea typeface="Calibri"/>
              <a:cs typeface="Calibri"/>
              <a:sym typeface="Calibri"/>
            </a:endParaRPr>
          </a:p>
        </p:txBody>
      </p:sp>
      <p:sp>
        <p:nvSpPr>
          <p:cNvPr id="887" name="Google Shape;887;p23"/>
          <p:cNvSpPr/>
          <p:nvPr/>
        </p:nvSpPr>
        <p:spPr>
          <a:xfrm>
            <a:off x="7580376" y="4535424"/>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950"/>
              <a:buFont typeface="Courier New"/>
              <a:buNone/>
            </a:pPr>
            <a:r>
              <a:rPr b="1" i="0" lang="en-US" sz="950" u="none" cap="none" strike="noStrike">
                <a:solidFill>
                  <a:srgbClr val="AC2740"/>
                </a:solidFill>
                <a:latin typeface="Courier New"/>
                <a:ea typeface="Courier New"/>
                <a:cs typeface="Courier New"/>
                <a:sym typeface="Courier New"/>
              </a:rPr>
              <a:t>the pre-computed quantile</a:t>
            </a:r>
            <a:endParaRPr b="0" i="0" sz="950" u="none" cap="none" strike="noStrike">
              <a:solidFill>
                <a:schemeClr val="dk1"/>
              </a:solidFill>
              <a:latin typeface="Calibri"/>
              <a:ea typeface="Calibri"/>
              <a:cs typeface="Calibri"/>
              <a:sym typeface="Calibri"/>
            </a:endParaRPr>
          </a:p>
        </p:txBody>
      </p:sp>
      <p:sp>
        <p:nvSpPr>
          <p:cNvPr id="888" name="Google Shape;888;p23"/>
          <p:cNvSpPr/>
          <p:nvPr/>
        </p:nvSpPr>
        <p:spPr>
          <a:xfrm>
            <a:off x="6519672" y="4864608"/>
            <a:ext cx="4882896" cy="65836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You cannot aggregate a summary's quantiles across instances. Averaging two p95s is not a p95.</a:t>
            </a:r>
            <a:endParaRPr b="0" i="0" sz="1100" u="none" cap="none" strike="noStrike">
              <a:solidFill>
                <a:schemeClr val="dk1"/>
              </a:solidFill>
              <a:latin typeface="Calibri"/>
              <a:ea typeface="Calibri"/>
              <a:cs typeface="Calibri"/>
              <a:sym typeface="Calibri"/>
            </a:endParaRPr>
          </a:p>
        </p:txBody>
      </p:sp>
      <p:sp>
        <p:nvSpPr>
          <p:cNvPr id="889" name="Google Shape;889;p23"/>
          <p:cNvSpPr/>
          <p:nvPr/>
        </p:nvSpPr>
        <p:spPr>
          <a:xfrm>
            <a:off x="566928" y="5888736"/>
            <a:ext cx="11057839" cy="512064"/>
          </a:xfrm>
          <a:prstGeom prst="roundRect">
            <a:avLst>
              <a:gd fmla="val 16071"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3"/>
          <p:cNvSpPr/>
          <p:nvPr/>
        </p:nvSpPr>
        <p:spPr>
          <a:xfrm>
            <a:off x="768096" y="6007608"/>
            <a:ext cx="274320" cy="27432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3"/>
          <p:cNvSpPr/>
          <p:nvPr/>
        </p:nvSpPr>
        <p:spPr>
          <a:xfrm>
            <a:off x="768096" y="600760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892" name="Google Shape;892;p23"/>
          <p:cNvSpPr/>
          <p:nvPr/>
        </p:nvSpPr>
        <p:spPr>
          <a:xfrm>
            <a:off x="1170432" y="5888736"/>
            <a:ext cx="10234879" cy="512064"/>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rate() on a gauge returns a number. It is a wrong number, and Prometheus will not warn you — every decrease is read as a process restart. You will do this deliberately in the lab so you recognise the shape of it.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7" name="Shape 897"/>
        <p:cNvGrpSpPr/>
        <p:nvPr/>
      </p:nvGrpSpPr>
      <p:grpSpPr>
        <a:xfrm>
          <a:off x="0" y="0"/>
          <a:ext cx="0" cy="0"/>
          <a:chOff x="0" y="0"/>
          <a:chExt cx="0" cy="0"/>
        </a:xfrm>
      </p:grpSpPr>
      <p:sp>
        <p:nvSpPr>
          <p:cNvPr id="898" name="Google Shape;898;p24"/>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50"/>
              <a:buFont typeface="Calibri"/>
              <a:buNone/>
            </a:pPr>
            <a:r>
              <a:rPr b="1" i="0" lang="en-US" sz="1050" u="none" cap="none" strike="noStrike">
                <a:solidFill>
                  <a:srgbClr val="0C6B7D"/>
                </a:solidFill>
                <a:latin typeface="Calibri"/>
                <a:ea typeface="Calibri"/>
                <a:cs typeface="Calibri"/>
                <a:sym typeface="Calibri"/>
              </a:rPr>
              <a:t>HOW THE NUMBERS TRAVEL</a:t>
            </a:r>
            <a:endParaRPr b="0" i="0" sz="1050" u="none" cap="none" strike="noStrike">
              <a:solidFill>
                <a:schemeClr val="dk1"/>
              </a:solidFill>
              <a:latin typeface="Calibri"/>
              <a:ea typeface="Calibri"/>
              <a:cs typeface="Calibri"/>
              <a:sym typeface="Calibri"/>
            </a:endParaRPr>
          </a:p>
        </p:txBody>
      </p:sp>
      <p:sp>
        <p:nvSpPr>
          <p:cNvPr id="899" name="Google Shape;899;p24"/>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Pull or push — and why Prometheus chose pull</a:t>
            </a:r>
            <a:endParaRPr b="0" i="0" sz="2900" u="none" cap="none" strike="noStrike">
              <a:solidFill>
                <a:schemeClr val="dk1"/>
              </a:solidFill>
              <a:latin typeface="Calibri"/>
              <a:ea typeface="Calibri"/>
              <a:cs typeface="Calibri"/>
              <a:sym typeface="Calibri"/>
            </a:endParaRPr>
          </a:p>
        </p:txBody>
      </p:sp>
      <p:sp>
        <p:nvSpPr>
          <p:cNvPr id="900" name="Google Shape;900;p24"/>
          <p:cNvSpPr/>
          <p:nvPr/>
        </p:nvSpPr>
        <p:spPr>
          <a:xfrm>
            <a:off x="10457993" y="402336"/>
            <a:ext cx="1166774" cy="329184"/>
          </a:xfrm>
          <a:prstGeom prst="roundRect">
            <a:avLst>
              <a:gd fmla="val 50000" name="adj"/>
            </a:avLst>
          </a:prstGeom>
          <a:solidFill>
            <a:srgbClr val="E2F0F3"/>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4"/>
          <p:cNvSpPr/>
          <p:nvPr/>
        </p:nvSpPr>
        <p:spPr>
          <a:xfrm>
            <a:off x="10631729" y="525780"/>
            <a:ext cx="91440" cy="9144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4"/>
          <p:cNvSpPr/>
          <p:nvPr/>
        </p:nvSpPr>
        <p:spPr>
          <a:xfrm>
            <a:off x="10768889" y="402336"/>
            <a:ext cx="76443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00"/>
              <a:buFont typeface="Calibri"/>
              <a:buNone/>
            </a:pPr>
            <a:r>
              <a:rPr b="1" i="0" lang="en-US" sz="1000" u="none" cap="none" strike="noStrike">
                <a:solidFill>
                  <a:srgbClr val="0C6B7D"/>
                </a:solidFill>
                <a:latin typeface="Calibri"/>
                <a:ea typeface="Calibri"/>
                <a:cs typeface="Calibri"/>
                <a:sym typeface="Calibri"/>
              </a:rPr>
              <a:t>Metrics</a:t>
            </a:r>
            <a:endParaRPr b="0" i="0" sz="1000" u="none" cap="none" strike="noStrike">
              <a:solidFill>
                <a:schemeClr val="dk1"/>
              </a:solidFill>
              <a:latin typeface="Calibri"/>
              <a:ea typeface="Calibri"/>
              <a:cs typeface="Calibri"/>
              <a:sym typeface="Calibri"/>
            </a:endParaRPr>
          </a:p>
        </p:txBody>
      </p:sp>
      <p:sp>
        <p:nvSpPr>
          <p:cNvPr id="903" name="Google Shape;903;p24"/>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904" name="Google Shape;904;p24"/>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22</a:t>
            </a:r>
            <a:endParaRPr b="0" i="0" sz="900" u="none" cap="none" strike="noStrike">
              <a:solidFill>
                <a:schemeClr val="dk1"/>
              </a:solidFill>
              <a:latin typeface="Calibri"/>
              <a:ea typeface="Calibri"/>
              <a:cs typeface="Calibri"/>
              <a:sym typeface="Calibri"/>
            </a:endParaRPr>
          </a:p>
        </p:txBody>
      </p:sp>
      <p:sp>
        <p:nvSpPr>
          <p:cNvPr id="905" name="Google Shape;905;p24"/>
          <p:cNvSpPr/>
          <p:nvPr/>
        </p:nvSpPr>
        <p:spPr>
          <a:xfrm>
            <a:off x="566928" y="1371600"/>
            <a:ext cx="5349240" cy="3108960"/>
          </a:xfrm>
          <a:prstGeom prst="roundRect">
            <a:avLst>
              <a:gd fmla="val 2647"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4"/>
          <p:cNvSpPr/>
          <p:nvPr/>
        </p:nvSpPr>
        <p:spPr>
          <a:xfrm>
            <a:off x="822960" y="1517904"/>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00"/>
              <a:buFont typeface="Calibri"/>
              <a:buNone/>
            </a:pPr>
            <a:r>
              <a:rPr b="1" i="0" lang="en-US" sz="1000" u="none" cap="none" strike="noStrike">
                <a:solidFill>
                  <a:srgbClr val="0C6B7D"/>
                </a:solidFill>
                <a:latin typeface="Calibri"/>
                <a:ea typeface="Calibri"/>
                <a:cs typeface="Calibri"/>
                <a:sym typeface="Calibri"/>
              </a:rPr>
              <a:t>PULL (SCRAPE)</a:t>
            </a:r>
            <a:endParaRPr b="0" i="0" sz="1000" u="none" cap="none" strike="noStrike">
              <a:solidFill>
                <a:schemeClr val="dk1"/>
              </a:solidFill>
              <a:latin typeface="Calibri"/>
              <a:ea typeface="Calibri"/>
              <a:cs typeface="Calibri"/>
              <a:sym typeface="Calibri"/>
            </a:endParaRPr>
          </a:p>
        </p:txBody>
      </p:sp>
      <p:sp>
        <p:nvSpPr>
          <p:cNvPr id="907" name="Google Shape;907;p24"/>
          <p:cNvSpPr/>
          <p:nvPr/>
        </p:nvSpPr>
        <p:spPr>
          <a:xfrm>
            <a:off x="822960" y="1792224"/>
            <a:ext cx="48463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500"/>
              <a:buFont typeface="Cambria"/>
              <a:buNone/>
            </a:pPr>
            <a:r>
              <a:rPr b="1" i="0" lang="en-US" sz="1500" u="none" cap="none" strike="noStrike">
                <a:solidFill>
                  <a:srgbClr val="16202C"/>
                </a:solidFill>
                <a:latin typeface="Cambria"/>
                <a:ea typeface="Cambria"/>
                <a:cs typeface="Cambria"/>
                <a:sym typeface="Cambria"/>
              </a:rPr>
              <a:t>Prometheus asks each target for its numbers</a:t>
            </a:r>
            <a:endParaRPr b="0" i="0" sz="1500" u="none" cap="none" strike="noStrike">
              <a:solidFill>
                <a:schemeClr val="dk1"/>
              </a:solidFill>
              <a:latin typeface="Calibri"/>
              <a:ea typeface="Calibri"/>
              <a:cs typeface="Calibri"/>
              <a:sym typeface="Calibri"/>
            </a:endParaRPr>
          </a:p>
        </p:txBody>
      </p:sp>
      <p:sp>
        <p:nvSpPr>
          <p:cNvPr id="908" name="Google Shape;908;p24"/>
          <p:cNvSpPr/>
          <p:nvPr/>
        </p:nvSpPr>
        <p:spPr>
          <a:xfrm>
            <a:off x="822960" y="2176272"/>
            <a:ext cx="4846320" cy="658368"/>
          </a:xfrm>
          <a:prstGeom prst="roundRect">
            <a:avLst>
              <a:gd fmla="val 12500"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4"/>
          <p:cNvSpPr/>
          <p:nvPr/>
        </p:nvSpPr>
        <p:spPr>
          <a:xfrm>
            <a:off x="987552" y="2304288"/>
            <a:ext cx="4517136" cy="402336"/>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8FD3B4"/>
              </a:buClr>
              <a:buSzPts val="950"/>
              <a:buFont typeface="Courier New"/>
              <a:buNone/>
            </a:pPr>
            <a:r>
              <a:rPr b="0" i="0" lang="en-US" sz="950" u="none" cap="none" strike="noStrike">
                <a:solidFill>
                  <a:srgbClr val="8FD3B4"/>
                </a:solidFill>
                <a:latin typeface="Courier New"/>
                <a:ea typeface="Courier New"/>
                <a:cs typeface="Courier New"/>
                <a:sym typeface="Courier New"/>
              </a:rPr>
              <a:t>GET http://api:3000/metrics   every 15s</a:t>
            </a:r>
            <a:endParaRPr b="0" i="0" sz="95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9FB3C4"/>
              </a:buClr>
              <a:buSzPts val="950"/>
              <a:buFont typeface="Courier New"/>
              <a:buNone/>
            </a:pPr>
            <a:r>
              <a:rPr b="0" i="0" lang="en-US" sz="950" u="none" cap="none" strike="noStrike">
                <a:solidFill>
                  <a:srgbClr val="9FB3C4"/>
                </a:solidFill>
                <a:latin typeface="Courier New"/>
                <a:ea typeface="Courier New"/>
                <a:cs typeface="Courier New"/>
                <a:sym typeface="Courier New"/>
              </a:rPr>
              <a:t>→ a plain text page of name{labels} value</a:t>
            </a:r>
            <a:endParaRPr b="0" i="0" sz="950" u="none" cap="none" strike="noStrike">
              <a:solidFill>
                <a:schemeClr val="dk1"/>
              </a:solidFill>
              <a:latin typeface="Calibri"/>
              <a:ea typeface="Calibri"/>
              <a:cs typeface="Calibri"/>
              <a:sym typeface="Calibri"/>
            </a:endParaRPr>
          </a:p>
        </p:txBody>
      </p:sp>
      <p:sp>
        <p:nvSpPr>
          <p:cNvPr id="910" name="Google Shape;910;p24"/>
          <p:cNvSpPr/>
          <p:nvPr/>
        </p:nvSpPr>
        <p:spPr>
          <a:xfrm>
            <a:off x="822960" y="2926080"/>
            <a:ext cx="4846320" cy="146304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The scrape itself tells you the target is alive (up = 0 or 1)</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You can open /metrics in a browser and read it — debugging is trivial</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Prometheus controls the rate, so a busy app cannot flood it</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Needs network reachability and service discovery to find targets</a:t>
            </a:r>
            <a:endParaRPr b="0" i="0" sz="1150" u="none" cap="none" strike="noStrike">
              <a:solidFill>
                <a:schemeClr val="dk1"/>
              </a:solidFill>
              <a:latin typeface="Calibri"/>
              <a:ea typeface="Calibri"/>
              <a:cs typeface="Calibri"/>
              <a:sym typeface="Calibri"/>
            </a:endParaRPr>
          </a:p>
        </p:txBody>
      </p:sp>
      <p:sp>
        <p:nvSpPr>
          <p:cNvPr id="911" name="Google Shape;911;p24"/>
          <p:cNvSpPr/>
          <p:nvPr/>
        </p:nvSpPr>
        <p:spPr>
          <a:xfrm>
            <a:off x="6281928" y="1371600"/>
            <a:ext cx="5349240" cy="3108960"/>
          </a:xfrm>
          <a:prstGeom prst="roundRect">
            <a:avLst>
              <a:gd fmla="val 2647"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4"/>
          <p:cNvSpPr/>
          <p:nvPr/>
        </p:nvSpPr>
        <p:spPr>
          <a:xfrm>
            <a:off x="6537960" y="1517904"/>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000"/>
              <a:buFont typeface="Calibri"/>
              <a:buNone/>
            </a:pPr>
            <a:r>
              <a:rPr b="1" i="0" lang="en-US" sz="1000" u="none" cap="none" strike="noStrike">
                <a:solidFill>
                  <a:srgbClr val="5C6B7A"/>
                </a:solidFill>
                <a:latin typeface="Calibri"/>
                <a:ea typeface="Calibri"/>
                <a:cs typeface="Calibri"/>
                <a:sym typeface="Calibri"/>
              </a:rPr>
              <a:t>PUSH</a:t>
            </a:r>
            <a:endParaRPr b="0" i="0" sz="1000" u="none" cap="none" strike="noStrike">
              <a:solidFill>
                <a:schemeClr val="dk1"/>
              </a:solidFill>
              <a:latin typeface="Calibri"/>
              <a:ea typeface="Calibri"/>
              <a:cs typeface="Calibri"/>
              <a:sym typeface="Calibri"/>
            </a:endParaRPr>
          </a:p>
        </p:txBody>
      </p:sp>
      <p:sp>
        <p:nvSpPr>
          <p:cNvPr id="913" name="Google Shape;913;p24"/>
          <p:cNvSpPr/>
          <p:nvPr/>
        </p:nvSpPr>
        <p:spPr>
          <a:xfrm>
            <a:off x="6537960" y="1792224"/>
            <a:ext cx="48463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500"/>
              <a:buFont typeface="Cambria"/>
              <a:buNone/>
            </a:pPr>
            <a:r>
              <a:rPr b="1" i="0" lang="en-US" sz="1500" u="none" cap="none" strike="noStrike">
                <a:solidFill>
                  <a:srgbClr val="16202C"/>
                </a:solidFill>
                <a:latin typeface="Cambria"/>
                <a:ea typeface="Cambria"/>
                <a:cs typeface="Cambria"/>
                <a:sym typeface="Cambria"/>
              </a:rPr>
              <a:t>The application sends its numbers onward</a:t>
            </a:r>
            <a:endParaRPr b="0" i="0" sz="1500" u="none" cap="none" strike="noStrike">
              <a:solidFill>
                <a:schemeClr val="dk1"/>
              </a:solidFill>
              <a:latin typeface="Calibri"/>
              <a:ea typeface="Calibri"/>
              <a:cs typeface="Calibri"/>
              <a:sym typeface="Calibri"/>
            </a:endParaRPr>
          </a:p>
        </p:txBody>
      </p:sp>
      <p:sp>
        <p:nvSpPr>
          <p:cNvPr id="914" name="Google Shape;914;p24"/>
          <p:cNvSpPr/>
          <p:nvPr/>
        </p:nvSpPr>
        <p:spPr>
          <a:xfrm>
            <a:off x="6537960" y="2176272"/>
            <a:ext cx="4846320" cy="658368"/>
          </a:xfrm>
          <a:prstGeom prst="roundRect">
            <a:avLst>
              <a:gd fmla="val 12500"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4"/>
          <p:cNvSpPr/>
          <p:nvPr/>
        </p:nvSpPr>
        <p:spPr>
          <a:xfrm>
            <a:off x="6702552" y="2304288"/>
            <a:ext cx="4517136" cy="402336"/>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8D4DF"/>
              </a:buClr>
              <a:buSzPts val="950"/>
              <a:buFont typeface="Courier New"/>
              <a:buNone/>
            </a:pPr>
            <a:r>
              <a:rPr b="0" i="0" lang="en-US" sz="950" u="none" cap="none" strike="noStrike">
                <a:solidFill>
                  <a:srgbClr val="C8D4DF"/>
                </a:solidFill>
                <a:latin typeface="Courier New"/>
                <a:ea typeface="Courier New"/>
                <a:cs typeface="Courier New"/>
                <a:sym typeface="Courier New"/>
              </a:rPr>
              <a:t>app → StatsD / OTLP / vendor agent → backend</a:t>
            </a:r>
            <a:endParaRPr b="0" i="0" sz="95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9FB3C4"/>
              </a:buClr>
              <a:buSzPts val="950"/>
              <a:buFont typeface="Courier New"/>
              <a:buNone/>
            </a:pPr>
            <a:r>
              <a:rPr b="0" i="0" lang="en-US" sz="950" u="none" cap="none" strike="noStrike">
                <a:solidFill>
                  <a:srgbClr val="9FB3C4"/>
                </a:solidFill>
                <a:latin typeface="Courier New"/>
                <a:ea typeface="Courier New"/>
                <a:cs typeface="Courier New"/>
                <a:sym typeface="Courier New"/>
              </a:rPr>
              <a:t>→ whenever the app decides to send</a:t>
            </a:r>
            <a:endParaRPr b="0" i="0" sz="950" u="none" cap="none" strike="noStrike">
              <a:solidFill>
                <a:schemeClr val="dk1"/>
              </a:solidFill>
              <a:latin typeface="Calibri"/>
              <a:ea typeface="Calibri"/>
              <a:cs typeface="Calibri"/>
              <a:sym typeface="Calibri"/>
            </a:endParaRPr>
          </a:p>
        </p:txBody>
      </p:sp>
      <p:sp>
        <p:nvSpPr>
          <p:cNvPr id="916" name="Google Shape;916;p24"/>
          <p:cNvSpPr/>
          <p:nvPr/>
        </p:nvSpPr>
        <p:spPr>
          <a:xfrm>
            <a:off x="6537960" y="2926080"/>
            <a:ext cx="4846320" cy="146304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Works when the target is unreachable: serverless, batch jobs, browsers, IoT</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No service discovery needed — the sender knows where to send</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Silence is ambiguous: is it healthy and idle, or dead?</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The default in OpenTelemetry, and in most commercial agents</a:t>
            </a:r>
            <a:endParaRPr b="0" i="0" sz="1150" u="none" cap="none" strike="noStrike">
              <a:solidFill>
                <a:schemeClr val="dk1"/>
              </a:solidFill>
              <a:latin typeface="Calibri"/>
              <a:ea typeface="Calibri"/>
              <a:cs typeface="Calibri"/>
              <a:sym typeface="Calibri"/>
            </a:endParaRPr>
          </a:p>
        </p:txBody>
      </p:sp>
      <p:sp>
        <p:nvSpPr>
          <p:cNvPr id="917" name="Google Shape;917;p24"/>
          <p:cNvSpPr/>
          <p:nvPr/>
        </p:nvSpPr>
        <p:spPr>
          <a:xfrm>
            <a:off x="566928" y="4626864"/>
            <a:ext cx="11057839" cy="1170432"/>
          </a:xfrm>
          <a:prstGeom prst="roundRect">
            <a:avLst>
              <a:gd fmla="val 7031"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4"/>
          <p:cNvSpPr/>
          <p:nvPr/>
        </p:nvSpPr>
        <p:spPr>
          <a:xfrm>
            <a:off x="786384" y="4809744"/>
            <a:ext cx="292608" cy="29260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4"/>
          <p:cNvSpPr/>
          <p:nvPr/>
        </p:nvSpPr>
        <p:spPr>
          <a:xfrm>
            <a:off x="786384" y="480974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920" name="Google Shape;920;p24"/>
          <p:cNvSpPr/>
          <p:nvPr/>
        </p:nvSpPr>
        <p:spPr>
          <a:xfrm>
            <a:off x="1188720" y="4809744"/>
            <a:ext cx="10033711"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In practice you will run both, and that is fine</a:t>
            </a:r>
            <a:endParaRPr b="0" i="0" sz="1300" u="none" cap="none" strike="noStrike">
              <a:solidFill>
                <a:schemeClr val="dk1"/>
              </a:solidFill>
              <a:latin typeface="Calibri"/>
              <a:ea typeface="Calibri"/>
              <a:cs typeface="Calibri"/>
              <a:sym typeface="Calibri"/>
            </a:endParaRPr>
          </a:p>
        </p:txBody>
      </p:sp>
      <p:sp>
        <p:nvSpPr>
          <p:cNvPr id="921" name="Google Shape;921;p24"/>
          <p:cNvSpPr/>
          <p:nvPr/>
        </p:nvSpPr>
        <p:spPr>
          <a:xfrm>
            <a:off x="786384" y="5212080"/>
            <a:ext cx="10618927" cy="42062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Long-lived services get scraped. Short-lived jobs push to a Pushgateway, or an OTel Collector receives pushes and exposes a scrape endpoint on their behalf. The collector translating between the two models is one of the most common patterns in production today.</a:t>
            </a:r>
            <a:endParaRPr b="0" i="0" sz="1150" u="none" cap="none" strike="noStrike">
              <a:solidFill>
                <a:schemeClr val="dk1"/>
              </a:solidFill>
              <a:latin typeface="Calibri"/>
              <a:ea typeface="Calibri"/>
              <a:cs typeface="Calibri"/>
              <a:sym typeface="Calibri"/>
            </a:endParaRPr>
          </a:p>
        </p:txBody>
      </p:sp>
      <p:sp>
        <p:nvSpPr>
          <p:cNvPr id="922" name="Google Shape;922;p24"/>
          <p:cNvSpPr/>
          <p:nvPr/>
        </p:nvSpPr>
        <p:spPr>
          <a:xfrm>
            <a:off x="566928" y="5925312"/>
            <a:ext cx="11057839" cy="457200"/>
          </a:xfrm>
          <a:prstGeom prst="roundRect">
            <a:avLst>
              <a:gd fmla="val 18000"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4"/>
          <p:cNvSpPr/>
          <p:nvPr/>
        </p:nvSpPr>
        <p:spPr>
          <a:xfrm>
            <a:off x="768096" y="6016752"/>
            <a:ext cx="274320" cy="27432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4"/>
          <p:cNvSpPr/>
          <p:nvPr/>
        </p:nvSpPr>
        <p:spPr>
          <a:xfrm>
            <a:off x="768096" y="601675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925" name="Google Shape;925;p24"/>
          <p:cNvSpPr/>
          <p:nvPr/>
        </p:nvSpPr>
        <p:spPr>
          <a:xfrm>
            <a:off x="1170432" y="5925312"/>
            <a:ext cx="1023487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A cron job that runs for 4 seconds cannot be scraped every 15. That single fact is why Pushgateway exists — and why it should not be used for anything else.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0" name="Shape 930"/>
        <p:cNvGrpSpPr/>
        <p:nvPr/>
      </p:nvGrpSpPr>
      <p:grpSpPr>
        <a:xfrm>
          <a:off x="0" y="0"/>
          <a:ext cx="0" cy="0"/>
          <a:chOff x="0" y="0"/>
          <a:chExt cx="0" cy="0"/>
        </a:xfrm>
      </p:grpSpPr>
      <p:sp>
        <p:nvSpPr>
          <p:cNvPr id="931" name="Google Shape;931;p25"/>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1050"/>
              <a:buFont typeface="Calibri"/>
              <a:buNone/>
            </a:pPr>
            <a:r>
              <a:rPr b="1" i="0" lang="en-US" sz="1050" u="none" cap="none" strike="noStrike">
                <a:solidFill>
                  <a:srgbClr val="AC2740"/>
                </a:solidFill>
                <a:latin typeface="Calibri"/>
                <a:ea typeface="Calibri"/>
                <a:cs typeface="Calibri"/>
                <a:sym typeface="Calibri"/>
              </a:rPr>
              <a:t>THE ONE THAT TAKES DOWN CLUSTERS</a:t>
            </a:r>
            <a:endParaRPr b="0" i="0" sz="1050" u="none" cap="none" strike="noStrike">
              <a:solidFill>
                <a:schemeClr val="dk1"/>
              </a:solidFill>
              <a:latin typeface="Calibri"/>
              <a:ea typeface="Calibri"/>
              <a:cs typeface="Calibri"/>
              <a:sym typeface="Calibri"/>
            </a:endParaRPr>
          </a:p>
        </p:txBody>
      </p:sp>
      <p:sp>
        <p:nvSpPr>
          <p:cNvPr id="932" name="Google Shape;932;p25"/>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600"/>
              <a:buFont typeface="Cambria"/>
              <a:buNone/>
            </a:pPr>
            <a:r>
              <a:rPr b="1" i="0" lang="en-US" sz="2600" u="none" cap="none" strike="noStrike">
                <a:solidFill>
                  <a:srgbClr val="16202C"/>
                </a:solidFill>
                <a:latin typeface="Cambria"/>
                <a:ea typeface="Cambria"/>
                <a:cs typeface="Cambria"/>
                <a:sym typeface="Cambria"/>
              </a:rPr>
              <a:t>Cardinality: every unique label combination is a new series</a:t>
            </a:r>
            <a:endParaRPr b="0" i="0" sz="2600" u="none" cap="none" strike="noStrike">
              <a:solidFill>
                <a:schemeClr val="dk1"/>
              </a:solidFill>
              <a:latin typeface="Calibri"/>
              <a:ea typeface="Calibri"/>
              <a:cs typeface="Calibri"/>
              <a:sym typeface="Calibri"/>
            </a:endParaRPr>
          </a:p>
        </p:txBody>
      </p:sp>
      <p:sp>
        <p:nvSpPr>
          <p:cNvPr id="933" name="Google Shape;933;p25"/>
          <p:cNvSpPr/>
          <p:nvPr/>
        </p:nvSpPr>
        <p:spPr>
          <a:xfrm>
            <a:off x="10457993" y="402336"/>
            <a:ext cx="1166774" cy="329184"/>
          </a:xfrm>
          <a:prstGeom prst="roundRect">
            <a:avLst>
              <a:gd fmla="val 50000" name="adj"/>
            </a:avLst>
          </a:prstGeom>
          <a:solidFill>
            <a:srgbClr val="E2F0F3"/>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5"/>
          <p:cNvSpPr/>
          <p:nvPr/>
        </p:nvSpPr>
        <p:spPr>
          <a:xfrm>
            <a:off x="10631729" y="525780"/>
            <a:ext cx="91440" cy="9144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5"/>
          <p:cNvSpPr/>
          <p:nvPr/>
        </p:nvSpPr>
        <p:spPr>
          <a:xfrm>
            <a:off x="10768889" y="402336"/>
            <a:ext cx="76443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1000"/>
              <a:buFont typeface="Calibri"/>
              <a:buNone/>
            </a:pPr>
            <a:r>
              <a:rPr b="1" i="0" lang="en-US" sz="1000" u="none" cap="none" strike="noStrike">
                <a:solidFill>
                  <a:srgbClr val="AC2740"/>
                </a:solidFill>
                <a:latin typeface="Calibri"/>
                <a:ea typeface="Calibri"/>
                <a:cs typeface="Calibri"/>
                <a:sym typeface="Calibri"/>
              </a:rPr>
              <a:t>Metrics</a:t>
            </a:r>
            <a:endParaRPr b="0" i="0" sz="1000" u="none" cap="none" strike="noStrike">
              <a:solidFill>
                <a:schemeClr val="dk1"/>
              </a:solidFill>
              <a:latin typeface="Calibri"/>
              <a:ea typeface="Calibri"/>
              <a:cs typeface="Calibri"/>
              <a:sym typeface="Calibri"/>
            </a:endParaRPr>
          </a:p>
        </p:txBody>
      </p:sp>
      <p:sp>
        <p:nvSpPr>
          <p:cNvPr id="936" name="Google Shape;936;p25"/>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937" name="Google Shape;937;p25"/>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23</a:t>
            </a:r>
            <a:endParaRPr b="0" i="0" sz="900" u="none" cap="none" strike="noStrike">
              <a:solidFill>
                <a:schemeClr val="dk1"/>
              </a:solidFill>
              <a:latin typeface="Calibri"/>
              <a:ea typeface="Calibri"/>
              <a:cs typeface="Calibri"/>
              <a:sym typeface="Calibri"/>
            </a:endParaRPr>
          </a:p>
        </p:txBody>
      </p:sp>
      <p:sp>
        <p:nvSpPr>
          <p:cNvPr id="938" name="Google Shape;938;p25"/>
          <p:cNvSpPr/>
          <p:nvPr/>
        </p:nvSpPr>
        <p:spPr>
          <a:xfrm>
            <a:off x="566928" y="1463040"/>
            <a:ext cx="11057839" cy="877824"/>
          </a:xfrm>
          <a:prstGeom prst="roundRect">
            <a:avLst>
              <a:gd fmla="val 9375"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5"/>
          <p:cNvSpPr/>
          <p:nvPr/>
        </p:nvSpPr>
        <p:spPr>
          <a:xfrm>
            <a:off x="731520" y="1591056"/>
            <a:ext cx="10728655" cy="62179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8FD3B4"/>
              </a:buClr>
              <a:buSzPts val="1100"/>
              <a:buFont typeface="Courier New"/>
              <a:buNone/>
            </a:pPr>
            <a:r>
              <a:rPr b="0" i="0" lang="en-US" sz="1100" u="none" cap="none" strike="noStrike">
                <a:solidFill>
                  <a:srgbClr val="8FD3B4"/>
                </a:solidFill>
                <a:latin typeface="Courier New"/>
                <a:ea typeface="Courier New"/>
                <a:cs typeface="Courier New"/>
                <a:sym typeface="Courier New"/>
              </a:rPr>
              <a:t>const route = req.route.path;      // '/teas/:id'   →  one series, forever</a:t>
            </a:r>
            <a:endParaRPr b="0" i="0" sz="1100" u="none" cap="none" strike="noStrike">
              <a:solidFill>
                <a:schemeClr val="dk1"/>
              </a:solidFill>
              <a:latin typeface="Calibri"/>
              <a:ea typeface="Calibri"/>
              <a:cs typeface="Calibri"/>
              <a:sym typeface="Calibri"/>
            </a:endParaRPr>
          </a:p>
          <a:p>
            <a:pPr indent="0" lvl="0" marL="0" marR="0" rtl="0" algn="l">
              <a:lnSpc>
                <a:spcPct val="128000"/>
              </a:lnSpc>
              <a:spcBef>
                <a:spcPts val="0"/>
              </a:spcBef>
              <a:spcAft>
                <a:spcPts val="0"/>
              </a:spcAft>
              <a:buClr>
                <a:srgbClr val="E08A8A"/>
              </a:buClr>
              <a:buSzPts val="1100"/>
              <a:buFont typeface="Courier New"/>
              <a:buNone/>
            </a:pPr>
            <a:r>
              <a:rPr b="0" i="0" lang="en-US" sz="1100" u="none" cap="none" strike="noStrike">
                <a:solidFill>
                  <a:srgbClr val="E08A8A"/>
                </a:solidFill>
                <a:latin typeface="Courier New"/>
                <a:ea typeface="Courier New"/>
                <a:cs typeface="Courier New"/>
                <a:sym typeface="Courier New"/>
              </a:rPr>
              <a:t>const route = req.originalUrl;     // '/teas/8821'  →  one series per tea. per method. per status.</a:t>
            </a:r>
            <a:endParaRPr b="0" i="0" sz="1100" u="none" cap="none" strike="noStrike">
              <a:solidFill>
                <a:schemeClr val="dk1"/>
              </a:solidFill>
              <a:latin typeface="Calibri"/>
              <a:ea typeface="Calibri"/>
              <a:cs typeface="Calibri"/>
              <a:sym typeface="Calibri"/>
            </a:endParaRPr>
          </a:p>
        </p:txBody>
      </p:sp>
      <p:sp>
        <p:nvSpPr>
          <p:cNvPr id="940" name="Google Shape;940;p25"/>
          <p:cNvSpPr/>
          <p:nvPr/>
        </p:nvSpPr>
        <p:spPr>
          <a:xfrm>
            <a:off x="566928" y="2505456"/>
            <a:ext cx="5349240" cy="2194560"/>
          </a:xfrm>
          <a:prstGeom prst="roundRect">
            <a:avLst>
              <a:gd fmla="val 3750"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5"/>
          <p:cNvSpPr/>
          <p:nvPr/>
        </p:nvSpPr>
        <p:spPr>
          <a:xfrm>
            <a:off x="822960" y="2651760"/>
            <a:ext cx="4846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THE ARITHMETIC OF ONE BAD LABEL</a:t>
            </a:r>
            <a:endParaRPr b="0" i="0" sz="950" u="none" cap="none" strike="noStrike">
              <a:solidFill>
                <a:schemeClr val="dk1"/>
              </a:solidFill>
              <a:latin typeface="Calibri"/>
              <a:ea typeface="Calibri"/>
              <a:cs typeface="Calibri"/>
              <a:sym typeface="Calibri"/>
            </a:endParaRPr>
          </a:p>
        </p:txBody>
      </p:sp>
      <p:sp>
        <p:nvSpPr>
          <p:cNvPr id="942" name="Google Shape;942;p25"/>
          <p:cNvSpPr/>
          <p:nvPr/>
        </p:nvSpPr>
        <p:spPr>
          <a:xfrm>
            <a:off x="822960" y="2962656"/>
            <a:ext cx="20116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1</a:t>
            </a:r>
            <a:endParaRPr b="0" i="0" sz="1250" u="none" cap="none" strike="noStrike">
              <a:solidFill>
                <a:schemeClr val="dk1"/>
              </a:solidFill>
              <a:latin typeface="Calibri"/>
              <a:ea typeface="Calibri"/>
              <a:cs typeface="Calibri"/>
              <a:sym typeface="Calibri"/>
            </a:endParaRPr>
          </a:p>
        </p:txBody>
      </p:sp>
      <p:sp>
        <p:nvSpPr>
          <p:cNvPr id="943" name="Google Shape;943;p25"/>
          <p:cNvSpPr/>
          <p:nvPr/>
        </p:nvSpPr>
        <p:spPr>
          <a:xfrm>
            <a:off x="2907792" y="2962656"/>
            <a:ext cx="2798064"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series in the request counter</a:t>
            </a:r>
            <a:endParaRPr b="0" i="0" sz="1050" u="none" cap="none" strike="noStrike">
              <a:solidFill>
                <a:schemeClr val="dk1"/>
              </a:solidFill>
              <a:latin typeface="Calibri"/>
              <a:ea typeface="Calibri"/>
              <a:cs typeface="Calibri"/>
              <a:sym typeface="Calibri"/>
            </a:endParaRPr>
          </a:p>
        </p:txBody>
      </p:sp>
      <p:sp>
        <p:nvSpPr>
          <p:cNvPr id="944" name="Google Shape;944;p25"/>
          <p:cNvSpPr/>
          <p:nvPr/>
        </p:nvSpPr>
        <p:spPr>
          <a:xfrm>
            <a:off x="822960" y="3364992"/>
            <a:ext cx="20116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13</a:t>
            </a:r>
            <a:endParaRPr b="0" i="0" sz="1250" u="none" cap="none" strike="noStrike">
              <a:solidFill>
                <a:schemeClr val="dk1"/>
              </a:solidFill>
              <a:latin typeface="Calibri"/>
              <a:ea typeface="Calibri"/>
              <a:cs typeface="Calibri"/>
              <a:sym typeface="Calibri"/>
            </a:endParaRPr>
          </a:p>
        </p:txBody>
      </p:sp>
      <p:sp>
        <p:nvSpPr>
          <p:cNvPr id="945" name="Google Shape;945;p25"/>
          <p:cNvSpPr/>
          <p:nvPr/>
        </p:nvSpPr>
        <p:spPr>
          <a:xfrm>
            <a:off x="2907792" y="3364992"/>
            <a:ext cx="2798064"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in the histogram — 11 buckets, plus _sum and _count</a:t>
            </a:r>
            <a:endParaRPr b="0" i="0" sz="1050" u="none" cap="none" strike="noStrike">
              <a:solidFill>
                <a:schemeClr val="dk1"/>
              </a:solidFill>
              <a:latin typeface="Calibri"/>
              <a:ea typeface="Calibri"/>
              <a:cs typeface="Calibri"/>
              <a:sym typeface="Calibri"/>
            </a:endParaRPr>
          </a:p>
        </p:txBody>
      </p:sp>
      <p:sp>
        <p:nvSpPr>
          <p:cNvPr id="946" name="Google Shape;946;p25"/>
          <p:cNvSpPr/>
          <p:nvPr/>
        </p:nvSpPr>
        <p:spPr>
          <a:xfrm>
            <a:off x="822960" y="3767328"/>
            <a:ext cx="20116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 method × status</a:t>
            </a:r>
            <a:endParaRPr b="0" i="0" sz="1250" u="none" cap="none" strike="noStrike">
              <a:solidFill>
                <a:schemeClr val="dk1"/>
              </a:solidFill>
              <a:latin typeface="Calibri"/>
              <a:ea typeface="Calibri"/>
              <a:cs typeface="Calibri"/>
              <a:sym typeface="Calibri"/>
            </a:endParaRPr>
          </a:p>
        </p:txBody>
      </p:sp>
      <p:sp>
        <p:nvSpPr>
          <p:cNvPr id="947" name="Google Shape;947;p25"/>
          <p:cNvSpPr/>
          <p:nvPr/>
        </p:nvSpPr>
        <p:spPr>
          <a:xfrm>
            <a:off x="2907792" y="3767328"/>
            <a:ext cx="2798064"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because labels multiply, they do not add</a:t>
            </a:r>
            <a:endParaRPr b="0" i="0" sz="1050" u="none" cap="none" strike="noStrike">
              <a:solidFill>
                <a:schemeClr val="dk1"/>
              </a:solidFill>
              <a:latin typeface="Calibri"/>
              <a:ea typeface="Calibri"/>
              <a:cs typeface="Calibri"/>
              <a:sym typeface="Calibri"/>
            </a:endParaRPr>
          </a:p>
        </p:txBody>
      </p:sp>
      <p:sp>
        <p:nvSpPr>
          <p:cNvPr id="948" name="Google Shape;948;p25"/>
          <p:cNvSpPr/>
          <p:nvPr/>
        </p:nvSpPr>
        <p:spPr>
          <a:xfrm>
            <a:off x="822960" y="4169664"/>
            <a:ext cx="20116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1400"/>
              <a:buFont typeface="Calibri"/>
              <a:buNone/>
            </a:pPr>
            <a:r>
              <a:rPr b="1" i="0" lang="en-US" sz="1400" u="none" cap="none" strike="noStrike">
                <a:solidFill>
                  <a:srgbClr val="AC2740"/>
                </a:solidFill>
                <a:latin typeface="Calibri"/>
                <a:ea typeface="Calibri"/>
                <a:cs typeface="Calibri"/>
                <a:sym typeface="Calibri"/>
              </a:rPr>
              <a:t>≈ 14+</a:t>
            </a:r>
            <a:endParaRPr b="0" i="0" sz="1400" u="none" cap="none" strike="noStrike">
              <a:solidFill>
                <a:schemeClr val="dk1"/>
              </a:solidFill>
              <a:latin typeface="Calibri"/>
              <a:ea typeface="Calibri"/>
              <a:cs typeface="Calibri"/>
              <a:sym typeface="Calibri"/>
            </a:endParaRPr>
          </a:p>
        </p:txBody>
      </p:sp>
      <p:sp>
        <p:nvSpPr>
          <p:cNvPr id="949" name="Google Shape;949;p25"/>
          <p:cNvSpPr/>
          <p:nvPr/>
        </p:nvSpPr>
        <p:spPr>
          <a:xfrm>
            <a:off x="2907792" y="4169664"/>
            <a:ext cx="2798064"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new series for every single unique URL</a:t>
            </a:r>
            <a:endParaRPr b="0" i="0" sz="1050" u="none" cap="none" strike="noStrike">
              <a:solidFill>
                <a:schemeClr val="dk1"/>
              </a:solidFill>
              <a:latin typeface="Calibri"/>
              <a:ea typeface="Calibri"/>
              <a:cs typeface="Calibri"/>
              <a:sym typeface="Calibri"/>
            </a:endParaRPr>
          </a:p>
        </p:txBody>
      </p:sp>
      <p:sp>
        <p:nvSpPr>
          <p:cNvPr id="950" name="Google Shape;950;p25"/>
          <p:cNvSpPr/>
          <p:nvPr/>
        </p:nvSpPr>
        <p:spPr>
          <a:xfrm>
            <a:off x="822960" y="4334256"/>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1100"/>
              <a:buFont typeface="Calibri"/>
              <a:buNone/>
            </a:pPr>
            <a:r>
              <a:rPr b="1" i="1" lang="en-US" sz="1100" u="none" cap="none" strike="noStrike">
                <a:solidFill>
                  <a:srgbClr val="AC2740"/>
                </a:solidFill>
                <a:latin typeface="Calibri"/>
                <a:ea typeface="Calibri"/>
                <a:cs typeface="Calibri"/>
                <a:sym typeface="Calibri"/>
              </a:rPr>
              <a:t>Random URLs from a script become a denial-of-service on your monitoring.</a:t>
            </a:r>
            <a:endParaRPr b="0" i="0" sz="1100" u="none" cap="none" strike="noStrike">
              <a:solidFill>
                <a:schemeClr val="dk1"/>
              </a:solidFill>
              <a:latin typeface="Calibri"/>
              <a:ea typeface="Calibri"/>
              <a:cs typeface="Calibri"/>
              <a:sym typeface="Calibri"/>
            </a:endParaRPr>
          </a:p>
        </p:txBody>
      </p:sp>
      <p:sp>
        <p:nvSpPr>
          <p:cNvPr id="951" name="Google Shape;951;p25"/>
          <p:cNvSpPr/>
          <p:nvPr/>
        </p:nvSpPr>
        <p:spPr>
          <a:xfrm>
            <a:off x="6281928" y="2505456"/>
            <a:ext cx="5349240" cy="2194560"/>
          </a:xfrm>
          <a:prstGeom prst="roundRect">
            <a:avLst>
              <a:gd fmla="val 3750"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5"/>
          <p:cNvSpPr/>
          <p:nvPr/>
        </p:nvSpPr>
        <p:spPr>
          <a:xfrm>
            <a:off x="6537960" y="2651760"/>
            <a:ext cx="4846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NEVER PUT THESE IN A LABEL</a:t>
            </a:r>
            <a:endParaRPr b="0" i="0" sz="950" u="none" cap="none" strike="noStrike">
              <a:solidFill>
                <a:schemeClr val="dk1"/>
              </a:solidFill>
              <a:latin typeface="Calibri"/>
              <a:ea typeface="Calibri"/>
              <a:cs typeface="Calibri"/>
              <a:sym typeface="Calibri"/>
            </a:endParaRPr>
          </a:p>
        </p:txBody>
      </p:sp>
      <p:sp>
        <p:nvSpPr>
          <p:cNvPr id="953" name="Google Shape;953;p25"/>
          <p:cNvSpPr/>
          <p:nvPr/>
        </p:nvSpPr>
        <p:spPr>
          <a:xfrm>
            <a:off x="6537960" y="2944368"/>
            <a:ext cx="772942" cy="246888"/>
          </a:xfrm>
          <a:prstGeom prst="roundRect">
            <a:avLst>
              <a:gd fmla="val 50000" name="adj"/>
            </a:avLst>
          </a:prstGeom>
          <a:solidFill>
            <a:srgbClr val="FAE9EC"/>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5"/>
          <p:cNvSpPr/>
          <p:nvPr/>
        </p:nvSpPr>
        <p:spPr>
          <a:xfrm>
            <a:off x="6537960" y="2944368"/>
            <a:ext cx="77294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user ID</a:t>
            </a:r>
            <a:endParaRPr b="0" i="0" sz="950" u="none" cap="none" strike="noStrike">
              <a:solidFill>
                <a:schemeClr val="dk1"/>
              </a:solidFill>
              <a:latin typeface="Calibri"/>
              <a:ea typeface="Calibri"/>
              <a:cs typeface="Calibri"/>
              <a:sym typeface="Calibri"/>
            </a:endParaRPr>
          </a:p>
        </p:txBody>
      </p:sp>
      <p:sp>
        <p:nvSpPr>
          <p:cNvPr id="955" name="Google Shape;955;p25"/>
          <p:cNvSpPr/>
          <p:nvPr/>
        </p:nvSpPr>
        <p:spPr>
          <a:xfrm>
            <a:off x="7402342" y="2944368"/>
            <a:ext cx="844174" cy="246888"/>
          </a:xfrm>
          <a:prstGeom prst="roundRect">
            <a:avLst>
              <a:gd fmla="val 50000" name="adj"/>
            </a:avLst>
          </a:prstGeom>
          <a:solidFill>
            <a:srgbClr val="FAE9EC"/>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5"/>
          <p:cNvSpPr/>
          <p:nvPr/>
        </p:nvSpPr>
        <p:spPr>
          <a:xfrm>
            <a:off x="7402342" y="2944368"/>
            <a:ext cx="844174"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order ID</a:t>
            </a:r>
            <a:endParaRPr b="0" i="0" sz="950" u="none" cap="none" strike="noStrike">
              <a:solidFill>
                <a:schemeClr val="dk1"/>
              </a:solidFill>
              <a:latin typeface="Calibri"/>
              <a:ea typeface="Calibri"/>
              <a:cs typeface="Calibri"/>
              <a:sym typeface="Calibri"/>
            </a:endParaRPr>
          </a:p>
        </p:txBody>
      </p:sp>
      <p:sp>
        <p:nvSpPr>
          <p:cNvPr id="957" name="Google Shape;957;p25"/>
          <p:cNvSpPr/>
          <p:nvPr/>
        </p:nvSpPr>
        <p:spPr>
          <a:xfrm>
            <a:off x="8337956" y="2944368"/>
            <a:ext cx="986638" cy="246888"/>
          </a:xfrm>
          <a:prstGeom prst="roundRect">
            <a:avLst>
              <a:gd fmla="val 50000" name="adj"/>
            </a:avLst>
          </a:prstGeom>
          <a:solidFill>
            <a:srgbClr val="FAE9EC"/>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5"/>
          <p:cNvSpPr/>
          <p:nvPr/>
        </p:nvSpPr>
        <p:spPr>
          <a:xfrm>
            <a:off x="8337956" y="2944368"/>
            <a:ext cx="98663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request ID</a:t>
            </a:r>
            <a:endParaRPr b="0" i="0" sz="950" u="none" cap="none" strike="noStrike">
              <a:solidFill>
                <a:schemeClr val="dk1"/>
              </a:solidFill>
              <a:latin typeface="Calibri"/>
              <a:ea typeface="Calibri"/>
              <a:cs typeface="Calibri"/>
              <a:sym typeface="Calibri"/>
            </a:endParaRPr>
          </a:p>
        </p:txBody>
      </p:sp>
      <p:sp>
        <p:nvSpPr>
          <p:cNvPr id="959" name="Google Shape;959;p25"/>
          <p:cNvSpPr/>
          <p:nvPr/>
        </p:nvSpPr>
        <p:spPr>
          <a:xfrm>
            <a:off x="9416034" y="2944368"/>
            <a:ext cx="844174" cy="246888"/>
          </a:xfrm>
          <a:prstGeom prst="roundRect">
            <a:avLst>
              <a:gd fmla="val 50000" name="adj"/>
            </a:avLst>
          </a:prstGeom>
          <a:solidFill>
            <a:srgbClr val="FAE9EC"/>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5"/>
          <p:cNvSpPr/>
          <p:nvPr/>
        </p:nvSpPr>
        <p:spPr>
          <a:xfrm>
            <a:off x="9416034" y="2944368"/>
            <a:ext cx="844174"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trace ID</a:t>
            </a:r>
            <a:endParaRPr b="0" i="0" sz="950" u="none" cap="none" strike="noStrike">
              <a:solidFill>
                <a:schemeClr val="dk1"/>
              </a:solidFill>
              <a:latin typeface="Calibri"/>
              <a:ea typeface="Calibri"/>
              <a:cs typeface="Calibri"/>
              <a:sym typeface="Calibri"/>
            </a:endParaRPr>
          </a:p>
        </p:txBody>
      </p:sp>
      <p:sp>
        <p:nvSpPr>
          <p:cNvPr id="961" name="Google Shape;961;p25"/>
          <p:cNvSpPr/>
          <p:nvPr/>
        </p:nvSpPr>
        <p:spPr>
          <a:xfrm>
            <a:off x="10351648" y="2944368"/>
            <a:ext cx="630479" cy="246888"/>
          </a:xfrm>
          <a:prstGeom prst="roundRect">
            <a:avLst>
              <a:gd fmla="val 50000" name="adj"/>
            </a:avLst>
          </a:prstGeom>
          <a:solidFill>
            <a:srgbClr val="FAE9EC"/>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5"/>
          <p:cNvSpPr/>
          <p:nvPr/>
        </p:nvSpPr>
        <p:spPr>
          <a:xfrm>
            <a:off x="10351648" y="2944368"/>
            <a:ext cx="63047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email</a:t>
            </a:r>
            <a:endParaRPr b="0" i="0" sz="950" u="none" cap="none" strike="noStrike">
              <a:solidFill>
                <a:schemeClr val="dk1"/>
              </a:solidFill>
              <a:latin typeface="Calibri"/>
              <a:ea typeface="Calibri"/>
              <a:cs typeface="Calibri"/>
              <a:sym typeface="Calibri"/>
            </a:endParaRPr>
          </a:p>
        </p:txBody>
      </p:sp>
      <p:sp>
        <p:nvSpPr>
          <p:cNvPr id="963" name="Google Shape;963;p25"/>
          <p:cNvSpPr/>
          <p:nvPr/>
        </p:nvSpPr>
        <p:spPr>
          <a:xfrm>
            <a:off x="6537960" y="3273552"/>
            <a:ext cx="986638" cy="246888"/>
          </a:xfrm>
          <a:prstGeom prst="roundRect">
            <a:avLst>
              <a:gd fmla="val 50000" name="adj"/>
            </a:avLst>
          </a:prstGeom>
          <a:solidFill>
            <a:srgbClr val="FAE9EC"/>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5"/>
          <p:cNvSpPr/>
          <p:nvPr/>
        </p:nvSpPr>
        <p:spPr>
          <a:xfrm>
            <a:off x="6537960" y="3273552"/>
            <a:ext cx="98663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session ID</a:t>
            </a:r>
            <a:endParaRPr b="0" i="0" sz="950" u="none" cap="none" strike="noStrike">
              <a:solidFill>
                <a:schemeClr val="dk1"/>
              </a:solidFill>
              <a:latin typeface="Calibri"/>
              <a:ea typeface="Calibri"/>
              <a:cs typeface="Calibri"/>
              <a:sym typeface="Calibri"/>
            </a:endParaRPr>
          </a:p>
        </p:txBody>
      </p:sp>
      <p:sp>
        <p:nvSpPr>
          <p:cNvPr id="965" name="Google Shape;965;p25"/>
          <p:cNvSpPr/>
          <p:nvPr/>
        </p:nvSpPr>
        <p:spPr>
          <a:xfrm>
            <a:off x="7616038" y="3273552"/>
            <a:ext cx="772942" cy="246888"/>
          </a:xfrm>
          <a:prstGeom prst="roundRect">
            <a:avLst>
              <a:gd fmla="val 50000" name="adj"/>
            </a:avLst>
          </a:prstGeom>
          <a:solidFill>
            <a:srgbClr val="FAE9EC"/>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5"/>
          <p:cNvSpPr/>
          <p:nvPr/>
        </p:nvSpPr>
        <p:spPr>
          <a:xfrm>
            <a:off x="7616038" y="3273552"/>
            <a:ext cx="77294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raw URL</a:t>
            </a:r>
            <a:endParaRPr b="0" i="0" sz="950" u="none" cap="none" strike="noStrike">
              <a:solidFill>
                <a:schemeClr val="dk1"/>
              </a:solidFill>
              <a:latin typeface="Calibri"/>
              <a:ea typeface="Calibri"/>
              <a:cs typeface="Calibri"/>
              <a:sym typeface="Calibri"/>
            </a:endParaRPr>
          </a:p>
        </p:txBody>
      </p:sp>
      <p:sp>
        <p:nvSpPr>
          <p:cNvPr id="967" name="Google Shape;967;p25"/>
          <p:cNvSpPr/>
          <p:nvPr/>
        </p:nvSpPr>
        <p:spPr>
          <a:xfrm>
            <a:off x="8480420" y="3273552"/>
            <a:ext cx="986638" cy="246888"/>
          </a:xfrm>
          <a:prstGeom prst="roundRect">
            <a:avLst>
              <a:gd fmla="val 50000" name="adj"/>
            </a:avLst>
          </a:prstGeom>
          <a:solidFill>
            <a:srgbClr val="FAE9EC"/>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5"/>
          <p:cNvSpPr/>
          <p:nvPr/>
        </p:nvSpPr>
        <p:spPr>
          <a:xfrm>
            <a:off x="8480420" y="3273552"/>
            <a:ext cx="98663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IP address</a:t>
            </a:r>
            <a:endParaRPr b="0" i="0" sz="950" u="none" cap="none" strike="noStrike">
              <a:solidFill>
                <a:schemeClr val="dk1"/>
              </a:solidFill>
              <a:latin typeface="Calibri"/>
              <a:ea typeface="Calibri"/>
              <a:cs typeface="Calibri"/>
              <a:sym typeface="Calibri"/>
            </a:endParaRPr>
          </a:p>
        </p:txBody>
      </p:sp>
      <p:sp>
        <p:nvSpPr>
          <p:cNvPr id="969" name="Google Shape;969;p25"/>
          <p:cNvSpPr/>
          <p:nvPr/>
        </p:nvSpPr>
        <p:spPr>
          <a:xfrm>
            <a:off x="9558498" y="3273552"/>
            <a:ext cx="1200333" cy="246888"/>
          </a:xfrm>
          <a:prstGeom prst="roundRect">
            <a:avLst>
              <a:gd fmla="val 50000" name="adj"/>
            </a:avLst>
          </a:prstGeom>
          <a:solidFill>
            <a:srgbClr val="FAE9EC"/>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5"/>
          <p:cNvSpPr/>
          <p:nvPr/>
        </p:nvSpPr>
        <p:spPr>
          <a:xfrm>
            <a:off x="9558498" y="3273552"/>
            <a:ext cx="1200333"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error message</a:t>
            </a:r>
            <a:endParaRPr b="0" i="0" sz="950" u="none" cap="none" strike="noStrike">
              <a:solidFill>
                <a:schemeClr val="dk1"/>
              </a:solidFill>
              <a:latin typeface="Calibri"/>
              <a:ea typeface="Calibri"/>
              <a:cs typeface="Calibri"/>
              <a:sym typeface="Calibri"/>
            </a:endParaRPr>
          </a:p>
        </p:txBody>
      </p:sp>
      <p:sp>
        <p:nvSpPr>
          <p:cNvPr id="971" name="Google Shape;971;p25"/>
          <p:cNvSpPr/>
          <p:nvPr/>
        </p:nvSpPr>
        <p:spPr>
          <a:xfrm>
            <a:off x="6537960" y="3602736"/>
            <a:ext cx="915406" cy="246888"/>
          </a:xfrm>
          <a:prstGeom prst="roundRect">
            <a:avLst>
              <a:gd fmla="val 50000" name="adj"/>
            </a:avLst>
          </a:prstGeom>
          <a:solidFill>
            <a:srgbClr val="FAE9EC"/>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5"/>
          <p:cNvSpPr/>
          <p:nvPr/>
        </p:nvSpPr>
        <p:spPr>
          <a:xfrm>
            <a:off x="6537960" y="3602736"/>
            <a:ext cx="91540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timestamp</a:t>
            </a:r>
            <a:endParaRPr b="0" i="0" sz="950" u="none" cap="none" strike="noStrike">
              <a:solidFill>
                <a:schemeClr val="dk1"/>
              </a:solidFill>
              <a:latin typeface="Calibri"/>
              <a:ea typeface="Calibri"/>
              <a:cs typeface="Calibri"/>
              <a:sym typeface="Calibri"/>
            </a:endParaRPr>
          </a:p>
        </p:txBody>
      </p:sp>
      <p:sp>
        <p:nvSpPr>
          <p:cNvPr id="973" name="Google Shape;973;p25"/>
          <p:cNvSpPr/>
          <p:nvPr/>
        </p:nvSpPr>
        <p:spPr>
          <a:xfrm>
            <a:off x="6537960" y="3968496"/>
            <a:ext cx="4846320" cy="65836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The test: can you write down every possible value on one line? If not, it is not a label — it belongs in a log line or a span, which are built for exactly this.</a:t>
            </a:r>
            <a:endParaRPr b="0" i="0" sz="1150" u="none" cap="none" strike="noStrike">
              <a:solidFill>
                <a:schemeClr val="dk1"/>
              </a:solidFill>
              <a:latin typeface="Calibri"/>
              <a:ea typeface="Calibri"/>
              <a:cs typeface="Calibri"/>
              <a:sym typeface="Calibri"/>
            </a:endParaRPr>
          </a:p>
        </p:txBody>
      </p:sp>
      <p:sp>
        <p:nvSpPr>
          <p:cNvPr id="974" name="Google Shape;974;p25"/>
          <p:cNvSpPr/>
          <p:nvPr/>
        </p:nvSpPr>
        <p:spPr>
          <a:xfrm>
            <a:off x="566928" y="4754880"/>
            <a:ext cx="11057839" cy="1115568"/>
          </a:xfrm>
          <a:prstGeom prst="roundRect">
            <a:avLst>
              <a:gd fmla="val 7377"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5"/>
          <p:cNvSpPr/>
          <p:nvPr/>
        </p:nvSpPr>
        <p:spPr>
          <a:xfrm>
            <a:off x="786384" y="4937760"/>
            <a:ext cx="292608" cy="292608"/>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5"/>
          <p:cNvSpPr/>
          <p:nvPr/>
        </p:nvSpPr>
        <p:spPr>
          <a:xfrm>
            <a:off x="786384" y="493776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977" name="Google Shape;977;p25"/>
          <p:cNvSpPr/>
          <p:nvPr/>
        </p:nvSpPr>
        <p:spPr>
          <a:xfrm>
            <a:off x="1188720" y="4937760"/>
            <a:ext cx="10033711"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Damage from a cardinality mistake outlives the fix</a:t>
            </a:r>
            <a:endParaRPr b="0" i="0" sz="1300" u="none" cap="none" strike="noStrike">
              <a:solidFill>
                <a:schemeClr val="dk1"/>
              </a:solidFill>
              <a:latin typeface="Calibri"/>
              <a:ea typeface="Calibri"/>
              <a:cs typeface="Calibri"/>
              <a:sym typeface="Calibri"/>
            </a:endParaRPr>
          </a:p>
        </p:txBody>
      </p:sp>
      <p:sp>
        <p:nvSpPr>
          <p:cNvPr id="978" name="Google Shape;978;p25"/>
          <p:cNvSpPr/>
          <p:nvPr/>
        </p:nvSpPr>
        <p:spPr>
          <a:xfrm>
            <a:off x="786384" y="5340096"/>
            <a:ext cx="10618927" cy="365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Revert the code and the bad series do not disappear — they sit in memory and on disk until the retention window expires. On a real cluster with 30-day retention, one afternoon's mistake is a month of degraded queries.</a:t>
            </a:r>
            <a:endParaRPr b="0" i="0" sz="1100" u="none" cap="none" strike="noStrike">
              <a:solidFill>
                <a:schemeClr val="dk1"/>
              </a:solidFill>
              <a:latin typeface="Calibri"/>
              <a:ea typeface="Calibri"/>
              <a:cs typeface="Calibri"/>
              <a:sym typeface="Calibri"/>
            </a:endParaRPr>
          </a:p>
        </p:txBody>
      </p:sp>
      <p:sp>
        <p:nvSpPr>
          <p:cNvPr id="979" name="Google Shape;979;p25"/>
          <p:cNvSpPr/>
          <p:nvPr/>
        </p:nvSpPr>
        <p:spPr>
          <a:xfrm>
            <a:off x="566928" y="5943600"/>
            <a:ext cx="11057839" cy="457200"/>
          </a:xfrm>
          <a:prstGeom prst="roundRect">
            <a:avLst>
              <a:gd fmla="val 18000"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5"/>
          <p:cNvSpPr/>
          <p:nvPr/>
        </p:nvSpPr>
        <p:spPr>
          <a:xfrm>
            <a:off x="768096" y="6035040"/>
            <a:ext cx="274320" cy="27432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5"/>
          <p:cNvSpPr/>
          <p:nvPr/>
        </p:nvSpPr>
        <p:spPr>
          <a:xfrm>
            <a:off x="768096" y="60350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982" name="Google Shape;982;p25"/>
          <p:cNvSpPr/>
          <p:nvPr/>
        </p:nvSpPr>
        <p:spPr>
          <a:xfrm>
            <a:off x="1170432" y="5943600"/>
            <a:ext cx="1023487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“It is only one more label” is the most expensive sentence in this module. You will detonate this yourself in the lab and watch the series count climb.</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7" name="Shape 987"/>
        <p:cNvGrpSpPr/>
        <p:nvPr/>
      </p:nvGrpSpPr>
      <p:grpSpPr>
        <a:xfrm>
          <a:off x="0" y="0"/>
          <a:ext cx="0" cy="0"/>
          <a:chOff x="0" y="0"/>
          <a:chExt cx="0" cy="0"/>
        </a:xfrm>
      </p:grpSpPr>
      <p:sp>
        <p:nvSpPr>
          <p:cNvPr id="988" name="Google Shape;988;p26"/>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50"/>
              <a:buFont typeface="Calibri"/>
              <a:buNone/>
            </a:pPr>
            <a:r>
              <a:rPr b="1" i="0" lang="en-US" sz="1050" u="none" cap="none" strike="noStrike">
                <a:solidFill>
                  <a:srgbClr val="0C6B7D"/>
                </a:solidFill>
                <a:latin typeface="Calibri"/>
                <a:ea typeface="Calibri"/>
                <a:cs typeface="Calibri"/>
                <a:sym typeface="Calibri"/>
              </a:rPr>
              <a:t>THE QUERY LANGUAGE</a:t>
            </a:r>
            <a:endParaRPr b="0" i="0" sz="1050" u="none" cap="none" strike="noStrike">
              <a:solidFill>
                <a:schemeClr val="dk1"/>
              </a:solidFill>
              <a:latin typeface="Calibri"/>
              <a:ea typeface="Calibri"/>
              <a:cs typeface="Calibri"/>
              <a:sym typeface="Calibri"/>
            </a:endParaRPr>
          </a:p>
        </p:txBody>
      </p:sp>
      <p:sp>
        <p:nvSpPr>
          <p:cNvPr id="989" name="Google Shape;989;p26"/>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PromQL: five queries, and two silent failures</a:t>
            </a:r>
            <a:endParaRPr b="0" i="0" sz="2900" u="none" cap="none" strike="noStrike">
              <a:solidFill>
                <a:schemeClr val="dk1"/>
              </a:solidFill>
              <a:latin typeface="Calibri"/>
              <a:ea typeface="Calibri"/>
              <a:cs typeface="Calibri"/>
              <a:sym typeface="Calibri"/>
            </a:endParaRPr>
          </a:p>
        </p:txBody>
      </p:sp>
      <p:sp>
        <p:nvSpPr>
          <p:cNvPr id="990" name="Google Shape;990;p26"/>
          <p:cNvSpPr/>
          <p:nvPr/>
        </p:nvSpPr>
        <p:spPr>
          <a:xfrm>
            <a:off x="10457993" y="402336"/>
            <a:ext cx="1166774" cy="329184"/>
          </a:xfrm>
          <a:prstGeom prst="roundRect">
            <a:avLst>
              <a:gd fmla="val 50000" name="adj"/>
            </a:avLst>
          </a:prstGeom>
          <a:solidFill>
            <a:srgbClr val="E2F0F3"/>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6"/>
          <p:cNvSpPr/>
          <p:nvPr/>
        </p:nvSpPr>
        <p:spPr>
          <a:xfrm>
            <a:off x="10631729" y="525780"/>
            <a:ext cx="91440" cy="9144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6"/>
          <p:cNvSpPr/>
          <p:nvPr/>
        </p:nvSpPr>
        <p:spPr>
          <a:xfrm>
            <a:off x="10768889" y="402336"/>
            <a:ext cx="76443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00"/>
              <a:buFont typeface="Calibri"/>
              <a:buNone/>
            </a:pPr>
            <a:r>
              <a:rPr b="1" i="0" lang="en-US" sz="1000" u="none" cap="none" strike="noStrike">
                <a:solidFill>
                  <a:srgbClr val="0C6B7D"/>
                </a:solidFill>
                <a:latin typeface="Calibri"/>
                <a:ea typeface="Calibri"/>
                <a:cs typeface="Calibri"/>
                <a:sym typeface="Calibri"/>
              </a:rPr>
              <a:t>Metrics</a:t>
            </a:r>
            <a:endParaRPr b="0" i="0" sz="1000" u="none" cap="none" strike="noStrike">
              <a:solidFill>
                <a:schemeClr val="dk1"/>
              </a:solidFill>
              <a:latin typeface="Calibri"/>
              <a:ea typeface="Calibri"/>
              <a:cs typeface="Calibri"/>
              <a:sym typeface="Calibri"/>
            </a:endParaRPr>
          </a:p>
        </p:txBody>
      </p:sp>
      <p:sp>
        <p:nvSpPr>
          <p:cNvPr id="993" name="Google Shape;993;p26"/>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994" name="Google Shape;994;p26"/>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24</a:t>
            </a:r>
            <a:endParaRPr b="0" i="0" sz="900" u="none" cap="none" strike="noStrike">
              <a:solidFill>
                <a:schemeClr val="dk1"/>
              </a:solidFill>
              <a:latin typeface="Calibri"/>
              <a:ea typeface="Calibri"/>
              <a:cs typeface="Calibri"/>
              <a:sym typeface="Calibri"/>
            </a:endParaRPr>
          </a:p>
        </p:txBody>
      </p:sp>
      <p:sp>
        <p:nvSpPr>
          <p:cNvPr id="995" name="Google Shape;995;p26"/>
          <p:cNvSpPr/>
          <p:nvPr/>
        </p:nvSpPr>
        <p:spPr>
          <a:xfrm>
            <a:off x="566928" y="1371600"/>
            <a:ext cx="6903720" cy="694944"/>
          </a:xfrm>
          <a:prstGeom prst="roundRect">
            <a:avLst>
              <a:gd fmla="val 11842"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6"/>
          <p:cNvSpPr/>
          <p:nvPr/>
        </p:nvSpPr>
        <p:spPr>
          <a:xfrm>
            <a:off x="749808" y="1563624"/>
            <a:ext cx="292608" cy="29260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6"/>
          <p:cNvSpPr/>
          <p:nvPr/>
        </p:nvSpPr>
        <p:spPr>
          <a:xfrm>
            <a:off x="749808" y="156362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998" name="Google Shape;998;p26"/>
          <p:cNvSpPr/>
          <p:nvPr/>
        </p:nvSpPr>
        <p:spPr>
          <a:xfrm>
            <a:off x="1152144" y="1408176"/>
            <a:ext cx="6217920" cy="62179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202C"/>
              </a:buClr>
              <a:buSzPts val="850"/>
              <a:buFont typeface="Courier New"/>
              <a:buNone/>
            </a:pPr>
            <a:r>
              <a:rPr b="0" i="0" lang="en-US" sz="850" u="none" cap="none" strike="noStrike">
                <a:solidFill>
                  <a:srgbClr val="16202C"/>
                </a:solidFill>
                <a:latin typeface="Courier New"/>
                <a:ea typeface="Courier New"/>
                <a:cs typeface="Courier New"/>
                <a:sym typeface="Courier New"/>
              </a:rPr>
              <a:t>http_requests_total</a:t>
            </a:r>
            <a:endParaRPr b="0" i="0" sz="850" u="none" cap="none" strike="noStrike">
              <a:solidFill>
                <a:schemeClr val="dk1"/>
              </a:solidFill>
              <a:latin typeface="Calibri"/>
              <a:ea typeface="Calibri"/>
              <a:cs typeface="Calibri"/>
              <a:sym typeface="Calibri"/>
            </a:endParaRPr>
          </a:p>
        </p:txBody>
      </p:sp>
      <p:sp>
        <p:nvSpPr>
          <p:cNvPr id="999" name="Google Shape;999;p26"/>
          <p:cNvSpPr/>
          <p:nvPr/>
        </p:nvSpPr>
        <p:spPr>
          <a:xfrm>
            <a:off x="7653528" y="1389888"/>
            <a:ext cx="3968496" cy="65836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The raw counter. One value per series, right now. Almost never what you want.</a:t>
            </a:r>
            <a:endParaRPr b="0" i="0" sz="1050" u="none" cap="none" strike="noStrike">
              <a:solidFill>
                <a:schemeClr val="dk1"/>
              </a:solidFill>
              <a:latin typeface="Calibri"/>
              <a:ea typeface="Calibri"/>
              <a:cs typeface="Calibri"/>
              <a:sym typeface="Calibri"/>
            </a:endParaRPr>
          </a:p>
        </p:txBody>
      </p:sp>
      <p:sp>
        <p:nvSpPr>
          <p:cNvPr id="1000" name="Google Shape;1000;p26"/>
          <p:cNvSpPr/>
          <p:nvPr/>
        </p:nvSpPr>
        <p:spPr>
          <a:xfrm>
            <a:off x="566928" y="2157984"/>
            <a:ext cx="6903720" cy="694944"/>
          </a:xfrm>
          <a:prstGeom prst="roundRect">
            <a:avLst>
              <a:gd fmla="val 11842"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6"/>
          <p:cNvSpPr/>
          <p:nvPr/>
        </p:nvSpPr>
        <p:spPr>
          <a:xfrm>
            <a:off x="749808" y="2350008"/>
            <a:ext cx="292608" cy="29260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6"/>
          <p:cNvSpPr/>
          <p:nvPr/>
        </p:nvSpPr>
        <p:spPr>
          <a:xfrm>
            <a:off x="749808" y="235000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1003" name="Google Shape;1003;p26"/>
          <p:cNvSpPr/>
          <p:nvPr/>
        </p:nvSpPr>
        <p:spPr>
          <a:xfrm>
            <a:off x="1152144" y="2194560"/>
            <a:ext cx="6217920" cy="62179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202C"/>
              </a:buClr>
              <a:buSzPts val="850"/>
              <a:buFont typeface="Courier New"/>
              <a:buNone/>
            </a:pPr>
            <a:r>
              <a:rPr b="0" i="0" lang="en-US" sz="850" u="none" cap="none" strike="noStrike">
                <a:solidFill>
                  <a:srgbClr val="16202C"/>
                </a:solidFill>
                <a:latin typeface="Courier New"/>
                <a:ea typeface="Courier New"/>
                <a:cs typeface="Courier New"/>
                <a:sym typeface="Courier New"/>
              </a:rPr>
              <a:t>rate(http_requests_total[5m])</a:t>
            </a:r>
            <a:endParaRPr b="0" i="0" sz="850" u="none" cap="none" strike="noStrike">
              <a:solidFill>
                <a:schemeClr val="dk1"/>
              </a:solidFill>
              <a:latin typeface="Calibri"/>
              <a:ea typeface="Calibri"/>
              <a:cs typeface="Calibri"/>
              <a:sym typeface="Calibri"/>
            </a:endParaRPr>
          </a:p>
        </p:txBody>
      </p:sp>
      <p:sp>
        <p:nvSpPr>
          <p:cNvPr id="1004" name="Google Shape;1004;p26"/>
          <p:cNvSpPr/>
          <p:nvPr/>
        </p:nvSpPr>
        <p:spPr>
          <a:xfrm>
            <a:off x="7653528" y="2176272"/>
            <a:ext cx="3968496" cy="65836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Per-second rate over a 5-minute window, correct across counter resets.</a:t>
            </a:r>
            <a:endParaRPr b="0" i="0" sz="1050" u="none" cap="none" strike="noStrike">
              <a:solidFill>
                <a:schemeClr val="dk1"/>
              </a:solidFill>
              <a:latin typeface="Calibri"/>
              <a:ea typeface="Calibri"/>
              <a:cs typeface="Calibri"/>
              <a:sym typeface="Calibri"/>
            </a:endParaRPr>
          </a:p>
        </p:txBody>
      </p:sp>
      <p:sp>
        <p:nvSpPr>
          <p:cNvPr id="1005" name="Google Shape;1005;p26"/>
          <p:cNvSpPr/>
          <p:nvPr/>
        </p:nvSpPr>
        <p:spPr>
          <a:xfrm>
            <a:off x="566928" y="2944368"/>
            <a:ext cx="6903720" cy="694944"/>
          </a:xfrm>
          <a:prstGeom prst="roundRect">
            <a:avLst>
              <a:gd fmla="val 11842"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6"/>
          <p:cNvSpPr/>
          <p:nvPr/>
        </p:nvSpPr>
        <p:spPr>
          <a:xfrm>
            <a:off x="749808" y="3136392"/>
            <a:ext cx="292608" cy="29260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6"/>
          <p:cNvSpPr/>
          <p:nvPr/>
        </p:nvSpPr>
        <p:spPr>
          <a:xfrm>
            <a:off x="749808" y="3136392"/>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1008" name="Google Shape;1008;p26"/>
          <p:cNvSpPr/>
          <p:nvPr/>
        </p:nvSpPr>
        <p:spPr>
          <a:xfrm>
            <a:off x="1152144" y="2980944"/>
            <a:ext cx="6217920" cy="62179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202C"/>
              </a:buClr>
              <a:buSzPts val="850"/>
              <a:buFont typeface="Courier New"/>
              <a:buNone/>
            </a:pPr>
            <a:r>
              <a:rPr b="0" i="0" lang="en-US" sz="850" u="none" cap="none" strike="noStrike">
                <a:solidFill>
                  <a:srgbClr val="16202C"/>
                </a:solidFill>
                <a:latin typeface="Courier New"/>
                <a:ea typeface="Courier New"/>
                <a:cs typeface="Courier New"/>
                <a:sym typeface="Courier New"/>
              </a:rPr>
              <a:t>sum by (service) (rate(http_requests_total[5m]))</a:t>
            </a:r>
            <a:endParaRPr b="0" i="0" sz="850" u="none" cap="none" strike="noStrike">
              <a:solidFill>
                <a:schemeClr val="dk1"/>
              </a:solidFill>
              <a:latin typeface="Calibri"/>
              <a:ea typeface="Calibri"/>
              <a:cs typeface="Calibri"/>
              <a:sym typeface="Calibri"/>
            </a:endParaRPr>
          </a:p>
        </p:txBody>
      </p:sp>
      <p:sp>
        <p:nvSpPr>
          <p:cNvPr id="1009" name="Google Shape;1009;p26"/>
          <p:cNvSpPr/>
          <p:nvPr/>
        </p:nvSpPr>
        <p:spPr>
          <a:xfrm>
            <a:off x="7653528" y="2962656"/>
            <a:ext cx="3968496" cy="65836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Requests per second per service. rate first, then sum — always in that order.</a:t>
            </a:r>
            <a:endParaRPr b="0" i="0" sz="1050" u="none" cap="none" strike="noStrike">
              <a:solidFill>
                <a:schemeClr val="dk1"/>
              </a:solidFill>
              <a:latin typeface="Calibri"/>
              <a:ea typeface="Calibri"/>
              <a:cs typeface="Calibri"/>
              <a:sym typeface="Calibri"/>
            </a:endParaRPr>
          </a:p>
        </p:txBody>
      </p:sp>
      <p:sp>
        <p:nvSpPr>
          <p:cNvPr id="1010" name="Google Shape;1010;p26"/>
          <p:cNvSpPr/>
          <p:nvPr/>
        </p:nvSpPr>
        <p:spPr>
          <a:xfrm>
            <a:off x="566928" y="3730752"/>
            <a:ext cx="6903720" cy="694944"/>
          </a:xfrm>
          <a:prstGeom prst="roundRect">
            <a:avLst>
              <a:gd fmla="val 11842"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6"/>
          <p:cNvSpPr/>
          <p:nvPr/>
        </p:nvSpPr>
        <p:spPr>
          <a:xfrm>
            <a:off x="749808" y="3922776"/>
            <a:ext cx="292608" cy="29260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6"/>
          <p:cNvSpPr/>
          <p:nvPr/>
        </p:nvSpPr>
        <p:spPr>
          <a:xfrm>
            <a:off x="749808" y="392277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1013" name="Google Shape;1013;p26"/>
          <p:cNvSpPr/>
          <p:nvPr/>
        </p:nvSpPr>
        <p:spPr>
          <a:xfrm>
            <a:off x="1152144" y="3767328"/>
            <a:ext cx="6217920" cy="62179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202C"/>
              </a:buClr>
              <a:buSzPts val="850"/>
              <a:buFont typeface="Courier New"/>
              <a:buNone/>
            </a:pPr>
            <a:r>
              <a:rPr b="0" i="0" lang="en-US" sz="850" u="none" cap="none" strike="noStrike">
                <a:solidFill>
                  <a:srgbClr val="16202C"/>
                </a:solidFill>
                <a:latin typeface="Courier New"/>
                <a:ea typeface="Courier New"/>
                <a:cs typeface="Courier New"/>
                <a:sym typeface="Courier New"/>
              </a:rPr>
              <a:t>sum by (service) (rate(http_requests_total{status=~"5.."}[5m]))</a:t>
            </a:r>
            <a:endParaRPr b="0" i="0" sz="85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16202C"/>
              </a:buClr>
              <a:buSzPts val="850"/>
              <a:buFont typeface="Courier New"/>
              <a:buNone/>
            </a:pPr>
            <a:r>
              <a:rPr b="0" i="0" lang="en-US" sz="850" u="none" cap="none" strike="noStrike">
                <a:solidFill>
                  <a:srgbClr val="16202C"/>
                </a:solidFill>
                <a:latin typeface="Courier New"/>
                <a:ea typeface="Courier New"/>
                <a:cs typeface="Courier New"/>
                <a:sym typeface="Courier New"/>
              </a:rPr>
              <a:t>  / sum by (service) (rate(http_requests_total[5m]))</a:t>
            </a:r>
            <a:endParaRPr b="0" i="0" sz="850" u="none" cap="none" strike="noStrike">
              <a:solidFill>
                <a:schemeClr val="dk1"/>
              </a:solidFill>
              <a:latin typeface="Calibri"/>
              <a:ea typeface="Calibri"/>
              <a:cs typeface="Calibri"/>
              <a:sym typeface="Calibri"/>
            </a:endParaRPr>
          </a:p>
        </p:txBody>
      </p:sp>
      <p:sp>
        <p:nvSpPr>
          <p:cNvPr id="1014" name="Google Shape;1014;p26"/>
          <p:cNvSpPr/>
          <p:nvPr/>
        </p:nvSpPr>
        <p:spPr>
          <a:xfrm>
            <a:off x="7653528" y="3749040"/>
            <a:ext cx="3968496" cy="65836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The error ratio, your most important SLI. Note 5.. and not 4.. — a 404 is the client being wrong.</a:t>
            </a:r>
            <a:endParaRPr b="0" i="0" sz="1050" u="none" cap="none" strike="noStrike">
              <a:solidFill>
                <a:schemeClr val="dk1"/>
              </a:solidFill>
              <a:latin typeface="Calibri"/>
              <a:ea typeface="Calibri"/>
              <a:cs typeface="Calibri"/>
              <a:sym typeface="Calibri"/>
            </a:endParaRPr>
          </a:p>
        </p:txBody>
      </p:sp>
      <p:sp>
        <p:nvSpPr>
          <p:cNvPr id="1015" name="Google Shape;1015;p26"/>
          <p:cNvSpPr/>
          <p:nvPr/>
        </p:nvSpPr>
        <p:spPr>
          <a:xfrm>
            <a:off x="566928" y="4517136"/>
            <a:ext cx="6903720" cy="694944"/>
          </a:xfrm>
          <a:prstGeom prst="roundRect">
            <a:avLst>
              <a:gd fmla="val 11842"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6"/>
          <p:cNvSpPr/>
          <p:nvPr/>
        </p:nvSpPr>
        <p:spPr>
          <a:xfrm>
            <a:off x="749808" y="4709160"/>
            <a:ext cx="292608" cy="29260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6"/>
          <p:cNvSpPr/>
          <p:nvPr/>
        </p:nvSpPr>
        <p:spPr>
          <a:xfrm>
            <a:off x="749808" y="470916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1018" name="Google Shape;1018;p26"/>
          <p:cNvSpPr/>
          <p:nvPr/>
        </p:nvSpPr>
        <p:spPr>
          <a:xfrm>
            <a:off x="1152144" y="4553712"/>
            <a:ext cx="6217920" cy="62179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202C"/>
              </a:buClr>
              <a:buSzPts val="850"/>
              <a:buFont typeface="Courier New"/>
              <a:buNone/>
            </a:pPr>
            <a:r>
              <a:rPr b="0" i="0" lang="en-US" sz="850" u="none" cap="none" strike="noStrike">
                <a:solidFill>
                  <a:srgbClr val="16202C"/>
                </a:solidFill>
                <a:latin typeface="Courier New"/>
                <a:ea typeface="Courier New"/>
                <a:cs typeface="Courier New"/>
                <a:sym typeface="Courier New"/>
              </a:rPr>
              <a:t>histogram_quantile(0.95, sum by (le, route) (rate(http_request_duration_seconds_bucket[5m])))</a:t>
            </a:r>
            <a:endParaRPr b="0" i="0" sz="850" u="none" cap="none" strike="noStrike">
              <a:solidFill>
                <a:schemeClr val="dk1"/>
              </a:solidFill>
              <a:latin typeface="Calibri"/>
              <a:ea typeface="Calibri"/>
              <a:cs typeface="Calibri"/>
              <a:sym typeface="Calibri"/>
            </a:endParaRPr>
          </a:p>
        </p:txBody>
      </p:sp>
      <p:sp>
        <p:nvSpPr>
          <p:cNvPr id="1019" name="Google Shape;1019;p26"/>
          <p:cNvSpPr/>
          <p:nvPr/>
        </p:nvSpPr>
        <p:spPr>
          <a:xfrm>
            <a:off x="7653528" y="4535424"/>
            <a:ext cx="3968496" cy="65836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p95 latency per route, computed from bucket counts at query time.</a:t>
            </a:r>
            <a:endParaRPr b="0" i="0" sz="1050" u="none" cap="none" strike="noStrike">
              <a:solidFill>
                <a:schemeClr val="dk1"/>
              </a:solidFill>
              <a:latin typeface="Calibri"/>
              <a:ea typeface="Calibri"/>
              <a:cs typeface="Calibri"/>
              <a:sym typeface="Calibri"/>
            </a:endParaRPr>
          </a:p>
        </p:txBody>
      </p:sp>
      <p:sp>
        <p:nvSpPr>
          <p:cNvPr id="1020" name="Google Shape;1020;p26"/>
          <p:cNvSpPr/>
          <p:nvPr/>
        </p:nvSpPr>
        <p:spPr>
          <a:xfrm>
            <a:off x="566928" y="5394960"/>
            <a:ext cx="5349240" cy="914400"/>
          </a:xfrm>
          <a:prstGeom prst="roundRect">
            <a:avLst>
              <a:gd fmla="val 9000"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6"/>
          <p:cNvSpPr/>
          <p:nvPr/>
        </p:nvSpPr>
        <p:spPr>
          <a:xfrm>
            <a:off x="768096" y="5532120"/>
            <a:ext cx="274320" cy="27432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6"/>
          <p:cNvSpPr/>
          <p:nvPr/>
        </p:nvSpPr>
        <p:spPr>
          <a:xfrm>
            <a:off x="768096" y="553212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1023" name="Google Shape;1023;p26"/>
          <p:cNvSpPr/>
          <p:nvPr/>
        </p:nvSpPr>
        <p:spPr>
          <a:xfrm>
            <a:off x="1152144" y="54681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1050"/>
              <a:buFont typeface="Courier New"/>
              <a:buNone/>
            </a:pPr>
            <a:r>
              <a:rPr b="1" i="0" lang="en-US" sz="1050" u="none" cap="none" strike="noStrike">
                <a:solidFill>
                  <a:srgbClr val="AC2740"/>
                </a:solidFill>
                <a:latin typeface="Courier New"/>
                <a:ea typeface="Courier New"/>
                <a:cs typeface="Courier New"/>
                <a:sym typeface="Courier New"/>
              </a:rPr>
              <a:t>sum(rate(...)) not rate(sum(...))</a:t>
            </a:r>
            <a:endParaRPr b="0" i="0" sz="1050" u="none" cap="none" strike="noStrike">
              <a:solidFill>
                <a:schemeClr val="dk1"/>
              </a:solidFill>
              <a:latin typeface="Calibri"/>
              <a:ea typeface="Calibri"/>
              <a:cs typeface="Calibri"/>
              <a:sym typeface="Calibri"/>
            </a:endParaRPr>
          </a:p>
        </p:txBody>
      </p:sp>
      <p:sp>
        <p:nvSpPr>
          <p:cNvPr id="1024" name="Google Shape;1024;p26"/>
          <p:cNvSpPr/>
          <p:nvPr/>
        </p:nvSpPr>
        <p:spPr>
          <a:xfrm>
            <a:off x="1152144" y="5742432"/>
            <a:ext cx="457200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050"/>
              <a:buFont typeface="Calibri"/>
              <a:buNone/>
            </a:pPr>
            <a:r>
              <a:rPr b="0" i="0" lang="en-US" sz="1050" u="none" cap="none" strike="noStrike">
                <a:solidFill>
                  <a:srgbClr val="16202C"/>
                </a:solidFill>
                <a:latin typeface="Calibri"/>
                <a:ea typeface="Calibri"/>
                <a:cs typeface="Calibri"/>
                <a:sym typeface="Calibri"/>
              </a:rPr>
              <a:t>Summing counters first, then rating, turns one restart into a cliff in your graph and a false alert.</a:t>
            </a:r>
            <a:endParaRPr b="0" i="0" sz="1050" u="none" cap="none" strike="noStrike">
              <a:solidFill>
                <a:schemeClr val="dk1"/>
              </a:solidFill>
              <a:latin typeface="Calibri"/>
              <a:ea typeface="Calibri"/>
              <a:cs typeface="Calibri"/>
              <a:sym typeface="Calibri"/>
            </a:endParaRPr>
          </a:p>
        </p:txBody>
      </p:sp>
      <p:sp>
        <p:nvSpPr>
          <p:cNvPr id="1025" name="Google Shape;1025;p26"/>
          <p:cNvSpPr/>
          <p:nvPr/>
        </p:nvSpPr>
        <p:spPr>
          <a:xfrm>
            <a:off x="6281928" y="5394960"/>
            <a:ext cx="5349240" cy="914400"/>
          </a:xfrm>
          <a:prstGeom prst="roundRect">
            <a:avLst>
              <a:gd fmla="val 9000"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6"/>
          <p:cNvSpPr/>
          <p:nvPr/>
        </p:nvSpPr>
        <p:spPr>
          <a:xfrm>
            <a:off x="6483096" y="5532120"/>
            <a:ext cx="274320" cy="27432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6"/>
          <p:cNvSpPr/>
          <p:nvPr/>
        </p:nvSpPr>
        <p:spPr>
          <a:xfrm>
            <a:off x="6483096" y="553212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1028" name="Google Shape;1028;p26"/>
          <p:cNvSpPr/>
          <p:nvPr/>
        </p:nvSpPr>
        <p:spPr>
          <a:xfrm>
            <a:off x="6867144" y="54681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1050"/>
              <a:buFont typeface="Courier New"/>
              <a:buNone/>
            </a:pPr>
            <a:r>
              <a:rPr b="1" i="0" lang="en-US" sz="1050" u="none" cap="none" strike="noStrike">
                <a:solidFill>
                  <a:srgbClr val="AC2740"/>
                </a:solidFill>
                <a:latin typeface="Courier New"/>
                <a:ea typeface="Courier New"/>
                <a:cs typeface="Courier New"/>
                <a:sym typeface="Courier New"/>
              </a:rPr>
              <a:t>le must survive the by clause</a:t>
            </a:r>
            <a:endParaRPr b="0" i="0" sz="1050" u="none" cap="none" strike="noStrike">
              <a:solidFill>
                <a:schemeClr val="dk1"/>
              </a:solidFill>
              <a:latin typeface="Calibri"/>
              <a:ea typeface="Calibri"/>
              <a:cs typeface="Calibri"/>
              <a:sym typeface="Calibri"/>
            </a:endParaRPr>
          </a:p>
        </p:txBody>
      </p:sp>
      <p:sp>
        <p:nvSpPr>
          <p:cNvPr id="1029" name="Google Shape;1029;p26"/>
          <p:cNvSpPr/>
          <p:nvPr/>
        </p:nvSpPr>
        <p:spPr>
          <a:xfrm>
            <a:off x="6867144" y="5742432"/>
            <a:ext cx="457200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050"/>
              <a:buFont typeface="Calibri"/>
              <a:buNone/>
            </a:pPr>
            <a:r>
              <a:rPr b="0" i="0" lang="en-US" sz="1050" u="none" cap="none" strike="noStrike">
                <a:solidFill>
                  <a:srgbClr val="16202C"/>
                </a:solidFill>
                <a:latin typeface="Calibri"/>
                <a:ea typeface="Calibri"/>
                <a:cs typeface="Calibri"/>
                <a:sym typeface="Calibri"/>
              </a:rPr>
              <a:t>Drop le from a histogram_quantile and you get NaN. No error, no warning. The single most common PromQL mistake.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4" name="Shape 1034"/>
        <p:cNvGrpSpPr/>
        <p:nvPr/>
      </p:nvGrpSpPr>
      <p:grpSpPr>
        <a:xfrm>
          <a:off x="0" y="0"/>
          <a:ext cx="0" cy="0"/>
          <a:chOff x="0" y="0"/>
          <a:chExt cx="0" cy="0"/>
        </a:xfrm>
      </p:grpSpPr>
      <p:sp>
        <p:nvSpPr>
          <p:cNvPr id="1035" name="Google Shape;1035;p27"/>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50"/>
              <a:buFont typeface="Calibri"/>
              <a:buNone/>
            </a:pPr>
            <a:r>
              <a:rPr b="1" i="0" lang="en-US" sz="1050" u="none" cap="none" strike="noStrike">
                <a:solidFill>
                  <a:srgbClr val="0C6B7D"/>
                </a:solidFill>
                <a:latin typeface="Calibri"/>
                <a:ea typeface="Calibri"/>
                <a:cs typeface="Calibri"/>
                <a:sym typeface="Calibri"/>
              </a:rPr>
              <a:t>CHOOSING WHAT TO INSTRUMENT</a:t>
            </a:r>
            <a:endParaRPr b="0" i="0" sz="1050" u="none" cap="none" strike="noStrike">
              <a:solidFill>
                <a:schemeClr val="dk1"/>
              </a:solidFill>
              <a:latin typeface="Calibri"/>
              <a:ea typeface="Calibri"/>
              <a:cs typeface="Calibri"/>
              <a:sym typeface="Calibri"/>
            </a:endParaRPr>
          </a:p>
        </p:txBody>
      </p:sp>
      <p:sp>
        <p:nvSpPr>
          <p:cNvPr id="1036" name="Google Shape;1036;p27"/>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Three frameworks, so you stop guessing</a:t>
            </a:r>
            <a:endParaRPr b="0" i="0" sz="2900" u="none" cap="none" strike="noStrike">
              <a:solidFill>
                <a:schemeClr val="dk1"/>
              </a:solidFill>
              <a:latin typeface="Calibri"/>
              <a:ea typeface="Calibri"/>
              <a:cs typeface="Calibri"/>
              <a:sym typeface="Calibri"/>
            </a:endParaRPr>
          </a:p>
        </p:txBody>
      </p:sp>
      <p:sp>
        <p:nvSpPr>
          <p:cNvPr id="1037" name="Google Shape;1037;p27"/>
          <p:cNvSpPr/>
          <p:nvPr/>
        </p:nvSpPr>
        <p:spPr>
          <a:xfrm>
            <a:off x="10457993" y="402336"/>
            <a:ext cx="1166774" cy="329184"/>
          </a:xfrm>
          <a:prstGeom prst="roundRect">
            <a:avLst>
              <a:gd fmla="val 50000" name="adj"/>
            </a:avLst>
          </a:prstGeom>
          <a:solidFill>
            <a:srgbClr val="E2F0F3"/>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7"/>
          <p:cNvSpPr/>
          <p:nvPr/>
        </p:nvSpPr>
        <p:spPr>
          <a:xfrm>
            <a:off x="10631729" y="525780"/>
            <a:ext cx="91440" cy="9144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7"/>
          <p:cNvSpPr/>
          <p:nvPr/>
        </p:nvSpPr>
        <p:spPr>
          <a:xfrm>
            <a:off x="10768889" y="402336"/>
            <a:ext cx="76443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00"/>
              <a:buFont typeface="Calibri"/>
              <a:buNone/>
            </a:pPr>
            <a:r>
              <a:rPr b="1" i="0" lang="en-US" sz="1000" u="none" cap="none" strike="noStrike">
                <a:solidFill>
                  <a:srgbClr val="0C6B7D"/>
                </a:solidFill>
                <a:latin typeface="Calibri"/>
                <a:ea typeface="Calibri"/>
                <a:cs typeface="Calibri"/>
                <a:sym typeface="Calibri"/>
              </a:rPr>
              <a:t>Metrics</a:t>
            </a:r>
            <a:endParaRPr b="0" i="0" sz="1000" u="none" cap="none" strike="noStrike">
              <a:solidFill>
                <a:schemeClr val="dk1"/>
              </a:solidFill>
              <a:latin typeface="Calibri"/>
              <a:ea typeface="Calibri"/>
              <a:cs typeface="Calibri"/>
              <a:sym typeface="Calibri"/>
            </a:endParaRPr>
          </a:p>
        </p:txBody>
      </p:sp>
      <p:sp>
        <p:nvSpPr>
          <p:cNvPr id="1040" name="Google Shape;1040;p27"/>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041" name="Google Shape;1041;p27"/>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25</a:t>
            </a:r>
            <a:endParaRPr b="0" i="0" sz="900" u="none" cap="none" strike="noStrike">
              <a:solidFill>
                <a:schemeClr val="dk1"/>
              </a:solidFill>
              <a:latin typeface="Calibri"/>
              <a:ea typeface="Calibri"/>
              <a:cs typeface="Calibri"/>
              <a:sym typeface="Calibri"/>
            </a:endParaRPr>
          </a:p>
        </p:txBody>
      </p:sp>
      <p:sp>
        <p:nvSpPr>
          <p:cNvPr id="1042" name="Google Shape;1042;p27"/>
          <p:cNvSpPr/>
          <p:nvPr/>
        </p:nvSpPr>
        <p:spPr>
          <a:xfrm>
            <a:off x="566928" y="1234440"/>
            <a:ext cx="11057839" cy="365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300"/>
              <a:buFont typeface="Calibri"/>
              <a:buNone/>
            </a:pPr>
            <a:r>
              <a:rPr b="0" i="1" lang="en-US" sz="1300" u="none" cap="none" strike="noStrike">
                <a:solidFill>
                  <a:srgbClr val="5C6B7A"/>
                </a:solidFill>
                <a:latin typeface="Calibri"/>
                <a:ea typeface="Calibri"/>
                <a:cs typeface="Calibri"/>
                <a:sym typeface="Calibri"/>
              </a:rPr>
              <a:t>They overlap heavily, on purpose. Pick one, apply it to every service, and stop debating.</a:t>
            </a:r>
            <a:endParaRPr b="0" i="0" sz="1300" u="none" cap="none" strike="noStrike">
              <a:solidFill>
                <a:schemeClr val="dk1"/>
              </a:solidFill>
              <a:latin typeface="Calibri"/>
              <a:ea typeface="Calibri"/>
              <a:cs typeface="Calibri"/>
              <a:sym typeface="Calibri"/>
            </a:endParaRPr>
          </a:p>
        </p:txBody>
      </p:sp>
      <p:sp>
        <p:nvSpPr>
          <p:cNvPr id="1043" name="Google Shape;1043;p27"/>
          <p:cNvSpPr/>
          <p:nvPr/>
        </p:nvSpPr>
        <p:spPr>
          <a:xfrm>
            <a:off x="566928" y="1700784"/>
            <a:ext cx="3511296" cy="3200400"/>
          </a:xfrm>
          <a:prstGeom prst="roundRect">
            <a:avLst>
              <a:gd fmla="val 2571" name="adj"/>
            </a:avLst>
          </a:prstGeom>
          <a:solidFill>
            <a:srgbClr val="FFFFFF"/>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7"/>
          <p:cNvSpPr/>
          <p:nvPr/>
        </p:nvSpPr>
        <p:spPr>
          <a:xfrm>
            <a:off x="566928" y="1700784"/>
            <a:ext cx="3511296" cy="841248"/>
          </a:xfrm>
          <a:prstGeom prst="roundRect">
            <a:avLst>
              <a:gd fmla="val 9783"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7"/>
          <p:cNvSpPr/>
          <p:nvPr/>
        </p:nvSpPr>
        <p:spPr>
          <a:xfrm>
            <a:off x="804672" y="1755648"/>
            <a:ext cx="30175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900"/>
              <a:buFont typeface="Cambria"/>
              <a:buNone/>
            </a:pPr>
            <a:r>
              <a:rPr b="1" i="0" lang="en-US" sz="1900" u="none" cap="none" strike="noStrike">
                <a:solidFill>
                  <a:srgbClr val="0C6B7D"/>
                </a:solidFill>
                <a:latin typeface="Cambria"/>
                <a:ea typeface="Cambria"/>
                <a:cs typeface="Cambria"/>
                <a:sym typeface="Cambria"/>
              </a:rPr>
              <a:t>RED</a:t>
            </a:r>
            <a:endParaRPr b="0" i="0" sz="1900" u="none" cap="none" strike="noStrike">
              <a:solidFill>
                <a:schemeClr val="dk1"/>
              </a:solidFill>
              <a:latin typeface="Calibri"/>
              <a:ea typeface="Calibri"/>
              <a:cs typeface="Calibri"/>
              <a:sym typeface="Calibri"/>
            </a:endParaRPr>
          </a:p>
        </p:txBody>
      </p:sp>
      <p:sp>
        <p:nvSpPr>
          <p:cNvPr id="1046" name="Google Shape;1046;p27"/>
          <p:cNvSpPr/>
          <p:nvPr/>
        </p:nvSpPr>
        <p:spPr>
          <a:xfrm>
            <a:off x="804672" y="2157984"/>
            <a:ext cx="3017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000"/>
              <a:buFont typeface="Calibri"/>
              <a:buNone/>
            </a:pPr>
            <a:r>
              <a:rPr b="0" i="1" lang="en-US" sz="1000" u="none" cap="none" strike="noStrike">
                <a:solidFill>
                  <a:srgbClr val="5C6B7A"/>
                </a:solidFill>
                <a:latin typeface="Calibri"/>
                <a:ea typeface="Calibri"/>
                <a:cs typeface="Calibri"/>
                <a:sym typeface="Calibri"/>
              </a:rPr>
              <a:t>For every request-driven service</a:t>
            </a:r>
            <a:endParaRPr b="0" i="0" sz="1000" u="none" cap="none" strike="noStrike">
              <a:solidFill>
                <a:schemeClr val="dk1"/>
              </a:solidFill>
              <a:latin typeface="Calibri"/>
              <a:ea typeface="Calibri"/>
              <a:cs typeface="Calibri"/>
              <a:sym typeface="Calibri"/>
            </a:endParaRPr>
          </a:p>
        </p:txBody>
      </p:sp>
      <p:sp>
        <p:nvSpPr>
          <p:cNvPr id="1047" name="Google Shape;1047;p27"/>
          <p:cNvSpPr/>
          <p:nvPr/>
        </p:nvSpPr>
        <p:spPr>
          <a:xfrm>
            <a:off x="804672" y="2688336"/>
            <a:ext cx="3017520" cy="137160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Rate — requests per second</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Errors — failed requests per second</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Duration — the latency distribution</a:t>
            </a:r>
            <a:endParaRPr b="0" i="0" sz="1150" u="none" cap="none" strike="noStrike">
              <a:solidFill>
                <a:schemeClr val="dk1"/>
              </a:solidFill>
              <a:latin typeface="Calibri"/>
              <a:ea typeface="Calibri"/>
              <a:cs typeface="Calibri"/>
              <a:sym typeface="Calibri"/>
            </a:endParaRPr>
          </a:p>
        </p:txBody>
      </p:sp>
      <p:sp>
        <p:nvSpPr>
          <p:cNvPr id="1048" name="Google Shape;1048;p27"/>
          <p:cNvSpPr/>
          <p:nvPr/>
        </p:nvSpPr>
        <p:spPr>
          <a:xfrm>
            <a:off x="804672" y="4114800"/>
            <a:ext cx="3017520" cy="6766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C6B7D"/>
              </a:buClr>
              <a:buSzPts val="1050"/>
              <a:buFont typeface="Calibri"/>
              <a:buNone/>
            </a:pPr>
            <a:r>
              <a:rPr b="0" i="0" lang="en-US" sz="1050" u="none" cap="none" strike="noStrike">
                <a:solidFill>
                  <a:srgbClr val="0C6B7D"/>
                </a:solidFill>
                <a:latin typeface="Calibri"/>
                <a:ea typeface="Calibri"/>
                <a:cs typeface="Calibri"/>
                <a:sym typeface="Calibri"/>
              </a:rPr>
              <a:t>Three metrics per service, and you can build the same dashboard for all of them. Start here.</a:t>
            </a:r>
            <a:endParaRPr b="0" i="0" sz="1050" u="none" cap="none" strike="noStrike">
              <a:solidFill>
                <a:schemeClr val="dk1"/>
              </a:solidFill>
              <a:latin typeface="Calibri"/>
              <a:ea typeface="Calibri"/>
              <a:cs typeface="Calibri"/>
              <a:sym typeface="Calibri"/>
            </a:endParaRPr>
          </a:p>
        </p:txBody>
      </p:sp>
      <p:sp>
        <p:nvSpPr>
          <p:cNvPr id="1049" name="Google Shape;1049;p27"/>
          <p:cNvSpPr/>
          <p:nvPr/>
        </p:nvSpPr>
        <p:spPr>
          <a:xfrm>
            <a:off x="4306824" y="1700784"/>
            <a:ext cx="3511296" cy="3200400"/>
          </a:xfrm>
          <a:prstGeom prst="roundRect">
            <a:avLst>
              <a:gd fmla="val 2571" name="adj"/>
            </a:avLst>
          </a:prstGeom>
          <a:solidFill>
            <a:srgbClr val="FFFFFF"/>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7"/>
          <p:cNvSpPr/>
          <p:nvPr/>
        </p:nvSpPr>
        <p:spPr>
          <a:xfrm>
            <a:off x="4306824" y="1700784"/>
            <a:ext cx="3511296" cy="841248"/>
          </a:xfrm>
          <a:prstGeom prst="roundRect">
            <a:avLst>
              <a:gd fmla="val 9783"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7"/>
          <p:cNvSpPr/>
          <p:nvPr/>
        </p:nvSpPr>
        <p:spPr>
          <a:xfrm>
            <a:off x="4544568" y="1755648"/>
            <a:ext cx="30175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900"/>
              <a:buFont typeface="Cambria"/>
              <a:buNone/>
            </a:pPr>
            <a:r>
              <a:rPr b="1" i="0" lang="en-US" sz="1900" u="none" cap="none" strike="noStrike">
                <a:solidFill>
                  <a:srgbClr val="5C3FA6"/>
                </a:solidFill>
                <a:latin typeface="Cambria"/>
                <a:ea typeface="Cambria"/>
                <a:cs typeface="Cambria"/>
                <a:sym typeface="Cambria"/>
              </a:rPr>
              <a:t>USE</a:t>
            </a:r>
            <a:endParaRPr b="0" i="0" sz="1900" u="none" cap="none" strike="noStrike">
              <a:solidFill>
                <a:schemeClr val="dk1"/>
              </a:solidFill>
              <a:latin typeface="Calibri"/>
              <a:ea typeface="Calibri"/>
              <a:cs typeface="Calibri"/>
              <a:sym typeface="Calibri"/>
            </a:endParaRPr>
          </a:p>
        </p:txBody>
      </p:sp>
      <p:sp>
        <p:nvSpPr>
          <p:cNvPr id="1052" name="Google Shape;1052;p27"/>
          <p:cNvSpPr/>
          <p:nvPr/>
        </p:nvSpPr>
        <p:spPr>
          <a:xfrm>
            <a:off x="4544568" y="2157984"/>
            <a:ext cx="3017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000"/>
              <a:buFont typeface="Calibri"/>
              <a:buNone/>
            </a:pPr>
            <a:r>
              <a:rPr b="0" i="1" lang="en-US" sz="1000" u="none" cap="none" strike="noStrike">
                <a:solidFill>
                  <a:srgbClr val="5C6B7A"/>
                </a:solidFill>
                <a:latin typeface="Calibri"/>
                <a:ea typeface="Calibri"/>
                <a:cs typeface="Calibri"/>
                <a:sym typeface="Calibri"/>
              </a:rPr>
              <a:t>For every resource: CPU, disk, pool, queue</a:t>
            </a:r>
            <a:endParaRPr b="0" i="0" sz="1000" u="none" cap="none" strike="noStrike">
              <a:solidFill>
                <a:schemeClr val="dk1"/>
              </a:solidFill>
              <a:latin typeface="Calibri"/>
              <a:ea typeface="Calibri"/>
              <a:cs typeface="Calibri"/>
              <a:sym typeface="Calibri"/>
            </a:endParaRPr>
          </a:p>
        </p:txBody>
      </p:sp>
      <p:sp>
        <p:nvSpPr>
          <p:cNvPr id="1053" name="Google Shape;1053;p27"/>
          <p:cNvSpPr/>
          <p:nvPr/>
        </p:nvSpPr>
        <p:spPr>
          <a:xfrm>
            <a:off x="4544568" y="2688336"/>
            <a:ext cx="3017520" cy="137160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Utilisation — how busy it is</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Saturation — how much work is queued and waiting</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Errors — how often it failed outright</a:t>
            </a:r>
            <a:endParaRPr b="0" i="0" sz="1150" u="none" cap="none" strike="noStrike">
              <a:solidFill>
                <a:schemeClr val="dk1"/>
              </a:solidFill>
              <a:latin typeface="Calibri"/>
              <a:ea typeface="Calibri"/>
              <a:cs typeface="Calibri"/>
              <a:sym typeface="Calibri"/>
            </a:endParaRPr>
          </a:p>
        </p:txBody>
      </p:sp>
      <p:sp>
        <p:nvSpPr>
          <p:cNvPr id="1054" name="Google Shape;1054;p27"/>
          <p:cNvSpPr/>
          <p:nvPr/>
        </p:nvSpPr>
        <p:spPr>
          <a:xfrm>
            <a:off x="4544568" y="4114800"/>
            <a:ext cx="3017520" cy="6766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3FA6"/>
              </a:buClr>
              <a:buSzPts val="1050"/>
              <a:buFont typeface="Calibri"/>
              <a:buNone/>
            </a:pPr>
            <a:r>
              <a:rPr b="0" i="0" lang="en-US" sz="1050" u="none" cap="none" strike="noStrike">
                <a:solidFill>
                  <a:srgbClr val="5C3FA6"/>
                </a:solidFill>
                <a:latin typeface="Calibri"/>
                <a:ea typeface="Calibri"/>
                <a:cs typeface="Calibri"/>
                <a:sym typeface="Calibri"/>
              </a:rPr>
              <a:t>Saturation is the one people forget, and it is the one that predicts the outage.</a:t>
            </a:r>
            <a:endParaRPr b="0" i="0" sz="1050" u="none" cap="none" strike="noStrike">
              <a:solidFill>
                <a:schemeClr val="dk1"/>
              </a:solidFill>
              <a:latin typeface="Calibri"/>
              <a:ea typeface="Calibri"/>
              <a:cs typeface="Calibri"/>
              <a:sym typeface="Calibri"/>
            </a:endParaRPr>
          </a:p>
        </p:txBody>
      </p:sp>
      <p:sp>
        <p:nvSpPr>
          <p:cNvPr id="1055" name="Google Shape;1055;p27"/>
          <p:cNvSpPr/>
          <p:nvPr/>
        </p:nvSpPr>
        <p:spPr>
          <a:xfrm>
            <a:off x="8046720" y="1700784"/>
            <a:ext cx="3511296" cy="3200400"/>
          </a:xfrm>
          <a:prstGeom prst="roundRect">
            <a:avLst>
              <a:gd fmla="val 2571" name="adj"/>
            </a:avLst>
          </a:prstGeom>
          <a:solidFill>
            <a:srgbClr val="FFFFFF"/>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7"/>
          <p:cNvSpPr/>
          <p:nvPr/>
        </p:nvSpPr>
        <p:spPr>
          <a:xfrm>
            <a:off x="8046720" y="1700784"/>
            <a:ext cx="3511296" cy="841248"/>
          </a:xfrm>
          <a:prstGeom prst="roundRect">
            <a:avLst>
              <a:gd fmla="val 9783"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7"/>
          <p:cNvSpPr/>
          <p:nvPr/>
        </p:nvSpPr>
        <p:spPr>
          <a:xfrm>
            <a:off x="8284464" y="1755648"/>
            <a:ext cx="301752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900"/>
              <a:buFont typeface="Cambria"/>
              <a:buNone/>
            </a:pPr>
            <a:r>
              <a:rPr b="1" i="0" lang="en-US" sz="1900" u="none" cap="none" strike="noStrike">
                <a:solidFill>
                  <a:srgbClr val="BE6415"/>
                </a:solidFill>
                <a:latin typeface="Cambria"/>
                <a:ea typeface="Cambria"/>
                <a:cs typeface="Cambria"/>
                <a:sym typeface="Cambria"/>
              </a:rPr>
              <a:t>Four Golden Signals</a:t>
            </a:r>
            <a:endParaRPr b="0" i="0" sz="1900" u="none" cap="none" strike="noStrike">
              <a:solidFill>
                <a:schemeClr val="dk1"/>
              </a:solidFill>
              <a:latin typeface="Calibri"/>
              <a:ea typeface="Calibri"/>
              <a:cs typeface="Calibri"/>
              <a:sym typeface="Calibri"/>
            </a:endParaRPr>
          </a:p>
        </p:txBody>
      </p:sp>
      <p:sp>
        <p:nvSpPr>
          <p:cNvPr id="1058" name="Google Shape;1058;p27"/>
          <p:cNvSpPr/>
          <p:nvPr/>
        </p:nvSpPr>
        <p:spPr>
          <a:xfrm>
            <a:off x="8284464" y="2157984"/>
            <a:ext cx="3017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000"/>
              <a:buFont typeface="Calibri"/>
              <a:buNone/>
            </a:pPr>
            <a:r>
              <a:rPr b="0" i="1" lang="en-US" sz="1000" u="none" cap="none" strike="noStrike">
                <a:solidFill>
                  <a:srgbClr val="5C6B7A"/>
                </a:solidFill>
                <a:latin typeface="Calibri"/>
                <a:ea typeface="Calibri"/>
                <a:cs typeface="Calibri"/>
                <a:sym typeface="Calibri"/>
              </a:rPr>
              <a:t>Google SRE's version. RED plus saturation.</a:t>
            </a:r>
            <a:endParaRPr b="0" i="0" sz="1000" u="none" cap="none" strike="noStrike">
              <a:solidFill>
                <a:schemeClr val="dk1"/>
              </a:solidFill>
              <a:latin typeface="Calibri"/>
              <a:ea typeface="Calibri"/>
              <a:cs typeface="Calibri"/>
              <a:sym typeface="Calibri"/>
            </a:endParaRPr>
          </a:p>
        </p:txBody>
      </p:sp>
      <p:sp>
        <p:nvSpPr>
          <p:cNvPr id="1059" name="Google Shape;1059;p27"/>
          <p:cNvSpPr/>
          <p:nvPr/>
        </p:nvSpPr>
        <p:spPr>
          <a:xfrm>
            <a:off x="8284464" y="2688336"/>
            <a:ext cx="3017520" cy="137160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Latency — split fast successes from fast failures</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Traffic — demand on the system</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Errors — explicit, implicit, and by policy</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Saturation — how full the tightest resource is</a:t>
            </a:r>
            <a:endParaRPr b="0" i="0" sz="1150" u="none" cap="none" strike="noStrike">
              <a:solidFill>
                <a:schemeClr val="dk1"/>
              </a:solidFill>
              <a:latin typeface="Calibri"/>
              <a:ea typeface="Calibri"/>
              <a:cs typeface="Calibri"/>
              <a:sym typeface="Calibri"/>
            </a:endParaRPr>
          </a:p>
        </p:txBody>
      </p:sp>
      <p:sp>
        <p:nvSpPr>
          <p:cNvPr id="1060" name="Google Shape;1060;p27"/>
          <p:cNvSpPr/>
          <p:nvPr/>
        </p:nvSpPr>
        <p:spPr>
          <a:xfrm>
            <a:off x="8284464" y="4114800"/>
            <a:ext cx="3017520" cy="6766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E6415"/>
              </a:buClr>
              <a:buSzPts val="1050"/>
              <a:buFont typeface="Calibri"/>
              <a:buNone/>
            </a:pPr>
            <a:r>
              <a:rPr b="0" i="0" lang="en-US" sz="1050" u="none" cap="none" strike="noStrike">
                <a:solidFill>
                  <a:srgbClr val="BE6415"/>
                </a:solidFill>
                <a:latin typeface="Calibri"/>
                <a:ea typeface="Calibri"/>
                <a:cs typeface="Calibri"/>
                <a:sym typeface="Calibri"/>
              </a:rPr>
              <a:t>The most widely quoted framework. If someone asks in an interview, this is the answer they want.</a:t>
            </a:r>
            <a:endParaRPr b="0" i="0" sz="1050" u="none" cap="none" strike="noStrike">
              <a:solidFill>
                <a:schemeClr val="dk1"/>
              </a:solidFill>
              <a:latin typeface="Calibri"/>
              <a:ea typeface="Calibri"/>
              <a:cs typeface="Calibri"/>
              <a:sym typeface="Calibri"/>
            </a:endParaRPr>
          </a:p>
        </p:txBody>
      </p:sp>
      <p:sp>
        <p:nvSpPr>
          <p:cNvPr id="1061" name="Google Shape;1061;p27"/>
          <p:cNvSpPr/>
          <p:nvPr/>
        </p:nvSpPr>
        <p:spPr>
          <a:xfrm>
            <a:off x="566928" y="5047488"/>
            <a:ext cx="11057839" cy="1225296"/>
          </a:xfrm>
          <a:prstGeom prst="roundRect">
            <a:avLst>
              <a:gd fmla="val 6716"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7"/>
          <p:cNvSpPr/>
          <p:nvPr/>
        </p:nvSpPr>
        <p:spPr>
          <a:xfrm>
            <a:off x="786384" y="5230368"/>
            <a:ext cx="292608" cy="29260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7"/>
          <p:cNvSpPr/>
          <p:nvPr/>
        </p:nvSpPr>
        <p:spPr>
          <a:xfrm>
            <a:off x="786384" y="5230368"/>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1064" name="Google Shape;1064;p27"/>
          <p:cNvSpPr/>
          <p:nvPr/>
        </p:nvSpPr>
        <p:spPr>
          <a:xfrm>
            <a:off x="1188720" y="5230368"/>
            <a:ext cx="10033711"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And then measure the business, not just the infrastructure</a:t>
            </a:r>
            <a:endParaRPr b="0" i="0" sz="1300" u="none" cap="none" strike="noStrike">
              <a:solidFill>
                <a:schemeClr val="dk1"/>
              </a:solidFill>
              <a:latin typeface="Calibri"/>
              <a:ea typeface="Calibri"/>
              <a:cs typeface="Calibri"/>
              <a:sym typeface="Calibri"/>
            </a:endParaRPr>
          </a:p>
        </p:txBody>
      </p:sp>
      <p:sp>
        <p:nvSpPr>
          <p:cNvPr id="1065" name="Google Shape;1065;p27"/>
          <p:cNvSpPr/>
          <p:nvPr/>
        </p:nvSpPr>
        <p:spPr>
          <a:xfrm>
            <a:off x="786384" y="5632704"/>
            <a:ext cx="10618927" cy="47548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orders_placed_total tells you more in one line than a wall of CPU graphs. When orders drop to zero, something is wrong — even if every technical metric is green, which is exactly the failure mode that infrastructure dashboards miss. Ask: what number would the person who pays for this system look at first?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0" name="Shape 1070"/>
        <p:cNvGrpSpPr/>
        <p:nvPr/>
      </p:nvGrpSpPr>
      <p:grpSpPr>
        <a:xfrm>
          <a:off x="0" y="0"/>
          <a:ext cx="0" cy="0"/>
          <a:chOff x="0" y="0"/>
          <a:chExt cx="0" cy="0"/>
        </a:xfrm>
      </p:grpSpPr>
      <p:sp>
        <p:nvSpPr>
          <p:cNvPr id="1071" name="Google Shape;1071;p28"/>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50"/>
              <a:buFont typeface="Calibri"/>
              <a:buNone/>
            </a:pPr>
            <a:r>
              <a:rPr b="1" i="0" lang="en-US" sz="1050" u="none" cap="none" strike="noStrike">
                <a:solidFill>
                  <a:srgbClr val="0C6B7D"/>
                </a:solidFill>
                <a:latin typeface="Calibri"/>
                <a:ea typeface="Calibri"/>
                <a:cs typeface="Calibri"/>
                <a:sym typeface="Calibri"/>
              </a:rPr>
              <a:t>READING THE NUMBERS HONESTLY</a:t>
            </a:r>
            <a:endParaRPr b="0" i="0" sz="1050" u="none" cap="none" strike="noStrike">
              <a:solidFill>
                <a:schemeClr val="dk1"/>
              </a:solidFill>
              <a:latin typeface="Calibri"/>
              <a:ea typeface="Calibri"/>
              <a:cs typeface="Calibri"/>
              <a:sym typeface="Calibri"/>
            </a:endParaRPr>
          </a:p>
        </p:txBody>
      </p:sp>
      <p:sp>
        <p:nvSpPr>
          <p:cNvPr id="1072" name="Google Shape;1072;p28"/>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The average is the number that hides the outage</a:t>
            </a:r>
            <a:endParaRPr b="0" i="0" sz="2900" u="none" cap="none" strike="noStrike">
              <a:solidFill>
                <a:schemeClr val="dk1"/>
              </a:solidFill>
              <a:latin typeface="Calibri"/>
              <a:ea typeface="Calibri"/>
              <a:cs typeface="Calibri"/>
              <a:sym typeface="Calibri"/>
            </a:endParaRPr>
          </a:p>
        </p:txBody>
      </p:sp>
      <p:sp>
        <p:nvSpPr>
          <p:cNvPr id="1073" name="Google Shape;1073;p28"/>
          <p:cNvSpPr/>
          <p:nvPr/>
        </p:nvSpPr>
        <p:spPr>
          <a:xfrm>
            <a:off x="10457993" y="402336"/>
            <a:ext cx="1166774" cy="329184"/>
          </a:xfrm>
          <a:prstGeom prst="roundRect">
            <a:avLst>
              <a:gd fmla="val 50000" name="adj"/>
            </a:avLst>
          </a:prstGeom>
          <a:solidFill>
            <a:srgbClr val="E2F0F3"/>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8"/>
          <p:cNvSpPr/>
          <p:nvPr/>
        </p:nvSpPr>
        <p:spPr>
          <a:xfrm>
            <a:off x="10631729" y="525780"/>
            <a:ext cx="91440" cy="9144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8"/>
          <p:cNvSpPr/>
          <p:nvPr/>
        </p:nvSpPr>
        <p:spPr>
          <a:xfrm>
            <a:off x="10768889" y="402336"/>
            <a:ext cx="76443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00"/>
              <a:buFont typeface="Calibri"/>
              <a:buNone/>
            </a:pPr>
            <a:r>
              <a:rPr b="1" i="0" lang="en-US" sz="1000" u="none" cap="none" strike="noStrike">
                <a:solidFill>
                  <a:srgbClr val="0C6B7D"/>
                </a:solidFill>
                <a:latin typeface="Calibri"/>
                <a:ea typeface="Calibri"/>
                <a:cs typeface="Calibri"/>
                <a:sym typeface="Calibri"/>
              </a:rPr>
              <a:t>Metrics</a:t>
            </a:r>
            <a:endParaRPr b="0" i="0" sz="1000" u="none" cap="none" strike="noStrike">
              <a:solidFill>
                <a:schemeClr val="dk1"/>
              </a:solidFill>
              <a:latin typeface="Calibri"/>
              <a:ea typeface="Calibri"/>
              <a:cs typeface="Calibri"/>
              <a:sym typeface="Calibri"/>
            </a:endParaRPr>
          </a:p>
        </p:txBody>
      </p:sp>
      <p:sp>
        <p:nvSpPr>
          <p:cNvPr id="1076" name="Google Shape;1076;p28"/>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077" name="Google Shape;1077;p28"/>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26</a:t>
            </a:r>
            <a:endParaRPr b="0" i="0" sz="900" u="none" cap="none" strike="noStrike">
              <a:solidFill>
                <a:schemeClr val="dk1"/>
              </a:solidFill>
              <a:latin typeface="Calibri"/>
              <a:ea typeface="Calibri"/>
              <a:cs typeface="Calibri"/>
              <a:sym typeface="Calibri"/>
            </a:endParaRPr>
          </a:p>
        </p:txBody>
      </p:sp>
      <p:pic>
        <p:nvPicPr>
          <p:cNvPr id="1078" name="Google Shape;1078;p28"/>
          <p:cNvPicPr preferRelativeResize="0"/>
          <p:nvPr/>
        </p:nvPicPr>
        <p:blipFill rotWithShape="1">
          <a:blip r:embed="rId3">
            <a:alphaModFix/>
          </a:blip>
          <a:srcRect b="0" l="0" r="0" t="0"/>
          <a:stretch/>
        </p:blipFill>
        <p:spPr>
          <a:xfrm>
            <a:off x="566928" y="1371600"/>
            <a:ext cx="6035040" cy="3383280"/>
          </a:xfrm>
          <a:prstGeom prst="rect">
            <a:avLst/>
          </a:prstGeom>
          <a:noFill/>
          <a:ln>
            <a:noFill/>
          </a:ln>
        </p:spPr>
      </p:pic>
      <p:sp>
        <p:nvSpPr>
          <p:cNvPr id="1079" name="Google Shape;1079;p28"/>
          <p:cNvSpPr/>
          <p:nvPr/>
        </p:nvSpPr>
        <p:spPr>
          <a:xfrm>
            <a:off x="6876288" y="1371600"/>
            <a:ext cx="4754880" cy="1572768"/>
          </a:xfrm>
          <a:prstGeom prst="roundRect">
            <a:avLst>
              <a:gd fmla="val 5233"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8"/>
          <p:cNvSpPr/>
          <p:nvPr/>
        </p:nvSpPr>
        <p:spPr>
          <a:xfrm>
            <a:off x="7095744" y="1554480"/>
            <a:ext cx="292608" cy="292608"/>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8"/>
          <p:cNvSpPr/>
          <p:nvPr/>
        </p:nvSpPr>
        <p:spPr>
          <a:xfrm>
            <a:off x="7095744" y="155448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1082" name="Google Shape;1082;p28"/>
          <p:cNvSpPr/>
          <p:nvPr/>
        </p:nvSpPr>
        <p:spPr>
          <a:xfrm>
            <a:off x="7498080" y="1554480"/>
            <a:ext cx="373075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“Average latency is 118ms”</a:t>
            </a:r>
            <a:endParaRPr b="0" i="0" sz="1300" u="none" cap="none" strike="noStrike">
              <a:solidFill>
                <a:schemeClr val="dk1"/>
              </a:solidFill>
              <a:latin typeface="Calibri"/>
              <a:ea typeface="Calibri"/>
              <a:cs typeface="Calibri"/>
              <a:sym typeface="Calibri"/>
            </a:endParaRPr>
          </a:p>
        </p:txBody>
      </p:sp>
      <p:sp>
        <p:nvSpPr>
          <p:cNvPr id="1083" name="Google Shape;1083;p28"/>
          <p:cNvSpPr/>
          <p:nvPr/>
        </p:nvSpPr>
        <p:spPr>
          <a:xfrm>
            <a:off x="7095744" y="1956816"/>
            <a:ext cx="4315968" cy="8229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True, and useless. It is one number describing a distribution with two humps in it: fast cache hits, and slow requests waiting on a pool. Nobody experiences 118ms.</a:t>
            </a:r>
            <a:endParaRPr b="0" i="0" sz="1150" u="none" cap="none" strike="noStrike">
              <a:solidFill>
                <a:schemeClr val="dk1"/>
              </a:solidFill>
              <a:latin typeface="Calibri"/>
              <a:ea typeface="Calibri"/>
              <a:cs typeface="Calibri"/>
              <a:sym typeface="Calibri"/>
            </a:endParaRPr>
          </a:p>
        </p:txBody>
      </p:sp>
      <p:sp>
        <p:nvSpPr>
          <p:cNvPr id="1084" name="Google Shape;1084;p28"/>
          <p:cNvSpPr/>
          <p:nvPr/>
        </p:nvSpPr>
        <p:spPr>
          <a:xfrm>
            <a:off x="6876288" y="3054096"/>
            <a:ext cx="4754880" cy="1700784"/>
          </a:xfrm>
          <a:prstGeom prst="roundRect">
            <a:avLst>
              <a:gd fmla="val 4839"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8"/>
          <p:cNvSpPr/>
          <p:nvPr/>
        </p:nvSpPr>
        <p:spPr>
          <a:xfrm>
            <a:off x="7095744" y="3236976"/>
            <a:ext cx="292608" cy="292608"/>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8"/>
          <p:cNvSpPr/>
          <p:nvPr/>
        </p:nvSpPr>
        <p:spPr>
          <a:xfrm>
            <a:off x="7095744" y="323697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1087" name="Google Shape;1087;p28"/>
          <p:cNvSpPr/>
          <p:nvPr/>
        </p:nvSpPr>
        <p:spPr>
          <a:xfrm>
            <a:off x="7498080" y="3236976"/>
            <a:ext cx="373075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“1 in 100 users waits 2.1 seconds”</a:t>
            </a:r>
            <a:endParaRPr b="0" i="0" sz="1300" u="none" cap="none" strike="noStrike">
              <a:solidFill>
                <a:schemeClr val="dk1"/>
              </a:solidFill>
              <a:latin typeface="Calibri"/>
              <a:ea typeface="Calibri"/>
              <a:cs typeface="Calibri"/>
              <a:sym typeface="Calibri"/>
            </a:endParaRPr>
          </a:p>
        </p:txBody>
      </p:sp>
      <p:sp>
        <p:nvSpPr>
          <p:cNvPr id="1088" name="Google Shape;1088;p28"/>
          <p:cNvSpPr/>
          <p:nvPr/>
        </p:nvSpPr>
        <p:spPr>
          <a:xfrm>
            <a:off x="7095744" y="3639312"/>
            <a:ext cx="4315968" cy="95097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Same data, actionable. At 4.2 million requests that is 42,000 people, and the ones hitting p99 are disproportionately your heaviest, most valuable users — more data, more work, slower path.</a:t>
            </a:r>
            <a:endParaRPr b="0" i="0" sz="1150" u="none" cap="none" strike="noStrike">
              <a:solidFill>
                <a:schemeClr val="dk1"/>
              </a:solidFill>
              <a:latin typeface="Calibri"/>
              <a:ea typeface="Calibri"/>
              <a:cs typeface="Calibri"/>
              <a:sym typeface="Calibri"/>
            </a:endParaRPr>
          </a:p>
        </p:txBody>
      </p:sp>
      <p:sp>
        <p:nvSpPr>
          <p:cNvPr id="1089" name="Google Shape;1089;p28"/>
          <p:cNvSpPr/>
          <p:nvPr/>
        </p:nvSpPr>
        <p:spPr>
          <a:xfrm>
            <a:off x="566928" y="4937760"/>
            <a:ext cx="11057839" cy="1353312"/>
          </a:xfrm>
          <a:prstGeom prst="roundRect">
            <a:avLst>
              <a:gd fmla="val 6081"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8"/>
          <p:cNvSpPr/>
          <p:nvPr/>
        </p:nvSpPr>
        <p:spPr>
          <a:xfrm>
            <a:off x="822960" y="5065776"/>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950"/>
              <a:buFont typeface="Calibri"/>
              <a:buNone/>
            </a:pPr>
            <a:r>
              <a:rPr b="1" i="0" lang="en-US" sz="950" u="none" cap="none" strike="noStrike">
                <a:solidFill>
                  <a:srgbClr val="0C6B7D"/>
                </a:solidFill>
                <a:latin typeface="Calibri"/>
                <a:ea typeface="Calibri"/>
                <a:cs typeface="Calibri"/>
                <a:sym typeface="Calibri"/>
              </a:rPr>
              <a:t>THREE RULES THAT FOLLOW</a:t>
            </a:r>
            <a:endParaRPr b="0" i="0" sz="950" u="none" cap="none" strike="noStrike">
              <a:solidFill>
                <a:schemeClr val="dk1"/>
              </a:solidFill>
              <a:latin typeface="Calibri"/>
              <a:ea typeface="Calibri"/>
              <a:cs typeface="Calibri"/>
              <a:sym typeface="Calibri"/>
            </a:endParaRPr>
          </a:p>
        </p:txBody>
      </p:sp>
      <p:sp>
        <p:nvSpPr>
          <p:cNvPr id="1091" name="Google Shape;1091;p28"/>
          <p:cNvSpPr/>
          <p:nvPr/>
        </p:nvSpPr>
        <p:spPr>
          <a:xfrm>
            <a:off x="822960" y="5340096"/>
            <a:ext cx="10515600" cy="91440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Alert on percentiles, never on averages — an average can stay flat through a total outage of 5% of traffic.</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3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You cannot average percentiles across instances. p95 of A and p95 of B is not p95 of A+B. Aggregate the buckets, then compute.</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3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Pick the percentile from the promise you made. A p99 target means one in a hundred is allowed to be bad — decide that on purpose.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6" name="Shape 1096"/>
        <p:cNvGrpSpPr/>
        <p:nvPr/>
      </p:nvGrpSpPr>
      <p:grpSpPr>
        <a:xfrm>
          <a:off x="0" y="0"/>
          <a:ext cx="0" cy="0"/>
          <a:chOff x="0" y="0"/>
          <a:chExt cx="0" cy="0"/>
        </a:xfrm>
      </p:grpSpPr>
      <p:sp>
        <p:nvSpPr>
          <p:cNvPr id="1097" name="Google Shape;1097;p29"/>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50"/>
              <a:buFont typeface="Calibri"/>
              <a:buNone/>
            </a:pPr>
            <a:r>
              <a:rPr b="1" i="0" lang="en-US" sz="1050" u="none" cap="none" strike="noStrike">
                <a:solidFill>
                  <a:srgbClr val="0C6B7D"/>
                </a:solidFill>
                <a:latin typeface="Calibri"/>
                <a:ea typeface="Calibri"/>
                <a:cs typeface="Calibri"/>
                <a:sym typeface="Calibri"/>
              </a:rPr>
              <a:t>THE MARKET</a:t>
            </a:r>
            <a:endParaRPr b="0" i="0" sz="1050" u="none" cap="none" strike="noStrike">
              <a:solidFill>
                <a:schemeClr val="dk1"/>
              </a:solidFill>
              <a:latin typeface="Calibri"/>
              <a:ea typeface="Calibri"/>
              <a:cs typeface="Calibri"/>
              <a:sym typeface="Calibri"/>
            </a:endParaRPr>
          </a:p>
        </p:txBody>
      </p:sp>
      <p:sp>
        <p:nvSpPr>
          <p:cNvPr id="1098" name="Google Shape;1098;p29"/>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Where you can put metrics</a:t>
            </a:r>
            <a:endParaRPr b="0" i="0" sz="2900" u="none" cap="none" strike="noStrike">
              <a:solidFill>
                <a:schemeClr val="dk1"/>
              </a:solidFill>
              <a:latin typeface="Calibri"/>
              <a:ea typeface="Calibri"/>
              <a:cs typeface="Calibri"/>
              <a:sym typeface="Calibri"/>
            </a:endParaRPr>
          </a:p>
        </p:txBody>
      </p:sp>
      <p:sp>
        <p:nvSpPr>
          <p:cNvPr id="1099" name="Google Shape;1099;p29"/>
          <p:cNvSpPr/>
          <p:nvPr/>
        </p:nvSpPr>
        <p:spPr>
          <a:xfrm>
            <a:off x="10457993" y="402336"/>
            <a:ext cx="1166774" cy="329184"/>
          </a:xfrm>
          <a:prstGeom prst="roundRect">
            <a:avLst>
              <a:gd fmla="val 50000" name="adj"/>
            </a:avLst>
          </a:prstGeom>
          <a:solidFill>
            <a:srgbClr val="E2F0F3"/>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9"/>
          <p:cNvSpPr/>
          <p:nvPr/>
        </p:nvSpPr>
        <p:spPr>
          <a:xfrm>
            <a:off x="10631729" y="525780"/>
            <a:ext cx="91440" cy="9144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9"/>
          <p:cNvSpPr/>
          <p:nvPr/>
        </p:nvSpPr>
        <p:spPr>
          <a:xfrm>
            <a:off x="10768889" y="402336"/>
            <a:ext cx="764438"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00"/>
              <a:buFont typeface="Calibri"/>
              <a:buNone/>
            </a:pPr>
            <a:r>
              <a:rPr b="1" i="0" lang="en-US" sz="1000" u="none" cap="none" strike="noStrike">
                <a:solidFill>
                  <a:srgbClr val="0C6B7D"/>
                </a:solidFill>
                <a:latin typeface="Calibri"/>
                <a:ea typeface="Calibri"/>
                <a:cs typeface="Calibri"/>
                <a:sym typeface="Calibri"/>
              </a:rPr>
              <a:t>Metrics</a:t>
            </a:r>
            <a:endParaRPr b="0" i="0" sz="1000" u="none" cap="none" strike="noStrike">
              <a:solidFill>
                <a:schemeClr val="dk1"/>
              </a:solidFill>
              <a:latin typeface="Calibri"/>
              <a:ea typeface="Calibri"/>
              <a:cs typeface="Calibri"/>
              <a:sym typeface="Calibri"/>
            </a:endParaRPr>
          </a:p>
        </p:txBody>
      </p:sp>
      <p:sp>
        <p:nvSpPr>
          <p:cNvPr id="1102" name="Google Shape;1102;p29"/>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103" name="Google Shape;1103;p29"/>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27</a:t>
            </a:r>
            <a:endParaRPr b="0" i="0" sz="900" u="none" cap="none" strike="noStrike">
              <a:solidFill>
                <a:schemeClr val="dk1"/>
              </a:solidFill>
              <a:latin typeface="Calibri"/>
              <a:ea typeface="Calibri"/>
              <a:cs typeface="Calibri"/>
              <a:sym typeface="Calibri"/>
            </a:endParaRPr>
          </a:p>
        </p:txBody>
      </p:sp>
      <p:sp>
        <p:nvSpPr>
          <p:cNvPr id="1104" name="Google Shape;1104;p29"/>
          <p:cNvSpPr/>
          <p:nvPr/>
        </p:nvSpPr>
        <p:spPr>
          <a:xfrm>
            <a:off x="566928" y="1234440"/>
            <a:ext cx="11057839" cy="365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300"/>
              <a:buFont typeface="Calibri"/>
              <a:buNone/>
            </a:pPr>
            <a:r>
              <a:rPr b="0" i="1" lang="en-US" sz="1300" u="none" cap="none" strike="noStrike">
                <a:solidFill>
                  <a:srgbClr val="5C6B7A"/>
                </a:solidFill>
                <a:latin typeface="Calibri"/>
                <a:ea typeface="Calibri"/>
                <a:cs typeface="Calibri"/>
                <a:sym typeface="Calibri"/>
              </a:rPr>
              <a:t>Same four buying models as logs. Note how many of these speak PromQL — that is not an accident, it is the moat Prometheus built.</a:t>
            </a:r>
            <a:endParaRPr b="0" i="0" sz="1300" u="none" cap="none" strike="noStrike">
              <a:solidFill>
                <a:schemeClr val="dk1"/>
              </a:solidFill>
              <a:latin typeface="Calibri"/>
              <a:ea typeface="Calibri"/>
              <a:cs typeface="Calibri"/>
              <a:sym typeface="Calibri"/>
            </a:endParaRPr>
          </a:p>
        </p:txBody>
      </p:sp>
      <p:sp>
        <p:nvSpPr>
          <p:cNvPr id="1105" name="Google Shape;1105;p29"/>
          <p:cNvSpPr/>
          <p:nvPr/>
        </p:nvSpPr>
        <p:spPr>
          <a:xfrm>
            <a:off x="566928" y="1700784"/>
            <a:ext cx="2615184" cy="4114800"/>
          </a:xfrm>
          <a:prstGeom prst="roundRect">
            <a:avLst>
              <a:gd fmla="val 3147"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9"/>
          <p:cNvSpPr/>
          <p:nvPr/>
        </p:nvSpPr>
        <p:spPr>
          <a:xfrm>
            <a:off x="566928" y="1700784"/>
            <a:ext cx="2615184" cy="786384"/>
          </a:xfrm>
          <a:prstGeom prst="roundRect">
            <a:avLst>
              <a:gd fmla="val 10465"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9"/>
          <p:cNvSpPr/>
          <p:nvPr/>
        </p:nvSpPr>
        <p:spPr>
          <a:xfrm>
            <a:off x="749808" y="1883664"/>
            <a:ext cx="182880" cy="18288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9"/>
          <p:cNvSpPr/>
          <p:nvPr/>
        </p:nvSpPr>
        <p:spPr>
          <a:xfrm>
            <a:off x="1024128" y="1773936"/>
            <a:ext cx="20482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Run it yourself</a:t>
            </a:r>
            <a:endParaRPr b="0" i="0" sz="1300" u="none" cap="none" strike="noStrike">
              <a:solidFill>
                <a:schemeClr val="dk1"/>
              </a:solidFill>
              <a:latin typeface="Calibri"/>
              <a:ea typeface="Calibri"/>
              <a:cs typeface="Calibri"/>
              <a:sym typeface="Calibri"/>
            </a:endParaRPr>
          </a:p>
        </p:txBody>
      </p:sp>
      <p:sp>
        <p:nvSpPr>
          <p:cNvPr id="1109" name="Google Shape;1109;p29"/>
          <p:cNvSpPr/>
          <p:nvPr/>
        </p:nvSpPr>
        <p:spPr>
          <a:xfrm>
            <a:off x="749808" y="213969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0" i="1" lang="en-US" sz="950" u="none" cap="none" strike="noStrike">
                <a:solidFill>
                  <a:srgbClr val="5C6B7A"/>
                </a:solidFill>
                <a:latin typeface="Calibri"/>
                <a:ea typeface="Calibri"/>
                <a:cs typeface="Calibri"/>
                <a:sym typeface="Calibri"/>
              </a:rPr>
              <a:t>Open source, your servers</a:t>
            </a:r>
            <a:endParaRPr b="0" i="0" sz="950" u="none" cap="none" strike="noStrike">
              <a:solidFill>
                <a:schemeClr val="dk1"/>
              </a:solidFill>
              <a:latin typeface="Calibri"/>
              <a:ea typeface="Calibri"/>
              <a:cs typeface="Calibri"/>
              <a:sym typeface="Calibri"/>
            </a:endParaRPr>
          </a:p>
        </p:txBody>
      </p:sp>
      <p:sp>
        <p:nvSpPr>
          <p:cNvPr id="1110" name="Google Shape;1110;p29"/>
          <p:cNvSpPr/>
          <p:nvPr/>
        </p:nvSpPr>
        <p:spPr>
          <a:xfrm>
            <a:off x="731520" y="2615184"/>
            <a:ext cx="911657"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9"/>
          <p:cNvSpPr/>
          <p:nvPr/>
        </p:nvSpPr>
        <p:spPr>
          <a:xfrm>
            <a:off x="731520" y="2615184"/>
            <a:ext cx="911657"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850"/>
              <a:buFont typeface="Calibri"/>
              <a:buNone/>
            </a:pPr>
            <a:r>
              <a:rPr b="1" i="0" lang="en-US" sz="850" u="none" cap="none" strike="noStrike">
                <a:solidFill>
                  <a:srgbClr val="0C6B7D"/>
                </a:solidFill>
                <a:latin typeface="Calibri"/>
                <a:ea typeface="Calibri"/>
                <a:cs typeface="Calibri"/>
                <a:sym typeface="Calibri"/>
              </a:rPr>
              <a:t>Prometheus</a:t>
            </a:r>
            <a:endParaRPr b="0" i="0" sz="850" u="none" cap="none" strike="noStrike">
              <a:solidFill>
                <a:schemeClr val="dk1"/>
              </a:solidFill>
              <a:latin typeface="Calibri"/>
              <a:ea typeface="Calibri"/>
              <a:cs typeface="Calibri"/>
              <a:sym typeface="Calibri"/>
            </a:endParaRPr>
          </a:p>
        </p:txBody>
      </p:sp>
      <p:sp>
        <p:nvSpPr>
          <p:cNvPr id="1112" name="Google Shape;1112;p29"/>
          <p:cNvSpPr/>
          <p:nvPr/>
        </p:nvSpPr>
        <p:spPr>
          <a:xfrm>
            <a:off x="1734617" y="2615184"/>
            <a:ext cx="1230325"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9"/>
          <p:cNvSpPr/>
          <p:nvPr/>
        </p:nvSpPr>
        <p:spPr>
          <a:xfrm>
            <a:off x="1734617" y="2615184"/>
            <a:ext cx="1230325"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850"/>
              <a:buFont typeface="Calibri"/>
              <a:buNone/>
            </a:pPr>
            <a:r>
              <a:rPr b="1" i="0" lang="en-US" sz="850" u="none" cap="none" strike="noStrike">
                <a:solidFill>
                  <a:srgbClr val="0C6B7D"/>
                </a:solidFill>
                <a:latin typeface="Calibri"/>
                <a:ea typeface="Calibri"/>
                <a:cs typeface="Calibri"/>
                <a:sym typeface="Calibri"/>
              </a:rPr>
              <a:t>VictoriaMetrics</a:t>
            </a:r>
            <a:endParaRPr b="0" i="0" sz="850" u="none" cap="none" strike="noStrike">
              <a:solidFill>
                <a:schemeClr val="dk1"/>
              </a:solidFill>
              <a:latin typeface="Calibri"/>
              <a:ea typeface="Calibri"/>
              <a:cs typeface="Calibri"/>
              <a:sym typeface="Calibri"/>
            </a:endParaRPr>
          </a:p>
        </p:txBody>
      </p:sp>
      <p:sp>
        <p:nvSpPr>
          <p:cNvPr id="1114" name="Google Shape;1114;p29"/>
          <p:cNvSpPr/>
          <p:nvPr/>
        </p:nvSpPr>
        <p:spPr>
          <a:xfrm>
            <a:off x="731520" y="2944368"/>
            <a:ext cx="1102858"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9"/>
          <p:cNvSpPr/>
          <p:nvPr/>
        </p:nvSpPr>
        <p:spPr>
          <a:xfrm>
            <a:off x="731520" y="2944368"/>
            <a:ext cx="110285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850"/>
              <a:buFont typeface="Calibri"/>
              <a:buNone/>
            </a:pPr>
            <a:r>
              <a:rPr b="1" i="0" lang="en-US" sz="850" u="none" cap="none" strike="noStrike">
                <a:solidFill>
                  <a:srgbClr val="0C6B7D"/>
                </a:solidFill>
                <a:latin typeface="Calibri"/>
                <a:ea typeface="Calibri"/>
                <a:cs typeface="Calibri"/>
                <a:sym typeface="Calibri"/>
              </a:rPr>
              <a:t>Grafana Mimir</a:t>
            </a:r>
            <a:endParaRPr b="0" i="0" sz="850" u="none" cap="none" strike="noStrike">
              <a:solidFill>
                <a:schemeClr val="dk1"/>
              </a:solidFill>
              <a:latin typeface="Calibri"/>
              <a:ea typeface="Calibri"/>
              <a:cs typeface="Calibri"/>
              <a:sym typeface="Calibri"/>
            </a:endParaRPr>
          </a:p>
        </p:txBody>
      </p:sp>
      <p:sp>
        <p:nvSpPr>
          <p:cNvPr id="1116" name="Google Shape;1116;p29"/>
          <p:cNvSpPr/>
          <p:nvPr/>
        </p:nvSpPr>
        <p:spPr>
          <a:xfrm>
            <a:off x="1925818" y="2944368"/>
            <a:ext cx="656722"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9"/>
          <p:cNvSpPr/>
          <p:nvPr/>
        </p:nvSpPr>
        <p:spPr>
          <a:xfrm>
            <a:off x="1925818" y="2944368"/>
            <a:ext cx="65672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850"/>
              <a:buFont typeface="Calibri"/>
              <a:buNone/>
            </a:pPr>
            <a:r>
              <a:rPr b="1" i="0" lang="en-US" sz="850" u="none" cap="none" strike="noStrike">
                <a:solidFill>
                  <a:srgbClr val="0C6B7D"/>
                </a:solidFill>
                <a:latin typeface="Calibri"/>
                <a:ea typeface="Calibri"/>
                <a:cs typeface="Calibri"/>
                <a:sym typeface="Calibri"/>
              </a:rPr>
              <a:t>Thanos</a:t>
            </a:r>
            <a:endParaRPr b="0" i="0" sz="850" u="none" cap="none" strike="noStrike">
              <a:solidFill>
                <a:schemeClr val="dk1"/>
              </a:solidFill>
              <a:latin typeface="Calibri"/>
              <a:ea typeface="Calibri"/>
              <a:cs typeface="Calibri"/>
              <a:sym typeface="Calibri"/>
            </a:endParaRPr>
          </a:p>
        </p:txBody>
      </p:sp>
      <p:sp>
        <p:nvSpPr>
          <p:cNvPr id="1118" name="Google Shape;1118;p29"/>
          <p:cNvSpPr/>
          <p:nvPr/>
        </p:nvSpPr>
        <p:spPr>
          <a:xfrm>
            <a:off x="731520" y="3273552"/>
            <a:ext cx="656722"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9"/>
          <p:cNvSpPr/>
          <p:nvPr/>
        </p:nvSpPr>
        <p:spPr>
          <a:xfrm>
            <a:off x="731520" y="3273552"/>
            <a:ext cx="65672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850"/>
              <a:buFont typeface="Calibri"/>
              <a:buNone/>
            </a:pPr>
            <a:r>
              <a:rPr b="1" i="0" lang="en-US" sz="850" u="none" cap="none" strike="noStrike">
                <a:solidFill>
                  <a:srgbClr val="0C6B7D"/>
                </a:solidFill>
                <a:latin typeface="Calibri"/>
                <a:ea typeface="Calibri"/>
                <a:cs typeface="Calibri"/>
                <a:sym typeface="Calibri"/>
              </a:rPr>
              <a:t>Cortex</a:t>
            </a:r>
            <a:endParaRPr b="0" i="0" sz="850" u="none" cap="none" strike="noStrike">
              <a:solidFill>
                <a:schemeClr val="dk1"/>
              </a:solidFill>
              <a:latin typeface="Calibri"/>
              <a:ea typeface="Calibri"/>
              <a:cs typeface="Calibri"/>
              <a:sym typeface="Calibri"/>
            </a:endParaRPr>
          </a:p>
        </p:txBody>
      </p:sp>
      <p:sp>
        <p:nvSpPr>
          <p:cNvPr id="1120" name="Google Shape;1120;p29"/>
          <p:cNvSpPr/>
          <p:nvPr/>
        </p:nvSpPr>
        <p:spPr>
          <a:xfrm>
            <a:off x="1479682" y="3273552"/>
            <a:ext cx="784189"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9"/>
          <p:cNvSpPr/>
          <p:nvPr/>
        </p:nvSpPr>
        <p:spPr>
          <a:xfrm>
            <a:off x="1479682" y="3273552"/>
            <a:ext cx="78418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850"/>
              <a:buFont typeface="Calibri"/>
              <a:buNone/>
            </a:pPr>
            <a:r>
              <a:rPr b="1" i="0" lang="en-US" sz="850" u="none" cap="none" strike="noStrike">
                <a:solidFill>
                  <a:srgbClr val="0C6B7D"/>
                </a:solidFill>
                <a:latin typeface="Calibri"/>
                <a:ea typeface="Calibri"/>
                <a:cs typeface="Calibri"/>
                <a:sym typeface="Calibri"/>
              </a:rPr>
              <a:t>InfluxDB</a:t>
            </a:r>
            <a:endParaRPr b="0" i="0" sz="850" u="none" cap="none" strike="noStrike">
              <a:solidFill>
                <a:schemeClr val="dk1"/>
              </a:solidFill>
              <a:latin typeface="Calibri"/>
              <a:ea typeface="Calibri"/>
              <a:cs typeface="Calibri"/>
              <a:sym typeface="Calibri"/>
            </a:endParaRPr>
          </a:p>
        </p:txBody>
      </p:sp>
      <p:sp>
        <p:nvSpPr>
          <p:cNvPr id="1122" name="Google Shape;1122;p29"/>
          <p:cNvSpPr/>
          <p:nvPr/>
        </p:nvSpPr>
        <p:spPr>
          <a:xfrm>
            <a:off x="731520" y="3602736"/>
            <a:ext cx="784189"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9"/>
          <p:cNvSpPr/>
          <p:nvPr/>
        </p:nvSpPr>
        <p:spPr>
          <a:xfrm>
            <a:off x="731520" y="3602736"/>
            <a:ext cx="78418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850"/>
              <a:buFont typeface="Calibri"/>
              <a:buNone/>
            </a:pPr>
            <a:r>
              <a:rPr b="1" i="0" lang="en-US" sz="850" u="none" cap="none" strike="noStrike">
                <a:solidFill>
                  <a:srgbClr val="0C6B7D"/>
                </a:solidFill>
                <a:latin typeface="Calibri"/>
                <a:ea typeface="Calibri"/>
                <a:cs typeface="Calibri"/>
                <a:sym typeface="Calibri"/>
              </a:rPr>
              <a:t>Graphite</a:t>
            </a:r>
            <a:endParaRPr b="0" i="0" sz="850" u="none" cap="none" strike="noStrike">
              <a:solidFill>
                <a:schemeClr val="dk1"/>
              </a:solidFill>
              <a:latin typeface="Calibri"/>
              <a:ea typeface="Calibri"/>
              <a:cs typeface="Calibri"/>
              <a:sym typeface="Calibri"/>
            </a:endParaRPr>
          </a:p>
        </p:txBody>
      </p:sp>
      <p:sp>
        <p:nvSpPr>
          <p:cNvPr id="1124" name="Google Shape;1124;p29"/>
          <p:cNvSpPr/>
          <p:nvPr/>
        </p:nvSpPr>
        <p:spPr>
          <a:xfrm>
            <a:off x="1607149" y="3602736"/>
            <a:ext cx="784189"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9"/>
          <p:cNvSpPr/>
          <p:nvPr/>
        </p:nvSpPr>
        <p:spPr>
          <a:xfrm>
            <a:off x="1607149" y="3602736"/>
            <a:ext cx="78418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850"/>
              <a:buFont typeface="Calibri"/>
              <a:buNone/>
            </a:pPr>
            <a:r>
              <a:rPr b="1" i="0" lang="en-US" sz="850" u="none" cap="none" strike="noStrike">
                <a:solidFill>
                  <a:srgbClr val="0C6B7D"/>
                </a:solidFill>
                <a:latin typeface="Calibri"/>
                <a:ea typeface="Calibri"/>
                <a:cs typeface="Calibri"/>
                <a:sym typeface="Calibri"/>
              </a:rPr>
              <a:t>OpenTSDB</a:t>
            </a:r>
            <a:endParaRPr b="0" i="0" sz="850" u="none" cap="none" strike="noStrike">
              <a:solidFill>
                <a:schemeClr val="dk1"/>
              </a:solidFill>
              <a:latin typeface="Calibri"/>
              <a:ea typeface="Calibri"/>
              <a:cs typeface="Calibri"/>
              <a:sym typeface="Calibri"/>
            </a:endParaRPr>
          </a:p>
        </p:txBody>
      </p:sp>
      <p:sp>
        <p:nvSpPr>
          <p:cNvPr id="1126" name="Google Shape;1126;p29"/>
          <p:cNvSpPr/>
          <p:nvPr/>
        </p:nvSpPr>
        <p:spPr>
          <a:xfrm>
            <a:off x="749808" y="4059936"/>
            <a:ext cx="2286000" cy="170078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Prometheus on one box is easy. Prometheus that is highly available and keeps two years of data is a project — that is what Mimir, Thanos and VictoriaMetrics are for.</a:t>
            </a:r>
            <a:endParaRPr b="0" i="0" sz="1000" u="none" cap="none" strike="noStrike">
              <a:solidFill>
                <a:schemeClr val="dk1"/>
              </a:solidFill>
              <a:latin typeface="Calibri"/>
              <a:ea typeface="Calibri"/>
              <a:cs typeface="Calibri"/>
              <a:sym typeface="Calibri"/>
            </a:endParaRPr>
          </a:p>
        </p:txBody>
      </p:sp>
      <p:sp>
        <p:nvSpPr>
          <p:cNvPr id="1127" name="Google Shape;1127;p29"/>
          <p:cNvSpPr/>
          <p:nvPr/>
        </p:nvSpPr>
        <p:spPr>
          <a:xfrm>
            <a:off x="3364992" y="1700784"/>
            <a:ext cx="2615184" cy="4114800"/>
          </a:xfrm>
          <a:prstGeom prst="roundRect">
            <a:avLst>
              <a:gd fmla="val 3147"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9"/>
          <p:cNvSpPr/>
          <p:nvPr/>
        </p:nvSpPr>
        <p:spPr>
          <a:xfrm>
            <a:off x="3364992" y="1700784"/>
            <a:ext cx="2615184" cy="786384"/>
          </a:xfrm>
          <a:prstGeom prst="roundRect">
            <a:avLst>
              <a:gd fmla="val 10465"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9"/>
          <p:cNvSpPr/>
          <p:nvPr/>
        </p:nvSpPr>
        <p:spPr>
          <a:xfrm>
            <a:off x="3547872" y="1883664"/>
            <a:ext cx="182880" cy="18288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9"/>
          <p:cNvSpPr/>
          <p:nvPr/>
        </p:nvSpPr>
        <p:spPr>
          <a:xfrm>
            <a:off x="3822192" y="1773936"/>
            <a:ext cx="20482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Managed open source</a:t>
            </a:r>
            <a:endParaRPr b="0" i="0" sz="1300" u="none" cap="none" strike="noStrike">
              <a:solidFill>
                <a:schemeClr val="dk1"/>
              </a:solidFill>
              <a:latin typeface="Calibri"/>
              <a:ea typeface="Calibri"/>
              <a:cs typeface="Calibri"/>
              <a:sym typeface="Calibri"/>
            </a:endParaRPr>
          </a:p>
        </p:txBody>
      </p:sp>
      <p:sp>
        <p:nvSpPr>
          <p:cNvPr id="1131" name="Google Shape;1131;p29"/>
          <p:cNvSpPr/>
          <p:nvPr/>
        </p:nvSpPr>
        <p:spPr>
          <a:xfrm>
            <a:off x="3547872" y="213969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0" i="1" lang="en-US" sz="950" u="none" cap="none" strike="noStrike">
                <a:solidFill>
                  <a:srgbClr val="5C6B7A"/>
                </a:solidFill>
                <a:latin typeface="Calibri"/>
                <a:ea typeface="Calibri"/>
                <a:cs typeface="Calibri"/>
                <a:sym typeface="Calibri"/>
              </a:rPr>
              <a:t>Prometheus-compatible, hosted</a:t>
            </a:r>
            <a:endParaRPr b="0" i="0" sz="950" u="none" cap="none" strike="noStrike">
              <a:solidFill>
                <a:schemeClr val="dk1"/>
              </a:solidFill>
              <a:latin typeface="Calibri"/>
              <a:ea typeface="Calibri"/>
              <a:cs typeface="Calibri"/>
              <a:sym typeface="Calibri"/>
            </a:endParaRPr>
          </a:p>
        </p:txBody>
      </p:sp>
      <p:sp>
        <p:nvSpPr>
          <p:cNvPr id="1132" name="Google Shape;1132;p29"/>
          <p:cNvSpPr/>
          <p:nvPr/>
        </p:nvSpPr>
        <p:spPr>
          <a:xfrm>
            <a:off x="3529584" y="2615184"/>
            <a:ext cx="1612727"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9"/>
          <p:cNvSpPr/>
          <p:nvPr/>
        </p:nvSpPr>
        <p:spPr>
          <a:xfrm>
            <a:off x="3529584" y="2615184"/>
            <a:ext cx="1612727"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Grafana Cloud Metrics</a:t>
            </a:r>
            <a:endParaRPr b="0" i="0" sz="850" u="none" cap="none" strike="noStrike">
              <a:solidFill>
                <a:schemeClr val="dk1"/>
              </a:solidFill>
              <a:latin typeface="Calibri"/>
              <a:ea typeface="Calibri"/>
              <a:cs typeface="Calibri"/>
              <a:sym typeface="Calibri"/>
            </a:endParaRPr>
          </a:p>
        </p:txBody>
      </p:sp>
      <p:sp>
        <p:nvSpPr>
          <p:cNvPr id="1134" name="Google Shape;1134;p29"/>
          <p:cNvSpPr/>
          <p:nvPr/>
        </p:nvSpPr>
        <p:spPr>
          <a:xfrm>
            <a:off x="3529584" y="2944368"/>
            <a:ext cx="1867662"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9"/>
          <p:cNvSpPr/>
          <p:nvPr/>
        </p:nvSpPr>
        <p:spPr>
          <a:xfrm>
            <a:off x="3529584" y="2944368"/>
            <a:ext cx="186766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Amazon Managed Prometheus</a:t>
            </a:r>
            <a:endParaRPr b="0" i="0" sz="850" u="none" cap="none" strike="noStrike">
              <a:solidFill>
                <a:schemeClr val="dk1"/>
              </a:solidFill>
              <a:latin typeface="Calibri"/>
              <a:ea typeface="Calibri"/>
              <a:cs typeface="Calibri"/>
              <a:sym typeface="Calibri"/>
            </a:endParaRPr>
          </a:p>
        </p:txBody>
      </p:sp>
      <p:sp>
        <p:nvSpPr>
          <p:cNvPr id="1136" name="Google Shape;1136;p29"/>
          <p:cNvSpPr/>
          <p:nvPr/>
        </p:nvSpPr>
        <p:spPr>
          <a:xfrm>
            <a:off x="3529584" y="3273552"/>
            <a:ext cx="2313798"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9"/>
          <p:cNvSpPr/>
          <p:nvPr/>
        </p:nvSpPr>
        <p:spPr>
          <a:xfrm>
            <a:off x="3529584" y="3273552"/>
            <a:ext cx="231379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Azure Monitor managed Prometheus</a:t>
            </a:r>
            <a:endParaRPr b="0" i="0" sz="850" u="none" cap="none" strike="noStrike">
              <a:solidFill>
                <a:schemeClr val="dk1"/>
              </a:solidFill>
              <a:latin typeface="Calibri"/>
              <a:ea typeface="Calibri"/>
              <a:cs typeface="Calibri"/>
              <a:sym typeface="Calibri"/>
            </a:endParaRPr>
          </a:p>
        </p:txBody>
      </p:sp>
      <p:sp>
        <p:nvSpPr>
          <p:cNvPr id="1138" name="Google Shape;1138;p29"/>
          <p:cNvSpPr/>
          <p:nvPr/>
        </p:nvSpPr>
        <p:spPr>
          <a:xfrm>
            <a:off x="3529584" y="3602736"/>
            <a:ext cx="1867662"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9"/>
          <p:cNvSpPr/>
          <p:nvPr/>
        </p:nvSpPr>
        <p:spPr>
          <a:xfrm>
            <a:off x="3529584" y="3602736"/>
            <a:ext cx="186766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Google Managed Prometheus</a:t>
            </a:r>
            <a:endParaRPr b="0" i="0" sz="850" u="none" cap="none" strike="noStrike">
              <a:solidFill>
                <a:schemeClr val="dk1"/>
              </a:solidFill>
              <a:latin typeface="Calibri"/>
              <a:ea typeface="Calibri"/>
              <a:cs typeface="Calibri"/>
              <a:sym typeface="Calibri"/>
            </a:endParaRPr>
          </a:p>
        </p:txBody>
      </p:sp>
      <p:sp>
        <p:nvSpPr>
          <p:cNvPr id="1140" name="Google Shape;1140;p29"/>
          <p:cNvSpPr/>
          <p:nvPr/>
        </p:nvSpPr>
        <p:spPr>
          <a:xfrm>
            <a:off x="3529584" y="3931920"/>
            <a:ext cx="1612727"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9"/>
          <p:cNvSpPr/>
          <p:nvPr/>
        </p:nvSpPr>
        <p:spPr>
          <a:xfrm>
            <a:off x="3529584" y="3931920"/>
            <a:ext cx="1612727"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VictoriaMetrics Cloud</a:t>
            </a:r>
            <a:endParaRPr b="0" i="0" sz="850" u="none" cap="none" strike="noStrike">
              <a:solidFill>
                <a:schemeClr val="dk1"/>
              </a:solidFill>
              <a:latin typeface="Calibri"/>
              <a:ea typeface="Calibri"/>
              <a:cs typeface="Calibri"/>
              <a:sym typeface="Calibri"/>
            </a:endParaRPr>
          </a:p>
        </p:txBody>
      </p:sp>
      <p:sp>
        <p:nvSpPr>
          <p:cNvPr id="1142" name="Google Shape;1142;p29"/>
          <p:cNvSpPr/>
          <p:nvPr/>
        </p:nvSpPr>
        <p:spPr>
          <a:xfrm>
            <a:off x="3547872" y="4389120"/>
            <a:ext cx="2286000" cy="13716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Your dashboards, alert rules and PromQL all move across unchanged. The lowest-regret migration in this entire deck.</a:t>
            </a:r>
            <a:endParaRPr b="0" i="0" sz="1000" u="none" cap="none" strike="noStrike">
              <a:solidFill>
                <a:schemeClr val="dk1"/>
              </a:solidFill>
              <a:latin typeface="Calibri"/>
              <a:ea typeface="Calibri"/>
              <a:cs typeface="Calibri"/>
              <a:sym typeface="Calibri"/>
            </a:endParaRPr>
          </a:p>
        </p:txBody>
      </p:sp>
      <p:sp>
        <p:nvSpPr>
          <p:cNvPr id="1143" name="Google Shape;1143;p29"/>
          <p:cNvSpPr/>
          <p:nvPr/>
        </p:nvSpPr>
        <p:spPr>
          <a:xfrm>
            <a:off x="6163056" y="1700784"/>
            <a:ext cx="2615184" cy="4114800"/>
          </a:xfrm>
          <a:prstGeom prst="roundRect">
            <a:avLst>
              <a:gd fmla="val 3147"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9"/>
          <p:cNvSpPr/>
          <p:nvPr/>
        </p:nvSpPr>
        <p:spPr>
          <a:xfrm>
            <a:off x="6163056" y="1700784"/>
            <a:ext cx="2615184" cy="786384"/>
          </a:xfrm>
          <a:prstGeom prst="roundRect">
            <a:avLst>
              <a:gd fmla="val 10465"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9"/>
          <p:cNvSpPr/>
          <p:nvPr/>
        </p:nvSpPr>
        <p:spPr>
          <a:xfrm>
            <a:off x="6345936" y="1883664"/>
            <a:ext cx="182880" cy="18288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9"/>
          <p:cNvSpPr/>
          <p:nvPr/>
        </p:nvSpPr>
        <p:spPr>
          <a:xfrm>
            <a:off x="6620256" y="1773936"/>
            <a:ext cx="20482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Full-platform SaaS</a:t>
            </a:r>
            <a:endParaRPr b="0" i="0" sz="1300" u="none" cap="none" strike="noStrike">
              <a:solidFill>
                <a:schemeClr val="dk1"/>
              </a:solidFill>
              <a:latin typeface="Calibri"/>
              <a:ea typeface="Calibri"/>
              <a:cs typeface="Calibri"/>
              <a:sym typeface="Calibri"/>
            </a:endParaRPr>
          </a:p>
        </p:txBody>
      </p:sp>
      <p:sp>
        <p:nvSpPr>
          <p:cNvPr id="1147" name="Google Shape;1147;p29"/>
          <p:cNvSpPr/>
          <p:nvPr/>
        </p:nvSpPr>
        <p:spPr>
          <a:xfrm>
            <a:off x="6345936" y="213969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0" i="1" lang="en-US" sz="950" u="none" cap="none" strike="noStrike">
                <a:solidFill>
                  <a:srgbClr val="5C6B7A"/>
                </a:solidFill>
                <a:latin typeface="Calibri"/>
                <a:ea typeface="Calibri"/>
                <a:cs typeface="Calibri"/>
                <a:sym typeface="Calibri"/>
              </a:rPr>
              <a:t>Metrics inside a bigger product</a:t>
            </a:r>
            <a:endParaRPr b="0" i="0" sz="950" u="none" cap="none" strike="noStrike">
              <a:solidFill>
                <a:schemeClr val="dk1"/>
              </a:solidFill>
              <a:latin typeface="Calibri"/>
              <a:ea typeface="Calibri"/>
              <a:cs typeface="Calibri"/>
              <a:sym typeface="Calibri"/>
            </a:endParaRPr>
          </a:p>
        </p:txBody>
      </p:sp>
      <p:sp>
        <p:nvSpPr>
          <p:cNvPr id="1148" name="Google Shape;1148;p29"/>
          <p:cNvSpPr/>
          <p:nvPr/>
        </p:nvSpPr>
        <p:spPr>
          <a:xfrm>
            <a:off x="6327648" y="2615184"/>
            <a:ext cx="720456"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9"/>
          <p:cNvSpPr/>
          <p:nvPr/>
        </p:nvSpPr>
        <p:spPr>
          <a:xfrm>
            <a:off x="6327648" y="2615184"/>
            <a:ext cx="72045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Datadog</a:t>
            </a:r>
            <a:endParaRPr b="0" i="0" sz="850" u="none" cap="none" strike="noStrike">
              <a:solidFill>
                <a:schemeClr val="dk1"/>
              </a:solidFill>
              <a:latin typeface="Calibri"/>
              <a:ea typeface="Calibri"/>
              <a:cs typeface="Calibri"/>
              <a:sym typeface="Calibri"/>
            </a:endParaRPr>
          </a:p>
        </p:txBody>
      </p:sp>
      <p:sp>
        <p:nvSpPr>
          <p:cNvPr id="1150" name="Google Shape;1150;p29"/>
          <p:cNvSpPr/>
          <p:nvPr/>
        </p:nvSpPr>
        <p:spPr>
          <a:xfrm>
            <a:off x="7139544" y="2615184"/>
            <a:ext cx="847923"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9"/>
          <p:cNvSpPr/>
          <p:nvPr/>
        </p:nvSpPr>
        <p:spPr>
          <a:xfrm>
            <a:off x="7139544" y="2615184"/>
            <a:ext cx="847923"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New Relic</a:t>
            </a:r>
            <a:endParaRPr b="0" i="0" sz="850" u="none" cap="none" strike="noStrike">
              <a:solidFill>
                <a:schemeClr val="dk1"/>
              </a:solidFill>
              <a:latin typeface="Calibri"/>
              <a:ea typeface="Calibri"/>
              <a:cs typeface="Calibri"/>
              <a:sym typeface="Calibri"/>
            </a:endParaRPr>
          </a:p>
        </p:txBody>
      </p:sp>
      <p:sp>
        <p:nvSpPr>
          <p:cNvPr id="1152" name="Google Shape;1152;p29"/>
          <p:cNvSpPr/>
          <p:nvPr/>
        </p:nvSpPr>
        <p:spPr>
          <a:xfrm>
            <a:off x="6327648" y="2944368"/>
            <a:ext cx="847923"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9"/>
          <p:cNvSpPr/>
          <p:nvPr/>
        </p:nvSpPr>
        <p:spPr>
          <a:xfrm>
            <a:off x="6327648" y="2944368"/>
            <a:ext cx="847923"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Dynatrace</a:t>
            </a:r>
            <a:endParaRPr b="0" i="0" sz="850" u="none" cap="none" strike="noStrike">
              <a:solidFill>
                <a:schemeClr val="dk1"/>
              </a:solidFill>
              <a:latin typeface="Calibri"/>
              <a:ea typeface="Calibri"/>
              <a:cs typeface="Calibri"/>
              <a:sym typeface="Calibri"/>
            </a:endParaRPr>
          </a:p>
        </p:txBody>
      </p:sp>
      <p:sp>
        <p:nvSpPr>
          <p:cNvPr id="1154" name="Google Shape;1154;p29"/>
          <p:cNvSpPr/>
          <p:nvPr/>
        </p:nvSpPr>
        <p:spPr>
          <a:xfrm>
            <a:off x="6327648" y="3273552"/>
            <a:ext cx="2058863"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9"/>
          <p:cNvSpPr/>
          <p:nvPr/>
        </p:nvSpPr>
        <p:spPr>
          <a:xfrm>
            <a:off x="6327648" y="3273552"/>
            <a:ext cx="2058863"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Splunk Observability (Cisco)</a:t>
            </a:r>
            <a:endParaRPr b="0" i="0" sz="850" u="none" cap="none" strike="noStrike">
              <a:solidFill>
                <a:schemeClr val="dk1"/>
              </a:solidFill>
              <a:latin typeface="Calibri"/>
              <a:ea typeface="Calibri"/>
              <a:cs typeface="Calibri"/>
              <a:sym typeface="Calibri"/>
            </a:endParaRPr>
          </a:p>
        </p:txBody>
      </p:sp>
      <p:sp>
        <p:nvSpPr>
          <p:cNvPr id="1156" name="Google Shape;1156;p29"/>
          <p:cNvSpPr/>
          <p:nvPr/>
        </p:nvSpPr>
        <p:spPr>
          <a:xfrm>
            <a:off x="6327648" y="3602736"/>
            <a:ext cx="1803928"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9"/>
          <p:cNvSpPr/>
          <p:nvPr/>
        </p:nvSpPr>
        <p:spPr>
          <a:xfrm>
            <a:off x="6327648" y="3602736"/>
            <a:ext cx="180392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Chronosphere (Palo Alto)</a:t>
            </a:r>
            <a:endParaRPr b="0" i="0" sz="850" u="none" cap="none" strike="noStrike">
              <a:solidFill>
                <a:schemeClr val="dk1"/>
              </a:solidFill>
              <a:latin typeface="Calibri"/>
              <a:ea typeface="Calibri"/>
              <a:cs typeface="Calibri"/>
              <a:sym typeface="Calibri"/>
            </a:endParaRPr>
          </a:p>
        </p:txBody>
      </p:sp>
      <p:sp>
        <p:nvSpPr>
          <p:cNvPr id="1158" name="Google Shape;1158;p29"/>
          <p:cNvSpPr/>
          <p:nvPr/>
        </p:nvSpPr>
        <p:spPr>
          <a:xfrm>
            <a:off x="6327648" y="3931920"/>
            <a:ext cx="911657"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9"/>
          <p:cNvSpPr/>
          <p:nvPr/>
        </p:nvSpPr>
        <p:spPr>
          <a:xfrm>
            <a:off x="6327648" y="3931920"/>
            <a:ext cx="911657"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Sumo Logic</a:t>
            </a:r>
            <a:endParaRPr b="0" i="0" sz="850" u="none" cap="none" strike="noStrike">
              <a:solidFill>
                <a:schemeClr val="dk1"/>
              </a:solidFill>
              <a:latin typeface="Calibri"/>
              <a:ea typeface="Calibri"/>
              <a:cs typeface="Calibri"/>
              <a:sym typeface="Calibri"/>
            </a:endParaRPr>
          </a:p>
        </p:txBody>
      </p:sp>
      <p:sp>
        <p:nvSpPr>
          <p:cNvPr id="1160" name="Google Shape;1160;p29"/>
          <p:cNvSpPr/>
          <p:nvPr/>
        </p:nvSpPr>
        <p:spPr>
          <a:xfrm>
            <a:off x="7330745" y="3931920"/>
            <a:ext cx="592988"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9"/>
          <p:cNvSpPr/>
          <p:nvPr/>
        </p:nvSpPr>
        <p:spPr>
          <a:xfrm>
            <a:off x="7330745" y="3931920"/>
            <a:ext cx="5929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Dash0</a:t>
            </a:r>
            <a:endParaRPr b="0" i="0" sz="850" u="none" cap="none" strike="noStrike">
              <a:solidFill>
                <a:schemeClr val="dk1"/>
              </a:solidFill>
              <a:latin typeface="Calibri"/>
              <a:ea typeface="Calibri"/>
              <a:cs typeface="Calibri"/>
              <a:sym typeface="Calibri"/>
            </a:endParaRPr>
          </a:p>
        </p:txBody>
      </p:sp>
      <p:sp>
        <p:nvSpPr>
          <p:cNvPr id="1162" name="Google Shape;1162;p29"/>
          <p:cNvSpPr/>
          <p:nvPr/>
        </p:nvSpPr>
        <p:spPr>
          <a:xfrm>
            <a:off x="8015173" y="3931920"/>
            <a:ext cx="592988"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9"/>
          <p:cNvSpPr/>
          <p:nvPr/>
        </p:nvSpPr>
        <p:spPr>
          <a:xfrm>
            <a:off x="8015173" y="3931920"/>
            <a:ext cx="5929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Last9</a:t>
            </a:r>
            <a:endParaRPr b="0" i="0" sz="850" u="none" cap="none" strike="noStrike">
              <a:solidFill>
                <a:schemeClr val="dk1"/>
              </a:solidFill>
              <a:latin typeface="Calibri"/>
              <a:ea typeface="Calibri"/>
              <a:cs typeface="Calibri"/>
              <a:sym typeface="Calibri"/>
            </a:endParaRPr>
          </a:p>
        </p:txBody>
      </p:sp>
      <p:sp>
        <p:nvSpPr>
          <p:cNvPr id="1164" name="Google Shape;1164;p29"/>
          <p:cNvSpPr/>
          <p:nvPr/>
        </p:nvSpPr>
        <p:spPr>
          <a:xfrm>
            <a:off x="6345936" y="4389120"/>
            <a:ext cx="2286000" cy="13716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Usually billed per host and per custom metric, which is where cardinality stops being an engineering concern and becomes a finance one.</a:t>
            </a:r>
            <a:endParaRPr b="0" i="0" sz="1000" u="none" cap="none" strike="noStrike">
              <a:solidFill>
                <a:schemeClr val="dk1"/>
              </a:solidFill>
              <a:latin typeface="Calibri"/>
              <a:ea typeface="Calibri"/>
              <a:cs typeface="Calibri"/>
              <a:sym typeface="Calibri"/>
            </a:endParaRPr>
          </a:p>
        </p:txBody>
      </p:sp>
      <p:sp>
        <p:nvSpPr>
          <p:cNvPr id="1165" name="Google Shape;1165;p29"/>
          <p:cNvSpPr/>
          <p:nvPr/>
        </p:nvSpPr>
        <p:spPr>
          <a:xfrm>
            <a:off x="8961120" y="1700784"/>
            <a:ext cx="2615184" cy="4114800"/>
          </a:xfrm>
          <a:prstGeom prst="roundRect">
            <a:avLst>
              <a:gd fmla="val 3147"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9"/>
          <p:cNvSpPr/>
          <p:nvPr/>
        </p:nvSpPr>
        <p:spPr>
          <a:xfrm>
            <a:off x="8961120" y="1700784"/>
            <a:ext cx="2615184" cy="786384"/>
          </a:xfrm>
          <a:prstGeom prst="roundRect">
            <a:avLst>
              <a:gd fmla="val 10465"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9"/>
          <p:cNvSpPr/>
          <p:nvPr/>
        </p:nvSpPr>
        <p:spPr>
          <a:xfrm>
            <a:off x="9144000" y="1883664"/>
            <a:ext cx="182880" cy="182880"/>
          </a:xfrm>
          <a:prstGeom prst="ellipse">
            <a:avLst/>
          </a:prstGeom>
          <a:solidFill>
            <a:srgbClr val="5C6B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9"/>
          <p:cNvSpPr/>
          <p:nvPr/>
        </p:nvSpPr>
        <p:spPr>
          <a:xfrm>
            <a:off x="9418320" y="1773936"/>
            <a:ext cx="20482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Your cloud provider</a:t>
            </a:r>
            <a:endParaRPr b="0" i="0" sz="1300" u="none" cap="none" strike="noStrike">
              <a:solidFill>
                <a:schemeClr val="dk1"/>
              </a:solidFill>
              <a:latin typeface="Calibri"/>
              <a:ea typeface="Calibri"/>
              <a:cs typeface="Calibri"/>
              <a:sym typeface="Calibri"/>
            </a:endParaRPr>
          </a:p>
        </p:txBody>
      </p:sp>
      <p:sp>
        <p:nvSpPr>
          <p:cNvPr id="1169" name="Google Shape;1169;p29"/>
          <p:cNvSpPr/>
          <p:nvPr/>
        </p:nvSpPr>
        <p:spPr>
          <a:xfrm>
            <a:off x="9144000" y="213969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0" i="1" lang="en-US" sz="950" u="none" cap="none" strike="noStrike">
                <a:solidFill>
                  <a:srgbClr val="5C6B7A"/>
                </a:solidFill>
                <a:latin typeface="Calibri"/>
                <a:ea typeface="Calibri"/>
                <a:cs typeface="Calibri"/>
                <a:sym typeface="Calibri"/>
              </a:rPr>
              <a:t>Already collecting, already charging</a:t>
            </a:r>
            <a:endParaRPr b="0" i="0" sz="950" u="none" cap="none" strike="noStrike">
              <a:solidFill>
                <a:schemeClr val="dk1"/>
              </a:solidFill>
              <a:latin typeface="Calibri"/>
              <a:ea typeface="Calibri"/>
              <a:cs typeface="Calibri"/>
              <a:sym typeface="Calibri"/>
            </a:endParaRPr>
          </a:p>
        </p:txBody>
      </p:sp>
      <p:sp>
        <p:nvSpPr>
          <p:cNvPr id="1170" name="Google Shape;1170;p29"/>
          <p:cNvSpPr/>
          <p:nvPr/>
        </p:nvSpPr>
        <p:spPr>
          <a:xfrm>
            <a:off x="9125712" y="2615184"/>
            <a:ext cx="1676461" cy="246888"/>
          </a:xfrm>
          <a:prstGeom prst="roundRect">
            <a:avLst>
              <a:gd fmla="val 50000" name="adj"/>
            </a:avLst>
          </a:prstGeom>
          <a:solidFill>
            <a:srgbClr val="FFFFFF"/>
          </a:solidFill>
          <a:ln cap="flat" cmpd="sng" w="9525">
            <a:solidFill>
              <a:srgbClr val="5C6B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9"/>
          <p:cNvSpPr/>
          <p:nvPr/>
        </p:nvSpPr>
        <p:spPr>
          <a:xfrm>
            <a:off x="9125712" y="2615184"/>
            <a:ext cx="1676461"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850"/>
              <a:buFont typeface="Calibri"/>
              <a:buNone/>
            </a:pPr>
            <a:r>
              <a:rPr b="1" i="0" lang="en-US" sz="850" u="none" cap="none" strike="noStrike">
                <a:solidFill>
                  <a:srgbClr val="5C6B7A"/>
                </a:solidFill>
                <a:latin typeface="Calibri"/>
                <a:ea typeface="Calibri"/>
                <a:cs typeface="Calibri"/>
                <a:sym typeface="Calibri"/>
              </a:rPr>
              <a:t>AWS CloudWatch Metrics</a:t>
            </a:r>
            <a:endParaRPr b="0" i="0" sz="850" u="none" cap="none" strike="noStrike">
              <a:solidFill>
                <a:schemeClr val="dk1"/>
              </a:solidFill>
              <a:latin typeface="Calibri"/>
              <a:ea typeface="Calibri"/>
              <a:cs typeface="Calibri"/>
              <a:sym typeface="Calibri"/>
            </a:endParaRPr>
          </a:p>
        </p:txBody>
      </p:sp>
      <p:sp>
        <p:nvSpPr>
          <p:cNvPr id="1172" name="Google Shape;1172;p29"/>
          <p:cNvSpPr/>
          <p:nvPr/>
        </p:nvSpPr>
        <p:spPr>
          <a:xfrm>
            <a:off x="9125712" y="2944368"/>
            <a:ext cx="1612727" cy="246888"/>
          </a:xfrm>
          <a:prstGeom prst="roundRect">
            <a:avLst>
              <a:gd fmla="val 50000" name="adj"/>
            </a:avLst>
          </a:prstGeom>
          <a:solidFill>
            <a:srgbClr val="FFFFFF"/>
          </a:solidFill>
          <a:ln cap="flat" cmpd="sng" w="9525">
            <a:solidFill>
              <a:srgbClr val="5C6B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9"/>
          <p:cNvSpPr/>
          <p:nvPr/>
        </p:nvSpPr>
        <p:spPr>
          <a:xfrm>
            <a:off x="9125712" y="2944368"/>
            <a:ext cx="1612727"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850"/>
              <a:buFont typeface="Calibri"/>
              <a:buNone/>
            </a:pPr>
            <a:r>
              <a:rPr b="1" i="0" lang="en-US" sz="850" u="none" cap="none" strike="noStrike">
                <a:solidFill>
                  <a:srgbClr val="5C6B7A"/>
                </a:solidFill>
                <a:latin typeface="Calibri"/>
                <a:ea typeface="Calibri"/>
                <a:cs typeface="Calibri"/>
                <a:sym typeface="Calibri"/>
              </a:rPr>
              <a:t>Azure Monitor Metrics</a:t>
            </a:r>
            <a:endParaRPr b="0" i="0" sz="850" u="none" cap="none" strike="noStrike">
              <a:solidFill>
                <a:schemeClr val="dk1"/>
              </a:solidFill>
              <a:latin typeface="Calibri"/>
              <a:ea typeface="Calibri"/>
              <a:cs typeface="Calibri"/>
              <a:sym typeface="Calibri"/>
            </a:endParaRPr>
          </a:p>
        </p:txBody>
      </p:sp>
      <p:sp>
        <p:nvSpPr>
          <p:cNvPr id="1174" name="Google Shape;1174;p29"/>
          <p:cNvSpPr/>
          <p:nvPr/>
        </p:nvSpPr>
        <p:spPr>
          <a:xfrm>
            <a:off x="9125712" y="3273552"/>
            <a:ext cx="1740195" cy="246888"/>
          </a:xfrm>
          <a:prstGeom prst="roundRect">
            <a:avLst>
              <a:gd fmla="val 50000" name="adj"/>
            </a:avLst>
          </a:prstGeom>
          <a:solidFill>
            <a:srgbClr val="FFFFFF"/>
          </a:solidFill>
          <a:ln cap="flat" cmpd="sng" w="9525">
            <a:solidFill>
              <a:srgbClr val="5C6B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9"/>
          <p:cNvSpPr/>
          <p:nvPr/>
        </p:nvSpPr>
        <p:spPr>
          <a:xfrm>
            <a:off x="9125712" y="3273552"/>
            <a:ext cx="1740195"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B7A"/>
              </a:buClr>
              <a:buSzPts val="850"/>
              <a:buFont typeface="Calibri"/>
              <a:buNone/>
            </a:pPr>
            <a:r>
              <a:rPr b="1" i="0" lang="en-US" sz="850" u="none" cap="none" strike="noStrike">
                <a:solidFill>
                  <a:srgbClr val="5C6B7A"/>
                </a:solidFill>
                <a:latin typeface="Calibri"/>
                <a:ea typeface="Calibri"/>
                <a:cs typeface="Calibri"/>
                <a:sym typeface="Calibri"/>
              </a:rPr>
              <a:t>Google Cloud Monitoring</a:t>
            </a:r>
            <a:endParaRPr b="0" i="0" sz="850" u="none" cap="none" strike="noStrike">
              <a:solidFill>
                <a:schemeClr val="dk1"/>
              </a:solidFill>
              <a:latin typeface="Calibri"/>
              <a:ea typeface="Calibri"/>
              <a:cs typeface="Calibri"/>
              <a:sym typeface="Calibri"/>
            </a:endParaRPr>
          </a:p>
        </p:txBody>
      </p:sp>
      <p:sp>
        <p:nvSpPr>
          <p:cNvPr id="1176" name="Google Shape;1176;p29"/>
          <p:cNvSpPr/>
          <p:nvPr/>
        </p:nvSpPr>
        <p:spPr>
          <a:xfrm>
            <a:off x="9144000" y="3730752"/>
            <a:ext cx="2286000" cy="2029968"/>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Unbeatable for the cloud's own resources — load balancers, queues, managed databases. Awkward and expensive for your application's own metrics.</a:t>
            </a:r>
            <a:endParaRPr b="0" i="0" sz="1000" u="none" cap="none" strike="noStrike">
              <a:solidFill>
                <a:schemeClr val="dk1"/>
              </a:solidFill>
              <a:latin typeface="Calibri"/>
              <a:ea typeface="Calibri"/>
              <a:cs typeface="Calibri"/>
              <a:sym typeface="Calibri"/>
            </a:endParaRPr>
          </a:p>
        </p:txBody>
      </p:sp>
      <p:sp>
        <p:nvSpPr>
          <p:cNvPr id="1177" name="Google Shape;1177;p29"/>
          <p:cNvSpPr/>
          <p:nvPr/>
        </p:nvSpPr>
        <p:spPr>
          <a:xfrm>
            <a:off x="566928" y="5925312"/>
            <a:ext cx="11057839" cy="457200"/>
          </a:xfrm>
          <a:prstGeom prst="roundRect">
            <a:avLst>
              <a:gd fmla="val 18000"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9"/>
          <p:cNvSpPr/>
          <p:nvPr/>
        </p:nvSpPr>
        <p:spPr>
          <a:xfrm>
            <a:off x="768096" y="6016752"/>
            <a:ext cx="274320" cy="27432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9"/>
          <p:cNvSpPr/>
          <p:nvPr/>
        </p:nvSpPr>
        <p:spPr>
          <a:xfrm>
            <a:off x="768096" y="601675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180" name="Google Shape;1180;p29"/>
          <p:cNvSpPr/>
          <p:nvPr/>
        </p:nvSpPr>
        <p:spPr>
          <a:xfrm>
            <a:off x="1170432" y="5925312"/>
            <a:ext cx="1023487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The transferable skill is PromQL and the metric type model. Almost every option above either speaks PromQL or has copied its data model.</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620"/>
        </a:solidFill>
      </p:bgPr>
    </p:bg>
    <p:spTree>
      <p:nvGrpSpPr>
        <p:cNvPr id="1185" name="Shape 1185"/>
        <p:cNvGrpSpPr/>
        <p:nvPr/>
      </p:nvGrpSpPr>
      <p:grpSpPr>
        <a:xfrm>
          <a:off x="0" y="0"/>
          <a:ext cx="0" cy="0"/>
          <a:chOff x="0" y="0"/>
          <a:chExt cx="0" cy="0"/>
        </a:xfrm>
      </p:grpSpPr>
      <p:sp>
        <p:nvSpPr>
          <p:cNvPr id="1186" name="Google Shape;1186;p30"/>
          <p:cNvSpPr/>
          <p:nvPr/>
        </p:nvSpPr>
        <p:spPr>
          <a:xfrm>
            <a:off x="8595360" y="1051560"/>
            <a:ext cx="3200400" cy="320040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0"/>
          <p:cNvSpPr/>
          <p:nvPr/>
        </p:nvSpPr>
        <p:spPr>
          <a:xfrm>
            <a:off x="9372600" y="1828800"/>
            <a:ext cx="1645920" cy="164592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0"/>
          <p:cNvSpPr/>
          <p:nvPr/>
        </p:nvSpPr>
        <p:spPr>
          <a:xfrm>
            <a:off x="9372600" y="1828800"/>
            <a:ext cx="1645920" cy="1645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03</a:t>
            </a:r>
            <a:endParaRPr b="0" i="0" sz="4400" u="none" cap="none" strike="noStrike">
              <a:solidFill>
                <a:schemeClr val="dk1"/>
              </a:solidFill>
              <a:latin typeface="Calibri"/>
              <a:ea typeface="Calibri"/>
              <a:cs typeface="Calibri"/>
              <a:sym typeface="Calibri"/>
            </a:endParaRPr>
          </a:p>
        </p:txBody>
      </p:sp>
      <p:sp>
        <p:nvSpPr>
          <p:cNvPr id="1189" name="Google Shape;1189;p30"/>
          <p:cNvSpPr/>
          <p:nvPr/>
        </p:nvSpPr>
        <p:spPr>
          <a:xfrm>
            <a:off x="566928" y="2057400"/>
            <a:ext cx="7498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150"/>
              <a:buFont typeface="Calibri"/>
              <a:buNone/>
            </a:pPr>
            <a:r>
              <a:rPr b="1" i="0" lang="en-US" sz="1150" u="none" cap="none" strike="noStrike">
                <a:solidFill>
                  <a:srgbClr val="5C3FA6"/>
                </a:solidFill>
                <a:latin typeface="Calibri"/>
                <a:ea typeface="Calibri"/>
                <a:cs typeface="Calibri"/>
                <a:sym typeface="Calibri"/>
              </a:rPr>
              <a:t>DAY 3</a:t>
            </a:r>
            <a:endParaRPr b="0" i="0" sz="1150" u="none" cap="none" strike="noStrike">
              <a:solidFill>
                <a:schemeClr val="dk1"/>
              </a:solidFill>
              <a:latin typeface="Calibri"/>
              <a:ea typeface="Calibri"/>
              <a:cs typeface="Calibri"/>
              <a:sym typeface="Calibri"/>
            </a:endParaRPr>
          </a:p>
        </p:txBody>
      </p:sp>
      <p:sp>
        <p:nvSpPr>
          <p:cNvPr id="1190" name="Google Shape;1190;p30"/>
          <p:cNvSpPr/>
          <p:nvPr/>
        </p:nvSpPr>
        <p:spPr>
          <a:xfrm>
            <a:off x="566928" y="2377440"/>
            <a:ext cx="74980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Traces</a:t>
            </a:r>
            <a:endParaRPr b="0" i="0" sz="4000" u="none" cap="none" strike="noStrike">
              <a:solidFill>
                <a:schemeClr val="dk1"/>
              </a:solidFill>
              <a:latin typeface="Calibri"/>
              <a:ea typeface="Calibri"/>
              <a:cs typeface="Calibri"/>
              <a:sym typeface="Calibri"/>
            </a:endParaRPr>
          </a:p>
        </p:txBody>
      </p:sp>
      <p:sp>
        <p:nvSpPr>
          <p:cNvPr id="1191" name="Google Shape;1191;p30"/>
          <p:cNvSpPr/>
          <p:nvPr/>
        </p:nvSpPr>
        <p:spPr>
          <a:xfrm>
            <a:off x="566928" y="3291840"/>
            <a:ext cx="7315200"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7C4"/>
              </a:buClr>
              <a:buSzPts val="1450"/>
              <a:buFont typeface="Calibri"/>
              <a:buNone/>
            </a:pPr>
            <a:r>
              <a:rPr b="0" i="0" lang="en-US" sz="1450" u="none" cap="none" strike="noStrike">
                <a:solidFill>
                  <a:srgbClr val="A9B7C4"/>
                </a:solidFill>
                <a:latin typeface="Calibri"/>
                <a:ea typeface="Calibri"/>
                <a:cs typeface="Calibri"/>
                <a:sym typeface="Calibri"/>
              </a:rPr>
              <a:t>One request, followed across every service it touched, with the timing of each hop and the causal order preserved.</a:t>
            </a:r>
            <a:endParaRPr b="0" i="0" sz="1450" u="none" cap="none" strike="noStrike">
              <a:solidFill>
                <a:schemeClr val="dk1"/>
              </a:solidFill>
              <a:latin typeface="Calibri"/>
              <a:ea typeface="Calibri"/>
              <a:cs typeface="Calibri"/>
              <a:sym typeface="Calibri"/>
            </a:endParaRPr>
          </a:p>
        </p:txBody>
      </p:sp>
      <p:sp>
        <p:nvSpPr>
          <p:cNvPr id="1192" name="Google Shape;1192;p30"/>
          <p:cNvSpPr/>
          <p:nvPr/>
        </p:nvSpPr>
        <p:spPr>
          <a:xfrm>
            <a:off x="566928" y="4343400"/>
            <a:ext cx="1297808"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0"/>
          <p:cNvSpPr/>
          <p:nvPr/>
        </p:nvSpPr>
        <p:spPr>
          <a:xfrm>
            <a:off x="566928" y="4343400"/>
            <a:ext cx="129780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1050"/>
              <a:buFont typeface="Calibri"/>
              <a:buNone/>
            </a:pPr>
            <a:r>
              <a:rPr b="1" i="0" lang="en-US" sz="1050" u="none" cap="none" strike="noStrike">
                <a:solidFill>
                  <a:srgbClr val="5C3FA6"/>
                </a:solidFill>
                <a:latin typeface="Calibri"/>
                <a:ea typeface="Calibri"/>
                <a:cs typeface="Calibri"/>
                <a:sym typeface="Calibri"/>
              </a:rPr>
              <a:t>OpenTelemetry</a:t>
            </a:r>
            <a:endParaRPr b="0" i="0" sz="1050" u="none" cap="none" strike="noStrike">
              <a:solidFill>
                <a:schemeClr val="dk1"/>
              </a:solidFill>
              <a:latin typeface="Calibri"/>
              <a:ea typeface="Calibri"/>
              <a:cs typeface="Calibri"/>
              <a:sym typeface="Calibri"/>
            </a:endParaRPr>
          </a:p>
        </p:txBody>
      </p:sp>
      <p:sp>
        <p:nvSpPr>
          <p:cNvPr id="1194" name="Google Shape;1194;p30"/>
          <p:cNvSpPr/>
          <p:nvPr/>
        </p:nvSpPr>
        <p:spPr>
          <a:xfrm>
            <a:off x="1956176" y="4343400"/>
            <a:ext cx="589239"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0"/>
          <p:cNvSpPr/>
          <p:nvPr/>
        </p:nvSpPr>
        <p:spPr>
          <a:xfrm>
            <a:off x="1956176" y="4343400"/>
            <a:ext cx="58923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1050"/>
              <a:buFont typeface="Calibri"/>
              <a:buNone/>
            </a:pPr>
            <a:r>
              <a:rPr b="1" i="0" lang="en-US" sz="1050" u="none" cap="none" strike="noStrike">
                <a:solidFill>
                  <a:srgbClr val="5C3FA6"/>
                </a:solidFill>
                <a:latin typeface="Calibri"/>
                <a:ea typeface="Calibri"/>
                <a:cs typeface="Calibri"/>
                <a:sym typeface="Calibri"/>
              </a:rPr>
              <a:t>OTLP</a:t>
            </a:r>
            <a:endParaRPr b="0" i="0" sz="1050" u="none" cap="none" strike="noStrike">
              <a:solidFill>
                <a:schemeClr val="dk1"/>
              </a:solidFill>
              <a:latin typeface="Calibri"/>
              <a:ea typeface="Calibri"/>
              <a:cs typeface="Calibri"/>
              <a:sym typeface="Calibri"/>
            </a:endParaRPr>
          </a:p>
        </p:txBody>
      </p:sp>
      <p:sp>
        <p:nvSpPr>
          <p:cNvPr id="1196" name="Google Shape;1196;p30"/>
          <p:cNvSpPr/>
          <p:nvPr/>
        </p:nvSpPr>
        <p:spPr>
          <a:xfrm>
            <a:off x="2636855" y="4343400"/>
            <a:ext cx="746699"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0"/>
          <p:cNvSpPr/>
          <p:nvPr/>
        </p:nvSpPr>
        <p:spPr>
          <a:xfrm>
            <a:off x="2636855" y="4343400"/>
            <a:ext cx="74669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1050"/>
              <a:buFont typeface="Calibri"/>
              <a:buNone/>
            </a:pPr>
            <a:r>
              <a:rPr b="1" i="0" lang="en-US" sz="1050" u="none" cap="none" strike="noStrike">
                <a:solidFill>
                  <a:srgbClr val="5C3FA6"/>
                </a:solidFill>
                <a:latin typeface="Calibri"/>
                <a:ea typeface="Calibri"/>
                <a:cs typeface="Calibri"/>
                <a:sym typeface="Calibri"/>
              </a:rPr>
              <a:t>Jaeger</a:t>
            </a:r>
            <a:endParaRPr b="0" i="0" sz="1050" u="none" cap="none" strike="noStrike">
              <a:solidFill>
                <a:schemeClr val="dk1"/>
              </a:solidFill>
              <a:latin typeface="Calibri"/>
              <a:ea typeface="Calibri"/>
              <a:cs typeface="Calibri"/>
              <a:sym typeface="Calibri"/>
            </a:endParaRPr>
          </a:p>
        </p:txBody>
      </p:sp>
      <p:sp>
        <p:nvSpPr>
          <p:cNvPr id="1198" name="Google Shape;1198;p30"/>
          <p:cNvSpPr/>
          <p:nvPr/>
        </p:nvSpPr>
        <p:spPr>
          <a:xfrm>
            <a:off x="3474994" y="4343400"/>
            <a:ext cx="1770187"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0"/>
          <p:cNvSpPr/>
          <p:nvPr/>
        </p:nvSpPr>
        <p:spPr>
          <a:xfrm>
            <a:off x="3474994" y="4343400"/>
            <a:ext cx="1770187"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1050"/>
              <a:buFont typeface="Calibri"/>
              <a:buNone/>
            </a:pPr>
            <a:r>
              <a:rPr b="1" i="0" lang="en-US" sz="1050" u="none" cap="none" strike="noStrike">
                <a:solidFill>
                  <a:srgbClr val="5C3FA6"/>
                </a:solidFill>
                <a:latin typeface="Calibri"/>
                <a:ea typeface="Calibri"/>
                <a:cs typeface="Calibri"/>
                <a:sym typeface="Calibri"/>
              </a:rPr>
              <a:t>Context propagation</a:t>
            </a:r>
            <a:endParaRPr b="0" i="0" sz="1050" u="none" cap="none" strike="noStrike">
              <a:solidFill>
                <a:schemeClr val="dk1"/>
              </a:solidFill>
              <a:latin typeface="Calibri"/>
              <a:ea typeface="Calibri"/>
              <a:cs typeface="Calibri"/>
              <a:sym typeface="Calibri"/>
            </a:endParaRPr>
          </a:p>
        </p:txBody>
      </p:sp>
      <p:sp>
        <p:nvSpPr>
          <p:cNvPr id="1200" name="Google Shape;1200;p30"/>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6B7A"/>
              </a:buClr>
              <a:buSzPts val="900"/>
              <a:buFont typeface="Calibri"/>
              <a:buNone/>
            </a:pPr>
            <a:r>
              <a:rPr b="0" i="0" lang="en-US" sz="900" u="none" cap="none" strike="noStrike">
                <a:solidFill>
                  <a:srgbClr val="5D6B7A"/>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201" name="Google Shape;1201;p30"/>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D6B7A"/>
              </a:buClr>
              <a:buSzPts val="900"/>
              <a:buFont typeface="Calibri"/>
              <a:buNone/>
            </a:pPr>
            <a:r>
              <a:rPr b="0" i="0" lang="en-US" sz="900" u="none" cap="none" strike="noStrike">
                <a:solidFill>
                  <a:srgbClr val="5D6B7A"/>
                </a:solidFill>
                <a:latin typeface="Calibri"/>
                <a:ea typeface="Calibri"/>
                <a:cs typeface="Calibri"/>
                <a:sym typeface="Calibri"/>
              </a:rPr>
              <a:t>28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6" name="Shape 1206"/>
        <p:cNvGrpSpPr/>
        <p:nvPr/>
      </p:nvGrpSpPr>
      <p:grpSpPr>
        <a:xfrm>
          <a:off x="0" y="0"/>
          <a:ext cx="0" cy="0"/>
          <a:chOff x="0" y="0"/>
          <a:chExt cx="0" cy="0"/>
        </a:xfrm>
      </p:grpSpPr>
      <p:sp>
        <p:nvSpPr>
          <p:cNvPr id="1207" name="Google Shape;1207;p31"/>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50"/>
              <a:buFont typeface="Calibri"/>
              <a:buNone/>
            </a:pPr>
            <a:r>
              <a:rPr b="1" i="0" lang="en-US" sz="1050" u="none" cap="none" strike="noStrike">
                <a:solidFill>
                  <a:srgbClr val="5C3FA6"/>
                </a:solidFill>
                <a:latin typeface="Calibri"/>
                <a:ea typeface="Calibri"/>
                <a:cs typeface="Calibri"/>
                <a:sym typeface="Calibri"/>
              </a:rPr>
              <a:t>THE GAP</a:t>
            </a:r>
            <a:endParaRPr b="0" i="0" sz="1050" u="none" cap="none" strike="noStrike">
              <a:solidFill>
                <a:schemeClr val="dk1"/>
              </a:solidFill>
              <a:latin typeface="Calibri"/>
              <a:ea typeface="Calibri"/>
              <a:cs typeface="Calibri"/>
              <a:sym typeface="Calibri"/>
            </a:endParaRPr>
          </a:p>
        </p:txBody>
      </p:sp>
      <p:sp>
        <p:nvSpPr>
          <p:cNvPr id="1208" name="Google Shape;1208;p31"/>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“p95 is 3 seconds.” Which of the nine hops?</a:t>
            </a:r>
            <a:endParaRPr b="0" i="0" sz="2900" u="none" cap="none" strike="noStrike">
              <a:solidFill>
                <a:schemeClr val="dk1"/>
              </a:solidFill>
              <a:latin typeface="Calibri"/>
              <a:ea typeface="Calibri"/>
              <a:cs typeface="Calibri"/>
              <a:sym typeface="Calibri"/>
            </a:endParaRPr>
          </a:p>
        </p:txBody>
      </p:sp>
      <p:sp>
        <p:nvSpPr>
          <p:cNvPr id="1209" name="Google Shape;1209;p31"/>
          <p:cNvSpPr/>
          <p:nvPr/>
        </p:nvSpPr>
        <p:spPr>
          <a:xfrm>
            <a:off x="10556748" y="402336"/>
            <a:ext cx="1068019" cy="329184"/>
          </a:xfrm>
          <a:prstGeom prst="roundRect">
            <a:avLst>
              <a:gd fmla="val 50000" name="adj"/>
            </a:avLst>
          </a:prstGeom>
          <a:solidFill>
            <a:srgbClr val="EDE8F8"/>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1"/>
          <p:cNvSpPr/>
          <p:nvPr/>
        </p:nvSpPr>
        <p:spPr>
          <a:xfrm>
            <a:off x="10730484" y="525780"/>
            <a:ext cx="91440" cy="9144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1"/>
          <p:cNvSpPr/>
          <p:nvPr/>
        </p:nvSpPr>
        <p:spPr>
          <a:xfrm>
            <a:off x="10867644" y="402336"/>
            <a:ext cx="66568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00"/>
              <a:buFont typeface="Calibri"/>
              <a:buNone/>
            </a:pPr>
            <a:r>
              <a:rPr b="1" i="0" lang="en-US" sz="1000" u="none" cap="none" strike="noStrike">
                <a:solidFill>
                  <a:srgbClr val="5C3FA6"/>
                </a:solidFill>
                <a:latin typeface="Calibri"/>
                <a:ea typeface="Calibri"/>
                <a:cs typeface="Calibri"/>
                <a:sym typeface="Calibri"/>
              </a:rPr>
              <a:t>Traces</a:t>
            </a:r>
            <a:endParaRPr b="0" i="0" sz="1000" u="none" cap="none" strike="noStrike">
              <a:solidFill>
                <a:schemeClr val="dk1"/>
              </a:solidFill>
              <a:latin typeface="Calibri"/>
              <a:ea typeface="Calibri"/>
              <a:cs typeface="Calibri"/>
              <a:sym typeface="Calibri"/>
            </a:endParaRPr>
          </a:p>
        </p:txBody>
      </p:sp>
      <p:sp>
        <p:nvSpPr>
          <p:cNvPr id="1212" name="Google Shape;1212;p31"/>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213" name="Google Shape;1213;p31"/>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29</a:t>
            </a:r>
            <a:endParaRPr b="0" i="0" sz="900" u="none" cap="none" strike="noStrike">
              <a:solidFill>
                <a:schemeClr val="dk1"/>
              </a:solidFill>
              <a:latin typeface="Calibri"/>
              <a:ea typeface="Calibri"/>
              <a:cs typeface="Calibri"/>
              <a:sym typeface="Calibri"/>
            </a:endParaRPr>
          </a:p>
        </p:txBody>
      </p:sp>
      <p:sp>
        <p:nvSpPr>
          <p:cNvPr id="1214" name="Google Shape;1214;p31"/>
          <p:cNvSpPr/>
          <p:nvPr/>
        </p:nvSpPr>
        <p:spPr>
          <a:xfrm>
            <a:off x="566928" y="1280160"/>
            <a:ext cx="11057839" cy="365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300"/>
              <a:buFont typeface="Calibri"/>
              <a:buNone/>
            </a:pPr>
            <a:r>
              <a:rPr b="0" i="1" lang="en-US" sz="1300" u="none" cap="none" strike="noStrike">
                <a:solidFill>
                  <a:srgbClr val="5C6B7A"/>
                </a:solidFill>
                <a:latin typeface="Calibri"/>
                <a:ea typeface="Calibri"/>
                <a:cs typeface="Calibri"/>
                <a:sym typeface="Calibri"/>
              </a:rPr>
              <a:t>Metrics told you the total. Logs told you each service's opinion of itself. Neither adds up to a request.</a:t>
            </a:r>
            <a:endParaRPr b="0" i="0" sz="1300" u="none" cap="none" strike="noStrike">
              <a:solidFill>
                <a:schemeClr val="dk1"/>
              </a:solidFill>
              <a:latin typeface="Calibri"/>
              <a:ea typeface="Calibri"/>
              <a:cs typeface="Calibri"/>
              <a:sym typeface="Calibri"/>
            </a:endParaRPr>
          </a:p>
        </p:txBody>
      </p:sp>
      <p:sp>
        <p:nvSpPr>
          <p:cNvPr id="1215" name="Google Shape;1215;p31"/>
          <p:cNvSpPr/>
          <p:nvPr/>
        </p:nvSpPr>
        <p:spPr>
          <a:xfrm>
            <a:off x="566928" y="1737360"/>
            <a:ext cx="3511296" cy="1737360"/>
          </a:xfrm>
          <a:prstGeom prst="roundRect">
            <a:avLst>
              <a:gd fmla="val 4737"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1"/>
          <p:cNvSpPr/>
          <p:nvPr/>
        </p:nvSpPr>
        <p:spPr>
          <a:xfrm>
            <a:off x="804672" y="1920240"/>
            <a:ext cx="274320" cy="27432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1"/>
          <p:cNvSpPr/>
          <p:nvPr/>
        </p:nvSpPr>
        <p:spPr>
          <a:xfrm>
            <a:off x="804672" y="19202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218" name="Google Shape;1218;p31"/>
          <p:cNvSpPr/>
          <p:nvPr/>
        </p:nvSpPr>
        <p:spPr>
          <a:xfrm>
            <a:off x="1188720" y="1920240"/>
            <a:ext cx="26883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Every service says it is fast</a:t>
            </a:r>
            <a:endParaRPr b="0" i="0" sz="1250" u="none" cap="none" strike="noStrike">
              <a:solidFill>
                <a:schemeClr val="dk1"/>
              </a:solidFill>
              <a:latin typeface="Calibri"/>
              <a:ea typeface="Calibri"/>
              <a:cs typeface="Calibri"/>
              <a:sym typeface="Calibri"/>
            </a:endParaRPr>
          </a:p>
        </p:txBody>
      </p:sp>
      <p:sp>
        <p:nvSpPr>
          <p:cNvPr id="1219" name="Google Shape;1219;p31"/>
          <p:cNvSpPr/>
          <p:nvPr/>
        </p:nvSpPr>
        <p:spPr>
          <a:xfrm>
            <a:off x="804672" y="2322576"/>
            <a:ext cx="3035808" cy="10972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Each one measures only its own work, not the time it spent waiting for someone else. All nine dashboards are green and the user waits three seconds.</a:t>
            </a:r>
            <a:endParaRPr b="0" i="0" sz="1100" u="none" cap="none" strike="noStrike">
              <a:solidFill>
                <a:schemeClr val="dk1"/>
              </a:solidFill>
              <a:latin typeface="Calibri"/>
              <a:ea typeface="Calibri"/>
              <a:cs typeface="Calibri"/>
              <a:sym typeface="Calibri"/>
            </a:endParaRPr>
          </a:p>
        </p:txBody>
      </p:sp>
      <p:sp>
        <p:nvSpPr>
          <p:cNvPr id="1220" name="Google Shape;1220;p31"/>
          <p:cNvSpPr/>
          <p:nvPr/>
        </p:nvSpPr>
        <p:spPr>
          <a:xfrm>
            <a:off x="4306824" y="1737360"/>
            <a:ext cx="3511296" cy="1737360"/>
          </a:xfrm>
          <a:prstGeom prst="roundRect">
            <a:avLst>
              <a:gd fmla="val 4737"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1"/>
          <p:cNvSpPr/>
          <p:nvPr/>
        </p:nvSpPr>
        <p:spPr>
          <a:xfrm>
            <a:off x="4544568" y="1920240"/>
            <a:ext cx="274320" cy="27432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1"/>
          <p:cNvSpPr/>
          <p:nvPr/>
        </p:nvSpPr>
        <p:spPr>
          <a:xfrm>
            <a:off x="4544568" y="19202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223" name="Google Shape;1223;p31"/>
          <p:cNvSpPr/>
          <p:nvPr/>
        </p:nvSpPr>
        <p:spPr>
          <a:xfrm>
            <a:off x="4928616" y="1920240"/>
            <a:ext cx="26883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Timestamps do not add up</a:t>
            </a:r>
            <a:endParaRPr b="0" i="0" sz="1250" u="none" cap="none" strike="noStrike">
              <a:solidFill>
                <a:schemeClr val="dk1"/>
              </a:solidFill>
              <a:latin typeface="Calibri"/>
              <a:ea typeface="Calibri"/>
              <a:cs typeface="Calibri"/>
              <a:sym typeface="Calibri"/>
            </a:endParaRPr>
          </a:p>
        </p:txBody>
      </p:sp>
      <p:sp>
        <p:nvSpPr>
          <p:cNvPr id="1224" name="Google Shape;1224;p31"/>
          <p:cNvSpPr/>
          <p:nvPr/>
        </p:nvSpPr>
        <p:spPr>
          <a:xfrm>
            <a:off x="4544568" y="2322576"/>
            <a:ext cx="3035808" cy="10972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Clocks drift between machines. Ordering log lines from three hosts by timestamp gives you a plausible story that is wrong.</a:t>
            </a:r>
            <a:endParaRPr b="0" i="0" sz="1100" u="none" cap="none" strike="noStrike">
              <a:solidFill>
                <a:schemeClr val="dk1"/>
              </a:solidFill>
              <a:latin typeface="Calibri"/>
              <a:ea typeface="Calibri"/>
              <a:cs typeface="Calibri"/>
              <a:sym typeface="Calibri"/>
            </a:endParaRPr>
          </a:p>
        </p:txBody>
      </p:sp>
      <p:sp>
        <p:nvSpPr>
          <p:cNvPr id="1225" name="Google Shape;1225;p31"/>
          <p:cNvSpPr/>
          <p:nvPr/>
        </p:nvSpPr>
        <p:spPr>
          <a:xfrm>
            <a:off x="8046720" y="1737360"/>
            <a:ext cx="3511296" cy="1737360"/>
          </a:xfrm>
          <a:prstGeom prst="roundRect">
            <a:avLst>
              <a:gd fmla="val 4737"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1"/>
          <p:cNvSpPr/>
          <p:nvPr/>
        </p:nvSpPr>
        <p:spPr>
          <a:xfrm>
            <a:off x="8284464" y="1920240"/>
            <a:ext cx="274320" cy="27432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1"/>
          <p:cNvSpPr/>
          <p:nvPr/>
        </p:nvSpPr>
        <p:spPr>
          <a:xfrm>
            <a:off x="8284464" y="192024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228" name="Google Shape;1228;p31"/>
          <p:cNvSpPr/>
          <p:nvPr/>
        </p:nvSpPr>
        <p:spPr>
          <a:xfrm>
            <a:off x="8668512" y="1920240"/>
            <a:ext cx="268833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Fan-out is invisible</a:t>
            </a:r>
            <a:endParaRPr b="0" i="0" sz="1250" u="none" cap="none" strike="noStrike">
              <a:solidFill>
                <a:schemeClr val="dk1"/>
              </a:solidFill>
              <a:latin typeface="Calibri"/>
              <a:ea typeface="Calibri"/>
              <a:cs typeface="Calibri"/>
              <a:sym typeface="Calibri"/>
            </a:endParaRPr>
          </a:p>
        </p:txBody>
      </p:sp>
      <p:sp>
        <p:nvSpPr>
          <p:cNvPr id="1229" name="Google Shape;1229;p31"/>
          <p:cNvSpPr/>
          <p:nvPr/>
        </p:nvSpPr>
        <p:spPr>
          <a:xfrm>
            <a:off x="8284464" y="2322576"/>
            <a:ext cx="3035808" cy="10972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One request became forty calls. The metric shows forty fast calls. It cannot show that they were all for one user, in series.</a:t>
            </a:r>
            <a:endParaRPr b="0" i="0" sz="1100" u="none" cap="none" strike="noStrike">
              <a:solidFill>
                <a:schemeClr val="dk1"/>
              </a:solidFill>
              <a:latin typeface="Calibri"/>
              <a:ea typeface="Calibri"/>
              <a:cs typeface="Calibri"/>
              <a:sym typeface="Calibri"/>
            </a:endParaRPr>
          </a:p>
        </p:txBody>
      </p:sp>
      <p:sp>
        <p:nvSpPr>
          <p:cNvPr id="1230" name="Google Shape;1230;p31"/>
          <p:cNvSpPr/>
          <p:nvPr/>
        </p:nvSpPr>
        <p:spPr>
          <a:xfrm>
            <a:off x="566928" y="3657600"/>
            <a:ext cx="11057839" cy="2084832"/>
          </a:xfrm>
          <a:prstGeom prst="roundRect">
            <a:avLst>
              <a:gd fmla="val 3947"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1"/>
          <p:cNvSpPr/>
          <p:nvPr/>
        </p:nvSpPr>
        <p:spPr>
          <a:xfrm>
            <a:off x="822960" y="3803904"/>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950"/>
              <a:buFont typeface="Calibri"/>
              <a:buNone/>
            </a:pPr>
            <a:r>
              <a:rPr b="1" i="0" lang="en-US" sz="950" u="none" cap="none" strike="noStrike">
                <a:solidFill>
                  <a:srgbClr val="5C3FA6"/>
                </a:solidFill>
                <a:latin typeface="Calibri"/>
                <a:ea typeface="Calibri"/>
                <a:cs typeface="Calibri"/>
                <a:sym typeface="Calibri"/>
              </a:rPr>
              <a:t>WHAT A TRACE ADDS</a:t>
            </a:r>
            <a:endParaRPr b="0" i="0" sz="950" u="none" cap="none" strike="noStrike">
              <a:solidFill>
                <a:schemeClr val="dk1"/>
              </a:solidFill>
              <a:latin typeface="Calibri"/>
              <a:ea typeface="Calibri"/>
              <a:cs typeface="Calibri"/>
              <a:sym typeface="Calibri"/>
            </a:endParaRPr>
          </a:p>
        </p:txBody>
      </p:sp>
      <p:sp>
        <p:nvSpPr>
          <p:cNvPr id="1232" name="Google Shape;1232;p31"/>
          <p:cNvSpPr/>
          <p:nvPr/>
        </p:nvSpPr>
        <p:spPr>
          <a:xfrm>
            <a:off x="822960" y="4078224"/>
            <a:ext cx="10424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900"/>
              <a:buFont typeface="Cambria"/>
              <a:buNone/>
            </a:pPr>
            <a:r>
              <a:rPr b="1" i="0" lang="en-US" sz="1900" u="none" cap="none" strike="noStrike">
                <a:solidFill>
                  <a:srgbClr val="16202C"/>
                </a:solidFill>
                <a:latin typeface="Cambria"/>
                <a:ea typeface="Cambria"/>
                <a:cs typeface="Cambria"/>
                <a:sym typeface="Cambria"/>
              </a:rPr>
              <a:t>Causality and duration, for one request, across every process</a:t>
            </a:r>
            <a:endParaRPr b="0" i="0" sz="1900" u="none" cap="none" strike="noStrike">
              <a:solidFill>
                <a:schemeClr val="dk1"/>
              </a:solidFill>
              <a:latin typeface="Calibri"/>
              <a:ea typeface="Calibri"/>
              <a:cs typeface="Calibri"/>
              <a:sym typeface="Calibri"/>
            </a:endParaRPr>
          </a:p>
        </p:txBody>
      </p:sp>
      <p:sp>
        <p:nvSpPr>
          <p:cNvPr id="1233" name="Google Shape;1233;p31"/>
          <p:cNvSpPr/>
          <p:nvPr/>
        </p:nvSpPr>
        <p:spPr>
          <a:xfrm>
            <a:off x="822960" y="4572000"/>
            <a:ext cx="10058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C3FA6"/>
              </a:buClr>
              <a:buSzPts val="1100"/>
              <a:buFont typeface="Calibri"/>
              <a:buNone/>
            </a:pPr>
            <a:r>
              <a:rPr b="1" i="0" lang="en-US" sz="1100" u="none" cap="none" strike="noStrike">
                <a:solidFill>
                  <a:srgbClr val="5C3FA6"/>
                </a:solidFill>
                <a:latin typeface="Calibri"/>
                <a:ea typeface="Calibri"/>
                <a:cs typeface="Calibri"/>
                <a:sym typeface="Calibri"/>
              </a:rPr>
              <a:t>Order</a:t>
            </a:r>
            <a:endParaRPr b="0" i="0" sz="1100" u="none" cap="none" strike="noStrike">
              <a:solidFill>
                <a:schemeClr val="dk1"/>
              </a:solidFill>
              <a:latin typeface="Calibri"/>
              <a:ea typeface="Calibri"/>
              <a:cs typeface="Calibri"/>
              <a:sym typeface="Calibri"/>
            </a:endParaRPr>
          </a:p>
        </p:txBody>
      </p:sp>
      <p:sp>
        <p:nvSpPr>
          <p:cNvPr id="1234" name="Google Shape;1234;p31"/>
          <p:cNvSpPr/>
          <p:nvPr/>
        </p:nvSpPr>
        <p:spPr>
          <a:xfrm>
            <a:off x="1865376" y="4572000"/>
            <a:ext cx="411480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What called what, in what sequence — from the code, not from clocks.</a:t>
            </a:r>
            <a:endParaRPr b="0" i="0" sz="1100" u="none" cap="none" strike="noStrike">
              <a:solidFill>
                <a:schemeClr val="dk1"/>
              </a:solidFill>
              <a:latin typeface="Calibri"/>
              <a:ea typeface="Calibri"/>
              <a:cs typeface="Calibri"/>
              <a:sym typeface="Calibri"/>
            </a:endParaRPr>
          </a:p>
        </p:txBody>
      </p:sp>
      <p:sp>
        <p:nvSpPr>
          <p:cNvPr id="1235" name="Google Shape;1235;p31"/>
          <p:cNvSpPr/>
          <p:nvPr/>
        </p:nvSpPr>
        <p:spPr>
          <a:xfrm>
            <a:off x="6172200" y="4572000"/>
            <a:ext cx="10058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C3FA6"/>
              </a:buClr>
              <a:buSzPts val="1100"/>
              <a:buFont typeface="Calibri"/>
              <a:buNone/>
            </a:pPr>
            <a:r>
              <a:rPr b="1" i="0" lang="en-US" sz="1100" u="none" cap="none" strike="noStrike">
                <a:solidFill>
                  <a:srgbClr val="5C3FA6"/>
                </a:solidFill>
                <a:latin typeface="Calibri"/>
                <a:ea typeface="Calibri"/>
                <a:cs typeface="Calibri"/>
                <a:sym typeface="Calibri"/>
              </a:rPr>
              <a:t>Duration</a:t>
            </a:r>
            <a:endParaRPr b="0" i="0" sz="1100" u="none" cap="none" strike="noStrike">
              <a:solidFill>
                <a:schemeClr val="dk1"/>
              </a:solidFill>
              <a:latin typeface="Calibri"/>
              <a:ea typeface="Calibri"/>
              <a:cs typeface="Calibri"/>
              <a:sym typeface="Calibri"/>
            </a:endParaRPr>
          </a:p>
        </p:txBody>
      </p:sp>
      <p:sp>
        <p:nvSpPr>
          <p:cNvPr id="1236" name="Google Shape;1236;p31"/>
          <p:cNvSpPr/>
          <p:nvPr/>
        </p:nvSpPr>
        <p:spPr>
          <a:xfrm>
            <a:off x="7214616" y="4572000"/>
            <a:ext cx="411480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How long each hop took, and how much of it was waiting on a child.</a:t>
            </a:r>
            <a:endParaRPr b="0" i="0" sz="1100" u="none" cap="none" strike="noStrike">
              <a:solidFill>
                <a:schemeClr val="dk1"/>
              </a:solidFill>
              <a:latin typeface="Calibri"/>
              <a:ea typeface="Calibri"/>
              <a:cs typeface="Calibri"/>
              <a:sym typeface="Calibri"/>
            </a:endParaRPr>
          </a:p>
        </p:txBody>
      </p:sp>
      <p:sp>
        <p:nvSpPr>
          <p:cNvPr id="1237" name="Google Shape;1237;p31"/>
          <p:cNvSpPr/>
          <p:nvPr/>
        </p:nvSpPr>
        <p:spPr>
          <a:xfrm>
            <a:off x="822960" y="5138928"/>
            <a:ext cx="10058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C3FA6"/>
              </a:buClr>
              <a:buSzPts val="1100"/>
              <a:buFont typeface="Calibri"/>
              <a:buNone/>
            </a:pPr>
            <a:r>
              <a:rPr b="1" i="0" lang="en-US" sz="1100" u="none" cap="none" strike="noStrike">
                <a:solidFill>
                  <a:srgbClr val="5C3FA6"/>
                </a:solidFill>
                <a:latin typeface="Calibri"/>
                <a:ea typeface="Calibri"/>
                <a:cs typeface="Calibri"/>
                <a:sym typeface="Calibri"/>
              </a:rPr>
              <a:t>Structure</a:t>
            </a:r>
            <a:endParaRPr b="0" i="0" sz="1100" u="none" cap="none" strike="noStrike">
              <a:solidFill>
                <a:schemeClr val="dk1"/>
              </a:solidFill>
              <a:latin typeface="Calibri"/>
              <a:ea typeface="Calibri"/>
              <a:cs typeface="Calibri"/>
              <a:sym typeface="Calibri"/>
            </a:endParaRPr>
          </a:p>
        </p:txBody>
      </p:sp>
      <p:sp>
        <p:nvSpPr>
          <p:cNvPr id="1238" name="Google Shape;1238;p31"/>
          <p:cNvSpPr/>
          <p:nvPr/>
        </p:nvSpPr>
        <p:spPr>
          <a:xfrm>
            <a:off x="1865376" y="5138928"/>
            <a:ext cx="411480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Serial or parallel, one call or forty, retried or not.</a:t>
            </a:r>
            <a:endParaRPr b="0" i="0" sz="1100" u="none" cap="none" strike="noStrike">
              <a:solidFill>
                <a:schemeClr val="dk1"/>
              </a:solidFill>
              <a:latin typeface="Calibri"/>
              <a:ea typeface="Calibri"/>
              <a:cs typeface="Calibri"/>
              <a:sym typeface="Calibri"/>
            </a:endParaRPr>
          </a:p>
        </p:txBody>
      </p:sp>
      <p:sp>
        <p:nvSpPr>
          <p:cNvPr id="1239" name="Google Shape;1239;p31"/>
          <p:cNvSpPr/>
          <p:nvPr/>
        </p:nvSpPr>
        <p:spPr>
          <a:xfrm>
            <a:off x="6172200" y="5138928"/>
            <a:ext cx="10058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C3FA6"/>
              </a:buClr>
              <a:buSzPts val="1100"/>
              <a:buFont typeface="Calibri"/>
              <a:buNone/>
            </a:pPr>
            <a:r>
              <a:rPr b="1" i="0" lang="en-US" sz="1100" u="none" cap="none" strike="noStrike">
                <a:solidFill>
                  <a:srgbClr val="5C3FA6"/>
                </a:solidFill>
                <a:latin typeface="Calibri"/>
                <a:ea typeface="Calibri"/>
                <a:cs typeface="Calibri"/>
                <a:sym typeface="Calibri"/>
              </a:rPr>
              <a:t>Attachment</a:t>
            </a:r>
            <a:endParaRPr b="0" i="0" sz="1100" u="none" cap="none" strike="noStrike">
              <a:solidFill>
                <a:schemeClr val="dk1"/>
              </a:solidFill>
              <a:latin typeface="Calibri"/>
              <a:ea typeface="Calibri"/>
              <a:cs typeface="Calibri"/>
              <a:sym typeface="Calibri"/>
            </a:endParaRPr>
          </a:p>
        </p:txBody>
      </p:sp>
      <p:sp>
        <p:nvSpPr>
          <p:cNvPr id="1240" name="Google Shape;1240;p31"/>
          <p:cNvSpPr/>
          <p:nvPr/>
        </p:nvSpPr>
        <p:spPr>
          <a:xfrm>
            <a:off x="7214616" y="5138928"/>
            <a:ext cx="4114800" cy="5120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Errors, SQL statements, status codes and identifiers, attached to the exact hop that produced them.</a:t>
            </a:r>
            <a:endParaRPr b="0" i="0" sz="1100" u="none" cap="none" strike="noStrike">
              <a:solidFill>
                <a:schemeClr val="dk1"/>
              </a:solidFill>
              <a:latin typeface="Calibri"/>
              <a:ea typeface="Calibri"/>
              <a:cs typeface="Calibri"/>
              <a:sym typeface="Calibri"/>
            </a:endParaRPr>
          </a:p>
        </p:txBody>
      </p:sp>
      <p:sp>
        <p:nvSpPr>
          <p:cNvPr id="1241" name="Google Shape;1241;p31"/>
          <p:cNvSpPr/>
          <p:nvPr/>
        </p:nvSpPr>
        <p:spPr>
          <a:xfrm>
            <a:off x="566928" y="5870448"/>
            <a:ext cx="11057839" cy="457200"/>
          </a:xfrm>
          <a:prstGeom prst="roundRect">
            <a:avLst>
              <a:gd fmla="val 18000"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1"/>
          <p:cNvSpPr/>
          <p:nvPr/>
        </p:nvSpPr>
        <p:spPr>
          <a:xfrm>
            <a:off x="768096" y="5961888"/>
            <a:ext cx="274320" cy="27432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1"/>
          <p:cNvSpPr/>
          <p:nvPr/>
        </p:nvSpPr>
        <p:spPr>
          <a:xfrm>
            <a:off x="768096" y="59618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244" name="Google Shape;1244;p31"/>
          <p:cNvSpPr/>
          <p:nvPr/>
        </p:nvSpPr>
        <p:spPr>
          <a:xfrm>
            <a:off x="1170432" y="5870448"/>
            <a:ext cx="1023487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A trace is a stack trace that crosses process boundaries. That one sentence is the whole idea.</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9" name="Shape 1249"/>
        <p:cNvGrpSpPr/>
        <p:nvPr/>
      </p:nvGrpSpPr>
      <p:grpSpPr>
        <a:xfrm>
          <a:off x="0" y="0"/>
          <a:ext cx="0" cy="0"/>
          <a:chOff x="0" y="0"/>
          <a:chExt cx="0" cy="0"/>
        </a:xfrm>
      </p:grpSpPr>
      <p:sp>
        <p:nvSpPr>
          <p:cNvPr id="1250" name="Google Shape;1250;p32"/>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50"/>
              <a:buFont typeface="Calibri"/>
              <a:buNone/>
            </a:pPr>
            <a:r>
              <a:rPr b="1" i="0" lang="en-US" sz="1050" u="none" cap="none" strike="noStrike">
                <a:solidFill>
                  <a:srgbClr val="5C3FA6"/>
                </a:solidFill>
                <a:latin typeface="Calibri"/>
                <a:ea typeface="Calibri"/>
                <a:cs typeface="Calibri"/>
                <a:sym typeface="Calibri"/>
              </a:rPr>
              <a:t>ANATOMY</a:t>
            </a:r>
            <a:endParaRPr b="0" i="0" sz="1050" u="none" cap="none" strike="noStrike">
              <a:solidFill>
                <a:schemeClr val="dk1"/>
              </a:solidFill>
              <a:latin typeface="Calibri"/>
              <a:ea typeface="Calibri"/>
              <a:cs typeface="Calibri"/>
              <a:sym typeface="Calibri"/>
            </a:endParaRPr>
          </a:p>
        </p:txBody>
      </p:sp>
      <p:sp>
        <p:nvSpPr>
          <p:cNvPr id="1251" name="Google Shape;1251;p32"/>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A trace is a tree of spans sharing one trace_id</a:t>
            </a:r>
            <a:endParaRPr b="0" i="0" sz="2900" u="none" cap="none" strike="noStrike">
              <a:solidFill>
                <a:schemeClr val="dk1"/>
              </a:solidFill>
              <a:latin typeface="Calibri"/>
              <a:ea typeface="Calibri"/>
              <a:cs typeface="Calibri"/>
              <a:sym typeface="Calibri"/>
            </a:endParaRPr>
          </a:p>
        </p:txBody>
      </p:sp>
      <p:sp>
        <p:nvSpPr>
          <p:cNvPr id="1252" name="Google Shape;1252;p32"/>
          <p:cNvSpPr/>
          <p:nvPr/>
        </p:nvSpPr>
        <p:spPr>
          <a:xfrm>
            <a:off x="10556748" y="402336"/>
            <a:ext cx="1068019" cy="329184"/>
          </a:xfrm>
          <a:prstGeom prst="roundRect">
            <a:avLst>
              <a:gd fmla="val 50000" name="adj"/>
            </a:avLst>
          </a:prstGeom>
          <a:solidFill>
            <a:srgbClr val="EDE8F8"/>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2"/>
          <p:cNvSpPr/>
          <p:nvPr/>
        </p:nvSpPr>
        <p:spPr>
          <a:xfrm>
            <a:off x="10730484" y="525780"/>
            <a:ext cx="91440" cy="9144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2"/>
          <p:cNvSpPr/>
          <p:nvPr/>
        </p:nvSpPr>
        <p:spPr>
          <a:xfrm>
            <a:off x="10867644" y="402336"/>
            <a:ext cx="66568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00"/>
              <a:buFont typeface="Calibri"/>
              <a:buNone/>
            </a:pPr>
            <a:r>
              <a:rPr b="1" i="0" lang="en-US" sz="1000" u="none" cap="none" strike="noStrike">
                <a:solidFill>
                  <a:srgbClr val="5C3FA6"/>
                </a:solidFill>
                <a:latin typeface="Calibri"/>
                <a:ea typeface="Calibri"/>
                <a:cs typeface="Calibri"/>
                <a:sym typeface="Calibri"/>
              </a:rPr>
              <a:t>Traces</a:t>
            </a:r>
            <a:endParaRPr b="0" i="0" sz="1000" u="none" cap="none" strike="noStrike">
              <a:solidFill>
                <a:schemeClr val="dk1"/>
              </a:solidFill>
              <a:latin typeface="Calibri"/>
              <a:ea typeface="Calibri"/>
              <a:cs typeface="Calibri"/>
              <a:sym typeface="Calibri"/>
            </a:endParaRPr>
          </a:p>
        </p:txBody>
      </p:sp>
      <p:sp>
        <p:nvSpPr>
          <p:cNvPr id="1255" name="Google Shape;1255;p32"/>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256" name="Google Shape;1256;p32"/>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30</a:t>
            </a:r>
            <a:endParaRPr b="0" i="0" sz="900" u="none" cap="none" strike="noStrike">
              <a:solidFill>
                <a:schemeClr val="dk1"/>
              </a:solidFill>
              <a:latin typeface="Calibri"/>
              <a:ea typeface="Calibri"/>
              <a:cs typeface="Calibri"/>
              <a:sym typeface="Calibri"/>
            </a:endParaRPr>
          </a:p>
        </p:txBody>
      </p:sp>
      <p:sp>
        <p:nvSpPr>
          <p:cNvPr id="1257" name="Google Shape;1257;p32"/>
          <p:cNvSpPr/>
          <p:nvPr/>
        </p:nvSpPr>
        <p:spPr>
          <a:xfrm>
            <a:off x="2807208" y="1207008"/>
            <a:ext cx="5486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0" i="0" lang="en-US" sz="850" u="none" cap="none" strike="noStrike">
                <a:solidFill>
                  <a:srgbClr val="93A2B0"/>
                </a:solidFill>
                <a:latin typeface="Calibri"/>
                <a:ea typeface="Calibri"/>
                <a:cs typeface="Calibri"/>
                <a:sym typeface="Calibri"/>
              </a:rPr>
              <a:t>0ms</a:t>
            </a:r>
            <a:endParaRPr b="0" i="0" sz="850" u="none" cap="none" strike="noStrike">
              <a:solidFill>
                <a:schemeClr val="dk1"/>
              </a:solidFill>
              <a:latin typeface="Calibri"/>
              <a:ea typeface="Calibri"/>
              <a:cs typeface="Calibri"/>
              <a:sym typeface="Calibri"/>
            </a:endParaRPr>
          </a:p>
        </p:txBody>
      </p:sp>
      <p:sp>
        <p:nvSpPr>
          <p:cNvPr id="1258" name="Google Shape;1258;p32"/>
          <p:cNvSpPr/>
          <p:nvPr/>
        </p:nvSpPr>
        <p:spPr>
          <a:xfrm>
            <a:off x="8933688" y="1207008"/>
            <a:ext cx="73152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850"/>
              <a:buFont typeface="Calibri"/>
              <a:buNone/>
            </a:pPr>
            <a:r>
              <a:rPr b="0" i="0" lang="en-US" sz="850" u="none" cap="none" strike="noStrike">
                <a:solidFill>
                  <a:srgbClr val="93A2B0"/>
                </a:solidFill>
                <a:latin typeface="Calibri"/>
                <a:ea typeface="Calibri"/>
                <a:cs typeface="Calibri"/>
                <a:sym typeface="Calibri"/>
              </a:rPr>
              <a:t>2043ms</a:t>
            </a:r>
            <a:endParaRPr b="0" i="0" sz="850" u="none" cap="none" strike="noStrike">
              <a:solidFill>
                <a:schemeClr val="dk1"/>
              </a:solidFill>
              <a:latin typeface="Calibri"/>
              <a:ea typeface="Calibri"/>
              <a:cs typeface="Calibri"/>
              <a:sym typeface="Calibri"/>
            </a:endParaRPr>
          </a:p>
        </p:txBody>
      </p:sp>
      <p:sp>
        <p:nvSpPr>
          <p:cNvPr id="1259" name="Google Shape;1259;p32"/>
          <p:cNvSpPr/>
          <p:nvPr/>
        </p:nvSpPr>
        <p:spPr>
          <a:xfrm>
            <a:off x="566928" y="1463040"/>
            <a:ext cx="2240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850"/>
              <a:buFont typeface="Courier New"/>
              <a:buNone/>
            </a:pPr>
            <a:r>
              <a:rPr b="0" i="0" lang="en-US" sz="850" u="none" cap="none" strike="noStrike">
                <a:solidFill>
                  <a:srgbClr val="16202C"/>
                </a:solidFill>
                <a:latin typeface="Courier New"/>
                <a:ea typeface="Courier New"/>
                <a:cs typeface="Courier New"/>
                <a:sym typeface="Courier New"/>
              </a:rPr>
              <a:t>gateway  POST /orders</a:t>
            </a:r>
            <a:endParaRPr b="0" i="0" sz="850" u="none" cap="none" strike="noStrike">
              <a:solidFill>
                <a:schemeClr val="dk1"/>
              </a:solidFill>
              <a:latin typeface="Calibri"/>
              <a:ea typeface="Calibri"/>
              <a:cs typeface="Calibri"/>
              <a:sym typeface="Calibri"/>
            </a:endParaRPr>
          </a:p>
        </p:txBody>
      </p:sp>
      <p:sp>
        <p:nvSpPr>
          <p:cNvPr id="1260" name="Google Shape;1260;p32"/>
          <p:cNvSpPr/>
          <p:nvPr/>
        </p:nvSpPr>
        <p:spPr>
          <a:xfrm>
            <a:off x="2898648" y="1527048"/>
            <a:ext cx="6675120" cy="219456"/>
          </a:xfrm>
          <a:prstGeom prst="roundRect">
            <a:avLst>
              <a:gd fmla="val 20833" name="adj"/>
            </a:avLst>
          </a:prstGeom>
          <a:solidFill>
            <a:srgbClr val="5C3FA6"/>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2"/>
          <p:cNvSpPr/>
          <p:nvPr/>
        </p:nvSpPr>
        <p:spPr>
          <a:xfrm>
            <a:off x="9683496" y="1463040"/>
            <a:ext cx="822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00"/>
              <a:buFont typeface="Calibri"/>
              <a:buNone/>
            </a:pPr>
            <a:r>
              <a:rPr b="0" i="0" lang="en-US" sz="900" u="none" cap="none" strike="noStrike">
                <a:solidFill>
                  <a:srgbClr val="5C6B7A"/>
                </a:solidFill>
                <a:latin typeface="Calibri"/>
                <a:ea typeface="Calibri"/>
                <a:cs typeface="Calibri"/>
                <a:sym typeface="Calibri"/>
              </a:rPr>
              <a:t>2043ms</a:t>
            </a:r>
            <a:endParaRPr b="0" i="0" sz="900" u="none" cap="none" strike="noStrike">
              <a:solidFill>
                <a:schemeClr val="dk1"/>
              </a:solidFill>
              <a:latin typeface="Calibri"/>
              <a:ea typeface="Calibri"/>
              <a:cs typeface="Calibri"/>
              <a:sym typeface="Calibri"/>
            </a:endParaRPr>
          </a:p>
        </p:txBody>
      </p:sp>
      <p:sp>
        <p:nvSpPr>
          <p:cNvPr id="1262" name="Google Shape;1262;p32"/>
          <p:cNvSpPr/>
          <p:nvPr/>
        </p:nvSpPr>
        <p:spPr>
          <a:xfrm>
            <a:off x="566928" y="1883664"/>
            <a:ext cx="2240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850"/>
              <a:buFont typeface="Courier New"/>
              <a:buNone/>
            </a:pPr>
            <a:r>
              <a:rPr b="0" i="0" lang="en-US" sz="850" u="none" cap="none" strike="noStrike">
                <a:solidFill>
                  <a:srgbClr val="16202C"/>
                </a:solidFill>
                <a:latin typeface="Courier New"/>
                <a:ea typeface="Courier New"/>
                <a:cs typeface="Courier New"/>
                <a:sym typeface="Courier New"/>
              </a:rPr>
              <a:t>catalog  GET /teas/44</a:t>
            </a:r>
            <a:endParaRPr b="0" i="0" sz="850" u="none" cap="none" strike="noStrike">
              <a:solidFill>
                <a:schemeClr val="dk1"/>
              </a:solidFill>
              <a:latin typeface="Calibri"/>
              <a:ea typeface="Calibri"/>
              <a:cs typeface="Calibri"/>
              <a:sym typeface="Calibri"/>
            </a:endParaRPr>
          </a:p>
        </p:txBody>
      </p:sp>
      <p:sp>
        <p:nvSpPr>
          <p:cNvPr id="1263" name="Google Shape;1263;p32"/>
          <p:cNvSpPr/>
          <p:nvPr/>
        </p:nvSpPr>
        <p:spPr>
          <a:xfrm>
            <a:off x="3032150" y="1947672"/>
            <a:ext cx="534010" cy="219456"/>
          </a:xfrm>
          <a:prstGeom prst="roundRect">
            <a:avLst>
              <a:gd fmla="val 20833" name="adj"/>
            </a:avLst>
          </a:prstGeom>
          <a:solidFill>
            <a:srgbClr val="0C6B7D"/>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2"/>
          <p:cNvSpPr/>
          <p:nvPr/>
        </p:nvSpPr>
        <p:spPr>
          <a:xfrm>
            <a:off x="9683496" y="1883664"/>
            <a:ext cx="822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00"/>
              <a:buFont typeface="Calibri"/>
              <a:buNone/>
            </a:pPr>
            <a:r>
              <a:rPr b="0" i="0" lang="en-US" sz="900" u="none" cap="none" strike="noStrike">
                <a:solidFill>
                  <a:srgbClr val="5C6B7A"/>
                </a:solidFill>
                <a:latin typeface="Calibri"/>
                <a:ea typeface="Calibri"/>
                <a:cs typeface="Calibri"/>
                <a:sym typeface="Calibri"/>
              </a:rPr>
              <a:t>160ms</a:t>
            </a:r>
            <a:endParaRPr b="0" i="0" sz="900" u="none" cap="none" strike="noStrike">
              <a:solidFill>
                <a:schemeClr val="dk1"/>
              </a:solidFill>
              <a:latin typeface="Calibri"/>
              <a:ea typeface="Calibri"/>
              <a:cs typeface="Calibri"/>
              <a:sym typeface="Calibri"/>
            </a:endParaRPr>
          </a:p>
        </p:txBody>
      </p:sp>
      <p:sp>
        <p:nvSpPr>
          <p:cNvPr id="1265" name="Google Shape;1265;p32"/>
          <p:cNvSpPr/>
          <p:nvPr/>
        </p:nvSpPr>
        <p:spPr>
          <a:xfrm>
            <a:off x="566928" y="2304288"/>
            <a:ext cx="2240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850"/>
              <a:buFont typeface="Courier New"/>
              <a:buNone/>
            </a:pPr>
            <a:r>
              <a:rPr b="0" i="0" lang="en-US" sz="850" u="none" cap="none" strike="noStrike">
                <a:solidFill>
                  <a:srgbClr val="16202C"/>
                </a:solidFill>
                <a:latin typeface="Courier New"/>
                <a:ea typeface="Courier New"/>
                <a:cs typeface="Courier New"/>
                <a:sym typeface="Courier New"/>
              </a:rPr>
              <a:t>redis  GET tea:44</a:t>
            </a:r>
            <a:endParaRPr b="0" i="0" sz="850" u="none" cap="none" strike="noStrike">
              <a:solidFill>
                <a:schemeClr val="dk1"/>
              </a:solidFill>
              <a:latin typeface="Calibri"/>
              <a:ea typeface="Calibri"/>
              <a:cs typeface="Calibri"/>
              <a:sym typeface="Calibri"/>
            </a:endParaRPr>
          </a:p>
        </p:txBody>
      </p:sp>
      <p:sp>
        <p:nvSpPr>
          <p:cNvPr id="1266" name="Google Shape;1266;p32"/>
          <p:cNvSpPr/>
          <p:nvPr/>
        </p:nvSpPr>
        <p:spPr>
          <a:xfrm>
            <a:off x="3098902" y="2368296"/>
            <a:ext cx="267005" cy="219456"/>
          </a:xfrm>
          <a:prstGeom prst="roundRect">
            <a:avLst>
              <a:gd fmla="val 20833" name="adj"/>
            </a:avLst>
          </a:prstGeom>
          <a:solidFill>
            <a:srgbClr val="0C6B7D"/>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2"/>
          <p:cNvSpPr/>
          <p:nvPr/>
        </p:nvSpPr>
        <p:spPr>
          <a:xfrm>
            <a:off x="9683496" y="2304288"/>
            <a:ext cx="822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00"/>
              <a:buFont typeface="Calibri"/>
              <a:buNone/>
            </a:pPr>
            <a:r>
              <a:rPr b="0" i="0" lang="en-US" sz="900" u="none" cap="none" strike="noStrike">
                <a:solidFill>
                  <a:srgbClr val="5C6B7A"/>
                </a:solidFill>
                <a:latin typeface="Calibri"/>
                <a:ea typeface="Calibri"/>
                <a:cs typeface="Calibri"/>
                <a:sym typeface="Calibri"/>
              </a:rPr>
              <a:t>8ms</a:t>
            </a:r>
            <a:endParaRPr b="0" i="0" sz="900" u="none" cap="none" strike="noStrike">
              <a:solidFill>
                <a:schemeClr val="dk1"/>
              </a:solidFill>
              <a:latin typeface="Calibri"/>
              <a:ea typeface="Calibri"/>
              <a:cs typeface="Calibri"/>
              <a:sym typeface="Calibri"/>
            </a:endParaRPr>
          </a:p>
        </p:txBody>
      </p:sp>
      <p:sp>
        <p:nvSpPr>
          <p:cNvPr id="1268" name="Google Shape;1268;p32"/>
          <p:cNvSpPr/>
          <p:nvPr/>
        </p:nvSpPr>
        <p:spPr>
          <a:xfrm>
            <a:off x="566928" y="2724912"/>
            <a:ext cx="2240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850"/>
              <a:buFont typeface="Courier New"/>
              <a:buNone/>
            </a:pPr>
            <a:r>
              <a:rPr b="0" i="0" lang="en-US" sz="850" u="none" cap="none" strike="noStrike">
                <a:solidFill>
                  <a:srgbClr val="AC2740"/>
                </a:solidFill>
                <a:latin typeface="Courier New"/>
                <a:ea typeface="Courier New"/>
                <a:cs typeface="Courier New"/>
                <a:sym typeface="Courier New"/>
              </a:rPr>
              <a:t>payment  POST /charge</a:t>
            </a:r>
            <a:endParaRPr b="0" i="0" sz="850" u="none" cap="none" strike="noStrike">
              <a:solidFill>
                <a:schemeClr val="dk1"/>
              </a:solidFill>
              <a:latin typeface="Calibri"/>
              <a:ea typeface="Calibri"/>
              <a:cs typeface="Calibri"/>
              <a:sym typeface="Calibri"/>
            </a:endParaRPr>
          </a:p>
        </p:txBody>
      </p:sp>
      <p:sp>
        <p:nvSpPr>
          <p:cNvPr id="1269" name="Google Shape;1269;p32"/>
          <p:cNvSpPr/>
          <p:nvPr/>
        </p:nvSpPr>
        <p:spPr>
          <a:xfrm>
            <a:off x="3632911" y="2788920"/>
            <a:ext cx="5874106" cy="219456"/>
          </a:xfrm>
          <a:prstGeom prst="roundRect">
            <a:avLst>
              <a:gd fmla="val 20833" name="adj"/>
            </a:avLst>
          </a:prstGeom>
          <a:solidFill>
            <a:srgbClr val="AC2740"/>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2"/>
          <p:cNvSpPr/>
          <p:nvPr/>
        </p:nvSpPr>
        <p:spPr>
          <a:xfrm>
            <a:off x="9683496" y="2724912"/>
            <a:ext cx="822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900"/>
              <a:buFont typeface="Calibri"/>
              <a:buNone/>
            </a:pPr>
            <a:r>
              <a:rPr b="0" i="0" lang="en-US" sz="900" u="none" cap="none" strike="noStrike">
                <a:solidFill>
                  <a:srgbClr val="AC2740"/>
                </a:solidFill>
                <a:latin typeface="Calibri"/>
                <a:ea typeface="Calibri"/>
                <a:cs typeface="Calibri"/>
                <a:sym typeface="Calibri"/>
              </a:rPr>
              <a:t>1811ms</a:t>
            </a:r>
            <a:endParaRPr b="0" i="0" sz="900" u="none" cap="none" strike="noStrike">
              <a:solidFill>
                <a:schemeClr val="dk1"/>
              </a:solidFill>
              <a:latin typeface="Calibri"/>
              <a:ea typeface="Calibri"/>
              <a:cs typeface="Calibri"/>
              <a:sym typeface="Calibri"/>
            </a:endParaRPr>
          </a:p>
        </p:txBody>
      </p:sp>
      <p:sp>
        <p:nvSpPr>
          <p:cNvPr id="1271" name="Google Shape;1271;p32"/>
          <p:cNvSpPr/>
          <p:nvPr/>
        </p:nvSpPr>
        <p:spPr>
          <a:xfrm>
            <a:off x="10506456" y="2724912"/>
            <a:ext cx="274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1100"/>
              <a:buFont typeface="Calibri"/>
              <a:buNone/>
            </a:pPr>
            <a:r>
              <a:rPr b="1" i="0" lang="en-US" sz="1100" u="none" cap="none" strike="noStrike">
                <a:solidFill>
                  <a:srgbClr val="AC2740"/>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272" name="Google Shape;1272;p32"/>
          <p:cNvSpPr/>
          <p:nvPr/>
        </p:nvSpPr>
        <p:spPr>
          <a:xfrm>
            <a:off x="566928" y="3145536"/>
            <a:ext cx="22402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850"/>
              <a:buFont typeface="Courier New"/>
              <a:buNone/>
            </a:pPr>
            <a:r>
              <a:rPr b="0" i="0" lang="en-US" sz="850" u="none" cap="none" strike="noStrike">
                <a:solidFill>
                  <a:srgbClr val="AC2740"/>
                </a:solidFill>
                <a:latin typeface="Courier New"/>
                <a:ea typeface="Courier New"/>
                <a:cs typeface="Courier New"/>
                <a:sym typeface="Courier New"/>
              </a:rPr>
              <a:t>db  BEGIN + acquire conn</a:t>
            </a:r>
            <a:endParaRPr b="0" i="0" sz="850" u="none" cap="none" strike="noStrike">
              <a:solidFill>
                <a:schemeClr val="dk1"/>
              </a:solidFill>
              <a:latin typeface="Calibri"/>
              <a:ea typeface="Calibri"/>
              <a:cs typeface="Calibri"/>
              <a:sym typeface="Calibri"/>
            </a:endParaRPr>
          </a:p>
        </p:txBody>
      </p:sp>
      <p:sp>
        <p:nvSpPr>
          <p:cNvPr id="1273" name="Google Shape;1273;p32"/>
          <p:cNvSpPr/>
          <p:nvPr/>
        </p:nvSpPr>
        <p:spPr>
          <a:xfrm>
            <a:off x="3699662" y="3209544"/>
            <a:ext cx="5740603" cy="219456"/>
          </a:xfrm>
          <a:prstGeom prst="roundRect">
            <a:avLst>
              <a:gd fmla="val 20833" name="adj"/>
            </a:avLst>
          </a:prstGeom>
          <a:solidFill>
            <a:srgbClr val="AC2740"/>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2"/>
          <p:cNvSpPr/>
          <p:nvPr/>
        </p:nvSpPr>
        <p:spPr>
          <a:xfrm>
            <a:off x="9683496" y="3145536"/>
            <a:ext cx="822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900"/>
              <a:buFont typeface="Calibri"/>
              <a:buNone/>
            </a:pPr>
            <a:r>
              <a:rPr b="0" i="0" lang="en-US" sz="900" u="none" cap="none" strike="noStrike">
                <a:solidFill>
                  <a:srgbClr val="AC2740"/>
                </a:solidFill>
                <a:latin typeface="Calibri"/>
                <a:ea typeface="Calibri"/>
                <a:cs typeface="Calibri"/>
                <a:sym typeface="Calibri"/>
              </a:rPr>
              <a:t>1800ms</a:t>
            </a:r>
            <a:endParaRPr b="0" i="0" sz="900" u="none" cap="none" strike="noStrike">
              <a:solidFill>
                <a:schemeClr val="dk1"/>
              </a:solidFill>
              <a:latin typeface="Calibri"/>
              <a:ea typeface="Calibri"/>
              <a:cs typeface="Calibri"/>
              <a:sym typeface="Calibri"/>
            </a:endParaRPr>
          </a:p>
        </p:txBody>
      </p:sp>
      <p:sp>
        <p:nvSpPr>
          <p:cNvPr id="1275" name="Google Shape;1275;p32"/>
          <p:cNvSpPr/>
          <p:nvPr/>
        </p:nvSpPr>
        <p:spPr>
          <a:xfrm>
            <a:off x="10506456" y="3145536"/>
            <a:ext cx="2743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1100"/>
              <a:buFont typeface="Calibri"/>
              <a:buNone/>
            </a:pPr>
            <a:r>
              <a:rPr b="1" i="0" lang="en-US" sz="1100" u="none" cap="none" strike="noStrike">
                <a:solidFill>
                  <a:srgbClr val="AC2740"/>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cxnSp>
        <p:nvCxnSpPr>
          <p:cNvPr id="1276" name="Google Shape;1276;p32"/>
          <p:cNvCxnSpPr/>
          <p:nvPr/>
        </p:nvCxnSpPr>
        <p:spPr>
          <a:xfrm>
            <a:off x="2898648" y="1444752"/>
            <a:ext cx="0" cy="2103120"/>
          </a:xfrm>
          <a:prstGeom prst="straightConnector1">
            <a:avLst/>
          </a:prstGeom>
          <a:noFill/>
          <a:ln cap="flat" cmpd="sng" w="9525">
            <a:solidFill>
              <a:srgbClr val="DAE2EA"/>
            </a:solidFill>
            <a:prstDash val="dash"/>
            <a:round/>
            <a:headEnd len="sm" w="sm" type="none"/>
            <a:tailEnd len="sm" w="sm" type="none"/>
          </a:ln>
        </p:spPr>
      </p:cxnSp>
      <p:sp>
        <p:nvSpPr>
          <p:cNvPr id="1277" name="Google Shape;1277;p32"/>
          <p:cNvSpPr/>
          <p:nvPr/>
        </p:nvSpPr>
        <p:spPr>
          <a:xfrm>
            <a:off x="566928" y="3913632"/>
            <a:ext cx="2615184" cy="1810512"/>
          </a:xfrm>
          <a:prstGeom prst="roundRect">
            <a:avLst>
              <a:gd fmla="val 4545"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2"/>
          <p:cNvSpPr/>
          <p:nvPr/>
        </p:nvSpPr>
        <p:spPr>
          <a:xfrm>
            <a:off x="749808" y="4059936"/>
            <a:ext cx="2286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150"/>
              <a:buFont typeface="Courier New"/>
              <a:buNone/>
            </a:pPr>
            <a:r>
              <a:rPr b="1" i="0" lang="en-US" sz="1150" u="none" cap="none" strike="noStrike">
                <a:solidFill>
                  <a:srgbClr val="5C3FA6"/>
                </a:solidFill>
                <a:latin typeface="Courier New"/>
                <a:ea typeface="Courier New"/>
                <a:cs typeface="Courier New"/>
                <a:sym typeface="Courier New"/>
              </a:rPr>
              <a:t>trace_id</a:t>
            </a:r>
            <a:endParaRPr b="0" i="0" sz="1150" u="none" cap="none" strike="noStrike">
              <a:solidFill>
                <a:schemeClr val="dk1"/>
              </a:solidFill>
              <a:latin typeface="Calibri"/>
              <a:ea typeface="Calibri"/>
              <a:cs typeface="Calibri"/>
              <a:sym typeface="Calibri"/>
            </a:endParaRPr>
          </a:p>
        </p:txBody>
      </p:sp>
      <p:sp>
        <p:nvSpPr>
          <p:cNvPr id="1279" name="Google Shape;1279;p32"/>
          <p:cNvSpPr/>
          <p:nvPr/>
        </p:nvSpPr>
        <p:spPr>
          <a:xfrm>
            <a:off x="749808" y="4389120"/>
            <a:ext cx="2286000" cy="118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050"/>
              <a:buFont typeface="Calibri"/>
              <a:buNone/>
            </a:pPr>
            <a:r>
              <a:rPr b="0" i="0" lang="en-US" sz="1050" u="none" cap="none" strike="noStrike">
                <a:solidFill>
                  <a:srgbClr val="16202C"/>
                </a:solidFill>
                <a:latin typeface="Calibri"/>
                <a:ea typeface="Calibri"/>
                <a:cs typeface="Calibri"/>
                <a:sym typeface="Calibri"/>
              </a:rPr>
              <a:t>One 16-byte ID, generated once at the edge, carried by every span in the request. This is the join key for everything.</a:t>
            </a:r>
            <a:endParaRPr b="0" i="0" sz="1050" u="none" cap="none" strike="noStrike">
              <a:solidFill>
                <a:schemeClr val="dk1"/>
              </a:solidFill>
              <a:latin typeface="Calibri"/>
              <a:ea typeface="Calibri"/>
              <a:cs typeface="Calibri"/>
              <a:sym typeface="Calibri"/>
            </a:endParaRPr>
          </a:p>
        </p:txBody>
      </p:sp>
      <p:sp>
        <p:nvSpPr>
          <p:cNvPr id="1280" name="Google Shape;1280;p32"/>
          <p:cNvSpPr/>
          <p:nvPr/>
        </p:nvSpPr>
        <p:spPr>
          <a:xfrm>
            <a:off x="3364992" y="3913632"/>
            <a:ext cx="2615184" cy="1810512"/>
          </a:xfrm>
          <a:prstGeom prst="roundRect">
            <a:avLst>
              <a:gd fmla="val 4545"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2"/>
          <p:cNvSpPr/>
          <p:nvPr/>
        </p:nvSpPr>
        <p:spPr>
          <a:xfrm>
            <a:off x="3547872" y="4059936"/>
            <a:ext cx="2286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150"/>
              <a:buFont typeface="Courier New"/>
              <a:buNone/>
            </a:pPr>
            <a:r>
              <a:rPr b="1" i="0" lang="en-US" sz="1150" u="none" cap="none" strike="noStrike">
                <a:solidFill>
                  <a:srgbClr val="5C3FA6"/>
                </a:solidFill>
                <a:latin typeface="Courier New"/>
                <a:ea typeface="Courier New"/>
                <a:cs typeface="Courier New"/>
                <a:sym typeface="Courier New"/>
              </a:rPr>
              <a:t>span</a:t>
            </a:r>
            <a:endParaRPr b="0" i="0" sz="1150" u="none" cap="none" strike="noStrike">
              <a:solidFill>
                <a:schemeClr val="dk1"/>
              </a:solidFill>
              <a:latin typeface="Calibri"/>
              <a:ea typeface="Calibri"/>
              <a:cs typeface="Calibri"/>
              <a:sym typeface="Calibri"/>
            </a:endParaRPr>
          </a:p>
        </p:txBody>
      </p:sp>
      <p:sp>
        <p:nvSpPr>
          <p:cNvPr id="1282" name="Google Shape;1282;p32"/>
          <p:cNvSpPr/>
          <p:nvPr/>
        </p:nvSpPr>
        <p:spPr>
          <a:xfrm>
            <a:off x="3547872" y="4389120"/>
            <a:ext cx="2286000" cy="118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050"/>
              <a:buFont typeface="Calibri"/>
              <a:buNone/>
            </a:pPr>
            <a:r>
              <a:rPr b="0" i="0" lang="en-US" sz="1050" u="none" cap="none" strike="noStrike">
                <a:solidFill>
                  <a:srgbClr val="16202C"/>
                </a:solidFill>
                <a:latin typeface="Calibri"/>
                <a:ea typeface="Calibri"/>
                <a:cs typeface="Calibri"/>
                <a:sym typeface="Calibri"/>
              </a:rPr>
              <a:t>One unit of work: an HTTP handler, a query, a function. It has a name, a start, a duration, a status, and attributes.</a:t>
            </a:r>
            <a:endParaRPr b="0" i="0" sz="1050" u="none" cap="none" strike="noStrike">
              <a:solidFill>
                <a:schemeClr val="dk1"/>
              </a:solidFill>
              <a:latin typeface="Calibri"/>
              <a:ea typeface="Calibri"/>
              <a:cs typeface="Calibri"/>
              <a:sym typeface="Calibri"/>
            </a:endParaRPr>
          </a:p>
        </p:txBody>
      </p:sp>
      <p:sp>
        <p:nvSpPr>
          <p:cNvPr id="1283" name="Google Shape;1283;p32"/>
          <p:cNvSpPr/>
          <p:nvPr/>
        </p:nvSpPr>
        <p:spPr>
          <a:xfrm>
            <a:off x="6163056" y="3913632"/>
            <a:ext cx="2615184" cy="1810512"/>
          </a:xfrm>
          <a:prstGeom prst="roundRect">
            <a:avLst>
              <a:gd fmla="val 4545"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2"/>
          <p:cNvSpPr/>
          <p:nvPr/>
        </p:nvSpPr>
        <p:spPr>
          <a:xfrm>
            <a:off x="6345936" y="4059936"/>
            <a:ext cx="2286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150"/>
              <a:buFont typeface="Courier New"/>
              <a:buNone/>
            </a:pPr>
            <a:r>
              <a:rPr b="1" i="0" lang="en-US" sz="1150" u="none" cap="none" strike="noStrike">
                <a:solidFill>
                  <a:srgbClr val="5C3FA6"/>
                </a:solidFill>
                <a:latin typeface="Courier New"/>
                <a:ea typeface="Courier New"/>
                <a:cs typeface="Courier New"/>
                <a:sym typeface="Courier New"/>
              </a:rPr>
              <a:t>parent_span_id</a:t>
            </a:r>
            <a:endParaRPr b="0" i="0" sz="1150" u="none" cap="none" strike="noStrike">
              <a:solidFill>
                <a:schemeClr val="dk1"/>
              </a:solidFill>
              <a:latin typeface="Calibri"/>
              <a:ea typeface="Calibri"/>
              <a:cs typeface="Calibri"/>
              <a:sym typeface="Calibri"/>
            </a:endParaRPr>
          </a:p>
        </p:txBody>
      </p:sp>
      <p:sp>
        <p:nvSpPr>
          <p:cNvPr id="1285" name="Google Shape;1285;p32"/>
          <p:cNvSpPr/>
          <p:nvPr/>
        </p:nvSpPr>
        <p:spPr>
          <a:xfrm>
            <a:off x="6345936" y="4389120"/>
            <a:ext cx="2286000" cy="118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050"/>
              <a:buFont typeface="Calibri"/>
              <a:buNone/>
            </a:pPr>
            <a:r>
              <a:rPr b="0" i="0" lang="en-US" sz="1050" u="none" cap="none" strike="noStrike">
                <a:solidFill>
                  <a:srgbClr val="16202C"/>
                </a:solidFill>
                <a:latin typeface="Calibri"/>
                <a:ea typeface="Calibri"/>
                <a:cs typeface="Calibri"/>
                <a:sym typeface="Calibri"/>
              </a:rPr>
              <a:t>What makes it a tree rather than a list. This is where the structure and the ordering come from.</a:t>
            </a:r>
            <a:endParaRPr b="0" i="0" sz="1050" u="none" cap="none" strike="noStrike">
              <a:solidFill>
                <a:schemeClr val="dk1"/>
              </a:solidFill>
              <a:latin typeface="Calibri"/>
              <a:ea typeface="Calibri"/>
              <a:cs typeface="Calibri"/>
              <a:sym typeface="Calibri"/>
            </a:endParaRPr>
          </a:p>
        </p:txBody>
      </p:sp>
      <p:sp>
        <p:nvSpPr>
          <p:cNvPr id="1286" name="Google Shape;1286;p32"/>
          <p:cNvSpPr/>
          <p:nvPr/>
        </p:nvSpPr>
        <p:spPr>
          <a:xfrm>
            <a:off x="8961120" y="3913632"/>
            <a:ext cx="2615184" cy="1810512"/>
          </a:xfrm>
          <a:prstGeom prst="roundRect">
            <a:avLst>
              <a:gd fmla="val 4545"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2"/>
          <p:cNvSpPr/>
          <p:nvPr/>
        </p:nvSpPr>
        <p:spPr>
          <a:xfrm>
            <a:off x="9144000" y="4059936"/>
            <a:ext cx="2286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150"/>
              <a:buFont typeface="Courier New"/>
              <a:buNone/>
            </a:pPr>
            <a:r>
              <a:rPr b="1" i="0" lang="en-US" sz="1150" u="none" cap="none" strike="noStrike">
                <a:solidFill>
                  <a:srgbClr val="5C3FA6"/>
                </a:solidFill>
                <a:latin typeface="Courier New"/>
                <a:ea typeface="Courier New"/>
                <a:cs typeface="Courier New"/>
                <a:sym typeface="Courier New"/>
              </a:rPr>
              <a:t>attributes &amp; events</a:t>
            </a:r>
            <a:endParaRPr b="0" i="0" sz="1150" u="none" cap="none" strike="noStrike">
              <a:solidFill>
                <a:schemeClr val="dk1"/>
              </a:solidFill>
              <a:latin typeface="Calibri"/>
              <a:ea typeface="Calibri"/>
              <a:cs typeface="Calibri"/>
              <a:sym typeface="Calibri"/>
            </a:endParaRPr>
          </a:p>
        </p:txBody>
      </p:sp>
      <p:sp>
        <p:nvSpPr>
          <p:cNvPr id="1288" name="Google Shape;1288;p32"/>
          <p:cNvSpPr/>
          <p:nvPr/>
        </p:nvSpPr>
        <p:spPr>
          <a:xfrm>
            <a:off x="9144000" y="4389120"/>
            <a:ext cx="2286000" cy="11887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050"/>
              <a:buFont typeface="Calibri"/>
              <a:buNone/>
            </a:pPr>
            <a:r>
              <a:rPr b="0" i="0" lang="en-US" sz="1050" u="none" cap="none" strike="noStrike">
                <a:solidFill>
                  <a:srgbClr val="16202C"/>
                </a:solidFill>
                <a:latin typeface="Calibri"/>
                <a:ea typeface="Calibri"/>
                <a:cs typeface="Calibri"/>
                <a:sym typeface="Calibri"/>
              </a:rPr>
              <a:t>Key-value detail on a span: http.status_code, db.statement, user id, exception. High cardinality is fine here — unlike metrics.</a:t>
            </a:r>
            <a:endParaRPr b="0" i="0" sz="1050" u="none" cap="none" strike="noStrike">
              <a:solidFill>
                <a:schemeClr val="dk1"/>
              </a:solidFill>
              <a:latin typeface="Calibri"/>
              <a:ea typeface="Calibri"/>
              <a:cs typeface="Calibri"/>
              <a:sym typeface="Calibri"/>
            </a:endParaRPr>
          </a:p>
        </p:txBody>
      </p:sp>
      <p:sp>
        <p:nvSpPr>
          <p:cNvPr id="1289" name="Google Shape;1289;p32"/>
          <p:cNvSpPr/>
          <p:nvPr/>
        </p:nvSpPr>
        <p:spPr>
          <a:xfrm>
            <a:off x="566928" y="5852160"/>
            <a:ext cx="11057839" cy="493776"/>
          </a:xfrm>
          <a:prstGeom prst="roundRect">
            <a:avLst>
              <a:gd fmla="val 16667"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2"/>
          <p:cNvSpPr/>
          <p:nvPr/>
        </p:nvSpPr>
        <p:spPr>
          <a:xfrm>
            <a:off x="768096" y="5961888"/>
            <a:ext cx="274320" cy="27432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2"/>
          <p:cNvSpPr/>
          <p:nvPr/>
        </p:nvSpPr>
        <p:spPr>
          <a:xfrm>
            <a:off x="768096" y="596188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292" name="Google Shape;1292;p32"/>
          <p:cNvSpPr/>
          <p:nvPr/>
        </p:nvSpPr>
        <p:spPr>
          <a:xfrm>
            <a:off x="1170432" y="5852160"/>
            <a:ext cx="10234879" cy="493776"/>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Read the picture: catalog was fast, payment took 1811ms, and almost all of it was one child span waiting on a database connection. You have your answer in five seconds.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7" name="Shape 1297"/>
        <p:cNvGrpSpPr/>
        <p:nvPr/>
      </p:nvGrpSpPr>
      <p:grpSpPr>
        <a:xfrm>
          <a:off x="0" y="0"/>
          <a:ext cx="0" cy="0"/>
          <a:chOff x="0" y="0"/>
          <a:chExt cx="0" cy="0"/>
        </a:xfrm>
      </p:grpSpPr>
      <p:sp>
        <p:nvSpPr>
          <p:cNvPr id="1298" name="Google Shape;1298;p33"/>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50"/>
              <a:buFont typeface="Calibri"/>
              <a:buNone/>
            </a:pPr>
            <a:r>
              <a:rPr b="1" i="0" lang="en-US" sz="1050" u="none" cap="none" strike="noStrike">
                <a:solidFill>
                  <a:srgbClr val="5C3FA6"/>
                </a:solidFill>
                <a:latin typeface="Calibri"/>
                <a:ea typeface="Calibri"/>
                <a:cs typeface="Calibri"/>
                <a:sym typeface="Calibri"/>
              </a:rPr>
              <a:t>THE MECHANISM</a:t>
            </a:r>
            <a:endParaRPr b="0" i="0" sz="1050" u="none" cap="none" strike="noStrike">
              <a:solidFill>
                <a:schemeClr val="dk1"/>
              </a:solidFill>
              <a:latin typeface="Calibri"/>
              <a:ea typeface="Calibri"/>
              <a:cs typeface="Calibri"/>
              <a:sym typeface="Calibri"/>
            </a:endParaRPr>
          </a:p>
        </p:txBody>
      </p:sp>
      <p:sp>
        <p:nvSpPr>
          <p:cNvPr id="1299" name="Google Shape;1299;p33"/>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Propagation: one header, and everything depends on it</a:t>
            </a:r>
            <a:endParaRPr b="0" i="0" sz="2900" u="none" cap="none" strike="noStrike">
              <a:solidFill>
                <a:schemeClr val="dk1"/>
              </a:solidFill>
              <a:latin typeface="Calibri"/>
              <a:ea typeface="Calibri"/>
              <a:cs typeface="Calibri"/>
              <a:sym typeface="Calibri"/>
            </a:endParaRPr>
          </a:p>
        </p:txBody>
      </p:sp>
      <p:sp>
        <p:nvSpPr>
          <p:cNvPr id="1300" name="Google Shape;1300;p33"/>
          <p:cNvSpPr/>
          <p:nvPr/>
        </p:nvSpPr>
        <p:spPr>
          <a:xfrm>
            <a:off x="10556748" y="402336"/>
            <a:ext cx="1068019" cy="329184"/>
          </a:xfrm>
          <a:prstGeom prst="roundRect">
            <a:avLst>
              <a:gd fmla="val 50000" name="adj"/>
            </a:avLst>
          </a:prstGeom>
          <a:solidFill>
            <a:srgbClr val="EDE8F8"/>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3"/>
          <p:cNvSpPr/>
          <p:nvPr/>
        </p:nvSpPr>
        <p:spPr>
          <a:xfrm>
            <a:off x="10730484" y="525780"/>
            <a:ext cx="91440" cy="9144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3"/>
          <p:cNvSpPr/>
          <p:nvPr/>
        </p:nvSpPr>
        <p:spPr>
          <a:xfrm>
            <a:off x="10867644" y="402336"/>
            <a:ext cx="66568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00"/>
              <a:buFont typeface="Calibri"/>
              <a:buNone/>
            </a:pPr>
            <a:r>
              <a:rPr b="1" i="0" lang="en-US" sz="1000" u="none" cap="none" strike="noStrike">
                <a:solidFill>
                  <a:srgbClr val="5C3FA6"/>
                </a:solidFill>
                <a:latin typeface="Calibri"/>
                <a:ea typeface="Calibri"/>
                <a:cs typeface="Calibri"/>
                <a:sym typeface="Calibri"/>
              </a:rPr>
              <a:t>Traces</a:t>
            </a:r>
            <a:endParaRPr b="0" i="0" sz="1000" u="none" cap="none" strike="noStrike">
              <a:solidFill>
                <a:schemeClr val="dk1"/>
              </a:solidFill>
              <a:latin typeface="Calibri"/>
              <a:ea typeface="Calibri"/>
              <a:cs typeface="Calibri"/>
              <a:sym typeface="Calibri"/>
            </a:endParaRPr>
          </a:p>
        </p:txBody>
      </p:sp>
      <p:sp>
        <p:nvSpPr>
          <p:cNvPr id="1303" name="Google Shape;1303;p33"/>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304" name="Google Shape;1304;p33"/>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31</a:t>
            </a:r>
            <a:endParaRPr b="0" i="0" sz="900" u="none" cap="none" strike="noStrike">
              <a:solidFill>
                <a:schemeClr val="dk1"/>
              </a:solidFill>
              <a:latin typeface="Calibri"/>
              <a:ea typeface="Calibri"/>
              <a:cs typeface="Calibri"/>
              <a:sym typeface="Calibri"/>
            </a:endParaRPr>
          </a:p>
        </p:txBody>
      </p:sp>
      <p:sp>
        <p:nvSpPr>
          <p:cNvPr id="1305" name="Google Shape;1305;p33"/>
          <p:cNvSpPr/>
          <p:nvPr/>
        </p:nvSpPr>
        <p:spPr>
          <a:xfrm>
            <a:off x="566928" y="1426464"/>
            <a:ext cx="11057839" cy="896112"/>
          </a:xfrm>
          <a:prstGeom prst="roundRect">
            <a:avLst>
              <a:gd fmla="val 9184"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3"/>
          <p:cNvSpPr/>
          <p:nvPr/>
        </p:nvSpPr>
        <p:spPr>
          <a:xfrm>
            <a:off x="731520" y="1554480"/>
            <a:ext cx="10728655" cy="6400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0AEEA"/>
              </a:buClr>
              <a:buSzPts val="1050"/>
              <a:buFont typeface="Courier New"/>
              <a:buNone/>
            </a:pPr>
            <a:r>
              <a:rPr b="0" i="0" lang="en-US" sz="1050" u="none" cap="none" strike="noStrike">
                <a:solidFill>
                  <a:srgbClr val="C0AEEA"/>
                </a:solidFill>
                <a:latin typeface="Courier New"/>
                <a:ea typeface="Courier New"/>
                <a:cs typeface="Courier New"/>
                <a:sym typeface="Courier New"/>
              </a:rPr>
              <a:t>traceparent: 00-4bf92f3577b34da6a3ce929d0e0e4736-00f067aa0ba902b7-01</a:t>
            </a:r>
            <a:endParaRPr b="0" i="0" sz="10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9FB3C4"/>
              </a:buClr>
              <a:buSzPts val="1050"/>
              <a:buFont typeface="Courier New"/>
              <a:buNone/>
            </a:pPr>
            <a:r>
              <a:rPr b="0" i="0" lang="en-US" sz="1050" u="none" cap="none" strike="noStrike">
                <a:solidFill>
                  <a:srgbClr val="9FB3C4"/>
                </a:solidFill>
                <a:latin typeface="Courier New"/>
                <a:ea typeface="Courier New"/>
                <a:cs typeface="Courier New"/>
                <a:sym typeface="Courier New"/>
              </a:rPr>
              <a:t>             └ version  └ trace-id (16 bytes)              └ parent span-id   └ sampled flag</a:t>
            </a:r>
            <a:endParaRPr b="0" i="0" sz="1050" u="none" cap="none" strike="noStrike">
              <a:solidFill>
                <a:schemeClr val="dk1"/>
              </a:solidFill>
              <a:latin typeface="Calibri"/>
              <a:ea typeface="Calibri"/>
              <a:cs typeface="Calibri"/>
              <a:sym typeface="Calibri"/>
            </a:endParaRPr>
          </a:p>
        </p:txBody>
      </p:sp>
      <p:sp>
        <p:nvSpPr>
          <p:cNvPr id="1307" name="Google Shape;1307;p33"/>
          <p:cNvSpPr/>
          <p:nvPr/>
        </p:nvSpPr>
        <p:spPr>
          <a:xfrm>
            <a:off x="566928" y="2468880"/>
            <a:ext cx="6903720" cy="2084832"/>
          </a:xfrm>
          <a:prstGeom prst="roundRect">
            <a:avLst>
              <a:gd fmla="val 3947"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3"/>
          <p:cNvSpPr/>
          <p:nvPr/>
        </p:nvSpPr>
        <p:spPr>
          <a:xfrm>
            <a:off x="822960" y="2596896"/>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950"/>
              <a:buFont typeface="Calibri"/>
              <a:buNone/>
            </a:pPr>
            <a:r>
              <a:rPr b="1" i="0" lang="en-US" sz="950" u="none" cap="none" strike="noStrike">
                <a:solidFill>
                  <a:srgbClr val="5C3FA6"/>
                </a:solidFill>
                <a:latin typeface="Calibri"/>
                <a:ea typeface="Calibri"/>
                <a:cs typeface="Calibri"/>
                <a:sym typeface="Calibri"/>
              </a:rPr>
              <a:t>HOW IT MOVES</a:t>
            </a:r>
            <a:endParaRPr b="0" i="0" sz="950" u="none" cap="none" strike="noStrike">
              <a:solidFill>
                <a:schemeClr val="dk1"/>
              </a:solidFill>
              <a:latin typeface="Calibri"/>
              <a:ea typeface="Calibri"/>
              <a:cs typeface="Calibri"/>
              <a:sym typeface="Calibri"/>
            </a:endParaRPr>
          </a:p>
        </p:txBody>
      </p:sp>
      <p:sp>
        <p:nvSpPr>
          <p:cNvPr id="1309" name="Google Shape;1309;p33"/>
          <p:cNvSpPr/>
          <p:nvPr/>
        </p:nvSpPr>
        <p:spPr>
          <a:xfrm>
            <a:off x="822960" y="2926080"/>
            <a:ext cx="256032" cy="256032"/>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3"/>
          <p:cNvSpPr/>
          <p:nvPr/>
        </p:nvSpPr>
        <p:spPr>
          <a:xfrm>
            <a:off x="822960" y="2926080"/>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311" name="Google Shape;1311;p33"/>
          <p:cNvSpPr/>
          <p:nvPr/>
        </p:nvSpPr>
        <p:spPr>
          <a:xfrm>
            <a:off x="1188720" y="2907792"/>
            <a:ext cx="6126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The first service creates a trace_id and a root span</a:t>
            </a:r>
            <a:endParaRPr b="0" i="0" sz="1150" u="none" cap="none" strike="noStrike">
              <a:solidFill>
                <a:schemeClr val="dk1"/>
              </a:solidFill>
              <a:latin typeface="Calibri"/>
              <a:ea typeface="Calibri"/>
              <a:cs typeface="Calibri"/>
              <a:sym typeface="Calibri"/>
            </a:endParaRPr>
          </a:p>
        </p:txBody>
      </p:sp>
      <p:sp>
        <p:nvSpPr>
          <p:cNvPr id="1312" name="Google Shape;1312;p33"/>
          <p:cNvSpPr/>
          <p:nvPr/>
        </p:nvSpPr>
        <p:spPr>
          <a:xfrm>
            <a:off x="822960" y="3310128"/>
            <a:ext cx="256032" cy="256032"/>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3"/>
          <p:cNvSpPr/>
          <p:nvPr/>
        </p:nvSpPr>
        <p:spPr>
          <a:xfrm>
            <a:off x="822960" y="3310128"/>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314" name="Google Shape;1314;p33"/>
          <p:cNvSpPr/>
          <p:nvPr/>
        </p:nvSpPr>
        <p:spPr>
          <a:xfrm>
            <a:off x="1188720" y="3291840"/>
            <a:ext cx="6126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On every outbound call it injects traceparent into the headers</a:t>
            </a:r>
            <a:endParaRPr b="0" i="0" sz="1150" u="none" cap="none" strike="noStrike">
              <a:solidFill>
                <a:schemeClr val="dk1"/>
              </a:solidFill>
              <a:latin typeface="Calibri"/>
              <a:ea typeface="Calibri"/>
              <a:cs typeface="Calibri"/>
              <a:sym typeface="Calibri"/>
            </a:endParaRPr>
          </a:p>
        </p:txBody>
      </p:sp>
      <p:sp>
        <p:nvSpPr>
          <p:cNvPr id="1315" name="Google Shape;1315;p33"/>
          <p:cNvSpPr/>
          <p:nvPr/>
        </p:nvSpPr>
        <p:spPr>
          <a:xfrm>
            <a:off x="822960" y="3694176"/>
            <a:ext cx="256032" cy="256032"/>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3"/>
          <p:cNvSpPr/>
          <p:nvPr/>
        </p:nvSpPr>
        <p:spPr>
          <a:xfrm>
            <a:off x="822960" y="369417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1317" name="Google Shape;1317;p33"/>
          <p:cNvSpPr/>
          <p:nvPr/>
        </p:nvSpPr>
        <p:spPr>
          <a:xfrm>
            <a:off x="1188720" y="3675888"/>
            <a:ext cx="6126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The receiving service extracts it, and starts a child span</a:t>
            </a:r>
            <a:endParaRPr b="0" i="0" sz="1150" u="none" cap="none" strike="noStrike">
              <a:solidFill>
                <a:schemeClr val="dk1"/>
              </a:solidFill>
              <a:latin typeface="Calibri"/>
              <a:ea typeface="Calibri"/>
              <a:cs typeface="Calibri"/>
              <a:sym typeface="Calibri"/>
            </a:endParaRPr>
          </a:p>
        </p:txBody>
      </p:sp>
      <p:sp>
        <p:nvSpPr>
          <p:cNvPr id="1318" name="Google Shape;1318;p33"/>
          <p:cNvSpPr/>
          <p:nvPr/>
        </p:nvSpPr>
        <p:spPr>
          <a:xfrm>
            <a:off x="822960" y="4078224"/>
            <a:ext cx="256032" cy="256032"/>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3"/>
          <p:cNvSpPr/>
          <p:nvPr/>
        </p:nvSpPr>
        <p:spPr>
          <a:xfrm>
            <a:off x="822960" y="4078224"/>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1320" name="Google Shape;1320;p33"/>
          <p:cNvSpPr/>
          <p:nvPr/>
        </p:nvSpPr>
        <p:spPr>
          <a:xfrm>
            <a:off x="1188720" y="4059936"/>
            <a:ext cx="6126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Repeat, all the way down. One ID, many processes, one tree.</a:t>
            </a:r>
            <a:endParaRPr b="0" i="0" sz="1150" u="none" cap="none" strike="noStrike">
              <a:solidFill>
                <a:schemeClr val="dk1"/>
              </a:solidFill>
              <a:latin typeface="Calibri"/>
              <a:ea typeface="Calibri"/>
              <a:cs typeface="Calibri"/>
              <a:sym typeface="Calibri"/>
            </a:endParaRPr>
          </a:p>
        </p:txBody>
      </p:sp>
      <p:sp>
        <p:nvSpPr>
          <p:cNvPr id="1321" name="Google Shape;1321;p33"/>
          <p:cNvSpPr/>
          <p:nvPr/>
        </p:nvSpPr>
        <p:spPr>
          <a:xfrm>
            <a:off x="7653528" y="2468880"/>
            <a:ext cx="3968496" cy="2084832"/>
          </a:xfrm>
          <a:prstGeom prst="roundRect">
            <a:avLst>
              <a:gd fmla="val 3947"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3"/>
          <p:cNvSpPr/>
          <p:nvPr/>
        </p:nvSpPr>
        <p:spPr>
          <a:xfrm>
            <a:off x="7891272" y="2596896"/>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WHERE THE CHAIN BREAKS</a:t>
            </a:r>
            <a:endParaRPr b="0" i="0" sz="950" u="none" cap="none" strike="noStrike">
              <a:solidFill>
                <a:schemeClr val="dk1"/>
              </a:solidFill>
              <a:latin typeface="Calibri"/>
              <a:ea typeface="Calibri"/>
              <a:cs typeface="Calibri"/>
              <a:sym typeface="Calibri"/>
            </a:endParaRPr>
          </a:p>
        </p:txBody>
      </p:sp>
      <p:sp>
        <p:nvSpPr>
          <p:cNvPr id="1323" name="Google Shape;1323;p33"/>
          <p:cNvSpPr/>
          <p:nvPr/>
        </p:nvSpPr>
        <p:spPr>
          <a:xfrm>
            <a:off x="7891272" y="2889504"/>
            <a:ext cx="3529584" cy="155448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050"/>
              <a:buFont typeface="Calibri"/>
              <a:buChar char="•"/>
            </a:pPr>
            <a:r>
              <a:rPr b="0" i="0" lang="en-US" sz="1050" u="none" cap="none" strike="noStrike">
                <a:solidFill>
                  <a:srgbClr val="16202C"/>
                </a:solidFill>
                <a:latin typeface="Calibri"/>
                <a:ea typeface="Calibri"/>
                <a:cs typeface="Calibri"/>
                <a:sym typeface="Calibri"/>
              </a:rPr>
              <a:t>A queue — nothing carries the header unless you put it in the message yourself</a:t>
            </a:r>
            <a:endParaRPr b="0" i="0" sz="1050" u="none" cap="none" strike="noStrike">
              <a:solidFill>
                <a:schemeClr val="dk1"/>
              </a:solidFill>
              <a:latin typeface="Calibri"/>
              <a:ea typeface="Calibri"/>
              <a:cs typeface="Calibri"/>
              <a:sym typeface="Calibri"/>
            </a:endParaRPr>
          </a:p>
          <a:p>
            <a:pPr indent="-342900" lvl="0" marL="342900" marR="0" rtl="0" algn="l">
              <a:lnSpc>
                <a:spcPct val="105000"/>
              </a:lnSpc>
              <a:spcBef>
                <a:spcPts val="400"/>
              </a:spcBef>
              <a:spcAft>
                <a:spcPts val="0"/>
              </a:spcAft>
              <a:buClr>
                <a:srgbClr val="16202C"/>
              </a:buClr>
              <a:buSzPts val="1050"/>
              <a:buFont typeface="Calibri"/>
              <a:buChar char="•"/>
            </a:pPr>
            <a:r>
              <a:rPr b="0" i="0" lang="en-US" sz="1050" u="none" cap="none" strike="noStrike">
                <a:solidFill>
                  <a:srgbClr val="16202C"/>
                </a:solidFill>
                <a:latin typeface="Calibri"/>
                <a:ea typeface="Calibri"/>
                <a:cs typeface="Calibri"/>
                <a:sym typeface="Calibri"/>
              </a:rPr>
              <a:t>A thread pool or a background job that outlives the request</a:t>
            </a:r>
            <a:endParaRPr b="0" i="0" sz="1050" u="none" cap="none" strike="noStrike">
              <a:solidFill>
                <a:schemeClr val="dk1"/>
              </a:solidFill>
              <a:latin typeface="Calibri"/>
              <a:ea typeface="Calibri"/>
              <a:cs typeface="Calibri"/>
              <a:sym typeface="Calibri"/>
            </a:endParaRPr>
          </a:p>
          <a:p>
            <a:pPr indent="-342900" lvl="0" marL="342900" marR="0" rtl="0" algn="l">
              <a:lnSpc>
                <a:spcPct val="105000"/>
              </a:lnSpc>
              <a:spcBef>
                <a:spcPts val="400"/>
              </a:spcBef>
              <a:spcAft>
                <a:spcPts val="0"/>
              </a:spcAft>
              <a:buClr>
                <a:srgbClr val="16202C"/>
              </a:buClr>
              <a:buSzPts val="1050"/>
              <a:buFont typeface="Calibri"/>
              <a:buChar char="•"/>
            </a:pPr>
            <a:r>
              <a:rPr b="0" i="0" lang="en-US" sz="1050" u="none" cap="none" strike="noStrike">
                <a:solidFill>
                  <a:srgbClr val="16202C"/>
                </a:solidFill>
                <a:latin typeface="Calibri"/>
                <a:ea typeface="Calibri"/>
                <a:cs typeface="Calibri"/>
                <a:sym typeface="Calibri"/>
              </a:rPr>
              <a:t>One service in the chain not instrumented at all</a:t>
            </a:r>
            <a:endParaRPr b="0" i="0" sz="1050" u="none" cap="none" strike="noStrike">
              <a:solidFill>
                <a:schemeClr val="dk1"/>
              </a:solidFill>
              <a:latin typeface="Calibri"/>
              <a:ea typeface="Calibri"/>
              <a:cs typeface="Calibri"/>
              <a:sym typeface="Calibri"/>
            </a:endParaRPr>
          </a:p>
          <a:p>
            <a:pPr indent="-342900" lvl="0" marL="342900" marR="0" rtl="0" algn="l">
              <a:lnSpc>
                <a:spcPct val="105000"/>
              </a:lnSpc>
              <a:spcBef>
                <a:spcPts val="400"/>
              </a:spcBef>
              <a:spcAft>
                <a:spcPts val="0"/>
              </a:spcAft>
              <a:buClr>
                <a:srgbClr val="16202C"/>
              </a:buClr>
              <a:buSzPts val="1050"/>
              <a:buFont typeface="Calibri"/>
              <a:buChar char="•"/>
            </a:pPr>
            <a:r>
              <a:rPr b="0" i="0" lang="en-US" sz="1050" u="none" cap="none" strike="noStrike">
                <a:solidFill>
                  <a:srgbClr val="16202C"/>
                </a:solidFill>
                <a:latin typeface="Calibri"/>
                <a:ea typeface="Calibri"/>
                <a:cs typeface="Calibri"/>
                <a:sym typeface="Calibri"/>
              </a:rPr>
              <a:t>A proxy or gateway configured to strip unknown headers</a:t>
            </a:r>
            <a:endParaRPr b="0" i="0" sz="1050" u="none" cap="none" strike="noStrike">
              <a:solidFill>
                <a:schemeClr val="dk1"/>
              </a:solidFill>
              <a:latin typeface="Calibri"/>
              <a:ea typeface="Calibri"/>
              <a:cs typeface="Calibri"/>
              <a:sym typeface="Calibri"/>
            </a:endParaRPr>
          </a:p>
        </p:txBody>
      </p:sp>
      <p:sp>
        <p:nvSpPr>
          <p:cNvPr id="1324" name="Google Shape;1324;p33"/>
          <p:cNvSpPr/>
          <p:nvPr/>
        </p:nvSpPr>
        <p:spPr>
          <a:xfrm>
            <a:off x="566928" y="4700016"/>
            <a:ext cx="5349240" cy="1097280"/>
          </a:xfrm>
          <a:prstGeom prst="roundRect">
            <a:avLst>
              <a:gd fmla="val 7500"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3"/>
          <p:cNvSpPr/>
          <p:nvPr/>
        </p:nvSpPr>
        <p:spPr>
          <a:xfrm>
            <a:off x="786384" y="4882896"/>
            <a:ext cx="292608" cy="292608"/>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3"/>
          <p:cNvSpPr/>
          <p:nvPr/>
        </p:nvSpPr>
        <p:spPr>
          <a:xfrm>
            <a:off x="786384" y="488289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t>
            </a:r>
            <a:endParaRPr b="0" i="0" sz="1150" u="none" cap="none" strike="noStrike">
              <a:solidFill>
                <a:schemeClr val="dk1"/>
              </a:solidFill>
              <a:latin typeface="Calibri"/>
              <a:ea typeface="Calibri"/>
              <a:cs typeface="Calibri"/>
              <a:sym typeface="Calibri"/>
            </a:endParaRPr>
          </a:p>
        </p:txBody>
      </p:sp>
      <p:sp>
        <p:nvSpPr>
          <p:cNvPr id="1327" name="Google Shape;1327;p33"/>
          <p:cNvSpPr/>
          <p:nvPr/>
        </p:nvSpPr>
        <p:spPr>
          <a:xfrm>
            <a:off x="1188720" y="4882896"/>
            <a:ext cx="4325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W3C traceparent is a standard, and that matters</a:t>
            </a:r>
            <a:endParaRPr b="0" i="0" sz="1300" u="none" cap="none" strike="noStrike">
              <a:solidFill>
                <a:schemeClr val="dk1"/>
              </a:solidFill>
              <a:latin typeface="Calibri"/>
              <a:ea typeface="Calibri"/>
              <a:cs typeface="Calibri"/>
              <a:sym typeface="Calibri"/>
            </a:endParaRPr>
          </a:p>
        </p:txBody>
      </p:sp>
      <p:sp>
        <p:nvSpPr>
          <p:cNvPr id="1328" name="Google Shape;1328;p33"/>
          <p:cNvSpPr/>
          <p:nvPr/>
        </p:nvSpPr>
        <p:spPr>
          <a:xfrm>
            <a:off x="786384" y="5285232"/>
            <a:ext cx="4910328" cy="347472"/>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Any two instrumented services interoperate, even across languages, frameworks and vendors. There is no proprietary header to agree on.</a:t>
            </a:r>
            <a:endParaRPr b="0" i="0" sz="1100" u="none" cap="none" strike="noStrike">
              <a:solidFill>
                <a:schemeClr val="dk1"/>
              </a:solidFill>
              <a:latin typeface="Calibri"/>
              <a:ea typeface="Calibri"/>
              <a:cs typeface="Calibri"/>
              <a:sym typeface="Calibri"/>
            </a:endParaRPr>
          </a:p>
        </p:txBody>
      </p:sp>
      <p:sp>
        <p:nvSpPr>
          <p:cNvPr id="1329" name="Google Shape;1329;p33"/>
          <p:cNvSpPr/>
          <p:nvPr/>
        </p:nvSpPr>
        <p:spPr>
          <a:xfrm>
            <a:off x="6281928" y="4700016"/>
            <a:ext cx="5349240" cy="1097280"/>
          </a:xfrm>
          <a:prstGeom prst="roundRect">
            <a:avLst>
              <a:gd fmla="val 7500"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3"/>
          <p:cNvSpPr/>
          <p:nvPr/>
        </p:nvSpPr>
        <p:spPr>
          <a:xfrm>
            <a:off x="6501384" y="4882896"/>
            <a:ext cx="292608" cy="292608"/>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3"/>
          <p:cNvSpPr/>
          <p:nvPr/>
        </p:nvSpPr>
        <p:spPr>
          <a:xfrm>
            <a:off x="6501384" y="4882896"/>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i</a:t>
            </a:r>
            <a:endParaRPr b="0" i="0" sz="1150" u="none" cap="none" strike="noStrike">
              <a:solidFill>
                <a:schemeClr val="dk1"/>
              </a:solidFill>
              <a:latin typeface="Calibri"/>
              <a:ea typeface="Calibri"/>
              <a:cs typeface="Calibri"/>
              <a:sym typeface="Calibri"/>
            </a:endParaRPr>
          </a:p>
        </p:txBody>
      </p:sp>
      <p:sp>
        <p:nvSpPr>
          <p:cNvPr id="1332" name="Google Shape;1332;p33"/>
          <p:cNvSpPr/>
          <p:nvPr/>
        </p:nvSpPr>
        <p:spPr>
          <a:xfrm>
            <a:off x="6903720" y="4882896"/>
            <a:ext cx="4325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Broken propagation is the number one tracing bug</a:t>
            </a:r>
            <a:endParaRPr b="0" i="0" sz="1300" u="none" cap="none" strike="noStrike">
              <a:solidFill>
                <a:schemeClr val="dk1"/>
              </a:solidFill>
              <a:latin typeface="Calibri"/>
              <a:ea typeface="Calibri"/>
              <a:cs typeface="Calibri"/>
              <a:sym typeface="Calibri"/>
            </a:endParaRPr>
          </a:p>
        </p:txBody>
      </p:sp>
      <p:sp>
        <p:nvSpPr>
          <p:cNvPr id="1333" name="Google Shape;1333;p33"/>
          <p:cNvSpPr/>
          <p:nvPr/>
        </p:nvSpPr>
        <p:spPr>
          <a:xfrm>
            <a:off x="6501384" y="5285232"/>
            <a:ext cx="4910328" cy="347472"/>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The symptom is always the same: lots of short, orphaned traces that all start at one service. Look for the hop that dropped the header.</a:t>
            </a:r>
            <a:endParaRPr b="0" i="0" sz="1100" u="none" cap="none" strike="noStrike">
              <a:solidFill>
                <a:schemeClr val="dk1"/>
              </a:solidFill>
              <a:latin typeface="Calibri"/>
              <a:ea typeface="Calibri"/>
              <a:cs typeface="Calibri"/>
              <a:sym typeface="Calibri"/>
            </a:endParaRPr>
          </a:p>
        </p:txBody>
      </p:sp>
      <p:sp>
        <p:nvSpPr>
          <p:cNvPr id="1334" name="Google Shape;1334;p33"/>
          <p:cNvSpPr/>
          <p:nvPr/>
        </p:nvSpPr>
        <p:spPr>
          <a:xfrm>
            <a:off x="566928" y="5925312"/>
            <a:ext cx="11057839" cy="457200"/>
          </a:xfrm>
          <a:prstGeom prst="roundRect">
            <a:avLst>
              <a:gd fmla="val 18000"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33"/>
          <p:cNvSpPr/>
          <p:nvPr/>
        </p:nvSpPr>
        <p:spPr>
          <a:xfrm>
            <a:off x="768096" y="6016752"/>
            <a:ext cx="274320" cy="27432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3"/>
          <p:cNvSpPr/>
          <p:nvPr/>
        </p:nvSpPr>
        <p:spPr>
          <a:xfrm>
            <a:off x="768096" y="601675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337" name="Google Shape;1337;p33"/>
          <p:cNvSpPr/>
          <p:nvPr/>
        </p:nvSpPr>
        <p:spPr>
          <a:xfrm>
            <a:off x="1170432" y="5925312"/>
            <a:ext cx="1023487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Instrumentation is per service, but tracing is only useful if it is everywhere. One un-instrumented hop cuts the tree at that point.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2" name="Shape 1342"/>
        <p:cNvGrpSpPr/>
        <p:nvPr/>
      </p:nvGrpSpPr>
      <p:grpSpPr>
        <a:xfrm>
          <a:off x="0" y="0"/>
          <a:ext cx="0" cy="0"/>
          <a:chOff x="0" y="0"/>
          <a:chExt cx="0" cy="0"/>
        </a:xfrm>
      </p:grpSpPr>
      <p:sp>
        <p:nvSpPr>
          <p:cNvPr id="1343" name="Google Shape;1343;p34"/>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50"/>
              <a:buFont typeface="Calibri"/>
              <a:buNone/>
            </a:pPr>
            <a:r>
              <a:rPr b="1" i="0" lang="en-US" sz="1050" u="none" cap="none" strike="noStrike">
                <a:solidFill>
                  <a:srgbClr val="5C3FA6"/>
                </a:solidFill>
                <a:latin typeface="Calibri"/>
                <a:ea typeface="Calibri"/>
                <a:cs typeface="Calibri"/>
                <a:sym typeface="Calibri"/>
              </a:rPr>
              <a:t>GETTING SPANS OUT OF YOUR CODE</a:t>
            </a:r>
            <a:endParaRPr b="0" i="0" sz="1050" u="none" cap="none" strike="noStrike">
              <a:solidFill>
                <a:schemeClr val="dk1"/>
              </a:solidFill>
              <a:latin typeface="Calibri"/>
              <a:ea typeface="Calibri"/>
              <a:cs typeface="Calibri"/>
              <a:sym typeface="Calibri"/>
            </a:endParaRPr>
          </a:p>
        </p:txBody>
      </p:sp>
      <p:sp>
        <p:nvSpPr>
          <p:cNvPr id="1344" name="Google Shape;1344;p34"/>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700"/>
              <a:buFont typeface="Cambria"/>
              <a:buNone/>
            </a:pPr>
            <a:r>
              <a:rPr b="1" i="0" lang="en-US" sz="2700" u="none" cap="none" strike="noStrike">
                <a:solidFill>
                  <a:srgbClr val="16202C"/>
                </a:solidFill>
                <a:latin typeface="Cambria"/>
                <a:ea typeface="Cambria"/>
                <a:cs typeface="Cambria"/>
                <a:sym typeface="Cambria"/>
              </a:rPr>
              <a:t>Three levels of instrumentation, and you want all three</a:t>
            </a:r>
            <a:endParaRPr b="0" i="0" sz="2700" u="none" cap="none" strike="noStrike">
              <a:solidFill>
                <a:schemeClr val="dk1"/>
              </a:solidFill>
              <a:latin typeface="Calibri"/>
              <a:ea typeface="Calibri"/>
              <a:cs typeface="Calibri"/>
              <a:sym typeface="Calibri"/>
            </a:endParaRPr>
          </a:p>
        </p:txBody>
      </p:sp>
      <p:sp>
        <p:nvSpPr>
          <p:cNvPr id="1345" name="Google Shape;1345;p34"/>
          <p:cNvSpPr/>
          <p:nvPr/>
        </p:nvSpPr>
        <p:spPr>
          <a:xfrm>
            <a:off x="10556748" y="402336"/>
            <a:ext cx="1068019" cy="329184"/>
          </a:xfrm>
          <a:prstGeom prst="roundRect">
            <a:avLst>
              <a:gd fmla="val 50000" name="adj"/>
            </a:avLst>
          </a:prstGeom>
          <a:solidFill>
            <a:srgbClr val="EDE8F8"/>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4"/>
          <p:cNvSpPr/>
          <p:nvPr/>
        </p:nvSpPr>
        <p:spPr>
          <a:xfrm>
            <a:off x="10730484" y="525780"/>
            <a:ext cx="91440" cy="9144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4"/>
          <p:cNvSpPr/>
          <p:nvPr/>
        </p:nvSpPr>
        <p:spPr>
          <a:xfrm>
            <a:off x="10867644" y="402336"/>
            <a:ext cx="66568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00"/>
              <a:buFont typeface="Calibri"/>
              <a:buNone/>
            </a:pPr>
            <a:r>
              <a:rPr b="1" i="0" lang="en-US" sz="1000" u="none" cap="none" strike="noStrike">
                <a:solidFill>
                  <a:srgbClr val="5C3FA6"/>
                </a:solidFill>
                <a:latin typeface="Calibri"/>
                <a:ea typeface="Calibri"/>
                <a:cs typeface="Calibri"/>
                <a:sym typeface="Calibri"/>
              </a:rPr>
              <a:t>Traces</a:t>
            </a:r>
            <a:endParaRPr b="0" i="0" sz="1000" u="none" cap="none" strike="noStrike">
              <a:solidFill>
                <a:schemeClr val="dk1"/>
              </a:solidFill>
              <a:latin typeface="Calibri"/>
              <a:ea typeface="Calibri"/>
              <a:cs typeface="Calibri"/>
              <a:sym typeface="Calibri"/>
            </a:endParaRPr>
          </a:p>
        </p:txBody>
      </p:sp>
      <p:sp>
        <p:nvSpPr>
          <p:cNvPr id="1348" name="Google Shape;1348;p34"/>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349" name="Google Shape;1349;p34"/>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32</a:t>
            </a:r>
            <a:endParaRPr b="0" i="0" sz="900" u="none" cap="none" strike="noStrike">
              <a:solidFill>
                <a:schemeClr val="dk1"/>
              </a:solidFill>
              <a:latin typeface="Calibri"/>
              <a:ea typeface="Calibri"/>
              <a:cs typeface="Calibri"/>
              <a:sym typeface="Calibri"/>
            </a:endParaRPr>
          </a:p>
        </p:txBody>
      </p:sp>
      <p:sp>
        <p:nvSpPr>
          <p:cNvPr id="1350" name="Google Shape;1350;p34"/>
          <p:cNvSpPr/>
          <p:nvPr/>
        </p:nvSpPr>
        <p:spPr>
          <a:xfrm>
            <a:off x="566928" y="1371600"/>
            <a:ext cx="3511296" cy="4059936"/>
          </a:xfrm>
          <a:prstGeom prst="roundRect">
            <a:avLst>
              <a:gd fmla="val 2344" name="adj"/>
            </a:avLst>
          </a:prstGeom>
          <a:solidFill>
            <a:srgbClr val="FFFFFF"/>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4"/>
          <p:cNvSpPr/>
          <p:nvPr/>
        </p:nvSpPr>
        <p:spPr>
          <a:xfrm>
            <a:off x="566928" y="1371600"/>
            <a:ext cx="3511296" cy="786384"/>
          </a:xfrm>
          <a:prstGeom prst="roundRect">
            <a:avLst>
              <a:gd fmla="val 10465"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4"/>
          <p:cNvSpPr/>
          <p:nvPr/>
        </p:nvSpPr>
        <p:spPr>
          <a:xfrm>
            <a:off x="804672" y="1609344"/>
            <a:ext cx="310896" cy="310896"/>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4"/>
          <p:cNvSpPr/>
          <p:nvPr/>
        </p:nvSpPr>
        <p:spPr>
          <a:xfrm>
            <a:off x="804672" y="160934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354" name="Google Shape;1354;p34"/>
          <p:cNvSpPr/>
          <p:nvPr/>
        </p:nvSpPr>
        <p:spPr>
          <a:xfrm>
            <a:off x="1207008" y="1463040"/>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400"/>
              <a:buFont typeface="Calibri"/>
              <a:buNone/>
            </a:pPr>
            <a:r>
              <a:rPr b="1" i="0" lang="en-US" sz="1400" u="none" cap="none" strike="noStrike">
                <a:solidFill>
                  <a:srgbClr val="16202C"/>
                </a:solidFill>
                <a:latin typeface="Calibri"/>
                <a:ea typeface="Calibri"/>
                <a:cs typeface="Calibri"/>
                <a:sym typeface="Calibri"/>
              </a:rPr>
              <a:t>Zero-code / auto</a:t>
            </a:r>
            <a:endParaRPr b="0" i="0" sz="1400" u="none" cap="none" strike="noStrike">
              <a:solidFill>
                <a:schemeClr val="dk1"/>
              </a:solidFill>
              <a:latin typeface="Calibri"/>
              <a:ea typeface="Calibri"/>
              <a:cs typeface="Calibri"/>
              <a:sym typeface="Calibri"/>
            </a:endParaRPr>
          </a:p>
        </p:txBody>
      </p:sp>
      <p:sp>
        <p:nvSpPr>
          <p:cNvPr id="1355" name="Google Shape;1355;p34"/>
          <p:cNvSpPr/>
          <p:nvPr/>
        </p:nvSpPr>
        <p:spPr>
          <a:xfrm>
            <a:off x="1207008" y="1810512"/>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1000"/>
              <a:buFont typeface="Calibri"/>
              <a:buNone/>
            </a:pPr>
            <a:r>
              <a:rPr b="0" i="1" lang="en-US" sz="1000" u="none" cap="none" strike="noStrike">
                <a:solidFill>
                  <a:srgbClr val="1B7048"/>
                </a:solidFill>
                <a:latin typeface="Calibri"/>
                <a:ea typeface="Calibri"/>
                <a:cs typeface="Calibri"/>
                <a:sym typeface="Calibri"/>
              </a:rPr>
              <a:t>Effort: Minutes</a:t>
            </a:r>
            <a:endParaRPr b="0" i="0" sz="1000" u="none" cap="none" strike="noStrike">
              <a:solidFill>
                <a:schemeClr val="dk1"/>
              </a:solidFill>
              <a:latin typeface="Calibri"/>
              <a:ea typeface="Calibri"/>
              <a:cs typeface="Calibri"/>
              <a:sym typeface="Calibri"/>
            </a:endParaRPr>
          </a:p>
        </p:txBody>
      </p:sp>
      <p:sp>
        <p:nvSpPr>
          <p:cNvPr id="1356" name="Google Shape;1356;p34"/>
          <p:cNvSpPr/>
          <p:nvPr/>
        </p:nvSpPr>
        <p:spPr>
          <a:xfrm>
            <a:off x="804672" y="2286000"/>
            <a:ext cx="3035808" cy="13716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An agent or a startup flag patches the libraries you already use. HTTP servers, HTTP clients, database drivers and queue clients all start emitting spans without you touching a line.</a:t>
            </a:r>
            <a:endParaRPr b="0" i="0" sz="1100" u="none" cap="none" strike="noStrike">
              <a:solidFill>
                <a:schemeClr val="dk1"/>
              </a:solidFill>
              <a:latin typeface="Calibri"/>
              <a:ea typeface="Calibri"/>
              <a:cs typeface="Calibri"/>
              <a:sym typeface="Calibri"/>
            </a:endParaRPr>
          </a:p>
        </p:txBody>
      </p:sp>
      <p:sp>
        <p:nvSpPr>
          <p:cNvPr id="1357" name="Google Shape;1357;p34"/>
          <p:cNvSpPr/>
          <p:nvPr/>
        </p:nvSpPr>
        <p:spPr>
          <a:xfrm>
            <a:off x="804672" y="3712464"/>
            <a:ext cx="3035808" cy="713232"/>
          </a:xfrm>
          <a:prstGeom prst="roundRect">
            <a:avLst>
              <a:gd fmla="val 8974"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4"/>
          <p:cNvSpPr/>
          <p:nvPr/>
        </p:nvSpPr>
        <p:spPr>
          <a:xfrm>
            <a:off x="896112" y="3712464"/>
            <a:ext cx="2852928" cy="713232"/>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8D4DF"/>
              </a:buClr>
              <a:buSzPts val="750"/>
              <a:buFont typeface="Courier New"/>
              <a:buNone/>
            </a:pPr>
            <a:r>
              <a:rPr b="0" i="0" lang="en-US" sz="750" u="none" cap="none" strike="noStrike">
                <a:solidFill>
                  <a:srgbClr val="C8D4DF"/>
                </a:solidFill>
                <a:latin typeface="Courier New"/>
                <a:ea typeface="Courier New"/>
                <a:cs typeface="Courier New"/>
                <a:sym typeface="Courier New"/>
              </a:rPr>
              <a:t>node --require @opentelemetry/auto-instrumentations-node/register app.js</a:t>
            </a:r>
            <a:endParaRPr b="0" i="0" sz="750" u="none" cap="none" strike="noStrike">
              <a:solidFill>
                <a:schemeClr val="dk1"/>
              </a:solidFill>
              <a:latin typeface="Calibri"/>
              <a:ea typeface="Calibri"/>
              <a:cs typeface="Calibri"/>
              <a:sym typeface="Calibri"/>
            </a:endParaRPr>
          </a:p>
        </p:txBody>
      </p:sp>
      <p:sp>
        <p:nvSpPr>
          <p:cNvPr id="1359" name="Google Shape;1359;p34"/>
          <p:cNvSpPr/>
          <p:nvPr/>
        </p:nvSpPr>
        <p:spPr>
          <a:xfrm>
            <a:off x="804672" y="4517136"/>
            <a:ext cx="3035808" cy="7863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7048"/>
              </a:buClr>
              <a:buSzPts val="1050"/>
              <a:buFont typeface="Calibri"/>
              <a:buNone/>
            </a:pPr>
            <a:r>
              <a:rPr b="0" i="0" lang="en-US" sz="1050" u="none" cap="none" strike="noStrike">
                <a:solidFill>
                  <a:srgbClr val="1B7048"/>
                </a:solidFill>
                <a:latin typeface="Calibri"/>
                <a:ea typeface="Calibri"/>
                <a:cs typeface="Calibri"/>
                <a:sym typeface="Calibri"/>
              </a:rPr>
              <a:t>Gets you 80% of the value on day one. Start here, always.</a:t>
            </a:r>
            <a:endParaRPr b="0" i="0" sz="1050" u="none" cap="none" strike="noStrike">
              <a:solidFill>
                <a:schemeClr val="dk1"/>
              </a:solidFill>
              <a:latin typeface="Calibri"/>
              <a:ea typeface="Calibri"/>
              <a:cs typeface="Calibri"/>
              <a:sym typeface="Calibri"/>
            </a:endParaRPr>
          </a:p>
        </p:txBody>
      </p:sp>
      <p:sp>
        <p:nvSpPr>
          <p:cNvPr id="1360" name="Google Shape;1360;p34"/>
          <p:cNvSpPr/>
          <p:nvPr/>
        </p:nvSpPr>
        <p:spPr>
          <a:xfrm>
            <a:off x="4306824" y="1371600"/>
            <a:ext cx="3511296" cy="4059936"/>
          </a:xfrm>
          <a:prstGeom prst="roundRect">
            <a:avLst>
              <a:gd fmla="val 2344" name="adj"/>
            </a:avLst>
          </a:prstGeom>
          <a:solidFill>
            <a:srgbClr val="FFFFFF"/>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4"/>
          <p:cNvSpPr/>
          <p:nvPr/>
        </p:nvSpPr>
        <p:spPr>
          <a:xfrm>
            <a:off x="4306824" y="1371600"/>
            <a:ext cx="3511296" cy="786384"/>
          </a:xfrm>
          <a:prstGeom prst="roundRect">
            <a:avLst>
              <a:gd fmla="val 10465"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4"/>
          <p:cNvSpPr/>
          <p:nvPr/>
        </p:nvSpPr>
        <p:spPr>
          <a:xfrm>
            <a:off x="4544568" y="1609344"/>
            <a:ext cx="310896" cy="310896"/>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4"/>
          <p:cNvSpPr/>
          <p:nvPr/>
        </p:nvSpPr>
        <p:spPr>
          <a:xfrm>
            <a:off x="4544568" y="160934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364" name="Google Shape;1364;p34"/>
          <p:cNvSpPr/>
          <p:nvPr/>
        </p:nvSpPr>
        <p:spPr>
          <a:xfrm>
            <a:off x="4946904" y="1463040"/>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400"/>
              <a:buFont typeface="Calibri"/>
              <a:buNone/>
            </a:pPr>
            <a:r>
              <a:rPr b="1" i="0" lang="en-US" sz="1400" u="none" cap="none" strike="noStrike">
                <a:solidFill>
                  <a:srgbClr val="16202C"/>
                </a:solidFill>
                <a:latin typeface="Calibri"/>
                <a:ea typeface="Calibri"/>
                <a:cs typeface="Calibri"/>
                <a:sym typeface="Calibri"/>
              </a:rPr>
              <a:t>Library / framework</a:t>
            </a:r>
            <a:endParaRPr b="0" i="0" sz="1400" u="none" cap="none" strike="noStrike">
              <a:solidFill>
                <a:schemeClr val="dk1"/>
              </a:solidFill>
              <a:latin typeface="Calibri"/>
              <a:ea typeface="Calibri"/>
              <a:cs typeface="Calibri"/>
              <a:sym typeface="Calibri"/>
            </a:endParaRPr>
          </a:p>
        </p:txBody>
      </p:sp>
      <p:sp>
        <p:nvSpPr>
          <p:cNvPr id="1365" name="Google Shape;1365;p34"/>
          <p:cNvSpPr/>
          <p:nvPr/>
        </p:nvSpPr>
        <p:spPr>
          <a:xfrm>
            <a:off x="4946904" y="1810512"/>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000"/>
              <a:buFont typeface="Calibri"/>
              <a:buNone/>
            </a:pPr>
            <a:r>
              <a:rPr b="0" i="1" lang="en-US" sz="1000" u="none" cap="none" strike="noStrike">
                <a:solidFill>
                  <a:srgbClr val="0C6B7D"/>
                </a:solidFill>
                <a:latin typeface="Calibri"/>
                <a:ea typeface="Calibri"/>
                <a:cs typeface="Calibri"/>
                <a:sym typeface="Calibri"/>
              </a:rPr>
              <a:t>Effort: Hours</a:t>
            </a:r>
            <a:endParaRPr b="0" i="0" sz="1000" u="none" cap="none" strike="noStrike">
              <a:solidFill>
                <a:schemeClr val="dk1"/>
              </a:solidFill>
              <a:latin typeface="Calibri"/>
              <a:ea typeface="Calibri"/>
              <a:cs typeface="Calibri"/>
              <a:sym typeface="Calibri"/>
            </a:endParaRPr>
          </a:p>
        </p:txBody>
      </p:sp>
      <p:sp>
        <p:nvSpPr>
          <p:cNvPr id="1366" name="Google Shape;1366;p34"/>
          <p:cNvSpPr/>
          <p:nvPr/>
        </p:nvSpPr>
        <p:spPr>
          <a:xfrm>
            <a:off x="4544568" y="2286000"/>
            <a:ext cx="3035808" cy="13716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You add the SDK and configure it properly: service name, version, environment, resource attributes, sampler and exporter. This is what makes the traces navigable rather than merely present.</a:t>
            </a:r>
            <a:endParaRPr b="0" i="0" sz="1100" u="none" cap="none" strike="noStrike">
              <a:solidFill>
                <a:schemeClr val="dk1"/>
              </a:solidFill>
              <a:latin typeface="Calibri"/>
              <a:ea typeface="Calibri"/>
              <a:cs typeface="Calibri"/>
              <a:sym typeface="Calibri"/>
            </a:endParaRPr>
          </a:p>
        </p:txBody>
      </p:sp>
      <p:sp>
        <p:nvSpPr>
          <p:cNvPr id="1367" name="Google Shape;1367;p34"/>
          <p:cNvSpPr/>
          <p:nvPr/>
        </p:nvSpPr>
        <p:spPr>
          <a:xfrm>
            <a:off x="4544568" y="3712464"/>
            <a:ext cx="3035808" cy="713232"/>
          </a:xfrm>
          <a:prstGeom prst="roundRect">
            <a:avLst>
              <a:gd fmla="val 8974"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4"/>
          <p:cNvSpPr/>
          <p:nvPr/>
        </p:nvSpPr>
        <p:spPr>
          <a:xfrm>
            <a:off x="4636008" y="3712464"/>
            <a:ext cx="2852928" cy="713232"/>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8D4DF"/>
              </a:buClr>
              <a:buSzPts val="750"/>
              <a:buFont typeface="Courier New"/>
              <a:buNone/>
            </a:pPr>
            <a:r>
              <a:rPr b="0" i="0" lang="en-US" sz="750" u="none" cap="none" strike="noStrike">
                <a:solidFill>
                  <a:srgbClr val="C8D4DF"/>
                </a:solidFill>
                <a:latin typeface="Courier New"/>
                <a:ea typeface="Courier New"/>
                <a:cs typeface="Courier New"/>
                <a:sym typeface="Courier New"/>
              </a:rPr>
              <a:t>service.name=payment  service.version=1.4.2  deployment.environment=prod</a:t>
            </a:r>
            <a:endParaRPr b="0" i="0" sz="750" u="none" cap="none" strike="noStrike">
              <a:solidFill>
                <a:schemeClr val="dk1"/>
              </a:solidFill>
              <a:latin typeface="Calibri"/>
              <a:ea typeface="Calibri"/>
              <a:cs typeface="Calibri"/>
              <a:sym typeface="Calibri"/>
            </a:endParaRPr>
          </a:p>
        </p:txBody>
      </p:sp>
      <p:sp>
        <p:nvSpPr>
          <p:cNvPr id="1369" name="Google Shape;1369;p34"/>
          <p:cNvSpPr/>
          <p:nvPr/>
        </p:nvSpPr>
        <p:spPr>
          <a:xfrm>
            <a:off x="4544568" y="4517136"/>
            <a:ext cx="3035808" cy="7863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C6B7D"/>
              </a:buClr>
              <a:buSzPts val="1050"/>
              <a:buFont typeface="Calibri"/>
              <a:buNone/>
            </a:pPr>
            <a:r>
              <a:rPr b="0" i="0" lang="en-US" sz="1050" u="none" cap="none" strike="noStrike">
                <a:solidFill>
                  <a:srgbClr val="0C6B7D"/>
                </a:solidFill>
                <a:latin typeface="Calibri"/>
                <a:ea typeface="Calibri"/>
                <a:cs typeface="Calibri"/>
                <a:sym typeface="Calibri"/>
              </a:rPr>
              <a:t>Without service.name every span says “unknown_service”. Do this on day one too.</a:t>
            </a:r>
            <a:endParaRPr b="0" i="0" sz="1050" u="none" cap="none" strike="noStrike">
              <a:solidFill>
                <a:schemeClr val="dk1"/>
              </a:solidFill>
              <a:latin typeface="Calibri"/>
              <a:ea typeface="Calibri"/>
              <a:cs typeface="Calibri"/>
              <a:sym typeface="Calibri"/>
            </a:endParaRPr>
          </a:p>
        </p:txBody>
      </p:sp>
      <p:sp>
        <p:nvSpPr>
          <p:cNvPr id="1370" name="Google Shape;1370;p34"/>
          <p:cNvSpPr/>
          <p:nvPr/>
        </p:nvSpPr>
        <p:spPr>
          <a:xfrm>
            <a:off x="8046720" y="1371600"/>
            <a:ext cx="3511296" cy="4059936"/>
          </a:xfrm>
          <a:prstGeom prst="roundRect">
            <a:avLst>
              <a:gd fmla="val 2344" name="adj"/>
            </a:avLst>
          </a:prstGeom>
          <a:solidFill>
            <a:srgbClr val="FFFFFF"/>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4"/>
          <p:cNvSpPr/>
          <p:nvPr/>
        </p:nvSpPr>
        <p:spPr>
          <a:xfrm>
            <a:off x="8046720" y="1371600"/>
            <a:ext cx="3511296" cy="786384"/>
          </a:xfrm>
          <a:prstGeom prst="roundRect">
            <a:avLst>
              <a:gd fmla="val 10465"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4"/>
          <p:cNvSpPr/>
          <p:nvPr/>
        </p:nvSpPr>
        <p:spPr>
          <a:xfrm>
            <a:off x="8284464" y="1609344"/>
            <a:ext cx="310896" cy="310896"/>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4"/>
          <p:cNvSpPr/>
          <p:nvPr/>
        </p:nvSpPr>
        <p:spPr>
          <a:xfrm>
            <a:off x="8284464" y="160934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374" name="Google Shape;1374;p34"/>
          <p:cNvSpPr/>
          <p:nvPr/>
        </p:nvSpPr>
        <p:spPr>
          <a:xfrm>
            <a:off x="8686800" y="1463040"/>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400"/>
              <a:buFont typeface="Calibri"/>
              <a:buNone/>
            </a:pPr>
            <a:r>
              <a:rPr b="1" i="0" lang="en-US" sz="1400" u="none" cap="none" strike="noStrike">
                <a:solidFill>
                  <a:srgbClr val="16202C"/>
                </a:solidFill>
                <a:latin typeface="Calibri"/>
                <a:ea typeface="Calibri"/>
                <a:cs typeface="Calibri"/>
                <a:sym typeface="Calibri"/>
              </a:rPr>
              <a:t>Manual spans</a:t>
            </a:r>
            <a:endParaRPr b="0" i="0" sz="1400" u="none" cap="none" strike="noStrike">
              <a:solidFill>
                <a:schemeClr val="dk1"/>
              </a:solidFill>
              <a:latin typeface="Calibri"/>
              <a:ea typeface="Calibri"/>
              <a:cs typeface="Calibri"/>
              <a:sym typeface="Calibri"/>
            </a:endParaRPr>
          </a:p>
        </p:txBody>
      </p:sp>
      <p:sp>
        <p:nvSpPr>
          <p:cNvPr id="1375" name="Google Shape;1375;p34"/>
          <p:cNvSpPr/>
          <p:nvPr/>
        </p:nvSpPr>
        <p:spPr>
          <a:xfrm>
            <a:off x="8686800" y="1810512"/>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00"/>
              <a:buFont typeface="Calibri"/>
              <a:buNone/>
            </a:pPr>
            <a:r>
              <a:rPr b="0" i="1" lang="en-US" sz="1000" u="none" cap="none" strike="noStrike">
                <a:solidFill>
                  <a:srgbClr val="5C3FA6"/>
                </a:solidFill>
                <a:latin typeface="Calibri"/>
                <a:ea typeface="Calibri"/>
                <a:cs typeface="Calibri"/>
                <a:sym typeface="Calibri"/>
              </a:rPr>
              <a:t>Effort: Ongoing</a:t>
            </a:r>
            <a:endParaRPr b="0" i="0" sz="1000" u="none" cap="none" strike="noStrike">
              <a:solidFill>
                <a:schemeClr val="dk1"/>
              </a:solidFill>
              <a:latin typeface="Calibri"/>
              <a:ea typeface="Calibri"/>
              <a:cs typeface="Calibri"/>
              <a:sym typeface="Calibri"/>
            </a:endParaRPr>
          </a:p>
        </p:txBody>
      </p:sp>
      <p:sp>
        <p:nvSpPr>
          <p:cNvPr id="1376" name="Google Shape;1376;p34"/>
          <p:cNvSpPr/>
          <p:nvPr/>
        </p:nvSpPr>
        <p:spPr>
          <a:xfrm>
            <a:off x="8284464" y="2286000"/>
            <a:ext cx="3035808" cy="13716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You wrap the parts that matter to your business and add attributes only you know: which pricing rule fired, which cache tier answered, which retry attempt this is.</a:t>
            </a:r>
            <a:endParaRPr b="0" i="0" sz="1100" u="none" cap="none" strike="noStrike">
              <a:solidFill>
                <a:schemeClr val="dk1"/>
              </a:solidFill>
              <a:latin typeface="Calibri"/>
              <a:ea typeface="Calibri"/>
              <a:cs typeface="Calibri"/>
              <a:sym typeface="Calibri"/>
            </a:endParaRPr>
          </a:p>
        </p:txBody>
      </p:sp>
      <p:sp>
        <p:nvSpPr>
          <p:cNvPr id="1377" name="Google Shape;1377;p34"/>
          <p:cNvSpPr/>
          <p:nvPr/>
        </p:nvSpPr>
        <p:spPr>
          <a:xfrm>
            <a:off x="8284464" y="3712464"/>
            <a:ext cx="3035808" cy="713232"/>
          </a:xfrm>
          <a:prstGeom prst="roundRect">
            <a:avLst>
              <a:gd fmla="val 8974" name="adj"/>
            </a:avLst>
          </a:prstGeom>
          <a:solidFill>
            <a:srgbClr val="10161F"/>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4"/>
          <p:cNvSpPr/>
          <p:nvPr/>
        </p:nvSpPr>
        <p:spPr>
          <a:xfrm>
            <a:off x="8375904" y="3712464"/>
            <a:ext cx="2852928" cy="713232"/>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C8D4DF"/>
              </a:buClr>
              <a:buSzPts val="750"/>
              <a:buFont typeface="Courier New"/>
              <a:buNone/>
            </a:pPr>
            <a:r>
              <a:rPr b="0" i="0" lang="en-US" sz="750" u="none" cap="none" strike="noStrike">
                <a:solidFill>
                  <a:srgbClr val="C8D4DF"/>
                </a:solidFill>
                <a:latin typeface="Courier New"/>
                <a:ea typeface="Courier New"/>
                <a:cs typeface="Courier New"/>
                <a:sym typeface="Courier New"/>
              </a:rPr>
              <a:t>span.setAttribute('order.value_npr', 450)</a:t>
            </a:r>
            <a:endParaRPr b="0" i="0" sz="750" u="none" cap="none" strike="noStrike">
              <a:solidFill>
                <a:schemeClr val="dk1"/>
              </a:solidFill>
              <a:latin typeface="Calibri"/>
              <a:ea typeface="Calibri"/>
              <a:cs typeface="Calibri"/>
              <a:sym typeface="Calibri"/>
            </a:endParaRPr>
          </a:p>
        </p:txBody>
      </p:sp>
      <p:sp>
        <p:nvSpPr>
          <p:cNvPr id="1379" name="Google Shape;1379;p34"/>
          <p:cNvSpPr/>
          <p:nvPr/>
        </p:nvSpPr>
        <p:spPr>
          <a:xfrm>
            <a:off x="8284464" y="4517136"/>
            <a:ext cx="3035808" cy="7863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3FA6"/>
              </a:buClr>
              <a:buSzPts val="1050"/>
              <a:buFont typeface="Calibri"/>
              <a:buNone/>
            </a:pPr>
            <a:r>
              <a:rPr b="0" i="0" lang="en-US" sz="1050" u="none" cap="none" strike="noStrike">
                <a:solidFill>
                  <a:srgbClr val="5C3FA6"/>
                </a:solidFill>
                <a:latin typeface="Calibri"/>
                <a:ea typeface="Calibri"/>
                <a:cs typeface="Calibri"/>
                <a:sym typeface="Calibri"/>
              </a:rPr>
              <a:t>This is where tracing goes from useful to indispensable. Add it where you have been burned.</a:t>
            </a:r>
            <a:endParaRPr b="0" i="0" sz="1050" u="none" cap="none" strike="noStrike">
              <a:solidFill>
                <a:schemeClr val="dk1"/>
              </a:solidFill>
              <a:latin typeface="Calibri"/>
              <a:ea typeface="Calibri"/>
              <a:cs typeface="Calibri"/>
              <a:sym typeface="Calibri"/>
            </a:endParaRPr>
          </a:p>
        </p:txBody>
      </p:sp>
      <p:sp>
        <p:nvSpPr>
          <p:cNvPr id="1380" name="Google Shape;1380;p34"/>
          <p:cNvSpPr/>
          <p:nvPr/>
        </p:nvSpPr>
        <p:spPr>
          <a:xfrm>
            <a:off x="566928" y="5614416"/>
            <a:ext cx="11057839" cy="694944"/>
          </a:xfrm>
          <a:prstGeom prst="roundRect">
            <a:avLst>
              <a:gd fmla="val 11842"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4"/>
          <p:cNvSpPr/>
          <p:nvPr/>
        </p:nvSpPr>
        <p:spPr>
          <a:xfrm>
            <a:off x="768096" y="5824728"/>
            <a:ext cx="274320" cy="27432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4"/>
          <p:cNvSpPr/>
          <p:nvPr/>
        </p:nvSpPr>
        <p:spPr>
          <a:xfrm>
            <a:off x="768096" y="582472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383" name="Google Shape;1383;p34"/>
          <p:cNvSpPr/>
          <p:nvPr/>
        </p:nvSpPr>
        <p:spPr>
          <a:xfrm>
            <a:off x="1170432" y="5614416"/>
            <a:ext cx="10234879" cy="694944"/>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The order matters. Teams that start at level 3 write beautiful manual spans for one service and never finish the other eight, so the traces are still cut in half. Turn auto-instrumentation on everywhere first, then go deep where it hurts.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8" name="Shape 1388"/>
        <p:cNvGrpSpPr/>
        <p:nvPr/>
      </p:nvGrpSpPr>
      <p:grpSpPr>
        <a:xfrm>
          <a:off x="0" y="0"/>
          <a:ext cx="0" cy="0"/>
          <a:chOff x="0" y="0"/>
          <a:chExt cx="0" cy="0"/>
        </a:xfrm>
      </p:grpSpPr>
      <p:sp>
        <p:nvSpPr>
          <p:cNvPr id="1389" name="Google Shape;1389;p35"/>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50"/>
              <a:buFont typeface="Calibri"/>
              <a:buNone/>
            </a:pPr>
            <a:r>
              <a:rPr b="1" i="0" lang="en-US" sz="1050" u="none" cap="none" strike="noStrike">
                <a:solidFill>
                  <a:srgbClr val="5C3FA6"/>
                </a:solidFill>
                <a:latin typeface="Calibri"/>
                <a:ea typeface="Calibri"/>
                <a:cs typeface="Calibri"/>
                <a:sym typeface="Calibri"/>
              </a:rPr>
              <a:t>THE COST CONTROL</a:t>
            </a:r>
            <a:endParaRPr b="0" i="0" sz="1050" u="none" cap="none" strike="noStrike">
              <a:solidFill>
                <a:schemeClr val="dk1"/>
              </a:solidFill>
              <a:latin typeface="Calibri"/>
              <a:ea typeface="Calibri"/>
              <a:cs typeface="Calibri"/>
              <a:sym typeface="Calibri"/>
            </a:endParaRPr>
          </a:p>
        </p:txBody>
      </p:sp>
      <p:sp>
        <p:nvSpPr>
          <p:cNvPr id="1390" name="Google Shape;1390;p35"/>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600"/>
              <a:buFont typeface="Cambria"/>
              <a:buNone/>
            </a:pPr>
            <a:r>
              <a:rPr b="1" i="0" lang="en-US" sz="2600" u="none" cap="none" strike="noStrike">
                <a:solidFill>
                  <a:srgbClr val="16202C"/>
                </a:solidFill>
                <a:latin typeface="Cambria"/>
                <a:ea typeface="Cambria"/>
                <a:cs typeface="Cambria"/>
                <a:sym typeface="Cambria"/>
              </a:rPr>
              <a:t>Sampling: you cannot keep every trace, and you do not need to</a:t>
            </a:r>
            <a:endParaRPr b="0" i="0" sz="2600" u="none" cap="none" strike="noStrike">
              <a:solidFill>
                <a:schemeClr val="dk1"/>
              </a:solidFill>
              <a:latin typeface="Calibri"/>
              <a:ea typeface="Calibri"/>
              <a:cs typeface="Calibri"/>
              <a:sym typeface="Calibri"/>
            </a:endParaRPr>
          </a:p>
        </p:txBody>
      </p:sp>
      <p:sp>
        <p:nvSpPr>
          <p:cNvPr id="1391" name="Google Shape;1391;p35"/>
          <p:cNvSpPr/>
          <p:nvPr/>
        </p:nvSpPr>
        <p:spPr>
          <a:xfrm>
            <a:off x="10556748" y="402336"/>
            <a:ext cx="1068019" cy="329184"/>
          </a:xfrm>
          <a:prstGeom prst="roundRect">
            <a:avLst>
              <a:gd fmla="val 50000" name="adj"/>
            </a:avLst>
          </a:prstGeom>
          <a:solidFill>
            <a:srgbClr val="EDE8F8"/>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5"/>
          <p:cNvSpPr/>
          <p:nvPr/>
        </p:nvSpPr>
        <p:spPr>
          <a:xfrm>
            <a:off x="10730484" y="525780"/>
            <a:ext cx="91440" cy="9144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35"/>
          <p:cNvSpPr/>
          <p:nvPr/>
        </p:nvSpPr>
        <p:spPr>
          <a:xfrm>
            <a:off x="10867644" y="402336"/>
            <a:ext cx="66568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00"/>
              <a:buFont typeface="Calibri"/>
              <a:buNone/>
            </a:pPr>
            <a:r>
              <a:rPr b="1" i="0" lang="en-US" sz="1000" u="none" cap="none" strike="noStrike">
                <a:solidFill>
                  <a:srgbClr val="5C3FA6"/>
                </a:solidFill>
                <a:latin typeface="Calibri"/>
                <a:ea typeface="Calibri"/>
                <a:cs typeface="Calibri"/>
                <a:sym typeface="Calibri"/>
              </a:rPr>
              <a:t>Traces</a:t>
            </a:r>
            <a:endParaRPr b="0" i="0" sz="1000" u="none" cap="none" strike="noStrike">
              <a:solidFill>
                <a:schemeClr val="dk1"/>
              </a:solidFill>
              <a:latin typeface="Calibri"/>
              <a:ea typeface="Calibri"/>
              <a:cs typeface="Calibri"/>
              <a:sym typeface="Calibri"/>
            </a:endParaRPr>
          </a:p>
        </p:txBody>
      </p:sp>
      <p:sp>
        <p:nvSpPr>
          <p:cNvPr id="1394" name="Google Shape;1394;p35"/>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395" name="Google Shape;1395;p35"/>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33</a:t>
            </a:r>
            <a:endParaRPr b="0" i="0" sz="900" u="none" cap="none" strike="noStrike">
              <a:solidFill>
                <a:schemeClr val="dk1"/>
              </a:solidFill>
              <a:latin typeface="Calibri"/>
              <a:ea typeface="Calibri"/>
              <a:cs typeface="Calibri"/>
              <a:sym typeface="Calibri"/>
            </a:endParaRPr>
          </a:p>
        </p:txBody>
      </p:sp>
      <p:sp>
        <p:nvSpPr>
          <p:cNvPr id="1396" name="Google Shape;1396;p35"/>
          <p:cNvSpPr/>
          <p:nvPr/>
        </p:nvSpPr>
        <p:spPr>
          <a:xfrm>
            <a:off x="566928" y="1371600"/>
            <a:ext cx="11057839" cy="822960"/>
          </a:xfrm>
          <a:prstGeom prst="roundRect">
            <a:avLst>
              <a:gd fmla="val 10000"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5"/>
          <p:cNvSpPr/>
          <p:nvPr/>
        </p:nvSpPr>
        <p:spPr>
          <a:xfrm>
            <a:off x="822960" y="1371600"/>
            <a:ext cx="105156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At 500 requests/second with 9 spans each, 100% sampling is roughly 390 million spans per day — from one service.</a:t>
            </a:r>
            <a:endParaRPr b="0" i="0" sz="1300" u="none" cap="none" strike="noStrike">
              <a:solidFill>
                <a:schemeClr val="dk1"/>
              </a:solidFill>
              <a:latin typeface="Calibri"/>
              <a:ea typeface="Calibri"/>
              <a:cs typeface="Calibri"/>
              <a:sym typeface="Calibri"/>
            </a:endParaRPr>
          </a:p>
        </p:txBody>
      </p:sp>
      <p:sp>
        <p:nvSpPr>
          <p:cNvPr id="1398" name="Google Shape;1398;p35"/>
          <p:cNvSpPr/>
          <p:nvPr/>
        </p:nvSpPr>
        <p:spPr>
          <a:xfrm>
            <a:off x="566928" y="2340864"/>
            <a:ext cx="5349240" cy="2962656"/>
          </a:xfrm>
          <a:prstGeom prst="roundRect">
            <a:avLst>
              <a:gd fmla="val 2778" name="adj"/>
            </a:avLst>
          </a:prstGeom>
          <a:solidFill>
            <a:srgbClr val="FFFFFF"/>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35"/>
          <p:cNvSpPr/>
          <p:nvPr/>
        </p:nvSpPr>
        <p:spPr>
          <a:xfrm>
            <a:off x="566928" y="2340864"/>
            <a:ext cx="5349240" cy="731520"/>
          </a:xfrm>
          <a:prstGeom prst="roundRect">
            <a:avLst>
              <a:gd fmla="val 11250"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35"/>
          <p:cNvSpPr/>
          <p:nvPr/>
        </p:nvSpPr>
        <p:spPr>
          <a:xfrm>
            <a:off x="822960" y="237744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800"/>
              <a:buFont typeface="Cambria"/>
              <a:buNone/>
            </a:pPr>
            <a:r>
              <a:rPr b="1" i="0" lang="en-US" sz="1800" u="none" cap="none" strike="noStrike">
                <a:solidFill>
                  <a:srgbClr val="0C6B7D"/>
                </a:solidFill>
                <a:latin typeface="Cambria"/>
                <a:ea typeface="Cambria"/>
                <a:cs typeface="Cambria"/>
                <a:sym typeface="Cambria"/>
              </a:rPr>
              <a:t>Head sampling</a:t>
            </a:r>
            <a:endParaRPr b="0" i="0" sz="1800" u="none" cap="none" strike="noStrike">
              <a:solidFill>
                <a:schemeClr val="dk1"/>
              </a:solidFill>
              <a:latin typeface="Calibri"/>
              <a:ea typeface="Calibri"/>
              <a:cs typeface="Calibri"/>
              <a:sym typeface="Calibri"/>
            </a:endParaRPr>
          </a:p>
        </p:txBody>
      </p:sp>
      <p:sp>
        <p:nvSpPr>
          <p:cNvPr id="1401" name="Google Shape;1401;p35"/>
          <p:cNvSpPr/>
          <p:nvPr/>
        </p:nvSpPr>
        <p:spPr>
          <a:xfrm>
            <a:off x="822960" y="2724912"/>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050"/>
              <a:buFont typeface="Calibri"/>
              <a:buNone/>
            </a:pPr>
            <a:r>
              <a:rPr b="0" i="1" lang="en-US" sz="1050" u="none" cap="none" strike="noStrike">
                <a:solidFill>
                  <a:srgbClr val="5C6B7A"/>
                </a:solidFill>
                <a:latin typeface="Calibri"/>
                <a:ea typeface="Calibri"/>
                <a:cs typeface="Calibri"/>
                <a:sym typeface="Calibri"/>
              </a:rPr>
              <a:t>Decided at the start, at the root span</a:t>
            </a:r>
            <a:endParaRPr b="0" i="0" sz="1050" u="none" cap="none" strike="noStrike">
              <a:solidFill>
                <a:schemeClr val="dk1"/>
              </a:solidFill>
              <a:latin typeface="Calibri"/>
              <a:ea typeface="Calibri"/>
              <a:cs typeface="Calibri"/>
              <a:sym typeface="Calibri"/>
            </a:endParaRPr>
          </a:p>
        </p:txBody>
      </p:sp>
      <p:sp>
        <p:nvSpPr>
          <p:cNvPr id="1402" name="Google Shape;1402;p35"/>
          <p:cNvSpPr/>
          <p:nvPr/>
        </p:nvSpPr>
        <p:spPr>
          <a:xfrm>
            <a:off x="822960" y="3163824"/>
            <a:ext cx="1828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900"/>
              <a:buFont typeface="Calibri"/>
              <a:buNone/>
            </a:pPr>
            <a:r>
              <a:rPr b="1" i="0" lang="en-US" sz="900" u="none" cap="none" strike="noStrike">
                <a:solidFill>
                  <a:srgbClr val="1B7048"/>
                </a:solidFill>
                <a:latin typeface="Calibri"/>
                <a:ea typeface="Calibri"/>
                <a:cs typeface="Calibri"/>
                <a:sym typeface="Calibri"/>
              </a:rPr>
              <a:t>✓  GOOD</a:t>
            </a:r>
            <a:endParaRPr b="0" i="0" sz="900" u="none" cap="none" strike="noStrike">
              <a:solidFill>
                <a:schemeClr val="dk1"/>
              </a:solidFill>
              <a:latin typeface="Calibri"/>
              <a:ea typeface="Calibri"/>
              <a:cs typeface="Calibri"/>
              <a:sym typeface="Calibri"/>
            </a:endParaRPr>
          </a:p>
        </p:txBody>
      </p:sp>
      <p:sp>
        <p:nvSpPr>
          <p:cNvPr id="1403" name="Google Shape;1403;p35"/>
          <p:cNvSpPr/>
          <p:nvPr/>
        </p:nvSpPr>
        <p:spPr>
          <a:xfrm>
            <a:off x="822960" y="3419856"/>
            <a:ext cx="4846320" cy="100584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050"/>
              <a:buFont typeface="Calibri"/>
              <a:buChar char="•"/>
            </a:pPr>
            <a:r>
              <a:rPr b="0" i="0" lang="en-US" sz="1050" u="none" cap="none" strike="noStrike">
                <a:solidFill>
                  <a:srgbClr val="16202C"/>
                </a:solidFill>
                <a:latin typeface="Calibri"/>
                <a:ea typeface="Calibri"/>
                <a:cs typeface="Calibri"/>
                <a:sym typeface="Calibri"/>
              </a:rPr>
              <a:t>Trivial to run — no buffering, no extra infrastructure</a:t>
            </a:r>
            <a:endParaRPr b="0" i="0" sz="1050" u="none" cap="none" strike="noStrike">
              <a:solidFill>
                <a:schemeClr val="dk1"/>
              </a:solidFill>
              <a:latin typeface="Calibri"/>
              <a:ea typeface="Calibri"/>
              <a:cs typeface="Calibri"/>
              <a:sym typeface="Calibri"/>
            </a:endParaRPr>
          </a:p>
          <a:p>
            <a:pPr indent="-342900" lvl="0" marL="342900" marR="0" rtl="0" algn="l">
              <a:lnSpc>
                <a:spcPct val="105000"/>
              </a:lnSpc>
              <a:spcBef>
                <a:spcPts val="300"/>
              </a:spcBef>
              <a:spcAft>
                <a:spcPts val="0"/>
              </a:spcAft>
              <a:buClr>
                <a:srgbClr val="16202C"/>
              </a:buClr>
              <a:buSzPts val="1050"/>
              <a:buFont typeface="Calibri"/>
              <a:buChar char="•"/>
            </a:pPr>
            <a:r>
              <a:rPr b="0" i="0" lang="en-US" sz="1050" u="none" cap="none" strike="noStrike">
                <a:solidFill>
                  <a:srgbClr val="16202C"/>
                </a:solidFill>
                <a:latin typeface="Calibri"/>
                <a:ea typeface="Calibri"/>
                <a:cs typeface="Calibri"/>
                <a:sym typeface="Calibri"/>
              </a:rPr>
              <a:t>The decision rides along in the traceparent flag, so the trace is whole or absent</a:t>
            </a:r>
            <a:endParaRPr b="0" i="0" sz="1050" u="none" cap="none" strike="noStrike">
              <a:solidFill>
                <a:schemeClr val="dk1"/>
              </a:solidFill>
              <a:latin typeface="Calibri"/>
              <a:ea typeface="Calibri"/>
              <a:cs typeface="Calibri"/>
              <a:sym typeface="Calibri"/>
            </a:endParaRPr>
          </a:p>
          <a:p>
            <a:pPr indent="-342900" lvl="0" marL="342900" marR="0" rtl="0" algn="l">
              <a:lnSpc>
                <a:spcPct val="105000"/>
              </a:lnSpc>
              <a:spcBef>
                <a:spcPts val="300"/>
              </a:spcBef>
              <a:spcAft>
                <a:spcPts val="0"/>
              </a:spcAft>
              <a:buClr>
                <a:srgbClr val="16202C"/>
              </a:buClr>
              <a:buSzPts val="1050"/>
              <a:buFont typeface="Calibri"/>
              <a:buChar char="•"/>
            </a:pPr>
            <a:r>
              <a:rPr b="0" i="0" lang="en-US" sz="1050" u="none" cap="none" strike="noStrike">
                <a:solidFill>
                  <a:srgbClr val="16202C"/>
                </a:solidFill>
                <a:latin typeface="Calibri"/>
                <a:ea typeface="Calibri"/>
                <a:cs typeface="Calibri"/>
                <a:sym typeface="Calibri"/>
              </a:rPr>
              <a:t>Predictable cost: 1% means 1%</a:t>
            </a:r>
            <a:endParaRPr b="0" i="0" sz="1050" u="none" cap="none" strike="noStrike">
              <a:solidFill>
                <a:schemeClr val="dk1"/>
              </a:solidFill>
              <a:latin typeface="Calibri"/>
              <a:ea typeface="Calibri"/>
              <a:cs typeface="Calibri"/>
              <a:sym typeface="Calibri"/>
            </a:endParaRPr>
          </a:p>
        </p:txBody>
      </p:sp>
      <p:sp>
        <p:nvSpPr>
          <p:cNvPr id="1404" name="Google Shape;1404;p35"/>
          <p:cNvSpPr/>
          <p:nvPr/>
        </p:nvSpPr>
        <p:spPr>
          <a:xfrm>
            <a:off x="822960" y="4443984"/>
            <a:ext cx="1828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900"/>
              <a:buFont typeface="Calibri"/>
              <a:buNone/>
            </a:pPr>
            <a:r>
              <a:rPr b="1" i="0" lang="en-US" sz="900" u="none" cap="none" strike="noStrike">
                <a:solidFill>
                  <a:srgbClr val="AC2740"/>
                </a:solidFill>
                <a:latin typeface="Calibri"/>
                <a:ea typeface="Calibri"/>
                <a:cs typeface="Calibri"/>
                <a:sym typeface="Calibri"/>
              </a:rPr>
              <a:t>✗  COSTS</a:t>
            </a:r>
            <a:endParaRPr b="0" i="0" sz="900" u="none" cap="none" strike="noStrike">
              <a:solidFill>
                <a:schemeClr val="dk1"/>
              </a:solidFill>
              <a:latin typeface="Calibri"/>
              <a:ea typeface="Calibri"/>
              <a:cs typeface="Calibri"/>
              <a:sym typeface="Calibri"/>
            </a:endParaRPr>
          </a:p>
        </p:txBody>
      </p:sp>
      <p:sp>
        <p:nvSpPr>
          <p:cNvPr id="1405" name="Google Shape;1405;p35"/>
          <p:cNvSpPr/>
          <p:nvPr/>
        </p:nvSpPr>
        <p:spPr>
          <a:xfrm>
            <a:off x="822960" y="4700016"/>
            <a:ext cx="4846320" cy="54864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050"/>
              <a:buFont typeface="Calibri"/>
              <a:buChar char="•"/>
            </a:pPr>
            <a:r>
              <a:rPr b="0" i="0" lang="en-US" sz="1050" u="none" cap="none" strike="noStrike">
                <a:solidFill>
                  <a:srgbClr val="16202C"/>
                </a:solidFill>
                <a:latin typeface="Calibri"/>
                <a:ea typeface="Calibri"/>
                <a:cs typeface="Calibri"/>
                <a:sym typeface="Calibri"/>
              </a:rPr>
              <a:t>You throw away the interesting traces at random</a:t>
            </a:r>
            <a:endParaRPr b="0" i="0" sz="1050" u="none" cap="none" strike="noStrike">
              <a:solidFill>
                <a:schemeClr val="dk1"/>
              </a:solidFill>
              <a:latin typeface="Calibri"/>
              <a:ea typeface="Calibri"/>
              <a:cs typeface="Calibri"/>
              <a:sym typeface="Calibri"/>
            </a:endParaRPr>
          </a:p>
          <a:p>
            <a:pPr indent="-342900" lvl="0" marL="342900" marR="0" rtl="0" algn="l">
              <a:lnSpc>
                <a:spcPct val="105000"/>
              </a:lnSpc>
              <a:spcBef>
                <a:spcPts val="300"/>
              </a:spcBef>
              <a:spcAft>
                <a:spcPts val="0"/>
              </a:spcAft>
              <a:buClr>
                <a:srgbClr val="16202C"/>
              </a:buClr>
              <a:buSzPts val="1050"/>
              <a:buFont typeface="Calibri"/>
              <a:buChar char="•"/>
            </a:pPr>
            <a:r>
              <a:rPr b="0" i="0" lang="en-US" sz="1050" u="none" cap="none" strike="noStrike">
                <a:solidFill>
                  <a:srgbClr val="16202C"/>
                </a:solidFill>
                <a:latin typeface="Calibri"/>
                <a:ea typeface="Calibri"/>
                <a:cs typeface="Calibri"/>
                <a:sym typeface="Calibri"/>
              </a:rPr>
              <a:t>The one 8-second request is probably in the 99% you dropped</a:t>
            </a:r>
            <a:endParaRPr b="0" i="0" sz="1050" u="none" cap="none" strike="noStrike">
              <a:solidFill>
                <a:schemeClr val="dk1"/>
              </a:solidFill>
              <a:latin typeface="Calibri"/>
              <a:ea typeface="Calibri"/>
              <a:cs typeface="Calibri"/>
              <a:sym typeface="Calibri"/>
            </a:endParaRPr>
          </a:p>
        </p:txBody>
      </p:sp>
      <p:sp>
        <p:nvSpPr>
          <p:cNvPr id="1406" name="Google Shape;1406;p35"/>
          <p:cNvSpPr/>
          <p:nvPr/>
        </p:nvSpPr>
        <p:spPr>
          <a:xfrm>
            <a:off x="6281928" y="2340864"/>
            <a:ext cx="5349240" cy="2962656"/>
          </a:xfrm>
          <a:prstGeom prst="roundRect">
            <a:avLst>
              <a:gd fmla="val 2778" name="adj"/>
            </a:avLst>
          </a:prstGeom>
          <a:solidFill>
            <a:srgbClr val="FFFFFF"/>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5"/>
          <p:cNvSpPr/>
          <p:nvPr/>
        </p:nvSpPr>
        <p:spPr>
          <a:xfrm>
            <a:off x="6281928" y="2340864"/>
            <a:ext cx="5349240" cy="731520"/>
          </a:xfrm>
          <a:prstGeom prst="roundRect">
            <a:avLst>
              <a:gd fmla="val 11250"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5"/>
          <p:cNvSpPr/>
          <p:nvPr/>
        </p:nvSpPr>
        <p:spPr>
          <a:xfrm>
            <a:off x="6537960" y="237744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800"/>
              <a:buFont typeface="Cambria"/>
              <a:buNone/>
            </a:pPr>
            <a:r>
              <a:rPr b="1" i="0" lang="en-US" sz="1800" u="none" cap="none" strike="noStrike">
                <a:solidFill>
                  <a:srgbClr val="5C3FA6"/>
                </a:solidFill>
                <a:latin typeface="Cambria"/>
                <a:ea typeface="Cambria"/>
                <a:cs typeface="Cambria"/>
                <a:sym typeface="Cambria"/>
              </a:rPr>
              <a:t>Tail sampling</a:t>
            </a:r>
            <a:endParaRPr b="0" i="0" sz="1800" u="none" cap="none" strike="noStrike">
              <a:solidFill>
                <a:schemeClr val="dk1"/>
              </a:solidFill>
              <a:latin typeface="Calibri"/>
              <a:ea typeface="Calibri"/>
              <a:cs typeface="Calibri"/>
              <a:sym typeface="Calibri"/>
            </a:endParaRPr>
          </a:p>
        </p:txBody>
      </p:sp>
      <p:sp>
        <p:nvSpPr>
          <p:cNvPr id="1409" name="Google Shape;1409;p35"/>
          <p:cNvSpPr/>
          <p:nvPr/>
        </p:nvSpPr>
        <p:spPr>
          <a:xfrm>
            <a:off x="6537960" y="2724912"/>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050"/>
              <a:buFont typeface="Calibri"/>
              <a:buNone/>
            </a:pPr>
            <a:r>
              <a:rPr b="0" i="1" lang="en-US" sz="1050" u="none" cap="none" strike="noStrike">
                <a:solidFill>
                  <a:srgbClr val="5C6B7A"/>
                </a:solidFill>
                <a:latin typeface="Calibri"/>
                <a:ea typeface="Calibri"/>
                <a:cs typeface="Calibri"/>
                <a:sym typeface="Calibri"/>
              </a:rPr>
              <a:t>Decided at the end, once the trace is complete</a:t>
            </a:r>
            <a:endParaRPr b="0" i="0" sz="1050" u="none" cap="none" strike="noStrike">
              <a:solidFill>
                <a:schemeClr val="dk1"/>
              </a:solidFill>
              <a:latin typeface="Calibri"/>
              <a:ea typeface="Calibri"/>
              <a:cs typeface="Calibri"/>
              <a:sym typeface="Calibri"/>
            </a:endParaRPr>
          </a:p>
        </p:txBody>
      </p:sp>
      <p:sp>
        <p:nvSpPr>
          <p:cNvPr id="1410" name="Google Shape;1410;p35"/>
          <p:cNvSpPr/>
          <p:nvPr/>
        </p:nvSpPr>
        <p:spPr>
          <a:xfrm>
            <a:off x="6537960" y="3163824"/>
            <a:ext cx="1828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900"/>
              <a:buFont typeface="Calibri"/>
              <a:buNone/>
            </a:pPr>
            <a:r>
              <a:rPr b="1" i="0" lang="en-US" sz="900" u="none" cap="none" strike="noStrike">
                <a:solidFill>
                  <a:srgbClr val="1B7048"/>
                </a:solidFill>
                <a:latin typeface="Calibri"/>
                <a:ea typeface="Calibri"/>
                <a:cs typeface="Calibri"/>
                <a:sym typeface="Calibri"/>
              </a:rPr>
              <a:t>✓  GOOD</a:t>
            </a:r>
            <a:endParaRPr b="0" i="0" sz="900" u="none" cap="none" strike="noStrike">
              <a:solidFill>
                <a:schemeClr val="dk1"/>
              </a:solidFill>
              <a:latin typeface="Calibri"/>
              <a:ea typeface="Calibri"/>
              <a:cs typeface="Calibri"/>
              <a:sym typeface="Calibri"/>
            </a:endParaRPr>
          </a:p>
        </p:txBody>
      </p:sp>
      <p:sp>
        <p:nvSpPr>
          <p:cNvPr id="1411" name="Google Shape;1411;p35"/>
          <p:cNvSpPr/>
          <p:nvPr/>
        </p:nvSpPr>
        <p:spPr>
          <a:xfrm>
            <a:off x="6537960" y="3419856"/>
            <a:ext cx="4846320" cy="100584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050"/>
              <a:buFont typeface="Calibri"/>
              <a:buChar char="•"/>
            </a:pPr>
            <a:r>
              <a:rPr b="0" i="0" lang="en-US" sz="1050" u="none" cap="none" strike="noStrike">
                <a:solidFill>
                  <a:srgbClr val="16202C"/>
                </a:solidFill>
                <a:latin typeface="Calibri"/>
                <a:ea typeface="Calibri"/>
                <a:cs typeface="Calibri"/>
                <a:sym typeface="Calibri"/>
              </a:rPr>
              <a:t>Keep 100% of errors, 100% of slow traces, 1% of boring ones</a:t>
            </a:r>
            <a:endParaRPr b="0" i="0" sz="1050" u="none" cap="none" strike="noStrike">
              <a:solidFill>
                <a:schemeClr val="dk1"/>
              </a:solidFill>
              <a:latin typeface="Calibri"/>
              <a:ea typeface="Calibri"/>
              <a:cs typeface="Calibri"/>
              <a:sym typeface="Calibri"/>
            </a:endParaRPr>
          </a:p>
          <a:p>
            <a:pPr indent="-342900" lvl="0" marL="342900" marR="0" rtl="0" algn="l">
              <a:lnSpc>
                <a:spcPct val="105000"/>
              </a:lnSpc>
              <a:spcBef>
                <a:spcPts val="300"/>
              </a:spcBef>
              <a:spcAft>
                <a:spcPts val="0"/>
              </a:spcAft>
              <a:buClr>
                <a:srgbClr val="16202C"/>
              </a:buClr>
              <a:buSzPts val="1050"/>
              <a:buFont typeface="Calibri"/>
              <a:buChar char="•"/>
            </a:pPr>
            <a:r>
              <a:rPr b="0" i="0" lang="en-US" sz="1050" u="none" cap="none" strike="noStrike">
                <a:solidFill>
                  <a:srgbClr val="16202C"/>
                </a:solidFill>
                <a:latin typeface="Calibri"/>
                <a:ea typeface="Calibri"/>
                <a:cs typeface="Calibri"/>
                <a:sym typeface="Calibri"/>
              </a:rPr>
              <a:t>You keep exactly the traces you would want to look at</a:t>
            </a:r>
            <a:endParaRPr b="0" i="0" sz="1050" u="none" cap="none" strike="noStrike">
              <a:solidFill>
                <a:schemeClr val="dk1"/>
              </a:solidFill>
              <a:latin typeface="Calibri"/>
              <a:ea typeface="Calibri"/>
              <a:cs typeface="Calibri"/>
              <a:sym typeface="Calibri"/>
            </a:endParaRPr>
          </a:p>
        </p:txBody>
      </p:sp>
      <p:sp>
        <p:nvSpPr>
          <p:cNvPr id="1412" name="Google Shape;1412;p35"/>
          <p:cNvSpPr/>
          <p:nvPr/>
        </p:nvSpPr>
        <p:spPr>
          <a:xfrm>
            <a:off x="6537960" y="4443984"/>
            <a:ext cx="1828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900"/>
              <a:buFont typeface="Calibri"/>
              <a:buNone/>
            </a:pPr>
            <a:r>
              <a:rPr b="1" i="0" lang="en-US" sz="900" u="none" cap="none" strike="noStrike">
                <a:solidFill>
                  <a:srgbClr val="AC2740"/>
                </a:solidFill>
                <a:latin typeface="Calibri"/>
                <a:ea typeface="Calibri"/>
                <a:cs typeface="Calibri"/>
                <a:sym typeface="Calibri"/>
              </a:rPr>
              <a:t>✗  COSTS</a:t>
            </a:r>
            <a:endParaRPr b="0" i="0" sz="900" u="none" cap="none" strike="noStrike">
              <a:solidFill>
                <a:schemeClr val="dk1"/>
              </a:solidFill>
              <a:latin typeface="Calibri"/>
              <a:ea typeface="Calibri"/>
              <a:cs typeface="Calibri"/>
              <a:sym typeface="Calibri"/>
            </a:endParaRPr>
          </a:p>
        </p:txBody>
      </p:sp>
      <p:sp>
        <p:nvSpPr>
          <p:cNvPr id="1413" name="Google Shape;1413;p35"/>
          <p:cNvSpPr/>
          <p:nvPr/>
        </p:nvSpPr>
        <p:spPr>
          <a:xfrm>
            <a:off x="6537960" y="4700016"/>
            <a:ext cx="4846320" cy="54864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050"/>
              <a:buFont typeface="Calibri"/>
              <a:buChar char="•"/>
            </a:pPr>
            <a:r>
              <a:rPr b="0" i="0" lang="en-US" sz="1050" u="none" cap="none" strike="noStrike">
                <a:solidFill>
                  <a:srgbClr val="16202C"/>
                </a:solidFill>
                <a:latin typeface="Calibri"/>
                <a:ea typeface="Calibri"/>
                <a:cs typeface="Calibri"/>
                <a:sym typeface="Calibri"/>
              </a:rPr>
              <a:t>The collector buffers every span until the trace finishes — memory, and a delay</a:t>
            </a:r>
            <a:endParaRPr b="0" i="0" sz="1050" u="none" cap="none" strike="noStrike">
              <a:solidFill>
                <a:schemeClr val="dk1"/>
              </a:solidFill>
              <a:latin typeface="Calibri"/>
              <a:ea typeface="Calibri"/>
              <a:cs typeface="Calibri"/>
              <a:sym typeface="Calibri"/>
            </a:endParaRPr>
          </a:p>
          <a:p>
            <a:pPr indent="-342900" lvl="0" marL="342900" marR="0" rtl="0" algn="l">
              <a:lnSpc>
                <a:spcPct val="105000"/>
              </a:lnSpc>
              <a:spcBef>
                <a:spcPts val="300"/>
              </a:spcBef>
              <a:spcAft>
                <a:spcPts val="0"/>
              </a:spcAft>
              <a:buClr>
                <a:srgbClr val="16202C"/>
              </a:buClr>
              <a:buSzPts val="1050"/>
              <a:buFont typeface="Calibri"/>
              <a:buChar char="•"/>
            </a:pPr>
            <a:r>
              <a:rPr b="0" i="0" lang="en-US" sz="1050" u="none" cap="none" strike="noStrike">
                <a:solidFill>
                  <a:srgbClr val="16202C"/>
                </a:solidFill>
                <a:latin typeface="Calibri"/>
                <a:ea typeface="Calibri"/>
                <a:cs typeface="Calibri"/>
                <a:sym typeface="Calibri"/>
              </a:rPr>
              <a:t>All spans of one trace must reach the same collector, so it needs routing</a:t>
            </a:r>
            <a:endParaRPr b="0" i="0" sz="1050" u="none" cap="none" strike="noStrike">
              <a:solidFill>
                <a:schemeClr val="dk1"/>
              </a:solidFill>
              <a:latin typeface="Calibri"/>
              <a:ea typeface="Calibri"/>
              <a:cs typeface="Calibri"/>
              <a:sym typeface="Calibri"/>
            </a:endParaRPr>
          </a:p>
        </p:txBody>
      </p:sp>
      <p:sp>
        <p:nvSpPr>
          <p:cNvPr id="1414" name="Google Shape;1414;p35"/>
          <p:cNvSpPr/>
          <p:nvPr/>
        </p:nvSpPr>
        <p:spPr>
          <a:xfrm>
            <a:off x="566928" y="5468112"/>
            <a:ext cx="11057839" cy="822960"/>
          </a:xfrm>
          <a:prstGeom prst="roundRect">
            <a:avLst>
              <a:gd fmla="val 10000"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5"/>
          <p:cNvSpPr/>
          <p:nvPr/>
        </p:nvSpPr>
        <p:spPr>
          <a:xfrm>
            <a:off x="768096" y="5742432"/>
            <a:ext cx="274320" cy="27432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5"/>
          <p:cNvSpPr/>
          <p:nvPr/>
        </p:nvSpPr>
        <p:spPr>
          <a:xfrm>
            <a:off x="768096" y="574243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417" name="Google Shape;1417;p35"/>
          <p:cNvSpPr/>
          <p:nvPr/>
        </p:nvSpPr>
        <p:spPr>
          <a:xfrm>
            <a:off x="1170432" y="5468112"/>
            <a:ext cx="10234879"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The trap: once you sample, you can no longer count anything from traces. “3 errors in my sampled traces” at 1% sampling means roughly 300 errors, or possibly 50 — you do not know. Count with metrics. Investigate with traces. Never swap those jobs.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2" name="Shape 1422"/>
        <p:cNvGrpSpPr/>
        <p:nvPr/>
      </p:nvGrpSpPr>
      <p:grpSpPr>
        <a:xfrm>
          <a:off x="0" y="0"/>
          <a:ext cx="0" cy="0"/>
          <a:chOff x="0" y="0"/>
          <a:chExt cx="0" cy="0"/>
        </a:xfrm>
      </p:grpSpPr>
      <p:sp>
        <p:nvSpPr>
          <p:cNvPr id="1423" name="Google Shape;1423;p36"/>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50"/>
              <a:buFont typeface="Calibri"/>
              <a:buNone/>
            </a:pPr>
            <a:r>
              <a:rPr b="1" i="0" lang="en-US" sz="1050" u="none" cap="none" strike="noStrike">
                <a:solidFill>
                  <a:srgbClr val="5C3FA6"/>
                </a:solidFill>
                <a:latin typeface="Calibri"/>
                <a:ea typeface="Calibri"/>
                <a:cs typeface="Calibri"/>
                <a:sym typeface="Calibri"/>
              </a:rPr>
              <a:t>THE SKILL YOU ARE ACTUALLY LEARNING</a:t>
            </a:r>
            <a:endParaRPr b="0" i="0" sz="1050" u="none" cap="none" strike="noStrike">
              <a:solidFill>
                <a:schemeClr val="dk1"/>
              </a:solidFill>
              <a:latin typeface="Calibri"/>
              <a:ea typeface="Calibri"/>
              <a:cs typeface="Calibri"/>
              <a:sym typeface="Calibri"/>
            </a:endParaRPr>
          </a:p>
        </p:txBody>
      </p:sp>
      <p:sp>
        <p:nvSpPr>
          <p:cNvPr id="1424" name="Google Shape;1424;p36"/>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Four shapes, and what each one means</a:t>
            </a:r>
            <a:endParaRPr b="0" i="0" sz="2900" u="none" cap="none" strike="noStrike">
              <a:solidFill>
                <a:schemeClr val="dk1"/>
              </a:solidFill>
              <a:latin typeface="Calibri"/>
              <a:ea typeface="Calibri"/>
              <a:cs typeface="Calibri"/>
              <a:sym typeface="Calibri"/>
            </a:endParaRPr>
          </a:p>
        </p:txBody>
      </p:sp>
      <p:sp>
        <p:nvSpPr>
          <p:cNvPr id="1425" name="Google Shape;1425;p36"/>
          <p:cNvSpPr/>
          <p:nvPr/>
        </p:nvSpPr>
        <p:spPr>
          <a:xfrm>
            <a:off x="10556748" y="402336"/>
            <a:ext cx="1068019" cy="329184"/>
          </a:xfrm>
          <a:prstGeom prst="roundRect">
            <a:avLst>
              <a:gd fmla="val 50000" name="adj"/>
            </a:avLst>
          </a:prstGeom>
          <a:solidFill>
            <a:srgbClr val="EDE8F8"/>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6"/>
          <p:cNvSpPr/>
          <p:nvPr/>
        </p:nvSpPr>
        <p:spPr>
          <a:xfrm>
            <a:off x="10730484" y="525780"/>
            <a:ext cx="91440" cy="9144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6"/>
          <p:cNvSpPr/>
          <p:nvPr/>
        </p:nvSpPr>
        <p:spPr>
          <a:xfrm>
            <a:off x="10867644" y="402336"/>
            <a:ext cx="66568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00"/>
              <a:buFont typeface="Calibri"/>
              <a:buNone/>
            </a:pPr>
            <a:r>
              <a:rPr b="1" i="0" lang="en-US" sz="1000" u="none" cap="none" strike="noStrike">
                <a:solidFill>
                  <a:srgbClr val="5C3FA6"/>
                </a:solidFill>
                <a:latin typeface="Calibri"/>
                <a:ea typeface="Calibri"/>
                <a:cs typeface="Calibri"/>
                <a:sym typeface="Calibri"/>
              </a:rPr>
              <a:t>Traces</a:t>
            </a:r>
            <a:endParaRPr b="0" i="0" sz="1000" u="none" cap="none" strike="noStrike">
              <a:solidFill>
                <a:schemeClr val="dk1"/>
              </a:solidFill>
              <a:latin typeface="Calibri"/>
              <a:ea typeface="Calibri"/>
              <a:cs typeface="Calibri"/>
              <a:sym typeface="Calibri"/>
            </a:endParaRPr>
          </a:p>
        </p:txBody>
      </p:sp>
      <p:sp>
        <p:nvSpPr>
          <p:cNvPr id="1428" name="Google Shape;1428;p36"/>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429" name="Google Shape;1429;p36"/>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34</a:t>
            </a:r>
            <a:endParaRPr b="0" i="0" sz="900" u="none" cap="none" strike="noStrike">
              <a:solidFill>
                <a:schemeClr val="dk1"/>
              </a:solidFill>
              <a:latin typeface="Calibri"/>
              <a:ea typeface="Calibri"/>
              <a:cs typeface="Calibri"/>
              <a:sym typeface="Calibri"/>
            </a:endParaRPr>
          </a:p>
        </p:txBody>
      </p:sp>
      <p:sp>
        <p:nvSpPr>
          <p:cNvPr id="1430" name="Google Shape;1430;p36"/>
          <p:cNvSpPr/>
          <p:nvPr/>
        </p:nvSpPr>
        <p:spPr>
          <a:xfrm>
            <a:off x="566928" y="1234440"/>
            <a:ext cx="11057839" cy="365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300"/>
              <a:buFont typeface="Calibri"/>
              <a:buNone/>
            </a:pPr>
            <a:r>
              <a:rPr b="0" i="1" lang="en-US" sz="1300" u="none" cap="none" strike="noStrike">
                <a:solidFill>
                  <a:srgbClr val="5C6B7A"/>
                </a:solidFill>
                <a:latin typeface="Calibri"/>
                <a:ea typeface="Calibri"/>
                <a:cs typeface="Calibri"/>
                <a:sym typeface="Calibri"/>
              </a:rPr>
              <a:t>You will not read span names in an incident. You will read shapes, and the shape tells you the bug.</a:t>
            </a:r>
            <a:endParaRPr b="0" i="0" sz="1300" u="none" cap="none" strike="noStrike">
              <a:solidFill>
                <a:schemeClr val="dk1"/>
              </a:solidFill>
              <a:latin typeface="Calibri"/>
              <a:ea typeface="Calibri"/>
              <a:cs typeface="Calibri"/>
              <a:sym typeface="Calibri"/>
            </a:endParaRPr>
          </a:p>
        </p:txBody>
      </p:sp>
      <p:sp>
        <p:nvSpPr>
          <p:cNvPr id="1431" name="Google Shape;1431;p36"/>
          <p:cNvSpPr/>
          <p:nvPr/>
        </p:nvSpPr>
        <p:spPr>
          <a:xfrm>
            <a:off x="566928" y="1700784"/>
            <a:ext cx="2615184" cy="3566160"/>
          </a:xfrm>
          <a:prstGeom prst="roundRect">
            <a:avLst>
              <a:gd fmla="val 3147" name="adj"/>
            </a:avLst>
          </a:prstGeom>
          <a:solidFill>
            <a:srgbClr val="FFFFFF"/>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6"/>
          <p:cNvSpPr/>
          <p:nvPr/>
        </p:nvSpPr>
        <p:spPr>
          <a:xfrm>
            <a:off x="749808" y="1828800"/>
            <a:ext cx="2286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350"/>
              <a:buFont typeface="Calibri"/>
              <a:buNone/>
            </a:pPr>
            <a:r>
              <a:rPr b="1" i="0" lang="en-US" sz="1350" u="none" cap="none" strike="noStrike">
                <a:solidFill>
                  <a:srgbClr val="5C3FA6"/>
                </a:solidFill>
                <a:latin typeface="Calibri"/>
                <a:ea typeface="Calibri"/>
                <a:cs typeface="Calibri"/>
                <a:sym typeface="Calibri"/>
              </a:rPr>
              <a:t>The staircase</a:t>
            </a:r>
            <a:endParaRPr b="0" i="0" sz="1350" u="none" cap="none" strike="noStrike">
              <a:solidFill>
                <a:schemeClr val="dk1"/>
              </a:solidFill>
              <a:latin typeface="Calibri"/>
              <a:ea typeface="Calibri"/>
              <a:cs typeface="Calibri"/>
              <a:sym typeface="Calibri"/>
            </a:endParaRPr>
          </a:p>
        </p:txBody>
      </p:sp>
      <p:sp>
        <p:nvSpPr>
          <p:cNvPr id="1433" name="Google Shape;1433;p36"/>
          <p:cNvSpPr/>
          <p:nvPr/>
        </p:nvSpPr>
        <p:spPr>
          <a:xfrm>
            <a:off x="768096" y="2231136"/>
            <a:ext cx="2212848" cy="155448"/>
          </a:xfrm>
          <a:prstGeom prst="roundRect">
            <a:avLst>
              <a:gd fmla="val 23529" name="adj"/>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6"/>
          <p:cNvSpPr/>
          <p:nvPr/>
        </p:nvSpPr>
        <p:spPr>
          <a:xfrm>
            <a:off x="812353" y="2487168"/>
            <a:ext cx="531084" cy="155448"/>
          </a:xfrm>
          <a:prstGeom prst="roundRect">
            <a:avLst>
              <a:gd fmla="val 23529" name="adj"/>
            </a:avLst>
          </a:prstGeom>
          <a:solidFill>
            <a:srgbClr val="D2C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6"/>
          <p:cNvSpPr/>
          <p:nvPr/>
        </p:nvSpPr>
        <p:spPr>
          <a:xfrm>
            <a:off x="1387693" y="2743200"/>
            <a:ext cx="531084" cy="155448"/>
          </a:xfrm>
          <a:prstGeom prst="roundRect">
            <a:avLst>
              <a:gd fmla="val 23529" name="adj"/>
            </a:avLst>
          </a:prstGeom>
          <a:solidFill>
            <a:srgbClr val="D2C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6"/>
          <p:cNvSpPr/>
          <p:nvPr/>
        </p:nvSpPr>
        <p:spPr>
          <a:xfrm>
            <a:off x="1963034" y="2999232"/>
            <a:ext cx="531084" cy="155448"/>
          </a:xfrm>
          <a:prstGeom prst="roundRect">
            <a:avLst>
              <a:gd fmla="val 23529" name="adj"/>
            </a:avLst>
          </a:prstGeom>
          <a:solidFill>
            <a:srgbClr val="D2C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6"/>
          <p:cNvSpPr/>
          <p:nvPr/>
        </p:nvSpPr>
        <p:spPr>
          <a:xfrm>
            <a:off x="2538374" y="3255264"/>
            <a:ext cx="420441" cy="155448"/>
          </a:xfrm>
          <a:prstGeom prst="roundRect">
            <a:avLst>
              <a:gd fmla="val 23529" name="adj"/>
            </a:avLst>
          </a:prstGeom>
          <a:solidFill>
            <a:srgbClr val="D2C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6"/>
          <p:cNvSpPr/>
          <p:nvPr/>
        </p:nvSpPr>
        <p:spPr>
          <a:xfrm>
            <a:off x="749808" y="3675888"/>
            <a:ext cx="2286000" cy="932688"/>
          </a:xfrm>
          <a:prstGeom prst="roundRect">
            <a:avLst>
              <a:gd fmla="val 8824" name="adj"/>
            </a:avLst>
          </a:prstGeom>
          <a:solidFill>
            <a:srgbClr val="EDE8F8"/>
          </a:solidFill>
          <a:ln cap="flat" cmpd="sng" w="12700">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6"/>
          <p:cNvSpPr/>
          <p:nvPr/>
        </p:nvSpPr>
        <p:spPr>
          <a:xfrm>
            <a:off x="859536" y="3730752"/>
            <a:ext cx="2066544"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000"/>
              <a:buFont typeface="Calibri"/>
              <a:buNone/>
            </a:pPr>
            <a:r>
              <a:rPr b="0" i="0" lang="en-US" sz="1000" u="none" cap="none" strike="noStrike">
                <a:solidFill>
                  <a:srgbClr val="16202C"/>
                </a:solidFill>
                <a:latin typeface="Calibri"/>
                <a:ea typeface="Calibri"/>
                <a:cs typeface="Calibri"/>
                <a:sym typeface="Calibri"/>
              </a:rPr>
              <a:t>Serial calls in a loop. Classic N+1: one query per item, forty times.</a:t>
            </a:r>
            <a:endParaRPr b="0" i="0" sz="1000" u="none" cap="none" strike="noStrike">
              <a:solidFill>
                <a:schemeClr val="dk1"/>
              </a:solidFill>
              <a:latin typeface="Calibri"/>
              <a:ea typeface="Calibri"/>
              <a:cs typeface="Calibri"/>
              <a:sym typeface="Calibri"/>
            </a:endParaRPr>
          </a:p>
        </p:txBody>
      </p:sp>
      <p:sp>
        <p:nvSpPr>
          <p:cNvPr id="1440" name="Google Shape;1440;p36"/>
          <p:cNvSpPr/>
          <p:nvPr/>
        </p:nvSpPr>
        <p:spPr>
          <a:xfrm>
            <a:off x="749808" y="4681728"/>
            <a:ext cx="7315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FIX</a:t>
            </a:r>
            <a:endParaRPr b="0" i="0" sz="850" u="none" cap="none" strike="noStrike">
              <a:solidFill>
                <a:schemeClr val="dk1"/>
              </a:solidFill>
              <a:latin typeface="Calibri"/>
              <a:ea typeface="Calibri"/>
              <a:cs typeface="Calibri"/>
              <a:sym typeface="Calibri"/>
            </a:endParaRPr>
          </a:p>
        </p:txBody>
      </p:sp>
      <p:sp>
        <p:nvSpPr>
          <p:cNvPr id="1441" name="Google Shape;1441;p36"/>
          <p:cNvSpPr/>
          <p:nvPr/>
        </p:nvSpPr>
        <p:spPr>
          <a:xfrm>
            <a:off x="749808" y="4864608"/>
            <a:ext cx="2286000" cy="3657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00"/>
              <a:buFont typeface="Calibri"/>
              <a:buNone/>
            </a:pPr>
            <a:r>
              <a:rPr b="0" i="1" lang="en-US" sz="1000" u="none" cap="none" strike="noStrike">
                <a:solidFill>
                  <a:srgbClr val="5C6B7A"/>
                </a:solidFill>
                <a:latin typeface="Calibri"/>
                <a:ea typeface="Calibri"/>
                <a:cs typeface="Calibri"/>
                <a:sym typeface="Calibri"/>
              </a:rPr>
              <a:t>Batch it, or fetch in parallel.</a:t>
            </a:r>
            <a:endParaRPr b="0" i="0" sz="1000" u="none" cap="none" strike="noStrike">
              <a:solidFill>
                <a:schemeClr val="dk1"/>
              </a:solidFill>
              <a:latin typeface="Calibri"/>
              <a:ea typeface="Calibri"/>
              <a:cs typeface="Calibri"/>
              <a:sym typeface="Calibri"/>
            </a:endParaRPr>
          </a:p>
        </p:txBody>
      </p:sp>
      <p:sp>
        <p:nvSpPr>
          <p:cNvPr id="1442" name="Google Shape;1442;p36"/>
          <p:cNvSpPr/>
          <p:nvPr/>
        </p:nvSpPr>
        <p:spPr>
          <a:xfrm>
            <a:off x="3364992" y="1700784"/>
            <a:ext cx="2615184" cy="3566160"/>
          </a:xfrm>
          <a:prstGeom prst="roundRect">
            <a:avLst>
              <a:gd fmla="val 3147" name="adj"/>
            </a:avLst>
          </a:prstGeom>
          <a:solidFill>
            <a:srgbClr val="FFFFFF"/>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6"/>
          <p:cNvSpPr/>
          <p:nvPr/>
        </p:nvSpPr>
        <p:spPr>
          <a:xfrm>
            <a:off x="3547872" y="1828800"/>
            <a:ext cx="2286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350"/>
              <a:buFont typeface="Calibri"/>
              <a:buNone/>
            </a:pPr>
            <a:r>
              <a:rPr b="1" i="0" lang="en-US" sz="1350" u="none" cap="none" strike="noStrike">
                <a:solidFill>
                  <a:srgbClr val="5C3FA6"/>
                </a:solidFill>
                <a:latin typeface="Calibri"/>
                <a:ea typeface="Calibri"/>
                <a:cs typeface="Calibri"/>
                <a:sym typeface="Calibri"/>
              </a:rPr>
              <a:t>The comb</a:t>
            </a:r>
            <a:endParaRPr b="0" i="0" sz="1350" u="none" cap="none" strike="noStrike">
              <a:solidFill>
                <a:schemeClr val="dk1"/>
              </a:solidFill>
              <a:latin typeface="Calibri"/>
              <a:ea typeface="Calibri"/>
              <a:cs typeface="Calibri"/>
              <a:sym typeface="Calibri"/>
            </a:endParaRPr>
          </a:p>
        </p:txBody>
      </p:sp>
      <p:sp>
        <p:nvSpPr>
          <p:cNvPr id="1444" name="Google Shape;1444;p36"/>
          <p:cNvSpPr/>
          <p:nvPr/>
        </p:nvSpPr>
        <p:spPr>
          <a:xfrm>
            <a:off x="3566160" y="2231136"/>
            <a:ext cx="2212848" cy="155448"/>
          </a:xfrm>
          <a:prstGeom prst="roundRect">
            <a:avLst>
              <a:gd fmla="val 23529" name="adj"/>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6"/>
          <p:cNvSpPr/>
          <p:nvPr/>
        </p:nvSpPr>
        <p:spPr>
          <a:xfrm>
            <a:off x="3676802" y="2487168"/>
            <a:ext cx="553212" cy="155448"/>
          </a:xfrm>
          <a:prstGeom prst="roundRect">
            <a:avLst>
              <a:gd fmla="val 23529" name="adj"/>
            </a:avLst>
          </a:prstGeom>
          <a:solidFill>
            <a:srgbClr val="D2C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6"/>
          <p:cNvSpPr/>
          <p:nvPr/>
        </p:nvSpPr>
        <p:spPr>
          <a:xfrm>
            <a:off x="3676802" y="2743200"/>
            <a:ext cx="597469" cy="155448"/>
          </a:xfrm>
          <a:prstGeom prst="roundRect">
            <a:avLst>
              <a:gd fmla="val 23529" name="adj"/>
            </a:avLst>
          </a:prstGeom>
          <a:solidFill>
            <a:srgbClr val="D2C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6"/>
          <p:cNvSpPr/>
          <p:nvPr/>
        </p:nvSpPr>
        <p:spPr>
          <a:xfrm>
            <a:off x="3676802" y="2999232"/>
            <a:ext cx="508955" cy="155448"/>
          </a:xfrm>
          <a:prstGeom prst="roundRect">
            <a:avLst>
              <a:gd fmla="val 23529" name="adj"/>
            </a:avLst>
          </a:prstGeom>
          <a:solidFill>
            <a:srgbClr val="D2C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6"/>
          <p:cNvSpPr/>
          <p:nvPr/>
        </p:nvSpPr>
        <p:spPr>
          <a:xfrm>
            <a:off x="3676802" y="3255264"/>
            <a:ext cx="575340" cy="155448"/>
          </a:xfrm>
          <a:prstGeom prst="roundRect">
            <a:avLst>
              <a:gd fmla="val 23529" name="adj"/>
            </a:avLst>
          </a:prstGeom>
          <a:solidFill>
            <a:srgbClr val="D2C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6"/>
          <p:cNvSpPr/>
          <p:nvPr/>
        </p:nvSpPr>
        <p:spPr>
          <a:xfrm>
            <a:off x="3547872" y="3675888"/>
            <a:ext cx="2286000" cy="932688"/>
          </a:xfrm>
          <a:prstGeom prst="roundRect">
            <a:avLst>
              <a:gd fmla="val 8824" name="adj"/>
            </a:avLst>
          </a:prstGeom>
          <a:solidFill>
            <a:srgbClr val="EDE8F8"/>
          </a:solidFill>
          <a:ln cap="flat" cmpd="sng" w="12700">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6"/>
          <p:cNvSpPr/>
          <p:nvPr/>
        </p:nvSpPr>
        <p:spPr>
          <a:xfrm>
            <a:off x="3657600" y="3730752"/>
            <a:ext cx="2066544"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000"/>
              <a:buFont typeface="Calibri"/>
              <a:buNone/>
            </a:pPr>
            <a:r>
              <a:rPr b="0" i="0" lang="en-US" sz="1000" u="none" cap="none" strike="noStrike">
                <a:solidFill>
                  <a:srgbClr val="16202C"/>
                </a:solidFill>
                <a:latin typeface="Calibri"/>
                <a:ea typeface="Calibri"/>
                <a:cs typeface="Calibri"/>
                <a:sym typeface="Calibri"/>
              </a:rPr>
              <a:t>Parallel fan-out. Healthy — total time is the slowest child, not the sum.</a:t>
            </a:r>
            <a:endParaRPr b="0" i="0" sz="1000" u="none" cap="none" strike="noStrike">
              <a:solidFill>
                <a:schemeClr val="dk1"/>
              </a:solidFill>
              <a:latin typeface="Calibri"/>
              <a:ea typeface="Calibri"/>
              <a:cs typeface="Calibri"/>
              <a:sym typeface="Calibri"/>
            </a:endParaRPr>
          </a:p>
        </p:txBody>
      </p:sp>
      <p:sp>
        <p:nvSpPr>
          <p:cNvPr id="1451" name="Google Shape;1451;p36"/>
          <p:cNvSpPr/>
          <p:nvPr/>
        </p:nvSpPr>
        <p:spPr>
          <a:xfrm>
            <a:off x="3547872" y="4681728"/>
            <a:ext cx="7315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FIX</a:t>
            </a:r>
            <a:endParaRPr b="0" i="0" sz="850" u="none" cap="none" strike="noStrike">
              <a:solidFill>
                <a:schemeClr val="dk1"/>
              </a:solidFill>
              <a:latin typeface="Calibri"/>
              <a:ea typeface="Calibri"/>
              <a:cs typeface="Calibri"/>
              <a:sym typeface="Calibri"/>
            </a:endParaRPr>
          </a:p>
        </p:txBody>
      </p:sp>
      <p:sp>
        <p:nvSpPr>
          <p:cNvPr id="1452" name="Google Shape;1452;p36"/>
          <p:cNvSpPr/>
          <p:nvPr/>
        </p:nvSpPr>
        <p:spPr>
          <a:xfrm>
            <a:off x="3547872" y="4864608"/>
            <a:ext cx="2286000" cy="3657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00"/>
              <a:buFont typeface="Calibri"/>
              <a:buNone/>
            </a:pPr>
            <a:r>
              <a:rPr b="0" i="1" lang="en-US" sz="1000" u="none" cap="none" strike="noStrike">
                <a:solidFill>
                  <a:srgbClr val="5C6B7A"/>
                </a:solidFill>
                <a:latin typeface="Calibri"/>
                <a:ea typeface="Calibri"/>
                <a:cs typeface="Calibri"/>
                <a:sym typeface="Calibri"/>
              </a:rPr>
              <a:t>Nothing, unless one tooth is long.</a:t>
            </a:r>
            <a:endParaRPr b="0" i="0" sz="1000" u="none" cap="none" strike="noStrike">
              <a:solidFill>
                <a:schemeClr val="dk1"/>
              </a:solidFill>
              <a:latin typeface="Calibri"/>
              <a:ea typeface="Calibri"/>
              <a:cs typeface="Calibri"/>
              <a:sym typeface="Calibri"/>
            </a:endParaRPr>
          </a:p>
        </p:txBody>
      </p:sp>
      <p:sp>
        <p:nvSpPr>
          <p:cNvPr id="1453" name="Google Shape;1453;p36"/>
          <p:cNvSpPr/>
          <p:nvPr/>
        </p:nvSpPr>
        <p:spPr>
          <a:xfrm>
            <a:off x="6163056" y="1700784"/>
            <a:ext cx="2615184" cy="3566160"/>
          </a:xfrm>
          <a:prstGeom prst="roundRect">
            <a:avLst>
              <a:gd fmla="val 3147" name="adj"/>
            </a:avLst>
          </a:prstGeom>
          <a:solidFill>
            <a:srgbClr val="FFFFFF"/>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6"/>
          <p:cNvSpPr/>
          <p:nvPr/>
        </p:nvSpPr>
        <p:spPr>
          <a:xfrm>
            <a:off x="6345936" y="1828800"/>
            <a:ext cx="2286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350"/>
              <a:buFont typeface="Calibri"/>
              <a:buNone/>
            </a:pPr>
            <a:r>
              <a:rPr b="1" i="0" lang="en-US" sz="1350" u="none" cap="none" strike="noStrike">
                <a:solidFill>
                  <a:srgbClr val="5C3FA6"/>
                </a:solidFill>
                <a:latin typeface="Calibri"/>
                <a:ea typeface="Calibri"/>
                <a:cs typeface="Calibri"/>
                <a:sym typeface="Calibri"/>
              </a:rPr>
              <a:t>The gap</a:t>
            </a:r>
            <a:endParaRPr b="0" i="0" sz="1350" u="none" cap="none" strike="noStrike">
              <a:solidFill>
                <a:schemeClr val="dk1"/>
              </a:solidFill>
              <a:latin typeface="Calibri"/>
              <a:ea typeface="Calibri"/>
              <a:cs typeface="Calibri"/>
              <a:sym typeface="Calibri"/>
            </a:endParaRPr>
          </a:p>
        </p:txBody>
      </p:sp>
      <p:sp>
        <p:nvSpPr>
          <p:cNvPr id="1455" name="Google Shape;1455;p36"/>
          <p:cNvSpPr/>
          <p:nvPr/>
        </p:nvSpPr>
        <p:spPr>
          <a:xfrm>
            <a:off x="6364224" y="2231136"/>
            <a:ext cx="2212848" cy="155448"/>
          </a:xfrm>
          <a:prstGeom prst="roundRect">
            <a:avLst>
              <a:gd fmla="val 23529" name="adj"/>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6"/>
          <p:cNvSpPr/>
          <p:nvPr/>
        </p:nvSpPr>
        <p:spPr>
          <a:xfrm>
            <a:off x="6408481" y="2487168"/>
            <a:ext cx="398313" cy="155448"/>
          </a:xfrm>
          <a:prstGeom prst="roundRect">
            <a:avLst>
              <a:gd fmla="val 23529" name="adj"/>
            </a:avLst>
          </a:prstGeom>
          <a:solidFill>
            <a:srgbClr val="D2C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6"/>
          <p:cNvSpPr/>
          <p:nvPr/>
        </p:nvSpPr>
        <p:spPr>
          <a:xfrm>
            <a:off x="7736190" y="2743200"/>
            <a:ext cx="796625" cy="155448"/>
          </a:xfrm>
          <a:prstGeom prst="roundRect">
            <a:avLst>
              <a:gd fmla="val 23529" name="adj"/>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6"/>
          <p:cNvSpPr/>
          <p:nvPr/>
        </p:nvSpPr>
        <p:spPr>
          <a:xfrm>
            <a:off x="6345936" y="3675888"/>
            <a:ext cx="2286000" cy="932688"/>
          </a:xfrm>
          <a:prstGeom prst="roundRect">
            <a:avLst>
              <a:gd fmla="val 8824" name="adj"/>
            </a:avLst>
          </a:prstGeom>
          <a:solidFill>
            <a:srgbClr val="EDE8F8"/>
          </a:solidFill>
          <a:ln cap="flat" cmpd="sng" w="12700">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6"/>
          <p:cNvSpPr/>
          <p:nvPr/>
        </p:nvSpPr>
        <p:spPr>
          <a:xfrm>
            <a:off x="6455664" y="3730752"/>
            <a:ext cx="2066544"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000"/>
              <a:buFont typeface="Calibri"/>
              <a:buNone/>
            </a:pPr>
            <a:r>
              <a:rPr b="0" i="0" lang="en-US" sz="1000" u="none" cap="none" strike="noStrike">
                <a:solidFill>
                  <a:srgbClr val="16202C"/>
                </a:solidFill>
                <a:latin typeface="Calibri"/>
                <a:ea typeface="Calibri"/>
                <a:cs typeface="Calibri"/>
                <a:sym typeface="Calibri"/>
              </a:rPr>
              <a:t>Unaccounted time inside the parent: queueing, GC, connection pool wait, or an un-instrumented call.</a:t>
            </a:r>
            <a:endParaRPr b="0" i="0" sz="1000" u="none" cap="none" strike="noStrike">
              <a:solidFill>
                <a:schemeClr val="dk1"/>
              </a:solidFill>
              <a:latin typeface="Calibri"/>
              <a:ea typeface="Calibri"/>
              <a:cs typeface="Calibri"/>
              <a:sym typeface="Calibri"/>
            </a:endParaRPr>
          </a:p>
        </p:txBody>
      </p:sp>
      <p:sp>
        <p:nvSpPr>
          <p:cNvPr id="1460" name="Google Shape;1460;p36"/>
          <p:cNvSpPr/>
          <p:nvPr/>
        </p:nvSpPr>
        <p:spPr>
          <a:xfrm>
            <a:off x="6345936" y="4681728"/>
            <a:ext cx="7315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FIX</a:t>
            </a:r>
            <a:endParaRPr b="0" i="0" sz="850" u="none" cap="none" strike="noStrike">
              <a:solidFill>
                <a:schemeClr val="dk1"/>
              </a:solidFill>
              <a:latin typeface="Calibri"/>
              <a:ea typeface="Calibri"/>
              <a:cs typeface="Calibri"/>
              <a:sym typeface="Calibri"/>
            </a:endParaRPr>
          </a:p>
        </p:txBody>
      </p:sp>
      <p:sp>
        <p:nvSpPr>
          <p:cNvPr id="1461" name="Google Shape;1461;p36"/>
          <p:cNvSpPr/>
          <p:nvPr/>
        </p:nvSpPr>
        <p:spPr>
          <a:xfrm>
            <a:off x="6345936" y="4864608"/>
            <a:ext cx="2286000" cy="3657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00"/>
              <a:buFont typeface="Calibri"/>
              <a:buNone/>
            </a:pPr>
            <a:r>
              <a:rPr b="0" i="1" lang="en-US" sz="1000" u="none" cap="none" strike="noStrike">
                <a:solidFill>
                  <a:srgbClr val="5C6B7A"/>
                </a:solidFill>
                <a:latin typeface="Calibri"/>
                <a:ea typeface="Calibri"/>
                <a:cs typeface="Calibri"/>
                <a:sym typeface="Calibri"/>
              </a:rPr>
              <a:t>Add a span there. The gap is the bug.</a:t>
            </a:r>
            <a:endParaRPr b="0" i="0" sz="1000" u="none" cap="none" strike="noStrike">
              <a:solidFill>
                <a:schemeClr val="dk1"/>
              </a:solidFill>
              <a:latin typeface="Calibri"/>
              <a:ea typeface="Calibri"/>
              <a:cs typeface="Calibri"/>
              <a:sym typeface="Calibri"/>
            </a:endParaRPr>
          </a:p>
        </p:txBody>
      </p:sp>
      <p:sp>
        <p:nvSpPr>
          <p:cNvPr id="1462" name="Google Shape;1462;p36"/>
          <p:cNvSpPr/>
          <p:nvPr/>
        </p:nvSpPr>
        <p:spPr>
          <a:xfrm>
            <a:off x="8961120" y="1700784"/>
            <a:ext cx="2615184" cy="3566160"/>
          </a:xfrm>
          <a:prstGeom prst="roundRect">
            <a:avLst>
              <a:gd fmla="val 3147" name="adj"/>
            </a:avLst>
          </a:prstGeom>
          <a:solidFill>
            <a:srgbClr val="FFFFFF"/>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6"/>
          <p:cNvSpPr/>
          <p:nvPr/>
        </p:nvSpPr>
        <p:spPr>
          <a:xfrm>
            <a:off x="9144000" y="1828800"/>
            <a:ext cx="2286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350"/>
              <a:buFont typeface="Calibri"/>
              <a:buNone/>
            </a:pPr>
            <a:r>
              <a:rPr b="1" i="0" lang="en-US" sz="1350" u="none" cap="none" strike="noStrike">
                <a:solidFill>
                  <a:srgbClr val="5C3FA6"/>
                </a:solidFill>
                <a:latin typeface="Calibri"/>
                <a:ea typeface="Calibri"/>
                <a:cs typeface="Calibri"/>
                <a:sym typeface="Calibri"/>
              </a:rPr>
              <a:t>The long tail</a:t>
            </a:r>
            <a:endParaRPr b="0" i="0" sz="1350" u="none" cap="none" strike="noStrike">
              <a:solidFill>
                <a:schemeClr val="dk1"/>
              </a:solidFill>
              <a:latin typeface="Calibri"/>
              <a:ea typeface="Calibri"/>
              <a:cs typeface="Calibri"/>
              <a:sym typeface="Calibri"/>
            </a:endParaRPr>
          </a:p>
        </p:txBody>
      </p:sp>
      <p:sp>
        <p:nvSpPr>
          <p:cNvPr id="1464" name="Google Shape;1464;p36"/>
          <p:cNvSpPr/>
          <p:nvPr/>
        </p:nvSpPr>
        <p:spPr>
          <a:xfrm>
            <a:off x="9162288" y="2231136"/>
            <a:ext cx="2212848" cy="155448"/>
          </a:xfrm>
          <a:prstGeom prst="roundRect">
            <a:avLst>
              <a:gd fmla="val 23529" name="adj"/>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6"/>
          <p:cNvSpPr/>
          <p:nvPr/>
        </p:nvSpPr>
        <p:spPr>
          <a:xfrm>
            <a:off x="9206545" y="2487168"/>
            <a:ext cx="221285" cy="155448"/>
          </a:xfrm>
          <a:prstGeom prst="roundRect">
            <a:avLst>
              <a:gd fmla="val 23529" name="adj"/>
            </a:avLst>
          </a:prstGeom>
          <a:solidFill>
            <a:srgbClr val="D2C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6"/>
          <p:cNvSpPr/>
          <p:nvPr/>
        </p:nvSpPr>
        <p:spPr>
          <a:xfrm>
            <a:off x="9449958" y="2743200"/>
            <a:ext cx="154899" cy="155448"/>
          </a:xfrm>
          <a:prstGeom prst="roundRect">
            <a:avLst>
              <a:gd fmla="val 23613" name="adj"/>
            </a:avLst>
          </a:prstGeom>
          <a:solidFill>
            <a:srgbClr val="D2C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6"/>
          <p:cNvSpPr/>
          <p:nvPr/>
        </p:nvSpPr>
        <p:spPr>
          <a:xfrm>
            <a:off x="9626986" y="2999232"/>
            <a:ext cx="1681764" cy="155448"/>
          </a:xfrm>
          <a:prstGeom prst="roundRect">
            <a:avLst>
              <a:gd fmla="val 23529" name="adj"/>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6"/>
          <p:cNvSpPr/>
          <p:nvPr/>
        </p:nvSpPr>
        <p:spPr>
          <a:xfrm>
            <a:off x="9144000" y="3675888"/>
            <a:ext cx="2286000" cy="932688"/>
          </a:xfrm>
          <a:prstGeom prst="roundRect">
            <a:avLst>
              <a:gd fmla="val 8824" name="adj"/>
            </a:avLst>
          </a:prstGeom>
          <a:solidFill>
            <a:srgbClr val="EDE8F8"/>
          </a:solidFill>
          <a:ln cap="flat" cmpd="sng" w="12700">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36"/>
          <p:cNvSpPr/>
          <p:nvPr/>
        </p:nvSpPr>
        <p:spPr>
          <a:xfrm>
            <a:off x="9253728" y="3730752"/>
            <a:ext cx="2066544"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000"/>
              <a:buFont typeface="Calibri"/>
              <a:buNone/>
            </a:pPr>
            <a:r>
              <a:rPr b="0" i="0" lang="en-US" sz="1000" u="none" cap="none" strike="noStrike">
                <a:solidFill>
                  <a:srgbClr val="16202C"/>
                </a:solidFill>
                <a:latin typeface="Calibri"/>
                <a:ea typeface="Calibri"/>
                <a:cs typeface="Calibri"/>
                <a:sym typeface="Calibri"/>
              </a:rPr>
              <a:t>One child dominates everything. This is the good case — your suspect is already identified.</a:t>
            </a:r>
            <a:endParaRPr b="0" i="0" sz="1000" u="none" cap="none" strike="noStrike">
              <a:solidFill>
                <a:schemeClr val="dk1"/>
              </a:solidFill>
              <a:latin typeface="Calibri"/>
              <a:ea typeface="Calibri"/>
              <a:cs typeface="Calibri"/>
              <a:sym typeface="Calibri"/>
            </a:endParaRPr>
          </a:p>
        </p:txBody>
      </p:sp>
      <p:sp>
        <p:nvSpPr>
          <p:cNvPr id="1470" name="Google Shape;1470;p36"/>
          <p:cNvSpPr/>
          <p:nvPr/>
        </p:nvSpPr>
        <p:spPr>
          <a:xfrm>
            <a:off x="9144000" y="4681728"/>
            <a:ext cx="7315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850"/>
              <a:buFont typeface="Calibri"/>
              <a:buNone/>
            </a:pPr>
            <a:r>
              <a:rPr b="1" i="0" lang="en-US" sz="850" u="none" cap="none" strike="noStrike">
                <a:solidFill>
                  <a:srgbClr val="93A2B0"/>
                </a:solidFill>
                <a:latin typeface="Calibri"/>
                <a:ea typeface="Calibri"/>
                <a:cs typeface="Calibri"/>
                <a:sym typeface="Calibri"/>
              </a:rPr>
              <a:t>FIX</a:t>
            </a:r>
            <a:endParaRPr b="0" i="0" sz="850" u="none" cap="none" strike="noStrike">
              <a:solidFill>
                <a:schemeClr val="dk1"/>
              </a:solidFill>
              <a:latin typeface="Calibri"/>
              <a:ea typeface="Calibri"/>
              <a:cs typeface="Calibri"/>
              <a:sym typeface="Calibri"/>
            </a:endParaRPr>
          </a:p>
        </p:txBody>
      </p:sp>
      <p:sp>
        <p:nvSpPr>
          <p:cNvPr id="1471" name="Google Shape;1471;p36"/>
          <p:cNvSpPr/>
          <p:nvPr/>
        </p:nvSpPr>
        <p:spPr>
          <a:xfrm>
            <a:off x="9144000" y="4864608"/>
            <a:ext cx="2286000" cy="3657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00"/>
              <a:buFont typeface="Calibri"/>
              <a:buNone/>
            </a:pPr>
            <a:r>
              <a:rPr b="0" i="1" lang="en-US" sz="1000" u="none" cap="none" strike="noStrike">
                <a:solidFill>
                  <a:srgbClr val="5C6B7A"/>
                </a:solidFill>
                <a:latin typeface="Calibri"/>
                <a:ea typeface="Calibri"/>
                <a:cs typeface="Calibri"/>
                <a:sym typeface="Calibri"/>
              </a:rPr>
              <a:t>Go read that service's logs.</a:t>
            </a:r>
            <a:endParaRPr b="0" i="0" sz="1000" u="none" cap="none" strike="noStrike">
              <a:solidFill>
                <a:schemeClr val="dk1"/>
              </a:solidFill>
              <a:latin typeface="Calibri"/>
              <a:ea typeface="Calibri"/>
              <a:cs typeface="Calibri"/>
              <a:sym typeface="Calibri"/>
            </a:endParaRPr>
          </a:p>
        </p:txBody>
      </p:sp>
      <p:sp>
        <p:nvSpPr>
          <p:cNvPr id="1472" name="Google Shape;1472;p36"/>
          <p:cNvSpPr/>
          <p:nvPr/>
        </p:nvSpPr>
        <p:spPr>
          <a:xfrm>
            <a:off x="566928" y="5431536"/>
            <a:ext cx="11057839" cy="841248"/>
          </a:xfrm>
          <a:prstGeom prst="roundRect">
            <a:avLst>
              <a:gd fmla="val 9783"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6"/>
          <p:cNvSpPr/>
          <p:nvPr/>
        </p:nvSpPr>
        <p:spPr>
          <a:xfrm>
            <a:off x="768096" y="5715000"/>
            <a:ext cx="274320" cy="27432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6"/>
          <p:cNvSpPr/>
          <p:nvPr/>
        </p:nvSpPr>
        <p:spPr>
          <a:xfrm>
            <a:off x="768096" y="571500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475" name="Google Shape;1475;p36"/>
          <p:cNvSpPr/>
          <p:nvPr/>
        </p:nvSpPr>
        <p:spPr>
          <a:xfrm>
            <a:off x="1170432" y="5431536"/>
            <a:ext cx="10234879"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The gap is the most valuable of the four and the easiest to miss, because nothing is drawn there. Time inside a parent that no child accounts for is time your instrumentation cannot see — which is usually where the problem is hiding.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0" name="Shape 1480"/>
        <p:cNvGrpSpPr/>
        <p:nvPr/>
      </p:nvGrpSpPr>
      <p:grpSpPr>
        <a:xfrm>
          <a:off x="0" y="0"/>
          <a:ext cx="0" cy="0"/>
          <a:chOff x="0" y="0"/>
          <a:chExt cx="0" cy="0"/>
        </a:xfrm>
      </p:grpSpPr>
      <p:sp>
        <p:nvSpPr>
          <p:cNvPr id="1481" name="Google Shape;1481;p37"/>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50"/>
              <a:buFont typeface="Calibri"/>
              <a:buNone/>
            </a:pPr>
            <a:r>
              <a:rPr b="1" i="0" lang="en-US" sz="1050" u="none" cap="none" strike="noStrike">
                <a:solidFill>
                  <a:srgbClr val="5C3FA6"/>
                </a:solidFill>
                <a:latin typeface="Calibri"/>
                <a:ea typeface="Calibri"/>
                <a:cs typeface="Calibri"/>
                <a:sym typeface="Calibri"/>
              </a:rPr>
              <a:t>THE MARKET</a:t>
            </a:r>
            <a:endParaRPr b="0" i="0" sz="1050" u="none" cap="none" strike="noStrike">
              <a:solidFill>
                <a:schemeClr val="dk1"/>
              </a:solidFill>
              <a:latin typeface="Calibri"/>
              <a:ea typeface="Calibri"/>
              <a:cs typeface="Calibri"/>
              <a:sym typeface="Calibri"/>
            </a:endParaRPr>
          </a:p>
        </p:txBody>
      </p:sp>
      <p:sp>
        <p:nvSpPr>
          <p:cNvPr id="1482" name="Google Shape;1482;p37"/>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Where you can put traces</a:t>
            </a:r>
            <a:endParaRPr b="0" i="0" sz="2900" u="none" cap="none" strike="noStrike">
              <a:solidFill>
                <a:schemeClr val="dk1"/>
              </a:solidFill>
              <a:latin typeface="Calibri"/>
              <a:ea typeface="Calibri"/>
              <a:cs typeface="Calibri"/>
              <a:sym typeface="Calibri"/>
            </a:endParaRPr>
          </a:p>
        </p:txBody>
      </p:sp>
      <p:sp>
        <p:nvSpPr>
          <p:cNvPr id="1483" name="Google Shape;1483;p37"/>
          <p:cNvSpPr/>
          <p:nvPr/>
        </p:nvSpPr>
        <p:spPr>
          <a:xfrm>
            <a:off x="10556748" y="402336"/>
            <a:ext cx="1068019" cy="329184"/>
          </a:xfrm>
          <a:prstGeom prst="roundRect">
            <a:avLst>
              <a:gd fmla="val 50000" name="adj"/>
            </a:avLst>
          </a:prstGeom>
          <a:solidFill>
            <a:srgbClr val="EDE8F8"/>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7"/>
          <p:cNvSpPr/>
          <p:nvPr/>
        </p:nvSpPr>
        <p:spPr>
          <a:xfrm>
            <a:off x="10730484" y="525780"/>
            <a:ext cx="91440" cy="9144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37"/>
          <p:cNvSpPr/>
          <p:nvPr/>
        </p:nvSpPr>
        <p:spPr>
          <a:xfrm>
            <a:off x="10867644" y="402336"/>
            <a:ext cx="665683"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000"/>
              <a:buFont typeface="Calibri"/>
              <a:buNone/>
            </a:pPr>
            <a:r>
              <a:rPr b="1" i="0" lang="en-US" sz="1000" u="none" cap="none" strike="noStrike">
                <a:solidFill>
                  <a:srgbClr val="5C3FA6"/>
                </a:solidFill>
                <a:latin typeface="Calibri"/>
                <a:ea typeface="Calibri"/>
                <a:cs typeface="Calibri"/>
                <a:sym typeface="Calibri"/>
              </a:rPr>
              <a:t>Traces</a:t>
            </a:r>
            <a:endParaRPr b="0" i="0" sz="1000" u="none" cap="none" strike="noStrike">
              <a:solidFill>
                <a:schemeClr val="dk1"/>
              </a:solidFill>
              <a:latin typeface="Calibri"/>
              <a:ea typeface="Calibri"/>
              <a:cs typeface="Calibri"/>
              <a:sym typeface="Calibri"/>
            </a:endParaRPr>
          </a:p>
        </p:txBody>
      </p:sp>
      <p:sp>
        <p:nvSpPr>
          <p:cNvPr id="1486" name="Google Shape;1486;p37"/>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487" name="Google Shape;1487;p37"/>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35</a:t>
            </a:r>
            <a:endParaRPr b="0" i="0" sz="900" u="none" cap="none" strike="noStrike">
              <a:solidFill>
                <a:schemeClr val="dk1"/>
              </a:solidFill>
              <a:latin typeface="Calibri"/>
              <a:ea typeface="Calibri"/>
              <a:cs typeface="Calibri"/>
              <a:sym typeface="Calibri"/>
            </a:endParaRPr>
          </a:p>
        </p:txBody>
      </p:sp>
      <p:sp>
        <p:nvSpPr>
          <p:cNvPr id="1488" name="Google Shape;1488;p37"/>
          <p:cNvSpPr/>
          <p:nvPr/>
        </p:nvSpPr>
        <p:spPr>
          <a:xfrm>
            <a:off x="566928" y="1234440"/>
            <a:ext cx="11057839" cy="365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300"/>
              <a:buFont typeface="Calibri"/>
              <a:buNone/>
            </a:pPr>
            <a:r>
              <a:rPr b="0" i="1" lang="en-US" sz="1300" u="none" cap="none" strike="noStrike">
                <a:solidFill>
                  <a:srgbClr val="5C6B7A"/>
                </a:solidFill>
                <a:latin typeface="Calibri"/>
                <a:ea typeface="Calibri"/>
                <a:cs typeface="Calibri"/>
                <a:sym typeface="Calibri"/>
              </a:rPr>
              <a:t>This column used to be called APM, and it was the most locked-in part of the stack. OpenTelemetry broke that, recently and deliberately.</a:t>
            </a:r>
            <a:endParaRPr b="0" i="0" sz="1300" u="none" cap="none" strike="noStrike">
              <a:solidFill>
                <a:schemeClr val="dk1"/>
              </a:solidFill>
              <a:latin typeface="Calibri"/>
              <a:ea typeface="Calibri"/>
              <a:cs typeface="Calibri"/>
              <a:sym typeface="Calibri"/>
            </a:endParaRPr>
          </a:p>
        </p:txBody>
      </p:sp>
      <p:sp>
        <p:nvSpPr>
          <p:cNvPr id="1489" name="Google Shape;1489;p37"/>
          <p:cNvSpPr/>
          <p:nvPr/>
        </p:nvSpPr>
        <p:spPr>
          <a:xfrm>
            <a:off x="566928" y="1700784"/>
            <a:ext cx="2615184" cy="4114800"/>
          </a:xfrm>
          <a:prstGeom prst="roundRect">
            <a:avLst>
              <a:gd fmla="val 3147"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7"/>
          <p:cNvSpPr/>
          <p:nvPr/>
        </p:nvSpPr>
        <p:spPr>
          <a:xfrm>
            <a:off x="566928" y="1700784"/>
            <a:ext cx="2615184" cy="786384"/>
          </a:xfrm>
          <a:prstGeom prst="roundRect">
            <a:avLst>
              <a:gd fmla="val 10465"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37"/>
          <p:cNvSpPr/>
          <p:nvPr/>
        </p:nvSpPr>
        <p:spPr>
          <a:xfrm>
            <a:off x="749808" y="1883664"/>
            <a:ext cx="182880" cy="182880"/>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7"/>
          <p:cNvSpPr/>
          <p:nvPr/>
        </p:nvSpPr>
        <p:spPr>
          <a:xfrm>
            <a:off x="1024128" y="1773936"/>
            <a:ext cx="20482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Run it yourself</a:t>
            </a:r>
            <a:endParaRPr b="0" i="0" sz="1300" u="none" cap="none" strike="noStrike">
              <a:solidFill>
                <a:schemeClr val="dk1"/>
              </a:solidFill>
              <a:latin typeface="Calibri"/>
              <a:ea typeface="Calibri"/>
              <a:cs typeface="Calibri"/>
              <a:sym typeface="Calibri"/>
            </a:endParaRPr>
          </a:p>
        </p:txBody>
      </p:sp>
      <p:sp>
        <p:nvSpPr>
          <p:cNvPr id="1493" name="Google Shape;1493;p37"/>
          <p:cNvSpPr/>
          <p:nvPr/>
        </p:nvSpPr>
        <p:spPr>
          <a:xfrm>
            <a:off x="749808" y="213969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0" i="1" lang="en-US" sz="950" u="none" cap="none" strike="noStrike">
                <a:solidFill>
                  <a:srgbClr val="5C6B7A"/>
                </a:solidFill>
                <a:latin typeface="Calibri"/>
                <a:ea typeface="Calibri"/>
                <a:cs typeface="Calibri"/>
                <a:sym typeface="Calibri"/>
              </a:rPr>
              <a:t>Open source, your servers</a:t>
            </a:r>
            <a:endParaRPr b="0" i="0" sz="950" u="none" cap="none" strike="noStrike">
              <a:solidFill>
                <a:schemeClr val="dk1"/>
              </a:solidFill>
              <a:latin typeface="Calibri"/>
              <a:ea typeface="Calibri"/>
              <a:cs typeface="Calibri"/>
              <a:sym typeface="Calibri"/>
            </a:endParaRPr>
          </a:p>
        </p:txBody>
      </p:sp>
      <p:sp>
        <p:nvSpPr>
          <p:cNvPr id="1494" name="Google Shape;1494;p37"/>
          <p:cNvSpPr/>
          <p:nvPr/>
        </p:nvSpPr>
        <p:spPr>
          <a:xfrm>
            <a:off x="731520" y="2615184"/>
            <a:ext cx="656722"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7"/>
          <p:cNvSpPr/>
          <p:nvPr/>
        </p:nvSpPr>
        <p:spPr>
          <a:xfrm>
            <a:off x="731520" y="2615184"/>
            <a:ext cx="65672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Jaeger</a:t>
            </a:r>
            <a:endParaRPr b="0" i="0" sz="850" u="none" cap="none" strike="noStrike">
              <a:solidFill>
                <a:schemeClr val="dk1"/>
              </a:solidFill>
              <a:latin typeface="Calibri"/>
              <a:ea typeface="Calibri"/>
              <a:cs typeface="Calibri"/>
              <a:sym typeface="Calibri"/>
            </a:endParaRPr>
          </a:p>
        </p:txBody>
      </p:sp>
      <p:sp>
        <p:nvSpPr>
          <p:cNvPr id="1496" name="Google Shape;1496;p37"/>
          <p:cNvSpPr/>
          <p:nvPr/>
        </p:nvSpPr>
        <p:spPr>
          <a:xfrm>
            <a:off x="1479682" y="2615184"/>
            <a:ext cx="1102858"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7"/>
          <p:cNvSpPr/>
          <p:nvPr/>
        </p:nvSpPr>
        <p:spPr>
          <a:xfrm>
            <a:off x="1479682" y="2615184"/>
            <a:ext cx="110285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Grafana Tempo</a:t>
            </a:r>
            <a:endParaRPr b="0" i="0" sz="850" u="none" cap="none" strike="noStrike">
              <a:solidFill>
                <a:schemeClr val="dk1"/>
              </a:solidFill>
              <a:latin typeface="Calibri"/>
              <a:ea typeface="Calibri"/>
              <a:cs typeface="Calibri"/>
              <a:sym typeface="Calibri"/>
            </a:endParaRPr>
          </a:p>
        </p:txBody>
      </p:sp>
      <p:sp>
        <p:nvSpPr>
          <p:cNvPr id="1498" name="Google Shape;1498;p37"/>
          <p:cNvSpPr/>
          <p:nvPr/>
        </p:nvSpPr>
        <p:spPr>
          <a:xfrm>
            <a:off x="731520" y="2944368"/>
            <a:ext cx="656722"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7"/>
          <p:cNvSpPr/>
          <p:nvPr/>
        </p:nvSpPr>
        <p:spPr>
          <a:xfrm>
            <a:off x="731520" y="2944368"/>
            <a:ext cx="65672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Zipkin</a:t>
            </a:r>
            <a:endParaRPr b="0" i="0" sz="850" u="none" cap="none" strike="noStrike">
              <a:solidFill>
                <a:schemeClr val="dk1"/>
              </a:solidFill>
              <a:latin typeface="Calibri"/>
              <a:ea typeface="Calibri"/>
              <a:cs typeface="Calibri"/>
              <a:sym typeface="Calibri"/>
            </a:endParaRPr>
          </a:p>
        </p:txBody>
      </p:sp>
      <p:sp>
        <p:nvSpPr>
          <p:cNvPr id="1500" name="Google Shape;1500;p37"/>
          <p:cNvSpPr/>
          <p:nvPr/>
        </p:nvSpPr>
        <p:spPr>
          <a:xfrm>
            <a:off x="1479682" y="2944368"/>
            <a:ext cx="656722"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7"/>
          <p:cNvSpPr/>
          <p:nvPr/>
        </p:nvSpPr>
        <p:spPr>
          <a:xfrm>
            <a:off x="1479682" y="2944368"/>
            <a:ext cx="65672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SigNoz</a:t>
            </a:r>
            <a:endParaRPr b="0" i="0" sz="850" u="none" cap="none" strike="noStrike">
              <a:solidFill>
                <a:schemeClr val="dk1"/>
              </a:solidFill>
              <a:latin typeface="Calibri"/>
              <a:ea typeface="Calibri"/>
              <a:cs typeface="Calibri"/>
              <a:sym typeface="Calibri"/>
            </a:endParaRPr>
          </a:p>
        </p:txBody>
      </p:sp>
      <p:sp>
        <p:nvSpPr>
          <p:cNvPr id="1502" name="Google Shape;1502;p37"/>
          <p:cNvSpPr/>
          <p:nvPr/>
        </p:nvSpPr>
        <p:spPr>
          <a:xfrm>
            <a:off x="2227844" y="2944368"/>
            <a:ext cx="720456"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7"/>
          <p:cNvSpPr/>
          <p:nvPr/>
        </p:nvSpPr>
        <p:spPr>
          <a:xfrm>
            <a:off x="2227844" y="2944368"/>
            <a:ext cx="72045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Uptrace</a:t>
            </a:r>
            <a:endParaRPr b="0" i="0" sz="850" u="none" cap="none" strike="noStrike">
              <a:solidFill>
                <a:schemeClr val="dk1"/>
              </a:solidFill>
              <a:latin typeface="Calibri"/>
              <a:ea typeface="Calibri"/>
              <a:cs typeface="Calibri"/>
              <a:sym typeface="Calibri"/>
            </a:endParaRPr>
          </a:p>
        </p:txBody>
      </p:sp>
      <p:sp>
        <p:nvSpPr>
          <p:cNvPr id="1504" name="Google Shape;1504;p37"/>
          <p:cNvSpPr/>
          <p:nvPr/>
        </p:nvSpPr>
        <p:spPr>
          <a:xfrm>
            <a:off x="731520" y="3273552"/>
            <a:ext cx="720456"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7"/>
          <p:cNvSpPr/>
          <p:nvPr/>
        </p:nvSpPr>
        <p:spPr>
          <a:xfrm>
            <a:off x="731520" y="3273552"/>
            <a:ext cx="72045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HyperDX</a:t>
            </a:r>
            <a:endParaRPr b="0" i="0" sz="850" u="none" cap="none" strike="noStrike">
              <a:solidFill>
                <a:schemeClr val="dk1"/>
              </a:solidFill>
              <a:latin typeface="Calibri"/>
              <a:ea typeface="Calibri"/>
              <a:cs typeface="Calibri"/>
              <a:sym typeface="Calibri"/>
            </a:endParaRPr>
          </a:p>
        </p:txBody>
      </p:sp>
      <p:sp>
        <p:nvSpPr>
          <p:cNvPr id="1506" name="Google Shape;1506;p37"/>
          <p:cNvSpPr/>
          <p:nvPr/>
        </p:nvSpPr>
        <p:spPr>
          <a:xfrm>
            <a:off x="1543416" y="3273552"/>
            <a:ext cx="975390"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7"/>
          <p:cNvSpPr/>
          <p:nvPr/>
        </p:nvSpPr>
        <p:spPr>
          <a:xfrm>
            <a:off x="1543416" y="3273552"/>
            <a:ext cx="97539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OpenObserve</a:t>
            </a:r>
            <a:endParaRPr b="0" i="0" sz="850" u="none" cap="none" strike="noStrike">
              <a:solidFill>
                <a:schemeClr val="dk1"/>
              </a:solidFill>
              <a:latin typeface="Calibri"/>
              <a:ea typeface="Calibri"/>
              <a:cs typeface="Calibri"/>
              <a:sym typeface="Calibri"/>
            </a:endParaRPr>
          </a:p>
        </p:txBody>
      </p:sp>
      <p:sp>
        <p:nvSpPr>
          <p:cNvPr id="1508" name="Google Shape;1508;p37"/>
          <p:cNvSpPr/>
          <p:nvPr/>
        </p:nvSpPr>
        <p:spPr>
          <a:xfrm>
            <a:off x="731520" y="3602736"/>
            <a:ext cx="1357793" cy="246888"/>
          </a:xfrm>
          <a:prstGeom prst="roundRect">
            <a:avLst>
              <a:gd fmla="val 50000" name="adj"/>
            </a:avLst>
          </a:prstGeom>
          <a:solidFill>
            <a:srgbClr val="FFFFFF"/>
          </a:solidFill>
          <a:ln cap="flat" cmpd="sng" w="9525">
            <a:solidFill>
              <a:srgbClr val="5C3F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7"/>
          <p:cNvSpPr/>
          <p:nvPr/>
        </p:nvSpPr>
        <p:spPr>
          <a:xfrm>
            <a:off x="731520" y="3602736"/>
            <a:ext cx="1357793"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3FA6"/>
              </a:buClr>
              <a:buSzPts val="850"/>
              <a:buFont typeface="Calibri"/>
              <a:buNone/>
            </a:pPr>
            <a:r>
              <a:rPr b="1" i="0" lang="en-US" sz="850" u="none" cap="none" strike="noStrike">
                <a:solidFill>
                  <a:srgbClr val="5C3FA6"/>
                </a:solidFill>
                <a:latin typeface="Calibri"/>
                <a:ea typeface="Calibri"/>
                <a:cs typeface="Calibri"/>
                <a:sym typeface="Calibri"/>
              </a:rPr>
              <a:t>Apache SkyWalking</a:t>
            </a:r>
            <a:endParaRPr b="0" i="0" sz="850" u="none" cap="none" strike="noStrike">
              <a:solidFill>
                <a:schemeClr val="dk1"/>
              </a:solidFill>
              <a:latin typeface="Calibri"/>
              <a:ea typeface="Calibri"/>
              <a:cs typeface="Calibri"/>
              <a:sym typeface="Calibri"/>
            </a:endParaRPr>
          </a:p>
        </p:txBody>
      </p:sp>
      <p:sp>
        <p:nvSpPr>
          <p:cNvPr id="1510" name="Google Shape;1510;p37"/>
          <p:cNvSpPr/>
          <p:nvPr/>
        </p:nvSpPr>
        <p:spPr>
          <a:xfrm>
            <a:off x="749808" y="4059936"/>
            <a:ext cx="2286000" cy="170078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Jaeger for learning and for modest volume. Tempo when you want cheap object-storage retention and Grafana-native correlation.</a:t>
            </a:r>
            <a:endParaRPr b="0" i="0" sz="1000" u="none" cap="none" strike="noStrike">
              <a:solidFill>
                <a:schemeClr val="dk1"/>
              </a:solidFill>
              <a:latin typeface="Calibri"/>
              <a:ea typeface="Calibri"/>
              <a:cs typeface="Calibri"/>
              <a:sym typeface="Calibri"/>
            </a:endParaRPr>
          </a:p>
        </p:txBody>
      </p:sp>
      <p:sp>
        <p:nvSpPr>
          <p:cNvPr id="1511" name="Google Shape;1511;p37"/>
          <p:cNvSpPr/>
          <p:nvPr/>
        </p:nvSpPr>
        <p:spPr>
          <a:xfrm>
            <a:off x="3364992" y="1700784"/>
            <a:ext cx="2615184" cy="4114800"/>
          </a:xfrm>
          <a:prstGeom prst="roundRect">
            <a:avLst>
              <a:gd fmla="val 3147"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7"/>
          <p:cNvSpPr/>
          <p:nvPr/>
        </p:nvSpPr>
        <p:spPr>
          <a:xfrm>
            <a:off x="3364992" y="1700784"/>
            <a:ext cx="2615184" cy="786384"/>
          </a:xfrm>
          <a:prstGeom prst="roundRect">
            <a:avLst>
              <a:gd fmla="val 10465"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7"/>
          <p:cNvSpPr/>
          <p:nvPr/>
        </p:nvSpPr>
        <p:spPr>
          <a:xfrm>
            <a:off x="3547872" y="1883664"/>
            <a:ext cx="182880" cy="182880"/>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7"/>
          <p:cNvSpPr/>
          <p:nvPr/>
        </p:nvSpPr>
        <p:spPr>
          <a:xfrm>
            <a:off x="3822192" y="1773936"/>
            <a:ext cx="20482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Managed open source</a:t>
            </a:r>
            <a:endParaRPr b="0" i="0" sz="1300" u="none" cap="none" strike="noStrike">
              <a:solidFill>
                <a:schemeClr val="dk1"/>
              </a:solidFill>
              <a:latin typeface="Calibri"/>
              <a:ea typeface="Calibri"/>
              <a:cs typeface="Calibri"/>
              <a:sym typeface="Calibri"/>
            </a:endParaRPr>
          </a:p>
        </p:txBody>
      </p:sp>
      <p:sp>
        <p:nvSpPr>
          <p:cNvPr id="1515" name="Google Shape;1515;p37"/>
          <p:cNvSpPr/>
          <p:nvPr/>
        </p:nvSpPr>
        <p:spPr>
          <a:xfrm>
            <a:off x="3547872" y="213969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0" i="1" lang="en-US" sz="950" u="none" cap="none" strike="noStrike">
                <a:solidFill>
                  <a:srgbClr val="5C6B7A"/>
                </a:solidFill>
                <a:latin typeface="Calibri"/>
                <a:ea typeface="Calibri"/>
                <a:cs typeface="Calibri"/>
                <a:sym typeface="Calibri"/>
              </a:rPr>
              <a:t>OTLP in, hosted backend</a:t>
            </a:r>
            <a:endParaRPr b="0" i="0" sz="950" u="none" cap="none" strike="noStrike">
              <a:solidFill>
                <a:schemeClr val="dk1"/>
              </a:solidFill>
              <a:latin typeface="Calibri"/>
              <a:ea typeface="Calibri"/>
              <a:cs typeface="Calibri"/>
              <a:sym typeface="Calibri"/>
            </a:endParaRPr>
          </a:p>
        </p:txBody>
      </p:sp>
      <p:sp>
        <p:nvSpPr>
          <p:cNvPr id="1516" name="Google Shape;1516;p37"/>
          <p:cNvSpPr/>
          <p:nvPr/>
        </p:nvSpPr>
        <p:spPr>
          <a:xfrm>
            <a:off x="3529584" y="2615184"/>
            <a:ext cx="1548994"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7"/>
          <p:cNvSpPr/>
          <p:nvPr/>
        </p:nvSpPr>
        <p:spPr>
          <a:xfrm>
            <a:off x="3529584" y="2615184"/>
            <a:ext cx="1548994"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850"/>
              <a:buFont typeface="Calibri"/>
              <a:buNone/>
            </a:pPr>
            <a:r>
              <a:rPr b="1" i="0" lang="en-US" sz="850" u="none" cap="none" strike="noStrike">
                <a:solidFill>
                  <a:srgbClr val="0C6B7D"/>
                </a:solidFill>
                <a:latin typeface="Calibri"/>
                <a:ea typeface="Calibri"/>
                <a:cs typeface="Calibri"/>
                <a:sym typeface="Calibri"/>
              </a:rPr>
              <a:t>Grafana Cloud Traces</a:t>
            </a:r>
            <a:endParaRPr b="0" i="0" sz="850" u="none" cap="none" strike="noStrike">
              <a:solidFill>
                <a:schemeClr val="dk1"/>
              </a:solidFill>
              <a:latin typeface="Calibri"/>
              <a:ea typeface="Calibri"/>
              <a:cs typeface="Calibri"/>
              <a:sym typeface="Calibri"/>
            </a:endParaRPr>
          </a:p>
        </p:txBody>
      </p:sp>
      <p:sp>
        <p:nvSpPr>
          <p:cNvPr id="1518" name="Google Shape;1518;p37"/>
          <p:cNvSpPr/>
          <p:nvPr/>
        </p:nvSpPr>
        <p:spPr>
          <a:xfrm>
            <a:off x="3529584" y="2944368"/>
            <a:ext cx="1548994"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7"/>
          <p:cNvSpPr/>
          <p:nvPr/>
        </p:nvSpPr>
        <p:spPr>
          <a:xfrm>
            <a:off x="3529584" y="2944368"/>
            <a:ext cx="1548994"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850"/>
              <a:buFont typeface="Calibri"/>
              <a:buNone/>
            </a:pPr>
            <a:r>
              <a:rPr b="1" i="0" lang="en-US" sz="850" u="none" cap="none" strike="noStrike">
                <a:solidFill>
                  <a:srgbClr val="0C6B7D"/>
                </a:solidFill>
                <a:latin typeface="Calibri"/>
                <a:ea typeface="Calibri"/>
                <a:cs typeface="Calibri"/>
                <a:sym typeface="Calibri"/>
              </a:rPr>
              <a:t>AWS X-Ray (via ADOT)</a:t>
            </a:r>
            <a:endParaRPr b="0" i="0" sz="850" u="none" cap="none" strike="noStrike">
              <a:solidFill>
                <a:schemeClr val="dk1"/>
              </a:solidFill>
              <a:latin typeface="Calibri"/>
              <a:ea typeface="Calibri"/>
              <a:cs typeface="Calibri"/>
              <a:sym typeface="Calibri"/>
            </a:endParaRPr>
          </a:p>
        </p:txBody>
      </p:sp>
      <p:sp>
        <p:nvSpPr>
          <p:cNvPr id="1520" name="Google Shape;1520;p37"/>
          <p:cNvSpPr/>
          <p:nvPr/>
        </p:nvSpPr>
        <p:spPr>
          <a:xfrm>
            <a:off x="3529584" y="3273552"/>
            <a:ext cx="1931396"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7"/>
          <p:cNvSpPr/>
          <p:nvPr/>
        </p:nvSpPr>
        <p:spPr>
          <a:xfrm>
            <a:off x="3529584" y="3273552"/>
            <a:ext cx="193139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850"/>
              <a:buFont typeface="Calibri"/>
              <a:buNone/>
            </a:pPr>
            <a:r>
              <a:rPr b="1" i="0" lang="en-US" sz="850" u="none" cap="none" strike="noStrike">
                <a:solidFill>
                  <a:srgbClr val="0C6B7D"/>
                </a:solidFill>
                <a:latin typeface="Calibri"/>
                <a:ea typeface="Calibri"/>
                <a:cs typeface="Calibri"/>
                <a:sym typeface="Calibri"/>
              </a:rPr>
              <a:t>Azure Application Insights</a:t>
            </a:r>
            <a:endParaRPr b="0" i="0" sz="850" u="none" cap="none" strike="noStrike">
              <a:solidFill>
                <a:schemeClr val="dk1"/>
              </a:solidFill>
              <a:latin typeface="Calibri"/>
              <a:ea typeface="Calibri"/>
              <a:cs typeface="Calibri"/>
              <a:sym typeface="Calibri"/>
            </a:endParaRPr>
          </a:p>
        </p:txBody>
      </p:sp>
      <p:sp>
        <p:nvSpPr>
          <p:cNvPr id="1522" name="Google Shape;1522;p37"/>
          <p:cNvSpPr/>
          <p:nvPr/>
        </p:nvSpPr>
        <p:spPr>
          <a:xfrm>
            <a:off x="3529584" y="3602736"/>
            <a:ext cx="1421526" cy="246888"/>
          </a:xfrm>
          <a:prstGeom prst="roundRect">
            <a:avLst>
              <a:gd fmla="val 50000" name="adj"/>
            </a:avLst>
          </a:prstGeom>
          <a:solidFill>
            <a:srgbClr val="FFFFFF"/>
          </a:solidFill>
          <a:ln cap="flat" cmpd="sng" w="9525">
            <a:solidFill>
              <a:srgbClr val="0C6B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7"/>
          <p:cNvSpPr/>
          <p:nvPr/>
        </p:nvSpPr>
        <p:spPr>
          <a:xfrm>
            <a:off x="3529584" y="3602736"/>
            <a:ext cx="142152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C6B7D"/>
              </a:buClr>
              <a:buSzPts val="850"/>
              <a:buFont typeface="Calibri"/>
              <a:buNone/>
            </a:pPr>
            <a:r>
              <a:rPr b="1" i="0" lang="en-US" sz="850" u="none" cap="none" strike="noStrike">
                <a:solidFill>
                  <a:srgbClr val="0C6B7D"/>
                </a:solidFill>
                <a:latin typeface="Calibri"/>
                <a:ea typeface="Calibri"/>
                <a:cs typeface="Calibri"/>
                <a:sym typeface="Calibri"/>
              </a:rPr>
              <a:t>Google Cloud Trace</a:t>
            </a:r>
            <a:endParaRPr b="0" i="0" sz="850" u="none" cap="none" strike="noStrike">
              <a:solidFill>
                <a:schemeClr val="dk1"/>
              </a:solidFill>
              <a:latin typeface="Calibri"/>
              <a:ea typeface="Calibri"/>
              <a:cs typeface="Calibri"/>
              <a:sym typeface="Calibri"/>
            </a:endParaRPr>
          </a:p>
        </p:txBody>
      </p:sp>
      <p:sp>
        <p:nvSpPr>
          <p:cNvPr id="1524" name="Google Shape;1524;p37"/>
          <p:cNvSpPr/>
          <p:nvPr/>
        </p:nvSpPr>
        <p:spPr>
          <a:xfrm>
            <a:off x="3547872" y="4059936"/>
            <a:ext cx="2286000" cy="170078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You keep OTel instrumentation and hand over the storage. Switching between these is a change to one exporter endpoint.</a:t>
            </a:r>
            <a:endParaRPr b="0" i="0" sz="1000" u="none" cap="none" strike="noStrike">
              <a:solidFill>
                <a:schemeClr val="dk1"/>
              </a:solidFill>
              <a:latin typeface="Calibri"/>
              <a:ea typeface="Calibri"/>
              <a:cs typeface="Calibri"/>
              <a:sym typeface="Calibri"/>
            </a:endParaRPr>
          </a:p>
        </p:txBody>
      </p:sp>
      <p:sp>
        <p:nvSpPr>
          <p:cNvPr id="1525" name="Google Shape;1525;p37"/>
          <p:cNvSpPr/>
          <p:nvPr/>
        </p:nvSpPr>
        <p:spPr>
          <a:xfrm>
            <a:off x="6163056" y="1700784"/>
            <a:ext cx="2615184" cy="4114800"/>
          </a:xfrm>
          <a:prstGeom prst="roundRect">
            <a:avLst>
              <a:gd fmla="val 3147"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7"/>
          <p:cNvSpPr/>
          <p:nvPr/>
        </p:nvSpPr>
        <p:spPr>
          <a:xfrm>
            <a:off x="6163056" y="1700784"/>
            <a:ext cx="2615184" cy="786384"/>
          </a:xfrm>
          <a:prstGeom prst="roundRect">
            <a:avLst>
              <a:gd fmla="val 10465"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7"/>
          <p:cNvSpPr/>
          <p:nvPr/>
        </p:nvSpPr>
        <p:spPr>
          <a:xfrm>
            <a:off x="6345936" y="1883664"/>
            <a:ext cx="182880" cy="182880"/>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7"/>
          <p:cNvSpPr/>
          <p:nvPr/>
        </p:nvSpPr>
        <p:spPr>
          <a:xfrm>
            <a:off x="6620256" y="1773936"/>
            <a:ext cx="20482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Full-platform APM</a:t>
            </a:r>
            <a:endParaRPr b="0" i="0" sz="1300" u="none" cap="none" strike="noStrike">
              <a:solidFill>
                <a:schemeClr val="dk1"/>
              </a:solidFill>
              <a:latin typeface="Calibri"/>
              <a:ea typeface="Calibri"/>
              <a:cs typeface="Calibri"/>
              <a:sym typeface="Calibri"/>
            </a:endParaRPr>
          </a:p>
        </p:txBody>
      </p:sp>
      <p:sp>
        <p:nvSpPr>
          <p:cNvPr id="1529" name="Google Shape;1529;p37"/>
          <p:cNvSpPr/>
          <p:nvPr/>
        </p:nvSpPr>
        <p:spPr>
          <a:xfrm>
            <a:off x="6345936" y="213969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0" i="1" lang="en-US" sz="950" u="none" cap="none" strike="noStrike">
                <a:solidFill>
                  <a:srgbClr val="5C6B7A"/>
                </a:solidFill>
                <a:latin typeface="Calibri"/>
                <a:ea typeface="Calibri"/>
                <a:cs typeface="Calibri"/>
                <a:sym typeface="Calibri"/>
              </a:rPr>
              <a:t>Traces plus everything, correlated</a:t>
            </a:r>
            <a:endParaRPr b="0" i="0" sz="950" u="none" cap="none" strike="noStrike">
              <a:solidFill>
                <a:schemeClr val="dk1"/>
              </a:solidFill>
              <a:latin typeface="Calibri"/>
              <a:ea typeface="Calibri"/>
              <a:cs typeface="Calibri"/>
              <a:sym typeface="Calibri"/>
            </a:endParaRPr>
          </a:p>
        </p:txBody>
      </p:sp>
      <p:sp>
        <p:nvSpPr>
          <p:cNvPr id="1530" name="Google Shape;1530;p37"/>
          <p:cNvSpPr/>
          <p:nvPr/>
        </p:nvSpPr>
        <p:spPr>
          <a:xfrm>
            <a:off x="6327648" y="2615184"/>
            <a:ext cx="975390"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7"/>
          <p:cNvSpPr/>
          <p:nvPr/>
        </p:nvSpPr>
        <p:spPr>
          <a:xfrm>
            <a:off x="6327648" y="2615184"/>
            <a:ext cx="97539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Datadog APM</a:t>
            </a:r>
            <a:endParaRPr b="0" i="0" sz="850" u="none" cap="none" strike="noStrike">
              <a:solidFill>
                <a:schemeClr val="dk1"/>
              </a:solidFill>
              <a:latin typeface="Calibri"/>
              <a:ea typeface="Calibri"/>
              <a:cs typeface="Calibri"/>
              <a:sym typeface="Calibri"/>
            </a:endParaRPr>
          </a:p>
        </p:txBody>
      </p:sp>
      <p:sp>
        <p:nvSpPr>
          <p:cNvPr id="1532" name="Google Shape;1532;p37"/>
          <p:cNvSpPr/>
          <p:nvPr/>
        </p:nvSpPr>
        <p:spPr>
          <a:xfrm>
            <a:off x="7394478" y="2615184"/>
            <a:ext cx="847923"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7"/>
          <p:cNvSpPr/>
          <p:nvPr/>
        </p:nvSpPr>
        <p:spPr>
          <a:xfrm>
            <a:off x="7394478" y="2615184"/>
            <a:ext cx="847923"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New Relic</a:t>
            </a:r>
            <a:endParaRPr b="0" i="0" sz="850" u="none" cap="none" strike="noStrike">
              <a:solidFill>
                <a:schemeClr val="dk1"/>
              </a:solidFill>
              <a:latin typeface="Calibri"/>
              <a:ea typeface="Calibri"/>
              <a:cs typeface="Calibri"/>
              <a:sym typeface="Calibri"/>
            </a:endParaRPr>
          </a:p>
        </p:txBody>
      </p:sp>
      <p:sp>
        <p:nvSpPr>
          <p:cNvPr id="1534" name="Google Shape;1534;p37"/>
          <p:cNvSpPr/>
          <p:nvPr/>
        </p:nvSpPr>
        <p:spPr>
          <a:xfrm>
            <a:off x="6327648" y="2944368"/>
            <a:ext cx="847923"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37"/>
          <p:cNvSpPr/>
          <p:nvPr/>
        </p:nvSpPr>
        <p:spPr>
          <a:xfrm>
            <a:off x="6327648" y="2944368"/>
            <a:ext cx="847923"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Dynatrace</a:t>
            </a:r>
            <a:endParaRPr b="0" i="0" sz="850" u="none" cap="none" strike="noStrike">
              <a:solidFill>
                <a:schemeClr val="dk1"/>
              </a:solidFill>
              <a:latin typeface="Calibri"/>
              <a:ea typeface="Calibri"/>
              <a:cs typeface="Calibri"/>
              <a:sym typeface="Calibri"/>
            </a:endParaRPr>
          </a:p>
        </p:txBody>
      </p:sp>
      <p:sp>
        <p:nvSpPr>
          <p:cNvPr id="1536" name="Google Shape;1536;p37"/>
          <p:cNvSpPr/>
          <p:nvPr/>
        </p:nvSpPr>
        <p:spPr>
          <a:xfrm>
            <a:off x="7267011" y="2944368"/>
            <a:ext cx="847923"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7"/>
          <p:cNvSpPr/>
          <p:nvPr/>
        </p:nvSpPr>
        <p:spPr>
          <a:xfrm>
            <a:off x="7267011" y="2944368"/>
            <a:ext cx="847923"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Honeycomb</a:t>
            </a:r>
            <a:endParaRPr b="0" i="0" sz="850" u="none" cap="none" strike="noStrike">
              <a:solidFill>
                <a:schemeClr val="dk1"/>
              </a:solidFill>
              <a:latin typeface="Calibri"/>
              <a:ea typeface="Calibri"/>
              <a:cs typeface="Calibri"/>
              <a:sym typeface="Calibri"/>
            </a:endParaRPr>
          </a:p>
        </p:txBody>
      </p:sp>
      <p:sp>
        <p:nvSpPr>
          <p:cNvPr id="1538" name="Google Shape;1538;p37"/>
          <p:cNvSpPr/>
          <p:nvPr/>
        </p:nvSpPr>
        <p:spPr>
          <a:xfrm>
            <a:off x="6327648" y="3273552"/>
            <a:ext cx="911657"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37"/>
          <p:cNvSpPr/>
          <p:nvPr/>
        </p:nvSpPr>
        <p:spPr>
          <a:xfrm>
            <a:off x="6327648" y="3273552"/>
            <a:ext cx="911657"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Splunk APM</a:t>
            </a:r>
            <a:endParaRPr b="0" i="0" sz="850" u="none" cap="none" strike="noStrike">
              <a:solidFill>
                <a:schemeClr val="dk1"/>
              </a:solidFill>
              <a:latin typeface="Calibri"/>
              <a:ea typeface="Calibri"/>
              <a:cs typeface="Calibri"/>
              <a:sym typeface="Calibri"/>
            </a:endParaRPr>
          </a:p>
        </p:txBody>
      </p:sp>
      <p:sp>
        <p:nvSpPr>
          <p:cNvPr id="1540" name="Google Shape;1540;p37"/>
          <p:cNvSpPr/>
          <p:nvPr/>
        </p:nvSpPr>
        <p:spPr>
          <a:xfrm>
            <a:off x="7330745" y="3273552"/>
            <a:ext cx="975390"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7"/>
          <p:cNvSpPr/>
          <p:nvPr/>
        </p:nvSpPr>
        <p:spPr>
          <a:xfrm>
            <a:off x="7330745" y="3273552"/>
            <a:ext cx="97539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IBM Instana</a:t>
            </a:r>
            <a:endParaRPr b="0" i="0" sz="850" u="none" cap="none" strike="noStrike">
              <a:solidFill>
                <a:schemeClr val="dk1"/>
              </a:solidFill>
              <a:latin typeface="Calibri"/>
              <a:ea typeface="Calibri"/>
              <a:cs typeface="Calibri"/>
              <a:sym typeface="Calibri"/>
            </a:endParaRPr>
          </a:p>
        </p:txBody>
      </p:sp>
      <p:sp>
        <p:nvSpPr>
          <p:cNvPr id="1542" name="Google Shape;1542;p37"/>
          <p:cNvSpPr/>
          <p:nvPr/>
        </p:nvSpPr>
        <p:spPr>
          <a:xfrm>
            <a:off x="6327648" y="3602736"/>
            <a:ext cx="975390"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7"/>
          <p:cNvSpPr/>
          <p:nvPr/>
        </p:nvSpPr>
        <p:spPr>
          <a:xfrm>
            <a:off x="6327648" y="3602736"/>
            <a:ext cx="97539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Elastic APM</a:t>
            </a:r>
            <a:endParaRPr b="0" i="0" sz="850" u="none" cap="none" strike="noStrike">
              <a:solidFill>
                <a:schemeClr val="dk1"/>
              </a:solidFill>
              <a:latin typeface="Calibri"/>
              <a:ea typeface="Calibri"/>
              <a:cs typeface="Calibri"/>
              <a:sym typeface="Calibri"/>
            </a:endParaRPr>
          </a:p>
        </p:txBody>
      </p:sp>
      <p:sp>
        <p:nvSpPr>
          <p:cNvPr id="1544" name="Google Shape;1544;p37"/>
          <p:cNvSpPr/>
          <p:nvPr/>
        </p:nvSpPr>
        <p:spPr>
          <a:xfrm>
            <a:off x="7394478" y="3602736"/>
            <a:ext cx="656722"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7"/>
          <p:cNvSpPr/>
          <p:nvPr/>
        </p:nvSpPr>
        <p:spPr>
          <a:xfrm>
            <a:off x="7394478" y="3602736"/>
            <a:ext cx="656722"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Sentry</a:t>
            </a:r>
            <a:endParaRPr b="0" i="0" sz="850" u="none" cap="none" strike="noStrike">
              <a:solidFill>
                <a:schemeClr val="dk1"/>
              </a:solidFill>
              <a:latin typeface="Calibri"/>
              <a:ea typeface="Calibri"/>
              <a:cs typeface="Calibri"/>
              <a:sym typeface="Calibri"/>
            </a:endParaRPr>
          </a:p>
        </p:txBody>
      </p:sp>
      <p:sp>
        <p:nvSpPr>
          <p:cNvPr id="1546" name="Google Shape;1546;p37"/>
          <p:cNvSpPr/>
          <p:nvPr/>
        </p:nvSpPr>
        <p:spPr>
          <a:xfrm>
            <a:off x="6327648" y="3931920"/>
            <a:ext cx="911657"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7"/>
          <p:cNvSpPr/>
          <p:nvPr/>
        </p:nvSpPr>
        <p:spPr>
          <a:xfrm>
            <a:off x="6327648" y="3931920"/>
            <a:ext cx="911657"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Middleware</a:t>
            </a:r>
            <a:endParaRPr b="0" i="0" sz="850" u="none" cap="none" strike="noStrike">
              <a:solidFill>
                <a:schemeClr val="dk1"/>
              </a:solidFill>
              <a:latin typeface="Calibri"/>
              <a:ea typeface="Calibri"/>
              <a:cs typeface="Calibri"/>
              <a:sym typeface="Calibri"/>
            </a:endParaRPr>
          </a:p>
        </p:txBody>
      </p:sp>
      <p:sp>
        <p:nvSpPr>
          <p:cNvPr id="1548" name="Google Shape;1548;p37"/>
          <p:cNvSpPr/>
          <p:nvPr/>
        </p:nvSpPr>
        <p:spPr>
          <a:xfrm>
            <a:off x="7330745" y="3931920"/>
            <a:ext cx="592988" cy="246888"/>
          </a:xfrm>
          <a:prstGeom prst="roundRect">
            <a:avLst>
              <a:gd fmla="val 50000" name="adj"/>
            </a:avLst>
          </a:prstGeom>
          <a:solidFill>
            <a:srgbClr val="FFFFFF"/>
          </a:solidFill>
          <a:ln cap="flat" cmpd="sng" w="9525">
            <a:solidFill>
              <a:srgbClr val="BE641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7"/>
          <p:cNvSpPr/>
          <p:nvPr/>
        </p:nvSpPr>
        <p:spPr>
          <a:xfrm>
            <a:off x="7330745" y="3931920"/>
            <a:ext cx="59298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E6415"/>
              </a:buClr>
              <a:buSzPts val="850"/>
              <a:buFont typeface="Calibri"/>
              <a:buNone/>
            </a:pPr>
            <a:r>
              <a:rPr b="1" i="0" lang="en-US" sz="850" u="none" cap="none" strike="noStrike">
                <a:solidFill>
                  <a:srgbClr val="BE6415"/>
                </a:solidFill>
                <a:latin typeface="Calibri"/>
                <a:ea typeface="Calibri"/>
                <a:cs typeface="Calibri"/>
                <a:sym typeface="Calibri"/>
              </a:rPr>
              <a:t>Dash0</a:t>
            </a:r>
            <a:endParaRPr b="0" i="0" sz="850" u="none" cap="none" strike="noStrike">
              <a:solidFill>
                <a:schemeClr val="dk1"/>
              </a:solidFill>
              <a:latin typeface="Calibri"/>
              <a:ea typeface="Calibri"/>
              <a:cs typeface="Calibri"/>
              <a:sym typeface="Calibri"/>
            </a:endParaRPr>
          </a:p>
        </p:txBody>
      </p:sp>
      <p:sp>
        <p:nvSpPr>
          <p:cNvPr id="1550" name="Google Shape;1550;p37"/>
          <p:cNvSpPr/>
          <p:nvPr/>
        </p:nvSpPr>
        <p:spPr>
          <a:xfrm>
            <a:off x="6345936" y="4389120"/>
            <a:ext cx="2286000" cy="13716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The deepest analysis, especially on high-cardinality trace data. Honeycomb in particular is built around exactly this question.</a:t>
            </a:r>
            <a:endParaRPr b="0" i="0" sz="1000" u="none" cap="none" strike="noStrike">
              <a:solidFill>
                <a:schemeClr val="dk1"/>
              </a:solidFill>
              <a:latin typeface="Calibri"/>
              <a:ea typeface="Calibri"/>
              <a:cs typeface="Calibri"/>
              <a:sym typeface="Calibri"/>
            </a:endParaRPr>
          </a:p>
        </p:txBody>
      </p:sp>
      <p:sp>
        <p:nvSpPr>
          <p:cNvPr id="1551" name="Google Shape;1551;p37"/>
          <p:cNvSpPr/>
          <p:nvPr/>
        </p:nvSpPr>
        <p:spPr>
          <a:xfrm>
            <a:off x="8961120" y="1700784"/>
            <a:ext cx="2615184" cy="4114800"/>
          </a:xfrm>
          <a:prstGeom prst="roundRect">
            <a:avLst>
              <a:gd fmla="val 3147"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7"/>
          <p:cNvSpPr/>
          <p:nvPr/>
        </p:nvSpPr>
        <p:spPr>
          <a:xfrm>
            <a:off x="8961120" y="1700784"/>
            <a:ext cx="2615184" cy="786384"/>
          </a:xfrm>
          <a:prstGeom prst="roundRect">
            <a:avLst>
              <a:gd fmla="val 10465" name="adj"/>
            </a:avLst>
          </a:prstGeom>
          <a:solidFill>
            <a:srgbClr val="F5DDE2"/>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7"/>
          <p:cNvSpPr/>
          <p:nvPr/>
        </p:nvSpPr>
        <p:spPr>
          <a:xfrm>
            <a:off x="9144000" y="1883664"/>
            <a:ext cx="182880" cy="18288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7"/>
          <p:cNvSpPr/>
          <p:nvPr/>
        </p:nvSpPr>
        <p:spPr>
          <a:xfrm>
            <a:off x="9418320" y="1773936"/>
            <a:ext cx="20482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300"/>
              <a:buFont typeface="Calibri"/>
              <a:buNone/>
            </a:pPr>
            <a:r>
              <a:rPr b="1" i="0" lang="en-US" sz="1300" u="none" cap="none" strike="noStrike">
                <a:solidFill>
                  <a:srgbClr val="16202C"/>
                </a:solidFill>
                <a:latin typeface="Calibri"/>
                <a:ea typeface="Calibri"/>
                <a:cs typeface="Calibri"/>
                <a:sym typeface="Calibri"/>
              </a:rPr>
              <a:t>Cautionary tale</a:t>
            </a:r>
            <a:endParaRPr b="0" i="0" sz="1300" u="none" cap="none" strike="noStrike">
              <a:solidFill>
                <a:schemeClr val="dk1"/>
              </a:solidFill>
              <a:latin typeface="Calibri"/>
              <a:ea typeface="Calibri"/>
              <a:cs typeface="Calibri"/>
              <a:sym typeface="Calibri"/>
            </a:endParaRPr>
          </a:p>
        </p:txBody>
      </p:sp>
      <p:sp>
        <p:nvSpPr>
          <p:cNvPr id="1555" name="Google Shape;1555;p37"/>
          <p:cNvSpPr/>
          <p:nvPr/>
        </p:nvSpPr>
        <p:spPr>
          <a:xfrm>
            <a:off x="9144000" y="2139696"/>
            <a:ext cx="2286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0" i="1" lang="en-US" sz="950" u="none" cap="none" strike="noStrike">
                <a:solidFill>
                  <a:srgbClr val="5C6B7A"/>
                </a:solidFill>
                <a:latin typeface="Calibri"/>
                <a:ea typeface="Calibri"/>
                <a:cs typeface="Calibri"/>
                <a:sym typeface="Calibri"/>
              </a:rPr>
              <a:t>Read this column carefully</a:t>
            </a:r>
            <a:endParaRPr b="0" i="0" sz="950" u="none" cap="none" strike="noStrike">
              <a:solidFill>
                <a:schemeClr val="dk1"/>
              </a:solidFill>
              <a:latin typeface="Calibri"/>
              <a:ea typeface="Calibri"/>
              <a:cs typeface="Calibri"/>
              <a:sym typeface="Calibri"/>
            </a:endParaRPr>
          </a:p>
        </p:txBody>
      </p:sp>
      <p:sp>
        <p:nvSpPr>
          <p:cNvPr id="1556" name="Google Shape;1556;p37"/>
          <p:cNvSpPr/>
          <p:nvPr/>
        </p:nvSpPr>
        <p:spPr>
          <a:xfrm>
            <a:off x="9125712" y="2615184"/>
            <a:ext cx="2186330" cy="246888"/>
          </a:xfrm>
          <a:prstGeom prst="roundRect">
            <a:avLst>
              <a:gd fmla="val 50000" name="adj"/>
            </a:avLst>
          </a:prstGeom>
          <a:solidFill>
            <a:srgbClr val="FFFFFF"/>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7"/>
          <p:cNvSpPr/>
          <p:nvPr/>
        </p:nvSpPr>
        <p:spPr>
          <a:xfrm>
            <a:off x="9125712" y="2615184"/>
            <a:ext cx="218633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C2740"/>
              </a:buClr>
              <a:buSzPts val="850"/>
              <a:buFont typeface="Calibri"/>
              <a:buNone/>
            </a:pPr>
            <a:r>
              <a:rPr b="1" i="0" lang="en-US" sz="850" u="none" cap="none" strike="noStrike">
                <a:solidFill>
                  <a:srgbClr val="AC2740"/>
                </a:solidFill>
                <a:latin typeface="Calibri"/>
                <a:ea typeface="Calibri"/>
                <a:cs typeface="Calibri"/>
                <a:sym typeface="Calibri"/>
              </a:rPr>
              <a:t>ServiceNow Cloud Observability</a:t>
            </a:r>
            <a:endParaRPr b="0" i="0" sz="850" u="none" cap="none" strike="noStrike">
              <a:solidFill>
                <a:schemeClr val="dk1"/>
              </a:solidFill>
              <a:latin typeface="Calibri"/>
              <a:ea typeface="Calibri"/>
              <a:cs typeface="Calibri"/>
              <a:sym typeface="Calibri"/>
            </a:endParaRPr>
          </a:p>
        </p:txBody>
      </p:sp>
      <p:sp>
        <p:nvSpPr>
          <p:cNvPr id="1558" name="Google Shape;1558;p37"/>
          <p:cNvSpPr/>
          <p:nvPr/>
        </p:nvSpPr>
        <p:spPr>
          <a:xfrm>
            <a:off x="9125712" y="2944368"/>
            <a:ext cx="1421526" cy="246888"/>
          </a:xfrm>
          <a:prstGeom prst="roundRect">
            <a:avLst>
              <a:gd fmla="val 50000" name="adj"/>
            </a:avLst>
          </a:prstGeom>
          <a:solidFill>
            <a:srgbClr val="FFFFFF"/>
          </a:solidFill>
          <a:ln cap="flat" cmpd="sng" w="9525">
            <a:solidFill>
              <a:srgbClr val="AC27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7"/>
          <p:cNvSpPr/>
          <p:nvPr/>
        </p:nvSpPr>
        <p:spPr>
          <a:xfrm>
            <a:off x="9125712" y="2944368"/>
            <a:ext cx="1421526"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C2740"/>
              </a:buClr>
              <a:buSzPts val="850"/>
              <a:buFont typeface="Calibri"/>
              <a:buNone/>
            </a:pPr>
            <a:r>
              <a:rPr b="1" i="0" lang="en-US" sz="850" u="none" cap="none" strike="noStrike">
                <a:solidFill>
                  <a:srgbClr val="AC2740"/>
                </a:solidFill>
                <a:latin typeface="Calibri"/>
                <a:ea typeface="Calibri"/>
                <a:cs typeface="Calibri"/>
                <a:sym typeface="Calibri"/>
              </a:rPr>
              <a:t>formerly Lightstep</a:t>
            </a:r>
            <a:endParaRPr b="0" i="0" sz="850" u="none" cap="none" strike="noStrike">
              <a:solidFill>
                <a:schemeClr val="dk1"/>
              </a:solidFill>
              <a:latin typeface="Calibri"/>
              <a:ea typeface="Calibri"/>
              <a:cs typeface="Calibri"/>
              <a:sym typeface="Calibri"/>
            </a:endParaRPr>
          </a:p>
        </p:txBody>
      </p:sp>
      <p:sp>
        <p:nvSpPr>
          <p:cNvPr id="1560" name="Google Shape;1560;p37"/>
          <p:cNvSpPr/>
          <p:nvPr/>
        </p:nvSpPr>
        <p:spPr>
          <a:xfrm>
            <a:off x="9144000" y="3401568"/>
            <a:ext cx="2286000" cy="2359152"/>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6202C"/>
              </a:buClr>
              <a:buSzPts val="1000"/>
              <a:buFont typeface="Calibri"/>
              <a:buNone/>
            </a:pPr>
            <a:r>
              <a:rPr b="0" i="0" lang="en-US" sz="1000" u="none" cap="none" strike="noStrike">
                <a:solidFill>
                  <a:srgbClr val="16202C"/>
                </a:solidFill>
                <a:latin typeface="Calibri"/>
                <a:ea typeface="Calibri"/>
                <a:cs typeface="Calibri"/>
                <a:sym typeface="Calibri"/>
              </a:rPr>
              <a:t>Built by the people who created distributed tracing at Google and co-founded OpenTelemetry. Acquired in 2021, and shut down on 1 March 2026 with no successor product and no migration path. Customers on OTel changed one endpoint. Customers on the proprietary agent re-instrumented everything.</a:t>
            </a:r>
            <a:endParaRPr b="0" i="0" sz="1000" u="none" cap="none" strike="noStrike">
              <a:solidFill>
                <a:schemeClr val="dk1"/>
              </a:solidFill>
              <a:latin typeface="Calibri"/>
              <a:ea typeface="Calibri"/>
              <a:cs typeface="Calibri"/>
              <a:sym typeface="Calibri"/>
            </a:endParaRPr>
          </a:p>
        </p:txBody>
      </p:sp>
      <p:sp>
        <p:nvSpPr>
          <p:cNvPr id="1561" name="Google Shape;1561;p37"/>
          <p:cNvSpPr/>
          <p:nvPr/>
        </p:nvSpPr>
        <p:spPr>
          <a:xfrm>
            <a:off x="566928" y="5925312"/>
            <a:ext cx="11057839" cy="457200"/>
          </a:xfrm>
          <a:prstGeom prst="roundRect">
            <a:avLst>
              <a:gd fmla="val 18000"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7"/>
          <p:cNvSpPr/>
          <p:nvPr/>
        </p:nvSpPr>
        <p:spPr>
          <a:xfrm>
            <a:off x="768096" y="6016752"/>
            <a:ext cx="274320" cy="274320"/>
          </a:xfrm>
          <a:prstGeom prst="ellipse">
            <a:avLst/>
          </a:prstGeom>
          <a:solidFill>
            <a:srgbClr val="AC27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7"/>
          <p:cNvSpPr/>
          <p:nvPr/>
        </p:nvSpPr>
        <p:spPr>
          <a:xfrm>
            <a:off x="768096" y="6016752"/>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564" name="Google Shape;1564;p37"/>
          <p:cNvSpPr/>
          <p:nvPr/>
        </p:nvSpPr>
        <p:spPr>
          <a:xfrm>
            <a:off x="1170432" y="5925312"/>
            <a:ext cx="1023487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That last column is the single best argument in this deck for keeping your instrumentation vendor-neutral. Which is the next section.</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620"/>
        </a:solidFill>
      </p:bgPr>
    </p:bg>
    <p:spTree>
      <p:nvGrpSpPr>
        <p:cNvPr id="1569" name="Shape 1569"/>
        <p:cNvGrpSpPr/>
        <p:nvPr/>
      </p:nvGrpSpPr>
      <p:grpSpPr>
        <a:xfrm>
          <a:off x="0" y="0"/>
          <a:ext cx="0" cy="0"/>
          <a:chOff x="0" y="0"/>
          <a:chExt cx="0" cy="0"/>
        </a:xfrm>
      </p:grpSpPr>
      <p:sp>
        <p:nvSpPr>
          <p:cNvPr id="1570" name="Google Shape;1570;p38"/>
          <p:cNvSpPr/>
          <p:nvPr/>
        </p:nvSpPr>
        <p:spPr>
          <a:xfrm>
            <a:off x="8595360" y="1051560"/>
            <a:ext cx="3200400" cy="3200400"/>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8"/>
          <p:cNvSpPr/>
          <p:nvPr/>
        </p:nvSpPr>
        <p:spPr>
          <a:xfrm>
            <a:off x="9372600" y="1828800"/>
            <a:ext cx="1645920" cy="1645920"/>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8"/>
          <p:cNvSpPr/>
          <p:nvPr/>
        </p:nvSpPr>
        <p:spPr>
          <a:xfrm>
            <a:off x="9372600" y="1828800"/>
            <a:ext cx="1645920" cy="1645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04</a:t>
            </a:r>
            <a:endParaRPr b="0" i="0" sz="4400" u="none" cap="none" strike="noStrike">
              <a:solidFill>
                <a:schemeClr val="dk1"/>
              </a:solidFill>
              <a:latin typeface="Calibri"/>
              <a:ea typeface="Calibri"/>
              <a:cs typeface="Calibri"/>
              <a:sym typeface="Calibri"/>
            </a:endParaRPr>
          </a:p>
        </p:txBody>
      </p:sp>
      <p:sp>
        <p:nvSpPr>
          <p:cNvPr id="1573" name="Google Shape;1573;p38"/>
          <p:cNvSpPr/>
          <p:nvPr/>
        </p:nvSpPr>
        <p:spPr>
          <a:xfrm>
            <a:off x="566928" y="2057400"/>
            <a:ext cx="7498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1150"/>
              <a:buFont typeface="Calibri"/>
              <a:buNone/>
            </a:pPr>
            <a:r>
              <a:rPr b="1" i="0" lang="en-US" sz="1150" u="none" cap="none" strike="noStrike">
                <a:solidFill>
                  <a:srgbClr val="1B7048"/>
                </a:solidFill>
                <a:latin typeface="Calibri"/>
                <a:ea typeface="Calibri"/>
                <a:cs typeface="Calibri"/>
                <a:sym typeface="Calibri"/>
              </a:rPr>
              <a:t>TYING IT TOGETHER</a:t>
            </a:r>
            <a:endParaRPr b="0" i="0" sz="1150" u="none" cap="none" strike="noStrike">
              <a:solidFill>
                <a:schemeClr val="dk1"/>
              </a:solidFill>
              <a:latin typeface="Calibri"/>
              <a:ea typeface="Calibri"/>
              <a:cs typeface="Calibri"/>
              <a:sym typeface="Calibri"/>
            </a:endParaRPr>
          </a:p>
        </p:txBody>
      </p:sp>
      <p:sp>
        <p:nvSpPr>
          <p:cNvPr id="1574" name="Google Shape;1574;p38"/>
          <p:cNvSpPr/>
          <p:nvPr/>
        </p:nvSpPr>
        <p:spPr>
          <a:xfrm>
            <a:off x="566928" y="2377440"/>
            <a:ext cx="74980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One standard, one agent, one story</a:t>
            </a:r>
            <a:endParaRPr b="0" i="0" sz="4000" u="none" cap="none" strike="noStrike">
              <a:solidFill>
                <a:schemeClr val="dk1"/>
              </a:solidFill>
              <a:latin typeface="Calibri"/>
              <a:ea typeface="Calibri"/>
              <a:cs typeface="Calibri"/>
              <a:sym typeface="Calibri"/>
            </a:endParaRPr>
          </a:p>
        </p:txBody>
      </p:sp>
      <p:sp>
        <p:nvSpPr>
          <p:cNvPr id="1575" name="Google Shape;1575;p38"/>
          <p:cNvSpPr/>
          <p:nvPr/>
        </p:nvSpPr>
        <p:spPr>
          <a:xfrm>
            <a:off x="566928" y="3291840"/>
            <a:ext cx="7315200"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7C4"/>
              </a:buClr>
              <a:buSzPts val="1450"/>
              <a:buFont typeface="Calibri"/>
              <a:buNone/>
            </a:pPr>
            <a:r>
              <a:rPr b="0" i="0" lang="en-US" sz="1450" u="none" cap="none" strike="noStrike">
                <a:solidFill>
                  <a:srgbClr val="A9B7C4"/>
                </a:solidFill>
                <a:latin typeface="Calibri"/>
                <a:ea typeface="Calibri"/>
                <a:cs typeface="Calibri"/>
                <a:sym typeface="Calibri"/>
              </a:rPr>
              <a:t>Three signals are only worth three days if they join up. This is the part that decides whether you have a stack or three separate tabs.</a:t>
            </a:r>
            <a:endParaRPr b="0" i="0" sz="1450" u="none" cap="none" strike="noStrike">
              <a:solidFill>
                <a:schemeClr val="dk1"/>
              </a:solidFill>
              <a:latin typeface="Calibri"/>
              <a:ea typeface="Calibri"/>
              <a:cs typeface="Calibri"/>
              <a:sym typeface="Calibri"/>
            </a:endParaRPr>
          </a:p>
        </p:txBody>
      </p:sp>
      <p:sp>
        <p:nvSpPr>
          <p:cNvPr id="1576" name="Google Shape;1576;p38"/>
          <p:cNvSpPr/>
          <p:nvPr/>
        </p:nvSpPr>
        <p:spPr>
          <a:xfrm>
            <a:off x="566928" y="4343400"/>
            <a:ext cx="1297808" cy="246888"/>
          </a:xfrm>
          <a:prstGeom prst="roundRect">
            <a:avLst>
              <a:gd fmla="val 50000" name="adj"/>
            </a:avLst>
          </a:prstGeom>
          <a:solidFill>
            <a:srgbClr val="FFFFFF"/>
          </a:solidFill>
          <a:ln cap="flat" cmpd="sng" w="9525">
            <a:solidFill>
              <a:srgbClr val="1B70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8"/>
          <p:cNvSpPr/>
          <p:nvPr/>
        </p:nvSpPr>
        <p:spPr>
          <a:xfrm>
            <a:off x="566928" y="4343400"/>
            <a:ext cx="129780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7048"/>
              </a:buClr>
              <a:buSzPts val="1050"/>
              <a:buFont typeface="Calibri"/>
              <a:buNone/>
            </a:pPr>
            <a:r>
              <a:rPr b="1" i="0" lang="en-US" sz="1050" u="none" cap="none" strike="noStrike">
                <a:solidFill>
                  <a:srgbClr val="1B7048"/>
                </a:solidFill>
                <a:latin typeface="Calibri"/>
                <a:ea typeface="Calibri"/>
                <a:cs typeface="Calibri"/>
                <a:sym typeface="Calibri"/>
              </a:rPr>
              <a:t>OpenTelemetry</a:t>
            </a:r>
            <a:endParaRPr b="0" i="0" sz="1050" u="none" cap="none" strike="noStrike">
              <a:solidFill>
                <a:schemeClr val="dk1"/>
              </a:solidFill>
              <a:latin typeface="Calibri"/>
              <a:ea typeface="Calibri"/>
              <a:cs typeface="Calibri"/>
              <a:sym typeface="Calibri"/>
            </a:endParaRPr>
          </a:p>
        </p:txBody>
      </p:sp>
      <p:sp>
        <p:nvSpPr>
          <p:cNvPr id="1578" name="Google Shape;1578;p38"/>
          <p:cNvSpPr/>
          <p:nvPr/>
        </p:nvSpPr>
        <p:spPr>
          <a:xfrm>
            <a:off x="1956176" y="4343400"/>
            <a:ext cx="589239" cy="246888"/>
          </a:xfrm>
          <a:prstGeom prst="roundRect">
            <a:avLst>
              <a:gd fmla="val 50000" name="adj"/>
            </a:avLst>
          </a:prstGeom>
          <a:solidFill>
            <a:srgbClr val="FFFFFF"/>
          </a:solidFill>
          <a:ln cap="flat" cmpd="sng" w="9525">
            <a:solidFill>
              <a:srgbClr val="1B70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8"/>
          <p:cNvSpPr/>
          <p:nvPr/>
        </p:nvSpPr>
        <p:spPr>
          <a:xfrm>
            <a:off x="1956176" y="4343400"/>
            <a:ext cx="58923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7048"/>
              </a:buClr>
              <a:buSzPts val="1050"/>
              <a:buFont typeface="Calibri"/>
              <a:buNone/>
            </a:pPr>
            <a:r>
              <a:rPr b="1" i="0" lang="en-US" sz="1050" u="none" cap="none" strike="noStrike">
                <a:solidFill>
                  <a:srgbClr val="1B7048"/>
                </a:solidFill>
                <a:latin typeface="Calibri"/>
                <a:ea typeface="Calibri"/>
                <a:cs typeface="Calibri"/>
                <a:sym typeface="Calibri"/>
              </a:rPr>
              <a:t>OTLP</a:t>
            </a:r>
            <a:endParaRPr b="0" i="0" sz="1050" u="none" cap="none" strike="noStrike">
              <a:solidFill>
                <a:schemeClr val="dk1"/>
              </a:solidFill>
              <a:latin typeface="Calibri"/>
              <a:ea typeface="Calibri"/>
              <a:cs typeface="Calibri"/>
              <a:sym typeface="Calibri"/>
            </a:endParaRPr>
          </a:p>
        </p:txBody>
      </p:sp>
      <p:sp>
        <p:nvSpPr>
          <p:cNvPr id="1580" name="Google Shape;1580;p38"/>
          <p:cNvSpPr/>
          <p:nvPr/>
        </p:nvSpPr>
        <p:spPr>
          <a:xfrm>
            <a:off x="2636855" y="4343400"/>
            <a:ext cx="982889" cy="246888"/>
          </a:xfrm>
          <a:prstGeom prst="roundRect">
            <a:avLst>
              <a:gd fmla="val 50000" name="adj"/>
            </a:avLst>
          </a:prstGeom>
          <a:solidFill>
            <a:srgbClr val="FFFFFF"/>
          </a:solidFill>
          <a:ln cap="flat" cmpd="sng" w="9525">
            <a:solidFill>
              <a:srgbClr val="1B70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8"/>
          <p:cNvSpPr/>
          <p:nvPr/>
        </p:nvSpPr>
        <p:spPr>
          <a:xfrm>
            <a:off x="2636855" y="4343400"/>
            <a:ext cx="982889"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7048"/>
              </a:buClr>
              <a:buSzPts val="1050"/>
              <a:buFont typeface="Calibri"/>
              <a:buNone/>
            </a:pPr>
            <a:r>
              <a:rPr b="1" i="0" lang="en-US" sz="1050" u="none" cap="none" strike="noStrike">
                <a:solidFill>
                  <a:srgbClr val="1B7048"/>
                </a:solidFill>
                <a:latin typeface="Calibri"/>
                <a:ea typeface="Calibri"/>
                <a:cs typeface="Calibri"/>
                <a:sym typeface="Calibri"/>
              </a:rPr>
              <a:t>Collector</a:t>
            </a:r>
            <a:endParaRPr b="0" i="0" sz="1050" u="none" cap="none" strike="noStrike">
              <a:solidFill>
                <a:schemeClr val="dk1"/>
              </a:solidFill>
              <a:latin typeface="Calibri"/>
              <a:ea typeface="Calibri"/>
              <a:cs typeface="Calibri"/>
              <a:sym typeface="Calibri"/>
            </a:endParaRPr>
          </a:p>
        </p:txBody>
      </p:sp>
      <p:sp>
        <p:nvSpPr>
          <p:cNvPr id="1582" name="Google Shape;1582;p38"/>
          <p:cNvSpPr/>
          <p:nvPr/>
        </p:nvSpPr>
        <p:spPr>
          <a:xfrm>
            <a:off x="3711184" y="4343400"/>
            <a:ext cx="1140348" cy="246888"/>
          </a:xfrm>
          <a:prstGeom prst="roundRect">
            <a:avLst>
              <a:gd fmla="val 50000" name="adj"/>
            </a:avLst>
          </a:prstGeom>
          <a:solidFill>
            <a:srgbClr val="FFFFFF"/>
          </a:solidFill>
          <a:ln cap="flat" cmpd="sng" w="9525">
            <a:solidFill>
              <a:srgbClr val="1B70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8"/>
          <p:cNvSpPr/>
          <p:nvPr/>
        </p:nvSpPr>
        <p:spPr>
          <a:xfrm>
            <a:off x="3711184" y="4343400"/>
            <a:ext cx="114034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7048"/>
              </a:buClr>
              <a:buSzPts val="1050"/>
              <a:buFont typeface="Calibri"/>
              <a:buNone/>
            </a:pPr>
            <a:r>
              <a:rPr b="1" i="0" lang="en-US" sz="1050" u="none" cap="none" strike="noStrike">
                <a:solidFill>
                  <a:srgbClr val="1B7048"/>
                </a:solidFill>
                <a:latin typeface="Calibri"/>
                <a:ea typeface="Calibri"/>
                <a:cs typeface="Calibri"/>
                <a:sym typeface="Calibri"/>
              </a:rPr>
              <a:t>Correlation</a:t>
            </a:r>
            <a:endParaRPr b="0" i="0" sz="1050" u="none" cap="none" strike="noStrike">
              <a:solidFill>
                <a:schemeClr val="dk1"/>
              </a:solidFill>
              <a:latin typeface="Calibri"/>
              <a:ea typeface="Calibri"/>
              <a:cs typeface="Calibri"/>
              <a:sym typeface="Calibri"/>
            </a:endParaRPr>
          </a:p>
        </p:txBody>
      </p:sp>
      <p:sp>
        <p:nvSpPr>
          <p:cNvPr id="1584" name="Google Shape;1584;p38"/>
          <p:cNvSpPr/>
          <p:nvPr/>
        </p:nvSpPr>
        <p:spPr>
          <a:xfrm>
            <a:off x="4942972" y="4343400"/>
            <a:ext cx="1219078" cy="246888"/>
          </a:xfrm>
          <a:prstGeom prst="roundRect">
            <a:avLst>
              <a:gd fmla="val 50000" name="adj"/>
            </a:avLst>
          </a:prstGeom>
          <a:solidFill>
            <a:srgbClr val="FFFFFF"/>
          </a:solidFill>
          <a:ln cap="flat" cmpd="sng" w="9525">
            <a:solidFill>
              <a:srgbClr val="1B70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8"/>
          <p:cNvSpPr/>
          <p:nvPr/>
        </p:nvSpPr>
        <p:spPr>
          <a:xfrm>
            <a:off x="4942972" y="4343400"/>
            <a:ext cx="121907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7048"/>
              </a:buClr>
              <a:buSzPts val="1050"/>
              <a:buFont typeface="Calibri"/>
              <a:buNone/>
            </a:pPr>
            <a:r>
              <a:rPr b="1" i="0" lang="en-US" sz="1050" u="none" cap="none" strike="noStrike">
                <a:solidFill>
                  <a:srgbClr val="1B7048"/>
                </a:solidFill>
                <a:latin typeface="Calibri"/>
                <a:ea typeface="Calibri"/>
                <a:cs typeface="Calibri"/>
                <a:sym typeface="Calibri"/>
              </a:rPr>
              <a:t>Build vs buy</a:t>
            </a:r>
            <a:endParaRPr b="0" i="0" sz="1050" u="none" cap="none" strike="noStrike">
              <a:solidFill>
                <a:schemeClr val="dk1"/>
              </a:solidFill>
              <a:latin typeface="Calibri"/>
              <a:ea typeface="Calibri"/>
              <a:cs typeface="Calibri"/>
              <a:sym typeface="Calibri"/>
            </a:endParaRPr>
          </a:p>
        </p:txBody>
      </p:sp>
      <p:sp>
        <p:nvSpPr>
          <p:cNvPr id="1586" name="Google Shape;1586;p38"/>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6B7A"/>
              </a:buClr>
              <a:buSzPts val="900"/>
              <a:buFont typeface="Calibri"/>
              <a:buNone/>
            </a:pPr>
            <a:r>
              <a:rPr b="0" i="0" lang="en-US" sz="900" u="none" cap="none" strike="noStrike">
                <a:solidFill>
                  <a:srgbClr val="5D6B7A"/>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587" name="Google Shape;1587;p38"/>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D6B7A"/>
              </a:buClr>
              <a:buSzPts val="900"/>
              <a:buFont typeface="Calibri"/>
              <a:buNone/>
            </a:pPr>
            <a:r>
              <a:rPr b="0" i="0" lang="en-US" sz="900" u="none" cap="none" strike="noStrike">
                <a:solidFill>
                  <a:srgbClr val="5D6B7A"/>
                </a:solidFill>
                <a:latin typeface="Calibri"/>
                <a:ea typeface="Calibri"/>
                <a:cs typeface="Calibri"/>
                <a:sym typeface="Calibri"/>
              </a:rPr>
              <a:t>36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2" name="Shape 1592"/>
        <p:cNvGrpSpPr/>
        <p:nvPr/>
      </p:nvGrpSpPr>
      <p:grpSpPr>
        <a:xfrm>
          <a:off x="0" y="0"/>
          <a:ext cx="0" cy="0"/>
          <a:chOff x="0" y="0"/>
          <a:chExt cx="0" cy="0"/>
        </a:xfrm>
      </p:grpSpPr>
      <p:sp>
        <p:nvSpPr>
          <p:cNvPr id="1593" name="Google Shape;1593;p39"/>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1050"/>
              <a:buFont typeface="Calibri"/>
              <a:buNone/>
            </a:pPr>
            <a:r>
              <a:rPr b="1" i="0" lang="en-US" sz="1050" u="none" cap="none" strike="noStrike">
                <a:solidFill>
                  <a:srgbClr val="1B7048"/>
                </a:solidFill>
                <a:latin typeface="Calibri"/>
                <a:ea typeface="Calibri"/>
                <a:cs typeface="Calibri"/>
                <a:sym typeface="Calibri"/>
              </a:rPr>
              <a:t>THE STANDARD</a:t>
            </a:r>
            <a:endParaRPr b="0" i="0" sz="1050" u="none" cap="none" strike="noStrike">
              <a:solidFill>
                <a:schemeClr val="dk1"/>
              </a:solidFill>
              <a:latin typeface="Calibri"/>
              <a:ea typeface="Calibri"/>
              <a:cs typeface="Calibri"/>
              <a:sym typeface="Calibri"/>
            </a:endParaRPr>
          </a:p>
        </p:txBody>
      </p:sp>
      <p:sp>
        <p:nvSpPr>
          <p:cNvPr id="1594" name="Google Shape;1594;p39"/>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OpenTelemetry: instrument once, send anywhere</a:t>
            </a:r>
            <a:endParaRPr b="0" i="0" sz="2900" u="none" cap="none" strike="noStrike">
              <a:solidFill>
                <a:schemeClr val="dk1"/>
              </a:solidFill>
              <a:latin typeface="Calibri"/>
              <a:ea typeface="Calibri"/>
              <a:cs typeface="Calibri"/>
              <a:sym typeface="Calibri"/>
            </a:endParaRPr>
          </a:p>
        </p:txBody>
      </p:sp>
      <p:sp>
        <p:nvSpPr>
          <p:cNvPr id="1595" name="Google Shape;1595;p39"/>
          <p:cNvSpPr/>
          <p:nvPr/>
        </p:nvSpPr>
        <p:spPr>
          <a:xfrm>
            <a:off x="10260482" y="402336"/>
            <a:ext cx="1364285" cy="329184"/>
          </a:xfrm>
          <a:prstGeom prst="roundRect">
            <a:avLst>
              <a:gd fmla="val 50000" name="adj"/>
            </a:avLst>
          </a:prstGeom>
          <a:solidFill>
            <a:srgbClr val="F2F5F8"/>
          </a:solidFill>
          <a:ln cap="flat" cmpd="sng" w="9525">
            <a:solidFill>
              <a:srgbClr val="1B70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9"/>
          <p:cNvSpPr/>
          <p:nvPr/>
        </p:nvSpPr>
        <p:spPr>
          <a:xfrm>
            <a:off x="10434218" y="525780"/>
            <a:ext cx="91440" cy="91440"/>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9"/>
          <p:cNvSpPr/>
          <p:nvPr/>
        </p:nvSpPr>
        <p:spPr>
          <a:xfrm>
            <a:off x="10571378" y="402336"/>
            <a:ext cx="961949"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1000"/>
              <a:buFont typeface="Calibri"/>
              <a:buNone/>
            </a:pPr>
            <a:r>
              <a:rPr b="1" i="0" lang="en-US" sz="1000" u="none" cap="none" strike="noStrike">
                <a:solidFill>
                  <a:srgbClr val="1B7048"/>
                </a:solidFill>
                <a:latin typeface="Calibri"/>
                <a:ea typeface="Calibri"/>
                <a:cs typeface="Calibri"/>
                <a:sym typeface="Calibri"/>
              </a:rPr>
              <a:t>All three</a:t>
            </a:r>
            <a:endParaRPr b="0" i="0" sz="1000" u="none" cap="none" strike="noStrike">
              <a:solidFill>
                <a:schemeClr val="dk1"/>
              </a:solidFill>
              <a:latin typeface="Calibri"/>
              <a:ea typeface="Calibri"/>
              <a:cs typeface="Calibri"/>
              <a:sym typeface="Calibri"/>
            </a:endParaRPr>
          </a:p>
        </p:txBody>
      </p:sp>
      <p:sp>
        <p:nvSpPr>
          <p:cNvPr id="1598" name="Google Shape;1598;p39"/>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599" name="Google Shape;1599;p39"/>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37</a:t>
            </a:r>
            <a:endParaRPr b="0" i="0" sz="900" u="none" cap="none" strike="noStrike">
              <a:solidFill>
                <a:schemeClr val="dk1"/>
              </a:solidFill>
              <a:latin typeface="Calibri"/>
              <a:ea typeface="Calibri"/>
              <a:cs typeface="Calibri"/>
              <a:sym typeface="Calibri"/>
            </a:endParaRPr>
          </a:p>
        </p:txBody>
      </p:sp>
      <p:sp>
        <p:nvSpPr>
          <p:cNvPr id="1600" name="Google Shape;1600;p39"/>
          <p:cNvSpPr/>
          <p:nvPr/>
        </p:nvSpPr>
        <p:spPr>
          <a:xfrm>
            <a:off x="566928" y="1234440"/>
            <a:ext cx="11057839" cy="3657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300"/>
              <a:buFont typeface="Calibri"/>
              <a:buNone/>
            </a:pPr>
            <a:r>
              <a:rPr b="0" i="1" lang="en-US" sz="1300" u="none" cap="none" strike="noStrike">
                <a:solidFill>
                  <a:srgbClr val="5C6B7A"/>
                </a:solidFill>
                <a:latin typeface="Calibri"/>
                <a:ea typeface="Calibri"/>
                <a:cs typeface="Calibri"/>
                <a:sym typeface="Calibri"/>
              </a:rPr>
              <a:t>The second most active project in the CNCF after Kubernetes, and the reason the vendor slides you just saw are less frightening than they used to be.</a:t>
            </a:r>
            <a:endParaRPr b="0" i="0" sz="1300" u="none" cap="none" strike="noStrike">
              <a:solidFill>
                <a:schemeClr val="dk1"/>
              </a:solidFill>
              <a:latin typeface="Calibri"/>
              <a:ea typeface="Calibri"/>
              <a:cs typeface="Calibri"/>
              <a:sym typeface="Calibri"/>
            </a:endParaRPr>
          </a:p>
        </p:txBody>
      </p:sp>
      <p:sp>
        <p:nvSpPr>
          <p:cNvPr id="1601" name="Google Shape;1601;p39"/>
          <p:cNvSpPr/>
          <p:nvPr/>
        </p:nvSpPr>
        <p:spPr>
          <a:xfrm>
            <a:off x="566928" y="1700784"/>
            <a:ext cx="5349240" cy="2377440"/>
          </a:xfrm>
          <a:prstGeom prst="roundRect">
            <a:avLst>
              <a:gd fmla="val 3462"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9"/>
          <p:cNvSpPr/>
          <p:nvPr/>
        </p:nvSpPr>
        <p:spPr>
          <a:xfrm>
            <a:off x="822960" y="1828800"/>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BEFORE</a:t>
            </a:r>
            <a:endParaRPr b="0" i="0" sz="950" u="none" cap="none" strike="noStrike">
              <a:solidFill>
                <a:schemeClr val="dk1"/>
              </a:solidFill>
              <a:latin typeface="Calibri"/>
              <a:ea typeface="Calibri"/>
              <a:cs typeface="Calibri"/>
              <a:sym typeface="Calibri"/>
            </a:endParaRPr>
          </a:p>
        </p:txBody>
      </p:sp>
      <p:sp>
        <p:nvSpPr>
          <p:cNvPr id="1603" name="Google Shape;1603;p39"/>
          <p:cNvSpPr/>
          <p:nvPr/>
        </p:nvSpPr>
        <p:spPr>
          <a:xfrm>
            <a:off x="822960" y="2103120"/>
            <a:ext cx="48463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550"/>
              <a:buFont typeface="Cambria"/>
              <a:buNone/>
            </a:pPr>
            <a:r>
              <a:rPr b="1" i="0" lang="en-US" sz="1550" u="none" cap="none" strike="noStrike">
                <a:solidFill>
                  <a:srgbClr val="16202C"/>
                </a:solidFill>
                <a:latin typeface="Cambria"/>
                <a:ea typeface="Cambria"/>
                <a:cs typeface="Cambria"/>
                <a:sym typeface="Cambria"/>
              </a:rPr>
              <a:t>The vendor's agent lived in your source code</a:t>
            </a:r>
            <a:endParaRPr b="0" i="0" sz="1550" u="none" cap="none" strike="noStrike">
              <a:solidFill>
                <a:schemeClr val="dk1"/>
              </a:solidFill>
              <a:latin typeface="Calibri"/>
              <a:ea typeface="Calibri"/>
              <a:cs typeface="Calibri"/>
              <a:sym typeface="Calibri"/>
            </a:endParaRPr>
          </a:p>
        </p:txBody>
      </p:sp>
      <p:sp>
        <p:nvSpPr>
          <p:cNvPr id="1604" name="Google Shape;1604;p39"/>
          <p:cNvSpPr/>
          <p:nvPr/>
        </p:nvSpPr>
        <p:spPr>
          <a:xfrm>
            <a:off x="822960" y="2523744"/>
            <a:ext cx="4846320" cy="146304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A different SDK per vendor, per language</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Changing vendor meant re-instrumenting every service</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Evaluating a second vendor meant running two agents</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The switching cost was the product strategy</a:t>
            </a:r>
            <a:endParaRPr b="0" i="0" sz="1150" u="none" cap="none" strike="noStrike">
              <a:solidFill>
                <a:schemeClr val="dk1"/>
              </a:solidFill>
              <a:latin typeface="Calibri"/>
              <a:ea typeface="Calibri"/>
              <a:cs typeface="Calibri"/>
              <a:sym typeface="Calibri"/>
            </a:endParaRPr>
          </a:p>
        </p:txBody>
      </p:sp>
      <p:sp>
        <p:nvSpPr>
          <p:cNvPr id="1605" name="Google Shape;1605;p39"/>
          <p:cNvSpPr/>
          <p:nvPr/>
        </p:nvSpPr>
        <p:spPr>
          <a:xfrm>
            <a:off x="6281928" y="1700784"/>
            <a:ext cx="5349240" cy="2377440"/>
          </a:xfrm>
          <a:prstGeom prst="roundRect">
            <a:avLst>
              <a:gd fmla="val 3462"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9"/>
          <p:cNvSpPr/>
          <p:nvPr/>
        </p:nvSpPr>
        <p:spPr>
          <a:xfrm>
            <a:off x="6537960" y="1828800"/>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950"/>
              <a:buFont typeface="Calibri"/>
              <a:buNone/>
            </a:pPr>
            <a:r>
              <a:rPr b="1" i="0" lang="en-US" sz="950" u="none" cap="none" strike="noStrike">
                <a:solidFill>
                  <a:srgbClr val="1B7048"/>
                </a:solidFill>
                <a:latin typeface="Calibri"/>
                <a:ea typeface="Calibri"/>
                <a:cs typeface="Calibri"/>
                <a:sym typeface="Calibri"/>
              </a:rPr>
              <a:t>NOW</a:t>
            </a:r>
            <a:endParaRPr b="0" i="0" sz="950" u="none" cap="none" strike="noStrike">
              <a:solidFill>
                <a:schemeClr val="dk1"/>
              </a:solidFill>
              <a:latin typeface="Calibri"/>
              <a:ea typeface="Calibri"/>
              <a:cs typeface="Calibri"/>
              <a:sym typeface="Calibri"/>
            </a:endParaRPr>
          </a:p>
        </p:txBody>
      </p:sp>
      <p:sp>
        <p:nvSpPr>
          <p:cNvPr id="1607" name="Google Shape;1607;p39"/>
          <p:cNvSpPr/>
          <p:nvPr/>
        </p:nvSpPr>
        <p:spPr>
          <a:xfrm>
            <a:off x="6537960" y="2103120"/>
            <a:ext cx="48463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550"/>
              <a:buFont typeface="Cambria"/>
              <a:buNone/>
            </a:pPr>
            <a:r>
              <a:rPr b="1" i="0" lang="en-US" sz="1550" u="none" cap="none" strike="noStrike">
                <a:solidFill>
                  <a:srgbClr val="16202C"/>
                </a:solidFill>
                <a:latin typeface="Cambria"/>
                <a:ea typeface="Cambria"/>
                <a:cs typeface="Cambria"/>
                <a:sym typeface="Cambria"/>
              </a:rPr>
              <a:t>One API, one SDK, one wire protocol</a:t>
            </a:r>
            <a:endParaRPr b="0" i="0" sz="1550" u="none" cap="none" strike="noStrike">
              <a:solidFill>
                <a:schemeClr val="dk1"/>
              </a:solidFill>
              <a:latin typeface="Calibri"/>
              <a:ea typeface="Calibri"/>
              <a:cs typeface="Calibri"/>
              <a:sym typeface="Calibri"/>
            </a:endParaRPr>
          </a:p>
        </p:txBody>
      </p:sp>
      <p:sp>
        <p:nvSpPr>
          <p:cNvPr id="1608" name="Google Shape;1608;p39"/>
          <p:cNvSpPr/>
          <p:nvPr/>
        </p:nvSpPr>
        <p:spPr>
          <a:xfrm>
            <a:off x="6537960" y="2523744"/>
            <a:ext cx="4846320" cy="146304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Instrument with OTel, export over OTLP</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Changing backend is an endpoint and a credential</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Send the same data to two backends at once, to compare</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Every serious vendor accepts OTLP, because customers demand it</a:t>
            </a:r>
            <a:endParaRPr b="0" i="0" sz="1150" u="none" cap="none" strike="noStrike">
              <a:solidFill>
                <a:schemeClr val="dk1"/>
              </a:solidFill>
              <a:latin typeface="Calibri"/>
              <a:ea typeface="Calibri"/>
              <a:cs typeface="Calibri"/>
              <a:sym typeface="Calibri"/>
            </a:endParaRPr>
          </a:p>
        </p:txBody>
      </p:sp>
      <p:sp>
        <p:nvSpPr>
          <p:cNvPr id="1609" name="Google Shape;1609;p39"/>
          <p:cNvSpPr/>
          <p:nvPr/>
        </p:nvSpPr>
        <p:spPr>
          <a:xfrm>
            <a:off x="566928" y="4224528"/>
            <a:ext cx="11057839" cy="1463040"/>
          </a:xfrm>
          <a:prstGeom prst="roundRect">
            <a:avLst>
              <a:gd fmla="val 5625"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9"/>
          <p:cNvSpPr/>
          <p:nvPr/>
        </p:nvSpPr>
        <p:spPr>
          <a:xfrm>
            <a:off x="822960" y="4352544"/>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950"/>
              <a:buFont typeface="Calibri"/>
              <a:buNone/>
            </a:pPr>
            <a:r>
              <a:rPr b="1" i="0" lang="en-US" sz="950" u="none" cap="none" strike="noStrike">
                <a:solidFill>
                  <a:srgbClr val="1B7048"/>
                </a:solidFill>
                <a:latin typeface="Calibri"/>
                <a:ea typeface="Calibri"/>
                <a:cs typeface="Calibri"/>
                <a:sym typeface="Calibri"/>
              </a:rPr>
              <a:t>WHAT OPENTELEMETRY ACTUALLY GIVES YOU</a:t>
            </a:r>
            <a:endParaRPr b="0" i="0" sz="950" u="none" cap="none" strike="noStrike">
              <a:solidFill>
                <a:schemeClr val="dk1"/>
              </a:solidFill>
              <a:latin typeface="Calibri"/>
              <a:ea typeface="Calibri"/>
              <a:cs typeface="Calibri"/>
              <a:sym typeface="Calibri"/>
            </a:endParaRPr>
          </a:p>
        </p:txBody>
      </p:sp>
      <p:sp>
        <p:nvSpPr>
          <p:cNvPr id="1611" name="Google Shape;1611;p39"/>
          <p:cNvSpPr/>
          <p:nvPr/>
        </p:nvSpPr>
        <p:spPr>
          <a:xfrm>
            <a:off x="822960" y="4663440"/>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API + SDKs</a:t>
            </a:r>
            <a:endParaRPr b="0" i="0" sz="1250" u="none" cap="none" strike="noStrike">
              <a:solidFill>
                <a:schemeClr val="dk1"/>
              </a:solidFill>
              <a:latin typeface="Calibri"/>
              <a:ea typeface="Calibri"/>
              <a:cs typeface="Calibri"/>
              <a:sym typeface="Calibri"/>
            </a:endParaRPr>
          </a:p>
        </p:txBody>
      </p:sp>
      <p:sp>
        <p:nvSpPr>
          <p:cNvPr id="1612" name="Google Shape;1612;p39"/>
          <p:cNvSpPr/>
          <p:nvPr/>
        </p:nvSpPr>
        <p:spPr>
          <a:xfrm>
            <a:off x="822960" y="4937760"/>
            <a:ext cx="2468880" cy="6400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Per language. Create spans, record metrics, emit logs.</a:t>
            </a:r>
            <a:endParaRPr b="0" i="0" sz="1050" u="none" cap="none" strike="noStrike">
              <a:solidFill>
                <a:schemeClr val="dk1"/>
              </a:solidFill>
              <a:latin typeface="Calibri"/>
              <a:ea typeface="Calibri"/>
              <a:cs typeface="Calibri"/>
              <a:sym typeface="Calibri"/>
            </a:endParaRPr>
          </a:p>
        </p:txBody>
      </p:sp>
      <p:sp>
        <p:nvSpPr>
          <p:cNvPr id="1613" name="Google Shape;1613;p39"/>
          <p:cNvSpPr/>
          <p:nvPr/>
        </p:nvSpPr>
        <p:spPr>
          <a:xfrm>
            <a:off x="3511296" y="4663440"/>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OTLP</a:t>
            </a:r>
            <a:endParaRPr b="0" i="0" sz="1250" u="none" cap="none" strike="noStrike">
              <a:solidFill>
                <a:schemeClr val="dk1"/>
              </a:solidFill>
              <a:latin typeface="Calibri"/>
              <a:ea typeface="Calibri"/>
              <a:cs typeface="Calibri"/>
              <a:sym typeface="Calibri"/>
            </a:endParaRPr>
          </a:p>
        </p:txBody>
      </p:sp>
      <p:sp>
        <p:nvSpPr>
          <p:cNvPr id="1614" name="Google Shape;1614;p39"/>
          <p:cNvSpPr/>
          <p:nvPr/>
        </p:nvSpPr>
        <p:spPr>
          <a:xfrm>
            <a:off x="3511296" y="4937760"/>
            <a:ext cx="2468880" cy="6400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The wire protocol every backend now speaks.</a:t>
            </a:r>
            <a:endParaRPr b="0" i="0" sz="1050" u="none" cap="none" strike="noStrike">
              <a:solidFill>
                <a:schemeClr val="dk1"/>
              </a:solidFill>
              <a:latin typeface="Calibri"/>
              <a:ea typeface="Calibri"/>
              <a:cs typeface="Calibri"/>
              <a:sym typeface="Calibri"/>
            </a:endParaRPr>
          </a:p>
        </p:txBody>
      </p:sp>
      <p:sp>
        <p:nvSpPr>
          <p:cNvPr id="1615" name="Google Shape;1615;p39"/>
          <p:cNvSpPr/>
          <p:nvPr/>
        </p:nvSpPr>
        <p:spPr>
          <a:xfrm>
            <a:off x="6199632" y="4663440"/>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Semantic conventions</a:t>
            </a:r>
            <a:endParaRPr b="0" i="0" sz="1250" u="none" cap="none" strike="noStrike">
              <a:solidFill>
                <a:schemeClr val="dk1"/>
              </a:solidFill>
              <a:latin typeface="Calibri"/>
              <a:ea typeface="Calibri"/>
              <a:cs typeface="Calibri"/>
              <a:sym typeface="Calibri"/>
            </a:endParaRPr>
          </a:p>
        </p:txBody>
      </p:sp>
      <p:sp>
        <p:nvSpPr>
          <p:cNvPr id="1616" name="Google Shape;1616;p39"/>
          <p:cNvSpPr/>
          <p:nvPr/>
        </p:nvSpPr>
        <p:spPr>
          <a:xfrm>
            <a:off x="6199632" y="4937760"/>
            <a:ext cx="2468880" cy="6400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Agreed names: http.request.method, db.system. This is why dashboards are portable.</a:t>
            </a:r>
            <a:endParaRPr b="0" i="0" sz="1050" u="none" cap="none" strike="noStrike">
              <a:solidFill>
                <a:schemeClr val="dk1"/>
              </a:solidFill>
              <a:latin typeface="Calibri"/>
              <a:ea typeface="Calibri"/>
              <a:cs typeface="Calibri"/>
              <a:sym typeface="Calibri"/>
            </a:endParaRPr>
          </a:p>
        </p:txBody>
      </p:sp>
      <p:sp>
        <p:nvSpPr>
          <p:cNvPr id="1617" name="Google Shape;1617;p39"/>
          <p:cNvSpPr/>
          <p:nvPr/>
        </p:nvSpPr>
        <p:spPr>
          <a:xfrm>
            <a:off x="8887968" y="4663440"/>
            <a:ext cx="2468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The Collector</a:t>
            </a:r>
            <a:endParaRPr b="0" i="0" sz="1250" u="none" cap="none" strike="noStrike">
              <a:solidFill>
                <a:schemeClr val="dk1"/>
              </a:solidFill>
              <a:latin typeface="Calibri"/>
              <a:ea typeface="Calibri"/>
              <a:cs typeface="Calibri"/>
              <a:sym typeface="Calibri"/>
            </a:endParaRPr>
          </a:p>
        </p:txBody>
      </p:sp>
      <p:sp>
        <p:nvSpPr>
          <p:cNvPr id="1618" name="Google Shape;1618;p39"/>
          <p:cNvSpPr/>
          <p:nvPr/>
        </p:nvSpPr>
        <p:spPr>
          <a:xfrm>
            <a:off x="8887968" y="4937760"/>
            <a:ext cx="2468880" cy="6400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A vendor-neutral pipeline that receives, processes and exports.</a:t>
            </a:r>
            <a:endParaRPr b="0" i="0" sz="1050" u="none" cap="none" strike="noStrike">
              <a:solidFill>
                <a:schemeClr val="dk1"/>
              </a:solidFill>
              <a:latin typeface="Calibri"/>
              <a:ea typeface="Calibri"/>
              <a:cs typeface="Calibri"/>
              <a:sym typeface="Calibri"/>
            </a:endParaRPr>
          </a:p>
        </p:txBody>
      </p:sp>
      <p:sp>
        <p:nvSpPr>
          <p:cNvPr id="1619" name="Google Shape;1619;p39"/>
          <p:cNvSpPr/>
          <p:nvPr/>
        </p:nvSpPr>
        <p:spPr>
          <a:xfrm>
            <a:off x="566928" y="5815584"/>
            <a:ext cx="11057839" cy="548640"/>
          </a:xfrm>
          <a:prstGeom prst="roundRect">
            <a:avLst>
              <a:gd fmla="val 15000"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39"/>
          <p:cNvSpPr/>
          <p:nvPr/>
        </p:nvSpPr>
        <p:spPr>
          <a:xfrm>
            <a:off x="768096" y="5952744"/>
            <a:ext cx="274320" cy="274320"/>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9"/>
          <p:cNvSpPr/>
          <p:nvPr/>
        </p:nvSpPr>
        <p:spPr>
          <a:xfrm>
            <a:off x="768096" y="595274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622" name="Google Shape;1622;p39"/>
          <p:cNvSpPr/>
          <p:nvPr/>
        </p:nvSpPr>
        <p:spPr>
          <a:xfrm>
            <a:off x="1170432" y="5815584"/>
            <a:ext cx="10234879" cy="5486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Maturity differs by signal: tracing is stable and boring in the good sense, metrics are stable, logs are the newest and still catching up in some languages. Check the status page for your language before you promise anything.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7" name="Shape 1627"/>
        <p:cNvGrpSpPr/>
        <p:nvPr/>
      </p:nvGrpSpPr>
      <p:grpSpPr>
        <a:xfrm>
          <a:off x="0" y="0"/>
          <a:ext cx="0" cy="0"/>
          <a:chOff x="0" y="0"/>
          <a:chExt cx="0" cy="0"/>
        </a:xfrm>
      </p:grpSpPr>
      <p:sp>
        <p:nvSpPr>
          <p:cNvPr id="1628" name="Google Shape;1628;p40"/>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1050"/>
              <a:buFont typeface="Calibri"/>
              <a:buNone/>
            </a:pPr>
            <a:r>
              <a:rPr b="1" i="0" lang="en-US" sz="1050" u="none" cap="none" strike="noStrike">
                <a:solidFill>
                  <a:srgbClr val="1B7048"/>
                </a:solidFill>
                <a:latin typeface="Calibri"/>
                <a:ea typeface="Calibri"/>
                <a:cs typeface="Calibri"/>
                <a:sym typeface="Calibri"/>
              </a:rPr>
              <a:t>THE MOST USEFUL BOX IN THE DIAGRAM</a:t>
            </a:r>
            <a:endParaRPr b="0" i="0" sz="1050" u="none" cap="none" strike="noStrike">
              <a:solidFill>
                <a:schemeClr val="dk1"/>
              </a:solidFill>
              <a:latin typeface="Calibri"/>
              <a:ea typeface="Calibri"/>
              <a:cs typeface="Calibri"/>
              <a:sym typeface="Calibri"/>
            </a:endParaRPr>
          </a:p>
        </p:txBody>
      </p:sp>
      <p:sp>
        <p:nvSpPr>
          <p:cNvPr id="1629" name="Google Shape;1629;p40"/>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600"/>
              <a:buFont typeface="Cambria"/>
              <a:buNone/>
            </a:pPr>
            <a:r>
              <a:rPr b="1" i="0" lang="en-US" sz="2600" u="none" cap="none" strike="noStrike">
                <a:solidFill>
                  <a:srgbClr val="16202C"/>
                </a:solidFill>
                <a:latin typeface="Cambria"/>
                <a:ea typeface="Cambria"/>
                <a:cs typeface="Cambria"/>
                <a:sym typeface="Cambria"/>
              </a:rPr>
              <a:t>The Collector: where you fix things without redeploying code</a:t>
            </a:r>
            <a:endParaRPr b="0" i="0" sz="2600" u="none" cap="none" strike="noStrike">
              <a:solidFill>
                <a:schemeClr val="dk1"/>
              </a:solidFill>
              <a:latin typeface="Calibri"/>
              <a:ea typeface="Calibri"/>
              <a:cs typeface="Calibri"/>
              <a:sym typeface="Calibri"/>
            </a:endParaRPr>
          </a:p>
        </p:txBody>
      </p:sp>
      <p:sp>
        <p:nvSpPr>
          <p:cNvPr id="1630" name="Google Shape;1630;p40"/>
          <p:cNvSpPr/>
          <p:nvPr/>
        </p:nvSpPr>
        <p:spPr>
          <a:xfrm>
            <a:off x="10260482" y="402336"/>
            <a:ext cx="1364285" cy="329184"/>
          </a:xfrm>
          <a:prstGeom prst="roundRect">
            <a:avLst>
              <a:gd fmla="val 50000" name="adj"/>
            </a:avLst>
          </a:prstGeom>
          <a:solidFill>
            <a:srgbClr val="F2F5F8"/>
          </a:solidFill>
          <a:ln cap="flat" cmpd="sng" w="9525">
            <a:solidFill>
              <a:srgbClr val="1B70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40"/>
          <p:cNvSpPr/>
          <p:nvPr/>
        </p:nvSpPr>
        <p:spPr>
          <a:xfrm>
            <a:off x="10434218" y="525780"/>
            <a:ext cx="91440" cy="91440"/>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40"/>
          <p:cNvSpPr/>
          <p:nvPr/>
        </p:nvSpPr>
        <p:spPr>
          <a:xfrm>
            <a:off x="10571378" y="402336"/>
            <a:ext cx="961949"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1000"/>
              <a:buFont typeface="Calibri"/>
              <a:buNone/>
            </a:pPr>
            <a:r>
              <a:rPr b="1" i="0" lang="en-US" sz="1000" u="none" cap="none" strike="noStrike">
                <a:solidFill>
                  <a:srgbClr val="1B7048"/>
                </a:solidFill>
                <a:latin typeface="Calibri"/>
                <a:ea typeface="Calibri"/>
                <a:cs typeface="Calibri"/>
                <a:sym typeface="Calibri"/>
              </a:rPr>
              <a:t>All three</a:t>
            </a:r>
            <a:endParaRPr b="0" i="0" sz="1000" u="none" cap="none" strike="noStrike">
              <a:solidFill>
                <a:schemeClr val="dk1"/>
              </a:solidFill>
              <a:latin typeface="Calibri"/>
              <a:ea typeface="Calibri"/>
              <a:cs typeface="Calibri"/>
              <a:sym typeface="Calibri"/>
            </a:endParaRPr>
          </a:p>
        </p:txBody>
      </p:sp>
      <p:sp>
        <p:nvSpPr>
          <p:cNvPr id="1633" name="Google Shape;1633;p40"/>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634" name="Google Shape;1634;p40"/>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38</a:t>
            </a:r>
            <a:endParaRPr b="0" i="0" sz="900" u="none" cap="none" strike="noStrike">
              <a:solidFill>
                <a:schemeClr val="dk1"/>
              </a:solidFill>
              <a:latin typeface="Calibri"/>
              <a:ea typeface="Calibri"/>
              <a:cs typeface="Calibri"/>
              <a:sym typeface="Calibri"/>
            </a:endParaRPr>
          </a:p>
        </p:txBody>
      </p:sp>
      <p:sp>
        <p:nvSpPr>
          <p:cNvPr id="1635" name="Google Shape;1635;p40"/>
          <p:cNvSpPr/>
          <p:nvPr/>
        </p:nvSpPr>
        <p:spPr>
          <a:xfrm>
            <a:off x="566928" y="1426464"/>
            <a:ext cx="3401568" cy="1371600"/>
          </a:xfrm>
          <a:prstGeom prst="roundRect">
            <a:avLst>
              <a:gd fmla="val 6000"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40"/>
          <p:cNvSpPr/>
          <p:nvPr/>
        </p:nvSpPr>
        <p:spPr>
          <a:xfrm>
            <a:off x="786384" y="1609344"/>
            <a:ext cx="219456" cy="219456"/>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40"/>
          <p:cNvSpPr/>
          <p:nvPr/>
        </p:nvSpPr>
        <p:spPr>
          <a:xfrm>
            <a:off x="1115568" y="1554480"/>
            <a:ext cx="2651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400"/>
              <a:buFont typeface="Calibri"/>
              <a:buNone/>
            </a:pPr>
            <a:r>
              <a:rPr b="1" i="0" lang="en-US" sz="1400" u="none" cap="none" strike="noStrike">
                <a:solidFill>
                  <a:srgbClr val="16202C"/>
                </a:solidFill>
                <a:latin typeface="Calibri"/>
                <a:ea typeface="Calibri"/>
                <a:cs typeface="Calibri"/>
                <a:sym typeface="Calibri"/>
              </a:rPr>
              <a:t>Receivers</a:t>
            </a:r>
            <a:endParaRPr b="0" i="0" sz="1400" u="none" cap="none" strike="noStrike">
              <a:solidFill>
                <a:schemeClr val="dk1"/>
              </a:solidFill>
              <a:latin typeface="Calibri"/>
              <a:ea typeface="Calibri"/>
              <a:cs typeface="Calibri"/>
              <a:sym typeface="Calibri"/>
            </a:endParaRPr>
          </a:p>
        </p:txBody>
      </p:sp>
      <p:sp>
        <p:nvSpPr>
          <p:cNvPr id="1638" name="Google Shape;1638;p40"/>
          <p:cNvSpPr/>
          <p:nvPr/>
        </p:nvSpPr>
        <p:spPr>
          <a:xfrm>
            <a:off x="786384" y="1956816"/>
            <a:ext cx="2962656"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OTLP, Prometheus scrape, Jaeger, Zipkin, filelog, StatsD, Kafka</a:t>
            </a:r>
            <a:endParaRPr b="0" i="0" sz="1050" u="none" cap="none" strike="noStrike">
              <a:solidFill>
                <a:schemeClr val="dk1"/>
              </a:solidFill>
              <a:latin typeface="Calibri"/>
              <a:ea typeface="Calibri"/>
              <a:cs typeface="Calibri"/>
              <a:sym typeface="Calibri"/>
            </a:endParaRPr>
          </a:p>
        </p:txBody>
      </p:sp>
      <p:sp>
        <p:nvSpPr>
          <p:cNvPr id="1639" name="Google Shape;1639;p40"/>
          <p:cNvSpPr/>
          <p:nvPr/>
        </p:nvSpPr>
        <p:spPr>
          <a:xfrm>
            <a:off x="3968496" y="1975104"/>
            <a:ext cx="40233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700"/>
              <a:buFont typeface="Calibri"/>
              <a:buNone/>
            </a:pPr>
            <a:r>
              <a:rPr b="1" i="0" lang="en-US" sz="1700" u="none" cap="none" strike="noStrike">
                <a:solidFill>
                  <a:srgbClr val="93A2B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640" name="Google Shape;1640;p40"/>
          <p:cNvSpPr/>
          <p:nvPr/>
        </p:nvSpPr>
        <p:spPr>
          <a:xfrm>
            <a:off x="4370832" y="1426464"/>
            <a:ext cx="3401568" cy="1371600"/>
          </a:xfrm>
          <a:prstGeom prst="roundRect">
            <a:avLst>
              <a:gd fmla="val 6000"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40"/>
          <p:cNvSpPr/>
          <p:nvPr/>
        </p:nvSpPr>
        <p:spPr>
          <a:xfrm>
            <a:off x="4590288" y="1609344"/>
            <a:ext cx="219456" cy="219456"/>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40"/>
          <p:cNvSpPr/>
          <p:nvPr/>
        </p:nvSpPr>
        <p:spPr>
          <a:xfrm>
            <a:off x="4919472" y="1554480"/>
            <a:ext cx="2651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400"/>
              <a:buFont typeface="Calibri"/>
              <a:buNone/>
            </a:pPr>
            <a:r>
              <a:rPr b="1" i="0" lang="en-US" sz="1400" u="none" cap="none" strike="noStrike">
                <a:solidFill>
                  <a:srgbClr val="16202C"/>
                </a:solidFill>
                <a:latin typeface="Calibri"/>
                <a:ea typeface="Calibri"/>
                <a:cs typeface="Calibri"/>
                <a:sym typeface="Calibri"/>
              </a:rPr>
              <a:t>Processors</a:t>
            </a:r>
            <a:endParaRPr b="0" i="0" sz="1400" u="none" cap="none" strike="noStrike">
              <a:solidFill>
                <a:schemeClr val="dk1"/>
              </a:solidFill>
              <a:latin typeface="Calibri"/>
              <a:ea typeface="Calibri"/>
              <a:cs typeface="Calibri"/>
              <a:sym typeface="Calibri"/>
            </a:endParaRPr>
          </a:p>
        </p:txBody>
      </p:sp>
      <p:sp>
        <p:nvSpPr>
          <p:cNvPr id="1643" name="Google Shape;1643;p40"/>
          <p:cNvSpPr/>
          <p:nvPr/>
        </p:nvSpPr>
        <p:spPr>
          <a:xfrm>
            <a:off x="4590288" y="1956816"/>
            <a:ext cx="2962656"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batch, memory limiter, sampling, filtering, redaction, adding resource attributes</a:t>
            </a:r>
            <a:endParaRPr b="0" i="0" sz="1050" u="none" cap="none" strike="noStrike">
              <a:solidFill>
                <a:schemeClr val="dk1"/>
              </a:solidFill>
              <a:latin typeface="Calibri"/>
              <a:ea typeface="Calibri"/>
              <a:cs typeface="Calibri"/>
              <a:sym typeface="Calibri"/>
            </a:endParaRPr>
          </a:p>
        </p:txBody>
      </p:sp>
      <p:sp>
        <p:nvSpPr>
          <p:cNvPr id="1644" name="Google Shape;1644;p40"/>
          <p:cNvSpPr/>
          <p:nvPr/>
        </p:nvSpPr>
        <p:spPr>
          <a:xfrm>
            <a:off x="7772400" y="1975104"/>
            <a:ext cx="40233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A2B0"/>
              </a:buClr>
              <a:buSzPts val="1700"/>
              <a:buFont typeface="Calibri"/>
              <a:buNone/>
            </a:pPr>
            <a:r>
              <a:rPr b="1" i="0" lang="en-US" sz="1700" u="none" cap="none" strike="noStrike">
                <a:solidFill>
                  <a:srgbClr val="93A2B0"/>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645" name="Google Shape;1645;p40"/>
          <p:cNvSpPr/>
          <p:nvPr/>
        </p:nvSpPr>
        <p:spPr>
          <a:xfrm>
            <a:off x="8174736" y="1426464"/>
            <a:ext cx="3401568" cy="1371600"/>
          </a:xfrm>
          <a:prstGeom prst="roundRect">
            <a:avLst>
              <a:gd fmla="val 6000"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40"/>
          <p:cNvSpPr/>
          <p:nvPr/>
        </p:nvSpPr>
        <p:spPr>
          <a:xfrm>
            <a:off x="8394192" y="1609344"/>
            <a:ext cx="219456" cy="219456"/>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40"/>
          <p:cNvSpPr/>
          <p:nvPr/>
        </p:nvSpPr>
        <p:spPr>
          <a:xfrm>
            <a:off x="8723376" y="1554480"/>
            <a:ext cx="26517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400"/>
              <a:buFont typeface="Calibri"/>
              <a:buNone/>
            </a:pPr>
            <a:r>
              <a:rPr b="1" i="0" lang="en-US" sz="1400" u="none" cap="none" strike="noStrike">
                <a:solidFill>
                  <a:srgbClr val="16202C"/>
                </a:solidFill>
                <a:latin typeface="Calibri"/>
                <a:ea typeface="Calibri"/>
                <a:cs typeface="Calibri"/>
                <a:sym typeface="Calibri"/>
              </a:rPr>
              <a:t>Exporters</a:t>
            </a:r>
            <a:endParaRPr b="0" i="0" sz="1400" u="none" cap="none" strike="noStrike">
              <a:solidFill>
                <a:schemeClr val="dk1"/>
              </a:solidFill>
              <a:latin typeface="Calibri"/>
              <a:ea typeface="Calibri"/>
              <a:cs typeface="Calibri"/>
              <a:sym typeface="Calibri"/>
            </a:endParaRPr>
          </a:p>
        </p:txBody>
      </p:sp>
      <p:sp>
        <p:nvSpPr>
          <p:cNvPr id="1648" name="Google Shape;1648;p40"/>
          <p:cNvSpPr/>
          <p:nvPr/>
        </p:nvSpPr>
        <p:spPr>
          <a:xfrm>
            <a:off x="8394192" y="1956816"/>
            <a:ext cx="2962656" cy="7315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Loki, Prometheus, Tempo, Jaeger, Datadog, any OTLP endpoint — several at once</a:t>
            </a:r>
            <a:endParaRPr b="0" i="0" sz="1050" u="none" cap="none" strike="noStrike">
              <a:solidFill>
                <a:schemeClr val="dk1"/>
              </a:solidFill>
              <a:latin typeface="Calibri"/>
              <a:ea typeface="Calibri"/>
              <a:cs typeface="Calibri"/>
              <a:sym typeface="Calibri"/>
            </a:endParaRPr>
          </a:p>
        </p:txBody>
      </p:sp>
      <p:sp>
        <p:nvSpPr>
          <p:cNvPr id="1649" name="Google Shape;1649;p40"/>
          <p:cNvSpPr/>
          <p:nvPr/>
        </p:nvSpPr>
        <p:spPr>
          <a:xfrm>
            <a:off x="566928" y="2962656"/>
            <a:ext cx="5349240" cy="2688336"/>
          </a:xfrm>
          <a:prstGeom prst="roundRect">
            <a:avLst>
              <a:gd fmla="val 3061"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40"/>
          <p:cNvSpPr/>
          <p:nvPr/>
        </p:nvSpPr>
        <p:spPr>
          <a:xfrm>
            <a:off x="822960" y="3108960"/>
            <a:ext cx="4846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950"/>
              <a:buFont typeface="Calibri"/>
              <a:buNone/>
            </a:pPr>
            <a:r>
              <a:rPr b="1" i="0" lang="en-US" sz="950" u="none" cap="none" strike="noStrike">
                <a:solidFill>
                  <a:srgbClr val="1B7048"/>
                </a:solidFill>
                <a:latin typeface="Calibri"/>
                <a:ea typeface="Calibri"/>
                <a:cs typeface="Calibri"/>
                <a:sym typeface="Calibri"/>
              </a:rPr>
              <a:t>WHAT THIS BUYS YOU IN PRACTICE</a:t>
            </a:r>
            <a:endParaRPr b="0" i="0" sz="950" u="none" cap="none" strike="noStrike">
              <a:solidFill>
                <a:schemeClr val="dk1"/>
              </a:solidFill>
              <a:latin typeface="Calibri"/>
              <a:ea typeface="Calibri"/>
              <a:cs typeface="Calibri"/>
              <a:sym typeface="Calibri"/>
            </a:endParaRPr>
          </a:p>
        </p:txBody>
      </p:sp>
      <p:sp>
        <p:nvSpPr>
          <p:cNvPr id="1651" name="Google Shape;1651;p40"/>
          <p:cNvSpPr/>
          <p:nvPr/>
        </p:nvSpPr>
        <p:spPr>
          <a:xfrm>
            <a:off x="822960" y="3419856"/>
            <a:ext cx="4846320" cy="210312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Drop the metric that is 80% of your bill — config change, no deploy, no code review</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Redact a field somebody logged by mistake, at the edge, before it leaves your network</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Add environment and region to every signal from every service, in one place</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Switch backends, or fan out to two, without touching an application</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7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Absorb a backend outage in a buffer instead of losing the telemetry</a:t>
            </a:r>
            <a:endParaRPr b="0" i="0" sz="1150" u="none" cap="none" strike="noStrike">
              <a:solidFill>
                <a:schemeClr val="dk1"/>
              </a:solidFill>
              <a:latin typeface="Calibri"/>
              <a:ea typeface="Calibri"/>
              <a:cs typeface="Calibri"/>
              <a:sym typeface="Calibri"/>
            </a:endParaRPr>
          </a:p>
        </p:txBody>
      </p:sp>
      <p:sp>
        <p:nvSpPr>
          <p:cNvPr id="1652" name="Google Shape;1652;p40"/>
          <p:cNvSpPr/>
          <p:nvPr/>
        </p:nvSpPr>
        <p:spPr>
          <a:xfrm>
            <a:off x="6281928" y="2962656"/>
            <a:ext cx="5349240" cy="2688336"/>
          </a:xfrm>
          <a:prstGeom prst="roundRect">
            <a:avLst>
              <a:gd fmla="val 3061"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40"/>
          <p:cNvSpPr/>
          <p:nvPr/>
        </p:nvSpPr>
        <p:spPr>
          <a:xfrm>
            <a:off x="6537960" y="3108960"/>
            <a:ext cx="4846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950"/>
              <a:buFont typeface="Calibri"/>
              <a:buNone/>
            </a:pPr>
            <a:r>
              <a:rPr b="1" i="0" lang="en-US" sz="950" u="none" cap="none" strike="noStrike">
                <a:solidFill>
                  <a:srgbClr val="16202C"/>
                </a:solidFill>
                <a:latin typeface="Calibri"/>
                <a:ea typeface="Calibri"/>
                <a:cs typeface="Calibri"/>
                <a:sym typeface="Calibri"/>
              </a:rPr>
              <a:t>WHERE IT RUNS</a:t>
            </a:r>
            <a:endParaRPr b="0" i="0" sz="950" u="none" cap="none" strike="noStrike">
              <a:solidFill>
                <a:schemeClr val="dk1"/>
              </a:solidFill>
              <a:latin typeface="Calibri"/>
              <a:ea typeface="Calibri"/>
              <a:cs typeface="Calibri"/>
              <a:sym typeface="Calibri"/>
            </a:endParaRPr>
          </a:p>
        </p:txBody>
      </p:sp>
      <p:sp>
        <p:nvSpPr>
          <p:cNvPr id="1654" name="Google Shape;1654;p40"/>
          <p:cNvSpPr/>
          <p:nvPr/>
        </p:nvSpPr>
        <p:spPr>
          <a:xfrm>
            <a:off x="6537960" y="3438144"/>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1250"/>
              <a:buFont typeface="Calibri"/>
              <a:buNone/>
            </a:pPr>
            <a:r>
              <a:rPr b="1" i="0" lang="en-US" sz="1250" u="none" cap="none" strike="noStrike">
                <a:solidFill>
                  <a:srgbClr val="1B7048"/>
                </a:solidFill>
                <a:latin typeface="Calibri"/>
                <a:ea typeface="Calibri"/>
                <a:cs typeface="Calibri"/>
                <a:sym typeface="Calibri"/>
              </a:rPr>
              <a:t>Agent</a:t>
            </a:r>
            <a:endParaRPr b="0" i="0" sz="1250" u="none" cap="none" strike="noStrike">
              <a:solidFill>
                <a:schemeClr val="dk1"/>
              </a:solidFill>
              <a:latin typeface="Calibri"/>
              <a:ea typeface="Calibri"/>
              <a:cs typeface="Calibri"/>
              <a:sym typeface="Calibri"/>
            </a:endParaRPr>
          </a:p>
        </p:txBody>
      </p:sp>
      <p:sp>
        <p:nvSpPr>
          <p:cNvPr id="1655" name="Google Shape;1655;p40"/>
          <p:cNvSpPr/>
          <p:nvPr/>
        </p:nvSpPr>
        <p:spPr>
          <a:xfrm>
            <a:off x="7653528" y="3419856"/>
            <a:ext cx="3749040" cy="65836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One per host or as a sidecar. Close to the app, adds host metadata, minimal buffering.</a:t>
            </a:r>
            <a:endParaRPr b="0" i="0" sz="1100" u="none" cap="none" strike="noStrike">
              <a:solidFill>
                <a:schemeClr val="dk1"/>
              </a:solidFill>
              <a:latin typeface="Calibri"/>
              <a:ea typeface="Calibri"/>
              <a:cs typeface="Calibri"/>
              <a:sym typeface="Calibri"/>
            </a:endParaRPr>
          </a:p>
        </p:txBody>
      </p:sp>
      <p:sp>
        <p:nvSpPr>
          <p:cNvPr id="1656" name="Google Shape;1656;p40"/>
          <p:cNvSpPr/>
          <p:nvPr/>
        </p:nvSpPr>
        <p:spPr>
          <a:xfrm>
            <a:off x="6537960" y="4169664"/>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1250"/>
              <a:buFont typeface="Calibri"/>
              <a:buNone/>
            </a:pPr>
            <a:r>
              <a:rPr b="1" i="0" lang="en-US" sz="1250" u="none" cap="none" strike="noStrike">
                <a:solidFill>
                  <a:srgbClr val="1B7048"/>
                </a:solidFill>
                <a:latin typeface="Calibri"/>
                <a:ea typeface="Calibri"/>
                <a:cs typeface="Calibri"/>
                <a:sym typeface="Calibri"/>
              </a:rPr>
              <a:t>Gateway</a:t>
            </a:r>
            <a:endParaRPr b="0" i="0" sz="1250" u="none" cap="none" strike="noStrike">
              <a:solidFill>
                <a:schemeClr val="dk1"/>
              </a:solidFill>
              <a:latin typeface="Calibri"/>
              <a:ea typeface="Calibri"/>
              <a:cs typeface="Calibri"/>
              <a:sym typeface="Calibri"/>
            </a:endParaRPr>
          </a:p>
        </p:txBody>
      </p:sp>
      <p:sp>
        <p:nvSpPr>
          <p:cNvPr id="1657" name="Google Shape;1657;p40"/>
          <p:cNvSpPr/>
          <p:nvPr/>
        </p:nvSpPr>
        <p:spPr>
          <a:xfrm>
            <a:off x="7653528" y="4151376"/>
            <a:ext cx="3749040" cy="65836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A central cluster. Where tail sampling, heavy processing and cost control actually live.</a:t>
            </a:r>
            <a:endParaRPr b="0" i="0" sz="1100" u="none" cap="none" strike="noStrike">
              <a:solidFill>
                <a:schemeClr val="dk1"/>
              </a:solidFill>
              <a:latin typeface="Calibri"/>
              <a:ea typeface="Calibri"/>
              <a:cs typeface="Calibri"/>
              <a:sym typeface="Calibri"/>
            </a:endParaRPr>
          </a:p>
        </p:txBody>
      </p:sp>
      <p:sp>
        <p:nvSpPr>
          <p:cNvPr id="1658" name="Google Shape;1658;p40"/>
          <p:cNvSpPr/>
          <p:nvPr/>
        </p:nvSpPr>
        <p:spPr>
          <a:xfrm>
            <a:off x="6537960" y="4901184"/>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1250"/>
              <a:buFont typeface="Calibri"/>
              <a:buNone/>
            </a:pPr>
            <a:r>
              <a:rPr b="1" i="0" lang="en-US" sz="1250" u="none" cap="none" strike="noStrike">
                <a:solidFill>
                  <a:srgbClr val="1B7048"/>
                </a:solidFill>
                <a:latin typeface="Calibri"/>
                <a:ea typeface="Calibri"/>
                <a:cs typeface="Calibri"/>
                <a:sym typeface="Calibri"/>
              </a:rPr>
              <a:t>Both</a:t>
            </a:r>
            <a:endParaRPr b="0" i="0" sz="1250" u="none" cap="none" strike="noStrike">
              <a:solidFill>
                <a:schemeClr val="dk1"/>
              </a:solidFill>
              <a:latin typeface="Calibri"/>
              <a:ea typeface="Calibri"/>
              <a:cs typeface="Calibri"/>
              <a:sym typeface="Calibri"/>
            </a:endParaRPr>
          </a:p>
        </p:txBody>
      </p:sp>
      <p:sp>
        <p:nvSpPr>
          <p:cNvPr id="1659" name="Google Shape;1659;p40"/>
          <p:cNvSpPr/>
          <p:nvPr/>
        </p:nvSpPr>
        <p:spPr>
          <a:xfrm>
            <a:off x="7653528" y="4882896"/>
            <a:ext cx="3749040" cy="65836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The normal production shape: agents collect and forward, a gateway decides and exports.</a:t>
            </a:r>
            <a:endParaRPr b="0" i="0" sz="1100" u="none" cap="none" strike="noStrike">
              <a:solidFill>
                <a:schemeClr val="dk1"/>
              </a:solidFill>
              <a:latin typeface="Calibri"/>
              <a:ea typeface="Calibri"/>
              <a:cs typeface="Calibri"/>
              <a:sym typeface="Calibri"/>
            </a:endParaRPr>
          </a:p>
        </p:txBody>
      </p:sp>
      <p:sp>
        <p:nvSpPr>
          <p:cNvPr id="1660" name="Google Shape;1660;p40"/>
          <p:cNvSpPr/>
          <p:nvPr/>
        </p:nvSpPr>
        <p:spPr>
          <a:xfrm>
            <a:off x="6537960" y="5266944"/>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1100"/>
              <a:buFont typeface="Calibri"/>
              <a:buNone/>
            </a:pPr>
            <a:r>
              <a:rPr b="0" i="1" lang="en-US" sz="1100" u="none" cap="none" strike="noStrike">
                <a:solidFill>
                  <a:srgbClr val="5C6B7A"/>
                </a:solidFill>
                <a:latin typeface="Calibri"/>
                <a:ea typeface="Calibri"/>
                <a:cs typeface="Calibri"/>
                <a:sym typeface="Calibri"/>
              </a:rPr>
              <a:t>Grafana Alloy, which we use on Day 1, is a distribution of this Collector.</a:t>
            </a:r>
            <a:endParaRPr b="0" i="0" sz="1100" u="none" cap="none" strike="noStrike">
              <a:solidFill>
                <a:schemeClr val="dk1"/>
              </a:solidFill>
              <a:latin typeface="Calibri"/>
              <a:ea typeface="Calibri"/>
              <a:cs typeface="Calibri"/>
              <a:sym typeface="Calibri"/>
            </a:endParaRPr>
          </a:p>
        </p:txBody>
      </p:sp>
      <p:sp>
        <p:nvSpPr>
          <p:cNvPr id="1661" name="Google Shape;1661;p40"/>
          <p:cNvSpPr/>
          <p:nvPr/>
        </p:nvSpPr>
        <p:spPr>
          <a:xfrm>
            <a:off x="566928" y="5779008"/>
            <a:ext cx="11057839" cy="548640"/>
          </a:xfrm>
          <a:prstGeom prst="roundRect">
            <a:avLst>
              <a:gd fmla="val 15000"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40"/>
          <p:cNvSpPr/>
          <p:nvPr/>
        </p:nvSpPr>
        <p:spPr>
          <a:xfrm>
            <a:off x="768096" y="5916168"/>
            <a:ext cx="274320" cy="274320"/>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40"/>
          <p:cNvSpPr/>
          <p:nvPr/>
        </p:nvSpPr>
        <p:spPr>
          <a:xfrm>
            <a:off x="768096" y="591616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664" name="Google Shape;1664;p40"/>
          <p:cNvSpPr/>
          <p:nvPr/>
        </p:nvSpPr>
        <p:spPr>
          <a:xfrm>
            <a:off x="1170432" y="5779008"/>
            <a:ext cx="10234879" cy="5486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The reason this matters: everything you would otherwise have to beg eight teams to change in their code, you can change in one YAML file that you own.</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9" name="Shape 1669"/>
        <p:cNvGrpSpPr/>
        <p:nvPr/>
      </p:nvGrpSpPr>
      <p:grpSpPr>
        <a:xfrm>
          <a:off x="0" y="0"/>
          <a:ext cx="0" cy="0"/>
          <a:chOff x="0" y="0"/>
          <a:chExt cx="0" cy="0"/>
        </a:xfrm>
      </p:grpSpPr>
      <p:sp>
        <p:nvSpPr>
          <p:cNvPr id="1670" name="Google Shape;1670;p41"/>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1050"/>
              <a:buFont typeface="Calibri"/>
              <a:buNone/>
            </a:pPr>
            <a:r>
              <a:rPr b="1" i="0" lang="en-US" sz="1050" u="none" cap="none" strike="noStrike">
                <a:solidFill>
                  <a:srgbClr val="1B7048"/>
                </a:solidFill>
                <a:latin typeface="Calibri"/>
                <a:ea typeface="Calibri"/>
                <a:cs typeface="Calibri"/>
                <a:sym typeface="Calibri"/>
              </a:rPr>
              <a:t>THE ACTUAL PAYOFF</a:t>
            </a:r>
            <a:endParaRPr b="0" i="0" sz="1050" u="none" cap="none" strike="noStrike">
              <a:solidFill>
                <a:schemeClr val="dk1"/>
              </a:solidFill>
              <a:latin typeface="Calibri"/>
              <a:ea typeface="Calibri"/>
              <a:cs typeface="Calibri"/>
              <a:sym typeface="Calibri"/>
            </a:endParaRPr>
          </a:p>
        </p:txBody>
      </p:sp>
      <p:sp>
        <p:nvSpPr>
          <p:cNvPr id="1671" name="Google Shape;1671;p41"/>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Three signals are worth more joined than separate</a:t>
            </a:r>
            <a:endParaRPr b="0" i="0" sz="2900" u="none" cap="none" strike="noStrike">
              <a:solidFill>
                <a:schemeClr val="dk1"/>
              </a:solidFill>
              <a:latin typeface="Calibri"/>
              <a:ea typeface="Calibri"/>
              <a:cs typeface="Calibri"/>
              <a:sym typeface="Calibri"/>
            </a:endParaRPr>
          </a:p>
        </p:txBody>
      </p:sp>
      <p:sp>
        <p:nvSpPr>
          <p:cNvPr id="1672" name="Google Shape;1672;p41"/>
          <p:cNvSpPr/>
          <p:nvPr/>
        </p:nvSpPr>
        <p:spPr>
          <a:xfrm>
            <a:off x="10260482" y="402336"/>
            <a:ext cx="1364285" cy="329184"/>
          </a:xfrm>
          <a:prstGeom prst="roundRect">
            <a:avLst>
              <a:gd fmla="val 50000" name="adj"/>
            </a:avLst>
          </a:prstGeom>
          <a:solidFill>
            <a:srgbClr val="F2F5F8"/>
          </a:solidFill>
          <a:ln cap="flat" cmpd="sng" w="9525">
            <a:solidFill>
              <a:srgbClr val="1B70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41"/>
          <p:cNvSpPr/>
          <p:nvPr/>
        </p:nvSpPr>
        <p:spPr>
          <a:xfrm>
            <a:off x="10434218" y="525780"/>
            <a:ext cx="91440" cy="91440"/>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41"/>
          <p:cNvSpPr/>
          <p:nvPr/>
        </p:nvSpPr>
        <p:spPr>
          <a:xfrm>
            <a:off x="10571378" y="402336"/>
            <a:ext cx="961949"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1000"/>
              <a:buFont typeface="Calibri"/>
              <a:buNone/>
            </a:pPr>
            <a:r>
              <a:rPr b="1" i="0" lang="en-US" sz="1000" u="none" cap="none" strike="noStrike">
                <a:solidFill>
                  <a:srgbClr val="1B7048"/>
                </a:solidFill>
                <a:latin typeface="Calibri"/>
                <a:ea typeface="Calibri"/>
                <a:cs typeface="Calibri"/>
                <a:sym typeface="Calibri"/>
              </a:rPr>
              <a:t>All three</a:t>
            </a:r>
            <a:endParaRPr b="0" i="0" sz="1000" u="none" cap="none" strike="noStrike">
              <a:solidFill>
                <a:schemeClr val="dk1"/>
              </a:solidFill>
              <a:latin typeface="Calibri"/>
              <a:ea typeface="Calibri"/>
              <a:cs typeface="Calibri"/>
              <a:sym typeface="Calibri"/>
            </a:endParaRPr>
          </a:p>
        </p:txBody>
      </p:sp>
      <p:sp>
        <p:nvSpPr>
          <p:cNvPr id="1675" name="Google Shape;1675;p41"/>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676" name="Google Shape;1676;p41"/>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39</a:t>
            </a:r>
            <a:endParaRPr b="0" i="0" sz="900" u="none" cap="none" strike="noStrike">
              <a:solidFill>
                <a:schemeClr val="dk1"/>
              </a:solidFill>
              <a:latin typeface="Calibri"/>
              <a:ea typeface="Calibri"/>
              <a:cs typeface="Calibri"/>
              <a:sym typeface="Calibri"/>
            </a:endParaRPr>
          </a:p>
        </p:txBody>
      </p:sp>
      <p:sp>
        <p:nvSpPr>
          <p:cNvPr id="1677" name="Google Shape;1677;p41"/>
          <p:cNvSpPr/>
          <p:nvPr/>
        </p:nvSpPr>
        <p:spPr>
          <a:xfrm>
            <a:off x="932688" y="1463040"/>
            <a:ext cx="2834640" cy="731520"/>
          </a:xfrm>
          <a:prstGeom prst="roundRect">
            <a:avLst>
              <a:gd fmla="val 11250"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41"/>
          <p:cNvSpPr/>
          <p:nvPr/>
        </p:nvSpPr>
        <p:spPr>
          <a:xfrm>
            <a:off x="1170432" y="1719072"/>
            <a:ext cx="219456" cy="219456"/>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41"/>
          <p:cNvSpPr/>
          <p:nvPr/>
        </p:nvSpPr>
        <p:spPr>
          <a:xfrm>
            <a:off x="1499616" y="1463040"/>
            <a:ext cx="21031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350"/>
              <a:buFont typeface="Calibri"/>
              <a:buNone/>
            </a:pPr>
            <a:r>
              <a:rPr b="1" i="0" lang="en-US" sz="1350" u="none" cap="none" strike="noStrike">
                <a:solidFill>
                  <a:srgbClr val="0C6B7D"/>
                </a:solidFill>
                <a:latin typeface="Calibri"/>
                <a:ea typeface="Calibri"/>
                <a:cs typeface="Calibri"/>
                <a:sym typeface="Calibri"/>
              </a:rPr>
              <a:t>METRICS</a:t>
            </a:r>
            <a:endParaRPr b="0" i="0" sz="1350" u="none" cap="none" strike="noStrike">
              <a:solidFill>
                <a:schemeClr val="dk1"/>
              </a:solidFill>
              <a:latin typeface="Calibri"/>
              <a:ea typeface="Calibri"/>
              <a:cs typeface="Calibri"/>
              <a:sym typeface="Calibri"/>
            </a:endParaRPr>
          </a:p>
        </p:txBody>
      </p:sp>
      <p:sp>
        <p:nvSpPr>
          <p:cNvPr id="1680" name="Google Shape;1680;p41"/>
          <p:cNvSpPr/>
          <p:nvPr/>
        </p:nvSpPr>
        <p:spPr>
          <a:xfrm>
            <a:off x="4681728" y="1463040"/>
            <a:ext cx="2834640" cy="731520"/>
          </a:xfrm>
          <a:prstGeom prst="roundRect">
            <a:avLst>
              <a:gd fmla="val 11250"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41"/>
          <p:cNvSpPr/>
          <p:nvPr/>
        </p:nvSpPr>
        <p:spPr>
          <a:xfrm>
            <a:off x="4919472" y="1719072"/>
            <a:ext cx="219456" cy="219456"/>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41"/>
          <p:cNvSpPr/>
          <p:nvPr/>
        </p:nvSpPr>
        <p:spPr>
          <a:xfrm>
            <a:off x="5248656" y="1463040"/>
            <a:ext cx="21031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350"/>
              <a:buFont typeface="Calibri"/>
              <a:buNone/>
            </a:pPr>
            <a:r>
              <a:rPr b="1" i="0" lang="en-US" sz="1350" u="none" cap="none" strike="noStrike">
                <a:solidFill>
                  <a:srgbClr val="5C3FA6"/>
                </a:solidFill>
                <a:latin typeface="Calibri"/>
                <a:ea typeface="Calibri"/>
                <a:cs typeface="Calibri"/>
                <a:sym typeface="Calibri"/>
              </a:rPr>
              <a:t>TRACES</a:t>
            </a:r>
            <a:endParaRPr b="0" i="0" sz="1350" u="none" cap="none" strike="noStrike">
              <a:solidFill>
                <a:schemeClr val="dk1"/>
              </a:solidFill>
              <a:latin typeface="Calibri"/>
              <a:ea typeface="Calibri"/>
              <a:cs typeface="Calibri"/>
              <a:sym typeface="Calibri"/>
            </a:endParaRPr>
          </a:p>
        </p:txBody>
      </p:sp>
      <p:sp>
        <p:nvSpPr>
          <p:cNvPr id="1683" name="Google Shape;1683;p41"/>
          <p:cNvSpPr/>
          <p:nvPr/>
        </p:nvSpPr>
        <p:spPr>
          <a:xfrm>
            <a:off x="8430768" y="1463040"/>
            <a:ext cx="2834640" cy="731520"/>
          </a:xfrm>
          <a:prstGeom prst="roundRect">
            <a:avLst>
              <a:gd fmla="val 11250"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41"/>
          <p:cNvSpPr/>
          <p:nvPr/>
        </p:nvSpPr>
        <p:spPr>
          <a:xfrm>
            <a:off x="8668512" y="1719072"/>
            <a:ext cx="219456" cy="219456"/>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41"/>
          <p:cNvSpPr/>
          <p:nvPr/>
        </p:nvSpPr>
        <p:spPr>
          <a:xfrm>
            <a:off x="8997696" y="1463040"/>
            <a:ext cx="21031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350"/>
              <a:buFont typeface="Calibri"/>
              <a:buNone/>
            </a:pPr>
            <a:r>
              <a:rPr b="1" i="0" lang="en-US" sz="1350" u="none" cap="none" strike="noStrike">
                <a:solidFill>
                  <a:srgbClr val="BE6415"/>
                </a:solidFill>
                <a:latin typeface="Calibri"/>
                <a:ea typeface="Calibri"/>
                <a:cs typeface="Calibri"/>
                <a:sym typeface="Calibri"/>
              </a:rPr>
              <a:t>LOGS</a:t>
            </a:r>
            <a:endParaRPr b="0" i="0" sz="1350" u="none" cap="none" strike="noStrike">
              <a:solidFill>
                <a:schemeClr val="dk1"/>
              </a:solidFill>
              <a:latin typeface="Calibri"/>
              <a:ea typeface="Calibri"/>
              <a:cs typeface="Calibri"/>
              <a:sym typeface="Calibri"/>
            </a:endParaRPr>
          </a:p>
        </p:txBody>
      </p:sp>
      <p:sp>
        <p:nvSpPr>
          <p:cNvPr id="1686" name="Google Shape;1686;p41"/>
          <p:cNvSpPr/>
          <p:nvPr/>
        </p:nvSpPr>
        <p:spPr>
          <a:xfrm>
            <a:off x="3767328" y="1572768"/>
            <a:ext cx="914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7048"/>
              </a:buClr>
              <a:buSzPts val="1600"/>
              <a:buFont typeface="Calibri"/>
              <a:buNone/>
            </a:pPr>
            <a:r>
              <a:rPr b="1" i="0" lang="en-US" sz="1600" u="none" cap="none" strike="noStrike">
                <a:solidFill>
                  <a:srgbClr val="1B7048"/>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687" name="Google Shape;1687;p41"/>
          <p:cNvSpPr/>
          <p:nvPr/>
        </p:nvSpPr>
        <p:spPr>
          <a:xfrm>
            <a:off x="3493008" y="1847088"/>
            <a:ext cx="14630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7048"/>
              </a:buClr>
              <a:buSzPts val="950"/>
              <a:buFont typeface="Calibri"/>
              <a:buNone/>
            </a:pPr>
            <a:r>
              <a:rPr b="1" i="0" lang="en-US" sz="950" u="none" cap="none" strike="noStrike">
                <a:solidFill>
                  <a:srgbClr val="1B7048"/>
                </a:solidFill>
                <a:latin typeface="Calibri"/>
                <a:ea typeface="Calibri"/>
                <a:cs typeface="Calibri"/>
                <a:sym typeface="Calibri"/>
              </a:rPr>
              <a:t>exemplars</a:t>
            </a:r>
            <a:endParaRPr b="0" i="0" sz="950" u="none" cap="none" strike="noStrike">
              <a:solidFill>
                <a:schemeClr val="dk1"/>
              </a:solidFill>
              <a:latin typeface="Calibri"/>
              <a:ea typeface="Calibri"/>
              <a:cs typeface="Calibri"/>
              <a:sym typeface="Calibri"/>
            </a:endParaRPr>
          </a:p>
        </p:txBody>
      </p:sp>
      <p:sp>
        <p:nvSpPr>
          <p:cNvPr id="1688" name="Google Shape;1688;p41"/>
          <p:cNvSpPr/>
          <p:nvPr/>
        </p:nvSpPr>
        <p:spPr>
          <a:xfrm>
            <a:off x="7516368" y="1572768"/>
            <a:ext cx="914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7048"/>
              </a:buClr>
              <a:buSzPts val="1600"/>
              <a:buFont typeface="Calibri"/>
              <a:buNone/>
            </a:pPr>
            <a:r>
              <a:rPr b="1" i="0" lang="en-US" sz="1600" u="none" cap="none" strike="noStrike">
                <a:solidFill>
                  <a:srgbClr val="1B7048"/>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689" name="Google Shape;1689;p41"/>
          <p:cNvSpPr/>
          <p:nvPr/>
        </p:nvSpPr>
        <p:spPr>
          <a:xfrm>
            <a:off x="7242048" y="1847088"/>
            <a:ext cx="14630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7048"/>
              </a:buClr>
              <a:buSzPts val="950"/>
              <a:buFont typeface="Calibri"/>
              <a:buNone/>
            </a:pPr>
            <a:r>
              <a:rPr b="1" i="0" lang="en-US" sz="950" u="none" cap="none" strike="noStrike">
                <a:solidFill>
                  <a:srgbClr val="1B7048"/>
                </a:solidFill>
                <a:latin typeface="Calibri"/>
                <a:ea typeface="Calibri"/>
                <a:cs typeface="Calibri"/>
                <a:sym typeface="Calibri"/>
              </a:rPr>
              <a:t>trace_id in logs</a:t>
            </a:r>
            <a:endParaRPr b="0" i="0" sz="950" u="none" cap="none" strike="noStrike">
              <a:solidFill>
                <a:schemeClr val="dk1"/>
              </a:solidFill>
              <a:latin typeface="Calibri"/>
              <a:ea typeface="Calibri"/>
              <a:cs typeface="Calibri"/>
              <a:sym typeface="Calibri"/>
            </a:endParaRPr>
          </a:p>
        </p:txBody>
      </p:sp>
      <p:sp>
        <p:nvSpPr>
          <p:cNvPr id="1690" name="Google Shape;1690;p41"/>
          <p:cNvSpPr/>
          <p:nvPr/>
        </p:nvSpPr>
        <p:spPr>
          <a:xfrm>
            <a:off x="566928" y="2395728"/>
            <a:ext cx="11057839" cy="1243584"/>
          </a:xfrm>
          <a:prstGeom prst="roundRect">
            <a:avLst>
              <a:gd fmla="val 6618"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41"/>
          <p:cNvSpPr/>
          <p:nvPr/>
        </p:nvSpPr>
        <p:spPr>
          <a:xfrm>
            <a:off x="822960" y="2523744"/>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950"/>
              <a:buFont typeface="Calibri"/>
              <a:buNone/>
            </a:pPr>
            <a:r>
              <a:rPr b="1" i="0" lang="en-US" sz="950" u="none" cap="none" strike="noStrike">
                <a:solidFill>
                  <a:srgbClr val="1B7048"/>
                </a:solidFill>
                <a:latin typeface="Calibri"/>
                <a:ea typeface="Calibri"/>
                <a:cs typeface="Calibri"/>
                <a:sym typeface="Calibri"/>
              </a:rPr>
              <a:t>THE WORKFLOW THIS ENABLES — THREE CLICKS, NOT THREE TABS</a:t>
            </a:r>
            <a:endParaRPr b="0" i="0" sz="950" u="none" cap="none" strike="noStrike">
              <a:solidFill>
                <a:schemeClr val="dk1"/>
              </a:solidFill>
              <a:latin typeface="Calibri"/>
              <a:ea typeface="Calibri"/>
              <a:cs typeface="Calibri"/>
              <a:sym typeface="Calibri"/>
            </a:endParaRPr>
          </a:p>
        </p:txBody>
      </p:sp>
      <p:sp>
        <p:nvSpPr>
          <p:cNvPr id="1692" name="Google Shape;1692;p41"/>
          <p:cNvSpPr/>
          <p:nvPr/>
        </p:nvSpPr>
        <p:spPr>
          <a:xfrm>
            <a:off x="822960" y="2889504"/>
            <a:ext cx="256032" cy="256032"/>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41"/>
          <p:cNvSpPr/>
          <p:nvPr/>
        </p:nvSpPr>
        <p:spPr>
          <a:xfrm>
            <a:off x="822960" y="2889504"/>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694" name="Google Shape;1694;p41"/>
          <p:cNvSpPr/>
          <p:nvPr/>
        </p:nvSpPr>
        <p:spPr>
          <a:xfrm>
            <a:off x="1170432" y="2834640"/>
            <a:ext cx="2286000" cy="6400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050"/>
              <a:buFont typeface="Calibri"/>
              <a:buNone/>
            </a:pPr>
            <a:r>
              <a:rPr b="0" i="0" lang="en-US" sz="1050" u="none" cap="none" strike="noStrike">
                <a:solidFill>
                  <a:srgbClr val="16202C"/>
                </a:solidFill>
                <a:latin typeface="Calibri"/>
                <a:ea typeface="Calibri"/>
                <a:cs typeface="Calibri"/>
                <a:sym typeface="Calibri"/>
              </a:rPr>
              <a:t>An alert fires on the p99 latency panel</a:t>
            </a:r>
            <a:endParaRPr b="0" i="0" sz="1050" u="none" cap="none" strike="noStrike">
              <a:solidFill>
                <a:schemeClr val="dk1"/>
              </a:solidFill>
              <a:latin typeface="Calibri"/>
              <a:ea typeface="Calibri"/>
              <a:cs typeface="Calibri"/>
              <a:sym typeface="Calibri"/>
            </a:endParaRPr>
          </a:p>
        </p:txBody>
      </p:sp>
      <p:sp>
        <p:nvSpPr>
          <p:cNvPr id="1695" name="Google Shape;1695;p41"/>
          <p:cNvSpPr/>
          <p:nvPr/>
        </p:nvSpPr>
        <p:spPr>
          <a:xfrm>
            <a:off x="3511296" y="2889504"/>
            <a:ext cx="256032" cy="256032"/>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41"/>
          <p:cNvSpPr/>
          <p:nvPr/>
        </p:nvSpPr>
        <p:spPr>
          <a:xfrm>
            <a:off x="3511296" y="2889504"/>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697" name="Google Shape;1697;p41"/>
          <p:cNvSpPr/>
          <p:nvPr/>
        </p:nvSpPr>
        <p:spPr>
          <a:xfrm>
            <a:off x="3858768" y="2834640"/>
            <a:ext cx="2286000" cy="6400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050"/>
              <a:buFont typeface="Calibri"/>
              <a:buNone/>
            </a:pPr>
            <a:r>
              <a:rPr b="0" i="0" lang="en-US" sz="1050" u="none" cap="none" strike="noStrike">
                <a:solidFill>
                  <a:srgbClr val="16202C"/>
                </a:solidFill>
                <a:latin typeface="Calibri"/>
                <a:ea typeface="Calibri"/>
                <a:cs typeface="Calibri"/>
                <a:sym typeface="Calibri"/>
              </a:rPr>
              <a:t>Click an exemplar dot on the graph → the exact slow trace opens</a:t>
            </a:r>
            <a:endParaRPr b="0" i="0" sz="1050" u="none" cap="none" strike="noStrike">
              <a:solidFill>
                <a:schemeClr val="dk1"/>
              </a:solidFill>
              <a:latin typeface="Calibri"/>
              <a:ea typeface="Calibri"/>
              <a:cs typeface="Calibri"/>
              <a:sym typeface="Calibri"/>
            </a:endParaRPr>
          </a:p>
        </p:txBody>
      </p:sp>
      <p:sp>
        <p:nvSpPr>
          <p:cNvPr id="1698" name="Google Shape;1698;p41"/>
          <p:cNvSpPr/>
          <p:nvPr/>
        </p:nvSpPr>
        <p:spPr>
          <a:xfrm>
            <a:off x="6199632" y="2889504"/>
            <a:ext cx="256032" cy="256032"/>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41"/>
          <p:cNvSpPr/>
          <p:nvPr/>
        </p:nvSpPr>
        <p:spPr>
          <a:xfrm>
            <a:off x="6199632" y="2889504"/>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1700" name="Google Shape;1700;p41"/>
          <p:cNvSpPr/>
          <p:nvPr/>
        </p:nvSpPr>
        <p:spPr>
          <a:xfrm>
            <a:off x="6547104" y="2834640"/>
            <a:ext cx="2286000" cy="6400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050"/>
              <a:buFont typeface="Calibri"/>
              <a:buNone/>
            </a:pPr>
            <a:r>
              <a:rPr b="0" i="0" lang="en-US" sz="1050" u="none" cap="none" strike="noStrike">
                <a:solidFill>
                  <a:srgbClr val="16202C"/>
                </a:solidFill>
                <a:latin typeface="Calibri"/>
                <a:ea typeface="Calibri"/>
                <a:cs typeface="Calibri"/>
                <a:sym typeface="Calibri"/>
              </a:rPr>
              <a:t>Find the slow span → click through to that span's log lines</a:t>
            </a:r>
            <a:endParaRPr b="0" i="0" sz="1050" u="none" cap="none" strike="noStrike">
              <a:solidFill>
                <a:schemeClr val="dk1"/>
              </a:solidFill>
              <a:latin typeface="Calibri"/>
              <a:ea typeface="Calibri"/>
              <a:cs typeface="Calibri"/>
              <a:sym typeface="Calibri"/>
            </a:endParaRPr>
          </a:p>
        </p:txBody>
      </p:sp>
      <p:sp>
        <p:nvSpPr>
          <p:cNvPr id="1701" name="Google Shape;1701;p41"/>
          <p:cNvSpPr/>
          <p:nvPr/>
        </p:nvSpPr>
        <p:spPr>
          <a:xfrm>
            <a:off x="8887968" y="2889504"/>
            <a:ext cx="256032" cy="256032"/>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41"/>
          <p:cNvSpPr/>
          <p:nvPr/>
        </p:nvSpPr>
        <p:spPr>
          <a:xfrm>
            <a:off x="8887968" y="2889504"/>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1703" name="Google Shape;1703;p41"/>
          <p:cNvSpPr/>
          <p:nvPr/>
        </p:nvSpPr>
        <p:spPr>
          <a:xfrm>
            <a:off x="9235440" y="2834640"/>
            <a:ext cx="2286000" cy="6400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6202C"/>
              </a:buClr>
              <a:buSzPts val="1050"/>
              <a:buFont typeface="Calibri"/>
              <a:buNone/>
            </a:pPr>
            <a:r>
              <a:rPr b="0" i="0" lang="en-US" sz="1050" u="none" cap="none" strike="noStrike">
                <a:solidFill>
                  <a:srgbClr val="16202C"/>
                </a:solidFill>
                <a:latin typeface="Calibri"/>
                <a:ea typeface="Calibri"/>
                <a:cs typeface="Calibri"/>
                <a:sym typeface="Calibri"/>
              </a:rPr>
              <a:t>Read the error. Elapsed: about ninety seconds.</a:t>
            </a:r>
            <a:endParaRPr b="0" i="0" sz="1050" u="none" cap="none" strike="noStrike">
              <a:solidFill>
                <a:schemeClr val="dk1"/>
              </a:solidFill>
              <a:latin typeface="Calibri"/>
              <a:ea typeface="Calibri"/>
              <a:cs typeface="Calibri"/>
              <a:sym typeface="Calibri"/>
            </a:endParaRPr>
          </a:p>
        </p:txBody>
      </p:sp>
      <p:sp>
        <p:nvSpPr>
          <p:cNvPr id="1704" name="Google Shape;1704;p41"/>
          <p:cNvSpPr/>
          <p:nvPr/>
        </p:nvSpPr>
        <p:spPr>
          <a:xfrm>
            <a:off x="566928" y="3785616"/>
            <a:ext cx="5349240" cy="1883664"/>
          </a:xfrm>
          <a:prstGeom prst="roundRect">
            <a:avLst>
              <a:gd fmla="val 4369"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41"/>
          <p:cNvSpPr/>
          <p:nvPr/>
        </p:nvSpPr>
        <p:spPr>
          <a:xfrm>
            <a:off x="822960" y="3913632"/>
            <a:ext cx="4846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950"/>
              <a:buFont typeface="Calibri"/>
              <a:buNone/>
            </a:pPr>
            <a:r>
              <a:rPr b="1" i="0" lang="en-US" sz="950" u="none" cap="none" strike="noStrike">
                <a:solidFill>
                  <a:srgbClr val="16202C"/>
                </a:solidFill>
                <a:latin typeface="Calibri"/>
                <a:ea typeface="Calibri"/>
                <a:cs typeface="Calibri"/>
                <a:sym typeface="Calibri"/>
              </a:rPr>
              <a:t>WHAT IT COSTS YOU TO GET THIS</a:t>
            </a:r>
            <a:endParaRPr b="0" i="0" sz="950" u="none" cap="none" strike="noStrike">
              <a:solidFill>
                <a:schemeClr val="dk1"/>
              </a:solidFill>
              <a:latin typeface="Calibri"/>
              <a:ea typeface="Calibri"/>
              <a:cs typeface="Calibri"/>
              <a:sym typeface="Calibri"/>
            </a:endParaRPr>
          </a:p>
        </p:txBody>
      </p:sp>
      <p:sp>
        <p:nvSpPr>
          <p:cNvPr id="1706" name="Google Shape;1706;p41"/>
          <p:cNvSpPr/>
          <p:nvPr/>
        </p:nvSpPr>
        <p:spPr>
          <a:xfrm>
            <a:off x="822960" y="4206240"/>
            <a:ext cx="4846320" cy="137160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Put trace_id into every log line — usually one logger hook</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Turn on exemplars in your histogram client and your backend</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Use the same service.name string in all three signals</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That is genuinely most of it</a:t>
            </a:r>
            <a:endParaRPr b="0" i="0" sz="1150" u="none" cap="none" strike="noStrike">
              <a:solidFill>
                <a:schemeClr val="dk1"/>
              </a:solidFill>
              <a:latin typeface="Calibri"/>
              <a:ea typeface="Calibri"/>
              <a:cs typeface="Calibri"/>
              <a:sym typeface="Calibri"/>
            </a:endParaRPr>
          </a:p>
        </p:txBody>
      </p:sp>
      <p:sp>
        <p:nvSpPr>
          <p:cNvPr id="1707" name="Google Shape;1707;p41"/>
          <p:cNvSpPr/>
          <p:nvPr/>
        </p:nvSpPr>
        <p:spPr>
          <a:xfrm>
            <a:off x="6281928" y="3785616"/>
            <a:ext cx="5349240" cy="1883664"/>
          </a:xfrm>
          <a:prstGeom prst="roundRect">
            <a:avLst>
              <a:gd fmla="val 4369" name="adj"/>
            </a:avLst>
          </a:prstGeom>
          <a:solidFill>
            <a:srgbClr val="FAE9EC"/>
          </a:solidFill>
          <a:ln cap="flat" cmpd="sng" w="9525">
            <a:solidFill>
              <a:srgbClr val="EDC9D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41"/>
          <p:cNvSpPr/>
          <p:nvPr/>
        </p:nvSpPr>
        <p:spPr>
          <a:xfrm>
            <a:off x="6537960" y="3913632"/>
            <a:ext cx="4846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950"/>
              <a:buFont typeface="Calibri"/>
              <a:buNone/>
            </a:pPr>
            <a:r>
              <a:rPr b="1" i="0" lang="en-US" sz="950" u="none" cap="none" strike="noStrike">
                <a:solidFill>
                  <a:srgbClr val="AC2740"/>
                </a:solidFill>
                <a:latin typeface="Calibri"/>
                <a:ea typeface="Calibri"/>
                <a:cs typeface="Calibri"/>
                <a:sym typeface="Calibri"/>
              </a:rPr>
              <a:t>WHAT BREAKS IT</a:t>
            </a:r>
            <a:endParaRPr b="0" i="0" sz="950" u="none" cap="none" strike="noStrike">
              <a:solidFill>
                <a:schemeClr val="dk1"/>
              </a:solidFill>
              <a:latin typeface="Calibri"/>
              <a:ea typeface="Calibri"/>
              <a:cs typeface="Calibri"/>
              <a:sym typeface="Calibri"/>
            </a:endParaRPr>
          </a:p>
        </p:txBody>
      </p:sp>
      <p:sp>
        <p:nvSpPr>
          <p:cNvPr id="1709" name="Google Shape;1709;p41"/>
          <p:cNvSpPr/>
          <p:nvPr/>
        </p:nvSpPr>
        <p:spPr>
          <a:xfrm>
            <a:off x="6537960" y="4206240"/>
            <a:ext cx="4846320" cy="137160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The service is called payment in metrics and payment-svc in traces</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Logs go to one vendor and traces to another, with no shared link</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Sampling drops the trace the exemplar points at, so the link dead-ends</a:t>
            </a:r>
            <a:endParaRPr b="0" i="0" sz="1150" u="none" cap="none" strike="noStrike">
              <a:solidFill>
                <a:schemeClr val="dk1"/>
              </a:solidFill>
              <a:latin typeface="Calibri"/>
              <a:ea typeface="Calibri"/>
              <a:cs typeface="Calibri"/>
              <a:sym typeface="Calibri"/>
            </a:endParaRPr>
          </a:p>
          <a:p>
            <a:pPr indent="-342900" lvl="0" marL="342900" marR="0" rtl="0" algn="l">
              <a:lnSpc>
                <a:spcPct val="105000"/>
              </a:lnSpc>
              <a:spcBef>
                <a:spcPts val="600"/>
              </a:spcBef>
              <a:spcAft>
                <a:spcPts val="0"/>
              </a:spcAft>
              <a:buClr>
                <a:srgbClr val="16202C"/>
              </a:buClr>
              <a:buSzPts val="1150"/>
              <a:buFont typeface="Calibri"/>
              <a:buChar char="•"/>
            </a:pPr>
            <a:r>
              <a:rPr b="0" i="0" lang="en-US" sz="1150" u="none" cap="none" strike="noStrike">
                <a:solidFill>
                  <a:srgbClr val="16202C"/>
                </a:solidFill>
                <a:latin typeface="Calibri"/>
                <a:ea typeface="Calibri"/>
                <a:cs typeface="Calibri"/>
                <a:sym typeface="Calibri"/>
              </a:rPr>
              <a:t>Nobody agreed on names, so every join is manual</a:t>
            </a:r>
            <a:endParaRPr b="0" i="0" sz="1150" u="none" cap="none" strike="noStrike">
              <a:solidFill>
                <a:schemeClr val="dk1"/>
              </a:solidFill>
              <a:latin typeface="Calibri"/>
              <a:ea typeface="Calibri"/>
              <a:cs typeface="Calibri"/>
              <a:sym typeface="Calibri"/>
            </a:endParaRPr>
          </a:p>
        </p:txBody>
      </p:sp>
      <p:sp>
        <p:nvSpPr>
          <p:cNvPr id="1710" name="Google Shape;1710;p41"/>
          <p:cNvSpPr/>
          <p:nvPr/>
        </p:nvSpPr>
        <p:spPr>
          <a:xfrm>
            <a:off x="566928" y="5797296"/>
            <a:ext cx="11057839" cy="512064"/>
          </a:xfrm>
          <a:prstGeom prst="roundRect">
            <a:avLst>
              <a:gd fmla="val 16071"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41"/>
          <p:cNvSpPr/>
          <p:nvPr/>
        </p:nvSpPr>
        <p:spPr>
          <a:xfrm>
            <a:off x="768096" y="5916168"/>
            <a:ext cx="274320" cy="274320"/>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41"/>
          <p:cNvSpPr/>
          <p:nvPr/>
        </p:nvSpPr>
        <p:spPr>
          <a:xfrm>
            <a:off x="768096" y="591616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713" name="Google Shape;1713;p41"/>
          <p:cNvSpPr/>
          <p:nvPr/>
        </p:nvSpPr>
        <p:spPr>
          <a:xfrm>
            <a:off x="1170432" y="5797296"/>
            <a:ext cx="10234879" cy="512064"/>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Naming discipline is not bureaucracy. It is the difference between one investigation and three, every single time.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8" name="Shape 1718"/>
        <p:cNvGrpSpPr/>
        <p:nvPr/>
      </p:nvGrpSpPr>
      <p:grpSpPr>
        <a:xfrm>
          <a:off x="0" y="0"/>
          <a:ext cx="0" cy="0"/>
          <a:chOff x="0" y="0"/>
          <a:chExt cx="0" cy="0"/>
        </a:xfrm>
      </p:grpSpPr>
      <p:sp>
        <p:nvSpPr>
          <p:cNvPr id="1719" name="Google Shape;1719;p42"/>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050"/>
              <a:buFont typeface="Calibri"/>
              <a:buNone/>
            </a:pPr>
            <a:r>
              <a:rPr b="1" i="0" lang="en-US" sz="1050" u="none" cap="none" strike="noStrike">
                <a:solidFill>
                  <a:srgbClr val="16202C"/>
                </a:solidFill>
                <a:latin typeface="Calibri"/>
                <a:ea typeface="Calibri"/>
                <a:cs typeface="Calibri"/>
                <a:sym typeface="Calibri"/>
              </a:rPr>
              <a:t>THE WHOLE MARKET ON ONE PAGE</a:t>
            </a:r>
            <a:endParaRPr b="0" i="0" sz="1050" u="none" cap="none" strike="noStrike">
              <a:solidFill>
                <a:schemeClr val="dk1"/>
              </a:solidFill>
              <a:latin typeface="Calibri"/>
              <a:ea typeface="Calibri"/>
              <a:cs typeface="Calibri"/>
              <a:sym typeface="Calibri"/>
            </a:endParaRPr>
          </a:p>
        </p:txBody>
      </p:sp>
      <p:sp>
        <p:nvSpPr>
          <p:cNvPr id="1720" name="Google Shape;1720;p42"/>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Who does what, and how you pay for it</a:t>
            </a:r>
            <a:endParaRPr b="0" i="0" sz="2900" u="none" cap="none" strike="noStrike">
              <a:solidFill>
                <a:schemeClr val="dk1"/>
              </a:solidFill>
              <a:latin typeface="Calibri"/>
              <a:ea typeface="Calibri"/>
              <a:cs typeface="Calibri"/>
              <a:sym typeface="Calibri"/>
            </a:endParaRPr>
          </a:p>
        </p:txBody>
      </p:sp>
      <p:sp>
        <p:nvSpPr>
          <p:cNvPr id="1721" name="Google Shape;1721;p42"/>
          <p:cNvSpPr/>
          <p:nvPr/>
        </p:nvSpPr>
        <p:spPr>
          <a:xfrm>
            <a:off x="10260482" y="402336"/>
            <a:ext cx="1364285" cy="329184"/>
          </a:xfrm>
          <a:prstGeom prst="roundRect">
            <a:avLst>
              <a:gd fmla="val 50000" name="adj"/>
            </a:avLst>
          </a:prstGeom>
          <a:solidFill>
            <a:srgbClr val="F2F5F8"/>
          </a:solidFill>
          <a:ln cap="flat" cmpd="sng" w="9525">
            <a:solidFill>
              <a:srgbClr val="1620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42"/>
          <p:cNvSpPr/>
          <p:nvPr/>
        </p:nvSpPr>
        <p:spPr>
          <a:xfrm>
            <a:off x="10434218" y="525780"/>
            <a:ext cx="91440" cy="91440"/>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42"/>
          <p:cNvSpPr/>
          <p:nvPr/>
        </p:nvSpPr>
        <p:spPr>
          <a:xfrm>
            <a:off x="10571378" y="402336"/>
            <a:ext cx="961949"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000"/>
              <a:buFont typeface="Calibri"/>
              <a:buNone/>
            </a:pPr>
            <a:r>
              <a:rPr b="1" i="0" lang="en-US" sz="1000" u="none" cap="none" strike="noStrike">
                <a:solidFill>
                  <a:srgbClr val="16202C"/>
                </a:solidFill>
                <a:latin typeface="Calibri"/>
                <a:ea typeface="Calibri"/>
                <a:cs typeface="Calibri"/>
                <a:sym typeface="Calibri"/>
              </a:rPr>
              <a:t>All three</a:t>
            </a:r>
            <a:endParaRPr b="0" i="0" sz="1000" u="none" cap="none" strike="noStrike">
              <a:solidFill>
                <a:schemeClr val="dk1"/>
              </a:solidFill>
              <a:latin typeface="Calibri"/>
              <a:ea typeface="Calibri"/>
              <a:cs typeface="Calibri"/>
              <a:sym typeface="Calibri"/>
            </a:endParaRPr>
          </a:p>
        </p:txBody>
      </p:sp>
      <p:sp>
        <p:nvSpPr>
          <p:cNvPr id="1724" name="Google Shape;1724;p42"/>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725" name="Google Shape;1725;p42"/>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40</a:t>
            </a:r>
            <a:endParaRPr b="0" i="0" sz="900" u="none" cap="none" strike="noStrike">
              <a:solidFill>
                <a:schemeClr val="dk1"/>
              </a:solidFill>
              <a:latin typeface="Calibri"/>
              <a:ea typeface="Calibri"/>
              <a:cs typeface="Calibri"/>
              <a:sym typeface="Calibri"/>
            </a:endParaRPr>
          </a:p>
        </p:txBody>
      </p:sp>
      <p:graphicFrame>
        <p:nvGraphicFramePr>
          <p:cNvPr id="1726" name="Google Shape;1726;p42"/>
          <p:cNvGraphicFramePr/>
          <p:nvPr/>
        </p:nvGraphicFramePr>
        <p:xfrm>
          <a:off x="566928" y="1371600"/>
          <a:ext cx="3000000" cy="3000000"/>
        </p:xfrm>
        <a:graphic>
          <a:graphicData uri="http://schemas.openxmlformats.org/drawingml/2006/table">
            <a:tbl>
              <a:tblPr>
                <a:noFill/>
                <a:tableStyleId>{DFD9D4DC-8A2C-4EF0-BCA6-1FD045332ED8}</a:tableStyleId>
              </a:tblPr>
              <a:tblGrid>
                <a:gridCol w="1234450"/>
                <a:gridCol w="2468875"/>
                <a:gridCol w="2450600"/>
                <a:gridCol w="2743200"/>
                <a:gridCol w="2148850"/>
              </a:tblGrid>
              <a:tr h="329175">
                <a:tc>
                  <a:txBody>
                    <a:bodyPr/>
                    <a:lstStyle/>
                    <a:p>
                      <a:pPr indent="0" lvl="0" marL="0" marR="0" rtl="0" algn="l">
                        <a:spcBef>
                          <a:spcPts val="0"/>
                        </a:spcBef>
                        <a:spcAft>
                          <a:spcPts val="0"/>
                        </a:spcAft>
                        <a:buClr>
                          <a:schemeClr val="dk1"/>
                        </a:buClr>
                        <a:buSzPts val="1050"/>
                        <a:buFont typeface="Calibri"/>
                        <a:buNone/>
                      </a:pPr>
                      <a:r>
                        <a:t/>
                      </a:r>
                      <a:endParaRPr sz="1050" u="none" cap="none" strike="noStrike">
                        <a:latin typeface="Calibri"/>
                        <a:ea typeface="Calibri"/>
                        <a:cs typeface="Calibri"/>
                        <a:sym typeface="Calibri"/>
                      </a:endParaRPr>
                    </a:p>
                  </a:txBody>
                  <a:tcPr marT="50800" marB="50800" marR="88900" marL="88900">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2F5F8"/>
                    </a:solidFill>
                  </a:tcPr>
                </a:tc>
                <a:tc>
                  <a:txBody>
                    <a:bodyPr/>
                    <a:lstStyle/>
                    <a:p>
                      <a:pPr indent="0" lvl="0" marL="0" marR="0" rtl="0" algn="l">
                        <a:spcBef>
                          <a:spcPts val="0"/>
                        </a:spcBef>
                        <a:spcAft>
                          <a:spcPts val="0"/>
                        </a:spcAft>
                        <a:buClr>
                          <a:srgbClr val="16202C"/>
                        </a:buClr>
                        <a:buSzPts val="1050"/>
                        <a:buFont typeface="Calibri"/>
                        <a:buNone/>
                      </a:pPr>
                      <a:r>
                        <a:rPr b="1" lang="en-US" sz="1050" u="none" cap="none" strike="noStrike">
                          <a:solidFill>
                            <a:srgbClr val="16202C"/>
                          </a:solidFill>
                          <a:latin typeface="Calibri"/>
                          <a:ea typeface="Calibri"/>
                          <a:cs typeface="Calibri"/>
                          <a:sym typeface="Calibri"/>
                        </a:rPr>
                        <a:t>Run it yourself</a:t>
                      </a:r>
                      <a:endParaRPr sz="1050" u="none" cap="none" strike="noStrike">
                        <a:latin typeface="Calibri"/>
                        <a:ea typeface="Calibri"/>
                        <a:cs typeface="Calibri"/>
                        <a:sym typeface="Calibri"/>
                      </a:endParaRPr>
                    </a:p>
                  </a:txBody>
                  <a:tcPr marT="50800" marB="50800" marR="88900" marL="88900">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2F5F8"/>
                    </a:solidFill>
                  </a:tcPr>
                </a:tc>
                <a:tc>
                  <a:txBody>
                    <a:bodyPr/>
                    <a:lstStyle/>
                    <a:p>
                      <a:pPr indent="0" lvl="0" marL="0" marR="0" rtl="0" algn="l">
                        <a:spcBef>
                          <a:spcPts val="0"/>
                        </a:spcBef>
                        <a:spcAft>
                          <a:spcPts val="0"/>
                        </a:spcAft>
                        <a:buClr>
                          <a:srgbClr val="16202C"/>
                        </a:buClr>
                        <a:buSzPts val="1050"/>
                        <a:buFont typeface="Calibri"/>
                        <a:buNone/>
                      </a:pPr>
                      <a:r>
                        <a:rPr b="1" lang="en-US" sz="1050" u="none" cap="none" strike="noStrike">
                          <a:solidFill>
                            <a:srgbClr val="16202C"/>
                          </a:solidFill>
                          <a:latin typeface="Calibri"/>
                          <a:ea typeface="Calibri"/>
                          <a:cs typeface="Calibri"/>
                          <a:sym typeface="Calibri"/>
                        </a:rPr>
                        <a:t>Managed open source</a:t>
                      </a:r>
                      <a:endParaRPr sz="1050" u="none" cap="none" strike="noStrike">
                        <a:latin typeface="Calibri"/>
                        <a:ea typeface="Calibri"/>
                        <a:cs typeface="Calibri"/>
                        <a:sym typeface="Calibri"/>
                      </a:endParaRPr>
                    </a:p>
                  </a:txBody>
                  <a:tcPr marT="50800" marB="50800" marR="88900" marL="88900">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2F5F8"/>
                    </a:solidFill>
                  </a:tcPr>
                </a:tc>
                <a:tc>
                  <a:txBody>
                    <a:bodyPr/>
                    <a:lstStyle/>
                    <a:p>
                      <a:pPr indent="0" lvl="0" marL="0" marR="0" rtl="0" algn="l">
                        <a:spcBef>
                          <a:spcPts val="0"/>
                        </a:spcBef>
                        <a:spcAft>
                          <a:spcPts val="0"/>
                        </a:spcAft>
                        <a:buClr>
                          <a:srgbClr val="16202C"/>
                        </a:buClr>
                        <a:buSzPts val="1050"/>
                        <a:buFont typeface="Calibri"/>
                        <a:buNone/>
                      </a:pPr>
                      <a:r>
                        <a:rPr b="1" lang="en-US" sz="1050" u="none" cap="none" strike="noStrike">
                          <a:solidFill>
                            <a:srgbClr val="16202C"/>
                          </a:solidFill>
                          <a:latin typeface="Calibri"/>
                          <a:ea typeface="Calibri"/>
                          <a:cs typeface="Calibri"/>
                          <a:sym typeface="Calibri"/>
                        </a:rPr>
                        <a:t>Full-platform SaaS</a:t>
                      </a:r>
                      <a:endParaRPr sz="1050" u="none" cap="none" strike="noStrike">
                        <a:latin typeface="Calibri"/>
                        <a:ea typeface="Calibri"/>
                        <a:cs typeface="Calibri"/>
                        <a:sym typeface="Calibri"/>
                      </a:endParaRPr>
                    </a:p>
                  </a:txBody>
                  <a:tcPr marT="50800" marB="50800" marR="88900" marL="88900">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2F5F8"/>
                    </a:solidFill>
                  </a:tcPr>
                </a:tc>
                <a:tc>
                  <a:txBody>
                    <a:bodyPr/>
                    <a:lstStyle/>
                    <a:p>
                      <a:pPr indent="0" lvl="0" marL="0" marR="0" rtl="0" algn="l">
                        <a:spcBef>
                          <a:spcPts val="0"/>
                        </a:spcBef>
                        <a:spcAft>
                          <a:spcPts val="0"/>
                        </a:spcAft>
                        <a:buClr>
                          <a:srgbClr val="16202C"/>
                        </a:buClr>
                        <a:buSzPts val="1050"/>
                        <a:buFont typeface="Calibri"/>
                        <a:buNone/>
                      </a:pPr>
                      <a:r>
                        <a:rPr b="1" lang="en-US" sz="1050" u="none" cap="none" strike="noStrike">
                          <a:solidFill>
                            <a:srgbClr val="16202C"/>
                          </a:solidFill>
                          <a:latin typeface="Calibri"/>
                          <a:ea typeface="Calibri"/>
                          <a:cs typeface="Calibri"/>
                          <a:sym typeface="Calibri"/>
                        </a:rPr>
                        <a:t>Your cloud provider</a:t>
                      </a:r>
                      <a:endParaRPr sz="1050" u="none" cap="none" strike="noStrike">
                        <a:latin typeface="Calibri"/>
                        <a:ea typeface="Calibri"/>
                        <a:cs typeface="Calibri"/>
                        <a:sym typeface="Calibri"/>
                      </a:endParaRPr>
                    </a:p>
                  </a:txBody>
                  <a:tcPr marT="50800" marB="50800" marR="88900" marL="88900">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2F5F8"/>
                    </a:solidFill>
                  </a:tcPr>
                </a:tc>
              </a:tr>
              <a:tr h="932700">
                <a:tc>
                  <a:txBody>
                    <a:bodyPr/>
                    <a:lstStyle/>
                    <a:p>
                      <a:pPr indent="0" lvl="0" marL="0" marR="0" rtl="0" algn="l">
                        <a:spcBef>
                          <a:spcPts val="0"/>
                        </a:spcBef>
                        <a:spcAft>
                          <a:spcPts val="0"/>
                        </a:spcAft>
                        <a:buClr>
                          <a:srgbClr val="BE6415"/>
                        </a:buClr>
                        <a:buSzPts val="1150"/>
                        <a:buFont typeface="Calibri"/>
                        <a:buNone/>
                      </a:pPr>
                      <a:r>
                        <a:rPr b="1" lang="en-US" sz="1150" u="none" cap="none" strike="noStrike">
                          <a:solidFill>
                            <a:srgbClr val="BE6415"/>
                          </a:solidFill>
                          <a:latin typeface="Calibri"/>
                          <a:ea typeface="Calibri"/>
                          <a:cs typeface="Calibri"/>
                          <a:sym typeface="Calibri"/>
                        </a:rPr>
                        <a:t>Logs</a:t>
                      </a:r>
                      <a:endParaRPr sz="115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AEFE2"/>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Loki, OpenSearch,</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Elasticsearch, Graylog,</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VictoriaLogs, ClickHouse</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Grafana Cloud, Elastic Cloud,</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AWS OpenSearch Service,</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Logz.io</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Datadog, Splunk (Cisco),</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New Relic, Sumo Logic,</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Coralogix, Better Stack, Axiom</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CloudWatch Logs,</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Azure Monitor Logs,</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Google Cloud Logging</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r>
              <a:tr h="932700">
                <a:tc>
                  <a:txBody>
                    <a:bodyPr/>
                    <a:lstStyle/>
                    <a:p>
                      <a:pPr indent="0" lvl="0" marL="0" marR="0" rtl="0" algn="l">
                        <a:spcBef>
                          <a:spcPts val="0"/>
                        </a:spcBef>
                        <a:spcAft>
                          <a:spcPts val="0"/>
                        </a:spcAft>
                        <a:buClr>
                          <a:srgbClr val="0C6B7D"/>
                        </a:buClr>
                        <a:buSzPts val="1150"/>
                        <a:buFont typeface="Calibri"/>
                        <a:buNone/>
                      </a:pPr>
                      <a:r>
                        <a:rPr b="1" lang="en-US" sz="1150" u="none" cap="none" strike="noStrike">
                          <a:solidFill>
                            <a:srgbClr val="0C6B7D"/>
                          </a:solidFill>
                          <a:latin typeface="Calibri"/>
                          <a:ea typeface="Calibri"/>
                          <a:cs typeface="Calibri"/>
                          <a:sym typeface="Calibri"/>
                        </a:rPr>
                        <a:t>Metrics</a:t>
                      </a:r>
                      <a:endParaRPr sz="115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E2F0F3"/>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Prometheus, VictoriaMetrics,</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Mimir, Thanos, Cortex,</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InfluxDB, Graphite</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Grafana Cloud, Amazon /</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Azure / Google managed</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Prometheus</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Datadog, New Relic, Dynatrace,</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Splunk Observability,</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Chronosphere (Palo Alto)</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CloudWatch Metrics,</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Azure Monitor Metrics,</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Google Cloud Monitoring</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r>
              <a:tr h="932700">
                <a:tc>
                  <a:txBody>
                    <a:bodyPr/>
                    <a:lstStyle/>
                    <a:p>
                      <a:pPr indent="0" lvl="0" marL="0" marR="0" rtl="0" algn="l">
                        <a:spcBef>
                          <a:spcPts val="0"/>
                        </a:spcBef>
                        <a:spcAft>
                          <a:spcPts val="0"/>
                        </a:spcAft>
                        <a:buClr>
                          <a:srgbClr val="5C3FA6"/>
                        </a:buClr>
                        <a:buSzPts val="1150"/>
                        <a:buFont typeface="Calibri"/>
                        <a:buNone/>
                      </a:pPr>
                      <a:r>
                        <a:rPr b="1" lang="en-US" sz="1150" u="none" cap="none" strike="noStrike">
                          <a:solidFill>
                            <a:srgbClr val="5C3FA6"/>
                          </a:solidFill>
                          <a:latin typeface="Calibri"/>
                          <a:ea typeface="Calibri"/>
                          <a:cs typeface="Calibri"/>
                          <a:sym typeface="Calibri"/>
                        </a:rPr>
                        <a:t>Traces</a:t>
                      </a:r>
                      <a:endParaRPr sz="115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EDE8F8"/>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Jaeger, Tempo, Zipkin,</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SigNoz, Uptrace,</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SkyWalking</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Grafana Cloud Traces,</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AWS X-Ray, Azure App</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Insights, Google Cloud Trace</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Datadog APM, Honeycomb,</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Dynatrace, Instana, Elastic APM,</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Sentry, Middleware, Dash0</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X-Ray, Application Insights,</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Cloud Trace</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r>
              <a:tr h="932700">
                <a:tc>
                  <a:txBody>
                    <a:bodyPr/>
                    <a:lstStyle/>
                    <a:p>
                      <a:pPr indent="0" lvl="0" marL="0" marR="0" rtl="0" algn="l">
                        <a:spcBef>
                          <a:spcPts val="0"/>
                        </a:spcBef>
                        <a:spcAft>
                          <a:spcPts val="0"/>
                        </a:spcAft>
                        <a:buClr>
                          <a:srgbClr val="16202C"/>
                        </a:buClr>
                        <a:buSzPts val="1150"/>
                        <a:buFont typeface="Calibri"/>
                        <a:buNone/>
                      </a:pPr>
                      <a:r>
                        <a:rPr b="1" lang="en-US" sz="1150" u="none" cap="none" strike="noStrike">
                          <a:solidFill>
                            <a:srgbClr val="16202C"/>
                          </a:solidFill>
                          <a:latin typeface="Calibri"/>
                          <a:ea typeface="Calibri"/>
                          <a:cs typeface="Calibri"/>
                          <a:sym typeface="Calibri"/>
                        </a:rPr>
                        <a:t>Collection</a:t>
                      </a:r>
                      <a:endParaRPr sz="115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2F5F8"/>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OTel Collector, Grafana Alloy,</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Fluent Bit, Vector,</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Telegraf</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Vendor-run OTLP endpoints,</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AWS Distro for OTel</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Each vendor's own agent</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(and, now, OTLP)</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CloudWatch Agent,</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Azure Monitor Agent,</a:t>
                      </a:r>
                      <a:endParaRPr sz="900" u="none" cap="none" strike="noStrike">
                        <a:latin typeface="Calibri"/>
                        <a:ea typeface="Calibri"/>
                        <a:cs typeface="Calibri"/>
                        <a:sym typeface="Calibri"/>
                      </a:endParaRPr>
                    </a:p>
                    <a:p>
                      <a:pPr indent="0" lvl="0" marL="0" marR="0" rtl="0" algn="l">
                        <a:spcBef>
                          <a:spcPts val="0"/>
                        </a:spcBef>
                        <a:spcAft>
                          <a:spcPts val="0"/>
                        </a:spcAft>
                        <a:buClr>
                          <a:srgbClr val="16202C"/>
                        </a:buClr>
                        <a:buSzPts val="900"/>
                        <a:buFont typeface="Calibri"/>
                        <a:buNone/>
                      </a:pPr>
                      <a:r>
                        <a:rPr lang="en-US" sz="900" u="none" cap="none" strike="noStrike">
                          <a:solidFill>
                            <a:srgbClr val="16202C"/>
                          </a:solidFill>
                          <a:latin typeface="Calibri"/>
                          <a:ea typeface="Calibri"/>
                          <a:cs typeface="Calibri"/>
                          <a:sym typeface="Calibri"/>
                        </a:rPr>
                        <a:t>Ops Agent</a:t>
                      </a:r>
                      <a:endParaRPr sz="900" u="none" cap="none" strike="noStrike">
                        <a:latin typeface="Calibri"/>
                        <a:ea typeface="Calibri"/>
                        <a:cs typeface="Calibri"/>
                        <a:sym typeface="Calibri"/>
                      </a:endParaRPr>
                    </a:p>
                  </a:txBody>
                  <a:tcPr marT="50800" marB="50800" marR="88900" marL="88900" anchor="ctr">
                    <a:lnL cap="flat" cmpd="sng" w="9525">
                      <a:solidFill>
                        <a:srgbClr val="DAE2EA"/>
                      </a:solidFill>
                      <a:prstDash val="solid"/>
                      <a:round/>
                      <a:headEnd len="sm" w="sm" type="none"/>
                      <a:tailEnd len="sm" w="sm" type="none"/>
                    </a:lnL>
                    <a:lnR cap="flat" cmpd="sng" w="9525">
                      <a:solidFill>
                        <a:srgbClr val="DAE2EA"/>
                      </a:solidFill>
                      <a:prstDash val="solid"/>
                      <a:round/>
                      <a:headEnd len="sm" w="sm" type="none"/>
                      <a:tailEnd len="sm" w="sm" type="none"/>
                    </a:lnR>
                    <a:lnT cap="flat" cmpd="sng" w="9525">
                      <a:solidFill>
                        <a:srgbClr val="DAE2EA"/>
                      </a:solidFill>
                      <a:prstDash val="solid"/>
                      <a:round/>
                      <a:headEnd len="sm" w="sm" type="none"/>
                      <a:tailEnd len="sm" w="sm" type="none"/>
                    </a:lnT>
                    <a:lnB cap="flat" cmpd="sng" w="9525">
                      <a:solidFill>
                        <a:srgbClr val="DAE2EA"/>
                      </a:solidFill>
                      <a:prstDash val="solid"/>
                      <a:round/>
                      <a:headEnd len="sm" w="sm" type="none"/>
                      <a:tailEnd len="sm" w="sm" type="none"/>
                    </a:lnB>
                    <a:solidFill>
                      <a:srgbClr val="FFFFFF"/>
                    </a:solidFill>
                  </a:tcPr>
                </a:tc>
              </a:tr>
            </a:tbl>
          </a:graphicData>
        </a:graphic>
      </p:graphicFrame>
      <p:sp>
        <p:nvSpPr>
          <p:cNvPr id="1727" name="Google Shape;1727;p42"/>
          <p:cNvSpPr/>
          <p:nvPr/>
        </p:nvSpPr>
        <p:spPr>
          <a:xfrm>
            <a:off x="566928" y="5504688"/>
            <a:ext cx="11057839" cy="822960"/>
          </a:xfrm>
          <a:prstGeom prst="roundRect">
            <a:avLst>
              <a:gd fmla="val 10000"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42"/>
          <p:cNvSpPr/>
          <p:nvPr/>
        </p:nvSpPr>
        <p:spPr>
          <a:xfrm>
            <a:off x="822960" y="5577840"/>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1150"/>
              <a:buFont typeface="Calibri"/>
              <a:buNone/>
            </a:pPr>
            <a:r>
              <a:rPr b="1" i="0" lang="en-US" sz="1150" u="none" cap="none" strike="noStrike">
                <a:solidFill>
                  <a:srgbClr val="1B7048"/>
                </a:solidFill>
                <a:latin typeface="Calibri"/>
                <a:ea typeface="Calibri"/>
                <a:cs typeface="Calibri"/>
                <a:sym typeface="Calibri"/>
              </a:rPr>
              <a:t>What actually differs between columns:</a:t>
            </a:r>
            <a:endParaRPr b="0" i="0" sz="1150" u="none" cap="none" strike="noStrike">
              <a:solidFill>
                <a:schemeClr val="dk1"/>
              </a:solidFill>
              <a:latin typeface="Calibri"/>
              <a:ea typeface="Calibri"/>
              <a:cs typeface="Calibri"/>
              <a:sym typeface="Calibri"/>
            </a:endParaRPr>
          </a:p>
        </p:txBody>
      </p:sp>
      <p:sp>
        <p:nvSpPr>
          <p:cNvPr id="1729" name="Google Shape;1729;p42"/>
          <p:cNvSpPr/>
          <p:nvPr/>
        </p:nvSpPr>
        <p:spPr>
          <a:xfrm>
            <a:off x="3767328" y="5541264"/>
            <a:ext cx="7589520" cy="7315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00"/>
              <a:buFont typeface="Calibri"/>
              <a:buNone/>
            </a:pPr>
            <a:r>
              <a:rPr b="0" i="0" lang="en-US" sz="1100" u="none" cap="none" strike="noStrike">
                <a:solidFill>
                  <a:srgbClr val="16202C"/>
                </a:solidFill>
                <a:latin typeface="Calibri"/>
                <a:ea typeface="Calibri"/>
                <a:cs typeface="Calibri"/>
                <a:sym typeface="Calibri"/>
              </a:rPr>
              <a:t>who is on call for the observability stack itself, how the bill is metered (GB ingested, hosts, series, users), and how hard it is to leave. The signals, the query concepts and the instrumentation are the same in every column — which is exactly why learning the concepts beats learning a product.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4" name="Shape 1734"/>
        <p:cNvGrpSpPr/>
        <p:nvPr/>
      </p:nvGrpSpPr>
      <p:grpSpPr>
        <a:xfrm>
          <a:off x="0" y="0"/>
          <a:ext cx="0" cy="0"/>
          <a:chOff x="0" y="0"/>
          <a:chExt cx="0" cy="0"/>
        </a:xfrm>
      </p:grpSpPr>
      <p:sp>
        <p:nvSpPr>
          <p:cNvPr id="1735" name="Google Shape;1735;p43"/>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050"/>
              <a:buFont typeface="Calibri"/>
              <a:buNone/>
            </a:pPr>
            <a:r>
              <a:rPr b="1" i="0" lang="en-US" sz="1050" u="none" cap="none" strike="noStrike">
                <a:solidFill>
                  <a:srgbClr val="16202C"/>
                </a:solidFill>
                <a:latin typeface="Calibri"/>
                <a:ea typeface="Calibri"/>
                <a:cs typeface="Calibri"/>
                <a:sym typeface="Calibri"/>
              </a:rPr>
              <a:t>THE DECISION YOU WILL BE IN THE ROOM FOR</a:t>
            </a:r>
            <a:endParaRPr b="0" i="0" sz="1050" u="none" cap="none" strike="noStrike">
              <a:solidFill>
                <a:schemeClr val="dk1"/>
              </a:solidFill>
              <a:latin typeface="Calibri"/>
              <a:ea typeface="Calibri"/>
              <a:cs typeface="Calibri"/>
              <a:sym typeface="Calibri"/>
            </a:endParaRPr>
          </a:p>
        </p:txBody>
      </p:sp>
      <p:sp>
        <p:nvSpPr>
          <p:cNvPr id="1736" name="Google Shape;1736;p43"/>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Self-host or pay someone</a:t>
            </a:r>
            <a:endParaRPr b="0" i="0" sz="2900" u="none" cap="none" strike="noStrike">
              <a:solidFill>
                <a:schemeClr val="dk1"/>
              </a:solidFill>
              <a:latin typeface="Calibri"/>
              <a:ea typeface="Calibri"/>
              <a:cs typeface="Calibri"/>
              <a:sym typeface="Calibri"/>
            </a:endParaRPr>
          </a:p>
        </p:txBody>
      </p:sp>
      <p:sp>
        <p:nvSpPr>
          <p:cNvPr id="1737" name="Google Shape;1737;p43"/>
          <p:cNvSpPr/>
          <p:nvPr/>
        </p:nvSpPr>
        <p:spPr>
          <a:xfrm>
            <a:off x="10260482" y="402336"/>
            <a:ext cx="1364285" cy="329184"/>
          </a:xfrm>
          <a:prstGeom prst="roundRect">
            <a:avLst>
              <a:gd fmla="val 50000" name="adj"/>
            </a:avLst>
          </a:prstGeom>
          <a:solidFill>
            <a:srgbClr val="F2F5F8"/>
          </a:solidFill>
          <a:ln cap="flat" cmpd="sng" w="9525">
            <a:solidFill>
              <a:srgbClr val="1620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43"/>
          <p:cNvSpPr/>
          <p:nvPr/>
        </p:nvSpPr>
        <p:spPr>
          <a:xfrm>
            <a:off x="10434218" y="525780"/>
            <a:ext cx="91440" cy="91440"/>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43"/>
          <p:cNvSpPr/>
          <p:nvPr/>
        </p:nvSpPr>
        <p:spPr>
          <a:xfrm>
            <a:off x="10571378" y="402336"/>
            <a:ext cx="961949"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000"/>
              <a:buFont typeface="Calibri"/>
              <a:buNone/>
            </a:pPr>
            <a:r>
              <a:rPr b="1" i="0" lang="en-US" sz="1000" u="none" cap="none" strike="noStrike">
                <a:solidFill>
                  <a:srgbClr val="16202C"/>
                </a:solidFill>
                <a:latin typeface="Calibri"/>
                <a:ea typeface="Calibri"/>
                <a:cs typeface="Calibri"/>
                <a:sym typeface="Calibri"/>
              </a:rPr>
              <a:t>All three</a:t>
            </a:r>
            <a:endParaRPr b="0" i="0" sz="1000" u="none" cap="none" strike="noStrike">
              <a:solidFill>
                <a:schemeClr val="dk1"/>
              </a:solidFill>
              <a:latin typeface="Calibri"/>
              <a:ea typeface="Calibri"/>
              <a:cs typeface="Calibri"/>
              <a:sym typeface="Calibri"/>
            </a:endParaRPr>
          </a:p>
        </p:txBody>
      </p:sp>
      <p:sp>
        <p:nvSpPr>
          <p:cNvPr id="1740" name="Google Shape;1740;p43"/>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741" name="Google Shape;1741;p43"/>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41</a:t>
            </a:r>
            <a:endParaRPr b="0" i="0" sz="900" u="none" cap="none" strike="noStrike">
              <a:solidFill>
                <a:schemeClr val="dk1"/>
              </a:solidFill>
              <a:latin typeface="Calibri"/>
              <a:ea typeface="Calibri"/>
              <a:cs typeface="Calibri"/>
              <a:sym typeface="Calibri"/>
            </a:endParaRPr>
          </a:p>
        </p:txBody>
      </p:sp>
      <p:sp>
        <p:nvSpPr>
          <p:cNvPr id="1742" name="Google Shape;1742;p43"/>
          <p:cNvSpPr/>
          <p:nvPr/>
        </p:nvSpPr>
        <p:spPr>
          <a:xfrm>
            <a:off x="566928" y="1371600"/>
            <a:ext cx="5349240" cy="4059936"/>
          </a:xfrm>
          <a:prstGeom prst="roundRect">
            <a:avLst>
              <a:gd fmla="val 2027" name="adj"/>
            </a:avLst>
          </a:prstGeom>
          <a:solidFill>
            <a:srgbClr val="FFFFFF"/>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3"/>
          <p:cNvSpPr/>
          <p:nvPr/>
        </p:nvSpPr>
        <p:spPr>
          <a:xfrm>
            <a:off x="566928" y="1371600"/>
            <a:ext cx="5349240" cy="603504"/>
          </a:xfrm>
          <a:prstGeom prst="roundRect">
            <a:avLst>
              <a:gd fmla="val 13636"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43"/>
          <p:cNvSpPr/>
          <p:nvPr/>
        </p:nvSpPr>
        <p:spPr>
          <a:xfrm>
            <a:off x="822960" y="1371600"/>
            <a:ext cx="484632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700"/>
              <a:buFont typeface="Cambria"/>
              <a:buNone/>
            </a:pPr>
            <a:r>
              <a:rPr b="1" i="0" lang="en-US" sz="1700" u="none" cap="none" strike="noStrike">
                <a:solidFill>
                  <a:srgbClr val="0C6B7D"/>
                </a:solidFill>
                <a:latin typeface="Cambria"/>
                <a:ea typeface="Cambria"/>
                <a:cs typeface="Cambria"/>
                <a:sym typeface="Cambria"/>
              </a:rPr>
              <a:t>Self-host the open-source stack</a:t>
            </a:r>
            <a:endParaRPr b="0" i="0" sz="1700" u="none" cap="none" strike="noStrike">
              <a:solidFill>
                <a:schemeClr val="dk1"/>
              </a:solidFill>
              <a:latin typeface="Calibri"/>
              <a:ea typeface="Calibri"/>
              <a:cs typeface="Calibri"/>
              <a:sym typeface="Calibri"/>
            </a:endParaRPr>
          </a:p>
        </p:txBody>
      </p:sp>
      <p:sp>
        <p:nvSpPr>
          <p:cNvPr id="1745" name="Google Shape;1745;p43"/>
          <p:cNvSpPr/>
          <p:nvPr/>
        </p:nvSpPr>
        <p:spPr>
          <a:xfrm>
            <a:off x="822960" y="2066544"/>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900"/>
              <a:buFont typeface="Calibri"/>
              <a:buNone/>
            </a:pPr>
            <a:r>
              <a:rPr b="1" i="0" lang="en-US" sz="900" u="none" cap="none" strike="noStrike">
                <a:solidFill>
                  <a:srgbClr val="1B7048"/>
                </a:solidFill>
                <a:latin typeface="Calibri"/>
                <a:ea typeface="Calibri"/>
                <a:cs typeface="Calibri"/>
                <a:sym typeface="Calibri"/>
              </a:rPr>
              <a:t>✓  CHOOSE IT WHEN</a:t>
            </a:r>
            <a:endParaRPr b="0" i="0" sz="900" u="none" cap="none" strike="noStrike">
              <a:solidFill>
                <a:schemeClr val="dk1"/>
              </a:solidFill>
              <a:latin typeface="Calibri"/>
              <a:ea typeface="Calibri"/>
              <a:cs typeface="Calibri"/>
              <a:sym typeface="Calibri"/>
            </a:endParaRPr>
          </a:p>
        </p:txBody>
      </p:sp>
      <p:sp>
        <p:nvSpPr>
          <p:cNvPr id="1746" name="Google Shape;1746;p43"/>
          <p:cNvSpPr/>
          <p:nvPr/>
        </p:nvSpPr>
        <p:spPr>
          <a:xfrm>
            <a:off x="822960" y="2340864"/>
            <a:ext cx="4846320" cy="137160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You have a platform team, or you are trying to build one</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Data cannot leave your network for legal or regulatory reasons</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Telemetry volume is large enough that SaaS pricing is genuinely painful</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You want the skills in-house, on purpose</a:t>
            </a:r>
            <a:endParaRPr b="0" i="0" sz="1100" u="none" cap="none" strike="noStrike">
              <a:solidFill>
                <a:schemeClr val="dk1"/>
              </a:solidFill>
              <a:latin typeface="Calibri"/>
              <a:ea typeface="Calibri"/>
              <a:cs typeface="Calibri"/>
              <a:sym typeface="Calibri"/>
            </a:endParaRPr>
          </a:p>
        </p:txBody>
      </p:sp>
      <p:sp>
        <p:nvSpPr>
          <p:cNvPr id="1747" name="Google Shape;1747;p43"/>
          <p:cNvSpPr/>
          <p:nvPr/>
        </p:nvSpPr>
        <p:spPr>
          <a:xfrm>
            <a:off x="822960" y="3822192"/>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900"/>
              <a:buFont typeface="Calibri"/>
              <a:buNone/>
            </a:pPr>
            <a:r>
              <a:rPr b="1" i="0" lang="en-US" sz="900" u="none" cap="none" strike="noStrike">
                <a:solidFill>
                  <a:srgbClr val="AC2740"/>
                </a:solidFill>
                <a:latin typeface="Calibri"/>
                <a:ea typeface="Calibri"/>
                <a:cs typeface="Calibri"/>
                <a:sym typeface="Calibri"/>
              </a:rPr>
              <a:t>✗  WHAT IT COSTS YOU</a:t>
            </a:r>
            <a:endParaRPr b="0" i="0" sz="900" u="none" cap="none" strike="noStrike">
              <a:solidFill>
                <a:schemeClr val="dk1"/>
              </a:solidFill>
              <a:latin typeface="Calibri"/>
              <a:ea typeface="Calibri"/>
              <a:cs typeface="Calibri"/>
              <a:sym typeface="Calibri"/>
            </a:endParaRPr>
          </a:p>
        </p:txBody>
      </p:sp>
      <p:sp>
        <p:nvSpPr>
          <p:cNvPr id="1748" name="Google Shape;1748;p43"/>
          <p:cNvSpPr/>
          <p:nvPr/>
        </p:nvSpPr>
        <p:spPr>
          <a:xfrm>
            <a:off x="822960" y="4096512"/>
            <a:ext cx="4846320" cy="1243584"/>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Nights and weekends now include your monitoring stack</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Storage, retention, upgrades, scaling and HA are all yours</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The classic failure: the observability stack dies during the outage it was meant to explain</a:t>
            </a:r>
            <a:endParaRPr b="0" i="0" sz="1100" u="none" cap="none" strike="noStrike">
              <a:solidFill>
                <a:schemeClr val="dk1"/>
              </a:solidFill>
              <a:latin typeface="Calibri"/>
              <a:ea typeface="Calibri"/>
              <a:cs typeface="Calibri"/>
              <a:sym typeface="Calibri"/>
            </a:endParaRPr>
          </a:p>
        </p:txBody>
      </p:sp>
      <p:sp>
        <p:nvSpPr>
          <p:cNvPr id="1749" name="Google Shape;1749;p43"/>
          <p:cNvSpPr/>
          <p:nvPr/>
        </p:nvSpPr>
        <p:spPr>
          <a:xfrm>
            <a:off x="6281928" y="1371600"/>
            <a:ext cx="5349240" cy="4059936"/>
          </a:xfrm>
          <a:prstGeom prst="roundRect">
            <a:avLst>
              <a:gd fmla="val 2027" name="adj"/>
            </a:avLst>
          </a:prstGeom>
          <a:solidFill>
            <a:srgbClr val="FFFFFF"/>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43"/>
          <p:cNvSpPr/>
          <p:nvPr/>
        </p:nvSpPr>
        <p:spPr>
          <a:xfrm>
            <a:off x="6281928" y="1371600"/>
            <a:ext cx="5349240" cy="603504"/>
          </a:xfrm>
          <a:prstGeom prst="roundRect">
            <a:avLst>
              <a:gd fmla="val 13636"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43"/>
          <p:cNvSpPr/>
          <p:nvPr/>
        </p:nvSpPr>
        <p:spPr>
          <a:xfrm>
            <a:off x="6537960" y="1371600"/>
            <a:ext cx="484632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700"/>
              <a:buFont typeface="Cambria"/>
              <a:buNone/>
            </a:pPr>
            <a:r>
              <a:rPr b="1" i="0" lang="en-US" sz="1700" u="none" cap="none" strike="noStrike">
                <a:solidFill>
                  <a:srgbClr val="5C3FA6"/>
                </a:solidFill>
                <a:latin typeface="Cambria"/>
                <a:ea typeface="Cambria"/>
                <a:cs typeface="Cambria"/>
                <a:sym typeface="Cambria"/>
              </a:rPr>
              <a:t>Buy a managed platform</a:t>
            </a:r>
            <a:endParaRPr b="0" i="0" sz="1700" u="none" cap="none" strike="noStrike">
              <a:solidFill>
                <a:schemeClr val="dk1"/>
              </a:solidFill>
              <a:latin typeface="Calibri"/>
              <a:ea typeface="Calibri"/>
              <a:cs typeface="Calibri"/>
              <a:sym typeface="Calibri"/>
            </a:endParaRPr>
          </a:p>
        </p:txBody>
      </p:sp>
      <p:sp>
        <p:nvSpPr>
          <p:cNvPr id="1752" name="Google Shape;1752;p43"/>
          <p:cNvSpPr/>
          <p:nvPr/>
        </p:nvSpPr>
        <p:spPr>
          <a:xfrm>
            <a:off x="6537960" y="2066544"/>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048"/>
              </a:buClr>
              <a:buSzPts val="900"/>
              <a:buFont typeface="Calibri"/>
              <a:buNone/>
            </a:pPr>
            <a:r>
              <a:rPr b="1" i="0" lang="en-US" sz="900" u="none" cap="none" strike="noStrike">
                <a:solidFill>
                  <a:srgbClr val="1B7048"/>
                </a:solidFill>
                <a:latin typeface="Calibri"/>
                <a:ea typeface="Calibri"/>
                <a:cs typeface="Calibri"/>
                <a:sym typeface="Calibri"/>
              </a:rPr>
              <a:t>✓  CHOOSE IT WHEN</a:t>
            </a:r>
            <a:endParaRPr b="0" i="0" sz="900" u="none" cap="none" strike="noStrike">
              <a:solidFill>
                <a:schemeClr val="dk1"/>
              </a:solidFill>
              <a:latin typeface="Calibri"/>
              <a:ea typeface="Calibri"/>
              <a:cs typeface="Calibri"/>
              <a:sym typeface="Calibri"/>
            </a:endParaRPr>
          </a:p>
        </p:txBody>
      </p:sp>
      <p:sp>
        <p:nvSpPr>
          <p:cNvPr id="1753" name="Google Shape;1753;p43"/>
          <p:cNvSpPr/>
          <p:nvPr/>
        </p:nvSpPr>
        <p:spPr>
          <a:xfrm>
            <a:off x="6537960" y="2340864"/>
            <a:ext cx="4846320" cy="137160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Small team, and every engineer-hour has an obvious better use</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You need correlation and dashboards working this month, not this quarter</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You want somebody to call at 3am who is not you</a:t>
            </a:r>
            <a:endParaRPr b="0" i="0" sz="1100" u="none" cap="none" strike="noStrike">
              <a:solidFill>
                <a:schemeClr val="dk1"/>
              </a:solidFill>
              <a:latin typeface="Calibri"/>
              <a:ea typeface="Calibri"/>
              <a:cs typeface="Calibri"/>
              <a:sym typeface="Calibri"/>
            </a:endParaRPr>
          </a:p>
        </p:txBody>
      </p:sp>
      <p:sp>
        <p:nvSpPr>
          <p:cNvPr id="1754" name="Google Shape;1754;p43"/>
          <p:cNvSpPr/>
          <p:nvPr/>
        </p:nvSpPr>
        <p:spPr>
          <a:xfrm>
            <a:off x="6537960" y="3822192"/>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C2740"/>
              </a:buClr>
              <a:buSzPts val="900"/>
              <a:buFont typeface="Calibri"/>
              <a:buNone/>
            </a:pPr>
            <a:r>
              <a:rPr b="1" i="0" lang="en-US" sz="900" u="none" cap="none" strike="noStrike">
                <a:solidFill>
                  <a:srgbClr val="AC2740"/>
                </a:solidFill>
                <a:latin typeface="Calibri"/>
                <a:ea typeface="Calibri"/>
                <a:cs typeface="Calibri"/>
                <a:sym typeface="Calibri"/>
              </a:rPr>
              <a:t>✗  WHAT IT COSTS YOU</a:t>
            </a:r>
            <a:endParaRPr b="0" i="0" sz="900" u="none" cap="none" strike="noStrike">
              <a:solidFill>
                <a:schemeClr val="dk1"/>
              </a:solidFill>
              <a:latin typeface="Calibri"/>
              <a:ea typeface="Calibri"/>
              <a:cs typeface="Calibri"/>
              <a:sym typeface="Calibri"/>
            </a:endParaRPr>
          </a:p>
        </p:txBody>
      </p:sp>
      <p:sp>
        <p:nvSpPr>
          <p:cNvPr id="1755" name="Google Shape;1755;p43"/>
          <p:cNvSpPr/>
          <p:nvPr/>
        </p:nvSpPr>
        <p:spPr>
          <a:xfrm>
            <a:off x="6537960" y="4096512"/>
            <a:ext cx="4846320" cy="1243584"/>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The bill scales with your success and it is rarely linear</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Per-host, per-GB and per-custom-metric pricing makes engineering choices into finance choices</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5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Leaving is expensive unless you kept instrumentation vendor-neutral</a:t>
            </a:r>
            <a:endParaRPr b="0" i="0" sz="1100" u="none" cap="none" strike="noStrike">
              <a:solidFill>
                <a:schemeClr val="dk1"/>
              </a:solidFill>
              <a:latin typeface="Calibri"/>
              <a:ea typeface="Calibri"/>
              <a:cs typeface="Calibri"/>
              <a:sym typeface="Calibri"/>
            </a:endParaRPr>
          </a:p>
        </p:txBody>
      </p:sp>
      <p:sp>
        <p:nvSpPr>
          <p:cNvPr id="1756" name="Google Shape;1756;p43"/>
          <p:cNvSpPr/>
          <p:nvPr/>
        </p:nvSpPr>
        <p:spPr>
          <a:xfrm>
            <a:off x="566928" y="5559552"/>
            <a:ext cx="11057839" cy="749808"/>
          </a:xfrm>
          <a:prstGeom prst="roundRect">
            <a:avLst>
              <a:gd fmla="val 10976" name="adj"/>
            </a:avLst>
          </a:prstGeom>
          <a:solidFill>
            <a:srgbClr val="E5F2EB"/>
          </a:solidFill>
          <a:ln cap="flat" cmpd="sng" w="9525">
            <a:solidFill>
              <a:srgbClr val="C0DC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43"/>
          <p:cNvSpPr/>
          <p:nvPr/>
        </p:nvSpPr>
        <p:spPr>
          <a:xfrm>
            <a:off x="786384" y="5797296"/>
            <a:ext cx="274320" cy="274320"/>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43"/>
          <p:cNvSpPr/>
          <p:nvPr/>
        </p:nvSpPr>
        <p:spPr>
          <a:xfrm>
            <a:off x="786384" y="5797296"/>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759" name="Google Shape;1759;p43"/>
          <p:cNvSpPr/>
          <p:nvPr/>
        </p:nvSpPr>
        <p:spPr>
          <a:xfrm>
            <a:off x="1188720" y="5559552"/>
            <a:ext cx="10149840" cy="74980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200"/>
              <a:buFont typeface="Calibri"/>
              <a:buNone/>
            </a:pPr>
            <a:r>
              <a:rPr b="0" i="0" lang="en-US" sz="1200" u="none" cap="none" strike="noStrike">
                <a:solidFill>
                  <a:srgbClr val="16202C"/>
                </a:solidFill>
                <a:latin typeface="Calibri"/>
                <a:ea typeface="Calibri"/>
                <a:cs typeface="Calibri"/>
                <a:sym typeface="Calibri"/>
              </a:rPr>
              <a:t>The answer for almost everyone: buy the backend, own the instrumentation. Emit OpenTelemetry, run your own collector, and let the expensive part be replaceable. Then the vendor decision stops being permanent, and you can make it on price.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4" name="Shape 1764"/>
        <p:cNvGrpSpPr/>
        <p:nvPr/>
      </p:nvGrpSpPr>
      <p:grpSpPr>
        <a:xfrm>
          <a:off x="0" y="0"/>
          <a:ext cx="0" cy="0"/>
          <a:chOff x="0" y="0"/>
          <a:chExt cx="0" cy="0"/>
        </a:xfrm>
      </p:grpSpPr>
      <p:sp>
        <p:nvSpPr>
          <p:cNvPr id="1765" name="Google Shape;1765;p44"/>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050"/>
              <a:buFont typeface="Calibri"/>
              <a:buNone/>
            </a:pPr>
            <a:r>
              <a:rPr b="1" i="0" lang="en-US" sz="1050" u="none" cap="none" strike="noStrike">
                <a:solidFill>
                  <a:srgbClr val="16202C"/>
                </a:solidFill>
                <a:latin typeface="Calibri"/>
                <a:ea typeface="Calibri"/>
                <a:cs typeface="Calibri"/>
                <a:sym typeface="Calibri"/>
              </a:rPr>
              <a:t>STARTING NOW</a:t>
            </a:r>
            <a:endParaRPr b="0" i="0" sz="1050" u="none" cap="none" strike="noStrike">
              <a:solidFill>
                <a:schemeClr val="dk1"/>
              </a:solidFill>
              <a:latin typeface="Calibri"/>
              <a:ea typeface="Calibri"/>
              <a:cs typeface="Calibri"/>
              <a:sym typeface="Calibri"/>
            </a:endParaRPr>
          </a:p>
        </p:txBody>
      </p:sp>
      <p:sp>
        <p:nvSpPr>
          <p:cNvPr id="1766" name="Google Shape;1766;p44"/>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What the next three days actually look like</a:t>
            </a:r>
            <a:endParaRPr b="0" i="0" sz="2900" u="none" cap="none" strike="noStrike">
              <a:solidFill>
                <a:schemeClr val="dk1"/>
              </a:solidFill>
              <a:latin typeface="Calibri"/>
              <a:ea typeface="Calibri"/>
              <a:cs typeface="Calibri"/>
              <a:sym typeface="Calibri"/>
            </a:endParaRPr>
          </a:p>
        </p:txBody>
      </p:sp>
      <p:sp>
        <p:nvSpPr>
          <p:cNvPr id="1767" name="Google Shape;1767;p44"/>
          <p:cNvSpPr/>
          <p:nvPr/>
        </p:nvSpPr>
        <p:spPr>
          <a:xfrm>
            <a:off x="10260482" y="402336"/>
            <a:ext cx="1364285" cy="329184"/>
          </a:xfrm>
          <a:prstGeom prst="roundRect">
            <a:avLst>
              <a:gd fmla="val 50000" name="adj"/>
            </a:avLst>
          </a:prstGeom>
          <a:solidFill>
            <a:srgbClr val="F2F5F8"/>
          </a:solidFill>
          <a:ln cap="flat" cmpd="sng" w="9525">
            <a:solidFill>
              <a:srgbClr val="1620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44"/>
          <p:cNvSpPr/>
          <p:nvPr/>
        </p:nvSpPr>
        <p:spPr>
          <a:xfrm>
            <a:off x="10434218" y="525780"/>
            <a:ext cx="91440" cy="91440"/>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44"/>
          <p:cNvSpPr/>
          <p:nvPr/>
        </p:nvSpPr>
        <p:spPr>
          <a:xfrm>
            <a:off x="10571378" y="402336"/>
            <a:ext cx="961949"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000"/>
              <a:buFont typeface="Calibri"/>
              <a:buNone/>
            </a:pPr>
            <a:r>
              <a:rPr b="1" i="0" lang="en-US" sz="1000" u="none" cap="none" strike="noStrike">
                <a:solidFill>
                  <a:srgbClr val="16202C"/>
                </a:solidFill>
                <a:latin typeface="Calibri"/>
                <a:ea typeface="Calibri"/>
                <a:cs typeface="Calibri"/>
                <a:sym typeface="Calibri"/>
              </a:rPr>
              <a:t>All three</a:t>
            </a:r>
            <a:endParaRPr b="0" i="0" sz="1000" u="none" cap="none" strike="noStrike">
              <a:solidFill>
                <a:schemeClr val="dk1"/>
              </a:solidFill>
              <a:latin typeface="Calibri"/>
              <a:ea typeface="Calibri"/>
              <a:cs typeface="Calibri"/>
              <a:sym typeface="Calibri"/>
            </a:endParaRPr>
          </a:p>
        </p:txBody>
      </p:sp>
      <p:sp>
        <p:nvSpPr>
          <p:cNvPr id="1770" name="Google Shape;1770;p44"/>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771" name="Google Shape;1771;p44"/>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42</a:t>
            </a:r>
            <a:endParaRPr b="0" i="0" sz="900" u="none" cap="none" strike="noStrike">
              <a:solidFill>
                <a:schemeClr val="dk1"/>
              </a:solidFill>
              <a:latin typeface="Calibri"/>
              <a:ea typeface="Calibri"/>
              <a:cs typeface="Calibri"/>
              <a:sym typeface="Calibri"/>
            </a:endParaRPr>
          </a:p>
        </p:txBody>
      </p:sp>
      <p:sp>
        <p:nvSpPr>
          <p:cNvPr id="1772" name="Google Shape;1772;p44"/>
          <p:cNvSpPr/>
          <p:nvPr/>
        </p:nvSpPr>
        <p:spPr>
          <a:xfrm>
            <a:off x="566928" y="1371600"/>
            <a:ext cx="3511296" cy="3383280"/>
          </a:xfrm>
          <a:prstGeom prst="roundRect">
            <a:avLst>
              <a:gd fmla="val 2432" name="adj"/>
            </a:avLst>
          </a:prstGeom>
          <a:solidFill>
            <a:srgbClr val="FFFFFF"/>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44"/>
          <p:cNvSpPr/>
          <p:nvPr/>
        </p:nvSpPr>
        <p:spPr>
          <a:xfrm>
            <a:off x="566928" y="1371600"/>
            <a:ext cx="3511296" cy="731520"/>
          </a:xfrm>
          <a:prstGeom prst="roundRect">
            <a:avLst>
              <a:gd fmla="val 11250" name="adj"/>
            </a:avLst>
          </a:prstGeom>
          <a:solidFill>
            <a:srgbClr val="FAEFE2"/>
          </a:solidFill>
          <a:ln cap="flat" cmpd="sng" w="9525">
            <a:solidFill>
              <a:srgbClr val="EBD5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44"/>
          <p:cNvSpPr/>
          <p:nvPr/>
        </p:nvSpPr>
        <p:spPr>
          <a:xfrm>
            <a:off x="804672" y="1627632"/>
            <a:ext cx="237744" cy="237744"/>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44"/>
          <p:cNvSpPr/>
          <p:nvPr/>
        </p:nvSpPr>
        <p:spPr>
          <a:xfrm>
            <a:off x="1152144" y="1371600"/>
            <a:ext cx="10058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1" i="0" lang="en-US" sz="950" u="none" cap="none" strike="noStrike">
                <a:solidFill>
                  <a:srgbClr val="5C6B7A"/>
                </a:solidFill>
                <a:latin typeface="Calibri"/>
                <a:ea typeface="Calibri"/>
                <a:cs typeface="Calibri"/>
                <a:sym typeface="Calibri"/>
              </a:rPr>
              <a:t>DAY 1</a:t>
            </a:r>
            <a:endParaRPr b="0" i="0" sz="950" u="none" cap="none" strike="noStrike">
              <a:solidFill>
                <a:schemeClr val="dk1"/>
              </a:solidFill>
              <a:latin typeface="Calibri"/>
              <a:ea typeface="Calibri"/>
              <a:cs typeface="Calibri"/>
              <a:sym typeface="Calibri"/>
            </a:endParaRPr>
          </a:p>
        </p:txBody>
      </p:sp>
      <p:sp>
        <p:nvSpPr>
          <p:cNvPr id="1776" name="Google Shape;1776;p44"/>
          <p:cNvSpPr/>
          <p:nvPr/>
        </p:nvSpPr>
        <p:spPr>
          <a:xfrm>
            <a:off x="2029968" y="1371600"/>
            <a:ext cx="1920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6415"/>
              </a:buClr>
              <a:buSzPts val="1900"/>
              <a:buFont typeface="Cambria"/>
              <a:buNone/>
            </a:pPr>
            <a:r>
              <a:rPr b="1" i="0" lang="en-US" sz="1900" u="none" cap="none" strike="noStrike">
                <a:solidFill>
                  <a:srgbClr val="BE6415"/>
                </a:solidFill>
                <a:latin typeface="Cambria"/>
                <a:ea typeface="Cambria"/>
                <a:cs typeface="Cambria"/>
                <a:sym typeface="Cambria"/>
              </a:rPr>
              <a:t>Logs</a:t>
            </a:r>
            <a:endParaRPr b="0" i="0" sz="1900" u="none" cap="none" strike="noStrike">
              <a:solidFill>
                <a:schemeClr val="dk1"/>
              </a:solidFill>
              <a:latin typeface="Calibri"/>
              <a:ea typeface="Calibri"/>
              <a:cs typeface="Calibri"/>
              <a:sym typeface="Calibri"/>
            </a:endParaRPr>
          </a:p>
        </p:txBody>
      </p:sp>
      <p:sp>
        <p:nvSpPr>
          <p:cNvPr id="1777" name="Google Shape;1777;p44"/>
          <p:cNvSpPr/>
          <p:nvPr/>
        </p:nvSpPr>
        <p:spPr>
          <a:xfrm>
            <a:off x="804672" y="2249424"/>
            <a:ext cx="3035808" cy="237744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Debug a failure with nothing but docker logs, and fail</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8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Add structured JSON logging, then labels</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8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Ship with Alloy, store in Loki, query with LogQL</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8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Break it: an unbounded label, and a log line that leaks</a:t>
            </a:r>
            <a:endParaRPr b="0" i="0" sz="1100" u="none" cap="none" strike="noStrike">
              <a:solidFill>
                <a:schemeClr val="dk1"/>
              </a:solidFill>
              <a:latin typeface="Calibri"/>
              <a:ea typeface="Calibri"/>
              <a:cs typeface="Calibri"/>
              <a:sym typeface="Calibri"/>
            </a:endParaRPr>
          </a:p>
        </p:txBody>
      </p:sp>
      <p:sp>
        <p:nvSpPr>
          <p:cNvPr id="1778" name="Google Shape;1778;p44"/>
          <p:cNvSpPr/>
          <p:nvPr/>
        </p:nvSpPr>
        <p:spPr>
          <a:xfrm>
            <a:off x="4306824" y="1371600"/>
            <a:ext cx="3511296" cy="3383280"/>
          </a:xfrm>
          <a:prstGeom prst="roundRect">
            <a:avLst>
              <a:gd fmla="val 2432" name="adj"/>
            </a:avLst>
          </a:prstGeom>
          <a:solidFill>
            <a:srgbClr val="FFFFFF"/>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44"/>
          <p:cNvSpPr/>
          <p:nvPr/>
        </p:nvSpPr>
        <p:spPr>
          <a:xfrm>
            <a:off x="4306824" y="1371600"/>
            <a:ext cx="3511296" cy="731520"/>
          </a:xfrm>
          <a:prstGeom prst="roundRect">
            <a:avLst>
              <a:gd fmla="val 11250" name="adj"/>
            </a:avLst>
          </a:prstGeom>
          <a:solidFill>
            <a:srgbClr val="E2F0F3"/>
          </a:solidFill>
          <a:ln cap="flat" cmpd="sng" w="9525">
            <a:solidFill>
              <a:srgbClr val="BCD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44"/>
          <p:cNvSpPr/>
          <p:nvPr/>
        </p:nvSpPr>
        <p:spPr>
          <a:xfrm>
            <a:off x="4544568" y="1627632"/>
            <a:ext cx="237744" cy="237744"/>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44"/>
          <p:cNvSpPr/>
          <p:nvPr/>
        </p:nvSpPr>
        <p:spPr>
          <a:xfrm>
            <a:off x="4892040" y="1371600"/>
            <a:ext cx="10058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1" i="0" lang="en-US" sz="950" u="none" cap="none" strike="noStrike">
                <a:solidFill>
                  <a:srgbClr val="5C6B7A"/>
                </a:solidFill>
                <a:latin typeface="Calibri"/>
                <a:ea typeface="Calibri"/>
                <a:cs typeface="Calibri"/>
                <a:sym typeface="Calibri"/>
              </a:rPr>
              <a:t>DAY 2</a:t>
            </a:r>
            <a:endParaRPr b="0" i="0" sz="950" u="none" cap="none" strike="noStrike">
              <a:solidFill>
                <a:schemeClr val="dk1"/>
              </a:solidFill>
              <a:latin typeface="Calibri"/>
              <a:ea typeface="Calibri"/>
              <a:cs typeface="Calibri"/>
              <a:sym typeface="Calibri"/>
            </a:endParaRPr>
          </a:p>
        </p:txBody>
      </p:sp>
      <p:sp>
        <p:nvSpPr>
          <p:cNvPr id="1782" name="Google Shape;1782;p44"/>
          <p:cNvSpPr/>
          <p:nvPr/>
        </p:nvSpPr>
        <p:spPr>
          <a:xfrm>
            <a:off x="5769864" y="1371600"/>
            <a:ext cx="1920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6B7D"/>
              </a:buClr>
              <a:buSzPts val="1900"/>
              <a:buFont typeface="Cambria"/>
              <a:buNone/>
            </a:pPr>
            <a:r>
              <a:rPr b="1" i="0" lang="en-US" sz="1900" u="none" cap="none" strike="noStrike">
                <a:solidFill>
                  <a:srgbClr val="0C6B7D"/>
                </a:solidFill>
                <a:latin typeface="Cambria"/>
                <a:ea typeface="Cambria"/>
                <a:cs typeface="Cambria"/>
                <a:sym typeface="Cambria"/>
              </a:rPr>
              <a:t>Metrics</a:t>
            </a:r>
            <a:endParaRPr b="0" i="0" sz="1900" u="none" cap="none" strike="noStrike">
              <a:solidFill>
                <a:schemeClr val="dk1"/>
              </a:solidFill>
              <a:latin typeface="Calibri"/>
              <a:ea typeface="Calibri"/>
              <a:cs typeface="Calibri"/>
              <a:sym typeface="Calibri"/>
            </a:endParaRPr>
          </a:p>
        </p:txBody>
      </p:sp>
      <p:sp>
        <p:nvSpPr>
          <p:cNvPr id="1783" name="Google Shape;1783;p44"/>
          <p:cNvSpPr/>
          <p:nvPr/>
        </p:nvSpPr>
        <p:spPr>
          <a:xfrm>
            <a:off x="4544568" y="2249424"/>
            <a:ext cx="3035808" cy="237744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Expose /metrics and read what the client already gives you</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8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Counters, gauges and histograms on the same request path</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8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Build a RED dashboard from scratch in PromQL</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8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Break it: rate() a gauge, then detonate the cardinality</a:t>
            </a:r>
            <a:endParaRPr b="0" i="0" sz="1100" u="none" cap="none" strike="noStrike">
              <a:solidFill>
                <a:schemeClr val="dk1"/>
              </a:solidFill>
              <a:latin typeface="Calibri"/>
              <a:ea typeface="Calibri"/>
              <a:cs typeface="Calibri"/>
              <a:sym typeface="Calibri"/>
            </a:endParaRPr>
          </a:p>
        </p:txBody>
      </p:sp>
      <p:sp>
        <p:nvSpPr>
          <p:cNvPr id="1784" name="Google Shape;1784;p44"/>
          <p:cNvSpPr/>
          <p:nvPr/>
        </p:nvSpPr>
        <p:spPr>
          <a:xfrm>
            <a:off x="8046720" y="1371600"/>
            <a:ext cx="3511296" cy="3383280"/>
          </a:xfrm>
          <a:prstGeom prst="roundRect">
            <a:avLst>
              <a:gd fmla="val 2432" name="adj"/>
            </a:avLst>
          </a:prstGeom>
          <a:solidFill>
            <a:srgbClr val="FFFFFF"/>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44"/>
          <p:cNvSpPr/>
          <p:nvPr/>
        </p:nvSpPr>
        <p:spPr>
          <a:xfrm>
            <a:off x="8046720" y="1371600"/>
            <a:ext cx="3511296" cy="731520"/>
          </a:xfrm>
          <a:prstGeom prst="roundRect">
            <a:avLst>
              <a:gd fmla="val 11250" name="adj"/>
            </a:avLst>
          </a:prstGeom>
          <a:solidFill>
            <a:srgbClr val="EDE8F8"/>
          </a:solidFill>
          <a:ln cap="flat" cmpd="sng" w="9525">
            <a:solidFill>
              <a:srgbClr val="D2C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44"/>
          <p:cNvSpPr/>
          <p:nvPr/>
        </p:nvSpPr>
        <p:spPr>
          <a:xfrm>
            <a:off x="8284464" y="1627632"/>
            <a:ext cx="237744" cy="237744"/>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44"/>
          <p:cNvSpPr/>
          <p:nvPr/>
        </p:nvSpPr>
        <p:spPr>
          <a:xfrm>
            <a:off x="8631936" y="1371600"/>
            <a:ext cx="10058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B7A"/>
              </a:buClr>
              <a:buSzPts val="950"/>
              <a:buFont typeface="Calibri"/>
              <a:buNone/>
            </a:pPr>
            <a:r>
              <a:rPr b="1" i="0" lang="en-US" sz="950" u="none" cap="none" strike="noStrike">
                <a:solidFill>
                  <a:srgbClr val="5C6B7A"/>
                </a:solidFill>
                <a:latin typeface="Calibri"/>
                <a:ea typeface="Calibri"/>
                <a:cs typeface="Calibri"/>
                <a:sym typeface="Calibri"/>
              </a:rPr>
              <a:t>DAY 3</a:t>
            </a:r>
            <a:endParaRPr b="0" i="0" sz="950" u="none" cap="none" strike="noStrike">
              <a:solidFill>
                <a:schemeClr val="dk1"/>
              </a:solidFill>
              <a:latin typeface="Calibri"/>
              <a:ea typeface="Calibri"/>
              <a:cs typeface="Calibri"/>
              <a:sym typeface="Calibri"/>
            </a:endParaRPr>
          </a:p>
        </p:txBody>
      </p:sp>
      <p:sp>
        <p:nvSpPr>
          <p:cNvPr id="1788" name="Google Shape;1788;p44"/>
          <p:cNvSpPr/>
          <p:nvPr/>
        </p:nvSpPr>
        <p:spPr>
          <a:xfrm>
            <a:off x="9509760" y="1371600"/>
            <a:ext cx="1920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3FA6"/>
              </a:buClr>
              <a:buSzPts val="1900"/>
              <a:buFont typeface="Cambria"/>
              <a:buNone/>
            </a:pPr>
            <a:r>
              <a:rPr b="1" i="0" lang="en-US" sz="1900" u="none" cap="none" strike="noStrike">
                <a:solidFill>
                  <a:srgbClr val="5C3FA6"/>
                </a:solidFill>
                <a:latin typeface="Cambria"/>
                <a:ea typeface="Cambria"/>
                <a:cs typeface="Cambria"/>
                <a:sym typeface="Cambria"/>
              </a:rPr>
              <a:t>Traces</a:t>
            </a:r>
            <a:endParaRPr b="0" i="0" sz="1900" u="none" cap="none" strike="noStrike">
              <a:solidFill>
                <a:schemeClr val="dk1"/>
              </a:solidFill>
              <a:latin typeface="Calibri"/>
              <a:ea typeface="Calibri"/>
              <a:cs typeface="Calibri"/>
              <a:sym typeface="Calibri"/>
            </a:endParaRPr>
          </a:p>
        </p:txBody>
      </p:sp>
      <p:sp>
        <p:nvSpPr>
          <p:cNvPr id="1789" name="Google Shape;1789;p44"/>
          <p:cNvSpPr/>
          <p:nvPr/>
        </p:nvSpPr>
        <p:spPr>
          <a:xfrm>
            <a:off x="8284464" y="2249424"/>
            <a:ext cx="3035808" cy="2377440"/>
          </a:xfrm>
          <a:prstGeom prst="rect">
            <a:avLst/>
          </a:prstGeom>
          <a:noFill/>
          <a:ln>
            <a:noFill/>
          </a:ln>
        </p:spPr>
        <p:txBody>
          <a:bodyPr anchorCtr="0" anchor="t" bIns="0" lIns="0" spcFirstLastPara="1" rIns="0" wrap="square" tIns="0">
            <a:noAutofit/>
          </a:bodyPr>
          <a:lstStyle/>
          <a:p>
            <a:pPr indent="-342900" lvl="0" marL="342900" marR="0" rtl="0" algn="l">
              <a:lnSpc>
                <a:spcPct val="105000"/>
              </a:lnSpc>
              <a:spcBef>
                <a:spcPts val="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Turn on OTel auto-instrumentation and watch traces appear</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8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Read waterfalls in Jaeger and find the slow hop</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8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Add manual spans and attributes where they matter</a:t>
            </a:r>
            <a:endParaRPr b="0" i="0" sz="1100" u="none" cap="none" strike="noStrike">
              <a:solidFill>
                <a:schemeClr val="dk1"/>
              </a:solidFill>
              <a:latin typeface="Calibri"/>
              <a:ea typeface="Calibri"/>
              <a:cs typeface="Calibri"/>
              <a:sym typeface="Calibri"/>
            </a:endParaRPr>
          </a:p>
          <a:p>
            <a:pPr indent="-342900" lvl="0" marL="342900" marR="0" rtl="0" algn="l">
              <a:lnSpc>
                <a:spcPct val="105000"/>
              </a:lnSpc>
              <a:spcBef>
                <a:spcPts val="800"/>
              </a:spcBef>
              <a:spcAft>
                <a:spcPts val="0"/>
              </a:spcAft>
              <a:buClr>
                <a:srgbClr val="16202C"/>
              </a:buClr>
              <a:buSzPts val="1100"/>
              <a:buFont typeface="Calibri"/>
              <a:buChar char="•"/>
            </a:pPr>
            <a:r>
              <a:rPr b="0" i="0" lang="en-US" sz="1100" u="none" cap="none" strike="noStrike">
                <a:solidFill>
                  <a:srgbClr val="16202C"/>
                </a:solidFill>
                <a:latin typeface="Calibri"/>
                <a:ea typeface="Calibri"/>
                <a:cs typeface="Calibri"/>
                <a:sym typeface="Calibri"/>
              </a:rPr>
              <a:t>Break the propagation chain, then join logs to traces</a:t>
            </a:r>
            <a:endParaRPr b="0" i="0" sz="1100" u="none" cap="none" strike="noStrike">
              <a:solidFill>
                <a:schemeClr val="dk1"/>
              </a:solidFill>
              <a:latin typeface="Calibri"/>
              <a:ea typeface="Calibri"/>
              <a:cs typeface="Calibri"/>
              <a:sym typeface="Calibri"/>
            </a:endParaRPr>
          </a:p>
        </p:txBody>
      </p:sp>
      <p:sp>
        <p:nvSpPr>
          <p:cNvPr id="1790" name="Google Shape;1790;p44"/>
          <p:cNvSpPr/>
          <p:nvPr/>
        </p:nvSpPr>
        <p:spPr>
          <a:xfrm>
            <a:off x="566928" y="4937760"/>
            <a:ext cx="11057839" cy="1371600"/>
          </a:xfrm>
          <a:prstGeom prst="roundRect">
            <a:avLst>
              <a:gd fmla="val 6000"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44"/>
          <p:cNvSpPr/>
          <p:nvPr/>
        </p:nvSpPr>
        <p:spPr>
          <a:xfrm>
            <a:off x="822960" y="5065776"/>
            <a:ext cx="3657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950"/>
              <a:buFont typeface="Calibri"/>
              <a:buNone/>
            </a:pPr>
            <a:r>
              <a:rPr b="1" i="0" lang="en-US" sz="950" u="none" cap="none" strike="noStrike">
                <a:solidFill>
                  <a:srgbClr val="16202C"/>
                </a:solidFill>
                <a:latin typeface="Calibri"/>
                <a:ea typeface="Calibri"/>
                <a:cs typeface="Calibri"/>
                <a:sym typeface="Calibri"/>
              </a:rPr>
              <a:t>HOW EACH DAY RUNS</a:t>
            </a:r>
            <a:endParaRPr b="0" i="0" sz="950" u="none" cap="none" strike="noStrike">
              <a:solidFill>
                <a:schemeClr val="dk1"/>
              </a:solidFill>
              <a:latin typeface="Calibri"/>
              <a:ea typeface="Calibri"/>
              <a:cs typeface="Calibri"/>
              <a:sym typeface="Calibri"/>
            </a:endParaRPr>
          </a:p>
        </p:txBody>
      </p:sp>
      <p:sp>
        <p:nvSpPr>
          <p:cNvPr id="1792" name="Google Shape;1792;p44"/>
          <p:cNvSpPr/>
          <p:nvPr/>
        </p:nvSpPr>
        <p:spPr>
          <a:xfrm>
            <a:off x="822960" y="5358384"/>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200"/>
              <a:buFont typeface="Calibri"/>
              <a:buNone/>
            </a:pPr>
            <a:r>
              <a:rPr b="1" i="0" lang="en-US" sz="1200" u="none" cap="none" strike="noStrike">
                <a:solidFill>
                  <a:srgbClr val="16202C"/>
                </a:solidFill>
                <a:latin typeface="Calibri"/>
                <a:ea typeface="Calibri"/>
                <a:cs typeface="Calibri"/>
                <a:sym typeface="Calibri"/>
              </a:rPr>
              <a:t>Problem first</a:t>
            </a:r>
            <a:endParaRPr b="0" i="0" sz="1200" u="none" cap="none" strike="noStrike">
              <a:solidFill>
                <a:schemeClr val="dk1"/>
              </a:solidFill>
              <a:latin typeface="Calibri"/>
              <a:ea typeface="Calibri"/>
              <a:cs typeface="Calibri"/>
              <a:sym typeface="Calibri"/>
            </a:endParaRPr>
          </a:p>
        </p:txBody>
      </p:sp>
      <p:sp>
        <p:nvSpPr>
          <p:cNvPr id="1793" name="Google Shape;1793;p44"/>
          <p:cNvSpPr/>
          <p:nvPr/>
        </p:nvSpPr>
        <p:spPr>
          <a:xfrm>
            <a:off x="822960" y="5614416"/>
            <a:ext cx="2468880" cy="62179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You get the broken thing before you get the tool. The tool has to earn its place.</a:t>
            </a:r>
            <a:endParaRPr b="0" i="0" sz="1000" u="none" cap="none" strike="noStrike">
              <a:solidFill>
                <a:schemeClr val="dk1"/>
              </a:solidFill>
              <a:latin typeface="Calibri"/>
              <a:ea typeface="Calibri"/>
              <a:cs typeface="Calibri"/>
              <a:sym typeface="Calibri"/>
            </a:endParaRPr>
          </a:p>
        </p:txBody>
      </p:sp>
      <p:sp>
        <p:nvSpPr>
          <p:cNvPr id="1794" name="Google Shape;1794;p44"/>
          <p:cNvSpPr/>
          <p:nvPr/>
        </p:nvSpPr>
        <p:spPr>
          <a:xfrm>
            <a:off x="3511296" y="5358384"/>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200"/>
              <a:buFont typeface="Calibri"/>
              <a:buNone/>
            </a:pPr>
            <a:r>
              <a:rPr b="1" i="0" lang="en-US" sz="1200" u="none" cap="none" strike="noStrike">
                <a:solidFill>
                  <a:srgbClr val="16202C"/>
                </a:solidFill>
                <a:latin typeface="Calibri"/>
                <a:ea typeface="Calibri"/>
                <a:cs typeface="Calibri"/>
                <a:sym typeface="Calibri"/>
              </a:rPr>
              <a:t>Guided lab</a:t>
            </a:r>
            <a:endParaRPr b="0" i="0" sz="1200" u="none" cap="none" strike="noStrike">
              <a:solidFill>
                <a:schemeClr val="dk1"/>
              </a:solidFill>
              <a:latin typeface="Calibri"/>
              <a:ea typeface="Calibri"/>
              <a:cs typeface="Calibri"/>
              <a:sym typeface="Calibri"/>
            </a:endParaRPr>
          </a:p>
        </p:txBody>
      </p:sp>
      <p:sp>
        <p:nvSpPr>
          <p:cNvPr id="1795" name="Google Shape;1795;p44"/>
          <p:cNvSpPr/>
          <p:nvPr/>
        </p:nvSpPr>
        <p:spPr>
          <a:xfrm>
            <a:off x="3511296" y="5614416"/>
            <a:ext cx="2468880" cy="62179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Everything is provided and commented. You are reading and running, not typing YAML from memory.</a:t>
            </a:r>
            <a:endParaRPr b="0" i="0" sz="1000" u="none" cap="none" strike="noStrike">
              <a:solidFill>
                <a:schemeClr val="dk1"/>
              </a:solidFill>
              <a:latin typeface="Calibri"/>
              <a:ea typeface="Calibri"/>
              <a:cs typeface="Calibri"/>
              <a:sym typeface="Calibri"/>
            </a:endParaRPr>
          </a:p>
        </p:txBody>
      </p:sp>
      <p:sp>
        <p:nvSpPr>
          <p:cNvPr id="1796" name="Google Shape;1796;p44"/>
          <p:cNvSpPr/>
          <p:nvPr/>
        </p:nvSpPr>
        <p:spPr>
          <a:xfrm>
            <a:off x="6199632" y="5358384"/>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200"/>
              <a:buFont typeface="Calibri"/>
              <a:buNone/>
            </a:pPr>
            <a:r>
              <a:rPr b="1" i="0" lang="en-US" sz="1200" u="none" cap="none" strike="noStrike">
                <a:solidFill>
                  <a:srgbClr val="16202C"/>
                </a:solidFill>
                <a:latin typeface="Calibri"/>
                <a:ea typeface="Calibri"/>
                <a:cs typeface="Calibri"/>
                <a:sym typeface="Calibri"/>
              </a:rPr>
              <a:t>Break it on purpose</a:t>
            </a:r>
            <a:endParaRPr b="0" i="0" sz="1200" u="none" cap="none" strike="noStrike">
              <a:solidFill>
                <a:schemeClr val="dk1"/>
              </a:solidFill>
              <a:latin typeface="Calibri"/>
              <a:ea typeface="Calibri"/>
              <a:cs typeface="Calibri"/>
              <a:sym typeface="Calibri"/>
            </a:endParaRPr>
          </a:p>
        </p:txBody>
      </p:sp>
      <p:sp>
        <p:nvSpPr>
          <p:cNvPr id="1797" name="Google Shape;1797;p44"/>
          <p:cNvSpPr/>
          <p:nvPr/>
        </p:nvSpPr>
        <p:spPr>
          <a:xfrm>
            <a:off x="6199632" y="5614416"/>
            <a:ext cx="2468880" cy="62179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Every day ends with a deliberate failure, because the failure modes are the actual lesson.</a:t>
            </a:r>
            <a:endParaRPr b="0" i="0" sz="1000" u="none" cap="none" strike="noStrike">
              <a:solidFill>
                <a:schemeClr val="dk1"/>
              </a:solidFill>
              <a:latin typeface="Calibri"/>
              <a:ea typeface="Calibri"/>
              <a:cs typeface="Calibri"/>
              <a:sym typeface="Calibri"/>
            </a:endParaRPr>
          </a:p>
        </p:txBody>
      </p:sp>
      <p:sp>
        <p:nvSpPr>
          <p:cNvPr id="1798" name="Google Shape;1798;p44"/>
          <p:cNvSpPr/>
          <p:nvPr/>
        </p:nvSpPr>
        <p:spPr>
          <a:xfrm>
            <a:off x="8887968" y="5358384"/>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200"/>
              <a:buFont typeface="Calibri"/>
              <a:buNone/>
            </a:pPr>
            <a:r>
              <a:rPr b="1" i="0" lang="en-US" sz="1200" u="none" cap="none" strike="noStrike">
                <a:solidFill>
                  <a:srgbClr val="16202C"/>
                </a:solidFill>
                <a:latin typeface="Calibri"/>
                <a:ea typeface="Calibri"/>
                <a:cs typeface="Calibri"/>
                <a:sym typeface="Calibri"/>
              </a:rPr>
              <a:t>What we skipped</a:t>
            </a:r>
            <a:endParaRPr b="0" i="0" sz="1200" u="none" cap="none" strike="noStrike">
              <a:solidFill>
                <a:schemeClr val="dk1"/>
              </a:solidFill>
              <a:latin typeface="Calibri"/>
              <a:ea typeface="Calibri"/>
              <a:cs typeface="Calibri"/>
              <a:sym typeface="Calibri"/>
            </a:endParaRPr>
          </a:p>
        </p:txBody>
      </p:sp>
      <p:sp>
        <p:nvSpPr>
          <p:cNvPr id="1799" name="Google Shape;1799;p44"/>
          <p:cNvSpPr/>
          <p:nvPr/>
        </p:nvSpPr>
        <p:spPr>
          <a:xfrm>
            <a:off x="8887968" y="5614416"/>
            <a:ext cx="2468880" cy="621792"/>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00"/>
              <a:buFont typeface="Calibri"/>
              <a:buNone/>
            </a:pPr>
            <a:r>
              <a:rPr b="0" i="0" lang="en-US" sz="1000" u="none" cap="none" strike="noStrike">
                <a:solidFill>
                  <a:srgbClr val="5C6B7A"/>
                </a:solidFill>
                <a:latin typeface="Calibri"/>
                <a:ea typeface="Calibri"/>
                <a:cs typeface="Calibri"/>
                <a:sym typeface="Calibri"/>
              </a:rPr>
              <a:t>Each day closes with an honest list of what a real deployment needs and we left out.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4" name="Shape 1804"/>
        <p:cNvGrpSpPr/>
        <p:nvPr/>
      </p:nvGrpSpPr>
      <p:grpSpPr>
        <a:xfrm>
          <a:off x="0" y="0"/>
          <a:ext cx="0" cy="0"/>
          <a:chOff x="0" y="0"/>
          <a:chExt cx="0" cy="0"/>
        </a:xfrm>
      </p:grpSpPr>
      <p:sp>
        <p:nvSpPr>
          <p:cNvPr id="1805" name="Google Shape;1805;p45"/>
          <p:cNvSpPr/>
          <p:nvPr/>
        </p:nvSpPr>
        <p:spPr>
          <a:xfrm>
            <a:off x="566928" y="384048"/>
            <a:ext cx="813175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050"/>
              <a:buFont typeface="Calibri"/>
              <a:buNone/>
            </a:pPr>
            <a:r>
              <a:rPr b="1" i="0" lang="en-US" sz="1050" u="none" cap="none" strike="noStrike">
                <a:solidFill>
                  <a:srgbClr val="16202C"/>
                </a:solidFill>
                <a:latin typeface="Calibri"/>
                <a:ea typeface="Calibri"/>
                <a:cs typeface="Calibri"/>
                <a:sym typeface="Calibri"/>
              </a:rPr>
              <a:t>TAKE THIS TO WORK</a:t>
            </a:r>
            <a:endParaRPr b="0" i="0" sz="1050" u="none" cap="none" strike="noStrike">
              <a:solidFill>
                <a:schemeClr val="dk1"/>
              </a:solidFill>
              <a:latin typeface="Calibri"/>
              <a:ea typeface="Calibri"/>
              <a:cs typeface="Calibri"/>
              <a:sym typeface="Calibri"/>
            </a:endParaRPr>
          </a:p>
        </p:txBody>
      </p:sp>
      <p:sp>
        <p:nvSpPr>
          <p:cNvPr id="1806" name="Google Shape;1806;p45"/>
          <p:cNvSpPr/>
          <p:nvPr/>
        </p:nvSpPr>
        <p:spPr>
          <a:xfrm>
            <a:off x="566928" y="640080"/>
            <a:ext cx="8406079"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2900"/>
              <a:buFont typeface="Cambria"/>
              <a:buNone/>
            </a:pPr>
            <a:r>
              <a:rPr b="1" i="0" lang="en-US" sz="2900" u="none" cap="none" strike="noStrike">
                <a:solidFill>
                  <a:srgbClr val="16202C"/>
                </a:solidFill>
                <a:latin typeface="Cambria"/>
                <a:ea typeface="Cambria"/>
                <a:cs typeface="Cambria"/>
                <a:sym typeface="Cambria"/>
              </a:rPr>
              <a:t>Twelve rules that survive any tool change</a:t>
            </a:r>
            <a:endParaRPr b="0" i="0" sz="2900" u="none" cap="none" strike="noStrike">
              <a:solidFill>
                <a:schemeClr val="dk1"/>
              </a:solidFill>
              <a:latin typeface="Calibri"/>
              <a:ea typeface="Calibri"/>
              <a:cs typeface="Calibri"/>
              <a:sym typeface="Calibri"/>
            </a:endParaRPr>
          </a:p>
        </p:txBody>
      </p:sp>
      <p:sp>
        <p:nvSpPr>
          <p:cNvPr id="1807" name="Google Shape;1807;p45"/>
          <p:cNvSpPr/>
          <p:nvPr/>
        </p:nvSpPr>
        <p:spPr>
          <a:xfrm>
            <a:off x="10260482" y="402336"/>
            <a:ext cx="1364285" cy="329184"/>
          </a:xfrm>
          <a:prstGeom prst="roundRect">
            <a:avLst>
              <a:gd fmla="val 50000" name="adj"/>
            </a:avLst>
          </a:prstGeom>
          <a:solidFill>
            <a:srgbClr val="F2F5F8"/>
          </a:solidFill>
          <a:ln cap="flat" cmpd="sng" w="9525">
            <a:solidFill>
              <a:srgbClr val="1620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45"/>
          <p:cNvSpPr/>
          <p:nvPr/>
        </p:nvSpPr>
        <p:spPr>
          <a:xfrm>
            <a:off x="10434218" y="525780"/>
            <a:ext cx="91440" cy="91440"/>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45"/>
          <p:cNvSpPr/>
          <p:nvPr/>
        </p:nvSpPr>
        <p:spPr>
          <a:xfrm>
            <a:off x="10571378" y="402336"/>
            <a:ext cx="961949"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2C"/>
              </a:buClr>
              <a:buSzPts val="1000"/>
              <a:buFont typeface="Calibri"/>
              <a:buNone/>
            </a:pPr>
            <a:r>
              <a:rPr b="1" i="0" lang="en-US" sz="1000" u="none" cap="none" strike="noStrike">
                <a:solidFill>
                  <a:srgbClr val="16202C"/>
                </a:solidFill>
                <a:latin typeface="Calibri"/>
                <a:ea typeface="Calibri"/>
                <a:cs typeface="Calibri"/>
                <a:sym typeface="Calibri"/>
              </a:rPr>
              <a:t>All three</a:t>
            </a:r>
            <a:endParaRPr b="0" i="0" sz="1000" u="none" cap="none" strike="noStrike">
              <a:solidFill>
                <a:schemeClr val="dk1"/>
              </a:solidFill>
              <a:latin typeface="Calibri"/>
              <a:ea typeface="Calibri"/>
              <a:cs typeface="Calibri"/>
              <a:sym typeface="Calibri"/>
            </a:endParaRPr>
          </a:p>
        </p:txBody>
      </p:sp>
      <p:sp>
        <p:nvSpPr>
          <p:cNvPr id="1810" name="Google Shape;1810;p45"/>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811" name="Google Shape;1811;p45"/>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3A2B0"/>
              </a:buClr>
              <a:buSzPts val="900"/>
              <a:buFont typeface="Calibri"/>
              <a:buNone/>
            </a:pPr>
            <a:r>
              <a:rPr b="0" i="0" lang="en-US" sz="900" u="none" cap="none" strike="noStrike">
                <a:solidFill>
                  <a:srgbClr val="93A2B0"/>
                </a:solidFill>
                <a:latin typeface="Calibri"/>
                <a:ea typeface="Calibri"/>
                <a:cs typeface="Calibri"/>
                <a:sym typeface="Calibri"/>
              </a:rPr>
              <a:t>43</a:t>
            </a:r>
            <a:endParaRPr b="0" i="0" sz="900" u="none" cap="none" strike="noStrike">
              <a:solidFill>
                <a:schemeClr val="dk1"/>
              </a:solidFill>
              <a:latin typeface="Calibri"/>
              <a:ea typeface="Calibri"/>
              <a:cs typeface="Calibri"/>
              <a:sym typeface="Calibri"/>
            </a:endParaRPr>
          </a:p>
        </p:txBody>
      </p:sp>
      <p:sp>
        <p:nvSpPr>
          <p:cNvPr id="1812" name="Google Shape;1812;p45"/>
          <p:cNvSpPr/>
          <p:nvPr/>
        </p:nvSpPr>
        <p:spPr>
          <a:xfrm>
            <a:off x="566928" y="1371600"/>
            <a:ext cx="3511296" cy="1042416"/>
          </a:xfrm>
          <a:prstGeom prst="roundRect">
            <a:avLst>
              <a:gd fmla="val 7895"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45"/>
          <p:cNvSpPr/>
          <p:nvPr/>
        </p:nvSpPr>
        <p:spPr>
          <a:xfrm>
            <a:off x="786384" y="1609344"/>
            <a:ext cx="201168" cy="20116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45"/>
          <p:cNvSpPr/>
          <p:nvPr/>
        </p:nvSpPr>
        <p:spPr>
          <a:xfrm>
            <a:off x="1097280" y="1517904"/>
            <a:ext cx="2798064" cy="38404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Log JSON to stdout</a:t>
            </a:r>
            <a:endParaRPr b="0" i="0" sz="1250" u="none" cap="none" strike="noStrike">
              <a:solidFill>
                <a:schemeClr val="dk1"/>
              </a:solidFill>
              <a:latin typeface="Calibri"/>
              <a:ea typeface="Calibri"/>
              <a:cs typeface="Calibri"/>
              <a:sym typeface="Calibri"/>
            </a:endParaRPr>
          </a:p>
        </p:txBody>
      </p:sp>
      <p:sp>
        <p:nvSpPr>
          <p:cNvPr id="1815" name="Google Shape;1815;p45"/>
          <p:cNvSpPr/>
          <p:nvPr/>
        </p:nvSpPr>
        <p:spPr>
          <a:xfrm>
            <a:off x="786384" y="1938528"/>
            <a:ext cx="3108960" cy="38404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Never files, never a vendor SDK in your logger.</a:t>
            </a:r>
            <a:endParaRPr b="0" i="0" sz="1050" u="none" cap="none" strike="noStrike">
              <a:solidFill>
                <a:schemeClr val="dk1"/>
              </a:solidFill>
              <a:latin typeface="Calibri"/>
              <a:ea typeface="Calibri"/>
              <a:cs typeface="Calibri"/>
              <a:sym typeface="Calibri"/>
            </a:endParaRPr>
          </a:p>
        </p:txBody>
      </p:sp>
      <p:sp>
        <p:nvSpPr>
          <p:cNvPr id="1816" name="Google Shape;1816;p45"/>
          <p:cNvSpPr/>
          <p:nvPr/>
        </p:nvSpPr>
        <p:spPr>
          <a:xfrm>
            <a:off x="4306824" y="1371600"/>
            <a:ext cx="3511296" cy="1042416"/>
          </a:xfrm>
          <a:prstGeom prst="roundRect">
            <a:avLst>
              <a:gd fmla="val 7895"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45"/>
          <p:cNvSpPr/>
          <p:nvPr/>
        </p:nvSpPr>
        <p:spPr>
          <a:xfrm>
            <a:off x="4526280" y="1609344"/>
            <a:ext cx="201168" cy="20116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5"/>
          <p:cNvSpPr/>
          <p:nvPr/>
        </p:nvSpPr>
        <p:spPr>
          <a:xfrm>
            <a:off x="4837176" y="1517904"/>
            <a:ext cx="2798064" cy="38404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Log identifiers, not values</a:t>
            </a:r>
            <a:endParaRPr b="0" i="0" sz="1250" u="none" cap="none" strike="noStrike">
              <a:solidFill>
                <a:schemeClr val="dk1"/>
              </a:solidFill>
              <a:latin typeface="Calibri"/>
              <a:ea typeface="Calibri"/>
              <a:cs typeface="Calibri"/>
              <a:sym typeface="Calibri"/>
            </a:endParaRPr>
          </a:p>
        </p:txBody>
      </p:sp>
      <p:sp>
        <p:nvSpPr>
          <p:cNvPr id="1819" name="Google Shape;1819;p45"/>
          <p:cNvSpPr/>
          <p:nvPr/>
        </p:nvSpPr>
        <p:spPr>
          <a:xfrm>
            <a:off x="4526280" y="1938528"/>
            <a:ext cx="3108960" cy="38404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user_id, not email. A log leak is a breach.</a:t>
            </a:r>
            <a:endParaRPr b="0" i="0" sz="1050" u="none" cap="none" strike="noStrike">
              <a:solidFill>
                <a:schemeClr val="dk1"/>
              </a:solidFill>
              <a:latin typeface="Calibri"/>
              <a:ea typeface="Calibri"/>
              <a:cs typeface="Calibri"/>
              <a:sym typeface="Calibri"/>
            </a:endParaRPr>
          </a:p>
        </p:txBody>
      </p:sp>
      <p:sp>
        <p:nvSpPr>
          <p:cNvPr id="1820" name="Google Shape;1820;p45"/>
          <p:cNvSpPr/>
          <p:nvPr/>
        </p:nvSpPr>
        <p:spPr>
          <a:xfrm>
            <a:off x="8046720" y="1371600"/>
            <a:ext cx="3511296" cy="1042416"/>
          </a:xfrm>
          <a:prstGeom prst="roundRect">
            <a:avLst>
              <a:gd fmla="val 7895"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45"/>
          <p:cNvSpPr/>
          <p:nvPr/>
        </p:nvSpPr>
        <p:spPr>
          <a:xfrm>
            <a:off x="8266176" y="1609344"/>
            <a:ext cx="201168" cy="20116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5"/>
          <p:cNvSpPr/>
          <p:nvPr/>
        </p:nvSpPr>
        <p:spPr>
          <a:xfrm>
            <a:off x="8577072" y="1517904"/>
            <a:ext cx="2798064" cy="38404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Put trace_id in every log line</a:t>
            </a:r>
            <a:endParaRPr b="0" i="0" sz="1250" u="none" cap="none" strike="noStrike">
              <a:solidFill>
                <a:schemeClr val="dk1"/>
              </a:solidFill>
              <a:latin typeface="Calibri"/>
              <a:ea typeface="Calibri"/>
              <a:cs typeface="Calibri"/>
              <a:sym typeface="Calibri"/>
            </a:endParaRPr>
          </a:p>
        </p:txBody>
      </p:sp>
      <p:sp>
        <p:nvSpPr>
          <p:cNvPr id="1823" name="Google Shape;1823;p45"/>
          <p:cNvSpPr/>
          <p:nvPr/>
        </p:nvSpPr>
        <p:spPr>
          <a:xfrm>
            <a:off x="8266176" y="1938528"/>
            <a:ext cx="3108960" cy="38404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One field, and your signals join up for free.</a:t>
            </a:r>
            <a:endParaRPr b="0" i="0" sz="1050" u="none" cap="none" strike="noStrike">
              <a:solidFill>
                <a:schemeClr val="dk1"/>
              </a:solidFill>
              <a:latin typeface="Calibri"/>
              <a:ea typeface="Calibri"/>
              <a:cs typeface="Calibri"/>
              <a:sym typeface="Calibri"/>
            </a:endParaRPr>
          </a:p>
        </p:txBody>
      </p:sp>
      <p:sp>
        <p:nvSpPr>
          <p:cNvPr id="1824" name="Google Shape;1824;p45"/>
          <p:cNvSpPr/>
          <p:nvPr/>
        </p:nvSpPr>
        <p:spPr>
          <a:xfrm>
            <a:off x="566928" y="2542032"/>
            <a:ext cx="3511296" cy="1042416"/>
          </a:xfrm>
          <a:prstGeom prst="roundRect">
            <a:avLst>
              <a:gd fmla="val 7895"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45"/>
          <p:cNvSpPr/>
          <p:nvPr/>
        </p:nvSpPr>
        <p:spPr>
          <a:xfrm>
            <a:off x="786384" y="2779776"/>
            <a:ext cx="201168" cy="201168"/>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45"/>
          <p:cNvSpPr/>
          <p:nvPr/>
        </p:nvSpPr>
        <p:spPr>
          <a:xfrm>
            <a:off x="1097280" y="2688336"/>
            <a:ext cx="2798064" cy="38404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Levels are a budget</a:t>
            </a:r>
            <a:endParaRPr b="0" i="0" sz="1250" u="none" cap="none" strike="noStrike">
              <a:solidFill>
                <a:schemeClr val="dk1"/>
              </a:solidFill>
              <a:latin typeface="Calibri"/>
              <a:ea typeface="Calibri"/>
              <a:cs typeface="Calibri"/>
              <a:sym typeface="Calibri"/>
            </a:endParaRPr>
          </a:p>
        </p:txBody>
      </p:sp>
      <p:sp>
        <p:nvSpPr>
          <p:cNvPr id="1827" name="Google Shape;1827;p45"/>
          <p:cNvSpPr/>
          <p:nvPr/>
        </p:nvSpPr>
        <p:spPr>
          <a:xfrm>
            <a:off x="786384" y="3108960"/>
            <a:ext cx="3108960" cy="38404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If everything is ERROR, your error alert is noise.</a:t>
            </a:r>
            <a:endParaRPr b="0" i="0" sz="1050" u="none" cap="none" strike="noStrike">
              <a:solidFill>
                <a:schemeClr val="dk1"/>
              </a:solidFill>
              <a:latin typeface="Calibri"/>
              <a:ea typeface="Calibri"/>
              <a:cs typeface="Calibri"/>
              <a:sym typeface="Calibri"/>
            </a:endParaRPr>
          </a:p>
        </p:txBody>
      </p:sp>
      <p:sp>
        <p:nvSpPr>
          <p:cNvPr id="1828" name="Google Shape;1828;p45"/>
          <p:cNvSpPr/>
          <p:nvPr/>
        </p:nvSpPr>
        <p:spPr>
          <a:xfrm>
            <a:off x="4306824" y="2542032"/>
            <a:ext cx="3511296" cy="1042416"/>
          </a:xfrm>
          <a:prstGeom prst="roundRect">
            <a:avLst>
              <a:gd fmla="val 7895"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45"/>
          <p:cNvSpPr/>
          <p:nvPr/>
        </p:nvSpPr>
        <p:spPr>
          <a:xfrm>
            <a:off x="4526280" y="2779776"/>
            <a:ext cx="201168" cy="20116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45"/>
          <p:cNvSpPr/>
          <p:nvPr/>
        </p:nvSpPr>
        <p:spPr>
          <a:xfrm>
            <a:off x="4837176" y="2688336"/>
            <a:ext cx="2798064" cy="38404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Cardinality is the metric killer</a:t>
            </a:r>
            <a:endParaRPr b="0" i="0" sz="1250" u="none" cap="none" strike="noStrike">
              <a:solidFill>
                <a:schemeClr val="dk1"/>
              </a:solidFill>
              <a:latin typeface="Calibri"/>
              <a:ea typeface="Calibri"/>
              <a:cs typeface="Calibri"/>
              <a:sym typeface="Calibri"/>
            </a:endParaRPr>
          </a:p>
        </p:txBody>
      </p:sp>
      <p:sp>
        <p:nvSpPr>
          <p:cNvPr id="1831" name="Google Shape;1831;p45"/>
          <p:cNvSpPr/>
          <p:nvPr/>
        </p:nvSpPr>
        <p:spPr>
          <a:xfrm>
            <a:off x="4526280" y="3108960"/>
            <a:ext cx="3108960" cy="38404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If you cannot list the values, it is not a label.</a:t>
            </a:r>
            <a:endParaRPr b="0" i="0" sz="1050" u="none" cap="none" strike="noStrike">
              <a:solidFill>
                <a:schemeClr val="dk1"/>
              </a:solidFill>
              <a:latin typeface="Calibri"/>
              <a:ea typeface="Calibri"/>
              <a:cs typeface="Calibri"/>
              <a:sym typeface="Calibri"/>
            </a:endParaRPr>
          </a:p>
        </p:txBody>
      </p:sp>
      <p:sp>
        <p:nvSpPr>
          <p:cNvPr id="1832" name="Google Shape;1832;p45"/>
          <p:cNvSpPr/>
          <p:nvPr/>
        </p:nvSpPr>
        <p:spPr>
          <a:xfrm>
            <a:off x="8046720" y="2542032"/>
            <a:ext cx="3511296" cy="1042416"/>
          </a:xfrm>
          <a:prstGeom prst="roundRect">
            <a:avLst>
              <a:gd fmla="val 7895"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45"/>
          <p:cNvSpPr/>
          <p:nvPr/>
        </p:nvSpPr>
        <p:spPr>
          <a:xfrm>
            <a:off x="8266176" y="2779776"/>
            <a:ext cx="201168" cy="20116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45"/>
          <p:cNvSpPr/>
          <p:nvPr/>
        </p:nvSpPr>
        <p:spPr>
          <a:xfrm>
            <a:off x="8577072" y="2688336"/>
            <a:ext cx="2798064" cy="38404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rate() before sum(), always</a:t>
            </a:r>
            <a:endParaRPr b="0" i="0" sz="1250" u="none" cap="none" strike="noStrike">
              <a:solidFill>
                <a:schemeClr val="dk1"/>
              </a:solidFill>
              <a:latin typeface="Calibri"/>
              <a:ea typeface="Calibri"/>
              <a:cs typeface="Calibri"/>
              <a:sym typeface="Calibri"/>
            </a:endParaRPr>
          </a:p>
        </p:txBody>
      </p:sp>
      <p:sp>
        <p:nvSpPr>
          <p:cNvPr id="1835" name="Google Shape;1835;p45"/>
          <p:cNvSpPr/>
          <p:nvPr/>
        </p:nvSpPr>
        <p:spPr>
          <a:xfrm>
            <a:off x="8266176" y="3108960"/>
            <a:ext cx="3108960" cy="38404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And keep le, or histogram_quantile returns NaN.</a:t>
            </a:r>
            <a:endParaRPr b="0" i="0" sz="1050" u="none" cap="none" strike="noStrike">
              <a:solidFill>
                <a:schemeClr val="dk1"/>
              </a:solidFill>
              <a:latin typeface="Calibri"/>
              <a:ea typeface="Calibri"/>
              <a:cs typeface="Calibri"/>
              <a:sym typeface="Calibri"/>
            </a:endParaRPr>
          </a:p>
        </p:txBody>
      </p:sp>
      <p:sp>
        <p:nvSpPr>
          <p:cNvPr id="1836" name="Google Shape;1836;p45"/>
          <p:cNvSpPr/>
          <p:nvPr/>
        </p:nvSpPr>
        <p:spPr>
          <a:xfrm>
            <a:off x="566928" y="3712464"/>
            <a:ext cx="3511296" cy="1042416"/>
          </a:xfrm>
          <a:prstGeom prst="roundRect">
            <a:avLst>
              <a:gd fmla="val 7895"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45"/>
          <p:cNvSpPr/>
          <p:nvPr/>
        </p:nvSpPr>
        <p:spPr>
          <a:xfrm>
            <a:off x="786384" y="3950208"/>
            <a:ext cx="201168" cy="20116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45"/>
          <p:cNvSpPr/>
          <p:nvPr/>
        </p:nvSpPr>
        <p:spPr>
          <a:xfrm>
            <a:off x="1097280" y="3858768"/>
            <a:ext cx="2798064" cy="38404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Alert on percentiles, not averages</a:t>
            </a:r>
            <a:endParaRPr b="0" i="0" sz="1250" u="none" cap="none" strike="noStrike">
              <a:solidFill>
                <a:schemeClr val="dk1"/>
              </a:solidFill>
              <a:latin typeface="Calibri"/>
              <a:ea typeface="Calibri"/>
              <a:cs typeface="Calibri"/>
              <a:sym typeface="Calibri"/>
            </a:endParaRPr>
          </a:p>
        </p:txBody>
      </p:sp>
      <p:sp>
        <p:nvSpPr>
          <p:cNvPr id="1839" name="Google Shape;1839;p45"/>
          <p:cNvSpPr/>
          <p:nvPr/>
        </p:nvSpPr>
        <p:spPr>
          <a:xfrm>
            <a:off x="786384" y="4279392"/>
            <a:ext cx="3108960" cy="38404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An average stays flat through an outage.</a:t>
            </a:r>
            <a:endParaRPr b="0" i="0" sz="1050" u="none" cap="none" strike="noStrike">
              <a:solidFill>
                <a:schemeClr val="dk1"/>
              </a:solidFill>
              <a:latin typeface="Calibri"/>
              <a:ea typeface="Calibri"/>
              <a:cs typeface="Calibri"/>
              <a:sym typeface="Calibri"/>
            </a:endParaRPr>
          </a:p>
        </p:txBody>
      </p:sp>
      <p:sp>
        <p:nvSpPr>
          <p:cNvPr id="1840" name="Google Shape;1840;p45"/>
          <p:cNvSpPr/>
          <p:nvPr/>
        </p:nvSpPr>
        <p:spPr>
          <a:xfrm>
            <a:off x="4306824" y="3712464"/>
            <a:ext cx="3511296" cy="1042416"/>
          </a:xfrm>
          <a:prstGeom prst="roundRect">
            <a:avLst>
              <a:gd fmla="val 7895"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45"/>
          <p:cNvSpPr/>
          <p:nvPr/>
        </p:nvSpPr>
        <p:spPr>
          <a:xfrm>
            <a:off x="4526280" y="3950208"/>
            <a:ext cx="201168" cy="201168"/>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45"/>
          <p:cNvSpPr/>
          <p:nvPr/>
        </p:nvSpPr>
        <p:spPr>
          <a:xfrm>
            <a:off x="4837176" y="3858768"/>
            <a:ext cx="2798064" cy="38404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Measure the business, not just the box</a:t>
            </a:r>
            <a:endParaRPr b="0" i="0" sz="1250" u="none" cap="none" strike="noStrike">
              <a:solidFill>
                <a:schemeClr val="dk1"/>
              </a:solidFill>
              <a:latin typeface="Calibri"/>
              <a:ea typeface="Calibri"/>
              <a:cs typeface="Calibri"/>
              <a:sym typeface="Calibri"/>
            </a:endParaRPr>
          </a:p>
        </p:txBody>
      </p:sp>
      <p:sp>
        <p:nvSpPr>
          <p:cNvPr id="1843" name="Google Shape;1843;p45"/>
          <p:cNvSpPr/>
          <p:nvPr/>
        </p:nvSpPr>
        <p:spPr>
          <a:xfrm>
            <a:off x="4526280" y="4279392"/>
            <a:ext cx="3108960" cy="38404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orders_total beats any CPU graph.</a:t>
            </a:r>
            <a:endParaRPr b="0" i="0" sz="1050" u="none" cap="none" strike="noStrike">
              <a:solidFill>
                <a:schemeClr val="dk1"/>
              </a:solidFill>
              <a:latin typeface="Calibri"/>
              <a:ea typeface="Calibri"/>
              <a:cs typeface="Calibri"/>
              <a:sym typeface="Calibri"/>
            </a:endParaRPr>
          </a:p>
        </p:txBody>
      </p:sp>
      <p:sp>
        <p:nvSpPr>
          <p:cNvPr id="1844" name="Google Shape;1844;p45"/>
          <p:cNvSpPr/>
          <p:nvPr/>
        </p:nvSpPr>
        <p:spPr>
          <a:xfrm>
            <a:off x="8046720" y="3712464"/>
            <a:ext cx="3511296" cy="1042416"/>
          </a:xfrm>
          <a:prstGeom prst="roundRect">
            <a:avLst>
              <a:gd fmla="val 7895"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45"/>
          <p:cNvSpPr/>
          <p:nvPr/>
        </p:nvSpPr>
        <p:spPr>
          <a:xfrm>
            <a:off x="8266176" y="3950208"/>
            <a:ext cx="201168" cy="201168"/>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45"/>
          <p:cNvSpPr/>
          <p:nvPr/>
        </p:nvSpPr>
        <p:spPr>
          <a:xfrm>
            <a:off x="8577072" y="3858768"/>
            <a:ext cx="2798064" cy="38404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Auto-instrument everywhere first</a:t>
            </a:r>
            <a:endParaRPr b="0" i="0" sz="1250" u="none" cap="none" strike="noStrike">
              <a:solidFill>
                <a:schemeClr val="dk1"/>
              </a:solidFill>
              <a:latin typeface="Calibri"/>
              <a:ea typeface="Calibri"/>
              <a:cs typeface="Calibri"/>
              <a:sym typeface="Calibri"/>
            </a:endParaRPr>
          </a:p>
        </p:txBody>
      </p:sp>
      <p:sp>
        <p:nvSpPr>
          <p:cNvPr id="1847" name="Google Shape;1847;p45"/>
          <p:cNvSpPr/>
          <p:nvPr/>
        </p:nvSpPr>
        <p:spPr>
          <a:xfrm>
            <a:off x="8266176" y="4279392"/>
            <a:ext cx="3108960" cy="38404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A trace is only as good as its worst hop.</a:t>
            </a:r>
            <a:endParaRPr b="0" i="0" sz="1050" u="none" cap="none" strike="noStrike">
              <a:solidFill>
                <a:schemeClr val="dk1"/>
              </a:solidFill>
              <a:latin typeface="Calibri"/>
              <a:ea typeface="Calibri"/>
              <a:cs typeface="Calibri"/>
              <a:sym typeface="Calibri"/>
            </a:endParaRPr>
          </a:p>
        </p:txBody>
      </p:sp>
      <p:sp>
        <p:nvSpPr>
          <p:cNvPr id="1848" name="Google Shape;1848;p45"/>
          <p:cNvSpPr/>
          <p:nvPr/>
        </p:nvSpPr>
        <p:spPr>
          <a:xfrm>
            <a:off x="566928" y="4882896"/>
            <a:ext cx="3511296" cy="1042416"/>
          </a:xfrm>
          <a:prstGeom prst="roundRect">
            <a:avLst>
              <a:gd fmla="val 7895"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45"/>
          <p:cNvSpPr/>
          <p:nvPr/>
        </p:nvSpPr>
        <p:spPr>
          <a:xfrm>
            <a:off x="786384" y="5120640"/>
            <a:ext cx="201168" cy="201168"/>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45"/>
          <p:cNvSpPr/>
          <p:nvPr/>
        </p:nvSpPr>
        <p:spPr>
          <a:xfrm>
            <a:off x="1097280" y="5029200"/>
            <a:ext cx="2798064" cy="38404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Sample traces, count with metrics</a:t>
            </a:r>
            <a:endParaRPr b="0" i="0" sz="1250" u="none" cap="none" strike="noStrike">
              <a:solidFill>
                <a:schemeClr val="dk1"/>
              </a:solidFill>
              <a:latin typeface="Calibri"/>
              <a:ea typeface="Calibri"/>
              <a:cs typeface="Calibri"/>
              <a:sym typeface="Calibri"/>
            </a:endParaRPr>
          </a:p>
        </p:txBody>
      </p:sp>
      <p:sp>
        <p:nvSpPr>
          <p:cNvPr id="1851" name="Google Shape;1851;p45"/>
          <p:cNvSpPr/>
          <p:nvPr/>
        </p:nvSpPr>
        <p:spPr>
          <a:xfrm>
            <a:off x="786384" y="5449824"/>
            <a:ext cx="3108960" cy="38404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Never compute totals from sampled data.</a:t>
            </a:r>
            <a:endParaRPr b="0" i="0" sz="1050" u="none" cap="none" strike="noStrike">
              <a:solidFill>
                <a:schemeClr val="dk1"/>
              </a:solidFill>
              <a:latin typeface="Calibri"/>
              <a:ea typeface="Calibri"/>
              <a:cs typeface="Calibri"/>
              <a:sym typeface="Calibri"/>
            </a:endParaRPr>
          </a:p>
        </p:txBody>
      </p:sp>
      <p:sp>
        <p:nvSpPr>
          <p:cNvPr id="1852" name="Google Shape;1852;p45"/>
          <p:cNvSpPr/>
          <p:nvPr/>
        </p:nvSpPr>
        <p:spPr>
          <a:xfrm>
            <a:off x="4306824" y="4882896"/>
            <a:ext cx="3511296" cy="1042416"/>
          </a:xfrm>
          <a:prstGeom prst="roundRect">
            <a:avLst>
              <a:gd fmla="val 7895"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45"/>
          <p:cNvSpPr/>
          <p:nvPr/>
        </p:nvSpPr>
        <p:spPr>
          <a:xfrm>
            <a:off x="4526280" y="5120640"/>
            <a:ext cx="201168" cy="201168"/>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45"/>
          <p:cNvSpPr/>
          <p:nvPr/>
        </p:nvSpPr>
        <p:spPr>
          <a:xfrm>
            <a:off x="4837176" y="5029200"/>
            <a:ext cx="2798064" cy="38404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One service.name, used everywhere</a:t>
            </a:r>
            <a:endParaRPr b="0" i="0" sz="1250" u="none" cap="none" strike="noStrike">
              <a:solidFill>
                <a:schemeClr val="dk1"/>
              </a:solidFill>
              <a:latin typeface="Calibri"/>
              <a:ea typeface="Calibri"/>
              <a:cs typeface="Calibri"/>
              <a:sym typeface="Calibri"/>
            </a:endParaRPr>
          </a:p>
        </p:txBody>
      </p:sp>
      <p:sp>
        <p:nvSpPr>
          <p:cNvPr id="1855" name="Google Shape;1855;p45"/>
          <p:cNvSpPr/>
          <p:nvPr/>
        </p:nvSpPr>
        <p:spPr>
          <a:xfrm>
            <a:off x="4526280" y="5449824"/>
            <a:ext cx="3108960" cy="38404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Naming discipline is what makes correlation work.</a:t>
            </a:r>
            <a:endParaRPr b="0" i="0" sz="1050" u="none" cap="none" strike="noStrike">
              <a:solidFill>
                <a:schemeClr val="dk1"/>
              </a:solidFill>
              <a:latin typeface="Calibri"/>
              <a:ea typeface="Calibri"/>
              <a:cs typeface="Calibri"/>
              <a:sym typeface="Calibri"/>
            </a:endParaRPr>
          </a:p>
        </p:txBody>
      </p:sp>
      <p:sp>
        <p:nvSpPr>
          <p:cNvPr id="1856" name="Google Shape;1856;p45"/>
          <p:cNvSpPr/>
          <p:nvPr/>
        </p:nvSpPr>
        <p:spPr>
          <a:xfrm>
            <a:off x="8046720" y="4882896"/>
            <a:ext cx="3511296" cy="1042416"/>
          </a:xfrm>
          <a:prstGeom prst="roundRect">
            <a:avLst>
              <a:gd fmla="val 7895" name="adj"/>
            </a:avLst>
          </a:prstGeom>
          <a:solidFill>
            <a:srgbClr val="FFFFFF"/>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45"/>
          <p:cNvSpPr/>
          <p:nvPr/>
        </p:nvSpPr>
        <p:spPr>
          <a:xfrm>
            <a:off x="8266176" y="5120640"/>
            <a:ext cx="201168" cy="201168"/>
          </a:xfrm>
          <a:prstGeom prst="ellipse">
            <a:avLst/>
          </a:prstGeom>
          <a:solidFill>
            <a:srgbClr val="1B70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45"/>
          <p:cNvSpPr/>
          <p:nvPr/>
        </p:nvSpPr>
        <p:spPr>
          <a:xfrm>
            <a:off x="8577072" y="5029200"/>
            <a:ext cx="2798064" cy="384048"/>
          </a:xfrm>
          <a:prstGeom prst="rect">
            <a:avLst/>
          </a:prstGeom>
          <a:noFill/>
          <a:ln>
            <a:noFill/>
          </a:ln>
        </p:spPr>
        <p:txBody>
          <a:bodyPr anchorCtr="0" anchor="ctr" bIns="0" lIns="0" spcFirstLastPara="1" rIns="0" wrap="square" tIns="0">
            <a:noAutofit/>
          </a:bodyPr>
          <a:lstStyle/>
          <a:p>
            <a:pPr indent="0" lvl="0" marL="0" marR="0" rtl="0" algn="l">
              <a:lnSpc>
                <a:spcPct val="95000"/>
              </a:lnSpc>
              <a:spcBef>
                <a:spcPts val="0"/>
              </a:spcBef>
              <a:spcAft>
                <a:spcPts val="0"/>
              </a:spcAft>
              <a:buClr>
                <a:srgbClr val="16202C"/>
              </a:buClr>
              <a:buSzPts val="1250"/>
              <a:buFont typeface="Calibri"/>
              <a:buNone/>
            </a:pPr>
            <a:r>
              <a:rPr b="1" i="0" lang="en-US" sz="1250" u="none" cap="none" strike="noStrike">
                <a:solidFill>
                  <a:srgbClr val="16202C"/>
                </a:solidFill>
                <a:latin typeface="Calibri"/>
                <a:ea typeface="Calibri"/>
                <a:cs typeface="Calibri"/>
                <a:sym typeface="Calibri"/>
              </a:rPr>
              <a:t>Own your instrumentation</a:t>
            </a:r>
            <a:endParaRPr b="0" i="0" sz="1250" u="none" cap="none" strike="noStrike">
              <a:solidFill>
                <a:schemeClr val="dk1"/>
              </a:solidFill>
              <a:latin typeface="Calibri"/>
              <a:ea typeface="Calibri"/>
              <a:cs typeface="Calibri"/>
              <a:sym typeface="Calibri"/>
            </a:endParaRPr>
          </a:p>
        </p:txBody>
      </p:sp>
      <p:sp>
        <p:nvSpPr>
          <p:cNvPr id="1859" name="Google Shape;1859;p45"/>
          <p:cNvSpPr/>
          <p:nvPr/>
        </p:nvSpPr>
        <p:spPr>
          <a:xfrm>
            <a:off x="8266176" y="5449824"/>
            <a:ext cx="3108960" cy="38404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C6B7A"/>
              </a:buClr>
              <a:buSzPts val="1050"/>
              <a:buFont typeface="Calibri"/>
              <a:buNone/>
            </a:pPr>
            <a:r>
              <a:rPr b="0" i="0" lang="en-US" sz="1050" u="none" cap="none" strike="noStrike">
                <a:solidFill>
                  <a:srgbClr val="5C6B7A"/>
                </a:solidFill>
                <a:latin typeface="Calibri"/>
                <a:ea typeface="Calibri"/>
                <a:cs typeface="Calibri"/>
                <a:sym typeface="Calibri"/>
              </a:rPr>
              <a:t>Emit OTLP. Then the backend is a purchasing decision.</a:t>
            </a:r>
            <a:endParaRPr b="0" i="0" sz="1050" u="none" cap="none" strike="noStrike">
              <a:solidFill>
                <a:schemeClr val="dk1"/>
              </a:solidFill>
              <a:latin typeface="Calibri"/>
              <a:ea typeface="Calibri"/>
              <a:cs typeface="Calibri"/>
              <a:sym typeface="Calibri"/>
            </a:endParaRPr>
          </a:p>
        </p:txBody>
      </p:sp>
      <p:sp>
        <p:nvSpPr>
          <p:cNvPr id="1860" name="Google Shape;1860;p45"/>
          <p:cNvSpPr/>
          <p:nvPr/>
        </p:nvSpPr>
        <p:spPr>
          <a:xfrm>
            <a:off x="566928" y="6126480"/>
            <a:ext cx="11057839" cy="457200"/>
          </a:xfrm>
          <a:prstGeom prst="roundRect">
            <a:avLst>
              <a:gd fmla="val 18000" name="adj"/>
            </a:avLst>
          </a:prstGeom>
          <a:solidFill>
            <a:srgbClr val="F2F5F8"/>
          </a:solidFill>
          <a:ln cap="flat" cmpd="sng" w="9525">
            <a:solidFill>
              <a:srgbClr val="DAE2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45"/>
          <p:cNvSpPr/>
          <p:nvPr/>
        </p:nvSpPr>
        <p:spPr>
          <a:xfrm>
            <a:off x="768096" y="6217920"/>
            <a:ext cx="274320" cy="274320"/>
          </a:xfrm>
          <a:prstGeom prst="ellipse">
            <a:avLst/>
          </a:prstGeom>
          <a:solidFill>
            <a:srgbClr val="1620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45"/>
          <p:cNvSpPr/>
          <p:nvPr/>
        </p:nvSpPr>
        <p:spPr>
          <a:xfrm>
            <a:off x="768096" y="6217920"/>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863" name="Google Shape;1863;p45"/>
          <p:cNvSpPr/>
          <p:nvPr/>
        </p:nvSpPr>
        <p:spPr>
          <a:xfrm>
            <a:off x="1170432" y="6126480"/>
            <a:ext cx="10234879"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6202C"/>
              </a:buClr>
              <a:buSzPts val="1150"/>
              <a:buFont typeface="Calibri"/>
              <a:buNone/>
            </a:pPr>
            <a:r>
              <a:rPr b="0" i="0" lang="en-US" sz="1150" u="none" cap="none" strike="noStrike">
                <a:solidFill>
                  <a:srgbClr val="16202C"/>
                </a:solidFill>
                <a:latin typeface="Calibri"/>
                <a:ea typeface="Calibri"/>
                <a:cs typeface="Calibri"/>
                <a:sym typeface="Calibri"/>
              </a:rPr>
              <a:t>None of these mention a product. That is deliberate — products change every three years, and these do not.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620"/>
        </a:solidFill>
      </p:bgPr>
    </p:bg>
    <p:spTree>
      <p:nvGrpSpPr>
        <p:cNvPr id="1868" name="Shape 1868"/>
        <p:cNvGrpSpPr/>
        <p:nvPr/>
      </p:nvGrpSpPr>
      <p:grpSpPr>
        <a:xfrm>
          <a:off x="0" y="0"/>
          <a:ext cx="0" cy="0"/>
          <a:chOff x="0" y="0"/>
          <a:chExt cx="0" cy="0"/>
        </a:xfrm>
      </p:grpSpPr>
      <p:sp>
        <p:nvSpPr>
          <p:cNvPr id="1869" name="Google Shape;1869;p46"/>
          <p:cNvSpPr/>
          <p:nvPr/>
        </p:nvSpPr>
        <p:spPr>
          <a:xfrm>
            <a:off x="566928" y="1371600"/>
            <a:ext cx="310896" cy="310896"/>
          </a:xfrm>
          <a:prstGeom prst="ellipse">
            <a:avLst/>
          </a:prstGeom>
          <a:solidFill>
            <a:srgbClr val="BE64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46"/>
          <p:cNvSpPr/>
          <p:nvPr/>
        </p:nvSpPr>
        <p:spPr>
          <a:xfrm>
            <a:off x="1042416" y="1371600"/>
            <a:ext cx="310896" cy="310896"/>
          </a:xfrm>
          <a:prstGeom prst="ellipse">
            <a:avLst/>
          </a:prstGeom>
          <a:solidFill>
            <a:srgbClr val="0C6B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46"/>
          <p:cNvSpPr/>
          <p:nvPr/>
        </p:nvSpPr>
        <p:spPr>
          <a:xfrm>
            <a:off x="1517904" y="1371600"/>
            <a:ext cx="310896" cy="310896"/>
          </a:xfrm>
          <a:prstGeom prst="ellipse">
            <a:avLst/>
          </a:prstGeom>
          <a:solidFill>
            <a:srgbClr val="5C3F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46"/>
          <p:cNvSpPr/>
          <p:nvPr/>
        </p:nvSpPr>
        <p:spPr>
          <a:xfrm>
            <a:off x="566928" y="2103120"/>
            <a:ext cx="95097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You cannot debug what you cannot see.</a:t>
            </a:r>
            <a:endParaRPr b="0" i="0" sz="4000" u="none" cap="none" strike="noStrike">
              <a:solidFill>
                <a:schemeClr val="dk1"/>
              </a:solidFill>
              <a:latin typeface="Calibri"/>
              <a:ea typeface="Calibri"/>
              <a:cs typeface="Calibri"/>
              <a:sym typeface="Calibri"/>
            </a:endParaRPr>
          </a:p>
        </p:txBody>
      </p:sp>
      <p:sp>
        <p:nvSpPr>
          <p:cNvPr id="1873" name="Google Shape;1873;p46"/>
          <p:cNvSpPr/>
          <p:nvPr/>
        </p:nvSpPr>
        <p:spPr>
          <a:xfrm>
            <a:off x="566928" y="2971800"/>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7C4"/>
              </a:buClr>
              <a:buSzPts val="1600"/>
              <a:buFont typeface="Calibri"/>
              <a:buNone/>
            </a:pPr>
            <a:r>
              <a:rPr b="0" i="0" lang="en-US" sz="1600" u="none" cap="none" strike="noStrike">
                <a:solidFill>
                  <a:srgbClr val="A9B7C4"/>
                </a:solidFill>
                <a:latin typeface="Calibri"/>
                <a:ea typeface="Calibri"/>
                <a:cs typeface="Calibri"/>
                <a:sym typeface="Calibri"/>
              </a:rPr>
              <a:t>And you cannot see what you did not decide to emit — months ago, in a pull request nobody thought was about observability.</a:t>
            </a:r>
            <a:endParaRPr b="0" i="0" sz="1600" u="none" cap="none" strike="noStrike">
              <a:solidFill>
                <a:schemeClr val="dk1"/>
              </a:solidFill>
              <a:latin typeface="Calibri"/>
              <a:ea typeface="Calibri"/>
              <a:cs typeface="Calibri"/>
              <a:sym typeface="Calibri"/>
            </a:endParaRPr>
          </a:p>
        </p:txBody>
      </p:sp>
      <p:sp>
        <p:nvSpPr>
          <p:cNvPr id="1874" name="Google Shape;1874;p46"/>
          <p:cNvSpPr/>
          <p:nvPr/>
        </p:nvSpPr>
        <p:spPr>
          <a:xfrm>
            <a:off x="566928" y="4114800"/>
            <a:ext cx="3511296" cy="1371600"/>
          </a:xfrm>
          <a:prstGeom prst="roundRect">
            <a:avLst>
              <a:gd fmla="val 6000" name="adj"/>
            </a:avLst>
          </a:prstGeom>
          <a:solidFill>
            <a:srgbClr val="1C2634"/>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46"/>
          <p:cNvSpPr/>
          <p:nvPr/>
        </p:nvSpPr>
        <p:spPr>
          <a:xfrm>
            <a:off x="804672" y="4279392"/>
            <a:ext cx="3017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8D9C"/>
              </a:buClr>
              <a:buSzPts val="900"/>
              <a:buFont typeface="Calibri"/>
              <a:buNone/>
            </a:pPr>
            <a:r>
              <a:rPr b="1" i="0" lang="en-US" sz="900" u="none" cap="none" strike="noStrike">
                <a:solidFill>
                  <a:srgbClr val="7E8D9C"/>
                </a:solidFill>
                <a:latin typeface="Calibri"/>
                <a:ea typeface="Calibri"/>
                <a:cs typeface="Calibri"/>
                <a:sym typeface="Calibri"/>
              </a:rPr>
              <a:t>TOMORROW</a:t>
            </a:r>
            <a:endParaRPr b="0" i="0" sz="900" u="none" cap="none" strike="noStrike">
              <a:solidFill>
                <a:schemeClr val="dk1"/>
              </a:solidFill>
              <a:latin typeface="Calibri"/>
              <a:ea typeface="Calibri"/>
              <a:cs typeface="Calibri"/>
              <a:sym typeface="Calibri"/>
            </a:endParaRPr>
          </a:p>
        </p:txBody>
      </p:sp>
      <p:sp>
        <p:nvSpPr>
          <p:cNvPr id="1876" name="Google Shape;1876;p46"/>
          <p:cNvSpPr/>
          <p:nvPr/>
        </p:nvSpPr>
        <p:spPr>
          <a:xfrm>
            <a:off x="804672" y="4572000"/>
            <a:ext cx="3035808" cy="78638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CE4EB"/>
              </a:buClr>
              <a:buSzPts val="1200"/>
              <a:buFont typeface="Calibri"/>
              <a:buNone/>
            </a:pPr>
            <a:r>
              <a:rPr b="0" i="0" lang="en-US" sz="1200" u="none" cap="none" strike="noStrike">
                <a:solidFill>
                  <a:srgbClr val="DCE4EB"/>
                </a:solidFill>
                <a:latin typeface="Calibri"/>
                <a:ea typeface="Calibri"/>
                <a:cs typeface="Calibri"/>
                <a:sym typeface="Calibri"/>
              </a:rPr>
              <a:t>Day 1 — Logs. Bring the lab repo cloned and Docker running.</a:t>
            </a:r>
            <a:endParaRPr b="0" i="0" sz="1200" u="none" cap="none" strike="noStrike">
              <a:solidFill>
                <a:schemeClr val="dk1"/>
              </a:solidFill>
              <a:latin typeface="Calibri"/>
              <a:ea typeface="Calibri"/>
              <a:cs typeface="Calibri"/>
              <a:sym typeface="Calibri"/>
            </a:endParaRPr>
          </a:p>
        </p:txBody>
      </p:sp>
      <p:sp>
        <p:nvSpPr>
          <p:cNvPr id="1877" name="Google Shape;1877;p46"/>
          <p:cNvSpPr/>
          <p:nvPr/>
        </p:nvSpPr>
        <p:spPr>
          <a:xfrm>
            <a:off x="4306824" y="4114800"/>
            <a:ext cx="3511296" cy="1371600"/>
          </a:xfrm>
          <a:prstGeom prst="roundRect">
            <a:avLst>
              <a:gd fmla="val 6000" name="adj"/>
            </a:avLst>
          </a:prstGeom>
          <a:solidFill>
            <a:srgbClr val="1C2634"/>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46"/>
          <p:cNvSpPr/>
          <p:nvPr/>
        </p:nvSpPr>
        <p:spPr>
          <a:xfrm>
            <a:off x="4544568" y="4279392"/>
            <a:ext cx="3017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8D9C"/>
              </a:buClr>
              <a:buSzPts val="900"/>
              <a:buFont typeface="Calibri"/>
              <a:buNone/>
            </a:pPr>
            <a:r>
              <a:rPr b="1" i="0" lang="en-US" sz="900" u="none" cap="none" strike="noStrike">
                <a:solidFill>
                  <a:srgbClr val="7E8D9C"/>
                </a:solidFill>
                <a:latin typeface="Calibri"/>
                <a:ea typeface="Calibri"/>
                <a:cs typeface="Calibri"/>
                <a:sym typeface="Calibri"/>
              </a:rPr>
              <a:t>BEFORE THEN</a:t>
            </a:r>
            <a:endParaRPr b="0" i="0" sz="900" u="none" cap="none" strike="noStrike">
              <a:solidFill>
                <a:schemeClr val="dk1"/>
              </a:solidFill>
              <a:latin typeface="Calibri"/>
              <a:ea typeface="Calibri"/>
              <a:cs typeface="Calibri"/>
              <a:sym typeface="Calibri"/>
            </a:endParaRPr>
          </a:p>
        </p:txBody>
      </p:sp>
      <p:sp>
        <p:nvSpPr>
          <p:cNvPr id="1879" name="Google Shape;1879;p46"/>
          <p:cNvSpPr/>
          <p:nvPr/>
        </p:nvSpPr>
        <p:spPr>
          <a:xfrm>
            <a:off x="4544568" y="4572000"/>
            <a:ext cx="3035808" cy="78638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CE4EB"/>
              </a:buClr>
              <a:buSzPts val="1200"/>
              <a:buFont typeface="Calibri"/>
              <a:buNone/>
            </a:pPr>
            <a:r>
              <a:rPr b="0" i="0" lang="en-US" sz="1200" u="none" cap="none" strike="noStrike">
                <a:solidFill>
                  <a:srgbClr val="DCE4EB"/>
                </a:solidFill>
                <a:latin typeface="Calibri"/>
                <a:ea typeface="Calibri"/>
                <a:cs typeface="Calibri"/>
                <a:sym typeface="Calibri"/>
              </a:rPr>
              <a:t>Find out which logging library your language uses, and whether it emits JSON.</a:t>
            </a:r>
            <a:endParaRPr b="0" i="0" sz="1200" u="none" cap="none" strike="noStrike">
              <a:solidFill>
                <a:schemeClr val="dk1"/>
              </a:solidFill>
              <a:latin typeface="Calibri"/>
              <a:ea typeface="Calibri"/>
              <a:cs typeface="Calibri"/>
              <a:sym typeface="Calibri"/>
            </a:endParaRPr>
          </a:p>
        </p:txBody>
      </p:sp>
      <p:sp>
        <p:nvSpPr>
          <p:cNvPr id="1880" name="Google Shape;1880;p46"/>
          <p:cNvSpPr/>
          <p:nvPr/>
        </p:nvSpPr>
        <p:spPr>
          <a:xfrm>
            <a:off x="8046720" y="4114800"/>
            <a:ext cx="3511296" cy="1371600"/>
          </a:xfrm>
          <a:prstGeom prst="roundRect">
            <a:avLst>
              <a:gd fmla="val 6000" name="adj"/>
            </a:avLst>
          </a:prstGeom>
          <a:solidFill>
            <a:srgbClr val="1C2634"/>
          </a:solidFill>
          <a:ln cap="flat" cmpd="sng" w="9525">
            <a:solidFill>
              <a:srgbClr val="2A36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46"/>
          <p:cNvSpPr/>
          <p:nvPr/>
        </p:nvSpPr>
        <p:spPr>
          <a:xfrm>
            <a:off x="8284464" y="4279392"/>
            <a:ext cx="30175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8D9C"/>
              </a:buClr>
              <a:buSzPts val="900"/>
              <a:buFont typeface="Calibri"/>
              <a:buNone/>
            </a:pPr>
            <a:r>
              <a:rPr b="1" i="0" lang="en-US" sz="900" u="none" cap="none" strike="noStrike">
                <a:solidFill>
                  <a:srgbClr val="7E8D9C"/>
                </a:solidFill>
                <a:latin typeface="Calibri"/>
                <a:ea typeface="Calibri"/>
                <a:cs typeface="Calibri"/>
                <a:sym typeface="Calibri"/>
              </a:rPr>
              <a:t>THE QUESTION TO KEEP ASKING</a:t>
            </a:r>
            <a:endParaRPr b="0" i="0" sz="900" u="none" cap="none" strike="noStrike">
              <a:solidFill>
                <a:schemeClr val="dk1"/>
              </a:solidFill>
              <a:latin typeface="Calibri"/>
              <a:ea typeface="Calibri"/>
              <a:cs typeface="Calibri"/>
              <a:sym typeface="Calibri"/>
            </a:endParaRPr>
          </a:p>
        </p:txBody>
      </p:sp>
      <p:sp>
        <p:nvSpPr>
          <p:cNvPr id="1882" name="Google Shape;1882;p46"/>
          <p:cNvSpPr/>
          <p:nvPr/>
        </p:nvSpPr>
        <p:spPr>
          <a:xfrm>
            <a:off x="8284464" y="4572000"/>
            <a:ext cx="3035808" cy="78638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CE4EB"/>
              </a:buClr>
              <a:buSzPts val="1200"/>
              <a:buFont typeface="Calibri"/>
              <a:buNone/>
            </a:pPr>
            <a:r>
              <a:rPr b="0" i="0" lang="en-US" sz="1200" u="none" cap="none" strike="noStrike">
                <a:solidFill>
                  <a:srgbClr val="DCE4EB"/>
                </a:solidFill>
                <a:latin typeface="Calibri"/>
                <a:ea typeface="Calibri"/>
                <a:cs typeface="Calibri"/>
                <a:sym typeface="Calibri"/>
              </a:rPr>
              <a:t>“If this broke at 2am, what would I wish I had emitted?”</a:t>
            </a:r>
            <a:endParaRPr b="0" i="0" sz="1200" u="none" cap="none" strike="noStrike">
              <a:solidFill>
                <a:schemeClr val="dk1"/>
              </a:solidFill>
              <a:latin typeface="Calibri"/>
              <a:ea typeface="Calibri"/>
              <a:cs typeface="Calibri"/>
              <a:sym typeface="Calibri"/>
            </a:endParaRPr>
          </a:p>
        </p:txBody>
      </p:sp>
      <p:sp>
        <p:nvSpPr>
          <p:cNvPr id="1883" name="Google Shape;1883;p46"/>
          <p:cNvSpPr/>
          <p:nvPr/>
        </p:nvSpPr>
        <p:spPr>
          <a:xfrm>
            <a:off x="566928" y="6455664"/>
            <a:ext cx="6400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D6B7A"/>
              </a:buClr>
              <a:buSzPts val="900"/>
              <a:buFont typeface="Calibri"/>
              <a:buNone/>
            </a:pPr>
            <a:r>
              <a:rPr b="0" i="0" lang="en-US" sz="900" u="none" cap="none" strike="noStrike">
                <a:solidFill>
                  <a:srgbClr val="5D6B7A"/>
                </a:solidFill>
                <a:latin typeface="Calibri"/>
                <a:ea typeface="Calibri"/>
                <a:cs typeface="Calibri"/>
                <a:sym typeface="Calibri"/>
              </a:rPr>
              <a:t>Observability · Logs, Metrics, Traces</a:t>
            </a:r>
            <a:endParaRPr b="0" i="0" sz="900" u="none" cap="none" strike="noStrike">
              <a:solidFill>
                <a:schemeClr val="dk1"/>
              </a:solidFill>
              <a:latin typeface="Calibri"/>
              <a:ea typeface="Calibri"/>
              <a:cs typeface="Calibri"/>
              <a:sym typeface="Calibri"/>
            </a:endParaRPr>
          </a:p>
        </p:txBody>
      </p:sp>
      <p:sp>
        <p:nvSpPr>
          <p:cNvPr id="1884" name="Google Shape;1884;p46"/>
          <p:cNvSpPr/>
          <p:nvPr/>
        </p:nvSpPr>
        <p:spPr>
          <a:xfrm>
            <a:off x="10801807" y="6455664"/>
            <a:ext cx="82296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D6B7A"/>
              </a:buClr>
              <a:buSzPts val="900"/>
              <a:buFont typeface="Calibri"/>
              <a:buNone/>
            </a:pPr>
            <a:r>
              <a:rPr b="0" i="0" lang="en-US" sz="900" u="none" cap="none" strike="noStrike">
                <a:solidFill>
                  <a:srgbClr val="5D6B7A"/>
                </a:solidFill>
                <a:latin typeface="Calibri"/>
                <a:ea typeface="Calibri"/>
                <a:cs typeface="Calibri"/>
                <a:sym typeface="Calibri"/>
              </a:rPr>
              <a:t>44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