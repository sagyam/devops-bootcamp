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opener. Frame the whole module: by the end, students can write a Dockerfile, build and run images, network and persist data, push to a registry, compose a multi-service stack, wire it into CI/CD, and scale across a cluster. Ask the room: 'who has hit "works on my machine"?' — almost every hand goes up. That pain is the spine of this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problem-first. Let students feel the pain before naming the solution. Probing question: 'what actually differs between your laptop and the server?' — OS, library versions, env vars, config. A container freezes all of that together. Don't say 'lightweight VM' yet — that comparison is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Namespaces = what you can see (isolation); cgroups = what you can use (limits). Stress 'shares the host kernel' — this single fact explains why containers are tiny and fast versus VMs, which is the very next slide. Clarify the Docker-vs-container wording: a container is the running thing; Docker is the tooling.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visual is the lesson: each VM ships a full guest OS (the tall orange block), so it's heavy and slow to boot. Containers drop the guest OS entirely and share the host kernel — that dashed gap is the reclaimed weight. VMs virtualize hardware; containers virtualize the OS. Numbers come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let density and startup land hardest — they're why containers won CI/CD and microservices. Then the honest nuance: VMs still give a stronger security boundary, so cloud providers run your containers inside VMs. It's both/and, not either/or.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all eight — pick the two that matter for your audience. For a DevOps class, lead with reproducibility and scaling: identical artifact from dev to prod, then trivially scale or roll back by tag. These benefits are exactly what makes CI/CD and orchestration possible later in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the stack: Docker isn't magic, it's layers. Docker → containerd → runc → kernel. The key myth to bust: 'Kubernetes removed Docker support means my images won't work.' False — k8s removed the Docker *daemon shim*; it runs OCI images via containerd. Images built with docker build are OCI images and run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Client–server model. When students type 'docker run', the CLI sends a request to dockerd, which pulls from a registry if needed, then creates and starts the container. This explains why 'permission denied on the docker socket' happens — they're talking to the daemon. Foreshadow that the docker group equals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Live-demo the last two lines if you can — usermod then hello-world is the satisfying 'it works' moment. Hammer the security note: adding a user to the docker group is granting root-equivalent access, because they can mount the host filesystem into a container. For your shared classroom VM, this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of Part 2 — if they get image-vs-container, everything else clicks. Use the class/object analogy for programmers, recipe/dish for everyone else. One image, three running containers: same template, three independent instances each with their own writable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 real pull and point out the layer download lines — that's the layered model from earlier, live. The recurring rule to repeat all chapter: never ship :latest. It's the number-one cause of 'it worked yesterday' incidents because the tag silently moved under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every command to an arrow on the diagram. The key insight: docker run = create + start fused together. Stopped containers still exist (and take disk) until you rm them — that's why 'docker ps -a' shows a graveyard. Pause is rarely used; mention it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command they'll type most. Drill the flag order doesn't matter but the image name comes last, and anything after the image is the command/args. -d for services, -it --rm for quick experiments. The -p and -v flags get full slides next; here just show them in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beginner trap: they put EXPOSE in a Dockerfile and expect the port to be reachable. EXPOSE is documentation only — you still need -p at run time to publish. Demo: run nginx with -p 8080:80, then curl localhost:8080. Left is host, right is container; the colon order is host:container.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 -it is the debugging superpower — get a shell inside a running container to see what's actually there. Warn hard about prune -a in shared environments: it deletes every image not currently used by a container. On the classroom VM, that could wipe other students'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Problem-first again. Some students will have heard of docker commit — name it as the anti-pattern: it captures a black box nobody can audit. The Dockerfile is infrastructure-as-code for images. The mantra 'if it isn't in the Dockerfile, it doesn't exist' kills off manual 'just SSH in and fix it' habits.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top to bottom — it executes top to bottom, each line a layer. Call out the deliberate ordering: package.json and npm ci come *before* copying the source, so changing source code doesn't re-run install. That's the caching pattern they'll see again on the layers slide. USER node is the security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memorize the table — recognize the split. Build-time instructions run while creating the image (RUN, COPY, ARG). Run-time instructions describe what happens when a container starts (CMD, ENTRYPOINT, ENV). Prefer COPY over ADD unless you specifically need tar extraction or a URL fetch.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 that resolves the confusion: ENTRYPOINT = the fixed executable, CMD = the default arguments you can override. Use exec form (JSON array) not shell form — shell form wraps in /bin/sh -c and breaks signal handling, so your container ignores Ctrl-C / SIGTERM on shutdown.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their builds fast. Because layers cache, editing source code should only rebuild the final COPY layer — if dependencies reinstall on every code change, their Dockerfile ordering is wrong. The writable top layer ties back to Part 2: that's the ephemeral data that vanishes on rm, which motivates volumes next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Multi-stage is the highest-leverage trick: build with the full toolchain, then copy just the binary into a tiny distrloss/alpine image — go from hundreds of MB to a few. Smaller images pull faster, have fewer CVEs, and start quicker. Tie .dockerignore to security: it's how secrets like .env or .git accidentally end up baked into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a first-class topic for this bootcamp — this maps to the Harbor + scanner work later. The two highest-impact habits: run as non-root (a container escape as root is far worse) and scan images in CI so vulnerable layers never reach the registry. Secrets in layers are forever — even if deleted in a later layer, they're still in the image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networking: Docker creates a virtual switch (docker0) and plugs each container into it with a veth pair, giving every container its own IP. Outbound traffic NATs through the host's eth0. The crucial practical point — on a *user-defined* bridge, containers resolve each other by name via Docker's built-in DNS; on the default bridge they can't. That's why we always create a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is the default and what you'll use 90% of the time. host removes the network namespace for raw performance but you lose isolation and port mapping. overlay is the one to flag — it's how containers on different physical machines talk in a Swarm, and it comes back in Part 6. macvlan is niche: the container appears as a real device on your 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point: name-based service discovery. The api container connects to host 'db' and Docker's DNS resolves it — no IPs to manage, survives restarts when IPs change. This is exactly what Compose automates in the next part: it puts every service on a shared network and you reference them by service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this straight back to the layers slide: the writable container layer is the ephemeral thing — kill the container and it's gone. That's a feature for stateless apps, a disaster for a database. The fix is to mount storage that lives outside the container's lifecycle. The mantra: code in the image, data in a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mount types, three jobs. Volumes for real persistence (databases) — Docker manages them, you back them up. Bind mounts for development — your source on the host shows up live in the container, edit-and-refresh. tmpfs for sensitive scratch data you never want touching disk. Default to volumes for production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registry is just storage + distribution for images — push from where you build, pull where you run. Docker Hub is the default. Flag the rate-limit gotcha early: anonymous pulls are throttled, which bites CI pipelines hard — authenticate or run a pull-through mirror. The tag→push flow is the bridge to self-hosting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self-host: private images, no Hub rate limits, air-gapped/compliance needs, and faster local pulls. registry:2 is the bare-bones option; Harbor is what teams actually run — RBAC, a UI, replication, and crucially a built-in scanner. The security payoff is the gate: Harbor + Trivy scans on push and can refuse to serve images with critical vulnerabilities. This is the syllabus's scanner-integration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now they've felt the pain of long docker run lines for the api+db network demo. Scale that to five services with the right startup order and it's hopeless by hand. Compose is that whole setup written down as one declarative file. Same problem-first beat: feel the pain, then name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YAML: two services, web builds from the local Dockerfile and depends on db, db pulls postgres and persists to a named volume. Compose auto-creates a network so web reaches db by the name 'db' — exactly the name-based discovery from Part 4. 'compose up -d' is the whole stack in one command; 'down' tears it cleanly back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that separate a toy compose file from a real one: healthchecks (so depends_on waits for db to accept connections, not just for the process to exist) and restart policies (so a crash self-heals). Show --scale to preview replicas — which is exactly what orchestration generalizes across many machines in the final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DevOps payoff — every concept so far becomes one automated pipeline. Note the image is tagged with the git SHA (immutable, traceable), the scan gate fails the build on critical CVEs (security from Part 3/5), and deploy is just pull + compose up on the server. Same Docker commands they already know, now triggered by a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Compose runs a stack on one machine — great until that machine dies or runs out of capacity. Orchestration is the leap to a cluster: declare 'I want 3 replicas of web running' and the system schedules them, restarts failures, and load-balances. The shift in mindset is imperative (run this) to declarative (keep this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Swarm is orchestration built right into Docker — low barrier to entry. Managers run the control plane (Raft keeps cluster state consistent), workers run the actual container tasks. You create a *service* with N replicas and Swarm places them, reschedules failures, and load-balances via the routing mesh. Same docker CLI, cluster-wide.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and non-dogmatic: Swarm is genuinely simpler and fine for many real workloads, but Kubernetes won the industry, so it's what they'll meet in job postings. The reassuring point: the hard part — building good images — is identical. Orchestrators just schedule those images. This sets up the Kubernetes chapter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model for the whole chapter in three beats: BUILD (Dockerfile → image, with caching), SHIP (tag, scan, push to a registry through CI/CD), RUN (a container, a compose stack, or a cluster). Everything we covered slots into one of these three. If they remember nothing else, remember build → ship →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Recap the build → ship → run loop. The single takeaway: the container is the unit of work; everything else (Dockerfile, registry, compose, swarm) is tooling around that unit. Tee up Kubernetes as the next chapter — same images, bigger orchestrator. Point students to the cheat sheet / hands-on lab for practice before next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slideLayout" Target="../slideLayouts/slideLayout1.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roundRect">
            <a:avLst>
              <a:gd name="adj" fmla="val 15217"/>
            </a:avLst>
          </a:prstGeom>
          <a:solidFill>
            <a:srgbClr val="1E293B"/>
          </a:solidFill>
          <a:ln w="12700">
            <a:solidFill>
              <a:srgbClr val="334155"/>
            </a:solidFill>
            <a:prstDash val="solid"/>
          </a:ln>
          <a:effectLst>
            <a:outerShdw sx="100000" sy="100000" kx="0" ky="0" algn="bl" rotWithShape="0" blurRad="127000" dist="38100" dir="2700000">
              <a:srgbClr val="475569">
                <a:alpha val="30000"/>
              </a:srgbClr>
            </a:outerShdw>
          </a:effectLst>
        </p:spPr>
      </p:sp>
      <p:pic>
        <p:nvPicPr>
          <p:cNvPr id="3" name="Image 0" descr="preencoded.png">    </p:cNvPr>
          <p:cNvPicPr>
            <a:picLocks noChangeAspect="1"/>
          </p:cNvPicPr>
          <p:nvPr/>
        </p:nvPicPr>
        <p:blipFill>
          <a:blip r:embed="rId1"/>
          <a:stretch>
            <a:fillRect/>
          </a:stretch>
        </p:blipFill>
        <p:spPr>
          <a:xfrm>
            <a:off x="786384" y="713232"/>
            <a:ext cx="548640" cy="548640"/>
          </a:xfrm>
          <a:prstGeom prst="rect">
            <a:avLst/>
          </a:prstGeom>
        </p:spPr>
      </p:pic>
      <p:sp>
        <p:nvSpPr>
          <p:cNvPr id="4" name="Text 1"/>
          <p:cNvSpPr/>
          <p:nvPr/>
        </p:nvSpPr>
        <p:spPr>
          <a:xfrm>
            <a:off x="1664208" y="640080"/>
            <a:ext cx="6400800" cy="274320"/>
          </a:xfrm>
          <a:prstGeom prst="rect">
            <a:avLst/>
          </a:prstGeom>
          <a:noFill/>
          <a:ln/>
        </p:spPr>
        <p:txBody>
          <a:bodyPr wrap="square" lIns="0" tIns="0" rIns="0" bIns="0" rtlCol="0" anchor="ctr"/>
          <a:lstStyle/>
          <a:p>
            <a:pPr indent="0" marL="0">
              <a:buNone/>
            </a:pPr>
            <a:r>
              <a:rPr lang="en-US" sz="1300" b="1" spc="300" kern="0" dirty="0">
                <a:solidFill>
                  <a:srgbClr val="2496ED"/>
                </a:solidFill>
                <a:latin typeface="Calibri" pitchFamily="34" charset="0"/>
                <a:ea typeface="Calibri" pitchFamily="34" charset="-122"/>
                <a:cs typeface="Calibri" pitchFamily="34" charset="-120"/>
              </a:rPr>
              <a:t>DEVOPS BOOTCAMP</a:t>
            </a:r>
            <a:endParaRPr lang="en-US" sz="1300" dirty="0"/>
          </a:p>
        </p:txBody>
      </p:sp>
      <p:sp>
        <p:nvSpPr>
          <p:cNvPr id="5" name="Text 2"/>
          <p:cNvSpPr/>
          <p:nvPr/>
        </p:nvSpPr>
        <p:spPr>
          <a:xfrm>
            <a:off x="1664208" y="950976"/>
            <a:ext cx="6400800" cy="2743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Containerization · Module</a:t>
            </a:r>
            <a:endParaRPr lang="en-US" sz="1200" dirty="0"/>
          </a:p>
        </p:txBody>
      </p:sp>
      <p:sp>
        <p:nvSpPr>
          <p:cNvPr id="6" name="Text 3"/>
          <p:cNvSpPr/>
          <p:nvPr/>
        </p:nvSpPr>
        <p:spPr>
          <a:xfrm>
            <a:off x="603504" y="1828800"/>
            <a:ext cx="8229600" cy="1005840"/>
          </a:xfrm>
          <a:prstGeom prst="rect">
            <a:avLst/>
          </a:prstGeom>
          <a:noFill/>
          <a:ln/>
        </p:spPr>
        <p:txBody>
          <a:bodyPr wrap="square" lIns="0" tIns="0" rIns="0" bIns="0" rtlCol="0" anchor="ctr"/>
          <a:lstStyle/>
          <a:p>
            <a:pPr indent="0" marL="0">
              <a:buNone/>
            </a:pPr>
            <a:r>
              <a:rPr lang="en-US" sz="5200" b="1" dirty="0">
                <a:solidFill>
                  <a:srgbClr val="FFFFFF"/>
                </a:solidFill>
                <a:latin typeface="Bookman Old Style" pitchFamily="34" charset="0"/>
                <a:ea typeface="Bookman Old Style" pitchFamily="34" charset="-122"/>
                <a:cs typeface="Bookman Old Style" pitchFamily="34" charset="-120"/>
              </a:rPr>
              <a:t>Docker &amp; Containers</a:t>
            </a:r>
            <a:endParaRPr lang="en-US" sz="5200" dirty="0"/>
          </a:p>
        </p:txBody>
      </p:sp>
      <p:sp>
        <p:nvSpPr>
          <p:cNvPr id="7" name="Text 4"/>
          <p:cNvSpPr/>
          <p:nvPr/>
        </p:nvSpPr>
        <p:spPr>
          <a:xfrm>
            <a:off x="640080" y="2880360"/>
            <a:ext cx="8229600" cy="457200"/>
          </a:xfrm>
          <a:prstGeom prst="rect">
            <a:avLst/>
          </a:prstGeom>
          <a:noFill/>
          <a:ln/>
        </p:spPr>
        <p:txBody>
          <a:bodyPr wrap="square" lIns="0" tIns="0" rIns="0" bIns="0" rtlCol="0" anchor="ctr"/>
          <a:lstStyle/>
          <a:p>
            <a:pPr indent="0" marL="0">
              <a:buNone/>
            </a:pPr>
            <a:r>
              <a:rPr lang="en-US" sz="1700" i="1" dirty="0">
                <a:solidFill>
                  <a:srgbClr val="99F6E4"/>
                </a:solidFill>
                <a:latin typeface="Calibri" pitchFamily="34" charset="0"/>
                <a:ea typeface="Calibri" pitchFamily="34" charset="-122"/>
                <a:cs typeface="Calibri" pitchFamily="34" charset="-120"/>
              </a:rPr>
              <a:t>Build once.  Ship anywhere.  Run everywhere.</a:t>
            </a:r>
            <a:endParaRPr lang="en-US" sz="1700" dirty="0"/>
          </a:p>
        </p:txBody>
      </p:sp>
      <p:sp>
        <p:nvSpPr>
          <p:cNvPr id="8" name="Shape 5"/>
          <p:cNvSpPr/>
          <p:nvPr/>
        </p:nvSpPr>
        <p:spPr>
          <a:xfrm>
            <a:off x="640080" y="3776472"/>
            <a:ext cx="365760" cy="347472"/>
          </a:xfrm>
          <a:prstGeom prst="roundRect">
            <a:avLst>
              <a:gd name="adj" fmla="val 10526"/>
            </a:avLst>
          </a:prstGeom>
          <a:solidFill>
            <a:srgbClr val="2496ED">
              <a:alpha val="72000"/>
            </a:srgbClr>
          </a:solidFill>
          <a:ln/>
        </p:spPr>
      </p:sp>
      <p:sp>
        <p:nvSpPr>
          <p:cNvPr id="9" name="Shape 6"/>
          <p:cNvSpPr/>
          <p:nvPr/>
        </p:nvSpPr>
        <p:spPr>
          <a:xfrm>
            <a:off x="694944" y="3703320"/>
            <a:ext cx="256032" cy="82296"/>
          </a:xfrm>
          <a:prstGeom prst="rect">
            <a:avLst/>
          </a:prstGeom>
          <a:solidFill>
            <a:srgbClr val="2496ED">
              <a:alpha val="72000"/>
            </a:srgbClr>
          </a:solidFill>
          <a:ln/>
        </p:spPr>
      </p:sp>
      <p:sp>
        <p:nvSpPr>
          <p:cNvPr id="10" name="Shape 7"/>
          <p:cNvSpPr/>
          <p:nvPr/>
        </p:nvSpPr>
        <p:spPr>
          <a:xfrm>
            <a:off x="1097280" y="3776472"/>
            <a:ext cx="365760" cy="347472"/>
          </a:xfrm>
          <a:prstGeom prst="roundRect">
            <a:avLst>
              <a:gd name="adj" fmla="val 10526"/>
            </a:avLst>
          </a:prstGeom>
          <a:solidFill>
            <a:srgbClr val="2496ED">
              <a:alpha val="63000"/>
            </a:srgbClr>
          </a:solidFill>
          <a:ln/>
        </p:spPr>
      </p:sp>
      <p:sp>
        <p:nvSpPr>
          <p:cNvPr id="11" name="Shape 8"/>
          <p:cNvSpPr/>
          <p:nvPr/>
        </p:nvSpPr>
        <p:spPr>
          <a:xfrm>
            <a:off x="1152144" y="3703320"/>
            <a:ext cx="256032" cy="82296"/>
          </a:xfrm>
          <a:prstGeom prst="rect">
            <a:avLst/>
          </a:prstGeom>
          <a:solidFill>
            <a:srgbClr val="2496ED">
              <a:alpha val="63000"/>
            </a:srgbClr>
          </a:solidFill>
          <a:ln/>
        </p:spPr>
      </p:sp>
      <p:sp>
        <p:nvSpPr>
          <p:cNvPr id="12" name="Shape 9"/>
          <p:cNvSpPr/>
          <p:nvPr/>
        </p:nvSpPr>
        <p:spPr>
          <a:xfrm>
            <a:off x="1554480" y="3776472"/>
            <a:ext cx="365760" cy="347472"/>
          </a:xfrm>
          <a:prstGeom prst="roundRect">
            <a:avLst>
              <a:gd name="adj" fmla="val 10526"/>
            </a:avLst>
          </a:prstGeom>
          <a:solidFill>
            <a:srgbClr val="2496ED">
              <a:alpha val="54000"/>
            </a:srgbClr>
          </a:solidFill>
          <a:ln/>
        </p:spPr>
      </p:sp>
      <p:sp>
        <p:nvSpPr>
          <p:cNvPr id="13" name="Shape 10"/>
          <p:cNvSpPr/>
          <p:nvPr/>
        </p:nvSpPr>
        <p:spPr>
          <a:xfrm>
            <a:off x="1609344" y="3703320"/>
            <a:ext cx="256032" cy="82296"/>
          </a:xfrm>
          <a:prstGeom prst="rect">
            <a:avLst/>
          </a:prstGeom>
          <a:solidFill>
            <a:srgbClr val="2496ED">
              <a:alpha val="54000"/>
            </a:srgbClr>
          </a:solidFill>
          <a:ln/>
        </p:spPr>
      </p:sp>
      <p:sp>
        <p:nvSpPr>
          <p:cNvPr id="14" name="Shape 11"/>
          <p:cNvSpPr/>
          <p:nvPr/>
        </p:nvSpPr>
        <p:spPr>
          <a:xfrm>
            <a:off x="2011680" y="3776472"/>
            <a:ext cx="365760" cy="347472"/>
          </a:xfrm>
          <a:prstGeom prst="roundRect">
            <a:avLst>
              <a:gd name="adj" fmla="val 10526"/>
            </a:avLst>
          </a:prstGeom>
          <a:solidFill>
            <a:srgbClr val="2496ED">
              <a:alpha val="45000"/>
            </a:srgbClr>
          </a:solidFill>
          <a:ln/>
        </p:spPr>
      </p:sp>
      <p:sp>
        <p:nvSpPr>
          <p:cNvPr id="15" name="Shape 12"/>
          <p:cNvSpPr/>
          <p:nvPr/>
        </p:nvSpPr>
        <p:spPr>
          <a:xfrm>
            <a:off x="2066544" y="3703320"/>
            <a:ext cx="256032" cy="82296"/>
          </a:xfrm>
          <a:prstGeom prst="rect">
            <a:avLst/>
          </a:prstGeom>
          <a:solidFill>
            <a:srgbClr val="2496ED">
              <a:alpha val="45000"/>
            </a:srgbClr>
          </a:solidFill>
          <a:ln/>
        </p:spPr>
      </p:sp>
      <p:sp>
        <p:nvSpPr>
          <p:cNvPr id="16" name="Shape 13"/>
          <p:cNvSpPr/>
          <p:nvPr/>
        </p:nvSpPr>
        <p:spPr>
          <a:xfrm>
            <a:off x="2468880" y="3776472"/>
            <a:ext cx="365760" cy="347472"/>
          </a:xfrm>
          <a:prstGeom prst="roundRect">
            <a:avLst>
              <a:gd name="adj" fmla="val 10526"/>
            </a:avLst>
          </a:prstGeom>
          <a:solidFill>
            <a:srgbClr val="2496ED">
              <a:alpha val="36000"/>
            </a:srgbClr>
          </a:solidFill>
          <a:ln/>
        </p:spPr>
      </p:sp>
      <p:sp>
        <p:nvSpPr>
          <p:cNvPr id="17" name="Shape 14"/>
          <p:cNvSpPr/>
          <p:nvPr/>
        </p:nvSpPr>
        <p:spPr>
          <a:xfrm>
            <a:off x="2523744" y="3703320"/>
            <a:ext cx="256032" cy="82296"/>
          </a:xfrm>
          <a:prstGeom prst="rect">
            <a:avLst/>
          </a:prstGeom>
          <a:solidFill>
            <a:srgbClr val="2496ED">
              <a:alpha val="36000"/>
            </a:srgbClr>
          </a:solidFill>
          <a:ln/>
        </p:spPr>
      </p:sp>
      <p:sp>
        <p:nvSpPr>
          <p:cNvPr id="18" name="Shape 15"/>
          <p:cNvSpPr/>
          <p:nvPr/>
        </p:nvSpPr>
        <p:spPr>
          <a:xfrm>
            <a:off x="2926080" y="3776472"/>
            <a:ext cx="365760" cy="347472"/>
          </a:xfrm>
          <a:prstGeom prst="roundRect">
            <a:avLst>
              <a:gd name="adj" fmla="val 10526"/>
            </a:avLst>
          </a:prstGeom>
          <a:solidFill>
            <a:srgbClr val="2496ED">
              <a:alpha val="27000"/>
            </a:srgbClr>
          </a:solidFill>
          <a:ln/>
        </p:spPr>
      </p:sp>
      <p:sp>
        <p:nvSpPr>
          <p:cNvPr id="19" name="Shape 16"/>
          <p:cNvSpPr/>
          <p:nvPr/>
        </p:nvSpPr>
        <p:spPr>
          <a:xfrm>
            <a:off x="2980944" y="3703320"/>
            <a:ext cx="256032" cy="82296"/>
          </a:xfrm>
          <a:prstGeom prst="rect">
            <a:avLst/>
          </a:prstGeom>
          <a:solidFill>
            <a:srgbClr val="2496ED">
              <a:alpha val="27000"/>
            </a:srgbClr>
          </a:solidFill>
          <a:ln/>
        </p:spPr>
      </p:sp>
      <p:sp>
        <p:nvSpPr>
          <p:cNvPr id="20" name="Shape 17"/>
          <p:cNvSpPr/>
          <p:nvPr/>
        </p:nvSpPr>
        <p:spPr>
          <a:xfrm>
            <a:off x="3383280" y="3776472"/>
            <a:ext cx="365760" cy="347472"/>
          </a:xfrm>
          <a:prstGeom prst="roundRect">
            <a:avLst>
              <a:gd name="adj" fmla="val 10526"/>
            </a:avLst>
          </a:prstGeom>
          <a:solidFill>
            <a:srgbClr val="2496ED">
              <a:alpha val="18000"/>
            </a:srgbClr>
          </a:solidFill>
          <a:ln/>
        </p:spPr>
      </p:sp>
      <p:sp>
        <p:nvSpPr>
          <p:cNvPr id="21" name="Shape 18"/>
          <p:cNvSpPr/>
          <p:nvPr/>
        </p:nvSpPr>
        <p:spPr>
          <a:xfrm>
            <a:off x="3438144" y="3703320"/>
            <a:ext cx="256032" cy="82296"/>
          </a:xfrm>
          <a:prstGeom prst="rect">
            <a:avLst/>
          </a:prstGeom>
          <a:solidFill>
            <a:srgbClr val="2496ED">
              <a:alpha val="18000"/>
            </a:srgbClr>
          </a:solidFill>
          <a:ln/>
        </p:spPr>
      </p:sp>
      <p:sp>
        <p:nvSpPr>
          <p:cNvPr id="22" name="Text 19"/>
          <p:cNvSpPr/>
          <p:nvPr/>
        </p:nvSpPr>
        <p:spPr>
          <a:xfrm>
            <a:off x="457200" y="4736592"/>
            <a:ext cx="4572000" cy="274320"/>
          </a:xfrm>
          <a:prstGeom prst="rect">
            <a:avLst/>
          </a:prstGeom>
          <a:noFill/>
          <a:ln/>
        </p:spPr>
        <p:txBody>
          <a:bodyPr wrap="square" lIns="0" tIns="0" rIns="0" bIns="0" rtlCol="0" anchor="ctr"/>
          <a:lstStyle/>
          <a:p>
            <a:pPr algn="l" indent="0" marL="0">
              <a:buNone/>
            </a:pPr>
            <a:r>
              <a:rPr lang="en-US" sz="1100" b="1" dirty="0">
                <a:solidFill>
                  <a:srgbClr val="94A3B8"/>
                </a:solidFill>
                <a:latin typeface="Calibri" pitchFamily="34" charset="0"/>
                <a:ea typeface="Calibri" pitchFamily="34" charset="-122"/>
                <a:cs typeface="Calibri" pitchFamily="34" charset="-120"/>
              </a:rPr>
              <a:t>Sagyam Thapa</a:t>
            </a:r>
            <a:endParaRPr lang="en-US" sz="1100" dirty="0"/>
          </a:p>
        </p:txBody>
      </p:sp>
      <p:sp>
        <p:nvSpPr>
          <p:cNvPr id="23" name="Text 20"/>
          <p:cNvSpPr/>
          <p:nvPr/>
        </p:nvSpPr>
        <p:spPr>
          <a:xfrm>
            <a:off x="4114800" y="4736592"/>
            <a:ext cx="4572000" cy="274320"/>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blog.sagyamthapa.com.np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6126480" y="576072"/>
            <a:ext cx="365760" cy="347472"/>
          </a:xfrm>
          <a:prstGeom prst="roundRect">
            <a:avLst>
              <a:gd name="adj" fmla="val 10526"/>
            </a:avLst>
          </a:prstGeom>
          <a:solidFill>
            <a:srgbClr val="2496ED">
              <a:alpha val="72000"/>
            </a:srgbClr>
          </a:solidFill>
          <a:ln/>
        </p:spPr>
      </p:sp>
      <p:sp>
        <p:nvSpPr>
          <p:cNvPr id="3" name="Shape 1"/>
          <p:cNvSpPr/>
          <p:nvPr/>
        </p:nvSpPr>
        <p:spPr>
          <a:xfrm>
            <a:off x="6181344" y="502920"/>
            <a:ext cx="256032" cy="82296"/>
          </a:xfrm>
          <a:prstGeom prst="rect">
            <a:avLst/>
          </a:prstGeom>
          <a:solidFill>
            <a:srgbClr val="2496ED">
              <a:alpha val="72000"/>
            </a:srgbClr>
          </a:solidFill>
          <a:ln/>
        </p:spPr>
      </p:sp>
      <p:sp>
        <p:nvSpPr>
          <p:cNvPr id="4" name="Shape 2"/>
          <p:cNvSpPr/>
          <p:nvPr/>
        </p:nvSpPr>
        <p:spPr>
          <a:xfrm>
            <a:off x="6583680" y="576072"/>
            <a:ext cx="365760" cy="347472"/>
          </a:xfrm>
          <a:prstGeom prst="roundRect">
            <a:avLst>
              <a:gd name="adj" fmla="val 10526"/>
            </a:avLst>
          </a:prstGeom>
          <a:solidFill>
            <a:srgbClr val="2496ED">
              <a:alpha val="63000"/>
            </a:srgbClr>
          </a:solidFill>
          <a:ln/>
        </p:spPr>
      </p:sp>
      <p:sp>
        <p:nvSpPr>
          <p:cNvPr id="5" name="Shape 3"/>
          <p:cNvSpPr/>
          <p:nvPr/>
        </p:nvSpPr>
        <p:spPr>
          <a:xfrm>
            <a:off x="6638544" y="502920"/>
            <a:ext cx="256032" cy="82296"/>
          </a:xfrm>
          <a:prstGeom prst="rect">
            <a:avLst/>
          </a:prstGeom>
          <a:solidFill>
            <a:srgbClr val="2496ED">
              <a:alpha val="63000"/>
            </a:srgbClr>
          </a:solidFill>
          <a:ln/>
        </p:spPr>
      </p:sp>
      <p:sp>
        <p:nvSpPr>
          <p:cNvPr id="6" name="Shape 4"/>
          <p:cNvSpPr/>
          <p:nvPr/>
        </p:nvSpPr>
        <p:spPr>
          <a:xfrm>
            <a:off x="7040880" y="576072"/>
            <a:ext cx="365760" cy="347472"/>
          </a:xfrm>
          <a:prstGeom prst="roundRect">
            <a:avLst>
              <a:gd name="adj" fmla="val 10526"/>
            </a:avLst>
          </a:prstGeom>
          <a:solidFill>
            <a:srgbClr val="2496ED">
              <a:alpha val="54000"/>
            </a:srgbClr>
          </a:solidFill>
          <a:ln/>
        </p:spPr>
      </p:sp>
      <p:sp>
        <p:nvSpPr>
          <p:cNvPr id="7" name="Shape 5"/>
          <p:cNvSpPr/>
          <p:nvPr/>
        </p:nvSpPr>
        <p:spPr>
          <a:xfrm>
            <a:off x="7095744" y="502920"/>
            <a:ext cx="256032" cy="82296"/>
          </a:xfrm>
          <a:prstGeom prst="rect">
            <a:avLst/>
          </a:prstGeom>
          <a:solidFill>
            <a:srgbClr val="2496ED">
              <a:alpha val="54000"/>
            </a:srgbClr>
          </a:solidFill>
          <a:ln/>
        </p:spPr>
      </p:sp>
      <p:sp>
        <p:nvSpPr>
          <p:cNvPr id="8" name="Shape 6"/>
          <p:cNvSpPr/>
          <p:nvPr/>
        </p:nvSpPr>
        <p:spPr>
          <a:xfrm>
            <a:off x="7498080" y="576072"/>
            <a:ext cx="365760" cy="347472"/>
          </a:xfrm>
          <a:prstGeom prst="roundRect">
            <a:avLst>
              <a:gd name="adj" fmla="val 10526"/>
            </a:avLst>
          </a:prstGeom>
          <a:solidFill>
            <a:srgbClr val="2496ED">
              <a:alpha val="45000"/>
            </a:srgbClr>
          </a:solidFill>
          <a:ln/>
        </p:spPr>
      </p:sp>
      <p:sp>
        <p:nvSpPr>
          <p:cNvPr id="9" name="Shape 7"/>
          <p:cNvSpPr/>
          <p:nvPr/>
        </p:nvSpPr>
        <p:spPr>
          <a:xfrm>
            <a:off x="7552944" y="502920"/>
            <a:ext cx="256032" cy="82296"/>
          </a:xfrm>
          <a:prstGeom prst="rect">
            <a:avLst/>
          </a:prstGeom>
          <a:solidFill>
            <a:srgbClr val="2496ED">
              <a:alpha val="45000"/>
            </a:srgbClr>
          </a:solidFill>
          <a:ln/>
        </p:spPr>
      </p:sp>
      <p:sp>
        <p:nvSpPr>
          <p:cNvPr id="10" name="Shape 8"/>
          <p:cNvSpPr/>
          <p:nvPr/>
        </p:nvSpPr>
        <p:spPr>
          <a:xfrm>
            <a:off x="7955280" y="576072"/>
            <a:ext cx="365760" cy="347472"/>
          </a:xfrm>
          <a:prstGeom prst="roundRect">
            <a:avLst>
              <a:gd name="adj" fmla="val 10526"/>
            </a:avLst>
          </a:prstGeom>
          <a:solidFill>
            <a:srgbClr val="2496ED">
              <a:alpha val="36000"/>
            </a:srgbClr>
          </a:solidFill>
          <a:ln/>
        </p:spPr>
      </p:sp>
      <p:sp>
        <p:nvSpPr>
          <p:cNvPr id="11" name="Shape 9"/>
          <p:cNvSpPr/>
          <p:nvPr/>
        </p:nvSpPr>
        <p:spPr>
          <a:xfrm>
            <a:off x="8010144" y="502920"/>
            <a:ext cx="256032" cy="82296"/>
          </a:xfrm>
          <a:prstGeom prst="rect">
            <a:avLst/>
          </a:prstGeom>
          <a:solidFill>
            <a:srgbClr val="2496ED">
              <a:alpha val="36000"/>
            </a:srgbClr>
          </a:solidFill>
          <a:ln/>
        </p:spPr>
      </p:sp>
      <p:sp>
        <p:nvSpPr>
          <p:cNvPr id="12" name="Shape 10"/>
          <p:cNvSpPr/>
          <p:nvPr/>
        </p:nvSpPr>
        <p:spPr>
          <a:xfrm>
            <a:off x="8412480" y="576072"/>
            <a:ext cx="365760" cy="347472"/>
          </a:xfrm>
          <a:prstGeom prst="roundRect">
            <a:avLst>
              <a:gd name="adj" fmla="val 10526"/>
            </a:avLst>
          </a:prstGeom>
          <a:solidFill>
            <a:srgbClr val="2496ED">
              <a:alpha val="27000"/>
            </a:srgbClr>
          </a:solidFill>
          <a:ln/>
        </p:spPr>
      </p:sp>
      <p:sp>
        <p:nvSpPr>
          <p:cNvPr id="13" name="Shape 11"/>
          <p:cNvSpPr/>
          <p:nvPr/>
        </p:nvSpPr>
        <p:spPr>
          <a:xfrm>
            <a:off x="8467344" y="502920"/>
            <a:ext cx="256032" cy="82296"/>
          </a:xfrm>
          <a:prstGeom prst="rect">
            <a:avLst/>
          </a:prstGeom>
          <a:solidFill>
            <a:srgbClr val="2496ED">
              <a:alpha val="27000"/>
            </a:srgbClr>
          </a:solidFill>
          <a:ln/>
        </p:spPr>
      </p:sp>
      <p:sp>
        <p:nvSpPr>
          <p:cNvPr id="14" name="Text 12"/>
          <p:cNvSpPr/>
          <p:nvPr/>
        </p:nvSpPr>
        <p:spPr>
          <a:xfrm>
            <a:off x="640080" y="1627632"/>
            <a:ext cx="4572000" cy="365760"/>
          </a:xfrm>
          <a:prstGeom prst="rect">
            <a:avLst/>
          </a:prstGeom>
          <a:noFill/>
          <a:ln/>
        </p:spPr>
        <p:txBody>
          <a:bodyPr wrap="square" lIns="0" tIns="0" rIns="0" bIns="0" rtlCol="0" anchor="ctr"/>
          <a:lstStyle/>
          <a:p>
            <a:pPr indent="0" marL="0">
              <a:buNone/>
            </a:pPr>
            <a:r>
              <a:rPr lang="en-US" sz="1500" b="1" spc="300" kern="0" dirty="0">
                <a:solidFill>
                  <a:srgbClr val="2496ED"/>
                </a:solidFill>
                <a:latin typeface="Calibri" pitchFamily="34" charset="0"/>
                <a:ea typeface="Calibri" pitchFamily="34" charset="-122"/>
                <a:cs typeface="Calibri" pitchFamily="34" charset="-120"/>
              </a:rPr>
              <a:t>PART 1</a:t>
            </a:r>
            <a:endParaRPr lang="en-US" sz="1500" dirty="0"/>
          </a:p>
        </p:txBody>
      </p:sp>
      <p:sp>
        <p:nvSpPr>
          <p:cNvPr id="15" name="Text 13"/>
          <p:cNvSpPr/>
          <p:nvPr/>
        </p:nvSpPr>
        <p:spPr>
          <a:xfrm>
            <a:off x="603504" y="1993392"/>
            <a:ext cx="6400800" cy="1097280"/>
          </a:xfrm>
          <a:prstGeom prst="rect">
            <a:avLst/>
          </a:prstGeom>
          <a:noFill/>
          <a:ln/>
        </p:spPr>
        <p:txBody>
          <a:bodyPr wrap="square" lIns="0" tIns="0" rIns="0" bIns="0" rtlCol="0" anchor="t"/>
          <a:lstStyle/>
          <a:p>
            <a:pPr indent="0" marL="0">
              <a:buNone/>
            </a:pPr>
            <a:r>
              <a:rPr lang="en-US" sz="4000" b="1" dirty="0">
                <a:solidFill>
                  <a:srgbClr val="FFFFFF"/>
                </a:solidFill>
                <a:latin typeface="Bookman Old Style" pitchFamily="34" charset="0"/>
                <a:ea typeface="Bookman Old Style" pitchFamily="34" charset="-122"/>
                <a:cs typeface="Bookman Old Style" pitchFamily="34" charset="-120"/>
              </a:rPr>
              <a:t>Foundations</a:t>
            </a:r>
            <a:endParaRPr lang="en-US" sz="4000" dirty="0"/>
          </a:p>
        </p:txBody>
      </p:sp>
      <p:sp>
        <p:nvSpPr>
          <p:cNvPr id="16" name="Text 14"/>
          <p:cNvSpPr/>
          <p:nvPr/>
        </p:nvSpPr>
        <p:spPr>
          <a:xfrm>
            <a:off x="640080" y="3127248"/>
            <a:ext cx="6035040" cy="731520"/>
          </a:xfrm>
          <a:prstGeom prst="rect">
            <a:avLst/>
          </a:prstGeom>
          <a:noFill/>
          <a:ln/>
        </p:spPr>
        <p:txBody>
          <a:bodyPr wrap="square" lIns="0" tIns="0" rIns="0" bIns="0" rtlCol="0" anchor="t"/>
          <a:lstStyle/>
          <a:p>
            <a:pPr indent="0" marL="0">
              <a:buNone/>
            </a:pPr>
            <a:r>
              <a:rPr lang="en-US" sz="1350" i="1" dirty="0">
                <a:solidFill>
                  <a:srgbClr val="94A3B8"/>
                </a:solidFill>
                <a:latin typeface="Calibri" pitchFamily="34" charset="0"/>
                <a:ea typeface="Calibri" pitchFamily="34" charset="-122"/>
                <a:cs typeface="Calibri" pitchFamily="34" charset="-120"/>
              </a:rPr>
              <a:t>What a container really is, why it beats a VM for our use cases, and how the runtime stack fits together.</a:t>
            </a:r>
            <a:endParaRPr lang="en-US" sz="1350" dirty="0"/>
          </a:p>
        </p:txBody>
      </p:sp>
      <p:sp>
        <p:nvSpPr>
          <p:cNvPr id="17" name="Shape 15"/>
          <p:cNvSpPr/>
          <p:nvPr/>
        </p:nvSpPr>
        <p:spPr>
          <a:xfrm>
            <a:off x="7086600" y="1783080"/>
            <a:ext cx="1417320" cy="1417320"/>
          </a:xfrm>
          <a:prstGeom prst="roundRect">
            <a:avLst>
              <a:gd name="adj" fmla="val 10323"/>
            </a:avLst>
          </a:prstGeom>
          <a:solidFill>
            <a:srgbClr val="1E293B"/>
          </a:solidFill>
          <a:ln w="12700">
            <a:solidFill>
              <a:srgbClr val="334155"/>
            </a:solidFill>
            <a:prstDash val="solid"/>
          </a:ln>
          <a:effectLst>
            <a:outerShdw sx="100000" sy="100000" kx="0" ky="0" algn="bl" rotWithShape="0" blurRad="152400" dist="50800" dir="2700000">
              <a:srgbClr val="475569">
                <a:alpha val="30000"/>
              </a:srgbClr>
            </a:outerShdw>
          </a:effectLst>
        </p:spPr>
      </p:sp>
      <p:pic>
        <p:nvPicPr>
          <p:cNvPr id="18" name="Image 0" descr="preencoded.png">    </p:cNvPr>
          <p:cNvPicPr>
            <a:picLocks noChangeAspect="1"/>
          </p:cNvPicPr>
          <p:nvPr/>
        </p:nvPicPr>
        <p:blipFill>
          <a:blip r:embed="rId1"/>
          <a:stretch>
            <a:fillRect/>
          </a:stretch>
        </p:blipFill>
        <p:spPr>
          <a:xfrm>
            <a:off x="7424928" y="2121408"/>
            <a:ext cx="740664" cy="740664"/>
          </a:xfrm>
          <a:prstGeom prst="rect">
            <a:avLst/>
          </a:prstGeom>
        </p:spPr>
      </p:pic>
      <p:sp>
        <p:nvSpPr>
          <p:cNvPr id="19" name="Text 16"/>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20" name="Text 17"/>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Part 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FF7ED"/>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F97316"/>
                </a:solidFill>
                <a:latin typeface="Calibri" pitchFamily="34" charset="0"/>
                <a:ea typeface="Calibri" pitchFamily="34" charset="-122"/>
                <a:cs typeface="Calibri" pitchFamily="34" charset="-120"/>
              </a:rPr>
              <a:t>THE CORE PROBLEM</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Why do we need containers?</a:t>
            </a:r>
            <a:endParaRPr lang="en-US" sz="2500" dirty="0"/>
          </a:p>
        </p:txBody>
      </p:sp>
      <p:sp>
        <p:nvSpPr>
          <p:cNvPr id="6" name="Shape 3"/>
          <p:cNvSpPr/>
          <p:nvPr/>
        </p:nvSpPr>
        <p:spPr>
          <a:xfrm>
            <a:off x="457200" y="1234440"/>
            <a:ext cx="3977640" cy="2697480"/>
          </a:xfrm>
          <a:prstGeom prst="roundRect">
            <a:avLst>
              <a:gd name="adj" fmla="val 2712"/>
            </a:avLst>
          </a:prstGeom>
          <a:solidFill>
            <a:srgbClr val="FFF7ED"/>
          </a:solidFill>
          <a:ln w="12700">
            <a:solidFill>
              <a:srgbClr val="FED7AA"/>
            </a:solidFill>
            <a:prstDash val="solid"/>
          </a:ln>
          <a:effectLst>
            <a:outerShdw sx="100000" sy="100000" kx="0" ky="0" algn="bl" rotWithShape="0" blurRad="76200" dist="25400" dir="2700000">
              <a:srgbClr val="475569">
                <a:alpha val="10000"/>
              </a:srgbClr>
            </a:outerShdw>
          </a:effectLst>
        </p:spPr>
      </p:sp>
      <p:pic>
        <p:nvPicPr>
          <p:cNvPr id="7" name="Image 1" descr="preencoded.png">    </p:cNvPr>
          <p:cNvPicPr>
            <a:picLocks noChangeAspect="1"/>
          </p:cNvPicPr>
          <p:nvPr/>
        </p:nvPicPr>
        <p:blipFill>
          <a:blip r:embed="rId2"/>
          <a:stretch>
            <a:fillRect/>
          </a:stretch>
        </p:blipFill>
        <p:spPr>
          <a:xfrm>
            <a:off x="694944" y="1463040"/>
            <a:ext cx="310896" cy="310896"/>
          </a:xfrm>
          <a:prstGeom prst="rect">
            <a:avLst/>
          </a:prstGeom>
        </p:spPr>
      </p:pic>
      <p:sp>
        <p:nvSpPr>
          <p:cNvPr id="8" name="Text 4"/>
          <p:cNvSpPr/>
          <p:nvPr/>
        </p:nvSpPr>
        <p:spPr>
          <a:xfrm>
            <a:off x="1115568" y="1463040"/>
            <a:ext cx="3154680" cy="310896"/>
          </a:xfrm>
          <a:prstGeom prst="rect">
            <a:avLst/>
          </a:prstGeom>
          <a:noFill/>
          <a:ln/>
        </p:spPr>
        <p:txBody>
          <a:bodyPr wrap="square" lIns="0" tIns="0" rIns="0" bIns="0" rtlCol="0" anchor="ctr"/>
          <a:lstStyle/>
          <a:p>
            <a:pPr indent="0" marL="0">
              <a:buNone/>
            </a:pPr>
            <a:r>
              <a:rPr lang="en-US" sz="1200" b="1" spc="150" kern="0" dirty="0">
                <a:solidFill>
                  <a:srgbClr val="C2410C"/>
                </a:solidFill>
                <a:latin typeface="Calibri" pitchFamily="34" charset="0"/>
                <a:ea typeface="Calibri" pitchFamily="34" charset="-122"/>
                <a:cs typeface="Calibri" pitchFamily="34" charset="-120"/>
              </a:rPr>
              <a:t>THE PAIN</a:t>
            </a:r>
            <a:endParaRPr lang="en-US" sz="1200" dirty="0"/>
          </a:p>
        </p:txBody>
      </p:sp>
      <p:sp>
        <p:nvSpPr>
          <p:cNvPr id="9" name="Text 5"/>
          <p:cNvSpPr/>
          <p:nvPr/>
        </p:nvSpPr>
        <p:spPr>
          <a:xfrm>
            <a:off x="676656" y="1783080"/>
            <a:ext cx="3566160" cy="2103120"/>
          </a:xfrm>
          <a:prstGeom prst="rect">
            <a:avLst/>
          </a:prstGeom>
          <a:noFill/>
          <a:ln/>
        </p:spPr>
        <p:txBody>
          <a:bodyPr wrap="square" lIns="0" tIns="0" rIns="0" bIns="0" rtlCol="0" anchor="t"/>
          <a:lstStyle/>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"Works on my machine" — runs in dev, breaks in prod</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Dependency hell — app A needs Python 3.9, app B needs 3.12, on one host</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Environment drift — snowflake servers nobody can reproduce</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Slow onboarding — days to configure a new dev box</a:t>
            </a:r>
            <a:endParaRPr lang="en-US" sz="1150" dirty="0"/>
          </a:p>
        </p:txBody>
      </p:sp>
      <p:sp>
        <p:nvSpPr>
          <p:cNvPr id="10" name="Shape 6"/>
          <p:cNvSpPr/>
          <p:nvPr/>
        </p:nvSpPr>
        <p:spPr>
          <a:xfrm>
            <a:off x="4709160" y="1234440"/>
            <a:ext cx="3977640" cy="2697480"/>
          </a:xfrm>
          <a:prstGeom prst="roundRect">
            <a:avLst>
              <a:gd name="adj" fmla="val 2712"/>
            </a:avLst>
          </a:prstGeom>
          <a:solidFill>
            <a:srgbClr val="F0FDFA"/>
          </a:solidFill>
          <a:ln w="12700">
            <a:solidFill>
              <a:srgbClr val="99F6E4"/>
            </a:solidFill>
            <a:prstDash val="solid"/>
          </a:ln>
          <a:effectLst>
            <a:outerShdw sx="100000" sy="100000" kx="0" ky="0" algn="bl" rotWithShape="0" blurRad="76200" dist="25400" dir="2700000">
              <a:srgbClr val="475569">
                <a:alpha val="10000"/>
              </a:srgbClr>
            </a:outerShdw>
          </a:effectLst>
        </p:spPr>
      </p:sp>
      <p:pic>
        <p:nvPicPr>
          <p:cNvPr id="11" name="Image 2" descr="preencoded.png">    </p:cNvPr>
          <p:cNvPicPr>
            <a:picLocks noChangeAspect="1"/>
          </p:cNvPicPr>
          <p:nvPr/>
        </p:nvPicPr>
        <p:blipFill>
          <a:blip r:embed="rId3"/>
          <a:stretch>
            <a:fillRect/>
          </a:stretch>
        </p:blipFill>
        <p:spPr>
          <a:xfrm>
            <a:off x="4946904" y="1463040"/>
            <a:ext cx="310896" cy="310896"/>
          </a:xfrm>
          <a:prstGeom prst="rect">
            <a:avLst/>
          </a:prstGeom>
        </p:spPr>
      </p:pic>
      <p:sp>
        <p:nvSpPr>
          <p:cNvPr id="12" name="Text 7"/>
          <p:cNvSpPr/>
          <p:nvPr/>
        </p:nvSpPr>
        <p:spPr>
          <a:xfrm>
            <a:off x="5367528" y="1463040"/>
            <a:ext cx="3154680" cy="310896"/>
          </a:xfrm>
          <a:prstGeom prst="rect">
            <a:avLst/>
          </a:prstGeom>
          <a:noFill/>
          <a:ln/>
        </p:spPr>
        <p:txBody>
          <a:bodyPr wrap="square" lIns="0" tIns="0" rIns="0" bIns="0" rtlCol="0" anchor="ctr"/>
          <a:lstStyle/>
          <a:p>
            <a:pPr indent="0" marL="0">
              <a:buNone/>
            </a:pPr>
            <a:r>
              <a:rPr lang="en-US" sz="1200" b="1" spc="150" kern="0" dirty="0">
                <a:solidFill>
                  <a:srgbClr val="0F766E"/>
                </a:solidFill>
                <a:latin typeface="Calibri" pitchFamily="34" charset="0"/>
                <a:ea typeface="Calibri" pitchFamily="34" charset="-122"/>
                <a:cs typeface="Calibri" pitchFamily="34" charset="-120"/>
              </a:rPr>
              <a:t>THE IDEA</a:t>
            </a:r>
            <a:endParaRPr lang="en-US" sz="1200" dirty="0"/>
          </a:p>
        </p:txBody>
      </p:sp>
      <p:sp>
        <p:nvSpPr>
          <p:cNvPr id="13" name="Text 8"/>
          <p:cNvSpPr/>
          <p:nvPr/>
        </p:nvSpPr>
        <p:spPr>
          <a:xfrm>
            <a:off x="4928616" y="1783080"/>
            <a:ext cx="3566160" cy="2103120"/>
          </a:xfrm>
          <a:prstGeom prst="rect">
            <a:avLst/>
          </a:prstGeom>
          <a:noFill/>
          <a:ln/>
        </p:spPr>
        <p:txBody>
          <a:bodyPr wrap="square" lIns="0" tIns="0" rIns="0" bIns="0" rtlCol="0" anchor="t"/>
          <a:lstStyle/>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Package the app with its entire environment — runtime, libraries, config</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Bundle it into one immutable, self-contained unit</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That unit runs identically on any machine with a container runtime</a:t>
            </a:r>
            <a:endParaRPr lang="en-US" sz="1150" dirty="0"/>
          </a:p>
        </p:txBody>
      </p:sp>
      <p:sp>
        <p:nvSpPr>
          <p:cNvPr id="14" name="Shape 9"/>
          <p:cNvSpPr/>
          <p:nvPr/>
        </p:nvSpPr>
        <p:spPr>
          <a:xfrm>
            <a:off x="457200" y="4114800"/>
            <a:ext cx="8229600" cy="475488"/>
          </a:xfrm>
          <a:prstGeom prst="roundRect">
            <a:avLst>
              <a:gd name="adj" fmla="val 15385"/>
            </a:avLst>
          </a:prstGeom>
          <a:solidFill>
            <a:srgbClr val="0F172A"/>
          </a:solidFill>
          <a:ln/>
          <a:effectLst>
            <a:outerShdw sx="100000" sy="100000" kx="0" ky="0" algn="bl" rotWithShape="0" blurRad="76200" dist="25400" dir="2700000">
              <a:srgbClr val="475569">
                <a:alpha val="12000"/>
              </a:srgbClr>
            </a:outerShdw>
          </a:effectLst>
        </p:spPr>
      </p:sp>
      <p:sp>
        <p:nvSpPr>
          <p:cNvPr id="15" name="Text 10"/>
          <p:cNvSpPr/>
          <p:nvPr/>
        </p:nvSpPr>
        <p:spPr>
          <a:xfrm>
            <a:off x="640080" y="4114800"/>
            <a:ext cx="7863840" cy="475488"/>
          </a:xfrm>
          <a:prstGeom prst="rect">
            <a:avLst/>
          </a:prstGeom>
          <a:noFill/>
          <a:ln/>
        </p:spPr>
        <p:txBody>
          <a:bodyPr wrap="square" lIns="0" tIns="0" rIns="0" bIns="0" rtlCol="0" anchor="ctr"/>
          <a:lstStyle/>
          <a:p>
            <a:pPr algn="ctr" indent="0" marL="0">
              <a:buNone/>
            </a:pPr>
            <a:r>
              <a:rPr lang="en-US" sz="1250" b="1" i="1" dirty="0">
                <a:solidFill>
                  <a:srgbClr val="FFFFFF"/>
                </a:solidFill>
                <a:latin typeface="Calibri" pitchFamily="34" charset="0"/>
                <a:ea typeface="Calibri" pitchFamily="34" charset="-122"/>
                <a:cs typeface="Calibri" pitchFamily="34" charset="-120"/>
              </a:rPr>
              <a:t>That portable, self-contained unit is a container.</a:t>
            </a:r>
            <a:endParaRPr lang="en-US" sz="1250" dirty="0"/>
          </a:p>
        </p:txBody>
      </p:sp>
      <p:sp>
        <p:nvSpPr>
          <p:cNvPr id="16" name="Text 11"/>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17" name="Text 12"/>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Foundations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EAF4FD"/>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2496ED"/>
                </a:solidFill>
                <a:latin typeface="Calibri" pitchFamily="34" charset="0"/>
                <a:ea typeface="Calibri" pitchFamily="34" charset="-122"/>
                <a:cs typeface="Calibri" pitchFamily="34" charset="-120"/>
              </a:rPr>
              <a:t>DEFINITION</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What exactly is a container?</a:t>
            </a:r>
            <a:endParaRPr lang="en-US" sz="2500" dirty="0"/>
          </a:p>
        </p:txBody>
      </p:sp>
      <p:sp>
        <p:nvSpPr>
          <p:cNvPr id="6" name="Text 3"/>
          <p:cNvSpPr/>
          <p:nvPr/>
        </p:nvSpPr>
        <p:spPr>
          <a:xfrm>
            <a:off x="502920" y="1371600"/>
            <a:ext cx="4160520" cy="2743200"/>
          </a:xfrm>
          <a:prstGeom prst="rect">
            <a:avLst/>
          </a:prstGeom>
          <a:noFill/>
          <a:ln/>
        </p:spPr>
        <p:txBody>
          <a:bodyPr wrap="square" lIns="0" tIns="0" rIns="0" bIns="0" rtlCol="0" anchor="t"/>
          <a:lstStyle/>
          <a:p>
            <a:pPr algn="l" marL="190500" indent="-190500">
              <a:buSzPct val="100000"/>
              <a:buChar char="•"/>
            </a:pPr>
            <a:r>
              <a:rPr lang="en-US" sz="1250" b="1" dirty="0">
                <a:solidFill>
                  <a:srgbClr val="0F172A"/>
                </a:solidFill>
                <a:latin typeface="Calibri" pitchFamily="34" charset="0"/>
                <a:ea typeface="Calibri" pitchFamily="34" charset="-122"/>
                <a:cs typeface="Calibri" pitchFamily="34" charset="-120"/>
              </a:rPr>
              <a:t>Isolated process</a:t>
            </a:r>
            <a:pPr algn="l" indent="0" marL="0">
              <a:spcAft>
                <a:spcPts val="1000"/>
              </a:spcAft>
              <a:buNone/>
            </a:pPr>
            <a:r>
              <a:rPr lang="en-US" sz="1250" dirty="0">
                <a:solidFill>
                  <a:srgbClr val="475569"/>
                </a:solidFill>
                <a:latin typeface="Calibri" pitchFamily="34" charset="0"/>
                <a:ea typeface="Calibri" pitchFamily="34" charset="-122"/>
                <a:cs typeface="Calibri" pitchFamily="34" charset="-120"/>
              </a:rPr>
              <a:t>  — its own filesystem, network &amp; process tree</a:t>
            </a:r>
            <a:endParaRPr lang="en-US" sz="1250" dirty="0"/>
          </a:p>
          <a:p>
            <a:pPr algn="l" marL="190500" indent="-190500">
              <a:buSzPct val="100000"/>
              <a:buChar char="•"/>
            </a:pPr>
            <a:r>
              <a:rPr lang="en-US" sz="1250" b="1" dirty="0">
                <a:solidFill>
                  <a:srgbClr val="0F172A"/>
                </a:solidFill>
                <a:latin typeface="Calibri" pitchFamily="34" charset="0"/>
                <a:ea typeface="Calibri" pitchFamily="34" charset="-122"/>
                <a:cs typeface="Calibri" pitchFamily="34" charset="-120"/>
              </a:rPr>
              <a:t>Namespaces</a:t>
            </a:r>
            <a:pPr algn="l" indent="0" marL="0">
              <a:spcAft>
                <a:spcPts val="1000"/>
              </a:spcAft>
              <a:buNone/>
            </a:pPr>
            <a:r>
              <a:rPr lang="en-US" sz="1250" dirty="0">
                <a:solidFill>
                  <a:srgbClr val="475569"/>
                </a:solidFill>
                <a:latin typeface="Calibri" pitchFamily="34" charset="0"/>
                <a:ea typeface="Calibri" pitchFamily="34" charset="-122"/>
                <a:cs typeface="Calibri" pitchFamily="34" charset="-120"/>
              </a:rPr>
              <a:t>  — the kernel feature that provides that isolation</a:t>
            </a:r>
            <a:endParaRPr lang="en-US" sz="1250" dirty="0"/>
          </a:p>
          <a:p>
            <a:pPr algn="l" marL="190500" indent="-190500">
              <a:buSzPct val="100000"/>
              <a:buChar char="•"/>
            </a:pPr>
            <a:r>
              <a:rPr lang="en-US" sz="1250" b="1" dirty="0">
                <a:solidFill>
                  <a:srgbClr val="0F172A"/>
                </a:solidFill>
                <a:latin typeface="Calibri" pitchFamily="34" charset="0"/>
                <a:ea typeface="Calibri" pitchFamily="34" charset="-122"/>
                <a:cs typeface="Calibri" pitchFamily="34" charset="-120"/>
              </a:rPr>
              <a:t>cgroups</a:t>
            </a:r>
            <a:pPr algn="l" indent="0" marL="0">
              <a:spcAft>
                <a:spcPts val="1000"/>
              </a:spcAft>
              <a:buNone/>
            </a:pPr>
            <a:r>
              <a:rPr lang="en-US" sz="1250" dirty="0">
                <a:solidFill>
                  <a:srgbClr val="475569"/>
                </a:solidFill>
                <a:latin typeface="Calibri" pitchFamily="34" charset="0"/>
                <a:ea typeface="Calibri" pitchFamily="34" charset="-122"/>
                <a:cs typeface="Calibri" pitchFamily="34" charset="-120"/>
              </a:rPr>
              <a:t>  — limit CPU, memory &amp; I/O per container</a:t>
            </a:r>
            <a:endParaRPr lang="en-US" sz="1250" dirty="0"/>
          </a:p>
          <a:p>
            <a:pPr algn="l" marL="190500" indent="-190500">
              <a:buSzPct val="100000"/>
              <a:buChar char="•"/>
            </a:pPr>
            <a:r>
              <a:rPr lang="en-US" sz="1250" b="1" dirty="0">
                <a:solidFill>
                  <a:srgbClr val="0F172A"/>
                </a:solidFill>
                <a:latin typeface="Calibri" pitchFamily="34" charset="0"/>
                <a:ea typeface="Calibri" pitchFamily="34" charset="-122"/>
                <a:cs typeface="Calibri" pitchFamily="34" charset="-120"/>
              </a:rPr>
              <a:t>Shares the host kernel</a:t>
            </a:r>
            <a:pPr algn="l" indent="0" marL="0">
              <a:spcAft>
                <a:spcPts val="1000"/>
              </a:spcAft>
              <a:buNone/>
            </a:pPr>
            <a:r>
              <a:rPr lang="en-US" sz="1250" dirty="0">
                <a:solidFill>
                  <a:srgbClr val="475569"/>
                </a:solidFill>
                <a:latin typeface="Calibri" pitchFamily="34" charset="0"/>
                <a:ea typeface="Calibri" pitchFamily="34" charset="-122"/>
                <a:cs typeface="Calibri" pitchFamily="34" charset="-120"/>
              </a:rPr>
              <a:t>  — no guest OS, unlike a VM</a:t>
            </a:r>
            <a:endParaRPr lang="en-US" sz="1250" dirty="0"/>
          </a:p>
          <a:p>
            <a:pPr algn="l" marL="190500" indent="-190500">
              <a:buSzPct val="100000"/>
              <a:buChar char="•"/>
            </a:pPr>
            <a:r>
              <a:rPr lang="en-US" sz="1250" b="1" dirty="0">
                <a:solidFill>
                  <a:srgbClr val="0F172A"/>
                </a:solidFill>
                <a:latin typeface="Calibri" pitchFamily="34" charset="0"/>
                <a:ea typeface="Calibri" pitchFamily="34" charset="-122"/>
                <a:cs typeface="Calibri" pitchFamily="34" charset="-120"/>
              </a:rPr>
              <a:t>Built from an image</a:t>
            </a:r>
            <a:pPr algn="l" indent="0" marL="0">
              <a:spcAft>
                <a:spcPts val="1000"/>
              </a:spcAft>
              <a:buNone/>
            </a:pPr>
            <a:r>
              <a:rPr lang="en-US" sz="1250" dirty="0">
                <a:solidFill>
                  <a:srgbClr val="475569"/>
                </a:solidFill>
                <a:latin typeface="Calibri" pitchFamily="34" charset="0"/>
                <a:ea typeface="Calibri" pitchFamily="34" charset="-122"/>
                <a:cs typeface="Calibri" pitchFamily="34" charset="-120"/>
              </a:rPr>
              <a:t>  — a read-only template</a:t>
            </a:r>
            <a:endParaRPr lang="en-US" sz="1250" dirty="0"/>
          </a:p>
        </p:txBody>
      </p:sp>
      <p:sp>
        <p:nvSpPr>
          <p:cNvPr id="7" name="Shape 4"/>
          <p:cNvSpPr/>
          <p:nvPr/>
        </p:nvSpPr>
        <p:spPr>
          <a:xfrm>
            <a:off x="5074920" y="1371600"/>
            <a:ext cx="3429000" cy="896112"/>
          </a:xfrm>
          <a:prstGeom prst="roundRect">
            <a:avLst>
              <a:gd name="adj" fmla="val 8163"/>
            </a:avLst>
          </a:prstGeom>
          <a:solidFill>
            <a:srgbClr val="EAF4FD"/>
          </a:solidFill>
          <a:ln w="12700">
            <a:solidFill>
              <a:srgbClr val="BBDDF7"/>
            </a:solidFill>
            <a:prstDash val="solid"/>
          </a:ln>
        </p:spPr>
      </p:sp>
      <p:sp>
        <p:nvSpPr>
          <p:cNvPr id="8" name="Text 5"/>
          <p:cNvSpPr/>
          <p:nvPr/>
        </p:nvSpPr>
        <p:spPr>
          <a:xfrm>
            <a:off x="5074920" y="1371600"/>
            <a:ext cx="3429000" cy="896112"/>
          </a:xfrm>
          <a:prstGeom prst="rect">
            <a:avLst/>
          </a:prstGeom>
          <a:noFill/>
          <a:ln/>
        </p:spPr>
        <p:txBody>
          <a:bodyPr wrap="square" lIns="0" tIns="0" rIns="0" bIns="0" rtlCol="0" anchor="ctr"/>
          <a:lstStyle/>
          <a:p>
            <a:pPr algn="ctr" indent="0" marL="0">
              <a:lnSpc>
                <a:spcPts val="1300"/>
              </a:lnSpc>
              <a:buNone/>
            </a:pPr>
            <a:r>
              <a:rPr lang="en-US" sz="1100" b="1" dirty="0">
                <a:solidFill>
                  <a:srgbClr val="2496ED"/>
                </a:solidFill>
                <a:latin typeface="Calibri" pitchFamily="34" charset="0"/>
                <a:ea typeface="Calibri" pitchFamily="34" charset="-122"/>
                <a:cs typeface="Calibri" pitchFamily="34" charset="-120"/>
              </a:rPr>
              <a:t>CONTAINER</a:t>
            </a:r>
            <a:endParaRPr lang="en-US" sz="1100" dirty="0"/>
          </a:p>
          <a:p>
            <a:pPr algn="ctr" indent="0" marL="0">
              <a:lnSpc>
                <a:spcPts val="1300"/>
              </a:lnSpc>
              <a:buNone/>
            </a:pPr>
            <a:r>
              <a:rPr lang="en-US" sz="1000" dirty="0">
                <a:solidFill>
                  <a:srgbClr val="475569"/>
                </a:solidFill>
                <a:latin typeface="Calibri" pitchFamily="34" charset="0"/>
                <a:ea typeface="Calibri" pitchFamily="34" charset="-122"/>
                <a:cs typeface="Calibri" pitchFamily="34" charset="-120"/>
              </a:rPr>
              <a:t>your app  +  libraries</a:t>
            </a:r>
            <a:endParaRPr lang="en-US" sz="1100" dirty="0"/>
          </a:p>
        </p:txBody>
      </p:sp>
      <p:sp>
        <p:nvSpPr>
          <p:cNvPr id="9" name="Shape 6"/>
          <p:cNvSpPr/>
          <p:nvPr/>
        </p:nvSpPr>
        <p:spPr>
          <a:xfrm>
            <a:off x="5074920" y="2340864"/>
            <a:ext cx="3429000" cy="457200"/>
          </a:xfrm>
          <a:prstGeom prst="rect">
            <a:avLst/>
          </a:prstGeom>
          <a:solidFill>
            <a:srgbClr val="2496ED"/>
          </a:solidFill>
          <a:ln w="15875">
            <a:solidFill>
              <a:srgbClr val="FFFFFF"/>
            </a:solidFill>
            <a:prstDash val="solid"/>
          </a:ln>
        </p:spPr>
      </p:sp>
      <p:sp>
        <p:nvSpPr>
          <p:cNvPr id="10" name="Text 7"/>
          <p:cNvSpPr/>
          <p:nvPr/>
        </p:nvSpPr>
        <p:spPr>
          <a:xfrm>
            <a:off x="5074920" y="2340864"/>
            <a:ext cx="34290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Docker Engine</a:t>
            </a:r>
            <a:endParaRPr lang="en-US" sz="1000" dirty="0"/>
          </a:p>
        </p:txBody>
      </p:sp>
      <p:sp>
        <p:nvSpPr>
          <p:cNvPr id="11" name="Shape 8"/>
          <p:cNvSpPr/>
          <p:nvPr/>
        </p:nvSpPr>
        <p:spPr>
          <a:xfrm>
            <a:off x="5074920" y="2834640"/>
            <a:ext cx="3429000" cy="457200"/>
          </a:xfrm>
          <a:prstGeom prst="rect">
            <a:avLst/>
          </a:prstGeom>
          <a:solidFill>
            <a:srgbClr val="1E293B"/>
          </a:solidFill>
          <a:ln w="15875">
            <a:solidFill>
              <a:srgbClr val="FFFFFF"/>
            </a:solidFill>
            <a:prstDash val="solid"/>
          </a:ln>
        </p:spPr>
      </p:sp>
      <p:sp>
        <p:nvSpPr>
          <p:cNvPr id="12" name="Text 9"/>
          <p:cNvSpPr/>
          <p:nvPr/>
        </p:nvSpPr>
        <p:spPr>
          <a:xfrm>
            <a:off x="5074920" y="2834640"/>
            <a:ext cx="34290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Host OS Kernel  (shared)</a:t>
            </a:r>
            <a:endParaRPr lang="en-US" sz="1000" dirty="0"/>
          </a:p>
        </p:txBody>
      </p:sp>
      <p:sp>
        <p:nvSpPr>
          <p:cNvPr id="13" name="Shape 10"/>
          <p:cNvSpPr/>
          <p:nvPr/>
        </p:nvSpPr>
        <p:spPr>
          <a:xfrm>
            <a:off x="5074920" y="3328416"/>
            <a:ext cx="3429000" cy="457200"/>
          </a:xfrm>
          <a:prstGeom prst="rect">
            <a:avLst/>
          </a:prstGeom>
          <a:solidFill>
            <a:srgbClr val="64748B"/>
          </a:solidFill>
          <a:ln w="15875">
            <a:solidFill>
              <a:srgbClr val="FFFFFF"/>
            </a:solidFill>
            <a:prstDash val="solid"/>
          </a:ln>
        </p:spPr>
      </p:sp>
      <p:sp>
        <p:nvSpPr>
          <p:cNvPr id="14" name="Text 11"/>
          <p:cNvSpPr/>
          <p:nvPr/>
        </p:nvSpPr>
        <p:spPr>
          <a:xfrm>
            <a:off x="5074920" y="3328416"/>
            <a:ext cx="34290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Hardware  /  VM</a:t>
            </a:r>
            <a:endParaRPr lang="en-US" sz="1000" dirty="0"/>
          </a:p>
        </p:txBody>
      </p:sp>
      <p:sp>
        <p:nvSpPr>
          <p:cNvPr id="15" name="Shape 12"/>
          <p:cNvSpPr/>
          <p:nvPr/>
        </p:nvSpPr>
        <p:spPr>
          <a:xfrm>
            <a:off x="457200" y="4160520"/>
            <a:ext cx="8229600" cy="475488"/>
          </a:xfrm>
          <a:prstGeom prst="roundRect">
            <a:avLst>
              <a:gd name="adj" fmla="val 15385"/>
            </a:avLst>
          </a:prstGeom>
          <a:solidFill>
            <a:srgbClr val="0F766E"/>
          </a:solidFill>
          <a:ln/>
          <a:effectLst>
            <a:outerShdw sx="100000" sy="100000" kx="0" ky="0" algn="bl" rotWithShape="0" blurRad="76200" dist="25400" dir="2700000">
              <a:srgbClr val="475569">
                <a:alpha val="12000"/>
              </a:srgbClr>
            </a:outerShdw>
          </a:effectLst>
        </p:spPr>
      </p:sp>
      <p:sp>
        <p:nvSpPr>
          <p:cNvPr id="16" name="Text 13"/>
          <p:cNvSpPr/>
          <p:nvPr/>
        </p:nvSpPr>
        <p:spPr>
          <a:xfrm>
            <a:off x="640080" y="4160520"/>
            <a:ext cx="7863840" cy="475488"/>
          </a:xfrm>
          <a:prstGeom prst="rect">
            <a:avLst/>
          </a:prstGeom>
          <a:noFill/>
          <a:ln/>
        </p:spPr>
        <p:txBody>
          <a:bodyPr wrap="square" lIns="0" tIns="0" rIns="0" bIns="0" rtlCol="0" anchor="ctr"/>
          <a:lstStyle/>
          <a:p>
            <a:pPr algn="ctr" indent="0" marL="0">
              <a:buNone/>
            </a:pPr>
            <a:r>
              <a:rPr lang="en-US" sz="1250" b="1" i="1" dirty="0">
                <a:solidFill>
                  <a:srgbClr val="FFFFFF"/>
                </a:solidFill>
                <a:latin typeface="Calibri" pitchFamily="34" charset="0"/>
                <a:ea typeface="Calibri" pitchFamily="34" charset="-122"/>
                <a:cs typeface="Calibri" pitchFamily="34" charset="-120"/>
              </a:rPr>
              <a:t>Docker is the platform that builds, ships &amp; runs containers — the container is the unit.</a:t>
            </a:r>
            <a:endParaRPr lang="en-US" sz="1250" dirty="0"/>
          </a:p>
        </p:txBody>
      </p:sp>
      <p:sp>
        <p:nvSpPr>
          <p:cNvPr id="17" name="Text 14"/>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18" name="Text 15"/>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Foundations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ARCHITECTURE</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Containers vs Virtual Machines</a:t>
            </a:r>
            <a:endParaRPr lang="en-US" sz="2500" dirty="0"/>
          </a:p>
        </p:txBody>
      </p:sp>
      <p:sp>
        <p:nvSpPr>
          <p:cNvPr id="6" name="Text 3"/>
          <p:cNvSpPr/>
          <p:nvPr/>
        </p:nvSpPr>
        <p:spPr>
          <a:xfrm>
            <a:off x="640080" y="1170432"/>
            <a:ext cx="3657600" cy="256032"/>
          </a:xfrm>
          <a:prstGeom prst="rect">
            <a:avLst/>
          </a:prstGeom>
          <a:noFill/>
          <a:ln/>
        </p:spPr>
        <p:txBody>
          <a:bodyPr wrap="square" lIns="0" tIns="0" rIns="0" bIns="0" rtlCol="0" anchor="ctr"/>
          <a:lstStyle/>
          <a:p>
            <a:pPr indent="0" marL="0">
              <a:buNone/>
            </a:pPr>
            <a:r>
              <a:rPr lang="en-US" sz="1150" b="1" spc="150" kern="0" dirty="0">
                <a:solidFill>
                  <a:srgbClr val="C2410C"/>
                </a:solidFill>
                <a:latin typeface="Calibri" pitchFamily="34" charset="0"/>
                <a:ea typeface="Calibri" pitchFamily="34" charset="-122"/>
                <a:cs typeface="Calibri" pitchFamily="34" charset="-120"/>
              </a:rPr>
              <a:t>VIRTUAL MACHINES</a:t>
            </a:r>
            <a:endParaRPr lang="en-US" sz="1150" dirty="0"/>
          </a:p>
        </p:txBody>
      </p:sp>
      <p:sp>
        <p:nvSpPr>
          <p:cNvPr id="7" name="Text 4"/>
          <p:cNvSpPr/>
          <p:nvPr/>
        </p:nvSpPr>
        <p:spPr>
          <a:xfrm>
            <a:off x="4846320" y="1170432"/>
            <a:ext cx="3657600" cy="256032"/>
          </a:xfrm>
          <a:prstGeom prst="rect">
            <a:avLst/>
          </a:prstGeom>
          <a:noFill/>
          <a:ln/>
        </p:spPr>
        <p:txBody>
          <a:bodyPr wrap="square" lIns="0" tIns="0" rIns="0" bIns="0" rtlCol="0" anchor="ctr"/>
          <a:lstStyle/>
          <a:p>
            <a:pPr indent="0" marL="0">
              <a:buNone/>
            </a:pPr>
            <a:r>
              <a:rPr lang="en-US" sz="1150" b="1" spc="150" kern="0" dirty="0">
                <a:solidFill>
                  <a:srgbClr val="0F766E"/>
                </a:solidFill>
                <a:latin typeface="Calibri" pitchFamily="34" charset="0"/>
                <a:ea typeface="Calibri" pitchFamily="34" charset="-122"/>
                <a:cs typeface="Calibri" pitchFamily="34" charset="-120"/>
              </a:rPr>
              <a:t>CONTAINERS</a:t>
            </a:r>
            <a:endParaRPr lang="en-US" sz="1150" dirty="0"/>
          </a:p>
        </p:txBody>
      </p:sp>
      <p:sp>
        <p:nvSpPr>
          <p:cNvPr id="8" name="Shape 5"/>
          <p:cNvSpPr/>
          <p:nvPr/>
        </p:nvSpPr>
        <p:spPr>
          <a:xfrm>
            <a:off x="713232" y="1481328"/>
            <a:ext cx="1106424" cy="365760"/>
          </a:xfrm>
          <a:prstGeom prst="rect">
            <a:avLst/>
          </a:prstGeom>
          <a:solidFill>
            <a:srgbClr val="0D9488"/>
          </a:solidFill>
          <a:ln w="15875">
            <a:solidFill>
              <a:srgbClr val="FFFFFF"/>
            </a:solidFill>
            <a:prstDash val="solid"/>
          </a:ln>
        </p:spPr>
      </p:sp>
      <p:sp>
        <p:nvSpPr>
          <p:cNvPr id="9" name="Text 6"/>
          <p:cNvSpPr/>
          <p:nvPr/>
        </p:nvSpPr>
        <p:spPr>
          <a:xfrm>
            <a:off x="713232" y="1481328"/>
            <a:ext cx="1106424"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App</a:t>
            </a:r>
            <a:endParaRPr lang="en-US" sz="900" dirty="0"/>
          </a:p>
        </p:txBody>
      </p:sp>
      <p:sp>
        <p:nvSpPr>
          <p:cNvPr id="10" name="Shape 7"/>
          <p:cNvSpPr/>
          <p:nvPr/>
        </p:nvSpPr>
        <p:spPr>
          <a:xfrm>
            <a:off x="713232" y="1847088"/>
            <a:ext cx="1106424" cy="365760"/>
          </a:xfrm>
          <a:prstGeom prst="rect">
            <a:avLst/>
          </a:prstGeom>
          <a:solidFill>
            <a:srgbClr val="334155"/>
          </a:solidFill>
          <a:ln w="15875">
            <a:solidFill>
              <a:srgbClr val="FFFFFF"/>
            </a:solidFill>
            <a:prstDash val="solid"/>
          </a:ln>
        </p:spPr>
      </p:sp>
      <p:sp>
        <p:nvSpPr>
          <p:cNvPr id="11" name="Text 8"/>
          <p:cNvSpPr/>
          <p:nvPr/>
        </p:nvSpPr>
        <p:spPr>
          <a:xfrm>
            <a:off x="713232" y="1847088"/>
            <a:ext cx="1106424"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Bins/Libs</a:t>
            </a:r>
            <a:endParaRPr lang="en-US" sz="850" dirty="0"/>
          </a:p>
        </p:txBody>
      </p:sp>
      <p:sp>
        <p:nvSpPr>
          <p:cNvPr id="12" name="Shape 9"/>
          <p:cNvSpPr/>
          <p:nvPr/>
        </p:nvSpPr>
        <p:spPr>
          <a:xfrm>
            <a:off x="713232" y="2212848"/>
            <a:ext cx="1106424" cy="1033272"/>
          </a:xfrm>
          <a:prstGeom prst="rect">
            <a:avLst/>
          </a:prstGeom>
          <a:solidFill>
            <a:srgbClr val="C2410C"/>
          </a:solidFill>
          <a:ln w="15875">
            <a:solidFill>
              <a:srgbClr val="FFFFFF"/>
            </a:solidFill>
            <a:prstDash val="solid"/>
          </a:ln>
        </p:spPr>
      </p:sp>
      <p:sp>
        <p:nvSpPr>
          <p:cNvPr id="13" name="Text 10"/>
          <p:cNvSpPr/>
          <p:nvPr/>
        </p:nvSpPr>
        <p:spPr>
          <a:xfrm>
            <a:off x="713232" y="2212848"/>
            <a:ext cx="1106424" cy="10332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Guest</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OS</a:t>
            </a:r>
            <a:endParaRPr lang="en-US" sz="900" dirty="0"/>
          </a:p>
        </p:txBody>
      </p:sp>
      <p:sp>
        <p:nvSpPr>
          <p:cNvPr id="14" name="Shape 11"/>
          <p:cNvSpPr/>
          <p:nvPr/>
        </p:nvSpPr>
        <p:spPr>
          <a:xfrm>
            <a:off x="1911096" y="1481328"/>
            <a:ext cx="1106424" cy="365760"/>
          </a:xfrm>
          <a:prstGeom prst="rect">
            <a:avLst/>
          </a:prstGeom>
          <a:solidFill>
            <a:srgbClr val="0D9488"/>
          </a:solidFill>
          <a:ln w="15875">
            <a:solidFill>
              <a:srgbClr val="FFFFFF"/>
            </a:solidFill>
            <a:prstDash val="solid"/>
          </a:ln>
        </p:spPr>
      </p:sp>
      <p:sp>
        <p:nvSpPr>
          <p:cNvPr id="15" name="Text 12"/>
          <p:cNvSpPr/>
          <p:nvPr/>
        </p:nvSpPr>
        <p:spPr>
          <a:xfrm>
            <a:off x="1911096" y="1481328"/>
            <a:ext cx="1106424"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App</a:t>
            </a:r>
            <a:endParaRPr lang="en-US" sz="900" dirty="0"/>
          </a:p>
        </p:txBody>
      </p:sp>
      <p:sp>
        <p:nvSpPr>
          <p:cNvPr id="16" name="Shape 13"/>
          <p:cNvSpPr/>
          <p:nvPr/>
        </p:nvSpPr>
        <p:spPr>
          <a:xfrm>
            <a:off x="1911096" y="1847088"/>
            <a:ext cx="1106424" cy="365760"/>
          </a:xfrm>
          <a:prstGeom prst="rect">
            <a:avLst/>
          </a:prstGeom>
          <a:solidFill>
            <a:srgbClr val="334155"/>
          </a:solidFill>
          <a:ln w="15875">
            <a:solidFill>
              <a:srgbClr val="FFFFFF"/>
            </a:solidFill>
            <a:prstDash val="solid"/>
          </a:ln>
        </p:spPr>
      </p:sp>
      <p:sp>
        <p:nvSpPr>
          <p:cNvPr id="17" name="Text 14"/>
          <p:cNvSpPr/>
          <p:nvPr/>
        </p:nvSpPr>
        <p:spPr>
          <a:xfrm>
            <a:off x="1911096" y="1847088"/>
            <a:ext cx="1106424"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Bins/Libs</a:t>
            </a:r>
            <a:endParaRPr lang="en-US" sz="850" dirty="0"/>
          </a:p>
        </p:txBody>
      </p:sp>
      <p:sp>
        <p:nvSpPr>
          <p:cNvPr id="18" name="Shape 15"/>
          <p:cNvSpPr/>
          <p:nvPr/>
        </p:nvSpPr>
        <p:spPr>
          <a:xfrm>
            <a:off x="1911096" y="2212848"/>
            <a:ext cx="1106424" cy="1033272"/>
          </a:xfrm>
          <a:prstGeom prst="rect">
            <a:avLst/>
          </a:prstGeom>
          <a:solidFill>
            <a:srgbClr val="C2410C"/>
          </a:solidFill>
          <a:ln w="15875">
            <a:solidFill>
              <a:srgbClr val="FFFFFF"/>
            </a:solidFill>
            <a:prstDash val="solid"/>
          </a:ln>
        </p:spPr>
      </p:sp>
      <p:sp>
        <p:nvSpPr>
          <p:cNvPr id="19" name="Text 16"/>
          <p:cNvSpPr/>
          <p:nvPr/>
        </p:nvSpPr>
        <p:spPr>
          <a:xfrm>
            <a:off x="1911096" y="2212848"/>
            <a:ext cx="1106424" cy="10332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Guest</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OS</a:t>
            </a:r>
            <a:endParaRPr lang="en-US" sz="900" dirty="0"/>
          </a:p>
        </p:txBody>
      </p:sp>
      <p:sp>
        <p:nvSpPr>
          <p:cNvPr id="20" name="Shape 17"/>
          <p:cNvSpPr/>
          <p:nvPr/>
        </p:nvSpPr>
        <p:spPr>
          <a:xfrm>
            <a:off x="3108960" y="1481328"/>
            <a:ext cx="1106424" cy="365760"/>
          </a:xfrm>
          <a:prstGeom prst="rect">
            <a:avLst/>
          </a:prstGeom>
          <a:solidFill>
            <a:srgbClr val="0D9488"/>
          </a:solidFill>
          <a:ln w="15875">
            <a:solidFill>
              <a:srgbClr val="FFFFFF"/>
            </a:solidFill>
            <a:prstDash val="solid"/>
          </a:ln>
        </p:spPr>
      </p:sp>
      <p:sp>
        <p:nvSpPr>
          <p:cNvPr id="21" name="Text 18"/>
          <p:cNvSpPr/>
          <p:nvPr/>
        </p:nvSpPr>
        <p:spPr>
          <a:xfrm>
            <a:off x="3108960" y="1481328"/>
            <a:ext cx="1106424"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App</a:t>
            </a:r>
            <a:endParaRPr lang="en-US" sz="900" dirty="0"/>
          </a:p>
        </p:txBody>
      </p:sp>
      <p:sp>
        <p:nvSpPr>
          <p:cNvPr id="22" name="Shape 19"/>
          <p:cNvSpPr/>
          <p:nvPr/>
        </p:nvSpPr>
        <p:spPr>
          <a:xfrm>
            <a:off x="3108960" y="1847088"/>
            <a:ext cx="1106424" cy="365760"/>
          </a:xfrm>
          <a:prstGeom prst="rect">
            <a:avLst/>
          </a:prstGeom>
          <a:solidFill>
            <a:srgbClr val="334155"/>
          </a:solidFill>
          <a:ln w="15875">
            <a:solidFill>
              <a:srgbClr val="FFFFFF"/>
            </a:solidFill>
            <a:prstDash val="solid"/>
          </a:ln>
        </p:spPr>
      </p:sp>
      <p:sp>
        <p:nvSpPr>
          <p:cNvPr id="23" name="Text 20"/>
          <p:cNvSpPr/>
          <p:nvPr/>
        </p:nvSpPr>
        <p:spPr>
          <a:xfrm>
            <a:off x="3108960" y="1847088"/>
            <a:ext cx="1106424"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Bins/Libs</a:t>
            </a:r>
            <a:endParaRPr lang="en-US" sz="850" dirty="0"/>
          </a:p>
        </p:txBody>
      </p:sp>
      <p:sp>
        <p:nvSpPr>
          <p:cNvPr id="24" name="Shape 21"/>
          <p:cNvSpPr/>
          <p:nvPr/>
        </p:nvSpPr>
        <p:spPr>
          <a:xfrm>
            <a:off x="3108960" y="2212848"/>
            <a:ext cx="1106424" cy="1033272"/>
          </a:xfrm>
          <a:prstGeom prst="rect">
            <a:avLst/>
          </a:prstGeom>
          <a:solidFill>
            <a:srgbClr val="C2410C"/>
          </a:solidFill>
          <a:ln w="15875">
            <a:solidFill>
              <a:srgbClr val="FFFFFF"/>
            </a:solidFill>
            <a:prstDash val="solid"/>
          </a:ln>
        </p:spPr>
      </p:sp>
      <p:sp>
        <p:nvSpPr>
          <p:cNvPr id="25" name="Text 22"/>
          <p:cNvSpPr/>
          <p:nvPr/>
        </p:nvSpPr>
        <p:spPr>
          <a:xfrm>
            <a:off x="3108960" y="2212848"/>
            <a:ext cx="1106424" cy="10332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Guest</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OS</a:t>
            </a:r>
            <a:endParaRPr lang="en-US" sz="900" dirty="0"/>
          </a:p>
        </p:txBody>
      </p:sp>
      <p:sp>
        <p:nvSpPr>
          <p:cNvPr id="26" name="Shape 23"/>
          <p:cNvSpPr/>
          <p:nvPr/>
        </p:nvSpPr>
        <p:spPr>
          <a:xfrm>
            <a:off x="640080" y="3264408"/>
            <a:ext cx="3657600" cy="384048"/>
          </a:xfrm>
          <a:prstGeom prst="rect">
            <a:avLst/>
          </a:prstGeom>
          <a:solidFill>
            <a:srgbClr val="1E293B"/>
          </a:solidFill>
          <a:ln w="15875">
            <a:solidFill>
              <a:srgbClr val="FFFFFF"/>
            </a:solidFill>
            <a:prstDash val="solid"/>
          </a:ln>
        </p:spPr>
      </p:sp>
      <p:sp>
        <p:nvSpPr>
          <p:cNvPr id="27" name="Text 24"/>
          <p:cNvSpPr/>
          <p:nvPr/>
        </p:nvSpPr>
        <p:spPr>
          <a:xfrm>
            <a:off x="640080" y="3264408"/>
            <a:ext cx="3657600"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Hypervisor</a:t>
            </a:r>
            <a:endParaRPr lang="en-US" sz="950" dirty="0"/>
          </a:p>
        </p:txBody>
      </p:sp>
      <p:sp>
        <p:nvSpPr>
          <p:cNvPr id="28" name="Shape 25"/>
          <p:cNvSpPr/>
          <p:nvPr/>
        </p:nvSpPr>
        <p:spPr>
          <a:xfrm>
            <a:off x="640080" y="3648456"/>
            <a:ext cx="3657600" cy="384048"/>
          </a:xfrm>
          <a:prstGeom prst="rect">
            <a:avLst/>
          </a:prstGeom>
          <a:solidFill>
            <a:srgbClr val="64748B"/>
          </a:solidFill>
          <a:ln w="15875">
            <a:solidFill>
              <a:srgbClr val="FFFFFF"/>
            </a:solidFill>
            <a:prstDash val="solid"/>
          </a:ln>
        </p:spPr>
      </p:sp>
      <p:sp>
        <p:nvSpPr>
          <p:cNvPr id="29" name="Text 26"/>
          <p:cNvSpPr/>
          <p:nvPr/>
        </p:nvSpPr>
        <p:spPr>
          <a:xfrm>
            <a:off x="640080" y="3648456"/>
            <a:ext cx="3657600"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Host OS</a:t>
            </a:r>
            <a:endParaRPr lang="en-US" sz="950" dirty="0"/>
          </a:p>
        </p:txBody>
      </p:sp>
      <p:sp>
        <p:nvSpPr>
          <p:cNvPr id="30" name="Shape 27"/>
          <p:cNvSpPr/>
          <p:nvPr/>
        </p:nvSpPr>
        <p:spPr>
          <a:xfrm>
            <a:off x="640080" y="4032504"/>
            <a:ext cx="3657600" cy="384048"/>
          </a:xfrm>
          <a:prstGeom prst="rect">
            <a:avLst/>
          </a:prstGeom>
          <a:solidFill>
            <a:srgbClr val="0F172A"/>
          </a:solidFill>
          <a:ln w="15875">
            <a:solidFill>
              <a:srgbClr val="FFFFFF"/>
            </a:solidFill>
            <a:prstDash val="solid"/>
          </a:ln>
        </p:spPr>
      </p:sp>
      <p:sp>
        <p:nvSpPr>
          <p:cNvPr id="31" name="Text 28"/>
          <p:cNvSpPr/>
          <p:nvPr/>
        </p:nvSpPr>
        <p:spPr>
          <a:xfrm>
            <a:off x="640080" y="4032504"/>
            <a:ext cx="3657600"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Infrastructure</a:t>
            </a:r>
            <a:endParaRPr lang="en-US" sz="950" dirty="0"/>
          </a:p>
        </p:txBody>
      </p:sp>
      <p:sp>
        <p:nvSpPr>
          <p:cNvPr id="32" name="Shape 29"/>
          <p:cNvSpPr/>
          <p:nvPr/>
        </p:nvSpPr>
        <p:spPr>
          <a:xfrm>
            <a:off x="4892040" y="1481328"/>
            <a:ext cx="3529584" cy="960120"/>
          </a:xfrm>
          <a:prstGeom prst="roundRect">
            <a:avLst>
              <a:gd name="adj" fmla="val 5714"/>
            </a:avLst>
          </a:prstGeom>
          <a:solidFill>
            <a:srgbClr val="F0FDFA"/>
          </a:solidFill>
          <a:ln w="12700">
            <a:solidFill>
              <a:srgbClr val="99F6E4"/>
            </a:solidFill>
            <a:prstDash val="dash"/>
          </a:ln>
        </p:spPr>
      </p:sp>
      <p:sp>
        <p:nvSpPr>
          <p:cNvPr id="33" name="Text 30"/>
          <p:cNvSpPr/>
          <p:nvPr/>
        </p:nvSpPr>
        <p:spPr>
          <a:xfrm>
            <a:off x="4892040" y="1481328"/>
            <a:ext cx="3529584" cy="960120"/>
          </a:xfrm>
          <a:prstGeom prst="rect">
            <a:avLst/>
          </a:prstGeom>
          <a:noFill/>
          <a:ln/>
        </p:spPr>
        <p:txBody>
          <a:bodyPr wrap="square" lIns="0" tIns="0" rIns="0" bIns="0" rtlCol="0" anchor="ctr"/>
          <a:lstStyle/>
          <a:p>
            <a:pPr algn="ctr" indent="0" marL="0">
              <a:lnSpc>
                <a:spcPts val="1300"/>
              </a:lnSpc>
              <a:buNone/>
            </a:pPr>
            <a:r>
              <a:rPr lang="en-US" sz="1050" b="1" i="1" dirty="0">
                <a:solidFill>
                  <a:srgbClr val="0F766E"/>
                </a:solidFill>
                <a:latin typeface="Calibri" pitchFamily="34" charset="0"/>
                <a:ea typeface="Calibri" pitchFamily="34" charset="-122"/>
                <a:cs typeface="Calibri" pitchFamily="34" charset="-120"/>
              </a:rPr>
              <a:t>no guest OS</a:t>
            </a:r>
            <a:endParaRPr lang="en-US" sz="1050" dirty="0"/>
          </a:p>
          <a:p>
            <a:pPr algn="ctr" indent="0" marL="0">
              <a:lnSpc>
                <a:spcPts val="1300"/>
              </a:lnSpc>
              <a:buNone/>
            </a:pPr>
            <a:r>
              <a:rPr lang="en-US" sz="1050" b="1" i="1" dirty="0">
                <a:solidFill>
                  <a:srgbClr val="0F766E"/>
                </a:solidFill>
                <a:latin typeface="Calibri" pitchFamily="34" charset="0"/>
                <a:ea typeface="Calibri" pitchFamily="34" charset="-122"/>
                <a:cs typeface="Calibri" pitchFamily="34" charset="-120"/>
              </a:rPr>
              <a:t>— shared kernel —</a:t>
            </a:r>
            <a:endParaRPr lang="en-US" sz="1050" dirty="0"/>
          </a:p>
        </p:txBody>
      </p:sp>
      <p:sp>
        <p:nvSpPr>
          <p:cNvPr id="34" name="Shape 31"/>
          <p:cNvSpPr/>
          <p:nvPr/>
        </p:nvSpPr>
        <p:spPr>
          <a:xfrm>
            <a:off x="4919472" y="2514600"/>
            <a:ext cx="1106424" cy="365760"/>
          </a:xfrm>
          <a:prstGeom prst="rect">
            <a:avLst/>
          </a:prstGeom>
          <a:solidFill>
            <a:srgbClr val="0D9488"/>
          </a:solidFill>
          <a:ln w="15875">
            <a:solidFill>
              <a:srgbClr val="FFFFFF"/>
            </a:solidFill>
            <a:prstDash val="solid"/>
          </a:ln>
        </p:spPr>
      </p:sp>
      <p:sp>
        <p:nvSpPr>
          <p:cNvPr id="35" name="Text 32"/>
          <p:cNvSpPr/>
          <p:nvPr/>
        </p:nvSpPr>
        <p:spPr>
          <a:xfrm>
            <a:off x="4919472" y="2514600"/>
            <a:ext cx="1106424"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App</a:t>
            </a:r>
            <a:endParaRPr lang="en-US" sz="900" dirty="0"/>
          </a:p>
        </p:txBody>
      </p:sp>
      <p:sp>
        <p:nvSpPr>
          <p:cNvPr id="36" name="Shape 33"/>
          <p:cNvSpPr/>
          <p:nvPr/>
        </p:nvSpPr>
        <p:spPr>
          <a:xfrm>
            <a:off x="4919472" y="2880360"/>
            <a:ext cx="1106424" cy="365760"/>
          </a:xfrm>
          <a:prstGeom prst="rect">
            <a:avLst/>
          </a:prstGeom>
          <a:solidFill>
            <a:srgbClr val="2496ED"/>
          </a:solidFill>
          <a:ln w="15875">
            <a:solidFill>
              <a:srgbClr val="FFFFFF"/>
            </a:solidFill>
            <a:prstDash val="solid"/>
          </a:ln>
        </p:spPr>
      </p:sp>
      <p:sp>
        <p:nvSpPr>
          <p:cNvPr id="37" name="Text 34"/>
          <p:cNvSpPr/>
          <p:nvPr/>
        </p:nvSpPr>
        <p:spPr>
          <a:xfrm>
            <a:off x="4919472" y="2880360"/>
            <a:ext cx="1106424"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Bins/Libs</a:t>
            </a:r>
            <a:endParaRPr lang="en-US" sz="850" dirty="0"/>
          </a:p>
        </p:txBody>
      </p:sp>
      <p:sp>
        <p:nvSpPr>
          <p:cNvPr id="38" name="Shape 35"/>
          <p:cNvSpPr/>
          <p:nvPr/>
        </p:nvSpPr>
        <p:spPr>
          <a:xfrm>
            <a:off x="6117336" y="2514600"/>
            <a:ext cx="1106424" cy="365760"/>
          </a:xfrm>
          <a:prstGeom prst="rect">
            <a:avLst/>
          </a:prstGeom>
          <a:solidFill>
            <a:srgbClr val="0D9488"/>
          </a:solidFill>
          <a:ln w="15875">
            <a:solidFill>
              <a:srgbClr val="FFFFFF"/>
            </a:solidFill>
            <a:prstDash val="solid"/>
          </a:ln>
        </p:spPr>
      </p:sp>
      <p:sp>
        <p:nvSpPr>
          <p:cNvPr id="39" name="Text 36"/>
          <p:cNvSpPr/>
          <p:nvPr/>
        </p:nvSpPr>
        <p:spPr>
          <a:xfrm>
            <a:off x="6117336" y="2514600"/>
            <a:ext cx="1106424"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App</a:t>
            </a:r>
            <a:endParaRPr lang="en-US" sz="900" dirty="0"/>
          </a:p>
        </p:txBody>
      </p:sp>
      <p:sp>
        <p:nvSpPr>
          <p:cNvPr id="40" name="Shape 37"/>
          <p:cNvSpPr/>
          <p:nvPr/>
        </p:nvSpPr>
        <p:spPr>
          <a:xfrm>
            <a:off x="6117336" y="2880360"/>
            <a:ext cx="1106424" cy="365760"/>
          </a:xfrm>
          <a:prstGeom prst="rect">
            <a:avLst/>
          </a:prstGeom>
          <a:solidFill>
            <a:srgbClr val="2496ED"/>
          </a:solidFill>
          <a:ln w="15875">
            <a:solidFill>
              <a:srgbClr val="FFFFFF"/>
            </a:solidFill>
            <a:prstDash val="solid"/>
          </a:ln>
        </p:spPr>
      </p:sp>
      <p:sp>
        <p:nvSpPr>
          <p:cNvPr id="41" name="Text 38"/>
          <p:cNvSpPr/>
          <p:nvPr/>
        </p:nvSpPr>
        <p:spPr>
          <a:xfrm>
            <a:off x="6117336" y="2880360"/>
            <a:ext cx="1106424"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Bins/Libs</a:t>
            </a:r>
            <a:endParaRPr lang="en-US" sz="850" dirty="0"/>
          </a:p>
        </p:txBody>
      </p:sp>
      <p:sp>
        <p:nvSpPr>
          <p:cNvPr id="42" name="Shape 39"/>
          <p:cNvSpPr/>
          <p:nvPr/>
        </p:nvSpPr>
        <p:spPr>
          <a:xfrm>
            <a:off x="7315200" y="2514600"/>
            <a:ext cx="1106424" cy="365760"/>
          </a:xfrm>
          <a:prstGeom prst="rect">
            <a:avLst/>
          </a:prstGeom>
          <a:solidFill>
            <a:srgbClr val="0D9488"/>
          </a:solidFill>
          <a:ln w="15875">
            <a:solidFill>
              <a:srgbClr val="FFFFFF"/>
            </a:solidFill>
            <a:prstDash val="solid"/>
          </a:ln>
        </p:spPr>
      </p:sp>
      <p:sp>
        <p:nvSpPr>
          <p:cNvPr id="43" name="Text 40"/>
          <p:cNvSpPr/>
          <p:nvPr/>
        </p:nvSpPr>
        <p:spPr>
          <a:xfrm>
            <a:off x="7315200" y="2514600"/>
            <a:ext cx="1106424"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App</a:t>
            </a:r>
            <a:endParaRPr lang="en-US" sz="900" dirty="0"/>
          </a:p>
        </p:txBody>
      </p:sp>
      <p:sp>
        <p:nvSpPr>
          <p:cNvPr id="44" name="Shape 41"/>
          <p:cNvSpPr/>
          <p:nvPr/>
        </p:nvSpPr>
        <p:spPr>
          <a:xfrm>
            <a:off x="7315200" y="2880360"/>
            <a:ext cx="1106424" cy="365760"/>
          </a:xfrm>
          <a:prstGeom prst="rect">
            <a:avLst/>
          </a:prstGeom>
          <a:solidFill>
            <a:srgbClr val="2496ED"/>
          </a:solidFill>
          <a:ln w="15875">
            <a:solidFill>
              <a:srgbClr val="FFFFFF"/>
            </a:solidFill>
            <a:prstDash val="solid"/>
          </a:ln>
        </p:spPr>
      </p:sp>
      <p:sp>
        <p:nvSpPr>
          <p:cNvPr id="45" name="Text 42"/>
          <p:cNvSpPr/>
          <p:nvPr/>
        </p:nvSpPr>
        <p:spPr>
          <a:xfrm>
            <a:off x="7315200" y="2880360"/>
            <a:ext cx="1106424"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Bins/Libs</a:t>
            </a:r>
            <a:endParaRPr lang="en-US" sz="850" dirty="0"/>
          </a:p>
        </p:txBody>
      </p:sp>
      <p:sp>
        <p:nvSpPr>
          <p:cNvPr id="46" name="Shape 43"/>
          <p:cNvSpPr/>
          <p:nvPr/>
        </p:nvSpPr>
        <p:spPr>
          <a:xfrm>
            <a:off x="4846320" y="3264408"/>
            <a:ext cx="3657600" cy="384048"/>
          </a:xfrm>
          <a:prstGeom prst="rect">
            <a:avLst/>
          </a:prstGeom>
          <a:solidFill>
            <a:srgbClr val="2496ED"/>
          </a:solidFill>
          <a:ln w="15875">
            <a:solidFill>
              <a:srgbClr val="FFFFFF"/>
            </a:solidFill>
            <a:prstDash val="solid"/>
          </a:ln>
        </p:spPr>
      </p:sp>
      <p:sp>
        <p:nvSpPr>
          <p:cNvPr id="47" name="Text 44"/>
          <p:cNvSpPr/>
          <p:nvPr/>
        </p:nvSpPr>
        <p:spPr>
          <a:xfrm>
            <a:off x="4846320" y="3264408"/>
            <a:ext cx="3657600"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Docker Engine</a:t>
            </a:r>
            <a:endParaRPr lang="en-US" sz="950" dirty="0"/>
          </a:p>
        </p:txBody>
      </p:sp>
      <p:sp>
        <p:nvSpPr>
          <p:cNvPr id="48" name="Shape 45"/>
          <p:cNvSpPr/>
          <p:nvPr/>
        </p:nvSpPr>
        <p:spPr>
          <a:xfrm>
            <a:off x="4846320" y="3648456"/>
            <a:ext cx="3657600" cy="384048"/>
          </a:xfrm>
          <a:prstGeom prst="rect">
            <a:avLst/>
          </a:prstGeom>
          <a:solidFill>
            <a:srgbClr val="64748B"/>
          </a:solidFill>
          <a:ln w="15875">
            <a:solidFill>
              <a:srgbClr val="FFFFFF"/>
            </a:solidFill>
            <a:prstDash val="solid"/>
          </a:ln>
        </p:spPr>
      </p:sp>
      <p:sp>
        <p:nvSpPr>
          <p:cNvPr id="49" name="Text 46"/>
          <p:cNvSpPr/>
          <p:nvPr/>
        </p:nvSpPr>
        <p:spPr>
          <a:xfrm>
            <a:off x="4846320" y="3648456"/>
            <a:ext cx="3657600"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Host OS</a:t>
            </a:r>
            <a:endParaRPr lang="en-US" sz="950" dirty="0"/>
          </a:p>
        </p:txBody>
      </p:sp>
      <p:sp>
        <p:nvSpPr>
          <p:cNvPr id="50" name="Shape 47"/>
          <p:cNvSpPr/>
          <p:nvPr/>
        </p:nvSpPr>
        <p:spPr>
          <a:xfrm>
            <a:off x="4846320" y="4032504"/>
            <a:ext cx="3657600" cy="384048"/>
          </a:xfrm>
          <a:prstGeom prst="rect">
            <a:avLst/>
          </a:prstGeom>
          <a:solidFill>
            <a:srgbClr val="0F172A"/>
          </a:solidFill>
          <a:ln w="15875">
            <a:solidFill>
              <a:srgbClr val="FFFFFF"/>
            </a:solidFill>
            <a:prstDash val="solid"/>
          </a:ln>
        </p:spPr>
      </p:sp>
      <p:sp>
        <p:nvSpPr>
          <p:cNvPr id="51" name="Text 48"/>
          <p:cNvSpPr/>
          <p:nvPr/>
        </p:nvSpPr>
        <p:spPr>
          <a:xfrm>
            <a:off x="4846320" y="4032504"/>
            <a:ext cx="3657600"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Infrastructure</a:t>
            </a:r>
            <a:endParaRPr lang="en-US" sz="950" dirty="0"/>
          </a:p>
        </p:txBody>
      </p:sp>
      <p:sp>
        <p:nvSpPr>
          <p:cNvPr id="52" name="Text 49"/>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53" name="Text 50"/>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Foundations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DECISION GUIDE</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VM vs Container — the trade-offs</a:t>
            </a:r>
            <a:endParaRPr lang="en-US" sz="2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828800"/>
                <a:gridCol w="3200400"/>
                <a:gridCol w="3200400"/>
              </a:tblGrid>
              <a:tr h="374904">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Dimension</a:t>
                      </a:r>
                      <a:endParaRPr lang="en-US" sz="115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Virtual Machine</a:t>
                      </a:r>
                      <a:endParaRPr lang="en-US" sz="115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Container</a:t>
                      </a:r>
                      <a:endParaRPr lang="en-US" sz="115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374904">
                <a:tc>
                  <a:txBody>
                    <a:bodyPr/>
                    <a:lstStyle/>
                    <a:p>
                      <a:pPr algn="l" indent="0" marL="0">
                        <a:buNone/>
                      </a:pPr>
                      <a:r>
                        <a:rPr lang="en-US" sz="1080" b="1" dirty="0">
                          <a:solidFill>
                            <a:srgbClr val="0F172A"/>
                          </a:solidFill>
                          <a:latin typeface="Calibri" pitchFamily="34" charset="0"/>
                          <a:ea typeface="Calibri" pitchFamily="34" charset="-122"/>
                          <a:cs typeface="Calibri" pitchFamily="34" charset="-120"/>
                        </a:rPr>
                        <a:t>Isolation</a:t>
                      </a:r>
                      <a:endParaRPr lang="en-US" sz="108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475569"/>
                          </a:solidFill>
                          <a:latin typeface="Calibri" pitchFamily="34" charset="0"/>
                          <a:ea typeface="Calibri" pitchFamily="34" charset="-122"/>
                          <a:cs typeface="Calibri" pitchFamily="34" charset="-120"/>
                        </a:rPr>
                        <a:t>Strong — full hardware virtualization</a:t>
                      </a:r>
                      <a:endParaRPr lang="en-US" sz="108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475569"/>
                          </a:solidFill>
                          <a:latin typeface="Calibri" pitchFamily="34" charset="0"/>
                          <a:ea typeface="Calibri" pitchFamily="34" charset="-122"/>
                          <a:cs typeface="Calibri" pitchFamily="34" charset="-120"/>
                        </a:rPr>
                        <a:t>Process-level — shared kernel</a:t>
                      </a:r>
                      <a:endParaRPr lang="en-US" sz="108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74904">
                <a:tc>
                  <a:txBody>
                    <a:bodyPr/>
                    <a:lstStyle/>
                    <a:p>
                      <a:pPr algn="l" indent="0" marL="0">
                        <a:buNone/>
                      </a:pPr>
                      <a:r>
                        <a:rPr lang="en-US" sz="1080" b="1" dirty="0">
                          <a:solidFill>
                            <a:srgbClr val="0F172A"/>
                          </a:solidFill>
                          <a:latin typeface="Calibri" pitchFamily="34" charset="0"/>
                          <a:ea typeface="Calibri" pitchFamily="34" charset="-122"/>
                          <a:cs typeface="Calibri" pitchFamily="34" charset="-120"/>
                        </a:rPr>
                        <a:t>Footprint</a:t>
                      </a:r>
                      <a:endParaRPr lang="en-US" sz="108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080" dirty="0">
                          <a:solidFill>
                            <a:srgbClr val="475569"/>
                          </a:solidFill>
                          <a:latin typeface="Calibri" pitchFamily="34" charset="0"/>
                          <a:ea typeface="Calibri" pitchFamily="34" charset="-122"/>
                          <a:cs typeface="Calibri" pitchFamily="34" charset="-120"/>
                        </a:rPr>
                        <a:t>Gigabytes (full guest OS)</a:t>
                      </a:r>
                      <a:endParaRPr lang="en-US" sz="108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080" dirty="0">
                          <a:solidFill>
                            <a:srgbClr val="475569"/>
                          </a:solidFill>
                          <a:latin typeface="Calibri" pitchFamily="34" charset="0"/>
                          <a:ea typeface="Calibri" pitchFamily="34" charset="-122"/>
                          <a:cs typeface="Calibri" pitchFamily="34" charset="-120"/>
                        </a:rPr>
                        <a:t>Megabytes (app + libs)</a:t>
                      </a:r>
                      <a:endParaRPr lang="en-US" sz="108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74904">
                <a:tc>
                  <a:txBody>
                    <a:bodyPr/>
                    <a:lstStyle/>
                    <a:p>
                      <a:pPr algn="l" indent="0" marL="0">
                        <a:buNone/>
                      </a:pPr>
                      <a:r>
                        <a:rPr lang="en-US" sz="1080" b="1" dirty="0">
                          <a:solidFill>
                            <a:srgbClr val="0F172A"/>
                          </a:solidFill>
                          <a:latin typeface="Calibri" pitchFamily="34" charset="0"/>
                          <a:ea typeface="Calibri" pitchFamily="34" charset="-122"/>
                          <a:cs typeface="Calibri" pitchFamily="34" charset="-120"/>
                        </a:rPr>
                        <a:t>Startup</a:t>
                      </a:r>
                      <a:endParaRPr lang="en-US" sz="108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475569"/>
                          </a:solidFill>
                          <a:latin typeface="Calibri" pitchFamily="34" charset="0"/>
                          <a:ea typeface="Calibri" pitchFamily="34" charset="-122"/>
                          <a:cs typeface="Calibri" pitchFamily="34" charset="-120"/>
                        </a:rPr>
                        <a:t>Seconds to minutes</a:t>
                      </a:r>
                      <a:endParaRPr lang="en-US" sz="108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475569"/>
                          </a:solidFill>
                          <a:latin typeface="Calibri" pitchFamily="34" charset="0"/>
                          <a:ea typeface="Calibri" pitchFamily="34" charset="-122"/>
                          <a:cs typeface="Calibri" pitchFamily="34" charset="-120"/>
                        </a:rPr>
                        <a:t>Milliseconds to seconds</a:t>
                      </a:r>
                      <a:endParaRPr lang="en-US" sz="108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74904">
                <a:tc>
                  <a:txBody>
                    <a:bodyPr/>
                    <a:lstStyle/>
                    <a:p>
                      <a:pPr algn="l" indent="0" marL="0">
                        <a:buNone/>
                      </a:pPr>
                      <a:r>
                        <a:rPr lang="en-US" sz="1080" b="1" dirty="0">
                          <a:solidFill>
                            <a:srgbClr val="0F172A"/>
                          </a:solidFill>
                          <a:latin typeface="Calibri" pitchFamily="34" charset="0"/>
                          <a:ea typeface="Calibri" pitchFamily="34" charset="-122"/>
                          <a:cs typeface="Calibri" pitchFamily="34" charset="-120"/>
                        </a:rPr>
                        <a:t>Density</a:t>
                      </a:r>
                      <a:endParaRPr lang="en-US" sz="108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080" dirty="0">
                          <a:solidFill>
                            <a:srgbClr val="475569"/>
                          </a:solidFill>
                          <a:latin typeface="Calibri" pitchFamily="34" charset="0"/>
                          <a:ea typeface="Calibri" pitchFamily="34" charset="-122"/>
                          <a:cs typeface="Calibri" pitchFamily="34" charset="-120"/>
                        </a:rPr>
                        <a:t>Tens per host</a:t>
                      </a:r>
                      <a:endParaRPr lang="en-US" sz="108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080" dirty="0">
                          <a:solidFill>
                            <a:srgbClr val="475569"/>
                          </a:solidFill>
                          <a:latin typeface="Calibri" pitchFamily="34" charset="0"/>
                          <a:ea typeface="Calibri" pitchFamily="34" charset="-122"/>
                          <a:cs typeface="Calibri" pitchFamily="34" charset="-120"/>
                        </a:rPr>
                        <a:t>Hundreds per host</a:t>
                      </a:r>
                      <a:endParaRPr lang="en-US" sz="108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74904">
                <a:tc>
                  <a:txBody>
                    <a:bodyPr/>
                    <a:lstStyle/>
                    <a:p>
                      <a:pPr algn="l" indent="0" marL="0">
                        <a:buNone/>
                      </a:pPr>
                      <a:r>
                        <a:rPr lang="en-US" sz="1080" b="1" dirty="0">
                          <a:solidFill>
                            <a:srgbClr val="0F172A"/>
                          </a:solidFill>
                          <a:latin typeface="Calibri" pitchFamily="34" charset="0"/>
                          <a:ea typeface="Calibri" pitchFamily="34" charset="-122"/>
                          <a:cs typeface="Calibri" pitchFamily="34" charset="-120"/>
                        </a:rPr>
                        <a:t>Performance</a:t>
                      </a:r>
                      <a:endParaRPr lang="en-US" sz="108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475569"/>
                          </a:solidFill>
                          <a:latin typeface="Calibri" pitchFamily="34" charset="0"/>
                          <a:ea typeface="Calibri" pitchFamily="34" charset="-122"/>
                          <a:cs typeface="Calibri" pitchFamily="34" charset="-120"/>
                        </a:rPr>
                        <a:t>Hypervisor overhead</a:t>
                      </a:r>
                      <a:endParaRPr lang="en-US" sz="108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475569"/>
                          </a:solidFill>
                          <a:latin typeface="Calibri" pitchFamily="34" charset="0"/>
                          <a:ea typeface="Calibri" pitchFamily="34" charset="-122"/>
                          <a:cs typeface="Calibri" pitchFamily="34" charset="-120"/>
                        </a:rPr>
                        <a:t>Near-native</a:t>
                      </a:r>
                      <a:endParaRPr lang="en-US" sz="108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74904">
                <a:tc>
                  <a:txBody>
                    <a:bodyPr/>
                    <a:lstStyle/>
                    <a:p>
                      <a:pPr algn="l" indent="0" marL="0">
                        <a:buNone/>
                      </a:pPr>
                      <a:r>
                        <a:rPr lang="en-US" sz="1080" b="1" dirty="0">
                          <a:solidFill>
                            <a:srgbClr val="0F172A"/>
                          </a:solidFill>
                          <a:latin typeface="Calibri" pitchFamily="34" charset="0"/>
                          <a:ea typeface="Calibri" pitchFamily="34" charset="-122"/>
                          <a:cs typeface="Calibri" pitchFamily="34" charset="-120"/>
                        </a:rPr>
                        <a:t>Portability</a:t>
                      </a:r>
                      <a:endParaRPr lang="en-US" sz="108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080" dirty="0">
                          <a:solidFill>
                            <a:srgbClr val="475569"/>
                          </a:solidFill>
                          <a:latin typeface="Calibri" pitchFamily="34" charset="0"/>
                          <a:ea typeface="Calibri" pitchFamily="34" charset="-122"/>
                          <a:cs typeface="Calibri" pitchFamily="34" charset="-120"/>
                        </a:rPr>
                        <a:t>Hypervisor-specific images</a:t>
                      </a:r>
                      <a:endParaRPr lang="en-US" sz="108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080" dirty="0">
                          <a:solidFill>
                            <a:srgbClr val="475569"/>
                          </a:solidFill>
                          <a:latin typeface="Calibri" pitchFamily="34" charset="0"/>
                          <a:ea typeface="Calibri" pitchFamily="34" charset="-122"/>
                          <a:cs typeface="Calibri" pitchFamily="34" charset="-120"/>
                        </a:rPr>
                        <a:t>Any OCI runtime</a:t>
                      </a:r>
                      <a:endParaRPr lang="en-US" sz="108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74904">
                <a:tc>
                  <a:txBody>
                    <a:bodyPr/>
                    <a:lstStyle/>
                    <a:p>
                      <a:pPr algn="l" indent="0" marL="0">
                        <a:buNone/>
                      </a:pPr>
                      <a:r>
                        <a:rPr lang="en-US" sz="1080" b="1" dirty="0">
                          <a:solidFill>
                            <a:srgbClr val="0F172A"/>
                          </a:solidFill>
                          <a:latin typeface="Calibri" pitchFamily="34" charset="0"/>
                          <a:ea typeface="Calibri" pitchFamily="34" charset="-122"/>
                          <a:cs typeface="Calibri" pitchFamily="34" charset="-120"/>
                        </a:rPr>
                        <a:t>Best for</a:t>
                      </a:r>
                      <a:endParaRPr lang="en-US" sz="108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475569"/>
                          </a:solidFill>
                          <a:latin typeface="Calibri" pitchFamily="34" charset="0"/>
                          <a:ea typeface="Calibri" pitchFamily="34" charset="-122"/>
                          <a:cs typeface="Calibri" pitchFamily="34" charset="-120"/>
                        </a:rPr>
                        <a:t>Strong isolation, mixed OSes</a:t>
                      </a:r>
                      <a:endParaRPr lang="en-US" sz="108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80" dirty="0">
                          <a:solidFill>
                            <a:srgbClr val="475569"/>
                          </a:solidFill>
                          <a:latin typeface="Calibri" pitchFamily="34" charset="0"/>
                          <a:ea typeface="Calibri" pitchFamily="34" charset="-122"/>
                          <a:cs typeface="Calibri" pitchFamily="34" charset="-120"/>
                        </a:rPr>
                        <a:t>Microservices, scale, CI/CD</a:t>
                      </a:r>
                      <a:endParaRPr lang="en-US" sz="108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Shape 3"/>
          <p:cNvSpPr/>
          <p:nvPr/>
        </p:nvSpPr>
        <p:spPr>
          <a:xfrm>
            <a:off x="457200" y="4498848"/>
            <a:ext cx="8229600" cy="475488"/>
          </a:xfrm>
          <a:prstGeom prst="roundRect">
            <a:avLst>
              <a:gd name="adj" fmla="val 15385"/>
            </a:avLst>
          </a:prstGeom>
          <a:solidFill>
            <a:srgbClr val="0F766E"/>
          </a:solidFill>
          <a:ln/>
          <a:effectLst>
            <a:outerShdw sx="100000" sy="100000" kx="0" ky="0" algn="bl" rotWithShape="0" blurRad="76200" dist="25400" dir="2700000">
              <a:srgbClr val="475569">
                <a:alpha val="12000"/>
              </a:srgbClr>
            </a:outerShdw>
          </a:effectLst>
        </p:spPr>
      </p:sp>
      <p:sp>
        <p:nvSpPr>
          <p:cNvPr id="8" name="Text 4"/>
          <p:cNvSpPr/>
          <p:nvPr/>
        </p:nvSpPr>
        <p:spPr>
          <a:xfrm>
            <a:off x="640080" y="4498848"/>
            <a:ext cx="7863840" cy="475488"/>
          </a:xfrm>
          <a:prstGeom prst="rect">
            <a:avLst/>
          </a:prstGeom>
          <a:noFill/>
          <a:ln/>
        </p:spPr>
        <p:txBody>
          <a:bodyPr wrap="square" lIns="0" tIns="0" rIns="0" bIns="0" rtlCol="0" anchor="ctr"/>
          <a:lstStyle/>
          <a:p>
            <a:pPr algn="ctr" indent="0" marL="0">
              <a:buNone/>
            </a:pPr>
            <a:r>
              <a:rPr lang="en-US" sz="1250" b="1" i="1" dirty="0">
                <a:solidFill>
                  <a:srgbClr val="FFFFFF"/>
                </a:solidFill>
                <a:latin typeface="Calibri" pitchFamily="34" charset="0"/>
                <a:ea typeface="Calibri" pitchFamily="34" charset="-122"/>
                <a:cs typeface="Calibri" pitchFamily="34" charset="-120"/>
              </a:rPr>
              <a:t>Complementary, not rivals — in the cloud, containers usually run inside VMs.</a:t>
            </a:r>
            <a:endParaRPr lang="en-US" sz="1250" dirty="0"/>
          </a:p>
        </p:txBody>
      </p:sp>
      <p:sp>
        <p:nvSpPr>
          <p:cNvPr id="9" name="Text 5"/>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10" name="Text 6"/>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Foundations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WHY TEAMS ADOPT IT</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The payoff of containers</a:t>
            </a:r>
            <a:endParaRPr lang="en-US" sz="2500" dirty="0"/>
          </a:p>
        </p:txBody>
      </p:sp>
      <p:sp>
        <p:nvSpPr>
          <p:cNvPr id="6" name="Shape 3"/>
          <p:cNvSpPr/>
          <p:nvPr/>
        </p:nvSpPr>
        <p:spPr>
          <a:xfrm>
            <a:off x="457200" y="1188720"/>
            <a:ext cx="3977640" cy="731520"/>
          </a:xfrm>
          <a:prstGeom prst="roundRect">
            <a:avLst>
              <a:gd name="adj" fmla="val 10000"/>
            </a:avLst>
          </a:prstGeom>
          <a:solidFill>
            <a:srgbClr val="FFFFFF"/>
          </a:solidFill>
          <a:ln w="12700">
            <a:solidFill>
              <a:srgbClr val="E2E8F0"/>
            </a:solidFill>
            <a:prstDash val="solid"/>
          </a:ln>
          <a:effectLst>
            <a:outerShdw sx="100000" sy="100000" kx="0" ky="0" algn="bl" rotWithShape="0" blurRad="76200" dist="25400" dir="2700000">
              <a:srgbClr val="475569">
                <a:alpha val="10000"/>
              </a:srgbClr>
            </a:outerShdw>
          </a:effectLst>
        </p:spPr>
      </p:sp>
      <p:sp>
        <p:nvSpPr>
          <p:cNvPr id="7" name="Shape 4"/>
          <p:cNvSpPr/>
          <p:nvPr/>
        </p:nvSpPr>
        <p:spPr>
          <a:xfrm>
            <a:off x="640080" y="1371600"/>
            <a:ext cx="457200" cy="457200"/>
          </a:xfrm>
          <a:prstGeom prst="roundRect">
            <a:avLst>
              <a:gd name="adj" fmla="val 18000"/>
            </a:avLst>
          </a:prstGeom>
          <a:solidFill>
            <a:srgbClr val="F0FDFA"/>
          </a:solidFill>
          <a:ln/>
        </p:spPr>
      </p:sp>
      <p:pic>
        <p:nvPicPr>
          <p:cNvPr id="8" name="Image 1" descr="preencoded.png">    </p:cNvPr>
          <p:cNvPicPr>
            <a:picLocks noChangeAspect="1"/>
          </p:cNvPicPr>
          <p:nvPr/>
        </p:nvPicPr>
        <p:blipFill>
          <a:blip r:embed="rId2"/>
          <a:stretch>
            <a:fillRect/>
          </a:stretch>
        </p:blipFill>
        <p:spPr>
          <a:xfrm>
            <a:off x="740664" y="1472184"/>
            <a:ext cx="256032" cy="256032"/>
          </a:xfrm>
          <a:prstGeom prst="rect">
            <a:avLst/>
          </a:prstGeom>
        </p:spPr>
      </p:pic>
      <p:sp>
        <p:nvSpPr>
          <p:cNvPr id="9" name="Text 5"/>
          <p:cNvSpPr/>
          <p:nvPr/>
        </p:nvSpPr>
        <p:spPr>
          <a:xfrm>
            <a:off x="1207008" y="1353312"/>
            <a:ext cx="3063240" cy="47548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Consistency</a:t>
            </a:r>
            <a:endParaRPr lang="en-US" sz="1300" dirty="0"/>
          </a:p>
        </p:txBody>
      </p:sp>
      <p:sp>
        <p:nvSpPr>
          <p:cNvPr id="10" name="Text 6"/>
          <p:cNvSpPr/>
          <p:nvPr/>
        </p:nvSpPr>
        <p:spPr>
          <a:xfrm>
            <a:off x="658368" y="1883664"/>
            <a:ext cx="3593592" cy="-91440"/>
          </a:xfrm>
          <a:prstGeom prst="rect">
            <a:avLst/>
          </a:prstGeom>
          <a:noFill/>
          <a:ln/>
        </p:spPr>
        <p:txBody>
          <a:bodyPr wrap="square" lIns="0" tIns="0" rIns="0" bIns="0" rtlCol="0" anchor="t"/>
          <a:lstStyle/>
          <a:p>
            <a:pPr indent="0" marL="0">
              <a:lnSpc>
                <a:spcPts val="1250"/>
              </a:lnSpc>
              <a:buNone/>
            </a:pPr>
            <a:r>
              <a:rPr lang="en-US" sz="1050" dirty="0">
                <a:solidFill>
                  <a:srgbClr val="475569"/>
                </a:solidFill>
                <a:latin typeface="Calibri" pitchFamily="34" charset="0"/>
                <a:ea typeface="Calibri" pitchFamily="34" charset="-122"/>
                <a:cs typeface="Calibri" pitchFamily="34" charset="-120"/>
              </a:rPr>
              <a:t>Same image runs identically on laptop, CI and prod</a:t>
            </a:r>
            <a:endParaRPr lang="en-US" sz="1050" dirty="0"/>
          </a:p>
        </p:txBody>
      </p:sp>
      <p:sp>
        <p:nvSpPr>
          <p:cNvPr id="11" name="Shape 7"/>
          <p:cNvSpPr/>
          <p:nvPr/>
        </p:nvSpPr>
        <p:spPr>
          <a:xfrm>
            <a:off x="4709160" y="1188720"/>
            <a:ext cx="3977640" cy="731520"/>
          </a:xfrm>
          <a:prstGeom prst="roundRect">
            <a:avLst>
              <a:gd name="adj" fmla="val 10000"/>
            </a:avLst>
          </a:prstGeom>
          <a:solidFill>
            <a:srgbClr val="FFFFFF"/>
          </a:solidFill>
          <a:ln w="12700">
            <a:solidFill>
              <a:srgbClr val="E2E8F0"/>
            </a:solidFill>
            <a:prstDash val="solid"/>
          </a:ln>
          <a:effectLst>
            <a:outerShdw sx="100000" sy="100000" kx="0" ky="0" algn="bl" rotWithShape="0" blurRad="76200" dist="25400" dir="2700000">
              <a:srgbClr val="475569">
                <a:alpha val="10000"/>
              </a:srgbClr>
            </a:outerShdw>
          </a:effectLst>
        </p:spPr>
      </p:sp>
      <p:sp>
        <p:nvSpPr>
          <p:cNvPr id="12" name="Shape 8"/>
          <p:cNvSpPr/>
          <p:nvPr/>
        </p:nvSpPr>
        <p:spPr>
          <a:xfrm>
            <a:off x="4892040" y="1371600"/>
            <a:ext cx="457200" cy="457200"/>
          </a:xfrm>
          <a:prstGeom prst="roundRect">
            <a:avLst>
              <a:gd name="adj" fmla="val 18000"/>
            </a:avLst>
          </a:prstGeom>
          <a:solidFill>
            <a:srgbClr val="F0FDFA"/>
          </a:solidFill>
          <a:ln/>
        </p:spPr>
      </p:sp>
      <p:pic>
        <p:nvPicPr>
          <p:cNvPr id="13" name="Image 2" descr="preencoded.png">    </p:cNvPr>
          <p:cNvPicPr>
            <a:picLocks noChangeAspect="1"/>
          </p:cNvPicPr>
          <p:nvPr/>
        </p:nvPicPr>
        <p:blipFill>
          <a:blip r:embed="rId3"/>
          <a:stretch>
            <a:fillRect/>
          </a:stretch>
        </p:blipFill>
        <p:spPr>
          <a:xfrm>
            <a:off x="4992624" y="1472184"/>
            <a:ext cx="256032" cy="256032"/>
          </a:xfrm>
          <a:prstGeom prst="rect">
            <a:avLst/>
          </a:prstGeom>
        </p:spPr>
      </p:pic>
      <p:sp>
        <p:nvSpPr>
          <p:cNvPr id="14" name="Text 9"/>
          <p:cNvSpPr/>
          <p:nvPr/>
        </p:nvSpPr>
        <p:spPr>
          <a:xfrm>
            <a:off x="5458968" y="1353312"/>
            <a:ext cx="3063240" cy="47548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Fast startup</a:t>
            </a:r>
            <a:endParaRPr lang="en-US" sz="1300" dirty="0"/>
          </a:p>
        </p:txBody>
      </p:sp>
      <p:sp>
        <p:nvSpPr>
          <p:cNvPr id="15" name="Text 10"/>
          <p:cNvSpPr/>
          <p:nvPr/>
        </p:nvSpPr>
        <p:spPr>
          <a:xfrm>
            <a:off x="4910328" y="1883664"/>
            <a:ext cx="3593592" cy="-91440"/>
          </a:xfrm>
          <a:prstGeom prst="rect">
            <a:avLst/>
          </a:prstGeom>
          <a:noFill/>
          <a:ln/>
        </p:spPr>
        <p:txBody>
          <a:bodyPr wrap="square" lIns="0" tIns="0" rIns="0" bIns="0" rtlCol="0" anchor="t"/>
          <a:lstStyle/>
          <a:p>
            <a:pPr indent="0" marL="0">
              <a:lnSpc>
                <a:spcPts val="1250"/>
              </a:lnSpc>
              <a:buNone/>
            </a:pPr>
            <a:r>
              <a:rPr lang="en-US" sz="1050" dirty="0">
                <a:solidFill>
                  <a:srgbClr val="475569"/>
                </a:solidFill>
                <a:latin typeface="Calibri" pitchFamily="34" charset="0"/>
                <a:ea typeface="Calibri" pitchFamily="34" charset="-122"/>
                <a:cs typeface="Calibri" pitchFamily="34" charset="-120"/>
              </a:rPr>
              <a:t>Boot in milliseconds, not minutes like a VM</a:t>
            </a:r>
            <a:endParaRPr lang="en-US" sz="1050" dirty="0"/>
          </a:p>
        </p:txBody>
      </p:sp>
      <p:sp>
        <p:nvSpPr>
          <p:cNvPr id="16" name="Shape 11"/>
          <p:cNvSpPr/>
          <p:nvPr/>
        </p:nvSpPr>
        <p:spPr>
          <a:xfrm>
            <a:off x="457200" y="2075688"/>
            <a:ext cx="3977640" cy="731520"/>
          </a:xfrm>
          <a:prstGeom prst="roundRect">
            <a:avLst>
              <a:gd name="adj" fmla="val 10000"/>
            </a:avLst>
          </a:prstGeom>
          <a:solidFill>
            <a:srgbClr val="FFFFFF"/>
          </a:solidFill>
          <a:ln w="12700">
            <a:solidFill>
              <a:srgbClr val="E2E8F0"/>
            </a:solidFill>
            <a:prstDash val="solid"/>
          </a:ln>
          <a:effectLst>
            <a:outerShdw sx="100000" sy="100000" kx="0" ky="0" algn="bl" rotWithShape="0" blurRad="76200" dist="25400" dir="2700000">
              <a:srgbClr val="475569">
                <a:alpha val="10000"/>
              </a:srgbClr>
            </a:outerShdw>
          </a:effectLst>
        </p:spPr>
      </p:sp>
      <p:sp>
        <p:nvSpPr>
          <p:cNvPr id="17" name="Shape 12"/>
          <p:cNvSpPr/>
          <p:nvPr/>
        </p:nvSpPr>
        <p:spPr>
          <a:xfrm>
            <a:off x="640080" y="2258568"/>
            <a:ext cx="457200" cy="457200"/>
          </a:xfrm>
          <a:prstGeom prst="roundRect">
            <a:avLst>
              <a:gd name="adj" fmla="val 18000"/>
            </a:avLst>
          </a:prstGeom>
          <a:solidFill>
            <a:srgbClr val="F0FDFA"/>
          </a:solidFill>
          <a:ln/>
        </p:spPr>
      </p:sp>
      <p:pic>
        <p:nvPicPr>
          <p:cNvPr id="18" name="Image 3" descr="preencoded.png">    </p:cNvPr>
          <p:cNvPicPr>
            <a:picLocks noChangeAspect="1"/>
          </p:cNvPicPr>
          <p:nvPr/>
        </p:nvPicPr>
        <p:blipFill>
          <a:blip r:embed="rId4"/>
          <a:stretch>
            <a:fillRect/>
          </a:stretch>
        </p:blipFill>
        <p:spPr>
          <a:xfrm>
            <a:off x="740664" y="2359152"/>
            <a:ext cx="256032" cy="256032"/>
          </a:xfrm>
          <a:prstGeom prst="rect">
            <a:avLst/>
          </a:prstGeom>
        </p:spPr>
      </p:pic>
      <p:sp>
        <p:nvSpPr>
          <p:cNvPr id="19" name="Text 13"/>
          <p:cNvSpPr/>
          <p:nvPr/>
        </p:nvSpPr>
        <p:spPr>
          <a:xfrm>
            <a:off x="1207008" y="2240280"/>
            <a:ext cx="3063240" cy="47548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Lightweight</a:t>
            </a:r>
            <a:endParaRPr lang="en-US" sz="1300" dirty="0"/>
          </a:p>
        </p:txBody>
      </p:sp>
      <p:sp>
        <p:nvSpPr>
          <p:cNvPr id="20" name="Text 14"/>
          <p:cNvSpPr/>
          <p:nvPr/>
        </p:nvSpPr>
        <p:spPr>
          <a:xfrm>
            <a:off x="658368" y="2770632"/>
            <a:ext cx="3593592" cy="-91440"/>
          </a:xfrm>
          <a:prstGeom prst="rect">
            <a:avLst/>
          </a:prstGeom>
          <a:noFill/>
          <a:ln/>
        </p:spPr>
        <p:txBody>
          <a:bodyPr wrap="square" lIns="0" tIns="0" rIns="0" bIns="0" rtlCol="0" anchor="t"/>
          <a:lstStyle/>
          <a:p>
            <a:pPr indent="0" marL="0">
              <a:lnSpc>
                <a:spcPts val="1250"/>
              </a:lnSpc>
              <a:buNone/>
            </a:pPr>
            <a:r>
              <a:rPr lang="en-US" sz="1050" dirty="0">
                <a:solidFill>
                  <a:srgbClr val="475569"/>
                </a:solidFill>
                <a:latin typeface="Calibri" pitchFamily="34" charset="0"/>
                <a:ea typeface="Calibri" pitchFamily="34" charset="-122"/>
                <a:cs typeface="Calibri" pitchFamily="34" charset="-120"/>
              </a:rPr>
              <a:t>Share the kernel — MBs, not GBs, per app</a:t>
            </a:r>
            <a:endParaRPr lang="en-US" sz="1050" dirty="0"/>
          </a:p>
        </p:txBody>
      </p:sp>
      <p:sp>
        <p:nvSpPr>
          <p:cNvPr id="21" name="Shape 15"/>
          <p:cNvSpPr/>
          <p:nvPr/>
        </p:nvSpPr>
        <p:spPr>
          <a:xfrm>
            <a:off x="4709160" y="2075688"/>
            <a:ext cx="3977640" cy="731520"/>
          </a:xfrm>
          <a:prstGeom prst="roundRect">
            <a:avLst>
              <a:gd name="adj" fmla="val 10000"/>
            </a:avLst>
          </a:prstGeom>
          <a:solidFill>
            <a:srgbClr val="FFFFFF"/>
          </a:solidFill>
          <a:ln w="12700">
            <a:solidFill>
              <a:srgbClr val="E2E8F0"/>
            </a:solidFill>
            <a:prstDash val="solid"/>
          </a:ln>
          <a:effectLst>
            <a:outerShdw sx="100000" sy="100000" kx="0" ky="0" algn="bl" rotWithShape="0" blurRad="76200" dist="25400" dir="2700000">
              <a:srgbClr val="475569">
                <a:alpha val="10000"/>
              </a:srgbClr>
            </a:outerShdw>
          </a:effectLst>
        </p:spPr>
      </p:sp>
      <p:sp>
        <p:nvSpPr>
          <p:cNvPr id="22" name="Shape 16"/>
          <p:cNvSpPr/>
          <p:nvPr/>
        </p:nvSpPr>
        <p:spPr>
          <a:xfrm>
            <a:off x="4892040" y="2258568"/>
            <a:ext cx="457200" cy="457200"/>
          </a:xfrm>
          <a:prstGeom prst="roundRect">
            <a:avLst>
              <a:gd name="adj" fmla="val 18000"/>
            </a:avLst>
          </a:prstGeom>
          <a:solidFill>
            <a:srgbClr val="F0FDFA"/>
          </a:solidFill>
          <a:ln/>
        </p:spPr>
      </p:sp>
      <p:pic>
        <p:nvPicPr>
          <p:cNvPr id="23" name="Image 4" descr="preencoded.png">    </p:cNvPr>
          <p:cNvPicPr>
            <a:picLocks noChangeAspect="1"/>
          </p:cNvPicPr>
          <p:nvPr/>
        </p:nvPicPr>
        <p:blipFill>
          <a:blip r:embed="rId5"/>
          <a:stretch>
            <a:fillRect/>
          </a:stretch>
        </p:blipFill>
        <p:spPr>
          <a:xfrm>
            <a:off x="4992624" y="2359152"/>
            <a:ext cx="256032" cy="256032"/>
          </a:xfrm>
          <a:prstGeom prst="rect">
            <a:avLst/>
          </a:prstGeom>
        </p:spPr>
      </p:pic>
      <p:sp>
        <p:nvSpPr>
          <p:cNvPr id="24" name="Text 17"/>
          <p:cNvSpPr/>
          <p:nvPr/>
        </p:nvSpPr>
        <p:spPr>
          <a:xfrm>
            <a:off x="5458968" y="2240280"/>
            <a:ext cx="3063240" cy="47548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High density</a:t>
            </a:r>
            <a:endParaRPr lang="en-US" sz="1300" dirty="0"/>
          </a:p>
        </p:txBody>
      </p:sp>
      <p:sp>
        <p:nvSpPr>
          <p:cNvPr id="25" name="Text 18"/>
          <p:cNvSpPr/>
          <p:nvPr/>
        </p:nvSpPr>
        <p:spPr>
          <a:xfrm>
            <a:off x="4910328" y="2770632"/>
            <a:ext cx="3593592" cy="-91440"/>
          </a:xfrm>
          <a:prstGeom prst="rect">
            <a:avLst/>
          </a:prstGeom>
          <a:noFill/>
          <a:ln/>
        </p:spPr>
        <p:txBody>
          <a:bodyPr wrap="square" lIns="0" tIns="0" rIns="0" bIns="0" rtlCol="0" anchor="t"/>
          <a:lstStyle/>
          <a:p>
            <a:pPr indent="0" marL="0">
              <a:lnSpc>
                <a:spcPts val="1250"/>
              </a:lnSpc>
              <a:buNone/>
            </a:pPr>
            <a:r>
              <a:rPr lang="en-US" sz="1050" dirty="0">
                <a:solidFill>
                  <a:srgbClr val="475569"/>
                </a:solidFill>
                <a:latin typeface="Calibri" pitchFamily="34" charset="0"/>
                <a:ea typeface="Calibri" pitchFamily="34" charset="-122"/>
                <a:cs typeface="Calibri" pitchFamily="34" charset="-120"/>
              </a:rPr>
              <a:t>Pack far more workloads onto one host</a:t>
            </a:r>
            <a:endParaRPr lang="en-US" sz="1050" dirty="0"/>
          </a:p>
        </p:txBody>
      </p:sp>
      <p:sp>
        <p:nvSpPr>
          <p:cNvPr id="26" name="Shape 19"/>
          <p:cNvSpPr/>
          <p:nvPr/>
        </p:nvSpPr>
        <p:spPr>
          <a:xfrm>
            <a:off x="457200" y="2962656"/>
            <a:ext cx="3977640" cy="731520"/>
          </a:xfrm>
          <a:prstGeom prst="roundRect">
            <a:avLst>
              <a:gd name="adj" fmla="val 10000"/>
            </a:avLst>
          </a:prstGeom>
          <a:solidFill>
            <a:srgbClr val="FFFFFF"/>
          </a:solidFill>
          <a:ln w="12700">
            <a:solidFill>
              <a:srgbClr val="E2E8F0"/>
            </a:solidFill>
            <a:prstDash val="solid"/>
          </a:ln>
          <a:effectLst>
            <a:outerShdw sx="100000" sy="100000" kx="0" ky="0" algn="bl" rotWithShape="0" blurRad="76200" dist="25400" dir="2700000">
              <a:srgbClr val="475569">
                <a:alpha val="10000"/>
              </a:srgbClr>
            </a:outerShdw>
          </a:effectLst>
        </p:spPr>
      </p:sp>
      <p:sp>
        <p:nvSpPr>
          <p:cNvPr id="27" name="Shape 20"/>
          <p:cNvSpPr/>
          <p:nvPr/>
        </p:nvSpPr>
        <p:spPr>
          <a:xfrm>
            <a:off x="640080" y="3145536"/>
            <a:ext cx="457200" cy="457200"/>
          </a:xfrm>
          <a:prstGeom prst="roundRect">
            <a:avLst>
              <a:gd name="adj" fmla="val 18000"/>
            </a:avLst>
          </a:prstGeom>
          <a:solidFill>
            <a:srgbClr val="F0FDFA"/>
          </a:solidFill>
          <a:ln/>
        </p:spPr>
      </p:sp>
      <p:pic>
        <p:nvPicPr>
          <p:cNvPr id="28" name="Image 5" descr="preencoded.png">    </p:cNvPr>
          <p:cNvPicPr>
            <a:picLocks noChangeAspect="1"/>
          </p:cNvPicPr>
          <p:nvPr/>
        </p:nvPicPr>
        <p:blipFill>
          <a:blip r:embed="rId6"/>
          <a:stretch>
            <a:fillRect/>
          </a:stretch>
        </p:blipFill>
        <p:spPr>
          <a:xfrm>
            <a:off x="740664" y="3246120"/>
            <a:ext cx="256032" cy="256032"/>
          </a:xfrm>
          <a:prstGeom prst="rect">
            <a:avLst/>
          </a:prstGeom>
        </p:spPr>
      </p:pic>
      <p:sp>
        <p:nvSpPr>
          <p:cNvPr id="29" name="Text 21"/>
          <p:cNvSpPr/>
          <p:nvPr/>
        </p:nvSpPr>
        <p:spPr>
          <a:xfrm>
            <a:off x="1207008" y="3127248"/>
            <a:ext cx="3063240" cy="47548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Portable</a:t>
            </a:r>
            <a:endParaRPr lang="en-US" sz="1300" dirty="0"/>
          </a:p>
        </p:txBody>
      </p:sp>
      <p:sp>
        <p:nvSpPr>
          <p:cNvPr id="30" name="Text 22"/>
          <p:cNvSpPr/>
          <p:nvPr/>
        </p:nvSpPr>
        <p:spPr>
          <a:xfrm>
            <a:off x="658368" y="3657600"/>
            <a:ext cx="3593592" cy="-91440"/>
          </a:xfrm>
          <a:prstGeom prst="rect">
            <a:avLst/>
          </a:prstGeom>
          <a:noFill/>
          <a:ln/>
        </p:spPr>
        <p:txBody>
          <a:bodyPr wrap="square" lIns="0" tIns="0" rIns="0" bIns="0" rtlCol="0" anchor="t"/>
          <a:lstStyle/>
          <a:p>
            <a:pPr indent="0" marL="0">
              <a:lnSpc>
                <a:spcPts val="1250"/>
              </a:lnSpc>
              <a:buNone/>
            </a:pPr>
            <a:r>
              <a:rPr lang="en-US" sz="1050" dirty="0">
                <a:solidFill>
                  <a:srgbClr val="475569"/>
                </a:solidFill>
                <a:latin typeface="Calibri" pitchFamily="34" charset="0"/>
                <a:ea typeface="Calibri" pitchFamily="34" charset="-122"/>
                <a:cs typeface="Calibri" pitchFamily="34" charset="-120"/>
              </a:rPr>
              <a:t>Runs on any host with an OCI runtime</a:t>
            </a:r>
            <a:endParaRPr lang="en-US" sz="1050" dirty="0"/>
          </a:p>
        </p:txBody>
      </p:sp>
      <p:sp>
        <p:nvSpPr>
          <p:cNvPr id="31" name="Shape 23"/>
          <p:cNvSpPr/>
          <p:nvPr/>
        </p:nvSpPr>
        <p:spPr>
          <a:xfrm>
            <a:off x="4709160" y="2962656"/>
            <a:ext cx="3977640" cy="731520"/>
          </a:xfrm>
          <a:prstGeom prst="roundRect">
            <a:avLst>
              <a:gd name="adj" fmla="val 10000"/>
            </a:avLst>
          </a:prstGeom>
          <a:solidFill>
            <a:srgbClr val="FFFFFF"/>
          </a:solidFill>
          <a:ln w="12700">
            <a:solidFill>
              <a:srgbClr val="E2E8F0"/>
            </a:solidFill>
            <a:prstDash val="solid"/>
          </a:ln>
          <a:effectLst>
            <a:outerShdw sx="100000" sy="100000" kx="0" ky="0" algn="bl" rotWithShape="0" blurRad="76200" dist="25400" dir="2700000">
              <a:srgbClr val="475569">
                <a:alpha val="10000"/>
              </a:srgbClr>
            </a:outerShdw>
          </a:effectLst>
        </p:spPr>
      </p:sp>
      <p:sp>
        <p:nvSpPr>
          <p:cNvPr id="32" name="Shape 24"/>
          <p:cNvSpPr/>
          <p:nvPr/>
        </p:nvSpPr>
        <p:spPr>
          <a:xfrm>
            <a:off x="4892040" y="3145536"/>
            <a:ext cx="457200" cy="457200"/>
          </a:xfrm>
          <a:prstGeom prst="roundRect">
            <a:avLst>
              <a:gd name="adj" fmla="val 18000"/>
            </a:avLst>
          </a:prstGeom>
          <a:solidFill>
            <a:srgbClr val="F0FDFA"/>
          </a:solidFill>
          <a:ln/>
        </p:spPr>
      </p:sp>
      <p:pic>
        <p:nvPicPr>
          <p:cNvPr id="33" name="Image 6" descr="preencoded.png">    </p:cNvPr>
          <p:cNvPicPr>
            <a:picLocks noChangeAspect="1"/>
          </p:cNvPicPr>
          <p:nvPr/>
        </p:nvPicPr>
        <p:blipFill>
          <a:blip r:embed="rId7"/>
          <a:stretch>
            <a:fillRect/>
          </a:stretch>
        </p:blipFill>
        <p:spPr>
          <a:xfrm>
            <a:off x="4992624" y="3246120"/>
            <a:ext cx="256032" cy="256032"/>
          </a:xfrm>
          <a:prstGeom prst="rect">
            <a:avLst/>
          </a:prstGeom>
        </p:spPr>
      </p:pic>
      <p:sp>
        <p:nvSpPr>
          <p:cNvPr id="34" name="Text 25"/>
          <p:cNvSpPr/>
          <p:nvPr/>
        </p:nvSpPr>
        <p:spPr>
          <a:xfrm>
            <a:off x="5458968" y="3127248"/>
            <a:ext cx="3063240" cy="47548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Reproducible</a:t>
            </a:r>
            <a:endParaRPr lang="en-US" sz="1300" dirty="0"/>
          </a:p>
        </p:txBody>
      </p:sp>
      <p:sp>
        <p:nvSpPr>
          <p:cNvPr id="35" name="Text 26"/>
          <p:cNvSpPr/>
          <p:nvPr/>
        </p:nvSpPr>
        <p:spPr>
          <a:xfrm>
            <a:off x="4910328" y="3657600"/>
            <a:ext cx="3593592" cy="-91440"/>
          </a:xfrm>
          <a:prstGeom prst="rect">
            <a:avLst/>
          </a:prstGeom>
          <a:noFill/>
          <a:ln/>
        </p:spPr>
        <p:txBody>
          <a:bodyPr wrap="square" lIns="0" tIns="0" rIns="0" bIns="0" rtlCol="0" anchor="t"/>
          <a:lstStyle/>
          <a:p>
            <a:pPr indent="0" marL="0">
              <a:lnSpc>
                <a:spcPts val="1250"/>
              </a:lnSpc>
              <a:buNone/>
            </a:pPr>
            <a:r>
              <a:rPr lang="en-US" sz="1050" dirty="0">
                <a:solidFill>
                  <a:srgbClr val="475569"/>
                </a:solidFill>
                <a:latin typeface="Calibri" pitchFamily="34" charset="0"/>
                <a:ea typeface="Calibri" pitchFamily="34" charset="-122"/>
                <a:cs typeface="Calibri" pitchFamily="34" charset="-120"/>
              </a:rPr>
              <a:t>Immutable images mean no config drift</a:t>
            </a:r>
            <a:endParaRPr lang="en-US" sz="1050" dirty="0"/>
          </a:p>
        </p:txBody>
      </p:sp>
      <p:sp>
        <p:nvSpPr>
          <p:cNvPr id="36" name="Shape 27"/>
          <p:cNvSpPr/>
          <p:nvPr/>
        </p:nvSpPr>
        <p:spPr>
          <a:xfrm>
            <a:off x="457200" y="3849624"/>
            <a:ext cx="3977640" cy="731520"/>
          </a:xfrm>
          <a:prstGeom prst="roundRect">
            <a:avLst>
              <a:gd name="adj" fmla="val 10000"/>
            </a:avLst>
          </a:prstGeom>
          <a:solidFill>
            <a:srgbClr val="FFFFFF"/>
          </a:solidFill>
          <a:ln w="12700">
            <a:solidFill>
              <a:srgbClr val="E2E8F0"/>
            </a:solidFill>
            <a:prstDash val="solid"/>
          </a:ln>
          <a:effectLst>
            <a:outerShdw sx="100000" sy="100000" kx="0" ky="0" algn="bl" rotWithShape="0" blurRad="76200" dist="25400" dir="2700000">
              <a:srgbClr val="475569">
                <a:alpha val="10000"/>
              </a:srgbClr>
            </a:outerShdw>
          </a:effectLst>
        </p:spPr>
      </p:sp>
      <p:sp>
        <p:nvSpPr>
          <p:cNvPr id="37" name="Shape 28"/>
          <p:cNvSpPr/>
          <p:nvPr/>
        </p:nvSpPr>
        <p:spPr>
          <a:xfrm>
            <a:off x="640080" y="4032504"/>
            <a:ext cx="457200" cy="457200"/>
          </a:xfrm>
          <a:prstGeom prst="roundRect">
            <a:avLst>
              <a:gd name="adj" fmla="val 18000"/>
            </a:avLst>
          </a:prstGeom>
          <a:solidFill>
            <a:srgbClr val="F0FDFA"/>
          </a:solidFill>
          <a:ln/>
        </p:spPr>
      </p:sp>
      <p:pic>
        <p:nvPicPr>
          <p:cNvPr id="38" name="Image 7" descr="preencoded.png">    </p:cNvPr>
          <p:cNvPicPr>
            <a:picLocks noChangeAspect="1"/>
          </p:cNvPicPr>
          <p:nvPr/>
        </p:nvPicPr>
        <p:blipFill>
          <a:blip r:embed="rId8"/>
          <a:stretch>
            <a:fillRect/>
          </a:stretch>
        </p:blipFill>
        <p:spPr>
          <a:xfrm>
            <a:off x="740664" y="4133088"/>
            <a:ext cx="256032" cy="256032"/>
          </a:xfrm>
          <a:prstGeom prst="rect">
            <a:avLst/>
          </a:prstGeom>
        </p:spPr>
      </p:pic>
      <p:sp>
        <p:nvSpPr>
          <p:cNvPr id="39" name="Text 29"/>
          <p:cNvSpPr/>
          <p:nvPr/>
        </p:nvSpPr>
        <p:spPr>
          <a:xfrm>
            <a:off x="1207008" y="4014216"/>
            <a:ext cx="3063240" cy="47548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Easy scaling</a:t>
            </a:r>
            <a:endParaRPr lang="en-US" sz="1300" dirty="0"/>
          </a:p>
        </p:txBody>
      </p:sp>
      <p:sp>
        <p:nvSpPr>
          <p:cNvPr id="40" name="Text 30"/>
          <p:cNvSpPr/>
          <p:nvPr/>
        </p:nvSpPr>
        <p:spPr>
          <a:xfrm>
            <a:off x="658368" y="4544568"/>
            <a:ext cx="3593592" cy="-91440"/>
          </a:xfrm>
          <a:prstGeom prst="rect">
            <a:avLst/>
          </a:prstGeom>
          <a:noFill/>
          <a:ln/>
        </p:spPr>
        <p:txBody>
          <a:bodyPr wrap="square" lIns="0" tIns="0" rIns="0" bIns="0" rtlCol="0" anchor="t"/>
          <a:lstStyle/>
          <a:p>
            <a:pPr indent="0" marL="0">
              <a:lnSpc>
                <a:spcPts val="1250"/>
              </a:lnSpc>
              <a:buNone/>
            </a:pPr>
            <a:r>
              <a:rPr lang="en-US" sz="1050" dirty="0">
                <a:solidFill>
                  <a:srgbClr val="475569"/>
                </a:solidFill>
                <a:latin typeface="Calibri" pitchFamily="34" charset="0"/>
                <a:ea typeface="Calibri" pitchFamily="34" charset="-122"/>
                <a:cs typeface="Calibri" pitchFamily="34" charset="-120"/>
              </a:rPr>
              <a:t>Spin identical replicas up and down on demand</a:t>
            </a:r>
            <a:endParaRPr lang="en-US" sz="1050" dirty="0"/>
          </a:p>
        </p:txBody>
      </p:sp>
      <p:sp>
        <p:nvSpPr>
          <p:cNvPr id="41" name="Shape 31"/>
          <p:cNvSpPr/>
          <p:nvPr/>
        </p:nvSpPr>
        <p:spPr>
          <a:xfrm>
            <a:off x="4709160" y="3849624"/>
            <a:ext cx="3977640" cy="731520"/>
          </a:xfrm>
          <a:prstGeom prst="roundRect">
            <a:avLst>
              <a:gd name="adj" fmla="val 10000"/>
            </a:avLst>
          </a:prstGeom>
          <a:solidFill>
            <a:srgbClr val="FFFFFF"/>
          </a:solidFill>
          <a:ln w="12700">
            <a:solidFill>
              <a:srgbClr val="E2E8F0"/>
            </a:solidFill>
            <a:prstDash val="solid"/>
          </a:ln>
          <a:effectLst>
            <a:outerShdw sx="100000" sy="100000" kx="0" ky="0" algn="bl" rotWithShape="0" blurRad="76200" dist="25400" dir="2700000">
              <a:srgbClr val="475569">
                <a:alpha val="10000"/>
              </a:srgbClr>
            </a:outerShdw>
          </a:effectLst>
        </p:spPr>
      </p:sp>
      <p:sp>
        <p:nvSpPr>
          <p:cNvPr id="42" name="Shape 32"/>
          <p:cNvSpPr/>
          <p:nvPr/>
        </p:nvSpPr>
        <p:spPr>
          <a:xfrm>
            <a:off x="4892040" y="4032504"/>
            <a:ext cx="457200" cy="457200"/>
          </a:xfrm>
          <a:prstGeom prst="roundRect">
            <a:avLst>
              <a:gd name="adj" fmla="val 18000"/>
            </a:avLst>
          </a:prstGeom>
          <a:solidFill>
            <a:srgbClr val="F0FDFA"/>
          </a:solidFill>
          <a:ln/>
        </p:spPr>
      </p:sp>
      <p:pic>
        <p:nvPicPr>
          <p:cNvPr id="43" name="Image 8" descr="preencoded.png">    </p:cNvPr>
          <p:cNvPicPr>
            <a:picLocks noChangeAspect="1"/>
          </p:cNvPicPr>
          <p:nvPr/>
        </p:nvPicPr>
        <p:blipFill>
          <a:blip r:embed="rId9"/>
          <a:stretch>
            <a:fillRect/>
          </a:stretch>
        </p:blipFill>
        <p:spPr>
          <a:xfrm>
            <a:off x="4992624" y="4133088"/>
            <a:ext cx="256032" cy="256032"/>
          </a:xfrm>
          <a:prstGeom prst="rect">
            <a:avLst/>
          </a:prstGeom>
        </p:spPr>
      </p:pic>
      <p:sp>
        <p:nvSpPr>
          <p:cNvPr id="44" name="Text 33"/>
          <p:cNvSpPr/>
          <p:nvPr/>
        </p:nvSpPr>
        <p:spPr>
          <a:xfrm>
            <a:off x="5458968" y="4014216"/>
            <a:ext cx="3063240" cy="47548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Safe rollback</a:t>
            </a:r>
            <a:endParaRPr lang="en-US" sz="1300" dirty="0"/>
          </a:p>
        </p:txBody>
      </p:sp>
      <p:sp>
        <p:nvSpPr>
          <p:cNvPr id="45" name="Text 34"/>
          <p:cNvSpPr/>
          <p:nvPr/>
        </p:nvSpPr>
        <p:spPr>
          <a:xfrm>
            <a:off x="4910328" y="4544568"/>
            <a:ext cx="3593592" cy="-91440"/>
          </a:xfrm>
          <a:prstGeom prst="rect">
            <a:avLst/>
          </a:prstGeom>
          <a:noFill/>
          <a:ln/>
        </p:spPr>
        <p:txBody>
          <a:bodyPr wrap="square" lIns="0" tIns="0" rIns="0" bIns="0" rtlCol="0" anchor="t"/>
          <a:lstStyle/>
          <a:p>
            <a:pPr indent="0" marL="0">
              <a:lnSpc>
                <a:spcPts val="1250"/>
              </a:lnSpc>
              <a:buNone/>
            </a:pPr>
            <a:r>
              <a:rPr lang="en-US" sz="1050" dirty="0">
                <a:solidFill>
                  <a:srgbClr val="475569"/>
                </a:solidFill>
                <a:latin typeface="Calibri" pitchFamily="34" charset="0"/>
                <a:ea typeface="Calibri" pitchFamily="34" charset="-122"/>
                <a:cs typeface="Calibri" pitchFamily="34" charset="-120"/>
              </a:rPr>
              <a:t>Redeploy the previous image tag to revert</a:t>
            </a:r>
            <a:endParaRPr lang="en-US" sz="1050" dirty="0"/>
          </a:p>
        </p:txBody>
      </p:sp>
      <p:sp>
        <p:nvSpPr>
          <p:cNvPr id="46" name="Text 35"/>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47" name="Text 36"/>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Foundations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THE ECOSYSTEM</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Docker is one of several runtimes</a:t>
            </a:r>
            <a:endParaRPr lang="en-US" sz="2500" dirty="0"/>
          </a:p>
        </p:txBody>
      </p:sp>
      <p:sp>
        <p:nvSpPr>
          <p:cNvPr id="6" name="Shape 3"/>
          <p:cNvSpPr/>
          <p:nvPr/>
        </p:nvSpPr>
        <p:spPr>
          <a:xfrm>
            <a:off x="548640" y="1417320"/>
            <a:ext cx="1952244" cy="566928"/>
          </a:xfrm>
          <a:prstGeom prst="rect">
            <a:avLst/>
          </a:prstGeom>
          <a:solidFill>
            <a:srgbClr val="2496ED"/>
          </a:solidFill>
          <a:ln w="15875">
            <a:solidFill>
              <a:srgbClr val="FFFFFF"/>
            </a:solidFill>
            <a:prstDash val="solid"/>
          </a:ln>
        </p:spPr>
      </p:sp>
      <p:sp>
        <p:nvSpPr>
          <p:cNvPr id="7" name="Text 4"/>
          <p:cNvSpPr/>
          <p:nvPr/>
        </p:nvSpPr>
        <p:spPr>
          <a:xfrm>
            <a:off x="548640" y="1417320"/>
            <a:ext cx="1952244"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Docker</a:t>
            </a:r>
            <a:endParaRPr lang="en-US" sz="1100" dirty="0"/>
          </a:p>
        </p:txBody>
      </p:sp>
      <p:sp>
        <p:nvSpPr>
          <p:cNvPr id="8" name="Shape 5"/>
          <p:cNvSpPr/>
          <p:nvPr/>
        </p:nvSpPr>
        <p:spPr>
          <a:xfrm>
            <a:off x="2574036" y="1417320"/>
            <a:ext cx="1952244" cy="566928"/>
          </a:xfrm>
          <a:prstGeom prst="rect">
            <a:avLst/>
          </a:prstGeom>
          <a:solidFill>
            <a:srgbClr val="475569"/>
          </a:solidFill>
          <a:ln w="15875">
            <a:solidFill>
              <a:srgbClr val="FFFFFF"/>
            </a:solidFill>
            <a:prstDash val="solid"/>
          </a:ln>
        </p:spPr>
      </p:sp>
      <p:sp>
        <p:nvSpPr>
          <p:cNvPr id="9" name="Text 6"/>
          <p:cNvSpPr/>
          <p:nvPr/>
        </p:nvSpPr>
        <p:spPr>
          <a:xfrm>
            <a:off x="2574036" y="1417320"/>
            <a:ext cx="1952244"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Podman</a:t>
            </a:r>
            <a:endParaRPr lang="en-US" sz="1100" dirty="0"/>
          </a:p>
        </p:txBody>
      </p:sp>
      <p:sp>
        <p:nvSpPr>
          <p:cNvPr id="10" name="Text 7"/>
          <p:cNvSpPr/>
          <p:nvPr/>
        </p:nvSpPr>
        <p:spPr>
          <a:xfrm>
            <a:off x="548640" y="1993392"/>
            <a:ext cx="3977640" cy="182880"/>
          </a:xfrm>
          <a:prstGeom prst="rect">
            <a:avLst/>
          </a:prstGeom>
          <a:noFill/>
          <a:ln/>
        </p:spPr>
        <p:txBody>
          <a:bodyPr wrap="square" lIns="0" tIns="0" rIns="0" bIns="0" rtlCol="0" anchor="ctr"/>
          <a:lstStyle/>
          <a:p>
            <a:pPr algn="ctr" indent="0" marL="0">
              <a:buNone/>
            </a:pPr>
            <a:r>
              <a:rPr lang="en-US" sz="850" i="1" dirty="0">
                <a:solidFill>
                  <a:srgbClr val="64748B"/>
                </a:solidFill>
                <a:latin typeface="Calibri" pitchFamily="34" charset="0"/>
                <a:ea typeface="Calibri" pitchFamily="34" charset="-122"/>
                <a:cs typeface="Calibri" pitchFamily="34" charset="-120"/>
              </a:rPr>
              <a:t>developer platforms</a:t>
            </a:r>
            <a:endParaRPr lang="en-US" sz="850" dirty="0"/>
          </a:p>
        </p:txBody>
      </p:sp>
      <p:sp>
        <p:nvSpPr>
          <p:cNvPr id="11" name="Shape 8"/>
          <p:cNvSpPr/>
          <p:nvPr/>
        </p:nvSpPr>
        <p:spPr>
          <a:xfrm>
            <a:off x="548640" y="2249424"/>
            <a:ext cx="1952244" cy="502920"/>
          </a:xfrm>
          <a:prstGeom prst="rect">
            <a:avLst/>
          </a:prstGeom>
          <a:solidFill>
            <a:srgbClr val="0D9488"/>
          </a:solidFill>
          <a:ln w="15875">
            <a:solidFill>
              <a:srgbClr val="FFFFFF"/>
            </a:solidFill>
            <a:prstDash val="solid"/>
          </a:ln>
        </p:spPr>
      </p:sp>
      <p:sp>
        <p:nvSpPr>
          <p:cNvPr id="12" name="Text 9"/>
          <p:cNvSpPr/>
          <p:nvPr/>
        </p:nvSpPr>
        <p:spPr>
          <a:xfrm>
            <a:off x="548640" y="2249424"/>
            <a:ext cx="1952244"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containerd</a:t>
            </a:r>
            <a:endParaRPr lang="en-US" sz="1050" dirty="0"/>
          </a:p>
        </p:txBody>
      </p:sp>
      <p:sp>
        <p:nvSpPr>
          <p:cNvPr id="13" name="Shape 10"/>
          <p:cNvSpPr/>
          <p:nvPr/>
        </p:nvSpPr>
        <p:spPr>
          <a:xfrm>
            <a:off x="2574036" y="2249424"/>
            <a:ext cx="1952244" cy="502920"/>
          </a:xfrm>
          <a:prstGeom prst="rect">
            <a:avLst/>
          </a:prstGeom>
          <a:solidFill>
            <a:srgbClr val="0F766E"/>
          </a:solidFill>
          <a:ln w="15875">
            <a:solidFill>
              <a:srgbClr val="FFFFFF"/>
            </a:solidFill>
            <a:prstDash val="solid"/>
          </a:ln>
        </p:spPr>
      </p:sp>
      <p:sp>
        <p:nvSpPr>
          <p:cNvPr id="14" name="Text 11"/>
          <p:cNvSpPr/>
          <p:nvPr/>
        </p:nvSpPr>
        <p:spPr>
          <a:xfrm>
            <a:off x="2574036" y="2249424"/>
            <a:ext cx="1952244"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CRI-O</a:t>
            </a:r>
            <a:endParaRPr lang="en-US" sz="1050" dirty="0"/>
          </a:p>
        </p:txBody>
      </p:sp>
      <p:sp>
        <p:nvSpPr>
          <p:cNvPr id="15" name="Text 12"/>
          <p:cNvSpPr/>
          <p:nvPr/>
        </p:nvSpPr>
        <p:spPr>
          <a:xfrm>
            <a:off x="548640" y="2761488"/>
            <a:ext cx="3977640" cy="182880"/>
          </a:xfrm>
          <a:prstGeom prst="rect">
            <a:avLst/>
          </a:prstGeom>
          <a:noFill/>
          <a:ln/>
        </p:spPr>
        <p:txBody>
          <a:bodyPr wrap="square" lIns="0" tIns="0" rIns="0" bIns="0" rtlCol="0" anchor="ctr"/>
          <a:lstStyle/>
          <a:p>
            <a:pPr algn="ctr" indent="0" marL="0">
              <a:buNone/>
            </a:pPr>
            <a:r>
              <a:rPr lang="en-US" sz="850" i="1" dirty="0">
                <a:solidFill>
                  <a:srgbClr val="64748B"/>
                </a:solidFill>
                <a:latin typeface="Calibri" pitchFamily="34" charset="0"/>
                <a:ea typeface="Calibri" pitchFamily="34" charset="-122"/>
                <a:cs typeface="Calibri" pitchFamily="34" charset="-120"/>
              </a:rPr>
              <a:t>high-level runtimes (what Kubernetes talks to)</a:t>
            </a:r>
            <a:endParaRPr lang="en-US" sz="850" dirty="0"/>
          </a:p>
        </p:txBody>
      </p:sp>
      <p:sp>
        <p:nvSpPr>
          <p:cNvPr id="16" name="Shape 13"/>
          <p:cNvSpPr/>
          <p:nvPr/>
        </p:nvSpPr>
        <p:spPr>
          <a:xfrm>
            <a:off x="548640" y="3017520"/>
            <a:ext cx="3977640" cy="457200"/>
          </a:xfrm>
          <a:prstGeom prst="rect">
            <a:avLst/>
          </a:prstGeom>
          <a:solidFill>
            <a:srgbClr val="334155"/>
          </a:solidFill>
          <a:ln w="15875">
            <a:solidFill>
              <a:srgbClr val="FFFFFF"/>
            </a:solidFill>
            <a:prstDash val="solid"/>
          </a:ln>
        </p:spPr>
      </p:sp>
      <p:sp>
        <p:nvSpPr>
          <p:cNvPr id="17" name="Text 14"/>
          <p:cNvSpPr/>
          <p:nvPr/>
        </p:nvSpPr>
        <p:spPr>
          <a:xfrm>
            <a:off x="548640" y="3017520"/>
            <a:ext cx="397764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runc   —   OCI low-level runtime</a:t>
            </a:r>
            <a:endParaRPr lang="en-US" sz="1050" dirty="0"/>
          </a:p>
        </p:txBody>
      </p:sp>
      <p:sp>
        <p:nvSpPr>
          <p:cNvPr id="18" name="Shape 15"/>
          <p:cNvSpPr/>
          <p:nvPr/>
        </p:nvSpPr>
        <p:spPr>
          <a:xfrm>
            <a:off x="548640" y="3493008"/>
            <a:ext cx="3977640" cy="457200"/>
          </a:xfrm>
          <a:prstGeom prst="rect">
            <a:avLst/>
          </a:prstGeom>
          <a:solidFill>
            <a:srgbClr val="0F172A"/>
          </a:solidFill>
          <a:ln w="15875">
            <a:solidFill>
              <a:srgbClr val="FFFFFF"/>
            </a:solidFill>
            <a:prstDash val="solid"/>
          </a:ln>
        </p:spPr>
      </p:sp>
      <p:sp>
        <p:nvSpPr>
          <p:cNvPr id="19" name="Text 16"/>
          <p:cNvSpPr/>
          <p:nvPr/>
        </p:nvSpPr>
        <p:spPr>
          <a:xfrm>
            <a:off x="548640" y="3493008"/>
            <a:ext cx="3977640"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Linux kernel  —  namespaces · cgroups</a:t>
            </a:r>
            <a:endParaRPr lang="en-US" sz="1050" dirty="0"/>
          </a:p>
        </p:txBody>
      </p:sp>
      <p:sp>
        <p:nvSpPr>
          <p:cNvPr id="20" name="Text 17"/>
          <p:cNvSpPr/>
          <p:nvPr/>
        </p:nvSpPr>
        <p:spPr>
          <a:xfrm>
            <a:off x="4754880" y="1371600"/>
            <a:ext cx="3931920" cy="2697480"/>
          </a:xfrm>
          <a:prstGeom prst="rect">
            <a:avLst/>
          </a:prstGeom>
          <a:noFill/>
          <a:ln/>
        </p:spPr>
        <p:txBody>
          <a:bodyPr wrap="square" lIns="0" tIns="0" rIns="0" bIns="0" rtlCol="0" anchor="t"/>
          <a:lstStyle/>
          <a:p>
            <a:pPr algn="l" marL="190500" indent="-190500">
              <a:buSzPct val="100000"/>
              <a:buChar char="•"/>
            </a:pPr>
            <a:r>
              <a:rPr lang="en-US" sz="1150" b="1" dirty="0">
                <a:solidFill>
                  <a:srgbClr val="0F172A"/>
                </a:solidFill>
                <a:latin typeface="Calibri" pitchFamily="34" charset="0"/>
                <a:ea typeface="Calibri" pitchFamily="34" charset="-122"/>
                <a:cs typeface="Calibri" pitchFamily="34" charset="-120"/>
              </a:rPr>
              <a:t>OCI</a:t>
            </a:r>
            <a:pPr algn="l" indent="0" marL="0">
              <a:spcAft>
                <a:spcPts val="700"/>
              </a:spcAft>
              <a:buNone/>
            </a:pPr>
            <a:r>
              <a:rPr lang="en-US" sz="1150" dirty="0">
                <a:solidFill>
                  <a:srgbClr val="475569"/>
                </a:solidFill>
                <a:latin typeface="Calibri" pitchFamily="34" charset="0"/>
                <a:ea typeface="Calibri" pitchFamily="34" charset="-122"/>
                <a:cs typeface="Calibri" pitchFamily="34" charset="-120"/>
              </a:rPr>
              <a:t>  — open standard for image &amp; runtime formats</a:t>
            </a:r>
            <a:endParaRPr lang="en-US" sz="1150" dirty="0"/>
          </a:p>
          <a:p>
            <a:pPr algn="l" marL="190500" indent="-190500">
              <a:buSzPct val="100000"/>
              <a:buChar char="•"/>
            </a:pPr>
            <a:r>
              <a:rPr lang="en-US" sz="1150" b="1" dirty="0">
                <a:solidFill>
                  <a:srgbClr val="0F172A"/>
                </a:solidFill>
                <a:latin typeface="Calibri" pitchFamily="34" charset="0"/>
                <a:ea typeface="Calibri" pitchFamily="34" charset="-122"/>
                <a:cs typeface="Calibri" pitchFamily="34" charset="-120"/>
              </a:rPr>
              <a:t>runc</a:t>
            </a:r>
            <a:pPr algn="l" indent="0" marL="0">
              <a:spcAft>
                <a:spcPts val="700"/>
              </a:spcAft>
              <a:buNone/>
            </a:pPr>
            <a:r>
              <a:rPr lang="en-US" sz="1150" dirty="0">
                <a:solidFill>
                  <a:srgbClr val="475569"/>
                </a:solidFill>
                <a:latin typeface="Calibri" pitchFamily="34" charset="0"/>
                <a:ea typeface="Calibri" pitchFamily="34" charset="-122"/>
                <a:cs typeface="Calibri" pitchFamily="34" charset="-120"/>
              </a:rPr>
              <a:t>  — actually spawns the container process</a:t>
            </a:r>
            <a:endParaRPr lang="en-US" sz="1150" dirty="0"/>
          </a:p>
          <a:p>
            <a:pPr algn="l" marL="190500" indent="-190500">
              <a:buSzPct val="100000"/>
              <a:buChar char="•"/>
            </a:pPr>
            <a:r>
              <a:rPr lang="en-US" sz="1150" b="1" dirty="0">
                <a:solidFill>
                  <a:srgbClr val="0F172A"/>
                </a:solidFill>
                <a:latin typeface="Calibri" pitchFamily="34" charset="0"/>
                <a:ea typeface="Calibri" pitchFamily="34" charset="-122"/>
                <a:cs typeface="Calibri" pitchFamily="34" charset="-120"/>
              </a:rPr>
              <a:t>containerd / CRI-O</a:t>
            </a:r>
            <a:pPr algn="l" indent="0" marL="0">
              <a:spcAft>
                <a:spcPts val="700"/>
              </a:spcAft>
              <a:buNone/>
            </a:pPr>
            <a:r>
              <a:rPr lang="en-US" sz="1150" dirty="0">
                <a:solidFill>
                  <a:srgbClr val="475569"/>
                </a:solidFill>
                <a:latin typeface="Calibri" pitchFamily="34" charset="0"/>
                <a:ea typeface="Calibri" pitchFamily="34" charset="-122"/>
                <a:cs typeface="Calibri" pitchFamily="34" charset="-120"/>
              </a:rPr>
              <a:t>  — manage images &amp; lifecycle</a:t>
            </a:r>
            <a:endParaRPr lang="en-US" sz="1150" dirty="0"/>
          </a:p>
          <a:p>
            <a:pPr algn="l" marL="190500" indent="-190500">
              <a:buSzPct val="100000"/>
              <a:buChar char="•"/>
            </a:pPr>
            <a:r>
              <a:rPr lang="en-US" sz="1150" b="1" dirty="0">
                <a:solidFill>
                  <a:srgbClr val="0F172A"/>
                </a:solidFill>
                <a:latin typeface="Calibri" pitchFamily="34" charset="0"/>
                <a:ea typeface="Calibri" pitchFamily="34" charset="-122"/>
                <a:cs typeface="Calibri" pitchFamily="34" charset="-120"/>
              </a:rPr>
              <a:t>Docker / Podman</a:t>
            </a:r>
            <a:pPr algn="l" indent="0" marL="0">
              <a:spcAft>
                <a:spcPts val="700"/>
              </a:spcAft>
              <a:buNone/>
            </a:pPr>
            <a:r>
              <a:rPr lang="en-US" sz="1150" dirty="0">
                <a:solidFill>
                  <a:srgbClr val="475569"/>
                </a:solidFill>
                <a:latin typeface="Calibri" pitchFamily="34" charset="0"/>
                <a:ea typeface="Calibri" pitchFamily="34" charset="-122"/>
                <a:cs typeface="Calibri" pitchFamily="34" charset="-120"/>
              </a:rPr>
              <a:t>  — full platforms on top (Podman is daemonless)</a:t>
            </a:r>
            <a:endParaRPr lang="en-US" sz="1150" dirty="0"/>
          </a:p>
          <a:p>
            <a:pPr algn="l" marL="190500" indent="-190500">
              <a:buSzPct val="100000"/>
              <a:buChar char="•"/>
            </a:pPr>
            <a:r>
              <a:rPr lang="en-US" sz="1150" b="1" dirty="0">
                <a:solidFill>
                  <a:srgbClr val="0F172A"/>
                </a:solidFill>
                <a:latin typeface="Calibri" pitchFamily="34" charset="0"/>
                <a:ea typeface="Calibri" pitchFamily="34" charset="-122"/>
                <a:cs typeface="Calibri" pitchFamily="34" charset="-120"/>
              </a:rPr>
              <a:t>Kubernetes dropped Docker</a:t>
            </a:r>
            <a:pPr algn="l" indent="0" marL="0">
              <a:spcAft>
                <a:spcPts val="700"/>
              </a:spcAft>
              <a:buNone/>
            </a:pPr>
            <a:r>
              <a:rPr lang="en-US" sz="1150" dirty="0">
                <a:solidFill>
                  <a:srgbClr val="475569"/>
                </a:solidFill>
                <a:latin typeface="Calibri" pitchFamily="34" charset="0"/>
                <a:ea typeface="Calibri" pitchFamily="34" charset="-122"/>
                <a:cs typeface="Calibri" pitchFamily="34" charset="-120"/>
              </a:rPr>
              <a:t>  as its runtime — it uses containerd directly. Your images still run fine.</a:t>
            </a:r>
            <a:endParaRPr lang="en-US" sz="1150" dirty="0"/>
          </a:p>
        </p:txBody>
      </p:sp>
      <p:sp>
        <p:nvSpPr>
          <p:cNvPr id="21" name="Shape 18"/>
          <p:cNvSpPr/>
          <p:nvPr/>
        </p:nvSpPr>
        <p:spPr>
          <a:xfrm>
            <a:off x="548640" y="4224528"/>
            <a:ext cx="674827" cy="310896"/>
          </a:xfrm>
          <a:prstGeom prst="roundRect">
            <a:avLst>
              <a:gd name="adj" fmla="val 50000"/>
            </a:avLst>
          </a:prstGeom>
          <a:solidFill>
            <a:srgbClr val="F0FDFA"/>
          </a:solidFill>
          <a:ln w="12700">
            <a:solidFill>
              <a:srgbClr val="0D9488"/>
            </a:solidFill>
            <a:prstDash val="solid"/>
          </a:ln>
        </p:spPr>
      </p:sp>
      <p:sp>
        <p:nvSpPr>
          <p:cNvPr id="22" name="Text 19"/>
          <p:cNvSpPr/>
          <p:nvPr/>
        </p:nvSpPr>
        <p:spPr>
          <a:xfrm>
            <a:off x="548640" y="4224528"/>
            <a:ext cx="674827" cy="310896"/>
          </a:xfrm>
          <a:prstGeom prst="rect">
            <a:avLst/>
          </a:prstGeom>
          <a:noFill/>
          <a:ln/>
        </p:spPr>
        <p:txBody>
          <a:bodyPr wrap="square" lIns="0" tIns="0" rIns="0" bIns="0"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Docker</a:t>
            </a:r>
            <a:endParaRPr lang="en-US" sz="1000" dirty="0"/>
          </a:p>
        </p:txBody>
      </p:sp>
      <p:sp>
        <p:nvSpPr>
          <p:cNvPr id="23" name="Shape 20"/>
          <p:cNvSpPr/>
          <p:nvPr/>
        </p:nvSpPr>
        <p:spPr>
          <a:xfrm>
            <a:off x="1333195" y="4224528"/>
            <a:ext cx="674827" cy="310896"/>
          </a:xfrm>
          <a:prstGeom prst="roundRect">
            <a:avLst>
              <a:gd name="adj" fmla="val 50000"/>
            </a:avLst>
          </a:prstGeom>
          <a:solidFill>
            <a:srgbClr val="F0FDFA"/>
          </a:solidFill>
          <a:ln w="12700">
            <a:solidFill>
              <a:srgbClr val="0D9488"/>
            </a:solidFill>
            <a:prstDash val="solid"/>
          </a:ln>
        </p:spPr>
      </p:sp>
      <p:sp>
        <p:nvSpPr>
          <p:cNvPr id="24" name="Text 21"/>
          <p:cNvSpPr/>
          <p:nvPr/>
        </p:nvSpPr>
        <p:spPr>
          <a:xfrm>
            <a:off x="1333195" y="4224528"/>
            <a:ext cx="674827" cy="310896"/>
          </a:xfrm>
          <a:prstGeom prst="rect">
            <a:avLst/>
          </a:prstGeom>
          <a:noFill/>
          <a:ln/>
        </p:spPr>
        <p:txBody>
          <a:bodyPr wrap="square" lIns="0" tIns="0" rIns="0" bIns="0"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Podman</a:t>
            </a:r>
            <a:endParaRPr lang="en-US" sz="1000" dirty="0"/>
          </a:p>
        </p:txBody>
      </p:sp>
      <p:sp>
        <p:nvSpPr>
          <p:cNvPr id="25" name="Shape 22"/>
          <p:cNvSpPr/>
          <p:nvPr/>
        </p:nvSpPr>
        <p:spPr>
          <a:xfrm>
            <a:off x="2117750" y="4224528"/>
            <a:ext cx="978408" cy="310896"/>
          </a:xfrm>
          <a:prstGeom prst="roundRect">
            <a:avLst>
              <a:gd name="adj" fmla="val 50000"/>
            </a:avLst>
          </a:prstGeom>
          <a:solidFill>
            <a:srgbClr val="F0FDFA"/>
          </a:solidFill>
          <a:ln w="12700">
            <a:solidFill>
              <a:srgbClr val="0D9488"/>
            </a:solidFill>
            <a:prstDash val="solid"/>
          </a:ln>
        </p:spPr>
      </p:sp>
      <p:sp>
        <p:nvSpPr>
          <p:cNvPr id="26" name="Text 23"/>
          <p:cNvSpPr/>
          <p:nvPr/>
        </p:nvSpPr>
        <p:spPr>
          <a:xfrm>
            <a:off x="2117750" y="4224528"/>
            <a:ext cx="978408" cy="310896"/>
          </a:xfrm>
          <a:prstGeom prst="rect">
            <a:avLst/>
          </a:prstGeom>
          <a:noFill/>
          <a:ln/>
        </p:spPr>
        <p:txBody>
          <a:bodyPr wrap="square" lIns="0" tIns="0" rIns="0" bIns="0"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containerd</a:t>
            </a:r>
            <a:endParaRPr lang="en-US" sz="1000" dirty="0"/>
          </a:p>
        </p:txBody>
      </p:sp>
      <p:sp>
        <p:nvSpPr>
          <p:cNvPr id="27" name="Shape 24"/>
          <p:cNvSpPr/>
          <p:nvPr/>
        </p:nvSpPr>
        <p:spPr>
          <a:xfrm>
            <a:off x="3205886" y="4224528"/>
            <a:ext cx="598932" cy="310896"/>
          </a:xfrm>
          <a:prstGeom prst="roundRect">
            <a:avLst>
              <a:gd name="adj" fmla="val 50000"/>
            </a:avLst>
          </a:prstGeom>
          <a:solidFill>
            <a:srgbClr val="F0FDFA"/>
          </a:solidFill>
          <a:ln w="12700">
            <a:solidFill>
              <a:srgbClr val="0D9488"/>
            </a:solidFill>
            <a:prstDash val="solid"/>
          </a:ln>
        </p:spPr>
      </p:sp>
      <p:sp>
        <p:nvSpPr>
          <p:cNvPr id="28" name="Text 25"/>
          <p:cNvSpPr/>
          <p:nvPr/>
        </p:nvSpPr>
        <p:spPr>
          <a:xfrm>
            <a:off x="3205886" y="4224528"/>
            <a:ext cx="598932" cy="310896"/>
          </a:xfrm>
          <a:prstGeom prst="rect">
            <a:avLst/>
          </a:prstGeom>
          <a:noFill/>
          <a:ln/>
        </p:spPr>
        <p:txBody>
          <a:bodyPr wrap="square" lIns="0" tIns="0" rIns="0" bIns="0"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CRI-O</a:t>
            </a:r>
            <a:endParaRPr lang="en-US" sz="1000" dirty="0"/>
          </a:p>
        </p:txBody>
      </p:sp>
      <p:sp>
        <p:nvSpPr>
          <p:cNvPr id="29" name="Shape 26"/>
          <p:cNvSpPr/>
          <p:nvPr/>
        </p:nvSpPr>
        <p:spPr>
          <a:xfrm>
            <a:off x="3914546" y="4224528"/>
            <a:ext cx="566928" cy="310896"/>
          </a:xfrm>
          <a:prstGeom prst="roundRect">
            <a:avLst>
              <a:gd name="adj" fmla="val 50000"/>
            </a:avLst>
          </a:prstGeom>
          <a:solidFill>
            <a:srgbClr val="F0FDFA"/>
          </a:solidFill>
          <a:ln w="12700">
            <a:solidFill>
              <a:srgbClr val="0D9488"/>
            </a:solidFill>
            <a:prstDash val="solid"/>
          </a:ln>
        </p:spPr>
      </p:sp>
      <p:sp>
        <p:nvSpPr>
          <p:cNvPr id="30" name="Text 27"/>
          <p:cNvSpPr/>
          <p:nvPr/>
        </p:nvSpPr>
        <p:spPr>
          <a:xfrm>
            <a:off x="3914546" y="4224528"/>
            <a:ext cx="566928" cy="310896"/>
          </a:xfrm>
          <a:prstGeom prst="rect">
            <a:avLst/>
          </a:prstGeom>
          <a:noFill/>
          <a:ln/>
        </p:spPr>
        <p:txBody>
          <a:bodyPr wrap="square" lIns="0" tIns="0" rIns="0" bIns="0"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runc</a:t>
            </a:r>
            <a:endParaRPr lang="en-US" sz="1000" dirty="0"/>
          </a:p>
        </p:txBody>
      </p:sp>
      <p:sp>
        <p:nvSpPr>
          <p:cNvPr id="31" name="Shape 28"/>
          <p:cNvSpPr/>
          <p:nvPr/>
        </p:nvSpPr>
        <p:spPr>
          <a:xfrm>
            <a:off x="4591202" y="4224528"/>
            <a:ext cx="674827" cy="310896"/>
          </a:xfrm>
          <a:prstGeom prst="roundRect">
            <a:avLst>
              <a:gd name="adj" fmla="val 50000"/>
            </a:avLst>
          </a:prstGeom>
          <a:solidFill>
            <a:srgbClr val="F0FDFA"/>
          </a:solidFill>
          <a:ln w="12700">
            <a:solidFill>
              <a:srgbClr val="0D9488"/>
            </a:solidFill>
            <a:prstDash val="solid"/>
          </a:ln>
        </p:spPr>
      </p:sp>
      <p:sp>
        <p:nvSpPr>
          <p:cNvPr id="32" name="Text 29"/>
          <p:cNvSpPr/>
          <p:nvPr/>
        </p:nvSpPr>
        <p:spPr>
          <a:xfrm>
            <a:off x="4591202" y="4224528"/>
            <a:ext cx="674827" cy="310896"/>
          </a:xfrm>
          <a:prstGeom prst="rect">
            <a:avLst/>
          </a:prstGeom>
          <a:noFill/>
          <a:ln/>
        </p:spPr>
        <p:txBody>
          <a:bodyPr wrap="square" lIns="0" tIns="0" rIns="0" bIns="0"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gVisor</a:t>
            </a:r>
            <a:endParaRPr lang="en-US" sz="1000" dirty="0"/>
          </a:p>
        </p:txBody>
      </p:sp>
      <p:sp>
        <p:nvSpPr>
          <p:cNvPr id="33" name="Shape 30"/>
          <p:cNvSpPr/>
          <p:nvPr/>
        </p:nvSpPr>
        <p:spPr>
          <a:xfrm>
            <a:off x="5375758" y="4224528"/>
            <a:ext cx="566928" cy="310896"/>
          </a:xfrm>
          <a:prstGeom prst="roundRect">
            <a:avLst>
              <a:gd name="adj" fmla="val 50000"/>
            </a:avLst>
          </a:prstGeom>
          <a:solidFill>
            <a:srgbClr val="F0FDFA"/>
          </a:solidFill>
          <a:ln w="12700">
            <a:solidFill>
              <a:srgbClr val="0D9488"/>
            </a:solidFill>
            <a:prstDash val="solid"/>
          </a:ln>
        </p:spPr>
      </p:sp>
      <p:sp>
        <p:nvSpPr>
          <p:cNvPr id="34" name="Text 31"/>
          <p:cNvSpPr/>
          <p:nvPr/>
        </p:nvSpPr>
        <p:spPr>
          <a:xfrm>
            <a:off x="5375758" y="4224528"/>
            <a:ext cx="566928" cy="310896"/>
          </a:xfrm>
          <a:prstGeom prst="rect">
            <a:avLst/>
          </a:prstGeom>
          <a:noFill/>
          <a:ln/>
        </p:spPr>
        <p:txBody>
          <a:bodyPr wrap="square" lIns="0" tIns="0" rIns="0" bIns="0"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Kata</a:t>
            </a:r>
            <a:endParaRPr lang="en-US" sz="1000" dirty="0"/>
          </a:p>
        </p:txBody>
      </p:sp>
      <p:sp>
        <p:nvSpPr>
          <p:cNvPr id="35" name="Text 32"/>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36" name="Text 33"/>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Foundations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HOW IT FITS TOGETHER</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The Docker architecture</a:t>
            </a:r>
            <a:endParaRPr lang="en-US" sz="2500" dirty="0"/>
          </a:p>
        </p:txBody>
      </p:sp>
      <p:sp>
        <p:nvSpPr>
          <p:cNvPr id="6" name="Shape 3"/>
          <p:cNvSpPr/>
          <p:nvPr/>
        </p:nvSpPr>
        <p:spPr>
          <a:xfrm>
            <a:off x="548640" y="1600200"/>
            <a:ext cx="228600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76200" dist="25400" dir="2700000">
              <a:srgbClr val="475569">
                <a:alpha val="10000"/>
              </a:srgbClr>
            </a:outerShdw>
          </a:effectLst>
        </p:spPr>
      </p:sp>
      <p:pic>
        <p:nvPicPr>
          <p:cNvPr id="7" name="Image 1" descr="preencoded.png">    </p:cNvPr>
          <p:cNvPicPr>
            <a:picLocks noChangeAspect="1"/>
          </p:cNvPicPr>
          <p:nvPr/>
        </p:nvPicPr>
        <p:blipFill>
          <a:blip r:embed="rId2"/>
          <a:stretch>
            <a:fillRect/>
          </a:stretch>
        </p:blipFill>
        <p:spPr>
          <a:xfrm>
            <a:off x="1517904" y="1783080"/>
            <a:ext cx="365760" cy="365760"/>
          </a:xfrm>
          <a:prstGeom prst="rect">
            <a:avLst/>
          </a:prstGeom>
        </p:spPr>
      </p:pic>
      <p:sp>
        <p:nvSpPr>
          <p:cNvPr id="8" name="Text 4"/>
          <p:cNvSpPr/>
          <p:nvPr/>
        </p:nvSpPr>
        <p:spPr>
          <a:xfrm>
            <a:off x="548640" y="2194560"/>
            <a:ext cx="2286000" cy="457200"/>
          </a:xfrm>
          <a:prstGeom prst="rect">
            <a:avLst/>
          </a:prstGeom>
          <a:noFill/>
          <a:ln/>
        </p:spPr>
        <p:txBody>
          <a:bodyPr wrap="square" lIns="0" tIns="0" rIns="0" bIns="0" rtlCol="0" anchor="ctr"/>
          <a:lstStyle/>
          <a:p>
            <a:pPr algn="ctr" indent="0" marL="0">
              <a:lnSpc>
                <a:spcPts val="1300"/>
              </a:lnSpc>
              <a:buNone/>
            </a:pPr>
            <a:r>
              <a:rPr lang="en-US" sz="1300" b="1" dirty="0">
                <a:solidFill>
                  <a:srgbClr val="0F172A"/>
                </a:solidFill>
                <a:latin typeface="Calibri" pitchFamily="34" charset="0"/>
                <a:ea typeface="Calibri" pitchFamily="34" charset="-122"/>
                <a:cs typeface="Calibri" pitchFamily="34" charset="-120"/>
              </a:rPr>
              <a:t>Docker Client</a:t>
            </a:r>
            <a:endParaRPr lang="en-US" sz="1300" dirty="0"/>
          </a:p>
          <a:p>
            <a:pPr algn="ctr" indent="0" marL="0">
              <a:lnSpc>
                <a:spcPts val="1300"/>
              </a:lnSpc>
              <a:buNone/>
            </a:pPr>
            <a:r>
              <a:rPr lang="en-US" sz="1000" dirty="0">
                <a:solidFill>
                  <a:srgbClr val="64748B"/>
                </a:solidFill>
                <a:latin typeface="Calibri" pitchFamily="34" charset="0"/>
                <a:ea typeface="Calibri" pitchFamily="34" charset="-122"/>
                <a:cs typeface="Calibri" pitchFamily="34" charset="-120"/>
              </a:rPr>
              <a:t>the docker CLI</a:t>
            </a:r>
            <a:endParaRPr lang="en-US" sz="1300" dirty="0"/>
          </a:p>
        </p:txBody>
      </p:sp>
      <p:sp>
        <p:nvSpPr>
          <p:cNvPr id="9" name="Text 5"/>
          <p:cNvSpPr/>
          <p:nvPr/>
        </p:nvSpPr>
        <p:spPr>
          <a:xfrm>
            <a:off x="548640" y="2743200"/>
            <a:ext cx="2286000" cy="822960"/>
          </a:xfrm>
          <a:prstGeom prst="rect">
            <a:avLst/>
          </a:prstGeom>
          <a:noFill/>
          <a:ln/>
        </p:spPr>
        <p:txBody>
          <a:bodyPr wrap="square" lIns="0" tIns="0" rIns="0" bIns="0" rtlCol="0" anchor="ctr"/>
          <a:lstStyle/>
          <a:p>
            <a:pPr algn="ctr" indent="0" marL="0">
              <a:lnSpc>
                <a:spcPts val="1400"/>
              </a:lnSpc>
              <a:buNone/>
            </a:pPr>
            <a:r>
              <a:rPr lang="en-US" sz="1000" dirty="0">
                <a:solidFill>
                  <a:srgbClr val="0F766E"/>
                </a:solidFill>
                <a:latin typeface="Courier New" pitchFamily="34" charset="0"/>
                <a:ea typeface="Courier New" pitchFamily="34" charset="-122"/>
                <a:cs typeface="Courier New" pitchFamily="34" charset="-120"/>
              </a:rPr>
              <a:t>build · run</a:t>
            </a:r>
            <a:endParaRPr lang="en-US" sz="1000" dirty="0"/>
          </a:p>
          <a:p>
            <a:pPr algn="ctr" indent="0" marL="0">
              <a:lnSpc>
                <a:spcPts val="1400"/>
              </a:lnSpc>
              <a:buNone/>
            </a:pPr>
            <a:r>
              <a:rPr lang="en-US" sz="1000" dirty="0">
                <a:solidFill>
                  <a:srgbClr val="0F766E"/>
                </a:solidFill>
                <a:latin typeface="Courier New" pitchFamily="34" charset="0"/>
                <a:ea typeface="Courier New" pitchFamily="34" charset="-122"/>
                <a:cs typeface="Courier New" pitchFamily="34" charset="-120"/>
              </a:rPr>
              <a:t>pull · push</a:t>
            </a:r>
            <a:endParaRPr lang="en-US" sz="1000" dirty="0"/>
          </a:p>
        </p:txBody>
      </p:sp>
      <p:sp>
        <p:nvSpPr>
          <p:cNvPr id="10" name="Shape 6"/>
          <p:cNvSpPr/>
          <p:nvPr/>
        </p:nvSpPr>
        <p:spPr>
          <a:xfrm>
            <a:off x="3246120" y="1371600"/>
            <a:ext cx="2743200" cy="2606040"/>
          </a:xfrm>
          <a:prstGeom prst="roundRect">
            <a:avLst>
              <a:gd name="adj" fmla="val 2807"/>
            </a:avLst>
          </a:prstGeom>
          <a:solidFill>
            <a:srgbClr val="EAF4FD"/>
          </a:solidFill>
          <a:ln w="12700">
            <a:solidFill>
              <a:srgbClr val="BBDDF7"/>
            </a:solidFill>
            <a:prstDash val="solid"/>
          </a:ln>
          <a:effectLst>
            <a:outerShdw sx="100000" sy="100000" kx="0" ky="0" algn="bl" rotWithShape="0" blurRad="76200" dist="25400" dir="2700000">
              <a:srgbClr val="475569">
                <a:alpha val="10000"/>
              </a:srgbClr>
            </a:outerShdw>
          </a:effectLst>
        </p:spPr>
      </p:sp>
      <p:sp>
        <p:nvSpPr>
          <p:cNvPr id="11" name="Text 7"/>
          <p:cNvSpPr/>
          <p:nvPr/>
        </p:nvSpPr>
        <p:spPr>
          <a:xfrm>
            <a:off x="3246120" y="1481328"/>
            <a:ext cx="2743200" cy="502920"/>
          </a:xfrm>
          <a:prstGeom prst="rect">
            <a:avLst/>
          </a:prstGeom>
          <a:noFill/>
          <a:ln/>
        </p:spPr>
        <p:txBody>
          <a:bodyPr wrap="square" lIns="0" tIns="0" rIns="0" bIns="0" rtlCol="0" anchor="ctr"/>
          <a:lstStyle/>
          <a:p>
            <a:pPr algn="ctr" indent="0" marL="0">
              <a:lnSpc>
                <a:spcPts val="1300"/>
              </a:lnSpc>
              <a:buNone/>
            </a:pPr>
            <a:r>
              <a:rPr lang="en-US" sz="1300" b="1" dirty="0">
                <a:solidFill>
                  <a:srgbClr val="2496ED"/>
                </a:solidFill>
                <a:latin typeface="Calibri" pitchFamily="34" charset="0"/>
                <a:ea typeface="Calibri" pitchFamily="34" charset="-122"/>
                <a:cs typeface="Calibri" pitchFamily="34" charset="-120"/>
              </a:rPr>
              <a:t>Docker Host</a:t>
            </a:r>
            <a:endParaRPr lang="en-US" sz="1300" dirty="0"/>
          </a:p>
          <a:p>
            <a:pPr algn="ctr" indent="0" marL="0">
              <a:lnSpc>
                <a:spcPts val="1300"/>
              </a:lnSpc>
              <a:buNone/>
            </a:pPr>
            <a:r>
              <a:rPr lang="en-US" sz="1000" dirty="0">
                <a:solidFill>
                  <a:srgbClr val="475569"/>
                </a:solidFill>
                <a:latin typeface="Calibri" pitchFamily="34" charset="0"/>
                <a:ea typeface="Calibri" pitchFamily="34" charset="-122"/>
                <a:cs typeface="Calibri" pitchFamily="34" charset="-120"/>
              </a:rPr>
              <a:t>dockerd (daemon)</a:t>
            </a:r>
            <a:endParaRPr lang="en-US" sz="1300" dirty="0"/>
          </a:p>
        </p:txBody>
      </p:sp>
      <p:sp>
        <p:nvSpPr>
          <p:cNvPr id="12" name="Shape 8"/>
          <p:cNvSpPr/>
          <p:nvPr/>
        </p:nvSpPr>
        <p:spPr>
          <a:xfrm>
            <a:off x="3474720" y="2121408"/>
            <a:ext cx="2286000" cy="457200"/>
          </a:xfrm>
          <a:prstGeom prst="roundRect">
            <a:avLst>
              <a:gd name="adj" fmla="val 12000"/>
            </a:avLst>
          </a:prstGeom>
          <a:solidFill>
            <a:srgbClr val="FFFFFF"/>
          </a:solidFill>
          <a:ln w="12700">
            <a:solidFill>
              <a:srgbClr val="BBDDF7"/>
            </a:solidFill>
            <a:prstDash val="solid"/>
          </a:ln>
        </p:spPr>
      </p:sp>
      <p:sp>
        <p:nvSpPr>
          <p:cNvPr id="13" name="Text 9"/>
          <p:cNvSpPr/>
          <p:nvPr/>
        </p:nvSpPr>
        <p:spPr>
          <a:xfrm>
            <a:off x="3474720" y="2121408"/>
            <a:ext cx="2286000" cy="45720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Images</a:t>
            </a:r>
            <a:endParaRPr lang="en-US" sz="1100" dirty="0"/>
          </a:p>
        </p:txBody>
      </p:sp>
      <p:sp>
        <p:nvSpPr>
          <p:cNvPr id="14" name="Shape 10"/>
          <p:cNvSpPr/>
          <p:nvPr/>
        </p:nvSpPr>
        <p:spPr>
          <a:xfrm>
            <a:off x="3474720" y="2688336"/>
            <a:ext cx="2286000" cy="457200"/>
          </a:xfrm>
          <a:prstGeom prst="roundRect">
            <a:avLst>
              <a:gd name="adj" fmla="val 12000"/>
            </a:avLst>
          </a:prstGeom>
          <a:solidFill>
            <a:srgbClr val="FFFFFF"/>
          </a:solidFill>
          <a:ln w="12700">
            <a:solidFill>
              <a:srgbClr val="BBDDF7"/>
            </a:solidFill>
            <a:prstDash val="solid"/>
          </a:ln>
        </p:spPr>
      </p:sp>
      <p:sp>
        <p:nvSpPr>
          <p:cNvPr id="15" name="Text 11"/>
          <p:cNvSpPr/>
          <p:nvPr/>
        </p:nvSpPr>
        <p:spPr>
          <a:xfrm>
            <a:off x="3474720" y="2688336"/>
            <a:ext cx="2286000" cy="45720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Containers</a:t>
            </a:r>
            <a:endParaRPr lang="en-US" sz="1100" dirty="0"/>
          </a:p>
        </p:txBody>
      </p:sp>
      <p:sp>
        <p:nvSpPr>
          <p:cNvPr id="16" name="Shape 12"/>
          <p:cNvSpPr/>
          <p:nvPr/>
        </p:nvSpPr>
        <p:spPr>
          <a:xfrm>
            <a:off x="3474720" y="3255264"/>
            <a:ext cx="2286000" cy="457200"/>
          </a:xfrm>
          <a:prstGeom prst="roundRect">
            <a:avLst>
              <a:gd name="adj" fmla="val 12000"/>
            </a:avLst>
          </a:prstGeom>
          <a:solidFill>
            <a:srgbClr val="FFFFFF"/>
          </a:solidFill>
          <a:ln w="12700">
            <a:solidFill>
              <a:srgbClr val="BBDDF7"/>
            </a:solidFill>
            <a:prstDash val="solid"/>
          </a:ln>
        </p:spPr>
      </p:sp>
      <p:sp>
        <p:nvSpPr>
          <p:cNvPr id="17" name="Text 13"/>
          <p:cNvSpPr/>
          <p:nvPr/>
        </p:nvSpPr>
        <p:spPr>
          <a:xfrm>
            <a:off x="3474720" y="3255264"/>
            <a:ext cx="2286000" cy="45720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Networks · Volumes</a:t>
            </a:r>
            <a:endParaRPr lang="en-US" sz="1100" dirty="0"/>
          </a:p>
        </p:txBody>
      </p:sp>
      <p:sp>
        <p:nvSpPr>
          <p:cNvPr id="18" name="Shape 14"/>
          <p:cNvSpPr/>
          <p:nvPr/>
        </p:nvSpPr>
        <p:spPr>
          <a:xfrm>
            <a:off x="6400800" y="1600200"/>
            <a:ext cx="2286000" cy="2103120"/>
          </a:xfrm>
          <a:prstGeom prst="roundRect">
            <a:avLst>
              <a:gd name="adj" fmla="val 3478"/>
            </a:avLst>
          </a:prstGeom>
          <a:solidFill>
            <a:srgbClr val="FFFFFF"/>
          </a:solidFill>
          <a:ln w="12700">
            <a:solidFill>
              <a:srgbClr val="E2E8F0"/>
            </a:solidFill>
            <a:prstDash val="solid"/>
          </a:ln>
          <a:effectLst>
            <a:outerShdw sx="100000" sy="100000" kx="0" ky="0" algn="bl" rotWithShape="0" blurRad="76200" dist="25400" dir="2700000">
              <a:srgbClr val="475569">
                <a:alpha val="10000"/>
              </a:srgbClr>
            </a:outerShdw>
          </a:effectLst>
        </p:spPr>
      </p:sp>
      <p:pic>
        <p:nvPicPr>
          <p:cNvPr id="19" name="Image 2" descr="preencoded.png">    </p:cNvPr>
          <p:cNvPicPr>
            <a:picLocks noChangeAspect="1"/>
          </p:cNvPicPr>
          <p:nvPr/>
        </p:nvPicPr>
        <p:blipFill>
          <a:blip r:embed="rId3"/>
          <a:stretch>
            <a:fillRect/>
          </a:stretch>
        </p:blipFill>
        <p:spPr>
          <a:xfrm>
            <a:off x="7370064" y="1783080"/>
            <a:ext cx="365760" cy="365760"/>
          </a:xfrm>
          <a:prstGeom prst="rect">
            <a:avLst/>
          </a:prstGeom>
        </p:spPr>
      </p:pic>
      <p:sp>
        <p:nvSpPr>
          <p:cNvPr id="20" name="Text 15"/>
          <p:cNvSpPr/>
          <p:nvPr/>
        </p:nvSpPr>
        <p:spPr>
          <a:xfrm>
            <a:off x="6400800" y="2194560"/>
            <a:ext cx="2286000" cy="457200"/>
          </a:xfrm>
          <a:prstGeom prst="rect">
            <a:avLst/>
          </a:prstGeom>
          <a:noFill/>
          <a:ln/>
        </p:spPr>
        <p:txBody>
          <a:bodyPr wrap="square" lIns="0" tIns="0" rIns="0" bIns="0" rtlCol="0" anchor="ctr"/>
          <a:lstStyle/>
          <a:p>
            <a:pPr algn="ctr" indent="0" marL="0">
              <a:lnSpc>
                <a:spcPts val="1300"/>
              </a:lnSpc>
              <a:buNone/>
            </a:pPr>
            <a:r>
              <a:rPr lang="en-US" sz="1300" b="1" dirty="0">
                <a:solidFill>
                  <a:srgbClr val="0F172A"/>
                </a:solidFill>
                <a:latin typeface="Calibri" pitchFamily="34" charset="0"/>
                <a:ea typeface="Calibri" pitchFamily="34" charset="-122"/>
                <a:cs typeface="Calibri" pitchFamily="34" charset="-120"/>
              </a:rPr>
              <a:t>Registry</a:t>
            </a:r>
            <a:endParaRPr lang="en-US" sz="1300" dirty="0"/>
          </a:p>
          <a:p>
            <a:pPr algn="ctr" indent="0" marL="0">
              <a:lnSpc>
                <a:spcPts val="1300"/>
              </a:lnSpc>
              <a:buNone/>
            </a:pPr>
            <a:r>
              <a:rPr lang="en-US" sz="1000" dirty="0">
                <a:solidFill>
                  <a:srgbClr val="64748B"/>
                </a:solidFill>
                <a:latin typeface="Calibri" pitchFamily="34" charset="0"/>
                <a:ea typeface="Calibri" pitchFamily="34" charset="-122"/>
                <a:cs typeface="Calibri" pitchFamily="34" charset="-120"/>
              </a:rPr>
              <a:t>Docker Hub / Harbor</a:t>
            </a:r>
            <a:endParaRPr lang="en-US" sz="1300" dirty="0"/>
          </a:p>
        </p:txBody>
      </p:sp>
      <p:sp>
        <p:nvSpPr>
          <p:cNvPr id="21" name="Text 16"/>
          <p:cNvSpPr/>
          <p:nvPr/>
        </p:nvSpPr>
        <p:spPr>
          <a:xfrm>
            <a:off x="6400800" y="2743200"/>
            <a:ext cx="2286000" cy="822960"/>
          </a:xfrm>
          <a:prstGeom prst="rect">
            <a:avLst/>
          </a:prstGeom>
          <a:noFill/>
          <a:ln/>
        </p:spPr>
        <p:txBody>
          <a:bodyPr wrap="square" lIns="0" tIns="0" rIns="0" bIns="0" rtlCol="0" anchor="ctr"/>
          <a:lstStyle/>
          <a:p>
            <a:pPr algn="ctr" indent="0" marL="0">
              <a:lnSpc>
                <a:spcPts val="1400"/>
              </a:lnSpc>
              <a:buNone/>
            </a:pPr>
            <a:r>
              <a:rPr lang="en-US" sz="1000" dirty="0">
                <a:solidFill>
                  <a:srgbClr val="0F766E"/>
                </a:solidFill>
                <a:latin typeface="Calibri" pitchFamily="34" charset="0"/>
                <a:ea typeface="Calibri" pitchFamily="34" charset="-122"/>
                <a:cs typeface="Calibri" pitchFamily="34" charset="-120"/>
              </a:rPr>
              <a:t>stores &amp; serves</a:t>
            </a:r>
            <a:endParaRPr lang="en-US" sz="1000" dirty="0"/>
          </a:p>
          <a:p>
            <a:pPr algn="ctr" indent="0" marL="0">
              <a:lnSpc>
                <a:spcPts val="1400"/>
              </a:lnSpc>
              <a:buNone/>
            </a:pPr>
            <a:r>
              <a:rPr lang="en-US" sz="1000" dirty="0">
                <a:solidFill>
                  <a:srgbClr val="0F766E"/>
                </a:solidFill>
                <a:latin typeface="Calibri" pitchFamily="34" charset="0"/>
                <a:ea typeface="Calibri" pitchFamily="34" charset="-122"/>
                <a:cs typeface="Calibri" pitchFamily="34" charset="-120"/>
              </a:rPr>
              <a:t>images</a:t>
            </a:r>
            <a:endParaRPr lang="en-US" sz="1000" dirty="0"/>
          </a:p>
        </p:txBody>
      </p:sp>
      <p:sp>
        <p:nvSpPr>
          <p:cNvPr id="22" name="Shape 17"/>
          <p:cNvSpPr/>
          <p:nvPr/>
        </p:nvSpPr>
        <p:spPr>
          <a:xfrm>
            <a:off x="2834640" y="2468880"/>
            <a:ext cx="411480" cy="0"/>
          </a:xfrm>
          <a:prstGeom prst="line">
            <a:avLst/>
          </a:prstGeom>
          <a:noFill/>
          <a:ln w="27940">
            <a:solidFill>
              <a:srgbClr val="64748B"/>
            </a:solidFill>
            <a:prstDash val="solid"/>
            <a:tailEnd type="triangle"/>
          </a:ln>
        </p:spPr>
      </p:sp>
      <p:sp>
        <p:nvSpPr>
          <p:cNvPr id="23" name="Text 18"/>
          <p:cNvSpPr/>
          <p:nvPr/>
        </p:nvSpPr>
        <p:spPr>
          <a:xfrm>
            <a:off x="2697480" y="2194560"/>
            <a:ext cx="868680" cy="228600"/>
          </a:xfrm>
          <a:prstGeom prst="rect">
            <a:avLst/>
          </a:prstGeom>
          <a:noFill/>
          <a:ln/>
        </p:spPr>
        <p:txBody>
          <a:bodyPr wrap="square" lIns="0" tIns="0" rIns="0" bIns="0" rtlCol="0" anchor="ctr"/>
          <a:lstStyle/>
          <a:p>
            <a:pPr algn="ctr" indent="0" marL="0">
              <a:buNone/>
            </a:pPr>
            <a:r>
              <a:rPr lang="en-US" sz="850" i="1" dirty="0">
                <a:solidFill>
                  <a:srgbClr val="64748B"/>
                </a:solidFill>
                <a:latin typeface="Calibri" pitchFamily="34" charset="0"/>
                <a:ea typeface="Calibri" pitchFamily="34" charset="-122"/>
                <a:cs typeface="Calibri" pitchFamily="34" charset="-120"/>
              </a:rPr>
              <a:t>REST API</a:t>
            </a:r>
            <a:endParaRPr lang="en-US" sz="850" dirty="0"/>
          </a:p>
        </p:txBody>
      </p:sp>
      <p:sp>
        <p:nvSpPr>
          <p:cNvPr id="24" name="Shape 19"/>
          <p:cNvSpPr/>
          <p:nvPr/>
        </p:nvSpPr>
        <p:spPr>
          <a:xfrm>
            <a:off x="5989320" y="2331720"/>
            <a:ext cx="411480" cy="0"/>
          </a:xfrm>
          <a:prstGeom prst="line">
            <a:avLst/>
          </a:prstGeom>
          <a:noFill/>
          <a:ln w="27940">
            <a:solidFill>
              <a:srgbClr val="64748B"/>
            </a:solidFill>
            <a:prstDash val="solid"/>
            <a:tailEnd type="triangle"/>
          </a:ln>
        </p:spPr>
      </p:sp>
      <p:sp>
        <p:nvSpPr>
          <p:cNvPr id="25" name="Shape 20"/>
          <p:cNvSpPr/>
          <p:nvPr/>
        </p:nvSpPr>
        <p:spPr>
          <a:xfrm>
            <a:off x="6400800" y="2743200"/>
            <a:ext cx="-411480" cy="0"/>
          </a:xfrm>
          <a:prstGeom prst="line">
            <a:avLst/>
          </a:prstGeom>
          <a:noFill/>
          <a:ln w="27940">
            <a:solidFill>
              <a:srgbClr val="64748B"/>
            </a:solidFill>
            <a:prstDash val="solid"/>
            <a:tailEnd type="triangle"/>
          </a:ln>
        </p:spPr>
      </p:sp>
      <p:sp>
        <p:nvSpPr>
          <p:cNvPr id="26" name="Text 21"/>
          <p:cNvSpPr/>
          <p:nvPr/>
        </p:nvSpPr>
        <p:spPr>
          <a:xfrm>
            <a:off x="5897880" y="2907792"/>
            <a:ext cx="1005840" cy="228600"/>
          </a:xfrm>
          <a:prstGeom prst="rect">
            <a:avLst/>
          </a:prstGeom>
          <a:noFill/>
          <a:ln/>
        </p:spPr>
        <p:txBody>
          <a:bodyPr wrap="square" lIns="0" tIns="0" rIns="0" bIns="0" rtlCol="0" anchor="ctr"/>
          <a:lstStyle/>
          <a:p>
            <a:pPr algn="ctr" indent="0" marL="0">
              <a:buNone/>
            </a:pPr>
            <a:r>
              <a:rPr lang="en-US" sz="850" i="1" dirty="0">
                <a:solidFill>
                  <a:srgbClr val="64748B"/>
                </a:solidFill>
                <a:latin typeface="Calibri" pitchFamily="34" charset="0"/>
                <a:ea typeface="Calibri" pitchFamily="34" charset="-122"/>
                <a:cs typeface="Calibri" pitchFamily="34" charset="-120"/>
              </a:rPr>
              <a:t>pull / push</a:t>
            </a:r>
            <a:endParaRPr lang="en-US" sz="850" dirty="0"/>
          </a:p>
        </p:txBody>
      </p:sp>
      <p:sp>
        <p:nvSpPr>
          <p:cNvPr id="27" name="Shape 22"/>
          <p:cNvSpPr/>
          <p:nvPr/>
        </p:nvSpPr>
        <p:spPr>
          <a:xfrm>
            <a:off x="457200" y="4114800"/>
            <a:ext cx="8229600" cy="475488"/>
          </a:xfrm>
          <a:prstGeom prst="roundRect">
            <a:avLst>
              <a:gd name="adj" fmla="val 15385"/>
            </a:avLst>
          </a:prstGeom>
          <a:solidFill>
            <a:srgbClr val="0F766E"/>
          </a:solidFill>
          <a:ln/>
          <a:effectLst>
            <a:outerShdw sx="100000" sy="100000" kx="0" ky="0" algn="bl" rotWithShape="0" blurRad="76200" dist="25400" dir="2700000">
              <a:srgbClr val="475569">
                <a:alpha val="12000"/>
              </a:srgbClr>
            </a:outerShdw>
          </a:effectLst>
        </p:spPr>
      </p:sp>
      <p:sp>
        <p:nvSpPr>
          <p:cNvPr id="28" name="Text 23"/>
          <p:cNvSpPr/>
          <p:nvPr/>
        </p:nvSpPr>
        <p:spPr>
          <a:xfrm>
            <a:off x="640080" y="4114800"/>
            <a:ext cx="7863840" cy="475488"/>
          </a:xfrm>
          <a:prstGeom prst="rect">
            <a:avLst/>
          </a:prstGeom>
          <a:noFill/>
          <a:ln/>
        </p:spPr>
        <p:txBody>
          <a:bodyPr wrap="square" lIns="0" tIns="0" rIns="0" bIns="0" rtlCol="0" anchor="ctr"/>
          <a:lstStyle/>
          <a:p>
            <a:pPr algn="ctr" indent="0" marL="0">
              <a:buNone/>
            </a:pPr>
            <a:r>
              <a:rPr lang="en-US" sz="1250" b="1" i="1" dirty="0">
                <a:solidFill>
                  <a:srgbClr val="FFFFFF"/>
                </a:solidFill>
                <a:latin typeface="Calibri" pitchFamily="34" charset="0"/>
                <a:ea typeface="Calibri" pitchFamily="34" charset="-122"/>
                <a:cs typeface="Calibri" pitchFamily="34" charset="-120"/>
              </a:rPr>
              <a:t>The CLI just sends commands; the daemon does the real work over a socket / REST API.</a:t>
            </a:r>
            <a:endParaRPr lang="en-US" sz="1250" dirty="0"/>
          </a:p>
        </p:txBody>
      </p:sp>
      <p:sp>
        <p:nvSpPr>
          <p:cNvPr id="29" name="Text 24"/>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30" name="Text 25"/>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Foundations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6126480" y="576072"/>
            <a:ext cx="365760" cy="347472"/>
          </a:xfrm>
          <a:prstGeom prst="roundRect">
            <a:avLst>
              <a:gd name="adj" fmla="val 10526"/>
            </a:avLst>
          </a:prstGeom>
          <a:solidFill>
            <a:srgbClr val="2496ED">
              <a:alpha val="72000"/>
            </a:srgbClr>
          </a:solidFill>
          <a:ln/>
        </p:spPr>
      </p:sp>
      <p:sp>
        <p:nvSpPr>
          <p:cNvPr id="3" name="Shape 1"/>
          <p:cNvSpPr/>
          <p:nvPr/>
        </p:nvSpPr>
        <p:spPr>
          <a:xfrm>
            <a:off x="6181344" y="502920"/>
            <a:ext cx="256032" cy="82296"/>
          </a:xfrm>
          <a:prstGeom prst="rect">
            <a:avLst/>
          </a:prstGeom>
          <a:solidFill>
            <a:srgbClr val="2496ED">
              <a:alpha val="72000"/>
            </a:srgbClr>
          </a:solidFill>
          <a:ln/>
        </p:spPr>
      </p:sp>
      <p:sp>
        <p:nvSpPr>
          <p:cNvPr id="4" name="Shape 2"/>
          <p:cNvSpPr/>
          <p:nvPr/>
        </p:nvSpPr>
        <p:spPr>
          <a:xfrm>
            <a:off x="6583680" y="576072"/>
            <a:ext cx="365760" cy="347472"/>
          </a:xfrm>
          <a:prstGeom prst="roundRect">
            <a:avLst>
              <a:gd name="adj" fmla="val 10526"/>
            </a:avLst>
          </a:prstGeom>
          <a:solidFill>
            <a:srgbClr val="2496ED">
              <a:alpha val="63000"/>
            </a:srgbClr>
          </a:solidFill>
          <a:ln/>
        </p:spPr>
      </p:sp>
      <p:sp>
        <p:nvSpPr>
          <p:cNvPr id="5" name="Shape 3"/>
          <p:cNvSpPr/>
          <p:nvPr/>
        </p:nvSpPr>
        <p:spPr>
          <a:xfrm>
            <a:off x="6638544" y="502920"/>
            <a:ext cx="256032" cy="82296"/>
          </a:xfrm>
          <a:prstGeom prst="rect">
            <a:avLst/>
          </a:prstGeom>
          <a:solidFill>
            <a:srgbClr val="2496ED">
              <a:alpha val="63000"/>
            </a:srgbClr>
          </a:solidFill>
          <a:ln/>
        </p:spPr>
      </p:sp>
      <p:sp>
        <p:nvSpPr>
          <p:cNvPr id="6" name="Shape 4"/>
          <p:cNvSpPr/>
          <p:nvPr/>
        </p:nvSpPr>
        <p:spPr>
          <a:xfrm>
            <a:off x="7040880" y="576072"/>
            <a:ext cx="365760" cy="347472"/>
          </a:xfrm>
          <a:prstGeom prst="roundRect">
            <a:avLst>
              <a:gd name="adj" fmla="val 10526"/>
            </a:avLst>
          </a:prstGeom>
          <a:solidFill>
            <a:srgbClr val="2496ED">
              <a:alpha val="54000"/>
            </a:srgbClr>
          </a:solidFill>
          <a:ln/>
        </p:spPr>
      </p:sp>
      <p:sp>
        <p:nvSpPr>
          <p:cNvPr id="7" name="Shape 5"/>
          <p:cNvSpPr/>
          <p:nvPr/>
        </p:nvSpPr>
        <p:spPr>
          <a:xfrm>
            <a:off x="7095744" y="502920"/>
            <a:ext cx="256032" cy="82296"/>
          </a:xfrm>
          <a:prstGeom prst="rect">
            <a:avLst/>
          </a:prstGeom>
          <a:solidFill>
            <a:srgbClr val="2496ED">
              <a:alpha val="54000"/>
            </a:srgbClr>
          </a:solidFill>
          <a:ln/>
        </p:spPr>
      </p:sp>
      <p:sp>
        <p:nvSpPr>
          <p:cNvPr id="8" name="Shape 6"/>
          <p:cNvSpPr/>
          <p:nvPr/>
        </p:nvSpPr>
        <p:spPr>
          <a:xfrm>
            <a:off x="7498080" y="576072"/>
            <a:ext cx="365760" cy="347472"/>
          </a:xfrm>
          <a:prstGeom prst="roundRect">
            <a:avLst>
              <a:gd name="adj" fmla="val 10526"/>
            </a:avLst>
          </a:prstGeom>
          <a:solidFill>
            <a:srgbClr val="2496ED">
              <a:alpha val="45000"/>
            </a:srgbClr>
          </a:solidFill>
          <a:ln/>
        </p:spPr>
      </p:sp>
      <p:sp>
        <p:nvSpPr>
          <p:cNvPr id="9" name="Shape 7"/>
          <p:cNvSpPr/>
          <p:nvPr/>
        </p:nvSpPr>
        <p:spPr>
          <a:xfrm>
            <a:off x="7552944" y="502920"/>
            <a:ext cx="256032" cy="82296"/>
          </a:xfrm>
          <a:prstGeom prst="rect">
            <a:avLst/>
          </a:prstGeom>
          <a:solidFill>
            <a:srgbClr val="2496ED">
              <a:alpha val="45000"/>
            </a:srgbClr>
          </a:solidFill>
          <a:ln/>
        </p:spPr>
      </p:sp>
      <p:sp>
        <p:nvSpPr>
          <p:cNvPr id="10" name="Shape 8"/>
          <p:cNvSpPr/>
          <p:nvPr/>
        </p:nvSpPr>
        <p:spPr>
          <a:xfrm>
            <a:off x="7955280" y="576072"/>
            <a:ext cx="365760" cy="347472"/>
          </a:xfrm>
          <a:prstGeom prst="roundRect">
            <a:avLst>
              <a:gd name="adj" fmla="val 10526"/>
            </a:avLst>
          </a:prstGeom>
          <a:solidFill>
            <a:srgbClr val="2496ED">
              <a:alpha val="36000"/>
            </a:srgbClr>
          </a:solidFill>
          <a:ln/>
        </p:spPr>
      </p:sp>
      <p:sp>
        <p:nvSpPr>
          <p:cNvPr id="11" name="Shape 9"/>
          <p:cNvSpPr/>
          <p:nvPr/>
        </p:nvSpPr>
        <p:spPr>
          <a:xfrm>
            <a:off x="8010144" y="502920"/>
            <a:ext cx="256032" cy="82296"/>
          </a:xfrm>
          <a:prstGeom prst="rect">
            <a:avLst/>
          </a:prstGeom>
          <a:solidFill>
            <a:srgbClr val="2496ED">
              <a:alpha val="36000"/>
            </a:srgbClr>
          </a:solidFill>
          <a:ln/>
        </p:spPr>
      </p:sp>
      <p:sp>
        <p:nvSpPr>
          <p:cNvPr id="12" name="Shape 10"/>
          <p:cNvSpPr/>
          <p:nvPr/>
        </p:nvSpPr>
        <p:spPr>
          <a:xfrm>
            <a:off x="8412480" y="576072"/>
            <a:ext cx="365760" cy="347472"/>
          </a:xfrm>
          <a:prstGeom prst="roundRect">
            <a:avLst>
              <a:gd name="adj" fmla="val 10526"/>
            </a:avLst>
          </a:prstGeom>
          <a:solidFill>
            <a:srgbClr val="2496ED">
              <a:alpha val="27000"/>
            </a:srgbClr>
          </a:solidFill>
          <a:ln/>
        </p:spPr>
      </p:sp>
      <p:sp>
        <p:nvSpPr>
          <p:cNvPr id="13" name="Shape 11"/>
          <p:cNvSpPr/>
          <p:nvPr/>
        </p:nvSpPr>
        <p:spPr>
          <a:xfrm>
            <a:off x="8467344" y="502920"/>
            <a:ext cx="256032" cy="82296"/>
          </a:xfrm>
          <a:prstGeom prst="rect">
            <a:avLst/>
          </a:prstGeom>
          <a:solidFill>
            <a:srgbClr val="2496ED">
              <a:alpha val="27000"/>
            </a:srgbClr>
          </a:solidFill>
          <a:ln/>
        </p:spPr>
      </p:sp>
      <p:sp>
        <p:nvSpPr>
          <p:cNvPr id="14" name="Text 12"/>
          <p:cNvSpPr/>
          <p:nvPr/>
        </p:nvSpPr>
        <p:spPr>
          <a:xfrm>
            <a:off x="640080" y="1627632"/>
            <a:ext cx="4572000" cy="365760"/>
          </a:xfrm>
          <a:prstGeom prst="rect">
            <a:avLst/>
          </a:prstGeom>
          <a:noFill/>
          <a:ln/>
        </p:spPr>
        <p:txBody>
          <a:bodyPr wrap="square" lIns="0" tIns="0" rIns="0" bIns="0" rtlCol="0" anchor="ctr"/>
          <a:lstStyle/>
          <a:p>
            <a:pPr indent="0" marL="0">
              <a:buNone/>
            </a:pPr>
            <a:r>
              <a:rPr lang="en-US" sz="1500" b="1" spc="300" kern="0" dirty="0">
                <a:solidFill>
                  <a:srgbClr val="2496ED"/>
                </a:solidFill>
                <a:latin typeface="Calibri" pitchFamily="34" charset="0"/>
                <a:ea typeface="Calibri" pitchFamily="34" charset="-122"/>
                <a:cs typeface="Calibri" pitchFamily="34" charset="-120"/>
              </a:rPr>
              <a:t>PART 2</a:t>
            </a:r>
            <a:endParaRPr lang="en-US" sz="1500" dirty="0"/>
          </a:p>
        </p:txBody>
      </p:sp>
      <p:sp>
        <p:nvSpPr>
          <p:cNvPr id="15" name="Text 13"/>
          <p:cNvSpPr/>
          <p:nvPr/>
        </p:nvSpPr>
        <p:spPr>
          <a:xfrm>
            <a:off x="603504" y="1993392"/>
            <a:ext cx="6400800" cy="1097280"/>
          </a:xfrm>
          <a:prstGeom prst="rect">
            <a:avLst/>
          </a:prstGeom>
          <a:noFill/>
          <a:ln/>
        </p:spPr>
        <p:txBody>
          <a:bodyPr wrap="square" lIns="0" tIns="0" rIns="0" bIns="0" rtlCol="0" anchor="t"/>
          <a:lstStyle/>
          <a:p>
            <a:pPr indent="0" marL="0">
              <a:buNone/>
            </a:pPr>
            <a:r>
              <a:rPr lang="en-US" sz="4000" b="1" dirty="0">
                <a:solidFill>
                  <a:srgbClr val="FFFFFF"/>
                </a:solidFill>
                <a:latin typeface="Bookman Old Style" pitchFamily="34" charset="0"/>
                <a:ea typeface="Bookman Old Style" pitchFamily="34" charset="-122"/>
                <a:cs typeface="Bookman Old Style" pitchFamily="34" charset="-120"/>
              </a:rPr>
              <a:t>Install &amp; Operate</a:t>
            </a:r>
            <a:endParaRPr lang="en-US" sz="4000" dirty="0"/>
          </a:p>
        </p:txBody>
      </p:sp>
      <p:sp>
        <p:nvSpPr>
          <p:cNvPr id="16" name="Text 14"/>
          <p:cNvSpPr/>
          <p:nvPr/>
        </p:nvSpPr>
        <p:spPr>
          <a:xfrm>
            <a:off x="640080" y="3127248"/>
            <a:ext cx="6035040" cy="731520"/>
          </a:xfrm>
          <a:prstGeom prst="rect">
            <a:avLst/>
          </a:prstGeom>
          <a:noFill/>
          <a:ln/>
        </p:spPr>
        <p:txBody>
          <a:bodyPr wrap="square" lIns="0" tIns="0" rIns="0" bIns="0" rtlCol="0" anchor="t"/>
          <a:lstStyle/>
          <a:p>
            <a:pPr indent="0" marL="0">
              <a:buNone/>
            </a:pPr>
            <a:r>
              <a:rPr lang="en-US" sz="1350" i="1" dirty="0">
                <a:solidFill>
                  <a:srgbClr val="94A3B8"/>
                </a:solidFill>
                <a:latin typeface="Calibri" pitchFamily="34" charset="0"/>
                <a:ea typeface="Calibri" pitchFamily="34" charset="-122"/>
                <a:cs typeface="Calibri" pitchFamily="34" charset="-120"/>
              </a:rPr>
              <a:t>Getting Docker running, the image-to-container model, and the everyday commands you will use in every session.</a:t>
            </a:r>
            <a:endParaRPr lang="en-US" sz="1350" dirty="0"/>
          </a:p>
        </p:txBody>
      </p:sp>
      <p:sp>
        <p:nvSpPr>
          <p:cNvPr id="17" name="Shape 15"/>
          <p:cNvSpPr/>
          <p:nvPr/>
        </p:nvSpPr>
        <p:spPr>
          <a:xfrm>
            <a:off x="7086600" y="1783080"/>
            <a:ext cx="1417320" cy="1417320"/>
          </a:xfrm>
          <a:prstGeom prst="roundRect">
            <a:avLst>
              <a:gd name="adj" fmla="val 10323"/>
            </a:avLst>
          </a:prstGeom>
          <a:solidFill>
            <a:srgbClr val="1E293B"/>
          </a:solidFill>
          <a:ln w="12700">
            <a:solidFill>
              <a:srgbClr val="334155"/>
            </a:solidFill>
            <a:prstDash val="solid"/>
          </a:ln>
          <a:effectLst>
            <a:outerShdw sx="100000" sy="100000" kx="0" ky="0" algn="bl" rotWithShape="0" blurRad="152400" dist="50800" dir="2700000">
              <a:srgbClr val="475569">
                <a:alpha val="30000"/>
              </a:srgbClr>
            </a:outerShdw>
          </a:effectLst>
        </p:spPr>
      </p:sp>
      <p:pic>
        <p:nvPicPr>
          <p:cNvPr id="18" name="Image 0" descr="preencoded.png">    </p:cNvPr>
          <p:cNvPicPr>
            <a:picLocks noChangeAspect="1"/>
          </p:cNvPicPr>
          <p:nvPr/>
        </p:nvPicPr>
        <p:blipFill>
          <a:blip r:embed="rId1"/>
          <a:stretch>
            <a:fillRect/>
          </a:stretch>
        </p:blipFill>
        <p:spPr>
          <a:xfrm>
            <a:off x="7424928" y="2121408"/>
            <a:ext cx="740664" cy="740664"/>
          </a:xfrm>
          <a:prstGeom prst="rect">
            <a:avLst/>
          </a:prstGeom>
        </p:spPr>
      </p:pic>
      <p:sp>
        <p:nvSpPr>
          <p:cNvPr id="19" name="Text 16"/>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20" name="Text 17"/>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Part 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GETTING STARTED</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Installing &amp; configuring Docker</a:t>
            </a:r>
            <a:endParaRPr lang="en-US" sz="2500" dirty="0"/>
          </a:p>
        </p:txBody>
      </p:sp>
      <p:sp>
        <p:nvSpPr>
          <p:cNvPr id="6" name="Shape 3"/>
          <p:cNvSpPr/>
          <p:nvPr/>
        </p:nvSpPr>
        <p:spPr>
          <a:xfrm>
            <a:off x="457200" y="1234440"/>
            <a:ext cx="4800600" cy="2788920"/>
          </a:xfrm>
          <a:prstGeom prst="roundRect">
            <a:avLst>
              <a:gd name="adj" fmla="val 2295"/>
            </a:avLst>
          </a:prstGeom>
          <a:solidFill>
            <a:srgbClr val="1E293B"/>
          </a:solidFill>
          <a:ln w="12700">
            <a:solidFill>
              <a:srgbClr val="334155"/>
            </a:solidFill>
            <a:prstDash val="solid"/>
          </a:ln>
          <a:effectLst>
            <a:outerShdw sx="100000" sy="100000" kx="0" ky="0" algn="bl" rotWithShape="0" blurRad="114300" dist="38100" dir="2700000">
              <a:srgbClr val="475569">
                <a:alpha val="24000"/>
              </a:srgbClr>
            </a:outerShdw>
          </a:effectLst>
        </p:spPr>
      </p:sp>
      <p:sp>
        <p:nvSpPr>
          <p:cNvPr id="7" name="Shape 4"/>
          <p:cNvSpPr/>
          <p:nvPr/>
        </p:nvSpPr>
        <p:spPr>
          <a:xfrm>
            <a:off x="658368" y="1417320"/>
            <a:ext cx="91440" cy="91440"/>
          </a:xfrm>
          <a:prstGeom prst="ellipse">
            <a:avLst/>
          </a:prstGeom>
          <a:solidFill>
            <a:srgbClr val="EF4444"/>
          </a:solidFill>
          <a:ln/>
        </p:spPr>
      </p:sp>
      <p:sp>
        <p:nvSpPr>
          <p:cNvPr id="8" name="Shape 5"/>
          <p:cNvSpPr/>
          <p:nvPr/>
        </p:nvSpPr>
        <p:spPr>
          <a:xfrm>
            <a:off x="804672" y="1417320"/>
            <a:ext cx="91440" cy="91440"/>
          </a:xfrm>
          <a:prstGeom prst="ellipse">
            <a:avLst/>
          </a:prstGeom>
          <a:solidFill>
            <a:srgbClr val="F59E0B"/>
          </a:solidFill>
          <a:ln/>
        </p:spPr>
      </p:sp>
      <p:sp>
        <p:nvSpPr>
          <p:cNvPr id="9" name="Shape 6"/>
          <p:cNvSpPr/>
          <p:nvPr/>
        </p:nvSpPr>
        <p:spPr>
          <a:xfrm>
            <a:off x="950976" y="1417320"/>
            <a:ext cx="91440" cy="91440"/>
          </a:xfrm>
          <a:prstGeom prst="ellipse">
            <a:avLst/>
          </a:prstGeom>
          <a:solidFill>
            <a:srgbClr val="22C55E"/>
          </a:solidFill>
          <a:ln/>
        </p:spPr>
      </p:sp>
      <p:sp>
        <p:nvSpPr>
          <p:cNvPr id="10" name="Text 7"/>
          <p:cNvSpPr/>
          <p:nvPr/>
        </p:nvSpPr>
        <p:spPr>
          <a:xfrm>
            <a:off x="1170432" y="1353312"/>
            <a:ext cx="3886200" cy="20116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install.sh</a:t>
            </a:r>
            <a:endParaRPr lang="en-US" sz="900" dirty="0"/>
          </a:p>
        </p:txBody>
      </p:sp>
      <p:sp>
        <p:nvSpPr>
          <p:cNvPr id="11" name="Text 8"/>
          <p:cNvSpPr/>
          <p:nvPr/>
        </p:nvSpPr>
        <p:spPr>
          <a:xfrm>
            <a:off x="676656" y="1673352"/>
            <a:ext cx="4361688" cy="2240280"/>
          </a:xfrm>
          <a:prstGeom prst="rect">
            <a:avLst/>
          </a:prstGeom>
          <a:noFill/>
          <a:ln/>
        </p:spPr>
        <p:txBody>
          <a:bodyPr wrap="square" lIns="0" tIns="0" rIns="0" bIns="0" rtlCol="0" anchor="t"/>
          <a:lstStyle/>
          <a:p>
            <a:pPr algn="l" indent="0" marL="0">
              <a:lnSpc>
                <a:spcPts val="1156"/>
              </a:lnSpc>
              <a:buNone/>
            </a:pPr>
            <a:r>
              <a:rPr lang="en-US" sz="980" dirty="0">
                <a:solidFill>
                  <a:srgbClr val="94A3B8"/>
                </a:solidFill>
                <a:latin typeface="Courier New" pitchFamily="34" charset="0"/>
                <a:ea typeface="Courier New" pitchFamily="34" charset="-122"/>
                <a:cs typeface="Courier New" pitchFamily="34" charset="-120"/>
              </a:rPr>
              <a:t># Ubuntu — official apt repository</a:t>
            </a:r>
            <a:endParaRPr lang="en-US" sz="980" dirty="0"/>
          </a:p>
          <a:p>
            <a:pPr algn="l" indent="0" marL="0">
              <a:lnSpc>
                <a:spcPts val="1156"/>
              </a:lnSpc>
              <a:buNone/>
            </a:pPr>
            <a:r>
              <a:rPr lang="en-US" sz="980" b="1" dirty="0">
                <a:solidFill>
                  <a:srgbClr val="0D9488"/>
                </a:solidFill>
                <a:latin typeface="Courier New" pitchFamily="34" charset="0"/>
                <a:ea typeface="Courier New" pitchFamily="34" charset="-122"/>
                <a:cs typeface="Courier New" pitchFamily="34" charset="-120"/>
              </a:rPr>
              <a:t>$ </a:t>
            </a:r>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sudo apt-get update</a:t>
            </a:r>
            <a:endParaRPr lang="en-US" sz="980" dirty="0"/>
          </a:p>
          <a:p>
            <a:pPr algn="l" indent="0" marL="0">
              <a:lnSpc>
                <a:spcPts val="1156"/>
              </a:lnSpc>
              <a:buNone/>
            </a:pPr>
            <a:r>
              <a:rPr lang="en-US" sz="980" b="1" dirty="0">
                <a:solidFill>
                  <a:srgbClr val="0D9488"/>
                </a:solidFill>
                <a:latin typeface="Courier New" pitchFamily="34" charset="0"/>
                <a:ea typeface="Courier New" pitchFamily="34" charset="-122"/>
                <a:cs typeface="Courier New" pitchFamily="34" charset="-120"/>
              </a:rPr>
              <a:t>$ </a:t>
            </a:r>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sudo apt-get install ca-certificates curl</a:t>
            </a:r>
            <a:endParaRPr lang="en-US" sz="980" dirty="0"/>
          </a:p>
          <a:p>
            <a:pPr algn="l" indent="0" marL="0">
              <a:lnSpc>
                <a:spcPts val="1156"/>
              </a:lnSpc>
              <a:buNone/>
            </a:pPr>
            <a:r>
              <a:rPr lang="en-US" sz="980" dirty="0">
                <a:solidFill>
                  <a:srgbClr val="94A3B8"/>
                </a:solidFill>
                <a:latin typeface="Courier New" pitchFamily="34" charset="0"/>
                <a:ea typeface="Courier New" pitchFamily="34" charset="-122"/>
                <a:cs typeface="Courier New" pitchFamily="34" charset="-120"/>
              </a:rPr>
              <a:t># add Docker's GPG key + repo (see docs)</a:t>
            </a:r>
            <a:endParaRPr lang="en-US" sz="980" dirty="0"/>
          </a:p>
          <a:p>
            <a:pPr algn="l" indent="0" marL="0">
              <a:lnSpc>
                <a:spcPts val="1156"/>
              </a:lnSpc>
              <a:buNone/>
            </a:pPr>
            <a:r>
              <a:rPr lang="en-US" sz="980" b="1" dirty="0">
                <a:solidFill>
                  <a:srgbClr val="0D9488"/>
                </a:solidFill>
                <a:latin typeface="Courier New" pitchFamily="34" charset="0"/>
                <a:ea typeface="Courier New" pitchFamily="34" charset="-122"/>
                <a:cs typeface="Courier New" pitchFamily="34" charset="-120"/>
              </a:rPr>
              <a:t>$ </a:t>
            </a:r>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sudo apt-get install docker-ce docker-ce-cli \</a:t>
            </a:r>
            <a:endParaRPr lang="en-US" sz="980" dirty="0"/>
          </a:p>
          <a:p>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     containerd.io docker-compose-plugin</a:t>
            </a:r>
            <a:endParaRPr lang="en-US" sz="980" dirty="0"/>
          </a:p>
          <a:p>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 </a:t>
            </a:r>
            <a:endParaRPr lang="en-US" sz="980" dirty="0"/>
          </a:p>
          <a:p>
            <a:pPr algn="l" indent="0" marL="0">
              <a:lnSpc>
                <a:spcPts val="1156"/>
              </a:lnSpc>
              <a:buNone/>
            </a:pPr>
            <a:r>
              <a:rPr lang="en-US" sz="980" dirty="0">
                <a:solidFill>
                  <a:srgbClr val="94A3B8"/>
                </a:solidFill>
                <a:latin typeface="Courier New" pitchFamily="34" charset="0"/>
                <a:ea typeface="Courier New" pitchFamily="34" charset="-122"/>
                <a:cs typeface="Courier New" pitchFamily="34" charset="-120"/>
              </a:rPr>
              <a:t># use docker without sudo</a:t>
            </a:r>
            <a:endParaRPr lang="en-US" sz="980" dirty="0"/>
          </a:p>
          <a:p>
            <a:pPr algn="l" indent="0" marL="0">
              <a:lnSpc>
                <a:spcPts val="1156"/>
              </a:lnSpc>
              <a:buNone/>
            </a:pPr>
            <a:r>
              <a:rPr lang="en-US" sz="980" b="1" dirty="0">
                <a:solidFill>
                  <a:srgbClr val="0D9488"/>
                </a:solidFill>
                <a:latin typeface="Courier New" pitchFamily="34" charset="0"/>
                <a:ea typeface="Courier New" pitchFamily="34" charset="-122"/>
                <a:cs typeface="Courier New" pitchFamily="34" charset="-120"/>
              </a:rPr>
              <a:t>$ </a:t>
            </a:r>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sudo usermod -aG docker $USER</a:t>
            </a:r>
            <a:endParaRPr lang="en-US" sz="980" dirty="0"/>
          </a:p>
          <a:p>
            <a:pPr algn="l" indent="0" marL="0">
              <a:lnSpc>
                <a:spcPts val="1156"/>
              </a:lnSpc>
              <a:buNone/>
            </a:pPr>
            <a:r>
              <a:rPr lang="en-US" sz="980" dirty="0">
                <a:solidFill>
                  <a:srgbClr val="94A3B8"/>
                </a:solidFill>
                <a:latin typeface="Courier New" pitchFamily="34" charset="0"/>
                <a:ea typeface="Courier New" pitchFamily="34" charset="-122"/>
                <a:cs typeface="Courier New" pitchFamily="34" charset="-120"/>
              </a:rPr>
              <a:t># log out / in, then verify</a:t>
            </a:r>
            <a:endParaRPr lang="en-US" sz="980" dirty="0"/>
          </a:p>
          <a:p>
            <a:pPr algn="l" indent="0" marL="0">
              <a:lnSpc>
                <a:spcPts val="1156"/>
              </a:lnSpc>
              <a:buNone/>
            </a:pPr>
            <a:r>
              <a:rPr lang="en-US" sz="980" b="1" dirty="0">
                <a:solidFill>
                  <a:srgbClr val="0D9488"/>
                </a:solidFill>
                <a:latin typeface="Courier New" pitchFamily="34" charset="0"/>
                <a:ea typeface="Courier New" pitchFamily="34" charset="-122"/>
                <a:cs typeface="Courier New" pitchFamily="34" charset="-120"/>
              </a:rPr>
              <a:t>$ </a:t>
            </a:r>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docker run hello-world</a:t>
            </a:r>
            <a:endParaRPr lang="en-US" sz="980" dirty="0"/>
          </a:p>
          <a:p>
            <a:pPr algn="l" indent="0" marL="0">
              <a:lnSpc>
                <a:spcPts val="1156"/>
              </a:lnSpc>
              <a:buNone/>
            </a:pPr>
            <a:r>
              <a:rPr lang="en-US" sz="980" dirty="0">
                <a:solidFill>
                  <a:srgbClr val="34D399"/>
                </a:solidFill>
                <a:latin typeface="Courier New" pitchFamily="34" charset="0"/>
                <a:ea typeface="Courier New" pitchFamily="34" charset="-122"/>
                <a:cs typeface="Courier New" pitchFamily="34" charset="-120"/>
              </a:rPr>
              <a:t>Hello from Docker!</a:t>
            </a:r>
            <a:endParaRPr lang="en-US" sz="980" dirty="0"/>
          </a:p>
        </p:txBody>
      </p:sp>
      <p:sp>
        <p:nvSpPr>
          <p:cNvPr id="12" name="Text 9"/>
          <p:cNvSpPr/>
          <p:nvPr/>
        </p:nvSpPr>
        <p:spPr>
          <a:xfrm>
            <a:off x="5440680" y="1325880"/>
            <a:ext cx="3246120" cy="2743200"/>
          </a:xfrm>
          <a:prstGeom prst="rect">
            <a:avLst/>
          </a:prstGeom>
          <a:noFill/>
          <a:ln/>
        </p:spPr>
        <p:txBody>
          <a:bodyPr wrap="square" lIns="0" tIns="0" rIns="0" bIns="0" rtlCol="0" anchor="t"/>
          <a:lstStyle/>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Engine, not Desktop</a:t>
            </a:r>
            <a:pPr algn="l" indent="0" marL="0">
              <a:spcAft>
                <a:spcPts val="800"/>
              </a:spcAft>
              <a:buNone/>
            </a:pPr>
            <a:r>
              <a:rPr lang="en-US" sz="1100" dirty="0">
                <a:solidFill>
                  <a:srgbClr val="475569"/>
                </a:solidFill>
                <a:latin typeface="Calibri" pitchFamily="34" charset="0"/>
                <a:ea typeface="Calibri" pitchFamily="34" charset="-122"/>
                <a:cs typeface="Calibri" pitchFamily="34" charset="-120"/>
              </a:rPr>
              <a:t>  — on Linux servers install Docker Engine (CE)</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docker group = root</a:t>
            </a:r>
            <a:pPr algn="l" indent="0" marL="0">
              <a:spcAft>
                <a:spcPts val="800"/>
              </a:spcAft>
              <a:buNone/>
            </a:pPr>
            <a:r>
              <a:rPr lang="en-US" sz="1100" dirty="0">
                <a:solidFill>
                  <a:srgbClr val="475569"/>
                </a:solidFill>
                <a:latin typeface="Calibri" pitchFamily="34" charset="0"/>
                <a:ea typeface="Calibri" pitchFamily="34" charset="-122"/>
                <a:cs typeface="Calibri" pitchFamily="34" charset="-120"/>
              </a:rPr>
              <a:t>  — members can take over the host; treat as sudo</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Rootless mode</a:t>
            </a:r>
            <a:pPr algn="l" indent="0" marL="0">
              <a:spcAft>
                <a:spcPts val="800"/>
              </a:spcAft>
              <a:buNone/>
            </a:pPr>
            <a:r>
              <a:rPr lang="en-US" sz="1100" dirty="0">
                <a:solidFill>
                  <a:srgbClr val="475569"/>
                </a:solidFill>
                <a:latin typeface="Calibri" pitchFamily="34" charset="0"/>
                <a:ea typeface="Calibri" pitchFamily="34" charset="-122"/>
                <a:cs typeface="Calibri" pitchFamily="34" charset="-120"/>
              </a:rPr>
              <a:t>  — run the daemon unprivileged on shared boxes</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daemon.json</a:t>
            </a:r>
            <a:pPr algn="l" indent="0" marL="0">
              <a:spcAft>
                <a:spcPts val="800"/>
              </a:spcAft>
              <a:buNone/>
            </a:pPr>
            <a:r>
              <a:rPr lang="en-US" sz="1100" dirty="0">
                <a:solidFill>
                  <a:srgbClr val="475569"/>
                </a:solidFill>
                <a:latin typeface="Calibri" pitchFamily="34" charset="0"/>
                <a:ea typeface="Calibri" pitchFamily="34" charset="-122"/>
                <a:cs typeface="Calibri" pitchFamily="34" charset="-120"/>
              </a:rPr>
              <a:t>  — configure logging, registries, storage</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Start on boot</a:t>
            </a:r>
            <a:pPr algn="l" indent="0" marL="0">
              <a:spcAft>
                <a:spcPts val="800"/>
              </a:spcAft>
              <a:buNone/>
            </a:pPr>
            <a:r>
              <a:rPr lang="en-US" sz="1100" dirty="0">
                <a:solidFill>
                  <a:srgbClr val="475569"/>
                </a:solidFill>
                <a:latin typeface="Calibri" pitchFamily="34" charset="0"/>
                <a:ea typeface="Calibri" pitchFamily="34" charset="-122"/>
                <a:cs typeface="Calibri" pitchFamily="34" charset="-120"/>
              </a:rPr>
              <a:t>  — systemctl enable --now docker</a:t>
            </a:r>
            <a:endParaRPr lang="en-US" sz="1100" dirty="0"/>
          </a:p>
        </p:txBody>
      </p:sp>
      <p:sp>
        <p:nvSpPr>
          <p:cNvPr id="13" name="Text 10"/>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14" name="Text 11"/>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Install &amp; Operate</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EAF4FD"/>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2496ED"/>
                </a:solidFill>
                <a:latin typeface="Calibri" pitchFamily="34" charset="0"/>
                <a:ea typeface="Calibri" pitchFamily="34" charset="-122"/>
                <a:cs typeface="Calibri" pitchFamily="34" charset="-120"/>
              </a:rPr>
              <a:t>THE KEY MENTAL MODEL</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Image → Container</a:t>
            </a:r>
            <a:endParaRPr lang="en-US" sz="2500" dirty="0"/>
          </a:p>
        </p:txBody>
      </p:sp>
      <p:sp>
        <p:nvSpPr>
          <p:cNvPr id="6" name="Text 3"/>
          <p:cNvSpPr/>
          <p:nvPr/>
        </p:nvSpPr>
        <p:spPr>
          <a:xfrm>
            <a:off x="502920" y="1371600"/>
            <a:ext cx="4023360" cy="2377440"/>
          </a:xfrm>
          <a:prstGeom prst="rect">
            <a:avLst/>
          </a:prstGeom>
          <a:noFill/>
          <a:ln/>
        </p:spPr>
        <p:txBody>
          <a:bodyPr wrap="square" lIns="0" tIns="0" rIns="0" bIns="0" rtlCol="0" anchor="t"/>
          <a:lstStyle/>
          <a:p>
            <a:pPr algn="l" marL="190500" indent="-190500">
              <a:buSzPct val="100000"/>
              <a:buChar char="•"/>
            </a:pPr>
            <a:r>
              <a:rPr lang="en-US" sz="1150" b="1" dirty="0">
                <a:solidFill>
                  <a:srgbClr val="0F172A"/>
                </a:solidFill>
                <a:latin typeface="Calibri" pitchFamily="34" charset="0"/>
                <a:ea typeface="Calibri" pitchFamily="34" charset="-122"/>
                <a:cs typeface="Calibri" pitchFamily="34" charset="-120"/>
              </a:rPr>
              <a:t>Image</a:t>
            </a:r>
            <a:pPr algn="l" indent="0" marL="0">
              <a:spcAft>
                <a:spcPts val="900"/>
              </a:spcAft>
              <a:buNone/>
            </a:pPr>
            <a:r>
              <a:rPr lang="en-US" sz="1150" dirty="0">
                <a:solidFill>
                  <a:srgbClr val="475569"/>
                </a:solidFill>
                <a:latin typeface="Calibri" pitchFamily="34" charset="0"/>
                <a:ea typeface="Calibri" pitchFamily="34" charset="-122"/>
                <a:cs typeface="Calibri" pitchFamily="34" charset="-120"/>
              </a:rPr>
              <a:t>  — a read-only template: app + libs + filesystem, in layers</a:t>
            </a:r>
            <a:endParaRPr lang="en-US" sz="1150" dirty="0"/>
          </a:p>
          <a:p>
            <a:pPr algn="l" marL="190500" indent="-190500">
              <a:buSzPct val="100000"/>
              <a:buChar char="•"/>
            </a:pPr>
            <a:r>
              <a:rPr lang="en-US" sz="1150" b="1" dirty="0">
                <a:solidFill>
                  <a:srgbClr val="0F172A"/>
                </a:solidFill>
                <a:latin typeface="Calibri" pitchFamily="34" charset="0"/>
                <a:ea typeface="Calibri" pitchFamily="34" charset="-122"/>
                <a:cs typeface="Calibri" pitchFamily="34" charset="-120"/>
              </a:rPr>
              <a:t>Container</a:t>
            </a:r>
            <a:pPr algn="l" indent="0" marL="0">
              <a:spcAft>
                <a:spcPts val="900"/>
              </a:spcAft>
              <a:buNone/>
            </a:pPr>
            <a:r>
              <a:rPr lang="en-US" sz="1150" dirty="0">
                <a:solidFill>
                  <a:srgbClr val="475569"/>
                </a:solidFill>
                <a:latin typeface="Calibri" pitchFamily="34" charset="0"/>
                <a:ea typeface="Calibri" pitchFamily="34" charset="-122"/>
                <a:cs typeface="Calibri" pitchFamily="34" charset="-120"/>
              </a:rPr>
              <a:t>  — a running instance of an image + a thin writable layer</a:t>
            </a:r>
            <a:endParaRPr lang="en-US" sz="1150" dirty="0"/>
          </a:p>
          <a:p>
            <a:pPr algn="l" marL="190500" indent="-190500">
              <a:buSzPct val="100000"/>
              <a:buChar char="•"/>
            </a:pPr>
            <a:r>
              <a:rPr lang="en-US" sz="1150" b="1" dirty="0">
                <a:solidFill>
                  <a:srgbClr val="0F172A"/>
                </a:solidFill>
                <a:latin typeface="Calibri" pitchFamily="34" charset="0"/>
                <a:ea typeface="Calibri" pitchFamily="34" charset="-122"/>
                <a:cs typeface="Calibri" pitchFamily="34" charset="-120"/>
              </a:rPr>
              <a:t>One image → many containers</a:t>
            </a:r>
            <a:pPr algn="l" indent="0" marL="0">
              <a:spcAft>
                <a:spcPts val="900"/>
              </a:spcAft>
              <a:buNone/>
            </a:pPr>
            <a:r>
              <a:rPr lang="en-US" sz="1150" dirty="0">
                <a:solidFill>
                  <a:srgbClr val="475569"/>
                </a:solidFill>
                <a:latin typeface="Calibri" pitchFamily="34" charset="0"/>
                <a:ea typeface="Calibri" pitchFamily="34" charset="-122"/>
                <a:cs typeface="Calibri" pitchFamily="34" charset="-120"/>
              </a:rPr>
              <a:t>  — start as many identical copies as you need</a:t>
            </a:r>
            <a:endParaRPr lang="en-US" sz="1150" dirty="0"/>
          </a:p>
          <a:p>
            <a:pPr algn="l" marL="190500" indent="-190500">
              <a:buSzPct val="100000"/>
              <a:buChar char="•"/>
            </a:pPr>
            <a:r>
              <a:rPr lang="en-US" sz="1150" b="1" dirty="0">
                <a:solidFill>
                  <a:srgbClr val="0F172A"/>
                </a:solidFill>
                <a:latin typeface="Calibri" pitchFamily="34" charset="0"/>
                <a:ea typeface="Calibri" pitchFamily="34" charset="-122"/>
                <a:cs typeface="Calibri" pitchFamily="34" charset="-120"/>
              </a:rPr>
              <a:t>Immutable</a:t>
            </a:r>
            <a:pPr algn="l" indent="0" marL="0">
              <a:spcAft>
                <a:spcPts val="900"/>
              </a:spcAft>
              <a:buNone/>
            </a:pPr>
            <a:r>
              <a:rPr lang="en-US" sz="1150" dirty="0">
                <a:solidFill>
                  <a:srgbClr val="475569"/>
                </a:solidFill>
                <a:latin typeface="Calibri" pitchFamily="34" charset="0"/>
                <a:ea typeface="Calibri" pitchFamily="34" charset="-122"/>
                <a:cs typeface="Calibri" pitchFamily="34" charset="-120"/>
              </a:rPr>
              <a:t>  — you don't edit an image, you rebuild it</a:t>
            </a:r>
            <a:endParaRPr lang="en-US" sz="1150" dirty="0"/>
          </a:p>
        </p:txBody>
      </p:sp>
      <p:sp>
        <p:nvSpPr>
          <p:cNvPr id="7" name="Shape 4"/>
          <p:cNvSpPr/>
          <p:nvPr/>
        </p:nvSpPr>
        <p:spPr>
          <a:xfrm>
            <a:off x="4754880" y="1737360"/>
            <a:ext cx="1554480" cy="1371600"/>
          </a:xfrm>
          <a:prstGeom prst="roundRect">
            <a:avLst>
              <a:gd name="adj" fmla="val 5333"/>
            </a:avLst>
          </a:prstGeom>
          <a:solidFill>
            <a:srgbClr val="EAF4FD"/>
          </a:solidFill>
          <a:ln w="12700">
            <a:solidFill>
              <a:srgbClr val="BBDDF7"/>
            </a:solidFill>
            <a:prstDash val="solid"/>
          </a:ln>
          <a:effectLst>
            <a:outerShdw sx="100000" sy="100000" kx="0" ky="0" algn="bl" rotWithShape="0" blurRad="76200" dist="25400" dir="2700000">
              <a:srgbClr val="475569">
                <a:alpha val="10000"/>
              </a:srgbClr>
            </a:outerShdw>
          </a:effectLst>
        </p:spPr>
      </p:sp>
      <p:sp>
        <p:nvSpPr>
          <p:cNvPr id="8" name="Shape 5"/>
          <p:cNvSpPr/>
          <p:nvPr/>
        </p:nvSpPr>
        <p:spPr>
          <a:xfrm>
            <a:off x="4937760" y="1993392"/>
            <a:ext cx="1188720" cy="201168"/>
          </a:xfrm>
          <a:prstGeom prst="rect">
            <a:avLst/>
          </a:prstGeom>
          <a:solidFill>
            <a:srgbClr val="9CC9F0"/>
          </a:solidFill>
          <a:ln w="12700">
            <a:solidFill>
              <a:srgbClr val="FFFFFF"/>
            </a:solidFill>
            <a:prstDash val="solid"/>
          </a:ln>
        </p:spPr>
      </p:sp>
      <p:sp>
        <p:nvSpPr>
          <p:cNvPr id="9" name="Shape 6"/>
          <p:cNvSpPr/>
          <p:nvPr/>
        </p:nvSpPr>
        <p:spPr>
          <a:xfrm>
            <a:off x="4937760" y="2231136"/>
            <a:ext cx="1188720" cy="201168"/>
          </a:xfrm>
          <a:prstGeom prst="rect">
            <a:avLst/>
          </a:prstGeom>
          <a:solidFill>
            <a:srgbClr val="9CC9F0"/>
          </a:solidFill>
          <a:ln w="12700">
            <a:solidFill>
              <a:srgbClr val="FFFFFF"/>
            </a:solidFill>
            <a:prstDash val="solid"/>
          </a:ln>
        </p:spPr>
      </p:sp>
      <p:sp>
        <p:nvSpPr>
          <p:cNvPr id="10" name="Shape 7"/>
          <p:cNvSpPr/>
          <p:nvPr/>
        </p:nvSpPr>
        <p:spPr>
          <a:xfrm>
            <a:off x="4937760" y="2468880"/>
            <a:ext cx="1188720" cy="201168"/>
          </a:xfrm>
          <a:prstGeom prst="rect">
            <a:avLst/>
          </a:prstGeom>
          <a:solidFill>
            <a:srgbClr val="2496ED"/>
          </a:solidFill>
          <a:ln w="12700">
            <a:solidFill>
              <a:srgbClr val="FFFFFF"/>
            </a:solidFill>
            <a:prstDash val="solid"/>
          </a:ln>
        </p:spPr>
      </p:sp>
      <p:sp>
        <p:nvSpPr>
          <p:cNvPr id="11" name="Text 8"/>
          <p:cNvSpPr/>
          <p:nvPr/>
        </p:nvSpPr>
        <p:spPr>
          <a:xfrm>
            <a:off x="4754880" y="2697480"/>
            <a:ext cx="1554480" cy="365760"/>
          </a:xfrm>
          <a:prstGeom prst="rect">
            <a:avLst/>
          </a:prstGeom>
          <a:noFill/>
          <a:ln/>
        </p:spPr>
        <p:txBody>
          <a:bodyPr wrap="square" lIns="0" tIns="0" rIns="0" bIns="0" rtlCol="0" anchor="ctr"/>
          <a:lstStyle/>
          <a:p>
            <a:pPr algn="ctr" indent="0" marL="0">
              <a:lnSpc>
                <a:spcPts val="1100"/>
              </a:lnSpc>
              <a:buNone/>
            </a:pPr>
            <a:r>
              <a:rPr lang="en-US" sz="1000" b="1" dirty="0">
                <a:solidFill>
                  <a:srgbClr val="2496ED"/>
                </a:solidFill>
                <a:latin typeface="Calibri" pitchFamily="34" charset="0"/>
                <a:ea typeface="Calibri" pitchFamily="34" charset="-122"/>
                <a:cs typeface="Calibri" pitchFamily="34" charset="-120"/>
              </a:rPr>
              <a:t>nginx:1.27</a:t>
            </a:r>
            <a:endParaRPr lang="en-US" sz="1000" dirty="0"/>
          </a:p>
          <a:p>
            <a:pPr algn="ctr" indent="0" marL="0">
              <a:lnSpc>
                <a:spcPts val="1100"/>
              </a:lnSpc>
              <a:buNone/>
            </a:pPr>
            <a:r>
              <a:rPr lang="en-US" sz="850" dirty="0">
                <a:solidFill>
                  <a:srgbClr val="64748B"/>
                </a:solidFill>
                <a:latin typeface="Calibri" pitchFamily="34" charset="0"/>
                <a:ea typeface="Calibri" pitchFamily="34" charset="-122"/>
                <a:cs typeface="Calibri" pitchFamily="34" charset="-120"/>
              </a:rPr>
              <a:t>IMAGE</a:t>
            </a:r>
            <a:endParaRPr lang="en-US" sz="1000" dirty="0"/>
          </a:p>
        </p:txBody>
      </p:sp>
      <p:sp>
        <p:nvSpPr>
          <p:cNvPr id="12" name="Shape 9"/>
          <p:cNvSpPr/>
          <p:nvPr/>
        </p:nvSpPr>
        <p:spPr>
          <a:xfrm>
            <a:off x="6355080" y="2423160"/>
            <a:ext cx="457200" cy="0"/>
          </a:xfrm>
          <a:prstGeom prst="line">
            <a:avLst/>
          </a:prstGeom>
          <a:noFill/>
          <a:ln w="30480">
            <a:solidFill>
              <a:srgbClr val="0D9488"/>
            </a:solidFill>
            <a:prstDash val="solid"/>
            <a:tailEnd type="triangle"/>
          </a:ln>
        </p:spPr>
      </p:sp>
      <p:sp>
        <p:nvSpPr>
          <p:cNvPr id="13" name="Text 10"/>
          <p:cNvSpPr/>
          <p:nvPr/>
        </p:nvSpPr>
        <p:spPr>
          <a:xfrm>
            <a:off x="6263640" y="2121408"/>
            <a:ext cx="685800" cy="228600"/>
          </a:xfrm>
          <a:prstGeom prst="rect">
            <a:avLst/>
          </a:prstGeom>
          <a:noFill/>
          <a:ln/>
        </p:spPr>
        <p:txBody>
          <a:bodyPr wrap="square" lIns="0" tIns="0" rIns="0" bIns="0" rtlCol="0" anchor="ctr"/>
          <a:lstStyle/>
          <a:p>
            <a:pPr algn="ctr" indent="0" marL="0">
              <a:buNone/>
            </a:pPr>
            <a:r>
              <a:rPr lang="en-US" sz="850" dirty="0">
                <a:solidFill>
                  <a:srgbClr val="0F766E"/>
                </a:solidFill>
                <a:latin typeface="Courier New" pitchFamily="34" charset="0"/>
                <a:ea typeface="Courier New" pitchFamily="34" charset="-122"/>
                <a:cs typeface="Courier New" pitchFamily="34" charset="-120"/>
              </a:rPr>
              <a:t>docker run</a:t>
            </a:r>
            <a:endParaRPr lang="en-US" sz="850" dirty="0"/>
          </a:p>
        </p:txBody>
      </p:sp>
      <p:sp>
        <p:nvSpPr>
          <p:cNvPr id="14" name="Shape 11"/>
          <p:cNvSpPr/>
          <p:nvPr/>
        </p:nvSpPr>
        <p:spPr>
          <a:xfrm>
            <a:off x="6903720" y="1481328"/>
            <a:ext cx="1600200" cy="502920"/>
          </a:xfrm>
          <a:prstGeom prst="roundRect">
            <a:avLst>
              <a:gd name="adj" fmla="val 10909"/>
            </a:avLst>
          </a:prstGeom>
          <a:solidFill>
            <a:srgbClr val="F0FDFA"/>
          </a:solidFill>
          <a:ln w="12700">
            <a:solidFill>
              <a:srgbClr val="99F6E4"/>
            </a:solidFill>
            <a:prstDash val="solid"/>
          </a:ln>
        </p:spPr>
      </p:sp>
      <p:sp>
        <p:nvSpPr>
          <p:cNvPr id="15" name="Text 12"/>
          <p:cNvSpPr/>
          <p:nvPr/>
        </p:nvSpPr>
        <p:spPr>
          <a:xfrm>
            <a:off x="6903720" y="1481328"/>
            <a:ext cx="1600200" cy="502920"/>
          </a:xfrm>
          <a:prstGeom prst="rect">
            <a:avLst/>
          </a:prstGeom>
          <a:noFill/>
          <a:ln/>
        </p:spPr>
        <p:txBody>
          <a:bodyPr wrap="square" lIns="0" tIns="0" rIns="0" bIns="0" rtlCol="0" anchor="ctr"/>
          <a:lstStyle/>
          <a:p>
            <a:pPr algn="ctr" indent="0" marL="0">
              <a:buNone/>
            </a:pPr>
            <a:r>
              <a:rPr lang="en-US" sz="1000" b="1" dirty="0">
                <a:solidFill>
                  <a:srgbClr val="0F766E"/>
                </a:solidFill>
                <a:latin typeface="Courier New" pitchFamily="34" charset="0"/>
                <a:ea typeface="Courier New" pitchFamily="34" charset="-122"/>
                <a:cs typeface="Courier New" pitchFamily="34" charset="-120"/>
              </a:rPr>
              <a:t>web-1</a:t>
            </a:r>
            <a:endParaRPr lang="en-US" sz="1000" dirty="0"/>
          </a:p>
        </p:txBody>
      </p:sp>
      <p:sp>
        <p:nvSpPr>
          <p:cNvPr id="16" name="Shape 13"/>
          <p:cNvSpPr/>
          <p:nvPr/>
        </p:nvSpPr>
        <p:spPr>
          <a:xfrm>
            <a:off x="6903720" y="2084832"/>
            <a:ext cx="1600200" cy="502920"/>
          </a:xfrm>
          <a:prstGeom prst="roundRect">
            <a:avLst>
              <a:gd name="adj" fmla="val 10909"/>
            </a:avLst>
          </a:prstGeom>
          <a:solidFill>
            <a:srgbClr val="F0FDFA"/>
          </a:solidFill>
          <a:ln w="12700">
            <a:solidFill>
              <a:srgbClr val="99F6E4"/>
            </a:solidFill>
            <a:prstDash val="solid"/>
          </a:ln>
        </p:spPr>
      </p:sp>
      <p:sp>
        <p:nvSpPr>
          <p:cNvPr id="17" name="Text 14"/>
          <p:cNvSpPr/>
          <p:nvPr/>
        </p:nvSpPr>
        <p:spPr>
          <a:xfrm>
            <a:off x="6903720" y="2084832"/>
            <a:ext cx="1600200" cy="502920"/>
          </a:xfrm>
          <a:prstGeom prst="rect">
            <a:avLst/>
          </a:prstGeom>
          <a:noFill/>
          <a:ln/>
        </p:spPr>
        <p:txBody>
          <a:bodyPr wrap="square" lIns="0" tIns="0" rIns="0" bIns="0" rtlCol="0" anchor="ctr"/>
          <a:lstStyle/>
          <a:p>
            <a:pPr algn="ctr" indent="0" marL="0">
              <a:buNone/>
            </a:pPr>
            <a:r>
              <a:rPr lang="en-US" sz="1000" b="1" dirty="0">
                <a:solidFill>
                  <a:srgbClr val="0F766E"/>
                </a:solidFill>
                <a:latin typeface="Courier New" pitchFamily="34" charset="0"/>
                <a:ea typeface="Courier New" pitchFamily="34" charset="-122"/>
                <a:cs typeface="Courier New" pitchFamily="34" charset="-120"/>
              </a:rPr>
              <a:t>web-2</a:t>
            </a:r>
            <a:endParaRPr lang="en-US" sz="1000" dirty="0"/>
          </a:p>
        </p:txBody>
      </p:sp>
      <p:sp>
        <p:nvSpPr>
          <p:cNvPr id="18" name="Shape 15"/>
          <p:cNvSpPr/>
          <p:nvPr/>
        </p:nvSpPr>
        <p:spPr>
          <a:xfrm>
            <a:off x="6903720" y="2688336"/>
            <a:ext cx="1600200" cy="502920"/>
          </a:xfrm>
          <a:prstGeom prst="roundRect">
            <a:avLst>
              <a:gd name="adj" fmla="val 10909"/>
            </a:avLst>
          </a:prstGeom>
          <a:solidFill>
            <a:srgbClr val="F0FDFA"/>
          </a:solidFill>
          <a:ln w="12700">
            <a:solidFill>
              <a:srgbClr val="99F6E4"/>
            </a:solidFill>
            <a:prstDash val="solid"/>
          </a:ln>
        </p:spPr>
      </p:sp>
      <p:sp>
        <p:nvSpPr>
          <p:cNvPr id="19" name="Text 16"/>
          <p:cNvSpPr/>
          <p:nvPr/>
        </p:nvSpPr>
        <p:spPr>
          <a:xfrm>
            <a:off x="6903720" y="2688336"/>
            <a:ext cx="1600200" cy="502920"/>
          </a:xfrm>
          <a:prstGeom prst="rect">
            <a:avLst/>
          </a:prstGeom>
          <a:noFill/>
          <a:ln/>
        </p:spPr>
        <p:txBody>
          <a:bodyPr wrap="square" lIns="0" tIns="0" rIns="0" bIns="0" rtlCol="0" anchor="ctr"/>
          <a:lstStyle/>
          <a:p>
            <a:pPr algn="ctr" indent="0" marL="0">
              <a:buNone/>
            </a:pPr>
            <a:r>
              <a:rPr lang="en-US" sz="1000" b="1" dirty="0">
                <a:solidFill>
                  <a:srgbClr val="0F766E"/>
                </a:solidFill>
                <a:latin typeface="Courier New" pitchFamily="34" charset="0"/>
                <a:ea typeface="Courier New" pitchFamily="34" charset="-122"/>
                <a:cs typeface="Courier New" pitchFamily="34" charset="-120"/>
              </a:rPr>
              <a:t>web-3</a:t>
            </a:r>
            <a:endParaRPr lang="en-US" sz="1000" dirty="0"/>
          </a:p>
        </p:txBody>
      </p:sp>
      <p:sp>
        <p:nvSpPr>
          <p:cNvPr id="20" name="Shape 17"/>
          <p:cNvSpPr/>
          <p:nvPr/>
        </p:nvSpPr>
        <p:spPr>
          <a:xfrm>
            <a:off x="457200" y="4114800"/>
            <a:ext cx="8229600" cy="475488"/>
          </a:xfrm>
          <a:prstGeom prst="roundRect">
            <a:avLst>
              <a:gd name="adj" fmla="val 15385"/>
            </a:avLst>
          </a:prstGeom>
          <a:solidFill>
            <a:srgbClr val="0F172A"/>
          </a:solidFill>
          <a:ln/>
          <a:effectLst>
            <a:outerShdw sx="100000" sy="100000" kx="0" ky="0" algn="bl" rotWithShape="0" blurRad="76200" dist="25400" dir="2700000">
              <a:srgbClr val="475569">
                <a:alpha val="12000"/>
              </a:srgbClr>
            </a:outerShdw>
          </a:effectLst>
        </p:spPr>
      </p:sp>
      <p:sp>
        <p:nvSpPr>
          <p:cNvPr id="21" name="Text 18"/>
          <p:cNvSpPr/>
          <p:nvPr/>
        </p:nvSpPr>
        <p:spPr>
          <a:xfrm>
            <a:off x="640080" y="4114800"/>
            <a:ext cx="7863840" cy="475488"/>
          </a:xfrm>
          <a:prstGeom prst="rect">
            <a:avLst/>
          </a:prstGeom>
          <a:noFill/>
          <a:ln/>
        </p:spPr>
        <p:txBody>
          <a:bodyPr wrap="square" lIns="0" tIns="0" rIns="0" bIns="0" rtlCol="0" anchor="ctr"/>
          <a:lstStyle/>
          <a:p>
            <a:pPr algn="ctr" indent="0" marL="0">
              <a:buNone/>
            </a:pPr>
            <a:r>
              <a:rPr lang="en-US" sz="1250" b="1" i="1" dirty="0">
                <a:solidFill>
                  <a:srgbClr val="FFFFFF"/>
                </a:solidFill>
                <a:latin typeface="Calibri" pitchFamily="34" charset="0"/>
                <a:ea typeface="Calibri" pitchFamily="34" charset="-122"/>
                <a:cs typeface="Calibri" pitchFamily="34" charset="-120"/>
              </a:rPr>
              <a:t>Image is the class; container is the object.  Image is the recipe; container is the dish.</a:t>
            </a:r>
            <a:endParaRPr lang="en-US" sz="1250" dirty="0"/>
          </a:p>
        </p:txBody>
      </p:sp>
      <p:sp>
        <p:nvSpPr>
          <p:cNvPr id="22" name="Text 19"/>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23" name="Text 20"/>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Install &amp; Operate</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WORKING WITH IMAGES</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Search, pull, list &amp; inspect</a:t>
            </a:r>
            <a:endParaRPr lang="en-US" sz="2500" dirty="0"/>
          </a:p>
        </p:txBody>
      </p:sp>
      <p:sp>
        <p:nvSpPr>
          <p:cNvPr id="6" name="Shape 3"/>
          <p:cNvSpPr/>
          <p:nvPr/>
        </p:nvSpPr>
        <p:spPr>
          <a:xfrm>
            <a:off x="457200" y="1234440"/>
            <a:ext cx="4983480" cy="2834640"/>
          </a:xfrm>
          <a:prstGeom prst="roundRect">
            <a:avLst>
              <a:gd name="adj" fmla="val 2258"/>
            </a:avLst>
          </a:prstGeom>
          <a:solidFill>
            <a:srgbClr val="1E293B"/>
          </a:solidFill>
          <a:ln w="12700">
            <a:solidFill>
              <a:srgbClr val="334155"/>
            </a:solidFill>
            <a:prstDash val="solid"/>
          </a:ln>
          <a:effectLst>
            <a:outerShdw sx="100000" sy="100000" kx="0" ky="0" algn="bl" rotWithShape="0" blurRad="114300" dist="38100" dir="2700000">
              <a:srgbClr val="475569">
                <a:alpha val="24000"/>
              </a:srgbClr>
            </a:outerShdw>
          </a:effectLst>
        </p:spPr>
      </p:sp>
      <p:sp>
        <p:nvSpPr>
          <p:cNvPr id="7" name="Shape 4"/>
          <p:cNvSpPr/>
          <p:nvPr/>
        </p:nvSpPr>
        <p:spPr>
          <a:xfrm>
            <a:off x="658368" y="1417320"/>
            <a:ext cx="91440" cy="91440"/>
          </a:xfrm>
          <a:prstGeom prst="ellipse">
            <a:avLst/>
          </a:prstGeom>
          <a:solidFill>
            <a:srgbClr val="EF4444"/>
          </a:solidFill>
          <a:ln/>
        </p:spPr>
      </p:sp>
      <p:sp>
        <p:nvSpPr>
          <p:cNvPr id="8" name="Shape 5"/>
          <p:cNvSpPr/>
          <p:nvPr/>
        </p:nvSpPr>
        <p:spPr>
          <a:xfrm>
            <a:off x="804672" y="1417320"/>
            <a:ext cx="91440" cy="91440"/>
          </a:xfrm>
          <a:prstGeom prst="ellipse">
            <a:avLst/>
          </a:prstGeom>
          <a:solidFill>
            <a:srgbClr val="F59E0B"/>
          </a:solidFill>
          <a:ln/>
        </p:spPr>
      </p:sp>
      <p:sp>
        <p:nvSpPr>
          <p:cNvPr id="9" name="Shape 6"/>
          <p:cNvSpPr/>
          <p:nvPr/>
        </p:nvSpPr>
        <p:spPr>
          <a:xfrm>
            <a:off x="950976" y="1417320"/>
            <a:ext cx="91440" cy="91440"/>
          </a:xfrm>
          <a:prstGeom prst="ellipse">
            <a:avLst/>
          </a:prstGeom>
          <a:solidFill>
            <a:srgbClr val="22C55E"/>
          </a:solidFill>
          <a:ln/>
        </p:spPr>
      </p:sp>
      <p:sp>
        <p:nvSpPr>
          <p:cNvPr id="10" name="Text 7"/>
          <p:cNvSpPr/>
          <p:nvPr/>
        </p:nvSpPr>
        <p:spPr>
          <a:xfrm>
            <a:off x="1170432" y="1353312"/>
            <a:ext cx="4069080" cy="20116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images</a:t>
            </a:r>
            <a:endParaRPr lang="en-US" sz="900" dirty="0"/>
          </a:p>
        </p:txBody>
      </p:sp>
      <p:sp>
        <p:nvSpPr>
          <p:cNvPr id="11" name="Text 8"/>
          <p:cNvSpPr/>
          <p:nvPr/>
        </p:nvSpPr>
        <p:spPr>
          <a:xfrm>
            <a:off x="676656" y="1673352"/>
            <a:ext cx="4544568" cy="2286000"/>
          </a:xfrm>
          <a:prstGeom prst="rect">
            <a:avLst/>
          </a:prstGeom>
          <a:noFill/>
          <a:ln/>
        </p:spPr>
        <p:txBody>
          <a:bodyPr wrap="square" lIns="0" tIns="0" rIns="0" bIns="0" rtlCol="0" anchor="t"/>
          <a:lstStyle/>
          <a:p>
            <a:pPr algn="l" indent="0" marL="0">
              <a:lnSpc>
                <a:spcPts val="1156"/>
              </a:lnSpc>
              <a:buNone/>
            </a:pPr>
            <a:r>
              <a:rPr lang="en-US" sz="980" b="1" dirty="0">
                <a:solidFill>
                  <a:srgbClr val="0D9488"/>
                </a:solidFill>
                <a:latin typeface="Courier New" pitchFamily="34" charset="0"/>
                <a:ea typeface="Courier New" pitchFamily="34" charset="-122"/>
                <a:cs typeface="Courier New" pitchFamily="34" charset="-120"/>
              </a:rPr>
              <a:t>$ </a:t>
            </a:r>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docker search nginx</a:t>
            </a:r>
            <a:endParaRPr lang="en-US" sz="980" dirty="0"/>
          </a:p>
          <a:p>
            <a:pPr algn="l" indent="0" marL="0">
              <a:lnSpc>
                <a:spcPts val="1156"/>
              </a:lnSpc>
              <a:buNone/>
            </a:pPr>
            <a:r>
              <a:rPr lang="en-US" sz="980" dirty="0">
                <a:solidFill>
                  <a:srgbClr val="38BDF8"/>
                </a:solidFill>
                <a:latin typeface="Courier New" pitchFamily="34" charset="0"/>
                <a:ea typeface="Courier New" pitchFamily="34" charset="-122"/>
                <a:cs typeface="Courier New" pitchFamily="34" charset="-120"/>
              </a:rPr>
              <a:t>NAME    STARS    OFFICIAL</a:t>
            </a:r>
            <a:endParaRPr lang="en-US" sz="980" dirty="0"/>
          </a:p>
          <a:p>
            <a:pPr algn="l" indent="0" marL="0">
              <a:lnSpc>
                <a:spcPts val="1156"/>
              </a:lnSpc>
              <a:buNone/>
            </a:pPr>
            <a:r>
              <a:rPr lang="en-US" sz="980" dirty="0">
                <a:solidFill>
                  <a:srgbClr val="38BDF8"/>
                </a:solidFill>
                <a:latin typeface="Courier New" pitchFamily="34" charset="0"/>
                <a:ea typeface="Courier New" pitchFamily="34" charset="-122"/>
                <a:cs typeface="Courier New" pitchFamily="34" charset="-120"/>
              </a:rPr>
              <a:t>nginx   20000    [OK]</a:t>
            </a:r>
            <a:endParaRPr lang="en-US" sz="980" dirty="0"/>
          </a:p>
          <a:p>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 </a:t>
            </a:r>
            <a:endParaRPr lang="en-US" sz="980" dirty="0"/>
          </a:p>
          <a:p>
            <a:pPr algn="l" indent="0" marL="0">
              <a:lnSpc>
                <a:spcPts val="1156"/>
              </a:lnSpc>
              <a:buNone/>
            </a:pPr>
            <a:r>
              <a:rPr lang="en-US" sz="980" b="1" dirty="0">
                <a:solidFill>
                  <a:srgbClr val="0D9488"/>
                </a:solidFill>
                <a:latin typeface="Courier New" pitchFamily="34" charset="0"/>
                <a:ea typeface="Courier New" pitchFamily="34" charset="-122"/>
                <a:cs typeface="Courier New" pitchFamily="34" charset="-120"/>
              </a:rPr>
              <a:t>$ </a:t>
            </a:r>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docker pull nginx:1.27</a:t>
            </a:r>
            <a:pPr algn="l" indent="0" marL="0">
              <a:lnSpc>
                <a:spcPts val="1156"/>
              </a:lnSpc>
              <a:buNone/>
            </a:pPr>
            <a:r>
              <a:rPr lang="en-US" sz="980" dirty="0">
                <a:solidFill>
                  <a:srgbClr val="94A3B8"/>
                </a:solidFill>
                <a:latin typeface="Courier New" pitchFamily="34" charset="0"/>
                <a:ea typeface="Courier New" pitchFamily="34" charset="-122"/>
                <a:cs typeface="Courier New" pitchFamily="34" charset="-120"/>
              </a:rPr>
              <a:t>  # pin a tag</a:t>
            </a:r>
            <a:endParaRPr lang="en-US" sz="980" dirty="0"/>
          </a:p>
          <a:p>
            <a:pPr algn="l" indent="0" marL="0">
              <a:lnSpc>
                <a:spcPts val="1156"/>
              </a:lnSpc>
              <a:buNone/>
            </a:pPr>
            <a:r>
              <a:rPr lang="en-US" sz="980" dirty="0">
                <a:solidFill>
                  <a:srgbClr val="34D399"/>
                </a:solidFill>
                <a:latin typeface="Courier New" pitchFamily="34" charset="0"/>
                <a:ea typeface="Courier New" pitchFamily="34" charset="-122"/>
                <a:cs typeface="Courier New" pitchFamily="34" charset="-120"/>
              </a:rPr>
              <a:t>Downloaded newer image for nginx:1.27</a:t>
            </a:r>
            <a:endParaRPr lang="en-US" sz="980" dirty="0"/>
          </a:p>
          <a:p>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 </a:t>
            </a:r>
            <a:endParaRPr lang="en-US" sz="980" dirty="0"/>
          </a:p>
          <a:p>
            <a:pPr algn="l" indent="0" marL="0">
              <a:lnSpc>
                <a:spcPts val="1156"/>
              </a:lnSpc>
              <a:buNone/>
            </a:pPr>
            <a:r>
              <a:rPr lang="en-US" sz="980" b="1" dirty="0">
                <a:solidFill>
                  <a:srgbClr val="0D9488"/>
                </a:solidFill>
                <a:latin typeface="Courier New" pitchFamily="34" charset="0"/>
                <a:ea typeface="Courier New" pitchFamily="34" charset="-122"/>
                <a:cs typeface="Courier New" pitchFamily="34" charset="-120"/>
              </a:rPr>
              <a:t>$ </a:t>
            </a:r>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docker images</a:t>
            </a:r>
            <a:endParaRPr lang="en-US" sz="980" dirty="0"/>
          </a:p>
          <a:p>
            <a:pPr algn="l" indent="0" marL="0">
              <a:lnSpc>
                <a:spcPts val="1156"/>
              </a:lnSpc>
              <a:buNone/>
            </a:pPr>
            <a:r>
              <a:rPr lang="en-US" sz="980" dirty="0">
                <a:solidFill>
                  <a:srgbClr val="38BDF8"/>
                </a:solidFill>
                <a:latin typeface="Courier New" pitchFamily="34" charset="0"/>
                <a:ea typeface="Courier New" pitchFamily="34" charset="-122"/>
                <a:cs typeface="Courier New" pitchFamily="34" charset="-120"/>
              </a:rPr>
              <a:t>REPOSITORY  TAG    SIZE</a:t>
            </a:r>
            <a:endParaRPr lang="en-US" sz="980" dirty="0"/>
          </a:p>
          <a:p>
            <a:pPr algn="l" indent="0" marL="0">
              <a:lnSpc>
                <a:spcPts val="1156"/>
              </a:lnSpc>
              <a:buNone/>
            </a:pPr>
            <a:r>
              <a:rPr lang="en-US" sz="980" dirty="0">
                <a:solidFill>
                  <a:srgbClr val="38BDF8"/>
                </a:solidFill>
                <a:latin typeface="Courier New" pitchFamily="34" charset="0"/>
                <a:ea typeface="Courier New" pitchFamily="34" charset="-122"/>
                <a:cs typeface="Courier New" pitchFamily="34" charset="-120"/>
              </a:rPr>
              <a:t>nginx       1.27   188MB</a:t>
            </a:r>
            <a:endParaRPr lang="en-US" sz="980" dirty="0"/>
          </a:p>
          <a:p>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 </a:t>
            </a:r>
            <a:endParaRPr lang="en-US" sz="980" dirty="0"/>
          </a:p>
          <a:p>
            <a:pPr algn="l" indent="0" marL="0">
              <a:lnSpc>
                <a:spcPts val="1156"/>
              </a:lnSpc>
              <a:buNone/>
            </a:pPr>
            <a:r>
              <a:rPr lang="en-US" sz="980" b="1" dirty="0">
                <a:solidFill>
                  <a:srgbClr val="0D9488"/>
                </a:solidFill>
                <a:latin typeface="Courier New" pitchFamily="34" charset="0"/>
                <a:ea typeface="Courier New" pitchFamily="34" charset="-122"/>
                <a:cs typeface="Courier New" pitchFamily="34" charset="-120"/>
              </a:rPr>
              <a:t>$ </a:t>
            </a:r>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docker rmi nginx:1.27</a:t>
            </a:r>
            <a:pPr algn="l" indent="0" marL="0">
              <a:lnSpc>
                <a:spcPts val="1156"/>
              </a:lnSpc>
              <a:buNone/>
            </a:pPr>
            <a:r>
              <a:rPr lang="en-US" sz="980" dirty="0">
                <a:solidFill>
                  <a:srgbClr val="94A3B8"/>
                </a:solidFill>
                <a:latin typeface="Courier New" pitchFamily="34" charset="0"/>
                <a:ea typeface="Courier New" pitchFamily="34" charset="-122"/>
                <a:cs typeface="Courier New" pitchFamily="34" charset="-120"/>
              </a:rPr>
              <a:t>  # remove image</a:t>
            </a:r>
            <a:endParaRPr lang="en-US" sz="980" dirty="0"/>
          </a:p>
        </p:txBody>
      </p:sp>
      <p:sp>
        <p:nvSpPr>
          <p:cNvPr id="12" name="Text 9"/>
          <p:cNvSpPr/>
          <p:nvPr/>
        </p:nvSpPr>
        <p:spPr>
          <a:xfrm>
            <a:off x="5623560" y="1325880"/>
            <a:ext cx="3063240" cy="2743200"/>
          </a:xfrm>
          <a:prstGeom prst="rect">
            <a:avLst/>
          </a:prstGeom>
          <a:noFill/>
          <a:ln/>
        </p:spPr>
        <p:txBody>
          <a:bodyPr wrap="square" lIns="0" tIns="0" rIns="0" bIns="0" rtlCol="0" anchor="t"/>
          <a:lstStyle/>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Image name</a:t>
            </a:r>
            <a:pPr algn="l" indent="0" marL="0">
              <a:spcAft>
                <a:spcPts val="900"/>
              </a:spcAft>
              <a:buNone/>
            </a:pPr>
            <a:r>
              <a:rPr lang="en-US" sz="1100" dirty="0">
                <a:solidFill>
                  <a:srgbClr val="475569"/>
                </a:solidFill>
                <a:latin typeface="Calibri" pitchFamily="34" charset="0"/>
                <a:ea typeface="Calibri" pitchFamily="34" charset="-122"/>
                <a:cs typeface="Calibri" pitchFamily="34" charset="-120"/>
              </a:rPr>
              <a:t>  registry/repository:tag (default docker.io/library, :latest)</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Avoid :latest</a:t>
            </a:r>
            <a:pPr algn="l" indent="0" marL="0">
              <a:spcAft>
                <a:spcPts val="900"/>
              </a:spcAft>
              <a:buNone/>
            </a:pPr>
            <a:r>
              <a:rPr lang="en-US" sz="1100" dirty="0">
                <a:solidFill>
                  <a:srgbClr val="475569"/>
                </a:solidFill>
                <a:latin typeface="Calibri" pitchFamily="34" charset="0"/>
                <a:ea typeface="Calibri" pitchFamily="34" charset="-122"/>
                <a:cs typeface="Calibri" pitchFamily="34" charset="-120"/>
              </a:rPr>
              <a:t>  it moves — pin a version for reproducible builds</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Digests</a:t>
            </a:r>
            <a:pPr algn="l" indent="0" marL="0">
              <a:spcAft>
                <a:spcPts val="900"/>
              </a:spcAft>
              <a:buNone/>
            </a:pPr>
            <a:r>
              <a:rPr lang="en-US" sz="1100" dirty="0">
                <a:solidFill>
                  <a:srgbClr val="475569"/>
                </a:solidFill>
                <a:latin typeface="Calibri" pitchFamily="34" charset="0"/>
                <a:ea typeface="Calibri" pitchFamily="34" charset="-122"/>
                <a:cs typeface="Calibri" pitchFamily="34" charset="-120"/>
              </a:rPr>
              <a:t>  pull by @sha256:… to lock the exact bytes</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Layers are shared</a:t>
            </a:r>
            <a:pPr algn="l" indent="0" marL="0">
              <a:spcAft>
                <a:spcPts val="900"/>
              </a:spcAft>
              <a:buNone/>
            </a:pPr>
            <a:r>
              <a:rPr lang="en-US" sz="1100" dirty="0">
                <a:solidFill>
                  <a:srgbClr val="475569"/>
                </a:solidFill>
                <a:latin typeface="Calibri" pitchFamily="34" charset="0"/>
                <a:ea typeface="Calibri" pitchFamily="34" charset="-122"/>
                <a:cs typeface="Calibri" pitchFamily="34" charset="-120"/>
              </a:rPr>
              <a:t>  a second image reuses common layers on disk</a:t>
            </a:r>
            <a:endParaRPr lang="en-US" sz="1100" dirty="0"/>
          </a:p>
        </p:txBody>
      </p:sp>
      <p:sp>
        <p:nvSpPr>
          <p:cNvPr id="13" name="Text 10"/>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14" name="Text 11"/>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Install &amp; Operate</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THE CONTAINER LIFECYCLE</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States &amp; the commands between them</a:t>
            </a:r>
            <a:endParaRPr lang="en-US" sz="2500" dirty="0"/>
          </a:p>
        </p:txBody>
      </p:sp>
      <p:sp>
        <p:nvSpPr>
          <p:cNvPr id="6" name="Shape 3"/>
          <p:cNvSpPr/>
          <p:nvPr/>
        </p:nvSpPr>
        <p:spPr>
          <a:xfrm>
            <a:off x="640080" y="1828800"/>
            <a:ext cx="1554480" cy="713232"/>
          </a:xfrm>
          <a:prstGeom prst="roundRect">
            <a:avLst>
              <a:gd name="adj" fmla="val 10256"/>
            </a:avLst>
          </a:prstGeom>
          <a:solidFill>
            <a:srgbClr val="FFFFFF"/>
          </a:solidFill>
          <a:ln w="15240">
            <a:solidFill>
              <a:srgbClr val="E2E8F0"/>
            </a:solidFill>
            <a:prstDash val="solid"/>
          </a:ln>
          <a:effectLst>
            <a:outerShdw sx="100000" sy="100000" kx="0" ky="0" algn="bl" rotWithShape="0" blurRad="63500" dist="25400" dir="2700000">
              <a:srgbClr val="475569">
                <a:alpha val="10000"/>
              </a:srgbClr>
            </a:outerShdw>
          </a:effectLst>
        </p:spPr>
      </p:sp>
      <p:sp>
        <p:nvSpPr>
          <p:cNvPr id="7" name="Text 4"/>
          <p:cNvSpPr/>
          <p:nvPr/>
        </p:nvSpPr>
        <p:spPr>
          <a:xfrm>
            <a:off x="640080" y="1828800"/>
            <a:ext cx="1554480" cy="713232"/>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Created</a:t>
            </a:r>
            <a:endParaRPr lang="en-US" sz="1200" dirty="0"/>
          </a:p>
        </p:txBody>
      </p:sp>
      <p:sp>
        <p:nvSpPr>
          <p:cNvPr id="8" name="Shape 5"/>
          <p:cNvSpPr/>
          <p:nvPr/>
        </p:nvSpPr>
        <p:spPr>
          <a:xfrm>
            <a:off x="2834640" y="1828800"/>
            <a:ext cx="1554480" cy="713232"/>
          </a:xfrm>
          <a:prstGeom prst="roundRect">
            <a:avLst>
              <a:gd name="adj" fmla="val 10256"/>
            </a:avLst>
          </a:prstGeom>
          <a:solidFill>
            <a:srgbClr val="0D9488"/>
          </a:solidFill>
          <a:ln w="15240">
            <a:solidFill>
              <a:srgbClr val="0D9488"/>
            </a:solidFill>
            <a:prstDash val="solid"/>
          </a:ln>
          <a:effectLst>
            <a:outerShdw sx="100000" sy="100000" kx="0" ky="0" algn="bl" rotWithShape="0" blurRad="63500" dist="25400" dir="2700000">
              <a:srgbClr val="475569">
                <a:alpha val="10000"/>
              </a:srgbClr>
            </a:outerShdw>
          </a:effectLst>
        </p:spPr>
      </p:sp>
      <p:sp>
        <p:nvSpPr>
          <p:cNvPr id="9" name="Text 6"/>
          <p:cNvSpPr/>
          <p:nvPr/>
        </p:nvSpPr>
        <p:spPr>
          <a:xfrm>
            <a:off x="2834640" y="1828800"/>
            <a:ext cx="1554480" cy="7132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Running</a:t>
            </a:r>
            <a:endParaRPr lang="en-US" sz="1200" dirty="0"/>
          </a:p>
        </p:txBody>
      </p:sp>
      <p:sp>
        <p:nvSpPr>
          <p:cNvPr id="10" name="Shape 7"/>
          <p:cNvSpPr/>
          <p:nvPr/>
        </p:nvSpPr>
        <p:spPr>
          <a:xfrm>
            <a:off x="5029200" y="1828800"/>
            <a:ext cx="1554480" cy="713232"/>
          </a:xfrm>
          <a:prstGeom prst="roundRect">
            <a:avLst>
              <a:gd name="adj" fmla="val 10256"/>
            </a:avLst>
          </a:prstGeom>
          <a:solidFill>
            <a:srgbClr val="FFFFFF"/>
          </a:solidFill>
          <a:ln w="15240">
            <a:solidFill>
              <a:srgbClr val="E2E8F0"/>
            </a:solidFill>
            <a:prstDash val="solid"/>
          </a:ln>
          <a:effectLst>
            <a:outerShdw sx="100000" sy="100000" kx="0" ky="0" algn="bl" rotWithShape="0" blurRad="63500" dist="25400" dir="2700000">
              <a:srgbClr val="475569">
                <a:alpha val="10000"/>
              </a:srgbClr>
            </a:outerShdw>
          </a:effectLst>
        </p:spPr>
      </p:sp>
      <p:sp>
        <p:nvSpPr>
          <p:cNvPr id="11" name="Text 8"/>
          <p:cNvSpPr/>
          <p:nvPr/>
        </p:nvSpPr>
        <p:spPr>
          <a:xfrm>
            <a:off x="5029200" y="1828800"/>
            <a:ext cx="1554480" cy="713232"/>
          </a:xfrm>
          <a:prstGeom prst="rect">
            <a:avLst/>
          </a:prstGeom>
          <a:noFill/>
          <a:ln/>
        </p:spPr>
        <p:txBody>
          <a:bodyPr wrap="square" lIns="0" tIns="0" rIns="0" bIns="0" rtlCol="0" anchor="ctr"/>
          <a:lstStyle/>
          <a:p>
            <a:pPr algn="ctr" indent="0" marL="0">
              <a:buNone/>
            </a:pPr>
            <a:r>
              <a:rPr lang="en-US" sz="1200" b="1" dirty="0">
                <a:solidFill>
                  <a:srgbClr val="0F172A"/>
                </a:solidFill>
                <a:latin typeface="Calibri" pitchFamily="34" charset="0"/>
                <a:ea typeface="Calibri" pitchFamily="34" charset="-122"/>
                <a:cs typeface="Calibri" pitchFamily="34" charset="-120"/>
              </a:rPr>
              <a:t>Stopped</a:t>
            </a:r>
            <a:endParaRPr lang="en-US" sz="1200" dirty="0"/>
          </a:p>
        </p:txBody>
      </p:sp>
      <p:sp>
        <p:nvSpPr>
          <p:cNvPr id="12" name="Shape 9"/>
          <p:cNvSpPr/>
          <p:nvPr/>
        </p:nvSpPr>
        <p:spPr>
          <a:xfrm>
            <a:off x="7223760" y="1828800"/>
            <a:ext cx="1463040" cy="713232"/>
          </a:xfrm>
          <a:prstGeom prst="roundRect">
            <a:avLst>
              <a:gd name="adj" fmla="val 10256"/>
            </a:avLst>
          </a:prstGeom>
          <a:solidFill>
            <a:srgbClr val="0F172A"/>
          </a:solidFill>
          <a:ln w="15240">
            <a:solidFill>
              <a:srgbClr val="0F172A"/>
            </a:solidFill>
            <a:prstDash val="solid"/>
          </a:ln>
          <a:effectLst>
            <a:outerShdw sx="100000" sy="100000" kx="0" ky="0" algn="bl" rotWithShape="0" blurRad="63500" dist="25400" dir="2700000">
              <a:srgbClr val="475569">
                <a:alpha val="10000"/>
              </a:srgbClr>
            </a:outerShdw>
          </a:effectLst>
        </p:spPr>
      </p:sp>
      <p:sp>
        <p:nvSpPr>
          <p:cNvPr id="13" name="Text 10"/>
          <p:cNvSpPr/>
          <p:nvPr/>
        </p:nvSpPr>
        <p:spPr>
          <a:xfrm>
            <a:off x="7223760" y="1828800"/>
            <a:ext cx="1463040" cy="7132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Removed</a:t>
            </a:r>
            <a:endParaRPr lang="en-US" sz="1200" dirty="0"/>
          </a:p>
        </p:txBody>
      </p:sp>
      <p:sp>
        <p:nvSpPr>
          <p:cNvPr id="14" name="Shape 11"/>
          <p:cNvSpPr/>
          <p:nvPr/>
        </p:nvSpPr>
        <p:spPr>
          <a:xfrm>
            <a:off x="2834640" y="3246120"/>
            <a:ext cx="1554480" cy="713232"/>
          </a:xfrm>
          <a:prstGeom prst="roundRect">
            <a:avLst>
              <a:gd name="adj" fmla="val 10256"/>
            </a:avLst>
          </a:prstGeom>
          <a:solidFill>
            <a:srgbClr val="FFF7ED"/>
          </a:solidFill>
          <a:ln w="15240">
            <a:solidFill>
              <a:srgbClr val="FED7AA"/>
            </a:solidFill>
            <a:prstDash val="solid"/>
          </a:ln>
          <a:effectLst>
            <a:outerShdw sx="100000" sy="100000" kx="0" ky="0" algn="bl" rotWithShape="0" blurRad="63500" dist="25400" dir="2700000">
              <a:srgbClr val="475569">
                <a:alpha val="10000"/>
              </a:srgbClr>
            </a:outerShdw>
          </a:effectLst>
        </p:spPr>
      </p:sp>
      <p:sp>
        <p:nvSpPr>
          <p:cNvPr id="15" name="Text 12"/>
          <p:cNvSpPr/>
          <p:nvPr/>
        </p:nvSpPr>
        <p:spPr>
          <a:xfrm>
            <a:off x="2834640" y="3246120"/>
            <a:ext cx="1554480" cy="713232"/>
          </a:xfrm>
          <a:prstGeom prst="rect">
            <a:avLst/>
          </a:prstGeom>
          <a:noFill/>
          <a:ln/>
        </p:spPr>
        <p:txBody>
          <a:bodyPr wrap="square" lIns="0" tIns="0" rIns="0" bIns="0" rtlCol="0" anchor="ctr"/>
          <a:lstStyle/>
          <a:p>
            <a:pPr algn="ctr" indent="0" marL="0">
              <a:buNone/>
            </a:pPr>
            <a:r>
              <a:rPr lang="en-US" sz="1200" b="1" dirty="0">
                <a:solidFill>
                  <a:srgbClr val="C2410C"/>
                </a:solidFill>
                <a:latin typeface="Calibri" pitchFamily="34" charset="0"/>
                <a:ea typeface="Calibri" pitchFamily="34" charset="-122"/>
                <a:cs typeface="Calibri" pitchFamily="34" charset="-120"/>
              </a:rPr>
              <a:t>Paused</a:t>
            </a:r>
            <a:endParaRPr lang="en-US" sz="1200" dirty="0"/>
          </a:p>
        </p:txBody>
      </p:sp>
      <p:sp>
        <p:nvSpPr>
          <p:cNvPr id="16" name="Shape 13"/>
          <p:cNvSpPr/>
          <p:nvPr/>
        </p:nvSpPr>
        <p:spPr>
          <a:xfrm>
            <a:off x="2194560" y="2185416"/>
            <a:ext cx="640080" cy="0"/>
          </a:xfrm>
          <a:prstGeom prst="line">
            <a:avLst/>
          </a:prstGeom>
          <a:noFill/>
          <a:ln w="25400">
            <a:solidFill>
              <a:srgbClr val="64748B"/>
            </a:solidFill>
            <a:prstDash val="solid"/>
            <a:tailEnd type="triangle"/>
          </a:ln>
        </p:spPr>
      </p:sp>
      <p:sp>
        <p:nvSpPr>
          <p:cNvPr id="17" name="Text 14"/>
          <p:cNvSpPr/>
          <p:nvPr/>
        </p:nvSpPr>
        <p:spPr>
          <a:xfrm>
            <a:off x="2194560" y="1947672"/>
            <a:ext cx="640080" cy="201168"/>
          </a:xfrm>
          <a:prstGeom prst="rect">
            <a:avLst/>
          </a:prstGeom>
          <a:noFill/>
          <a:ln/>
        </p:spPr>
        <p:txBody>
          <a:bodyPr wrap="square" lIns="0" tIns="0" rIns="0" bIns="0" rtlCol="0" anchor="ctr"/>
          <a:lstStyle/>
          <a:p>
            <a:pPr algn="ctr" indent="0" marL="0">
              <a:buNone/>
            </a:pPr>
            <a:r>
              <a:rPr lang="en-US" sz="900" dirty="0">
                <a:solidFill>
                  <a:srgbClr val="64748B"/>
                </a:solidFill>
                <a:latin typeface="Courier New" pitchFamily="34" charset="0"/>
                <a:ea typeface="Courier New" pitchFamily="34" charset="-122"/>
                <a:cs typeface="Courier New" pitchFamily="34" charset="-120"/>
              </a:rPr>
              <a:t>start</a:t>
            </a:r>
            <a:endParaRPr lang="en-US" sz="900" dirty="0"/>
          </a:p>
        </p:txBody>
      </p:sp>
      <p:sp>
        <p:nvSpPr>
          <p:cNvPr id="18" name="Shape 15"/>
          <p:cNvSpPr/>
          <p:nvPr/>
        </p:nvSpPr>
        <p:spPr>
          <a:xfrm>
            <a:off x="4389120" y="2121408"/>
            <a:ext cx="640080" cy="0"/>
          </a:xfrm>
          <a:prstGeom prst="line">
            <a:avLst/>
          </a:prstGeom>
          <a:noFill/>
          <a:ln w="25400">
            <a:solidFill>
              <a:srgbClr val="64748B"/>
            </a:solidFill>
            <a:prstDash val="solid"/>
            <a:tailEnd type="triangle"/>
          </a:ln>
        </p:spPr>
      </p:sp>
      <p:sp>
        <p:nvSpPr>
          <p:cNvPr id="19" name="Text 16"/>
          <p:cNvSpPr/>
          <p:nvPr/>
        </p:nvSpPr>
        <p:spPr>
          <a:xfrm>
            <a:off x="4389120" y="1883664"/>
            <a:ext cx="640080" cy="201168"/>
          </a:xfrm>
          <a:prstGeom prst="rect">
            <a:avLst/>
          </a:prstGeom>
          <a:noFill/>
          <a:ln/>
        </p:spPr>
        <p:txBody>
          <a:bodyPr wrap="square" lIns="0" tIns="0" rIns="0" bIns="0" rtlCol="0" anchor="ctr"/>
          <a:lstStyle/>
          <a:p>
            <a:pPr algn="ctr" indent="0" marL="0">
              <a:buNone/>
            </a:pPr>
            <a:r>
              <a:rPr lang="en-US" sz="900" dirty="0">
                <a:solidFill>
                  <a:srgbClr val="64748B"/>
                </a:solidFill>
                <a:latin typeface="Courier New" pitchFamily="34" charset="0"/>
                <a:ea typeface="Courier New" pitchFamily="34" charset="-122"/>
                <a:cs typeface="Courier New" pitchFamily="34" charset="-120"/>
              </a:rPr>
              <a:t>stop</a:t>
            </a:r>
            <a:endParaRPr lang="en-US" sz="900" dirty="0"/>
          </a:p>
        </p:txBody>
      </p:sp>
      <p:sp>
        <p:nvSpPr>
          <p:cNvPr id="20" name="Shape 17"/>
          <p:cNvSpPr/>
          <p:nvPr/>
        </p:nvSpPr>
        <p:spPr>
          <a:xfrm>
            <a:off x="5029200" y="2331720"/>
            <a:ext cx="-640080" cy="0"/>
          </a:xfrm>
          <a:prstGeom prst="line">
            <a:avLst/>
          </a:prstGeom>
          <a:noFill/>
          <a:ln w="20320">
            <a:solidFill>
              <a:srgbClr val="94A3B8"/>
            </a:solidFill>
            <a:prstDash val="solid"/>
            <a:tailEnd type="triangle"/>
          </a:ln>
        </p:spPr>
      </p:sp>
      <p:sp>
        <p:nvSpPr>
          <p:cNvPr id="21" name="Text 18"/>
          <p:cNvSpPr/>
          <p:nvPr/>
        </p:nvSpPr>
        <p:spPr>
          <a:xfrm>
            <a:off x="4389120" y="2359152"/>
            <a:ext cx="640080" cy="201168"/>
          </a:xfrm>
          <a:prstGeom prst="rect">
            <a:avLst/>
          </a:prstGeom>
          <a:noFill/>
          <a:ln/>
        </p:spPr>
        <p:txBody>
          <a:bodyPr wrap="square" lIns="0" tIns="0" rIns="0" bIns="0" rtlCol="0" anchor="ctr"/>
          <a:lstStyle/>
          <a:p>
            <a:pPr algn="ctr" indent="0" marL="0">
              <a:buNone/>
            </a:pPr>
            <a:r>
              <a:rPr lang="en-US" sz="900" dirty="0">
                <a:solidFill>
                  <a:srgbClr val="64748B"/>
                </a:solidFill>
                <a:latin typeface="Courier New" pitchFamily="34" charset="0"/>
                <a:ea typeface="Courier New" pitchFamily="34" charset="-122"/>
                <a:cs typeface="Courier New" pitchFamily="34" charset="-120"/>
              </a:rPr>
              <a:t>start</a:t>
            </a:r>
            <a:endParaRPr lang="en-US" sz="900" dirty="0"/>
          </a:p>
        </p:txBody>
      </p:sp>
      <p:sp>
        <p:nvSpPr>
          <p:cNvPr id="22" name="Shape 19"/>
          <p:cNvSpPr/>
          <p:nvPr/>
        </p:nvSpPr>
        <p:spPr>
          <a:xfrm>
            <a:off x="6583680" y="2185416"/>
            <a:ext cx="640080" cy="0"/>
          </a:xfrm>
          <a:prstGeom prst="line">
            <a:avLst/>
          </a:prstGeom>
          <a:noFill/>
          <a:ln w="25400">
            <a:solidFill>
              <a:srgbClr val="64748B"/>
            </a:solidFill>
            <a:prstDash val="solid"/>
            <a:tailEnd type="triangle"/>
          </a:ln>
        </p:spPr>
      </p:sp>
      <p:sp>
        <p:nvSpPr>
          <p:cNvPr id="23" name="Text 20"/>
          <p:cNvSpPr/>
          <p:nvPr/>
        </p:nvSpPr>
        <p:spPr>
          <a:xfrm>
            <a:off x="6583680" y="1947672"/>
            <a:ext cx="640080" cy="201168"/>
          </a:xfrm>
          <a:prstGeom prst="rect">
            <a:avLst/>
          </a:prstGeom>
          <a:noFill/>
          <a:ln/>
        </p:spPr>
        <p:txBody>
          <a:bodyPr wrap="square" lIns="0" tIns="0" rIns="0" bIns="0" rtlCol="0" anchor="ctr"/>
          <a:lstStyle/>
          <a:p>
            <a:pPr algn="ctr" indent="0" marL="0">
              <a:buNone/>
            </a:pPr>
            <a:r>
              <a:rPr lang="en-US" sz="900" dirty="0">
                <a:solidFill>
                  <a:srgbClr val="64748B"/>
                </a:solidFill>
                <a:latin typeface="Courier New" pitchFamily="34" charset="0"/>
                <a:ea typeface="Courier New" pitchFamily="34" charset="-122"/>
                <a:cs typeface="Courier New" pitchFamily="34" charset="-120"/>
              </a:rPr>
              <a:t>rm</a:t>
            </a:r>
            <a:endParaRPr lang="en-US" sz="900" dirty="0"/>
          </a:p>
        </p:txBody>
      </p:sp>
      <p:sp>
        <p:nvSpPr>
          <p:cNvPr id="24" name="Shape 21"/>
          <p:cNvSpPr/>
          <p:nvPr/>
        </p:nvSpPr>
        <p:spPr>
          <a:xfrm>
            <a:off x="3611880" y="2542032"/>
            <a:ext cx="0" cy="704088"/>
          </a:xfrm>
          <a:prstGeom prst="line">
            <a:avLst/>
          </a:prstGeom>
          <a:noFill/>
          <a:ln w="25400">
            <a:solidFill>
              <a:srgbClr val="64748B"/>
            </a:solidFill>
            <a:prstDash val="solid"/>
            <a:tailEnd type="triangle"/>
          </a:ln>
        </p:spPr>
      </p:sp>
      <p:sp>
        <p:nvSpPr>
          <p:cNvPr id="25" name="Text 22"/>
          <p:cNvSpPr/>
          <p:nvPr/>
        </p:nvSpPr>
        <p:spPr>
          <a:xfrm>
            <a:off x="3657600" y="2788920"/>
            <a:ext cx="1188720" cy="201168"/>
          </a:xfrm>
          <a:prstGeom prst="rect">
            <a:avLst/>
          </a:prstGeom>
          <a:noFill/>
          <a:ln/>
        </p:spPr>
        <p:txBody>
          <a:bodyPr wrap="square" lIns="0" tIns="0" rIns="0" bIns="0" rtlCol="0" anchor="ctr"/>
          <a:lstStyle/>
          <a:p>
            <a:pPr algn="ctr" indent="0" marL="0">
              <a:buNone/>
            </a:pPr>
            <a:r>
              <a:rPr lang="en-US" sz="900" dirty="0">
                <a:solidFill>
                  <a:srgbClr val="64748B"/>
                </a:solidFill>
                <a:latin typeface="Courier New" pitchFamily="34" charset="0"/>
                <a:ea typeface="Courier New" pitchFamily="34" charset="-122"/>
                <a:cs typeface="Courier New" pitchFamily="34" charset="-120"/>
              </a:rPr>
              <a:t>pause / unpause</a:t>
            </a:r>
            <a:endParaRPr lang="en-US" sz="900" dirty="0"/>
          </a:p>
        </p:txBody>
      </p:sp>
      <p:sp>
        <p:nvSpPr>
          <p:cNvPr id="26" name="Shape 23"/>
          <p:cNvSpPr/>
          <p:nvPr/>
        </p:nvSpPr>
        <p:spPr>
          <a:xfrm>
            <a:off x="457200" y="4114800"/>
            <a:ext cx="8229600" cy="749808"/>
          </a:xfrm>
          <a:prstGeom prst="roundRect">
            <a:avLst>
              <a:gd name="adj" fmla="val 8537"/>
            </a:avLst>
          </a:prstGeom>
          <a:solidFill>
            <a:srgbClr val="1E293B"/>
          </a:solidFill>
          <a:ln w="12700">
            <a:solidFill>
              <a:srgbClr val="334155"/>
            </a:solidFill>
            <a:prstDash val="solid"/>
          </a:ln>
          <a:effectLst>
            <a:outerShdw sx="100000" sy="100000" kx="0" ky="0" algn="bl" rotWithShape="0" blurRad="114300" dist="38100" dir="2700000">
              <a:srgbClr val="475569">
                <a:alpha val="24000"/>
              </a:srgbClr>
            </a:outerShdw>
          </a:effectLst>
        </p:spPr>
      </p:sp>
      <p:sp>
        <p:nvSpPr>
          <p:cNvPr id="27" name="Shape 24"/>
          <p:cNvSpPr/>
          <p:nvPr/>
        </p:nvSpPr>
        <p:spPr>
          <a:xfrm>
            <a:off x="658368" y="4297680"/>
            <a:ext cx="91440" cy="91440"/>
          </a:xfrm>
          <a:prstGeom prst="ellipse">
            <a:avLst/>
          </a:prstGeom>
          <a:solidFill>
            <a:srgbClr val="EF4444"/>
          </a:solidFill>
          <a:ln/>
        </p:spPr>
      </p:sp>
      <p:sp>
        <p:nvSpPr>
          <p:cNvPr id="28" name="Shape 25"/>
          <p:cNvSpPr/>
          <p:nvPr/>
        </p:nvSpPr>
        <p:spPr>
          <a:xfrm>
            <a:off x="804672" y="4297680"/>
            <a:ext cx="91440" cy="91440"/>
          </a:xfrm>
          <a:prstGeom prst="ellipse">
            <a:avLst/>
          </a:prstGeom>
          <a:solidFill>
            <a:srgbClr val="F59E0B"/>
          </a:solidFill>
          <a:ln/>
        </p:spPr>
      </p:sp>
      <p:sp>
        <p:nvSpPr>
          <p:cNvPr id="29" name="Shape 26"/>
          <p:cNvSpPr/>
          <p:nvPr/>
        </p:nvSpPr>
        <p:spPr>
          <a:xfrm>
            <a:off x="950976" y="4297680"/>
            <a:ext cx="91440" cy="91440"/>
          </a:xfrm>
          <a:prstGeom prst="ellipse">
            <a:avLst/>
          </a:prstGeom>
          <a:solidFill>
            <a:srgbClr val="22C55E"/>
          </a:solidFill>
          <a:ln/>
        </p:spPr>
      </p:sp>
      <p:sp>
        <p:nvSpPr>
          <p:cNvPr id="30" name="Text 27"/>
          <p:cNvSpPr/>
          <p:nvPr/>
        </p:nvSpPr>
        <p:spPr>
          <a:xfrm>
            <a:off x="713232" y="4553712"/>
            <a:ext cx="7717536" cy="201168"/>
          </a:xfrm>
          <a:prstGeom prst="rect">
            <a:avLst/>
          </a:prstGeom>
          <a:noFill/>
          <a:ln/>
        </p:spPr>
        <p:txBody>
          <a:bodyPr wrap="square" lIns="0" tIns="0" rIns="0" bIns="0" rtlCol="0" anchor="t"/>
          <a:lstStyle/>
          <a:p>
            <a:pPr algn="l" indent="0" marL="0">
              <a:lnSpc>
                <a:spcPts val="1180"/>
              </a:lnSpc>
              <a:buNone/>
            </a:pPr>
            <a:r>
              <a:rPr lang="en-US" sz="1000" b="1" dirty="0">
                <a:solidFill>
                  <a:srgbClr val="0D9488"/>
                </a:solidFill>
                <a:latin typeface="Courier New" pitchFamily="34" charset="0"/>
                <a:ea typeface="Courier New" pitchFamily="34" charset="-122"/>
                <a:cs typeface="Courier New" pitchFamily="34" charset="-120"/>
              </a:rPr>
              <a:t>$ </a:t>
            </a:r>
            <a:pPr algn="l" indent="0" marL="0">
              <a:lnSpc>
                <a:spcPts val="1180"/>
              </a:lnSpc>
              <a:buNone/>
            </a:pPr>
            <a:r>
              <a:rPr lang="en-US" sz="1000" dirty="0">
                <a:solidFill>
                  <a:srgbClr val="FFFFFF"/>
                </a:solidFill>
                <a:latin typeface="Courier New" pitchFamily="34" charset="0"/>
                <a:ea typeface="Courier New" pitchFamily="34" charset="-122"/>
                <a:cs typeface="Courier New" pitchFamily="34" charset="-120"/>
              </a:rPr>
              <a:t>docker run -d --name web nginx</a:t>
            </a:r>
            <a:pPr algn="l" indent="0" marL="0">
              <a:lnSpc>
                <a:spcPts val="1180"/>
              </a:lnSpc>
              <a:buNone/>
            </a:pPr>
            <a:r>
              <a:rPr lang="en-US" sz="1000" dirty="0">
                <a:solidFill>
                  <a:srgbClr val="94A3B8"/>
                </a:solidFill>
                <a:latin typeface="Courier New" pitchFamily="34" charset="0"/>
                <a:ea typeface="Courier New" pitchFamily="34" charset="-122"/>
                <a:cs typeface="Courier New" pitchFamily="34" charset="-120"/>
              </a:rPr>
              <a:t>   # create + start in one step (you'll use this 90% of the time)</a:t>
            </a:r>
            <a:endParaRPr lang="en-US" sz="1000" dirty="0"/>
          </a:p>
        </p:txBody>
      </p:sp>
      <p:sp>
        <p:nvSpPr>
          <p:cNvPr id="31" name="Text 28"/>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32" name="Text 29"/>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Install &amp; Operate</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THE WORKHORSE COMMAND</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Running containers in practice</a:t>
            </a:r>
            <a:endParaRPr lang="en-US" sz="2500" dirty="0"/>
          </a:p>
        </p:txBody>
      </p:sp>
      <p:sp>
        <p:nvSpPr>
          <p:cNvPr id="6" name="Shape 3"/>
          <p:cNvSpPr/>
          <p:nvPr/>
        </p:nvSpPr>
        <p:spPr>
          <a:xfrm>
            <a:off x="457200" y="1234440"/>
            <a:ext cx="4572000" cy="2331720"/>
          </a:xfrm>
          <a:prstGeom prst="roundRect">
            <a:avLst>
              <a:gd name="adj" fmla="val 2745"/>
            </a:avLst>
          </a:prstGeom>
          <a:solidFill>
            <a:srgbClr val="1E293B"/>
          </a:solidFill>
          <a:ln w="12700">
            <a:solidFill>
              <a:srgbClr val="334155"/>
            </a:solidFill>
            <a:prstDash val="solid"/>
          </a:ln>
          <a:effectLst>
            <a:outerShdw sx="100000" sy="100000" kx="0" ky="0" algn="bl" rotWithShape="0" blurRad="114300" dist="38100" dir="2700000">
              <a:srgbClr val="475569">
                <a:alpha val="24000"/>
              </a:srgbClr>
            </a:outerShdw>
          </a:effectLst>
        </p:spPr>
      </p:sp>
      <p:sp>
        <p:nvSpPr>
          <p:cNvPr id="7" name="Shape 4"/>
          <p:cNvSpPr/>
          <p:nvPr/>
        </p:nvSpPr>
        <p:spPr>
          <a:xfrm>
            <a:off x="658368" y="1417320"/>
            <a:ext cx="91440" cy="91440"/>
          </a:xfrm>
          <a:prstGeom prst="ellipse">
            <a:avLst/>
          </a:prstGeom>
          <a:solidFill>
            <a:srgbClr val="EF4444"/>
          </a:solidFill>
          <a:ln/>
        </p:spPr>
      </p:sp>
      <p:sp>
        <p:nvSpPr>
          <p:cNvPr id="8" name="Shape 5"/>
          <p:cNvSpPr/>
          <p:nvPr/>
        </p:nvSpPr>
        <p:spPr>
          <a:xfrm>
            <a:off x="804672" y="1417320"/>
            <a:ext cx="91440" cy="91440"/>
          </a:xfrm>
          <a:prstGeom prst="ellipse">
            <a:avLst/>
          </a:prstGeom>
          <a:solidFill>
            <a:srgbClr val="F59E0B"/>
          </a:solidFill>
          <a:ln/>
        </p:spPr>
      </p:sp>
      <p:sp>
        <p:nvSpPr>
          <p:cNvPr id="9" name="Shape 6"/>
          <p:cNvSpPr/>
          <p:nvPr/>
        </p:nvSpPr>
        <p:spPr>
          <a:xfrm>
            <a:off x="950976" y="1417320"/>
            <a:ext cx="91440" cy="91440"/>
          </a:xfrm>
          <a:prstGeom prst="ellipse">
            <a:avLst/>
          </a:prstGeom>
          <a:solidFill>
            <a:srgbClr val="22C55E"/>
          </a:solidFill>
          <a:ln/>
        </p:spPr>
      </p:sp>
      <p:sp>
        <p:nvSpPr>
          <p:cNvPr id="10" name="Text 7"/>
          <p:cNvSpPr/>
          <p:nvPr/>
        </p:nvSpPr>
        <p:spPr>
          <a:xfrm>
            <a:off x="1170432" y="1353312"/>
            <a:ext cx="3657600" cy="20116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docker run</a:t>
            </a:r>
            <a:endParaRPr lang="en-US" sz="900" dirty="0"/>
          </a:p>
        </p:txBody>
      </p:sp>
      <p:sp>
        <p:nvSpPr>
          <p:cNvPr id="11" name="Text 8"/>
          <p:cNvSpPr/>
          <p:nvPr/>
        </p:nvSpPr>
        <p:spPr>
          <a:xfrm>
            <a:off x="676656" y="1673352"/>
            <a:ext cx="4133088" cy="1783080"/>
          </a:xfrm>
          <a:prstGeom prst="rect">
            <a:avLst/>
          </a:prstGeom>
          <a:noFill/>
          <a:ln/>
        </p:spPr>
        <p:txBody>
          <a:bodyPr wrap="square" lIns="0" tIns="0" rIns="0" bIns="0" rtlCol="0" anchor="t"/>
          <a:lstStyle/>
          <a:p>
            <a:pPr algn="l" indent="0" marL="0">
              <a:lnSpc>
                <a:spcPts val="1156"/>
              </a:lnSpc>
              <a:buNone/>
            </a:pPr>
            <a:r>
              <a:rPr lang="en-US" sz="980" b="1" dirty="0">
                <a:solidFill>
                  <a:srgbClr val="0D9488"/>
                </a:solidFill>
                <a:latin typeface="Courier New" pitchFamily="34" charset="0"/>
                <a:ea typeface="Courier New" pitchFamily="34" charset="-122"/>
                <a:cs typeface="Courier New" pitchFamily="34" charset="-120"/>
              </a:rPr>
              <a:t>$ </a:t>
            </a:r>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docker run -d --name web \</a:t>
            </a:r>
            <a:endParaRPr lang="en-US" sz="980" dirty="0"/>
          </a:p>
          <a:p>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  -p 8080:80 \</a:t>
            </a:r>
            <a:endParaRPr lang="en-US" sz="980" dirty="0"/>
          </a:p>
          <a:p>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  -e NODE_ENV=prod \</a:t>
            </a:r>
            <a:endParaRPr lang="en-US" sz="980" dirty="0"/>
          </a:p>
          <a:p>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  -v site:/usr/share/nginx/html \</a:t>
            </a:r>
            <a:endParaRPr lang="en-US" sz="980" dirty="0"/>
          </a:p>
          <a:p>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  nginx:1.27</a:t>
            </a:r>
            <a:endParaRPr lang="en-US" sz="980" dirty="0"/>
          </a:p>
          <a:p>
            <a:pPr algn="l" indent="0" marL="0">
              <a:lnSpc>
                <a:spcPts val="1156"/>
              </a:lnSpc>
              <a:buNone/>
            </a:pPr>
            <a:r>
              <a:rPr lang="en-US" sz="980" dirty="0">
                <a:solidFill>
                  <a:srgbClr val="34D399"/>
                </a:solidFill>
                <a:latin typeface="Courier New" pitchFamily="34" charset="0"/>
                <a:ea typeface="Courier New" pitchFamily="34" charset="-122"/>
                <a:cs typeface="Courier New" pitchFamily="34" charset="-120"/>
              </a:rPr>
              <a:t>a1b2c3d4...   # container id</a:t>
            </a:r>
            <a:endParaRPr lang="en-US" sz="980" dirty="0"/>
          </a:p>
          <a:p>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 </a:t>
            </a:r>
            <a:endParaRPr lang="en-US" sz="980" dirty="0"/>
          </a:p>
          <a:p>
            <a:pPr algn="l" indent="0" marL="0">
              <a:lnSpc>
                <a:spcPts val="1156"/>
              </a:lnSpc>
              <a:buNone/>
            </a:pPr>
            <a:r>
              <a:rPr lang="en-US" sz="980" b="1" dirty="0">
                <a:solidFill>
                  <a:srgbClr val="0D9488"/>
                </a:solidFill>
                <a:latin typeface="Courier New" pitchFamily="34" charset="0"/>
                <a:ea typeface="Courier New" pitchFamily="34" charset="-122"/>
                <a:cs typeface="Courier New" pitchFamily="34" charset="-120"/>
              </a:rPr>
              <a:t>$ </a:t>
            </a:r>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docker run -it --rm ubuntu bash</a:t>
            </a:r>
            <a:pPr algn="l" indent="0" marL="0">
              <a:lnSpc>
                <a:spcPts val="1156"/>
              </a:lnSpc>
              <a:buNone/>
            </a:pPr>
            <a:r>
              <a:rPr lang="en-US" sz="980" dirty="0">
                <a:solidFill>
                  <a:srgbClr val="94A3B8"/>
                </a:solidFill>
                <a:latin typeface="Courier New" pitchFamily="34" charset="0"/>
                <a:ea typeface="Courier New" pitchFamily="34" charset="-122"/>
                <a:cs typeface="Courier New" pitchFamily="34" charset="-120"/>
              </a:rPr>
              <a:t>  # throwaway</a:t>
            </a:r>
            <a:endParaRPr lang="en-US" sz="980" dirty="0"/>
          </a:p>
        </p:txBody>
      </p:sp>
      <p:sp>
        <p:nvSpPr>
          <p:cNvPr id="12" name="Text 9"/>
          <p:cNvSpPr/>
          <p:nvPr/>
        </p:nvSpPr>
        <p:spPr>
          <a:xfrm>
            <a:off x="5212080" y="1280160"/>
            <a:ext cx="3474720" cy="2286000"/>
          </a:xfrm>
          <a:prstGeom prst="rect">
            <a:avLst/>
          </a:prstGeom>
          <a:noFill/>
          <a:ln/>
        </p:spPr>
        <p:txBody>
          <a:bodyPr wrap="square" lIns="0" tIns="0" rIns="0" bIns="0" rtlCol="0" anchor="t"/>
          <a:lstStyle/>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-d</a:t>
            </a:r>
            <a:pPr algn="l" indent="0" marL="0">
              <a:spcAft>
                <a:spcPts val="600"/>
              </a:spcAft>
              <a:buNone/>
            </a:pPr>
            <a:r>
              <a:rPr lang="en-US" sz="1100" dirty="0">
                <a:solidFill>
                  <a:srgbClr val="475569"/>
                </a:solidFill>
                <a:latin typeface="Calibri" pitchFamily="34" charset="0"/>
                <a:ea typeface="Calibri" pitchFamily="34" charset="-122"/>
                <a:cs typeface="Calibri" pitchFamily="34" charset="-120"/>
              </a:rPr>
              <a:t>  detached — run in the background</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--name</a:t>
            </a:r>
            <a:pPr algn="l" indent="0" marL="0">
              <a:spcAft>
                <a:spcPts val="600"/>
              </a:spcAft>
              <a:buNone/>
            </a:pPr>
            <a:r>
              <a:rPr lang="en-US" sz="1100" dirty="0">
                <a:solidFill>
                  <a:srgbClr val="475569"/>
                </a:solidFill>
                <a:latin typeface="Calibri" pitchFamily="34" charset="0"/>
                <a:ea typeface="Calibri" pitchFamily="34" charset="-122"/>
                <a:cs typeface="Calibri" pitchFamily="34" charset="-120"/>
              </a:rPr>
              <a:t>  a stable name to reference it</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-p H:C</a:t>
            </a:r>
            <a:pPr algn="l" indent="0" marL="0">
              <a:spcAft>
                <a:spcPts val="600"/>
              </a:spcAft>
              <a:buNone/>
            </a:pPr>
            <a:r>
              <a:rPr lang="en-US" sz="1100" dirty="0">
                <a:solidFill>
                  <a:srgbClr val="475569"/>
                </a:solidFill>
                <a:latin typeface="Calibri" pitchFamily="34" charset="0"/>
                <a:ea typeface="Calibri" pitchFamily="34" charset="-122"/>
                <a:cs typeface="Calibri" pitchFamily="34" charset="-120"/>
              </a:rPr>
              <a:t>  publish host port → container port</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-e</a:t>
            </a:r>
            <a:pPr algn="l" indent="0" marL="0">
              <a:spcAft>
                <a:spcPts val="600"/>
              </a:spcAft>
              <a:buNone/>
            </a:pPr>
            <a:r>
              <a:rPr lang="en-US" sz="1100" dirty="0">
                <a:solidFill>
                  <a:srgbClr val="475569"/>
                </a:solidFill>
                <a:latin typeface="Calibri" pitchFamily="34" charset="0"/>
                <a:ea typeface="Calibri" pitchFamily="34" charset="-122"/>
                <a:cs typeface="Calibri" pitchFamily="34" charset="-120"/>
              </a:rPr>
              <a:t>  set an environment variable</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-v</a:t>
            </a:r>
            <a:pPr algn="l" indent="0" marL="0">
              <a:spcAft>
                <a:spcPts val="600"/>
              </a:spcAft>
              <a:buNone/>
            </a:pPr>
            <a:r>
              <a:rPr lang="en-US" sz="1100" dirty="0">
                <a:solidFill>
                  <a:srgbClr val="475569"/>
                </a:solidFill>
                <a:latin typeface="Calibri" pitchFamily="34" charset="0"/>
                <a:ea typeface="Calibri" pitchFamily="34" charset="-122"/>
                <a:cs typeface="Calibri" pitchFamily="34" charset="-120"/>
              </a:rPr>
              <a:t>  mount a volume for persistent data</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-it  /  --rm</a:t>
            </a:r>
            <a:pPr algn="l" indent="0" marL="0">
              <a:spcAft>
                <a:spcPts val="600"/>
              </a:spcAft>
              <a:buNone/>
            </a:pPr>
            <a:r>
              <a:rPr lang="en-US" sz="1100" dirty="0">
                <a:solidFill>
                  <a:srgbClr val="475569"/>
                </a:solidFill>
                <a:latin typeface="Calibri" pitchFamily="34" charset="0"/>
                <a:ea typeface="Calibri" pitchFamily="34" charset="-122"/>
                <a:cs typeface="Calibri" pitchFamily="34" charset="-120"/>
              </a:rPr>
              <a:t>  interactive shell / auto-remove on exit</a:t>
            </a:r>
            <a:endParaRPr lang="en-US" sz="1100" dirty="0"/>
          </a:p>
        </p:txBody>
      </p:sp>
      <p:sp>
        <p:nvSpPr>
          <p:cNvPr id="13" name="Shape 10"/>
          <p:cNvSpPr/>
          <p:nvPr/>
        </p:nvSpPr>
        <p:spPr>
          <a:xfrm>
            <a:off x="457200" y="3794760"/>
            <a:ext cx="8229600" cy="475488"/>
          </a:xfrm>
          <a:prstGeom prst="roundRect">
            <a:avLst>
              <a:gd name="adj" fmla="val 15385"/>
            </a:avLst>
          </a:prstGeom>
          <a:solidFill>
            <a:srgbClr val="0F766E"/>
          </a:solidFill>
          <a:ln/>
          <a:effectLst>
            <a:outerShdw sx="100000" sy="100000" kx="0" ky="0" algn="bl" rotWithShape="0" blurRad="76200" dist="25400" dir="2700000">
              <a:srgbClr val="475569">
                <a:alpha val="12000"/>
              </a:srgbClr>
            </a:outerShdw>
          </a:effectLst>
        </p:spPr>
      </p:sp>
      <p:sp>
        <p:nvSpPr>
          <p:cNvPr id="14" name="Text 11"/>
          <p:cNvSpPr/>
          <p:nvPr/>
        </p:nvSpPr>
        <p:spPr>
          <a:xfrm>
            <a:off x="640080" y="3794760"/>
            <a:ext cx="7863840" cy="475488"/>
          </a:xfrm>
          <a:prstGeom prst="rect">
            <a:avLst/>
          </a:prstGeom>
          <a:noFill/>
          <a:ln/>
        </p:spPr>
        <p:txBody>
          <a:bodyPr wrap="square" lIns="0" tIns="0" rIns="0" bIns="0" rtlCol="0" anchor="ctr"/>
          <a:lstStyle/>
          <a:p>
            <a:pPr algn="ctr" indent="0" marL="0">
              <a:buNone/>
            </a:pPr>
            <a:r>
              <a:rPr lang="en-US" sz="1250" b="1" i="1" dirty="0">
                <a:solidFill>
                  <a:srgbClr val="FFFFFF"/>
                </a:solidFill>
                <a:latin typeface="Calibri" pitchFamily="34" charset="0"/>
                <a:ea typeface="Calibri" pitchFamily="34" charset="-122"/>
                <a:cs typeface="Calibri" pitchFamily="34" charset="-120"/>
              </a:rPr>
              <a:t>docker run pulls the image if missing, creates a container, then starts it.</a:t>
            </a:r>
            <a:endParaRPr lang="en-US" sz="1250" dirty="0"/>
          </a:p>
        </p:txBody>
      </p:sp>
      <p:sp>
        <p:nvSpPr>
          <p:cNvPr id="15" name="Text 12"/>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16" name="Text 13"/>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Install &amp; Operate</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EXPOSING AN APPLICATION</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Publishing a container's port</a:t>
            </a:r>
            <a:endParaRPr lang="en-US" sz="2500" dirty="0"/>
          </a:p>
        </p:txBody>
      </p:sp>
      <p:sp>
        <p:nvSpPr>
          <p:cNvPr id="6" name="Text 3"/>
          <p:cNvSpPr/>
          <p:nvPr/>
        </p:nvSpPr>
        <p:spPr>
          <a:xfrm>
            <a:off x="502920" y="1371600"/>
            <a:ext cx="4023360" cy="2468880"/>
          </a:xfrm>
          <a:prstGeom prst="rect">
            <a:avLst/>
          </a:prstGeom>
          <a:noFill/>
          <a:ln/>
        </p:spPr>
        <p:txBody>
          <a:bodyPr wrap="square" lIns="0" tIns="0" rIns="0" bIns="0" rtlCol="0" anchor="t"/>
          <a:lstStyle/>
          <a:p>
            <a:pPr algn="l" marL="190500" indent="-190500">
              <a:buSzPct val="100000"/>
              <a:buChar char="•"/>
            </a:pPr>
            <a:r>
              <a:rPr lang="en-US" sz="1150" b="1" dirty="0">
                <a:solidFill>
                  <a:srgbClr val="0F172A"/>
                </a:solidFill>
                <a:latin typeface="Calibri" pitchFamily="34" charset="0"/>
                <a:ea typeface="Calibri" pitchFamily="34" charset="-122"/>
                <a:cs typeface="Calibri" pitchFamily="34" charset="-120"/>
              </a:rPr>
              <a:t>-p 8080:80</a:t>
            </a:r>
            <a:pPr algn="l" indent="0" marL="0">
              <a:spcAft>
                <a:spcPts val="800"/>
              </a:spcAft>
              <a:buNone/>
            </a:pPr>
            <a:r>
              <a:rPr lang="en-US" sz="1150" dirty="0">
                <a:solidFill>
                  <a:srgbClr val="475569"/>
                </a:solidFill>
                <a:latin typeface="Calibri" pitchFamily="34" charset="0"/>
                <a:ea typeface="Calibri" pitchFamily="34" charset="-122"/>
                <a:cs typeface="Calibri" pitchFamily="34" charset="-120"/>
              </a:rPr>
              <a:t>  maps host port 8080 → container port 80</a:t>
            </a:r>
            <a:endParaRPr lang="en-US" sz="1150" dirty="0"/>
          </a:p>
          <a:p>
            <a:pPr algn="l" marL="190500" indent="-190500">
              <a:buSzPct val="100000"/>
              <a:buChar char="•"/>
            </a:pPr>
            <a:r>
              <a:rPr lang="en-US" sz="1150" b="1" dirty="0">
                <a:solidFill>
                  <a:srgbClr val="0F172A"/>
                </a:solidFill>
                <a:latin typeface="Calibri" pitchFamily="34" charset="0"/>
                <a:ea typeface="Calibri" pitchFamily="34" charset="-122"/>
                <a:cs typeface="Calibri" pitchFamily="34" charset="-120"/>
              </a:rPr>
              <a:t>EXPOSE</a:t>
            </a:r>
            <a:pPr algn="l" indent="0" marL="0">
              <a:spcAft>
                <a:spcPts val="800"/>
              </a:spcAft>
              <a:buNone/>
            </a:pPr>
            <a:r>
              <a:rPr lang="en-US" sz="1150" dirty="0">
                <a:solidFill>
                  <a:srgbClr val="475569"/>
                </a:solidFill>
                <a:latin typeface="Calibri" pitchFamily="34" charset="0"/>
                <a:ea typeface="Calibri" pitchFamily="34" charset="-122"/>
                <a:cs typeface="Calibri" pitchFamily="34" charset="-120"/>
              </a:rPr>
              <a:t>  in a Dockerfile only documents a port — it does NOT publish</a:t>
            </a:r>
            <a:endParaRPr lang="en-US" sz="1150" dirty="0"/>
          </a:p>
          <a:p>
            <a:pPr algn="l" marL="190500" indent="-190500">
              <a:buSzPct val="100000"/>
              <a:buChar char="•"/>
            </a:pPr>
            <a:r>
              <a:rPr lang="en-US" sz="1150" b="1" dirty="0">
                <a:solidFill>
                  <a:srgbClr val="0F172A"/>
                </a:solidFill>
                <a:latin typeface="Calibri" pitchFamily="34" charset="0"/>
                <a:ea typeface="Calibri" pitchFamily="34" charset="-122"/>
                <a:cs typeface="Calibri" pitchFamily="34" charset="-120"/>
              </a:rPr>
              <a:t>-P</a:t>
            </a:r>
            <a:pPr algn="l" indent="0" marL="0">
              <a:spcAft>
                <a:spcPts val="800"/>
              </a:spcAft>
              <a:buNone/>
            </a:pPr>
            <a:r>
              <a:rPr lang="en-US" sz="1150" dirty="0">
                <a:solidFill>
                  <a:srgbClr val="475569"/>
                </a:solidFill>
                <a:latin typeface="Calibri" pitchFamily="34" charset="0"/>
                <a:ea typeface="Calibri" pitchFamily="34" charset="-122"/>
                <a:cs typeface="Calibri" pitchFamily="34" charset="-120"/>
              </a:rPr>
              <a:t>  publishes all exposed ports to random host ports</a:t>
            </a:r>
            <a:endParaRPr lang="en-US" sz="1150" dirty="0"/>
          </a:p>
          <a:p>
            <a:pPr algn="l" marL="190500" indent="-190500">
              <a:buSzPct val="100000"/>
              <a:buChar char="•"/>
            </a:pPr>
            <a:r>
              <a:rPr lang="en-US" sz="1150" b="1" dirty="0">
                <a:solidFill>
                  <a:srgbClr val="0F172A"/>
                </a:solidFill>
                <a:latin typeface="Calibri" pitchFamily="34" charset="0"/>
                <a:ea typeface="Calibri" pitchFamily="34" charset="-122"/>
                <a:cs typeface="Calibri" pitchFamily="34" charset="-120"/>
              </a:rPr>
              <a:t>127.0.0.1:8080:80</a:t>
            </a:r>
            <a:pPr algn="l" indent="0" marL="0">
              <a:spcAft>
                <a:spcPts val="800"/>
              </a:spcAft>
              <a:buNone/>
            </a:pPr>
            <a:r>
              <a:rPr lang="en-US" sz="1150" dirty="0">
                <a:solidFill>
                  <a:srgbClr val="475569"/>
                </a:solidFill>
                <a:latin typeface="Calibri" pitchFamily="34" charset="0"/>
                <a:ea typeface="Calibri" pitchFamily="34" charset="-122"/>
                <a:cs typeface="Calibri" pitchFamily="34" charset="-120"/>
              </a:rPr>
              <a:t>  bind to localhost to keep a port private</a:t>
            </a:r>
            <a:endParaRPr lang="en-US" sz="1150" dirty="0"/>
          </a:p>
          <a:p>
            <a:pPr algn="l" marL="190500" indent="-190500">
              <a:buSzPct val="100000"/>
              <a:buChar char="•"/>
            </a:pPr>
            <a:r>
              <a:rPr lang="en-US" sz="1150" b="1" dirty="0">
                <a:solidFill>
                  <a:srgbClr val="0F172A"/>
                </a:solidFill>
                <a:latin typeface="Calibri" pitchFamily="34" charset="0"/>
                <a:ea typeface="Calibri" pitchFamily="34" charset="-122"/>
                <a:cs typeface="Calibri" pitchFamily="34" charset="-120"/>
              </a:rPr>
              <a:t>docker port web</a:t>
            </a:r>
            <a:pPr algn="l" indent="0" marL="0">
              <a:spcAft>
                <a:spcPts val="800"/>
              </a:spcAft>
              <a:buNone/>
            </a:pPr>
            <a:r>
              <a:rPr lang="en-US" sz="1150" dirty="0">
                <a:solidFill>
                  <a:srgbClr val="475569"/>
                </a:solidFill>
                <a:latin typeface="Calibri" pitchFamily="34" charset="0"/>
                <a:ea typeface="Calibri" pitchFamily="34" charset="-122"/>
                <a:cs typeface="Calibri" pitchFamily="34" charset="-120"/>
              </a:rPr>
              <a:t>  lists the active mappings</a:t>
            </a:r>
            <a:endParaRPr lang="en-US" sz="1150" dirty="0"/>
          </a:p>
        </p:txBody>
      </p:sp>
      <p:sp>
        <p:nvSpPr>
          <p:cNvPr id="7" name="Shape 4"/>
          <p:cNvSpPr/>
          <p:nvPr/>
        </p:nvSpPr>
        <p:spPr>
          <a:xfrm>
            <a:off x="5212080" y="1371600"/>
            <a:ext cx="3200400" cy="658368"/>
          </a:xfrm>
          <a:prstGeom prst="roundRect">
            <a:avLst>
              <a:gd name="adj" fmla="val 11111"/>
            </a:avLst>
          </a:prstGeom>
          <a:solidFill>
            <a:srgbClr val="FFFFFF"/>
          </a:solidFill>
          <a:ln w="12700">
            <a:solidFill>
              <a:srgbClr val="E2E8F0"/>
            </a:solidFill>
            <a:prstDash val="solid"/>
          </a:ln>
          <a:effectLst>
            <a:outerShdw sx="100000" sy="100000" kx="0" ky="0" algn="bl" rotWithShape="0" blurRad="63500" dist="25400" dir="2700000">
              <a:srgbClr val="475569">
                <a:alpha val="10000"/>
              </a:srgbClr>
            </a:outerShdw>
          </a:effectLst>
        </p:spPr>
      </p:sp>
      <p:sp>
        <p:nvSpPr>
          <p:cNvPr id="8" name="Text 5"/>
          <p:cNvSpPr/>
          <p:nvPr/>
        </p:nvSpPr>
        <p:spPr>
          <a:xfrm>
            <a:off x="5212080" y="1371600"/>
            <a:ext cx="3200400" cy="658368"/>
          </a:xfrm>
          <a:prstGeom prst="rect">
            <a:avLst/>
          </a:prstGeom>
          <a:noFill/>
          <a:ln/>
        </p:spPr>
        <p:txBody>
          <a:bodyPr wrap="square" lIns="0" tIns="0" rIns="0" bIns="0" rtlCol="0" anchor="ctr"/>
          <a:lstStyle/>
          <a:p>
            <a:pPr algn="ctr" indent="0" marL="0">
              <a:lnSpc>
                <a:spcPts val="1300"/>
              </a:lnSpc>
              <a:buNone/>
            </a:pPr>
            <a:r>
              <a:rPr lang="en-US" sz="1200" b="1" dirty="0">
                <a:solidFill>
                  <a:srgbClr val="0F172A"/>
                </a:solidFill>
                <a:latin typeface="Calibri" pitchFamily="34" charset="0"/>
                <a:ea typeface="Calibri" pitchFamily="34" charset="-122"/>
                <a:cs typeface="Calibri" pitchFamily="34" charset="-120"/>
              </a:rPr>
              <a:t>Client</a:t>
            </a:r>
            <a:endParaRPr lang="en-US" sz="1200" dirty="0"/>
          </a:p>
          <a:p>
            <a:pPr algn="ctr" indent="0" marL="0">
              <a:lnSpc>
                <a:spcPts val="1300"/>
              </a:lnSpc>
              <a:buNone/>
            </a:pPr>
            <a:r>
              <a:rPr lang="en-US" sz="950" dirty="0">
                <a:solidFill>
                  <a:srgbClr val="0F172A"/>
                </a:solidFill>
                <a:latin typeface="Calibri" pitchFamily="34" charset="0"/>
                <a:ea typeface="Calibri" pitchFamily="34" charset="-122"/>
                <a:cs typeface="Calibri" pitchFamily="34" charset="-120"/>
              </a:rPr>
              <a:t>http://host:8080</a:t>
            </a:r>
            <a:endParaRPr lang="en-US" sz="1200" dirty="0"/>
          </a:p>
        </p:txBody>
      </p:sp>
      <p:sp>
        <p:nvSpPr>
          <p:cNvPr id="9" name="Shape 6"/>
          <p:cNvSpPr/>
          <p:nvPr/>
        </p:nvSpPr>
        <p:spPr>
          <a:xfrm>
            <a:off x="5212080" y="2331720"/>
            <a:ext cx="3200400" cy="658368"/>
          </a:xfrm>
          <a:prstGeom prst="roundRect">
            <a:avLst>
              <a:gd name="adj" fmla="val 11111"/>
            </a:avLst>
          </a:prstGeom>
          <a:solidFill>
            <a:srgbClr val="EAF4FD"/>
          </a:solidFill>
          <a:ln w="12700">
            <a:solidFill>
              <a:srgbClr val="BBDDF7"/>
            </a:solidFill>
            <a:prstDash val="solid"/>
          </a:ln>
          <a:effectLst>
            <a:outerShdw sx="100000" sy="100000" kx="0" ky="0" algn="bl" rotWithShape="0" blurRad="63500" dist="25400" dir="2700000">
              <a:srgbClr val="475569">
                <a:alpha val="10000"/>
              </a:srgbClr>
            </a:outerShdw>
          </a:effectLst>
        </p:spPr>
      </p:sp>
      <p:sp>
        <p:nvSpPr>
          <p:cNvPr id="10" name="Text 7"/>
          <p:cNvSpPr/>
          <p:nvPr/>
        </p:nvSpPr>
        <p:spPr>
          <a:xfrm>
            <a:off x="5212080" y="2331720"/>
            <a:ext cx="3200400" cy="658368"/>
          </a:xfrm>
          <a:prstGeom prst="rect">
            <a:avLst/>
          </a:prstGeom>
          <a:noFill/>
          <a:ln/>
        </p:spPr>
        <p:txBody>
          <a:bodyPr wrap="square" lIns="0" tIns="0" rIns="0" bIns="0" rtlCol="0" anchor="ctr"/>
          <a:lstStyle/>
          <a:p>
            <a:pPr algn="ctr" indent="0" marL="0">
              <a:lnSpc>
                <a:spcPts val="1300"/>
              </a:lnSpc>
              <a:buNone/>
            </a:pPr>
            <a:r>
              <a:rPr lang="en-US" sz="1200" b="1" dirty="0">
                <a:solidFill>
                  <a:srgbClr val="2496ED"/>
                </a:solidFill>
                <a:latin typeface="Calibri" pitchFamily="34" charset="0"/>
                <a:ea typeface="Calibri" pitchFamily="34" charset="-122"/>
                <a:cs typeface="Calibri" pitchFamily="34" charset="-120"/>
              </a:rPr>
              <a:t>Host</a:t>
            </a:r>
            <a:endParaRPr lang="en-US" sz="1200" dirty="0"/>
          </a:p>
          <a:p>
            <a:pPr algn="ctr" indent="0" marL="0">
              <a:lnSpc>
                <a:spcPts val="1300"/>
              </a:lnSpc>
              <a:buNone/>
            </a:pPr>
            <a:r>
              <a:rPr lang="en-US" sz="950" dirty="0">
                <a:solidFill>
                  <a:srgbClr val="2496ED"/>
                </a:solidFill>
                <a:latin typeface="Calibri" pitchFamily="34" charset="0"/>
                <a:ea typeface="Calibri" pitchFamily="34" charset="-122"/>
                <a:cs typeface="Calibri" pitchFamily="34" charset="-120"/>
              </a:rPr>
              <a:t>:8080</a:t>
            </a:r>
            <a:endParaRPr lang="en-US" sz="1200" dirty="0"/>
          </a:p>
        </p:txBody>
      </p:sp>
      <p:sp>
        <p:nvSpPr>
          <p:cNvPr id="11" name="Shape 8"/>
          <p:cNvSpPr/>
          <p:nvPr/>
        </p:nvSpPr>
        <p:spPr>
          <a:xfrm>
            <a:off x="5212080" y="3291840"/>
            <a:ext cx="3200400" cy="658368"/>
          </a:xfrm>
          <a:prstGeom prst="roundRect">
            <a:avLst>
              <a:gd name="adj" fmla="val 11111"/>
            </a:avLst>
          </a:prstGeom>
          <a:solidFill>
            <a:srgbClr val="0D9488"/>
          </a:solidFill>
          <a:ln w="12700">
            <a:solidFill>
              <a:srgbClr val="0D9488"/>
            </a:solidFill>
            <a:prstDash val="solid"/>
          </a:ln>
          <a:effectLst>
            <a:outerShdw sx="100000" sy="100000" kx="0" ky="0" algn="bl" rotWithShape="0" blurRad="63500" dist="25400" dir="2700000">
              <a:srgbClr val="475569">
                <a:alpha val="10000"/>
              </a:srgbClr>
            </a:outerShdw>
          </a:effectLst>
        </p:spPr>
      </p:sp>
      <p:sp>
        <p:nvSpPr>
          <p:cNvPr id="12" name="Text 9"/>
          <p:cNvSpPr/>
          <p:nvPr/>
        </p:nvSpPr>
        <p:spPr>
          <a:xfrm>
            <a:off x="5212080" y="3291840"/>
            <a:ext cx="3200400" cy="658368"/>
          </a:xfrm>
          <a:prstGeom prst="rect">
            <a:avLst/>
          </a:prstGeom>
          <a:noFill/>
          <a:ln/>
        </p:spPr>
        <p:txBody>
          <a:bodyPr wrap="square" lIns="0" tIns="0" rIns="0" bIns="0" rtlCol="0" anchor="ctr"/>
          <a:lstStyle/>
          <a:p>
            <a:pPr algn="ctr" indent="0" marL="0">
              <a:lnSpc>
                <a:spcPts val="1300"/>
              </a:lnSpc>
              <a:buNone/>
            </a:pPr>
            <a:r>
              <a:rPr lang="en-US" sz="1200" b="1" dirty="0">
                <a:solidFill>
                  <a:srgbClr val="FFFFFF"/>
                </a:solidFill>
                <a:latin typeface="Calibri" pitchFamily="34" charset="0"/>
                <a:ea typeface="Calibri" pitchFamily="34" charset="-122"/>
                <a:cs typeface="Calibri" pitchFamily="34" charset="-120"/>
              </a:rPr>
              <a:t>Container</a:t>
            </a:r>
            <a:endParaRPr lang="en-US" sz="1200" dirty="0"/>
          </a:p>
          <a:p>
            <a:pPr algn="ctr" indent="0" marL="0">
              <a:lnSpc>
                <a:spcPts val="1300"/>
              </a:lnSpc>
              <a:buNone/>
            </a:pPr>
            <a:r>
              <a:rPr lang="en-US" sz="950" dirty="0">
                <a:solidFill>
                  <a:srgbClr val="FFFFFF"/>
                </a:solidFill>
                <a:latin typeface="Calibri" pitchFamily="34" charset="0"/>
                <a:ea typeface="Calibri" pitchFamily="34" charset="-122"/>
                <a:cs typeface="Calibri" pitchFamily="34" charset="-120"/>
              </a:rPr>
              <a:t>:80   (nginx)</a:t>
            </a:r>
            <a:endParaRPr lang="en-US" sz="1200" dirty="0"/>
          </a:p>
        </p:txBody>
      </p:sp>
      <p:sp>
        <p:nvSpPr>
          <p:cNvPr id="13" name="Shape 10"/>
          <p:cNvSpPr/>
          <p:nvPr/>
        </p:nvSpPr>
        <p:spPr>
          <a:xfrm>
            <a:off x="6812280" y="2029968"/>
            <a:ext cx="0" cy="301752"/>
          </a:xfrm>
          <a:prstGeom prst="line">
            <a:avLst/>
          </a:prstGeom>
          <a:noFill/>
          <a:ln w="25400">
            <a:solidFill>
              <a:srgbClr val="64748B"/>
            </a:solidFill>
            <a:prstDash val="solid"/>
            <a:tailEnd type="triangle"/>
          </a:ln>
        </p:spPr>
      </p:sp>
      <p:sp>
        <p:nvSpPr>
          <p:cNvPr id="14" name="Shape 11"/>
          <p:cNvSpPr/>
          <p:nvPr/>
        </p:nvSpPr>
        <p:spPr>
          <a:xfrm>
            <a:off x="6812280" y="2990088"/>
            <a:ext cx="0" cy="301752"/>
          </a:xfrm>
          <a:prstGeom prst="line">
            <a:avLst/>
          </a:prstGeom>
          <a:noFill/>
          <a:ln w="25400">
            <a:solidFill>
              <a:srgbClr val="64748B"/>
            </a:solidFill>
            <a:prstDash val="solid"/>
            <a:tailEnd type="triangle"/>
          </a:ln>
        </p:spPr>
      </p:sp>
      <p:sp>
        <p:nvSpPr>
          <p:cNvPr id="15" name="Text 12"/>
          <p:cNvSpPr/>
          <p:nvPr/>
        </p:nvSpPr>
        <p:spPr>
          <a:xfrm>
            <a:off x="6949440" y="3017520"/>
            <a:ext cx="1371600" cy="201168"/>
          </a:xfrm>
          <a:prstGeom prst="rect">
            <a:avLst/>
          </a:prstGeom>
          <a:noFill/>
          <a:ln/>
        </p:spPr>
        <p:txBody>
          <a:bodyPr wrap="square" lIns="0" tIns="0" rIns="0" bIns="0" rtlCol="0" anchor="ctr"/>
          <a:lstStyle/>
          <a:p>
            <a:pPr indent="0" marL="0">
              <a:buNone/>
            </a:pPr>
            <a:r>
              <a:rPr lang="en-US" sz="900" dirty="0">
                <a:solidFill>
                  <a:srgbClr val="0F766E"/>
                </a:solidFill>
                <a:latin typeface="Courier New" pitchFamily="34" charset="0"/>
                <a:ea typeface="Courier New" pitchFamily="34" charset="-122"/>
                <a:cs typeface="Courier New" pitchFamily="34" charset="-120"/>
              </a:rPr>
              <a:t>-p 8080:80</a:t>
            </a:r>
            <a:endParaRPr lang="en-US" sz="900" dirty="0"/>
          </a:p>
        </p:txBody>
      </p:sp>
      <p:sp>
        <p:nvSpPr>
          <p:cNvPr id="16" name="Shape 13"/>
          <p:cNvSpPr/>
          <p:nvPr/>
        </p:nvSpPr>
        <p:spPr>
          <a:xfrm>
            <a:off x="457200" y="4114800"/>
            <a:ext cx="8229600" cy="475488"/>
          </a:xfrm>
          <a:prstGeom prst="roundRect">
            <a:avLst>
              <a:gd name="adj" fmla="val 15385"/>
            </a:avLst>
          </a:prstGeom>
          <a:solidFill>
            <a:srgbClr val="0F172A"/>
          </a:solidFill>
          <a:ln/>
          <a:effectLst>
            <a:outerShdw sx="100000" sy="100000" kx="0" ky="0" algn="bl" rotWithShape="0" blurRad="76200" dist="25400" dir="2700000">
              <a:srgbClr val="475569">
                <a:alpha val="12000"/>
              </a:srgbClr>
            </a:outerShdw>
          </a:effectLst>
        </p:spPr>
      </p:sp>
      <p:sp>
        <p:nvSpPr>
          <p:cNvPr id="17" name="Text 14"/>
          <p:cNvSpPr/>
          <p:nvPr/>
        </p:nvSpPr>
        <p:spPr>
          <a:xfrm>
            <a:off x="640080" y="4114800"/>
            <a:ext cx="7863840" cy="475488"/>
          </a:xfrm>
          <a:prstGeom prst="rect">
            <a:avLst/>
          </a:prstGeom>
          <a:noFill/>
          <a:ln/>
        </p:spPr>
        <p:txBody>
          <a:bodyPr wrap="square" lIns="0" tIns="0" rIns="0" bIns="0" rtlCol="0" anchor="ctr"/>
          <a:lstStyle/>
          <a:p>
            <a:pPr algn="ctr" indent="0" marL="0">
              <a:buNone/>
            </a:pPr>
            <a:r>
              <a:rPr lang="en-US" sz="1250" b="1" i="1" dirty="0">
                <a:solidFill>
                  <a:srgbClr val="FFFFFF"/>
                </a:solidFill>
                <a:latin typeface="Calibri" pitchFamily="34" charset="0"/>
                <a:ea typeface="Calibri" pitchFamily="34" charset="-122"/>
                <a:cs typeface="Calibri" pitchFamily="34" charset="-120"/>
              </a:rPr>
              <a:t>$ docker run -d -p 8080:80 nginx   →   curl localhost:8080 returns the nginx welcome page</a:t>
            </a:r>
            <a:endParaRPr lang="en-US" sz="1250" dirty="0"/>
          </a:p>
        </p:txBody>
      </p:sp>
      <p:sp>
        <p:nvSpPr>
          <p:cNvPr id="18" name="Text 15"/>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19" name="Text 16"/>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Install &amp; Operate</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OBSERVE &amp; TIDY UP</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Inspecting and cleaning up</a:t>
            </a:r>
            <a:endParaRPr lang="en-US" sz="2500" dirty="0"/>
          </a:p>
        </p:txBody>
      </p:sp>
      <p:sp>
        <p:nvSpPr>
          <p:cNvPr id="6" name="Shape 3"/>
          <p:cNvSpPr/>
          <p:nvPr/>
        </p:nvSpPr>
        <p:spPr>
          <a:xfrm>
            <a:off x="457200" y="1234440"/>
            <a:ext cx="4754880" cy="2834640"/>
          </a:xfrm>
          <a:prstGeom prst="roundRect">
            <a:avLst>
              <a:gd name="adj" fmla="val 2258"/>
            </a:avLst>
          </a:prstGeom>
          <a:solidFill>
            <a:srgbClr val="1E293B"/>
          </a:solidFill>
          <a:ln w="12700">
            <a:solidFill>
              <a:srgbClr val="334155"/>
            </a:solidFill>
            <a:prstDash val="solid"/>
          </a:ln>
          <a:effectLst>
            <a:outerShdw sx="100000" sy="100000" kx="0" ky="0" algn="bl" rotWithShape="0" blurRad="114300" dist="38100" dir="2700000">
              <a:srgbClr val="475569">
                <a:alpha val="24000"/>
              </a:srgbClr>
            </a:outerShdw>
          </a:effectLst>
        </p:spPr>
      </p:sp>
      <p:sp>
        <p:nvSpPr>
          <p:cNvPr id="7" name="Shape 4"/>
          <p:cNvSpPr/>
          <p:nvPr/>
        </p:nvSpPr>
        <p:spPr>
          <a:xfrm>
            <a:off x="658368" y="1417320"/>
            <a:ext cx="91440" cy="91440"/>
          </a:xfrm>
          <a:prstGeom prst="ellipse">
            <a:avLst/>
          </a:prstGeom>
          <a:solidFill>
            <a:srgbClr val="EF4444"/>
          </a:solidFill>
          <a:ln/>
        </p:spPr>
      </p:sp>
      <p:sp>
        <p:nvSpPr>
          <p:cNvPr id="8" name="Shape 5"/>
          <p:cNvSpPr/>
          <p:nvPr/>
        </p:nvSpPr>
        <p:spPr>
          <a:xfrm>
            <a:off x="804672" y="1417320"/>
            <a:ext cx="91440" cy="91440"/>
          </a:xfrm>
          <a:prstGeom prst="ellipse">
            <a:avLst/>
          </a:prstGeom>
          <a:solidFill>
            <a:srgbClr val="F59E0B"/>
          </a:solidFill>
          <a:ln/>
        </p:spPr>
      </p:sp>
      <p:sp>
        <p:nvSpPr>
          <p:cNvPr id="9" name="Shape 6"/>
          <p:cNvSpPr/>
          <p:nvPr/>
        </p:nvSpPr>
        <p:spPr>
          <a:xfrm>
            <a:off x="950976" y="1417320"/>
            <a:ext cx="91440" cy="91440"/>
          </a:xfrm>
          <a:prstGeom prst="ellipse">
            <a:avLst/>
          </a:prstGeom>
          <a:solidFill>
            <a:srgbClr val="22C55E"/>
          </a:solidFill>
          <a:ln/>
        </p:spPr>
      </p:sp>
      <p:sp>
        <p:nvSpPr>
          <p:cNvPr id="10" name="Text 7"/>
          <p:cNvSpPr/>
          <p:nvPr/>
        </p:nvSpPr>
        <p:spPr>
          <a:xfrm>
            <a:off x="1170432" y="1353312"/>
            <a:ext cx="3840480" cy="20116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inspect &amp; clean</a:t>
            </a:r>
            <a:endParaRPr lang="en-US" sz="900" dirty="0"/>
          </a:p>
        </p:txBody>
      </p:sp>
      <p:sp>
        <p:nvSpPr>
          <p:cNvPr id="11" name="Text 8"/>
          <p:cNvSpPr/>
          <p:nvPr/>
        </p:nvSpPr>
        <p:spPr>
          <a:xfrm>
            <a:off x="676656" y="1673352"/>
            <a:ext cx="4315968" cy="2286000"/>
          </a:xfrm>
          <a:prstGeom prst="rect">
            <a:avLst/>
          </a:prstGeom>
          <a:noFill/>
          <a:ln/>
        </p:spPr>
        <p:txBody>
          <a:bodyPr wrap="square" lIns="0" tIns="0" rIns="0" bIns="0" rtlCol="0" anchor="t"/>
          <a:lstStyle/>
          <a:p>
            <a:pPr algn="l" indent="0" marL="0">
              <a:lnSpc>
                <a:spcPts val="1156"/>
              </a:lnSpc>
              <a:buNone/>
            </a:pPr>
            <a:r>
              <a:rPr lang="en-US" sz="980" b="1" dirty="0">
                <a:solidFill>
                  <a:srgbClr val="0D9488"/>
                </a:solidFill>
                <a:latin typeface="Courier New" pitchFamily="34" charset="0"/>
                <a:ea typeface="Courier New" pitchFamily="34" charset="-122"/>
                <a:cs typeface="Courier New" pitchFamily="34" charset="-120"/>
              </a:rPr>
              <a:t>$ </a:t>
            </a:r>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docker ps</a:t>
            </a:r>
            <a:endParaRPr lang="en-US" sz="980" dirty="0"/>
          </a:p>
          <a:p>
            <a:pPr algn="l" indent="0" marL="0">
              <a:lnSpc>
                <a:spcPts val="1156"/>
              </a:lnSpc>
              <a:buNone/>
            </a:pPr>
            <a:r>
              <a:rPr lang="en-US" sz="980" b="1" dirty="0">
                <a:solidFill>
                  <a:srgbClr val="0D9488"/>
                </a:solidFill>
                <a:latin typeface="Courier New" pitchFamily="34" charset="0"/>
                <a:ea typeface="Courier New" pitchFamily="34" charset="-122"/>
                <a:cs typeface="Courier New" pitchFamily="34" charset="-120"/>
              </a:rPr>
              <a:t>$ </a:t>
            </a:r>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docker ps -a</a:t>
            </a:r>
            <a:pPr algn="l" indent="0" marL="0">
              <a:lnSpc>
                <a:spcPts val="1156"/>
              </a:lnSpc>
              <a:buNone/>
            </a:pPr>
            <a:r>
              <a:rPr lang="en-US" sz="980" dirty="0">
                <a:solidFill>
                  <a:srgbClr val="94A3B8"/>
                </a:solidFill>
                <a:latin typeface="Courier New" pitchFamily="34" charset="0"/>
                <a:ea typeface="Courier New" pitchFamily="34" charset="-122"/>
                <a:cs typeface="Courier New" pitchFamily="34" charset="-120"/>
              </a:rPr>
              <a:t>  # include stopped</a:t>
            </a:r>
            <a:endParaRPr lang="en-US" sz="980" dirty="0"/>
          </a:p>
          <a:p>
            <a:pPr algn="l" indent="0" marL="0">
              <a:lnSpc>
                <a:spcPts val="1156"/>
              </a:lnSpc>
              <a:buNone/>
            </a:pPr>
            <a:r>
              <a:rPr lang="en-US" sz="980" b="1" dirty="0">
                <a:solidFill>
                  <a:srgbClr val="0D9488"/>
                </a:solidFill>
                <a:latin typeface="Courier New" pitchFamily="34" charset="0"/>
                <a:ea typeface="Courier New" pitchFamily="34" charset="-122"/>
                <a:cs typeface="Courier New" pitchFamily="34" charset="-120"/>
              </a:rPr>
              <a:t>$ </a:t>
            </a:r>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docker logs -f web</a:t>
            </a:r>
            <a:endParaRPr lang="en-US" sz="980" dirty="0"/>
          </a:p>
          <a:p>
            <a:pPr algn="l" indent="0" marL="0">
              <a:lnSpc>
                <a:spcPts val="1156"/>
              </a:lnSpc>
              <a:buNone/>
            </a:pPr>
            <a:r>
              <a:rPr lang="en-US" sz="980" b="1" dirty="0">
                <a:solidFill>
                  <a:srgbClr val="0D9488"/>
                </a:solidFill>
                <a:latin typeface="Courier New" pitchFamily="34" charset="0"/>
                <a:ea typeface="Courier New" pitchFamily="34" charset="-122"/>
                <a:cs typeface="Courier New" pitchFamily="34" charset="-120"/>
              </a:rPr>
              <a:t>$ </a:t>
            </a:r>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docker exec -it web bash</a:t>
            </a:r>
            <a:endParaRPr lang="en-US" sz="980" dirty="0"/>
          </a:p>
          <a:p>
            <a:pPr algn="l" indent="0" marL="0">
              <a:lnSpc>
                <a:spcPts val="1156"/>
              </a:lnSpc>
              <a:buNone/>
            </a:pPr>
            <a:r>
              <a:rPr lang="en-US" sz="980" b="1" dirty="0">
                <a:solidFill>
                  <a:srgbClr val="0D9488"/>
                </a:solidFill>
                <a:latin typeface="Courier New" pitchFamily="34" charset="0"/>
                <a:ea typeface="Courier New" pitchFamily="34" charset="-122"/>
                <a:cs typeface="Courier New" pitchFamily="34" charset="-120"/>
              </a:rPr>
              <a:t>$ </a:t>
            </a:r>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docker stats</a:t>
            </a:r>
            <a:endParaRPr lang="en-US" sz="980" dirty="0"/>
          </a:p>
          <a:p>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 </a:t>
            </a:r>
            <a:endParaRPr lang="en-US" sz="980" dirty="0"/>
          </a:p>
          <a:p>
            <a:pPr algn="l" indent="0" marL="0">
              <a:lnSpc>
                <a:spcPts val="1156"/>
              </a:lnSpc>
              <a:buNone/>
            </a:pPr>
            <a:r>
              <a:rPr lang="en-US" sz="980" dirty="0">
                <a:solidFill>
                  <a:srgbClr val="94A3B8"/>
                </a:solidFill>
                <a:latin typeface="Courier New" pitchFamily="34" charset="0"/>
                <a:ea typeface="Courier New" pitchFamily="34" charset="-122"/>
                <a:cs typeface="Courier New" pitchFamily="34" charset="-120"/>
              </a:rPr>
              <a:t># cleanup</a:t>
            </a:r>
            <a:endParaRPr lang="en-US" sz="980" dirty="0"/>
          </a:p>
          <a:p>
            <a:pPr algn="l" indent="0" marL="0">
              <a:lnSpc>
                <a:spcPts val="1156"/>
              </a:lnSpc>
              <a:buNone/>
            </a:pPr>
            <a:r>
              <a:rPr lang="en-US" sz="980" b="1" dirty="0">
                <a:solidFill>
                  <a:srgbClr val="0D9488"/>
                </a:solidFill>
                <a:latin typeface="Courier New" pitchFamily="34" charset="0"/>
                <a:ea typeface="Courier New" pitchFamily="34" charset="-122"/>
                <a:cs typeface="Courier New" pitchFamily="34" charset="-120"/>
              </a:rPr>
              <a:t>$ </a:t>
            </a:r>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docker stop web &amp;&amp; docker rm web</a:t>
            </a:r>
            <a:endParaRPr lang="en-US" sz="980" dirty="0"/>
          </a:p>
          <a:p>
            <a:pPr algn="l" indent="0" marL="0">
              <a:lnSpc>
                <a:spcPts val="1156"/>
              </a:lnSpc>
              <a:buNone/>
            </a:pPr>
            <a:r>
              <a:rPr lang="en-US" sz="980" b="1" dirty="0">
                <a:solidFill>
                  <a:srgbClr val="0D9488"/>
                </a:solidFill>
                <a:latin typeface="Courier New" pitchFamily="34" charset="0"/>
                <a:ea typeface="Courier New" pitchFamily="34" charset="-122"/>
                <a:cs typeface="Courier New" pitchFamily="34" charset="-120"/>
              </a:rPr>
              <a:t>$ </a:t>
            </a:r>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docker rmi nginx:1.27</a:t>
            </a:r>
            <a:endParaRPr lang="en-US" sz="980" dirty="0"/>
          </a:p>
          <a:p>
            <a:pPr algn="l" indent="0" marL="0">
              <a:lnSpc>
                <a:spcPts val="1156"/>
              </a:lnSpc>
              <a:buNone/>
            </a:pPr>
            <a:r>
              <a:rPr lang="en-US" sz="980" b="1" dirty="0">
                <a:solidFill>
                  <a:srgbClr val="0D9488"/>
                </a:solidFill>
                <a:latin typeface="Courier New" pitchFamily="34" charset="0"/>
                <a:ea typeface="Courier New" pitchFamily="34" charset="-122"/>
                <a:cs typeface="Courier New" pitchFamily="34" charset="-120"/>
              </a:rPr>
              <a:t>$ </a:t>
            </a:r>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docker system prune -a</a:t>
            </a:r>
            <a:pPr algn="l" indent="0" marL="0">
              <a:lnSpc>
                <a:spcPts val="1156"/>
              </a:lnSpc>
              <a:buNone/>
            </a:pPr>
            <a:r>
              <a:rPr lang="en-US" sz="980" dirty="0">
                <a:solidFill>
                  <a:srgbClr val="94A3B8"/>
                </a:solidFill>
                <a:latin typeface="Courier New" pitchFamily="34" charset="0"/>
                <a:ea typeface="Courier New" pitchFamily="34" charset="-122"/>
                <a:cs typeface="Courier New" pitchFamily="34" charset="-120"/>
              </a:rPr>
              <a:t>  # reclaim all unused</a:t>
            </a:r>
            <a:endParaRPr lang="en-US" sz="980" dirty="0"/>
          </a:p>
          <a:p>
            <a:pPr algn="l" indent="0" marL="0">
              <a:lnSpc>
                <a:spcPts val="1156"/>
              </a:lnSpc>
              <a:buNone/>
            </a:pPr>
            <a:r>
              <a:rPr lang="en-US" sz="980" dirty="0">
                <a:solidFill>
                  <a:srgbClr val="34D399"/>
                </a:solidFill>
                <a:latin typeface="Courier New" pitchFamily="34" charset="0"/>
                <a:ea typeface="Courier New" pitchFamily="34" charset="-122"/>
                <a:cs typeface="Courier New" pitchFamily="34" charset="-120"/>
              </a:rPr>
              <a:t>Total reclaimed space: 2.4GB</a:t>
            </a:r>
            <a:endParaRPr lang="en-US" sz="980" dirty="0"/>
          </a:p>
        </p:txBody>
      </p:sp>
      <p:sp>
        <p:nvSpPr>
          <p:cNvPr id="12" name="Text 9"/>
          <p:cNvSpPr/>
          <p:nvPr/>
        </p:nvSpPr>
        <p:spPr>
          <a:xfrm>
            <a:off x="5394960" y="1325880"/>
            <a:ext cx="3291840" cy="2743200"/>
          </a:xfrm>
          <a:prstGeom prst="rect">
            <a:avLst/>
          </a:prstGeom>
          <a:noFill/>
          <a:ln/>
        </p:spPr>
        <p:txBody>
          <a:bodyPr wrap="square" lIns="0" tIns="0" rIns="0" bIns="0" rtlCol="0" anchor="t"/>
          <a:lstStyle/>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ps -a</a:t>
            </a:r>
            <a:pPr algn="l" indent="0" marL="0">
              <a:spcAft>
                <a:spcPts val="900"/>
              </a:spcAft>
              <a:buNone/>
            </a:pPr>
            <a:r>
              <a:rPr lang="en-US" sz="1100" dirty="0">
                <a:solidFill>
                  <a:srgbClr val="475569"/>
                </a:solidFill>
                <a:latin typeface="Calibri" pitchFamily="34" charset="0"/>
                <a:ea typeface="Calibri" pitchFamily="34" charset="-122"/>
                <a:cs typeface="Calibri" pitchFamily="34" charset="-120"/>
              </a:rPr>
              <a:t>  stopped containers still take disk space</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logs -f</a:t>
            </a:r>
            <a:pPr algn="l" indent="0" marL="0">
              <a:spcAft>
                <a:spcPts val="900"/>
              </a:spcAft>
              <a:buNone/>
            </a:pPr>
            <a:r>
              <a:rPr lang="en-US" sz="1100" dirty="0">
                <a:solidFill>
                  <a:srgbClr val="475569"/>
                </a:solidFill>
                <a:latin typeface="Calibri" pitchFamily="34" charset="0"/>
                <a:ea typeface="Calibri" pitchFamily="34" charset="-122"/>
                <a:cs typeface="Calibri" pitchFamily="34" charset="-120"/>
              </a:rPr>
              <a:t>  stream stdout/stderr live</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exec -it</a:t>
            </a:r>
            <a:pPr algn="l" indent="0" marL="0">
              <a:spcAft>
                <a:spcPts val="900"/>
              </a:spcAft>
              <a:buNone/>
            </a:pPr>
            <a:r>
              <a:rPr lang="en-US" sz="1100" dirty="0">
                <a:solidFill>
                  <a:srgbClr val="475569"/>
                </a:solidFill>
                <a:latin typeface="Calibri" pitchFamily="34" charset="0"/>
                <a:ea typeface="Calibri" pitchFamily="34" charset="-122"/>
                <a:cs typeface="Calibri" pitchFamily="34" charset="-120"/>
              </a:rPr>
              <a:t>  open a shell inside a running container</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Dangling images</a:t>
            </a:r>
            <a:pPr algn="l" indent="0" marL="0">
              <a:spcAft>
                <a:spcPts val="900"/>
              </a:spcAft>
              <a:buNone/>
            </a:pPr>
            <a:r>
              <a:rPr lang="en-US" sz="1100" dirty="0">
                <a:solidFill>
                  <a:srgbClr val="475569"/>
                </a:solidFill>
                <a:latin typeface="Calibri" pitchFamily="34" charset="0"/>
                <a:ea typeface="Calibri" pitchFamily="34" charset="-122"/>
                <a:cs typeface="Calibri" pitchFamily="34" charset="-120"/>
              </a:rPr>
              <a:t>  untagged &lt;none&gt; layers — prune them</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prune is destructive</a:t>
            </a:r>
            <a:pPr algn="l" indent="0" marL="0">
              <a:spcAft>
                <a:spcPts val="900"/>
              </a:spcAft>
              <a:buNone/>
            </a:pPr>
            <a:r>
              <a:rPr lang="en-US" sz="1100" dirty="0">
                <a:solidFill>
                  <a:srgbClr val="475569"/>
                </a:solidFill>
                <a:latin typeface="Calibri" pitchFamily="34" charset="0"/>
                <a:ea typeface="Calibri" pitchFamily="34" charset="-122"/>
                <a:cs typeface="Calibri" pitchFamily="34" charset="-120"/>
              </a:rPr>
              <a:t>  -a removes unused images too; be deliberate</a:t>
            </a:r>
            <a:endParaRPr lang="en-US" sz="1100" dirty="0"/>
          </a:p>
        </p:txBody>
      </p:sp>
      <p:sp>
        <p:nvSpPr>
          <p:cNvPr id="13" name="Text 10"/>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14" name="Text 11"/>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Install &amp; Operate</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6126480" y="576072"/>
            <a:ext cx="365760" cy="347472"/>
          </a:xfrm>
          <a:prstGeom prst="roundRect">
            <a:avLst>
              <a:gd name="adj" fmla="val 10526"/>
            </a:avLst>
          </a:prstGeom>
          <a:solidFill>
            <a:srgbClr val="2496ED">
              <a:alpha val="72000"/>
            </a:srgbClr>
          </a:solidFill>
          <a:ln/>
        </p:spPr>
      </p:sp>
      <p:sp>
        <p:nvSpPr>
          <p:cNvPr id="3" name="Shape 1"/>
          <p:cNvSpPr/>
          <p:nvPr/>
        </p:nvSpPr>
        <p:spPr>
          <a:xfrm>
            <a:off x="6181344" y="502920"/>
            <a:ext cx="256032" cy="82296"/>
          </a:xfrm>
          <a:prstGeom prst="rect">
            <a:avLst/>
          </a:prstGeom>
          <a:solidFill>
            <a:srgbClr val="2496ED">
              <a:alpha val="72000"/>
            </a:srgbClr>
          </a:solidFill>
          <a:ln/>
        </p:spPr>
      </p:sp>
      <p:sp>
        <p:nvSpPr>
          <p:cNvPr id="4" name="Shape 2"/>
          <p:cNvSpPr/>
          <p:nvPr/>
        </p:nvSpPr>
        <p:spPr>
          <a:xfrm>
            <a:off x="6583680" y="576072"/>
            <a:ext cx="365760" cy="347472"/>
          </a:xfrm>
          <a:prstGeom prst="roundRect">
            <a:avLst>
              <a:gd name="adj" fmla="val 10526"/>
            </a:avLst>
          </a:prstGeom>
          <a:solidFill>
            <a:srgbClr val="2496ED">
              <a:alpha val="63000"/>
            </a:srgbClr>
          </a:solidFill>
          <a:ln/>
        </p:spPr>
      </p:sp>
      <p:sp>
        <p:nvSpPr>
          <p:cNvPr id="5" name="Shape 3"/>
          <p:cNvSpPr/>
          <p:nvPr/>
        </p:nvSpPr>
        <p:spPr>
          <a:xfrm>
            <a:off x="6638544" y="502920"/>
            <a:ext cx="256032" cy="82296"/>
          </a:xfrm>
          <a:prstGeom prst="rect">
            <a:avLst/>
          </a:prstGeom>
          <a:solidFill>
            <a:srgbClr val="2496ED">
              <a:alpha val="63000"/>
            </a:srgbClr>
          </a:solidFill>
          <a:ln/>
        </p:spPr>
      </p:sp>
      <p:sp>
        <p:nvSpPr>
          <p:cNvPr id="6" name="Shape 4"/>
          <p:cNvSpPr/>
          <p:nvPr/>
        </p:nvSpPr>
        <p:spPr>
          <a:xfrm>
            <a:off x="7040880" y="576072"/>
            <a:ext cx="365760" cy="347472"/>
          </a:xfrm>
          <a:prstGeom prst="roundRect">
            <a:avLst>
              <a:gd name="adj" fmla="val 10526"/>
            </a:avLst>
          </a:prstGeom>
          <a:solidFill>
            <a:srgbClr val="2496ED">
              <a:alpha val="54000"/>
            </a:srgbClr>
          </a:solidFill>
          <a:ln/>
        </p:spPr>
      </p:sp>
      <p:sp>
        <p:nvSpPr>
          <p:cNvPr id="7" name="Shape 5"/>
          <p:cNvSpPr/>
          <p:nvPr/>
        </p:nvSpPr>
        <p:spPr>
          <a:xfrm>
            <a:off x="7095744" y="502920"/>
            <a:ext cx="256032" cy="82296"/>
          </a:xfrm>
          <a:prstGeom prst="rect">
            <a:avLst/>
          </a:prstGeom>
          <a:solidFill>
            <a:srgbClr val="2496ED">
              <a:alpha val="54000"/>
            </a:srgbClr>
          </a:solidFill>
          <a:ln/>
        </p:spPr>
      </p:sp>
      <p:sp>
        <p:nvSpPr>
          <p:cNvPr id="8" name="Shape 6"/>
          <p:cNvSpPr/>
          <p:nvPr/>
        </p:nvSpPr>
        <p:spPr>
          <a:xfrm>
            <a:off x="7498080" y="576072"/>
            <a:ext cx="365760" cy="347472"/>
          </a:xfrm>
          <a:prstGeom prst="roundRect">
            <a:avLst>
              <a:gd name="adj" fmla="val 10526"/>
            </a:avLst>
          </a:prstGeom>
          <a:solidFill>
            <a:srgbClr val="2496ED">
              <a:alpha val="45000"/>
            </a:srgbClr>
          </a:solidFill>
          <a:ln/>
        </p:spPr>
      </p:sp>
      <p:sp>
        <p:nvSpPr>
          <p:cNvPr id="9" name="Shape 7"/>
          <p:cNvSpPr/>
          <p:nvPr/>
        </p:nvSpPr>
        <p:spPr>
          <a:xfrm>
            <a:off x="7552944" y="502920"/>
            <a:ext cx="256032" cy="82296"/>
          </a:xfrm>
          <a:prstGeom prst="rect">
            <a:avLst/>
          </a:prstGeom>
          <a:solidFill>
            <a:srgbClr val="2496ED">
              <a:alpha val="45000"/>
            </a:srgbClr>
          </a:solidFill>
          <a:ln/>
        </p:spPr>
      </p:sp>
      <p:sp>
        <p:nvSpPr>
          <p:cNvPr id="10" name="Shape 8"/>
          <p:cNvSpPr/>
          <p:nvPr/>
        </p:nvSpPr>
        <p:spPr>
          <a:xfrm>
            <a:off x="7955280" y="576072"/>
            <a:ext cx="365760" cy="347472"/>
          </a:xfrm>
          <a:prstGeom prst="roundRect">
            <a:avLst>
              <a:gd name="adj" fmla="val 10526"/>
            </a:avLst>
          </a:prstGeom>
          <a:solidFill>
            <a:srgbClr val="2496ED">
              <a:alpha val="36000"/>
            </a:srgbClr>
          </a:solidFill>
          <a:ln/>
        </p:spPr>
      </p:sp>
      <p:sp>
        <p:nvSpPr>
          <p:cNvPr id="11" name="Shape 9"/>
          <p:cNvSpPr/>
          <p:nvPr/>
        </p:nvSpPr>
        <p:spPr>
          <a:xfrm>
            <a:off x="8010144" y="502920"/>
            <a:ext cx="256032" cy="82296"/>
          </a:xfrm>
          <a:prstGeom prst="rect">
            <a:avLst/>
          </a:prstGeom>
          <a:solidFill>
            <a:srgbClr val="2496ED">
              <a:alpha val="36000"/>
            </a:srgbClr>
          </a:solidFill>
          <a:ln/>
        </p:spPr>
      </p:sp>
      <p:sp>
        <p:nvSpPr>
          <p:cNvPr id="12" name="Shape 10"/>
          <p:cNvSpPr/>
          <p:nvPr/>
        </p:nvSpPr>
        <p:spPr>
          <a:xfrm>
            <a:off x="8412480" y="576072"/>
            <a:ext cx="365760" cy="347472"/>
          </a:xfrm>
          <a:prstGeom prst="roundRect">
            <a:avLst>
              <a:gd name="adj" fmla="val 10526"/>
            </a:avLst>
          </a:prstGeom>
          <a:solidFill>
            <a:srgbClr val="2496ED">
              <a:alpha val="27000"/>
            </a:srgbClr>
          </a:solidFill>
          <a:ln/>
        </p:spPr>
      </p:sp>
      <p:sp>
        <p:nvSpPr>
          <p:cNvPr id="13" name="Shape 11"/>
          <p:cNvSpPr/>
          <p:nvPr/>
        </p:nvSpPr>
        <p:spPr>
          <a:xfrm>
            <a:off x="8467344" y="502920"/>
            <a:ext cx="256032" cy="82296"/>
          </a:xfrm>
          <a:prstGeom prst="rect">
            <a:avLst/>
          </a:prstGeom>
          <a:solidFill>
            <a:srgbClr val="2496ED">
              <a:alpha val="27000"/>
            </a:srgbClr>
          </a:solidFill>
          <a:ln/>
        </p:spPr>
      </p:sp>
      <p:sp>
        <p:nvSpPr>
          <p:cNvPr id="14" name="Text 12"/>
          <p:cNvSpPr/>
          <p:nvPr/>
        </p:nvSpPr>
        <p:spPr>
          <a:xfrm>
            <a:off x="640080" y="1627632"/>
            <a:ext cx="4572000" cy="365760"/>
          </a:xfrm>
          <a:prstGeom prst="rect">
            <a:avLst/>
          </a:prstGeom>
          <a:noFill/>
          <a:ln/>
        </p:spPr>
        <p:txBody>
          <a:bodyPr wrap="square" lIns="0" tIns="0" rIns="0" bIns="0" rtlCol="0" anchor="ctr"/>
          <a:lstStyle/>
          <a:p>
            <a:pPr indent="0" marL="0">
              <a:buNone/>
            </a:pPr>
            <a:r>
              <a:rPr lang="en-US" sz="1500" b="1" spc="300" kern="0" dirty="0">
                <a:solidFill>
                  <a:srgbClr val="2496ED"/>
                </a:solidFill>
                <a:latin typeface="Calibri" pitchFamily="34" charset="0"/>
                <a:ea typeface="Calibri" pitchFamily="34" charset="-122"/>
                <a:cs typeface="Calibri" pitchFamily="34" charset="-120"/>
              </a:rPr>
              <a:t>PART 3</a:t>
            </a:r>
            <a:endParaRPr lang="en-US" sz="1500" dirty="0"/>
          </a:p>
        </p:txBody>
      </p:sp>
      <p:sp>
        <p:nvSpPr>
          <p:cNvPr id="15" name="Text 13"/>
          <p:cNvSpPr/>
          <p:nvPr/>
        </p:nvSpPr>
        <p:spPr>
          <a:xfrm>
            <a:off x="603504" y="1993392"/>
            <a:ext cx="6400800" cy="1097280"/>
          </a:xfrm>
          <a:prstGeom prst="rect">
            <a:avLst/>
          </a:prstGeom>
          <a:noFill/>
          <a:ln/>
        </p:spPr>
        <p:txBody>
          <a:bodyPr wrap="square" lIns="0" tIns="0" rIns="0" bIns="0" rtlCol="0" anchor="t"/>
          <a:lstStyle/>
          <a:p>
            <a:pPr indent="0" marL="0">
              <a:buNone/>
            </a:pPr>
            <a:r>
              <a:rPr lang="en-US" sz="4000" b="1" dirty="0">
                <a:solidFill>
                  <a:srgbClr val="FFFFFF"/>
                </a:solidFill>
                <a:latin typeface="Bookman Old Style" pitchFamily="34" charset="0"/>
                <a:ea typeface="Bookman Old Style" pitchFamily="34" charset="-122"/>
                <a:cs typeface="Bookman Old Style" pitchFamily="34" charset="-120"/>
              </a:rPr>
              <a:t>Build Images with Dockerfile</a:t>
            </a:r>
            <a:endParaRPr lang="en-US" sz="4000" dirty="0"/>
          </a:p>
        </p:txBody>
      </p:sp>
      <p:sp>
        <p:nvSpPr>
          <p:cNvPr id="16" name="Text 14"/>
          <p:cNvSpPr/>
          <p:nvPr/>
        </p:nvSpPr>
        <p:spPr>
          <a:xfrm>
            <a:off x="640080" y="3127248"/>
            <a:ext cx="6035040" cy="731520"/>
          </a:xfrm>
          <a:prstGeom prst="rect">
            <a:avLst/>
          </a:prstGeom>
          <a:noFill/>
          <a:ln/>
        </p:spPr>
        <p:txBody>
          <a:bodyPr wrap="square" lIns="0" tIns="0" rIns="0" bIns="0" rtlCol="0" anchor="t"/>
          <a:lstStyle/>
          <a:p>
            <a:pPr indent="0" marL="0">
              <a:buNone/>
            </a:pPr>
            <a:r>
              <a:rPr lang="en-US" sz="1350" i="1" dirty="0">
                <a:solidFill>
                  <a:srgbClr val="94A3B8"/>
                </a:solidFill>
                <a:latin typeface="Calibri" pitchFamily="34" charset="0"/>
                <a:ea typeface="Calibri" pitchFamily="34" charset="-122"/>
                <a:cs typeface="Calibri" pitchFamily="34" charset="-120"/>
              </a:rPr>
              <a:t>Turning a hand-run container into a reproducible recipe — instructions, layers, and the practices that keep images small and safe.</a:t>
            </a:r>
            <a:endParaRPr lang="en-US" sz="1350" dirty="0"/>
          </a:p>
        </p:txBody>
      </p:sp>
      <p:sp>
        <p:nvSpPr>
          <p:cNvPr id="17" name="Shape 15"/>
          <p:cNvSpPr/>
          <p:nvPr/>
        </p:nvSpPr>
        <p:spPr>
          <a:xfrm>
            <a:off x="7086600" y="1783080"/>
            <a:ext cx="1417320" cy="1417320"/>
          </a:xfrm>
          <a:prstGeom prst="roundRect">
            <a:avLst>
              <a:gd name="adj" fmla="val 10323"/>
            </a:avLst>
          </a:prstGeom>
          <a:solidFill>
            <a:srgbClr val="1E293B"/>
          </a:solidFill>
          <a:ln w="12700">
            <a:solidFill>
              <a:srgbClr val="334155"/>
            </a:solidFill>
            <a:prstDash val="solid"/>
          </a:ln>
          <a:effectLst>
            <a:outerShdw sx="100000" sy="100000" kx="0" ky="0" algn="bl" rotWithShape="0" blurRad="152400" dist="50800" dir="2700000">
              <a:srgbClr val="475569">
                <a:alpha val="30000"/>
              </a:srgbClr>
            </a:outerShdw>
          </a:effectLst>
        </p:spPr>
      </p:sp>
      <p:pic>
        <p:nvPicPr>
          <p:cNvPr id="18" name="Image 0" descr="preencoded.png">    </p:cNvPr>
          <p:cNvPicPr>
            <a:picLocks noChangeAspect="1"/>
          </p:cNvPicPr>
          <p:nvPr/>
        </p:nvPicPr>
        <p:blipFill>
          <a:blip r:embed="rId1"/>
          <a:stretch>
            <a:fillRect/>
          </a:stretch>
        </p:blipFill>
        <p:spPr>
          <a:xfrm>
            <a:off x="7424928" y="2121408"/>
            <a:ext cx="740664" cy="740664"/>
          </a:xfrm>
          <a:prstGeom prst="rect">
            <a:avLst/>
          </a:prstGeom>
        </p:spPr>
      </p:pic>
      <p:sp>
        <p:nvSpPr>
          <p:cNvPr id="19" name="Text 16"/>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20" name="Text 17"/>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Part 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FF7ED"/>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F97316"/>
                </a:solidFill>
                <a:latin typeface="Calibri" pitchFamily="34" charset="0"/>
                <a:ea typeface="Calibri" pitchFamily="34" charset="-122"/>
                <a:cs typeface="Calibri" pitchFamily="34" charset="-120"/>
              </a:rPr>
              <a:t>THE PROBLEM</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Hand-built containers don't scale</a:t>
            </a:r>
            <a:endParaRPr lang="en-US" sz="2500" dirty="0"/>
          </a:p>
        </p:txBody>
      </p:sp>
      <p:sp>
        <p:nvSpPr>
          <p:cNvPr id="6" name="Shape 3"/>
          <p:cNvSpPr/>
          <p:nvPr/>
        </p:nvSpPr>
        <p:spPr>
          <a:xfrm>
            <a:off x="457200" y="1234440"/>
            <a:ext cx="3977640" cy="2697480"/>
          </a:xfrm>
          <a:prstGeom prst="roundRect">
            <a:avLst>
              <a:gd name="adj" fmla="val 2712"/>
            </a:avLst>
          </a:prstGeom>
          <a:solidFill>
            <a:srgbClr val="FFF7ED"/>
          </a:solidFill>
          <a:ln w="12700">
            <a:solidFill>
              <a:srgbClr val="FED7AA"/>
            </a:solidFill>
            <a:prstDash val="solid"/>
          </a:ln>
          <a:effectLst>
            <a:outerShdw sx="100000" sy="100000" kx="0" ky="0" algn="bl" rotWithShape="0" blurRad="76200" dist="25400" dir="2700000">
              <a:srgbClr val="475569">
                <a:alpha val="10000"/>
              </a:srgbClr>
            </a:outerShdw>
          </a:effectLst>
        </p:spPr>
      </p:sp>
      <p:pic>
        <p:nvPicPr>
          <p:cNvPr id="7" name="Image 1" descr="preencoded.png">    </p:cNvPr>
          <p:cNvPicPr>
            <a:picLocks noChangeAspect="1"/>
          </p:cNvPicPr>
          <p:nvPr/>
        </p:nvPicPr>
        <p:blipFill>
          <a:blip r:embed="rId2"/>
          <a:stretch>
            <a:fillRect/>
          </a:stretch>
        </p:blipFill>
        <p:spPr>
          <a:xfrm>
            <a:off x="694944" y="1463040"/>
            <a:ext cx="310896" cy="310896"/>
          </a:xfrm>
          <a:prstGeom prst="rect">
            <a:avLst/>
          </a:prstGeom>
        </p:spPr>
      </p:pic>
      <p:sp>
        <p:nvSpPr>
          <p:cNvPr id="8" name="Text 4"/>
          <p:cNvSpPr/>
          <p:nvPr/>
        </p:nvSpPr>
        <p:spPr>
          <a:xfrm>
            <a:off x="1115568" y="1463040"/>
            <a:ext cx="3154680" cy="310896"/>
          </a:xfrm>
          <a:prstGeom prst="rect">
            <a:avLst/>
          </a:prstGeom>
          <a:noFill/>
          <a:ln/>
        </p:spPr>
        <p:txBody>
          <a:bodyPr wrap="square" lIns="0" tIns="0" rIns="0" bIns="0" rtlCol="0" anchor="ctr"/>
          <a:lstStyle/>
          <a:p>
            <a:pPr indent="0" marL="0">
              <a:buNone/>
            </a:pPr>
            <a:r>
              <a:rPr lang="en-US" sz="1200" b="1" spc="150" kern="0" dirty="0">
                <a:solidFill>
                  <a:srgbClr val="C2410C"/>
                </a:solidFill>
                <a:latin typeface="Calibri" pitchFamily="34" charset="0"/>
                <a:ea typeface="Calibri" pitchFamily="34" charset="-122"/>
                <a:cs typeface="Calibri" pitchFamily="34" charset="-120"/>
              </a:rPr>
              <a:t>THE FRAGILE WAY</a:t>
            </a:r>
            <a:endParaRPr lang="en-US" sz="1200" dirty="0"/>
          </a:p>
        </p:txBody>
      </p:sp>
      <p:sp>
        <p:nvSpPr>
          <p:cNvPr id="9" name="Text 5"/>
          <p:cNvSpPr/>
          <p:nvPr/>
        </p:nvSpPr>
        <p:spPr>
          <a:xfrm>
            <a:off x="676656" y="1783080"/>
            <a:ext cx="3566160" cy="2103120"/>
          </a:xfrm>
          <a:prstGeom prst="rect">
            <a:avLst/>
          </a:prstGeom>
          <a:noFill/>
          <a:ln/>
        </p:spPr>
        <p:txBody>
          <a:bodyPr wrap="square" lIns="0" tIns="0" rIns="0" bIns="0" rtlCol="0" anchor="t"/>
          <a:lstStyle/>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docker commit snapshots a container you set up by hand</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No record of what you did — undocumented &amp; unrepeatable</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Not in version control: not reviewable, not diffable</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The next person (or future you) can't reproduce it</a:t>
            </a:r>
            <a:endParaRPr lang="en-US" sz="1150" dirty="0"/>
          </a:p>
        </p:txBody>
      </p:sp>
      <p:sp>
        <p:nvSpPr>
          <p:cNvPr id="10" name="Shape 6"/>
          <p:cNvSpPr/>
          <p:nvPr/>
        </p:nvSpPr>
        <p:spPr>
          <a:xfrm>
            <a:off x="4709160" y="1234440"/>
            <a:ext cx="3977640" cy="2697480"/>
          </a:xfrm>
          <a:prstGeom prst="roundRect">
            <a:avLst>
              <a:gd name="adj" fmla="val 2712"/>
            </a:avLst>
          </a:prstGeom>
          <a:solidFill>
            <a:srgbClr val="F0FDFA"/>
          </a:solidFill>
          <a:ln w="12700">
            <a:solidFill>
              <a:srgbClr val="99F6E4"/>
            </a:solidFill>
            <a:prstDash val="solid"/>
          </a:ln>
          <a:effectLst>
            <a:outerShdw sx="100000" sy="100000" kx="0" ky="0" algn="bl" rotWithShape="0" blurRad="76200" dist="25400" dir="2700000">
              <a:srgbClr val="475569">
                <a:alpha val="10000"/>
              </a:srgbClr>
            </a:outerShdw>
          </a:effectLst>
        </p:spPr>
      </p:sp>
      <p:pic>
        <p:nvPicPr>
          <p:cNvPr id="11" name="Image 2" descr="preencoded.png">    </p:cNvPr>
          <p:cNvPicPr>
            <a:picLocks noChangeAspect="1"/>
          </p:cNvPicPr>
          <p:nvPr/>
        </p:nvPicPr>
        <p:blipFill>
          <a:blip r:embed="rId3"/>
          <a:stretch>
            <a:fillRect/>
          </a:stretch>
        </p:blipFill>
        <p:spPr>
          <a:xfrm>
            <a:off x="4946904" y="1463040"/>
            <a:ext cx="310896" cy="310896"/>
          </a:xfrm>
          <a:prstGeom prst="rect">
            <a:avLst/>
          </a:prstGeom>
        </p:spPr>
      </p:pic>
      <p:sp>
        <p:nvSpPr>
          <p:cNvPr id="12" name="Text 7"/>
          <p:cNvSpPr/>
          <p:nvPr/>
        </p:nvSpPr>
        <p:spPr>
          <a:xfrm>
            <a:off x="5367528" y="1463040"/>
            <a:ext cx="3154680" cy="310896"/>
          </a:xfrm>
          <a:prstGeom prst="rect">
            <a:avLst/>
          </a:prstGeom>
          <a:noFill/>
          <a:ln/>
        </p:spPr>
        <p:txBody>
          <a:bodyPr wrap="square" lIns="0" tIns="0" rIns="0" bIns="0" rtlCol="0" anchor="ctr"/>
          <a:lstStyle/>
          <a:p>
            <a:pPr indent="0" marL="0">
              <a:buNone/>
            </a:pPr>
            <a:r>
              <a:rPr lang="en-US" sz="1200" b="1" spc="150" kern="0" dirty="0">
                <a:solidFill>
                  <a:srgbClr val="0F766E"/>
                </a:solidFill>
                <a:latin typeface="Calibri" pitchFamily="34" charset="0"/>
                <a:ea typeface="Calibri" pitchFamily="34" charset="-122"/>
                <a:cs typeface="Calibri" pitchFamily="34" charset="-120"/>
              </a:rPr>
              <a:t>THE DOCKERFILE WAY</a:t>
            </a:r>
            <a:endParaRPr lang="en-US" sz="1200" dirty="0"/>
          </a:p>
        </p:txBody>
      </p:sp>
      <p:sp>
        <p:nvSpPr>
          <p:cNvPr id="13" name="Text 8"/>
          <p:cNvSpPr/>
          <p:nvPr/>
        </p:nvSpPr>
        <p:spPr>
          <a:xfrm>
            <a:off x="4928616" y="1783080"/>
            <a:ext cx="3566160" cy="2103120"/>
          </a:xfrm>
          <a:prstGeom prst="rect">
            <a:avLst/>
          </a:prstGeom>
          <a:noFill/>
          <a:ln/>
        </p:spPr>
        <p:txBody>
          <a:bodyPr wrap="square" lIns="0" tIns="0" rIns="0" bIns="0" rtlCol="0" anchor="t"/>
          <a:lstStyle/>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A plain-text recipe that builds the image from scratch</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Lives in git next to your code — reviewed, versioned, diffable</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docker build produces the identical image on any machine</a:t>
            </a:r>
            <a:endParaRPr lang="en-US" sz="1150" dirty="0"/>
          </a:p>
        </p:txBody>
      </p:sp>
      <p:sp>
        <p:nvSpPr>
          <p:cNvPr id="14" name="Shape 9"/>
          <p:cNvSpPr/>
          <p:nvPr/>
        </p:nvSpPr>
        <p:spPr>
          <a:xfrm>
            <a:off x="457200" y="4114800"/>
            <a:ext cx="8229600" cy="475488"/>
          </a:xfrm>
          <a:prstGeom prst="roundRect">
            <a:avLst>
              <a:gd name="adj" fmla="val 15385"/>
            </a:avLst>
          </a:prstGeom>
          <a:solidFill>
            <a:srgbClr val="0F766E"/>
          </a:solidFill>
          <a:ln/>
          <a:effectLst>
            <a:outerShdw sx="100000" sy="100000" kx="0" ky="0" algn="bl" rotWithShape="0" blurRad="76200" dist="25400" dir="2700000">
              <a:srgbClr val="475569">
                <a:alpha val="12000"/>
              </a:srgbClr>
            </a:outerShdw>
          </a:effectLst>
        </p:spPr>
      </p:sp>
      <p:sp>
        <p:nvSpPr>
          <p:cNvPr id="15" name="Text 10"/>
          <p:cNvSpPr/>
          <p:nvPr/>
        </p:nvSpPr>
        <p:spPr>
          <a:xfrm>
            <a:off x="640080" y="4114800"/>
            <a:ext cx="7863840" cy="475488"/>
          </a:xfrm>
          <a:prstGeom prst="rect">
            <a:avLst/>
          </a:prstGeom>
          <a:noFill/>
          <a:ln/>
        </p:spPr>
        <p:txBody>
          <a:bodyPr wrap="square" lIns="0" tIns="0" rIns="0" bIns="0" rtlCol="0" anchor="ctr"/>
          <a:lstStyle/>
          <a:p>
            <a:pPr algn="ctr" indent="0" marL="0">
              <a:buNone/>
            </a:pPr>
            <a:r>
              <a:rPr lang="en-US" sz="1250" b="1" i="1" dirty="0">
                <a:solidFill>
                  <a:srgbClr val="FFFFFF"/>
                </a:solidFill>
                <a:latin typeface="Calibri" pitchFamily="34" charset="0"/>
                <a:ea typeface="Calibri" pitchFamily="34" charset="-122"/>
                <a:cs typeface="Calibri" pitchFamily="34" charset="-120"/>
              </a:rPr>
              <a:t>If it isn't in the Dockerfile, it doesn't exist.</a:t>
            </a:r>
            <a:endParaRPr lang="en-US" sz="1250" dirty="0"/>
          </a:p>
        </p:txBody>
      </p:sp>
      <p:sp>
        <p:nvSpPr>
          <p:cNvPr id="16" name="Text 11"/>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17" name="Text 12"/>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Build Images</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ANATOMY</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A Dockerfile, line by line</a:t>
            </a:r>
            <a:endParaRPr lang="en-US" sz="2500" dirty="0"/>
          </a:p>
        </p:txBody>
      </p:sp>
      <p:sp>
        <p:nvSpPr>
          <p:cNvPr id="6" name="Shape 3"/>
          <p:cNvSpPr/>
          <p:nvPr/>
        </p:nvSpPr>
        <p:spPr>
          <a:xfrm>
            <a:off x="457200" y="1234440"/>
            <a:ext cx="4754880" cy="3108960"/>
          </a:xfrm>
          <a:prstGeom prst="roundRect">
            <a:avLst>
              <a:gd name="adj" fmla="val 2059"/>
            </a:avLst>
          </a:prstGeom>
          <a:solidFill>
            <a:srgbClr val="1E293B"/>
          </a:solidFill>
          <a:ln w="12700">
            <a:solidFill>
              <a:srgbClr val="334155"/>
            </a:solidFill>
            <a:prstDash val="solid"/>
          </a:ln>
          <a:effectLst>
            <a:outerShdw sx="100000" sy="100000" kx="0" ky="0" algn="bl" rotWithShape="0" blurRad="114300" dist="38100" dir="2700000">
              <a:srgbClr val="475569">
                <a:alpha val="24000"/>
              </a:srgbClr>
            </a:outerShdw>
          </a:effectLst>
        </p:spPr>
      </p:sp>
      <p:sp>
        <p:nvSpPr>
          <p:cNvPr id="7" name="Shape 4"/>
          <p:cNvSpPr/>
          <p:nvPr/>
        </p:nvSpPr>
        <p:spPr>
          <a:xfrm>
            <a:off x="658368" y="1417320"/>
            <a:ext cx="91440" cy="91440"/>
          </a:xfrm>
          <a:prstGeom prst="ellipse">
            <a:avLst/>
          </a:prstGeom>
          <a:solidFill>
            <a:srgbClr val="EF4444"/>
          </a:solidFill>
          <a:ln/>
        </p:spPr>
      </p:sp>
      <p:sp>
        <p:nvSpPr>
          <p:cNvPr id="8" name="Shape 5"/>
          <p:cNvSpPr/>
          <p:nvPr/>
        </p:nvSpPr>
        <p:spPr>
          <a:xfrm>
            <a:off x="804672" y="1417320"/>
            <a:ext cx="91440" cy="91440"/>
          </a:xfrm>
          <a:prstGeom prst="ellipse">
            <a:avLst/>
          </a:prstGeom>
          <a:solidFill>
            <a:srgbClr val="F59E0B"/>
          </a:solidFill>
          <a:ln/>
        </p:spPr>
      </p:sp>
      <p:sp>
        <p:nvSpPr>
          <p:cNvPr id="9" name="Shape 6"/>
          <p:cNvSpPr/>
          <p:nvPr/>
        </p:nvSpPr>
        <p:spPr>
          <a:xfrm>
            <a:off x="950976" y="1417320"/>
            <a:ext cx="91440" cy="91440"/>
          </a:xfrm>
          <a:prstGeom prst="ellipse">
            <a:avLst/>
          </a:prstGeom>
          <a:solidFill>
            <a:srgbClr val="22C55E"/>
          </a:solidFill>
          <a:ln/>
        </p:spPr>
      </p:sp>
      <p:sp>
        <p:nvSpPr>
          <p:cNvPr id="10" name="Text 7"/>
          <p:cNvSpPr/>
          <p:nvPr/>
        </p:nvSpPr>
        <p:spPr>
          <a:xfrm>
            <a:off x="1170432" y="1353312"/>
            <a:ext cx="3840480" cy="20116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Dockerfile</a:t>
            </a:r>
            <a:endParaRPr lang="en-US" sz="900" dirty="0"/>
          </a:p>
        </p:txBody>
      </p:sp>
      <p:sp>
        <p:nvSpPr>
          <p:cNvPr id="11" name="Text 8"/>
          <p:cNvSpPr/>
          <p:nvPr/>
        </p:nvSpPr>
        <p:spPr>
          <a:xfrm>
            <a:off x="676656" y="1673352"/>
            <a:ext cx="4315968" cy="2560320"/>
          </a:xfrm>
          <a:prstGeom prst="rect">
            <a:avLst/>
          </a:prstGeom>
          <a:noFill/>
          <a:ln/>
        </p:spPr>
        <p:txBody>
          <a:bodyPr wrap="square" lIns="0" tIns="0" rIns="0" bIns="0" rtlCol="0" anchor="t"/>
          <a:lstStyle/>
          <a:p>
            <a:pPr algn="l" indent="0" marL="0">
              <a:lnSpc>
                <a:spcPts val="1452"/>
              </a:lnSpc>
              <a:buNone/>
            </a:pPr>
            <a:r>
              <a:rPr lang="en-US" sz="1100" b="1" dirty="0">
                <a:solidFill>
                  <a:srgbClr val="38BDF8"/>
                </a:solidFill>
                <a:latin typeface="Courier New" pitchFamily="34" charset="0"/>
                <a:ea typeface="Courier New" pitchFamily="34" charset="-122"/>
                <a:cs typeface="Courier New" pitchFamily="34" charset="-120"/>
              </a:rPr>
              <a:t>FROM </a:t>
            </a:r>
            <a:pPr algn="l" indent="0" marL="0">
              <a:lnSpc>
                <a:spcPts val="1452"/>
              </a:lnSpc>
              <a:buNone/>
            </a:pPr>
            <a:r>
              <a:rPr lang="en-US" sz="1100" dirty="0">
                <a:solidFill>
                  <a:srgbClr val="FFFFFF"/>
                </a:solidFill>
                <a:latin typeface="Courier New" pitchFamily="34" charset="0"/>
                <a:ea typeface="Courier New" pitchFamily="34" charset="-122"/>
                <a:cs typeface="Courier New" pitchFamily="34" charset="-120"/>
              </a:rPr>
              <a:t>node:20-alpine</a:t>
            </a:r>
            <a:endParaRPr lang="en-US" sz="1100" dirty="0"/>
          </a:p>
          <a:p>
            <a:pPr algn="l" indent="0" marL="0">
              <a:lnSpc>
                <a:spcPts val="1452"/>
              </a:lnSpc>
              <a:buNone/>
            </a:pPr>
            <a:r>
              <a:rPr lang="en-US" sz="1100" b="1" dirty="0">
                <a:solidFill>
                  <a:srgbClr val="38BDF8"/>
                </a:solidFill>
                <a:latin typeface="Courier New" pitchFamily="34" charset="0"/>
                <a:ea typeface="Courier New" pitchFamily="34" charset="-122"/>
                <a:cs typeface="Courier New" pitchFamily="34" charset="-120"/>
              </a:rPr>
              <a:t>WORKDIR </a:t>
            </a:r>
            <a:pPr algn="l" indent="0" marL="0">
              <a:lnSpc>
                <a:spcPts val="1452"/>
              </a:lnSpc>
              <a:buNone/>
            </a:pPr>
            <a:r>
              <a:rPr lang="en-US" sz="1100" dirty="0">
                <a:solidFill>
                  <a:srgbClr val="FFFFFF"/>
                </a:solidFill>
                <a:latin typeface="Courier New" pitchFamily="34" charset="0"/>
                <a:ea typeface="Courier New" pitchFamily="34" charset="-122"/>
                <a:cs typeface="Courier New" pitchFamily="34" charset="-120"/>
              </a:rPr>
              <a:t>/app</a:t>
            </a:r>
            <a:endParaRPr lang="en-US" sz="1100" dirty="0"/>
          </a:p>
          <a:p>
            <a:pPr algn="l" indent="0" marL="0">
              <a:lnSpc>
                <a:spcPts val="1452"/>
              </a:lnSpc>
              <a:buNone/>
            </a:pPr>
            <a:r>
              <a:rPr lang="en-US" sz="1100" b="1" dirty="0">
                <a:solidFill>
                  <a:srgbClr val="38BDF8"/>
                </a:solidFill>
                <a:latin typeface="Courier New" pitchFamily="34" charset="0"/>
                <a:ea typeface="Courier New" pitchFamily="34" charset="-122"/>
                <a:cs typeface="Courier New" pitchFamily="34" charset="-120"/>
              </a:rPr>
              <a:t>COPY </a:t>
            </a:r>
            <a:pPr algn="l" indent="0" marL="0">
              <a:lnSpc>
                <a:spcPts val="1452"/>
              </a:lnSpc>
              <a:buNone/>
            </a:pPr>
            <a:r>
              <a:rPr lang="en-US" sz="1100" dirty="0">
                <a:solidFill>
                  <a:srgbClr val="FFFFFF"/>
                </a:solidFill>
                <a:latin typeface="Courier New" pitchFamily="34" charset="0"/>
                <a:ea typeface="Courier New" pitchFamily="34" charset="-122"/>
                <a:cs typeface="Courier New" pitchFamily="34" charset="-120"/>
              </a:rPr>
              <a:t>package*.json ./</a:t>
            </a:r>
            <a:endParaRPr lang="en-US" sz="1100" dirty="0"/>
          </a:p>
          <a:p>
            <a:pPr algn="l" indent="0" marL="0">
              <a:lnSpc>
                <a:spcPts val="1452"/>
              </a:lnSpc>
              <a:buNone/>
            </a:pPr>
            <a:r>
              <a:rPr lang="en-US" sz="1100" b="1" dirty="0">
                <a:solidFill>
                  <a:srgbClr val="38BDF8"/>
                </a:solidFill>
                <a:latin typeface="Courier New" pitchFamily="34" charset="0"/>
                <a:ea typeface="Courier New" pitchFamily="34" charset="-122"/>
                <a:cs typeface="Courier New" pitchFamily="34" charset="-120"/>
              </a:rPr>
              <a:t>RUN </a:t>
            </a:r>
            <a:pPr algn="l" indent="0" marL="0">
              <a:lnSpc>
                <a:spcPts val="1452"/>
              </a:lnSpc>
              <a:buNone/>
            </a:pPr>
            <a:r>
              <a:rPr lang="en-US" sz="1100" dirty="0">
                <a:solidFill>
                  <a:srgbClr val="FFFFFF"/>
                </a:solidFill>
                <a:latin typeface="Courier New" pitchFamily="34" charset="0"/>
                <a:ea typeface="Courier New" pitchFamily="34" charset="-122"/>
                <a:cs typeface="Courier New" pitchFamily="34" charset="-120"/>
              </a:rPr>
              <a:t>npm ci --omit=dev</a:t>
            </a:r>
            <a:endParaRPr lang="en-US" sz="1100" dirty="0"/>
          </a:p>
          <a:p>
            <a:pPr algn="l" indent="0" marL="0">
              <a:lnSpc>
                <a:spcPts val="1452"/>
              </a:lnSpc>
              <a:buNone/>
            </a:pPr>
            <a:r>
              <a:rPr lang="en-US" sz="1100" b="1" dirty="0">
                <a:solidFill>
                  <a:srgbClr val="38BDF8"/>
                </a:solidFill>
                <a:latin typeface="Courier New" pitchFamily="34" charset="0"/>
                <a:ea typeface="Courier New" pitchFamily="34" charset="-122"/>
                <a:cs typeface="Courier New" pitchFamily="34" charset="-120"/>
              </a:rPr>
              <a:t>COPY </a:t>
            </a:r>
            <a:pPr algn="l" indent="0" marL="0">
              <a:lnSpc>
                <a:spcPts val="1452"/>
              </a:lnSpc>
              <a:buNone/>
            </a:pPr>
            <a:r>
              <a:rPr lang="en-US" sz="1100" dirty="0">
                <a:solidFill>
                  <a:srgbClr val="FFFFFF"/>
                </a:solidFill>
                <a:latin typeface="Courier New" pitchFamily="34" charset="0"/>
                <a:ea typeface="Courier New" pitchFamily="34" charset="-122"/>
                <a:cs typeface="Courier New" pitchFamily="34" charset="-120"/>
              </a:rPr>
              <a:t>. .</a:t>
            </a:r>
            <a:endParaRPr lang="en-US" sz="1100" dirty="0"/>
          </a:p>
          <a:p>
            <a:pPr algn="l" indent="0" marL="0">
              <a:lnSpc>
                <a:spcPts val="1452"/>
              </a:lnSpc>
              <a:buNone/>
            </a:pPr>
            <a:r>
              <a:rPr lang="en-US" sz="1100" b="1" dirty="0">
                <a:solidFill>
                  <a:srgbClr val="38BDF8"/>
                </a:solidFill>
                <a:latin typeface="Courier New" pitchFamily="34" charset="0"/>
                <a:ea typeface="Courier New" pitchFamily="34" charset="-122"/>
                <a:cs typeface="Courier New" pitchFamily="34" charset="-120"/>
              </a:rPr>
              <a:t>ENV </a:t>
            </a:r>
            <a:pPr algn="l" indent="0" marL="0">
              <a:lnSpc>
                <a:spcPts val="1452"/>
              </a:lnSpc>
              <a:buNone/>
            </a:pPr>
            <a:r>
              <a:rPr lang="en-US" sz="1100" dirty="0">
                <a:solidFill>
                  <a:srgbClr val="FFFFFF"/>
                </a:solidFill>
                <a:latin typeface="Courier New" pitchFamily="34" charset="0"/>
                <a:ea typeface="Courier New" pitchFamily="34" charset="-122"/>
                <a:cs typeface="Courier New" pitchFamily="34" charset="-120"/>
              </a:rPr>
              <a:t>NODE_ENV=production</a:t>
            </a:r>
            <a:endParaRPr lang="en-US" sz="1100" dirty="0"/>
          </a:p>
          <a:p>
            <a:pPr algn="l" indent="0" marL="0">
              <a:lnSpc>
                <a:spcPts val="1452"/>
              </a:lnSpc>
              <a:buNone/>
            </a:pPr>
            <a:r>
              <a:rPr lang="en-US" sz="1100" b="1" dirty="0">
                <a:solidFill>
                  <a:srgbClr val="38BDF8"/>
                </a:solidFill>
                <a:latin typeface="Courier New" pitchFamily="34" charset="0"/>
                <a:ea typeface="Courier New" pitchFamily="34" charset="-122"/>
                <a:cs typeface="Courier New" pitchFamily="34" charset="-120"/>
              </a:rPr>
              <a:t>EXPOSE </a:t>
            </a:r>
            <a:pPr algn="l" indent="0" marL="0">
              <a:lnSpc>
                <a:spcPts val="1452"/>
              </a:lnSpc>
              <a:buNone/>
            </a:pPr>
            <a:r>
              <a:rPr lang="en-US" sz="1100" dirty="0">
                <a:solidFill>
                  <a:srgbClr val="FFFFFF"/>
                </a:solidFill>
                <a:latin typeface="Courier New" pitchFamily="34" charset="0"/>
                <a:ea typeface="Courier New" pitchFamily="34" charset="-122"/>
                <a:cs typeface="Courier New" pitchFamily="34" charset="-120"/>
              </a:rPr>
              <a:t>3000</a:t>
            </a:r>
            <a:endParaRPr lang="en-US" sz="1100" dirty="0"/>
          </a:p>
          <a:p>
            <a:pPr algn="l" indent="0" marL="0">
              <a:lnSpc>
                <a:spcPts val="1452"/>
              </a:lnSpc>
              <a:buNone/>
            </a:pPr>
            <a:r>
              <a:rPr lang="en-US" sz="1100" b="1" dirty="0">
                <a:solidFill>
                  <a:srgbClr val="38BDF8"/>
                </a:solidFill>
                <a:latin typeface="Courier New" pitchFamily="34" charset="0"/>
                <a:ea typeface="Courier New" pitchFamily="34" charset="-122"/>
                <a:cs typeface="Courier New" pitchFamily="34" charset="-120"/>
              </a:rPr>
              <a:t>USER </a:t>
            </a:r>
            <a:pPr algn="l" indent="0" marL="0">
              <a:lnSpc>
                <a:spcPts val="1452"/>
              </a:lnSpc>
              <a:buNone/>
            </a:pPr>
            <a:r>
              <a:rPr lang="en-US" sz="1100" dirty="0">
                <a:solidFill>
                  <a:srgbClr val="FFFFFF"/>
                </a:solidFill>
                <a:latin typeface="Courier New" pitchFamily="34" charset="0"/>
                <a:ea typeface="Courier New" pitchFamily="34" charset="-122"/>
                <a:cs typeface="Courier New" pitchFamily="34" charset="-120"/>
              </a:rPr>
              <a:t>node</a:t>
            </a:r>
            <a:endParaRPr lang="en-US" sz="1100" dirty="0"/>
          </a:p>
          <a:p>
            <a:pPr algn="l" indent="0" marL="0">
              <a:lnSpc>
                <a:spcPts val="1452"/>
              </a:lnSpc>
              <a:buNone/>
            </a:pPr>
            <a:r>
              <a:rPr lang="en-US" sz="1100" b="1" dirty="0">
                <a:solidFill>
                  <a:srgbClr val="38BDF8"/>
                </a:solidFill>
                <a:latin typeface="Courier New" pitchFamily="34" charset="0"/>
                <a:ea typeface="Courier New" pitchFamily="34" charset="-122"/>
                <a:cs typeface="Courier New" pitchFamily="34" charset="-120"/>
              </a:rPr>
              <a:t>CMD </a:t>
            </a:r>
            <a:pPr algn="l" indent="0" marL="0">
              <a:lnSpc>
                <a:spcPts val="1452"/>
              </a:lnSpc>
              <a:buNone/>
            </a:pPr>
            <a:r>
              <a:rPr lang="en-US" sz="1100" dirty="0">
                <a:solidFill>
                  <a:srgbClr val="FFFFFF"/>
                </a:solidFill>
                <a:latin typeface="Courier New" pitchFamily="34" charset="0"/>
                <a:ea typeface="Courier New" pitchFamily="34" charset="-122"/>
                <a:cs typeface="Courier New" pitchFamily="34" charset="-120"/>
              </a:rPr>
              <a:t>["node", "server.js"]</a:t>
            </a:r>
            <a:endParaRPr lang="en-US" sz="1100" dirty="0"/>
          </a:p>
        </p:txBody>
      </p:sp>
      <p:sp>
        <p:nvSpPr>
          <p:cNvPr id="12" name="Text 9"/>
          <p:cNvSpPr/>
          <p:nvPr/>
        </p:nvSpPr>
        <p:spPr>
          <a:xfrm>
            <a:off x="5394960" y="1298448"/>
            <a:ext cx="3291840" cy="3017520"/>
          </a:xfrm>
          <a:prstGeom prst="rect">
            <a:avLst/>
          </a:prstGeom>
          <a:noFill/>
          <a:ln/>
        </p:spPr>
        <p:txBody>
          <a:bodyPr wrap="square" lIns="0" tIns="0" rIns="0" bIns="0" rtlCol="0" anchor="t"/>
          <a:lstStyle/>
          <a:p>
            <a:pPr algn="l" marL="190500" indent="-190500">
              <a:buSzPct val="100000"/>
              <a:buChar char="•"/>
            </a:pPr>
            <a:r>
              <a:rPr lang="en-US" sz="1080" b="1" dirty="0">
                <a:solidFill>
                  <a:srgbClr val="0F172A"/>
                </a:solidFill>
                <a:latin typeface="Calibri" pitchFamily="34" charset="0"/>
                <a:ea typeface="Calibri" pitchFamily="34" charset="-122"/>
                <a:cs typeface="Calibri" pitchFamily="34" charset="-120"/>
              </a:rPr>
              <a:t>FROM</a:t>
            </a:r>
            <a:pPr algn="l" indent="0" marL="0">
              <a:spcAft>
                <a:spcPts val="600"/>
              </a:spcAft>
              <a:buNone/>
            </a:pPr>
            <a:r>
              <a:rPr lang="en-US" sz="1080" dirty="0">
                <a:solidFill>
                  <a:srgbClr val="475569"/>
                </a:solidFill>
                <a:latin typeface="Calibri" pitchFamily="34" charset="0"/>
                <a:ea typeface="Calibri" pitchFamily="34" charset="-122"/>
                <a:cs typeface="Calibri" pitchFamily="34" charset="-120"/>
              </a:rPr>
              <a:t>  the base image to build on</a:t>
            </a:r>
            <a:endParaRPr lang="en-US" sz="1080" dirty="0"/>
          </a:p>
          <a:p>
            <a:pPr algn="l" marL="190500" indent="-190500">
              <a:buSzPct val="100000"/>
              <a:buChar char="•"/>
            </a:pPr>
            <a:r>
              <a:rPr lang="en-US" sz="1080" b="1" dirty="0">
                <a:solidFill>
                  <a:srgbClr val="0F172A"/>
                </a:solidFill>
                <a:latin typeface="Calibri" pitchFamily="34" charset="0"/>
                <a:ea typeface="Calibri" pitchFamily="34" charset="-122"/>
                <a:cs typeface="Calibri" pitchFamily="34" charset="-120"/>
              </a:rPr>
              <a:t>WORKDIR</a:t>
            </a:r>
            <a:pPr algn="l" indent="0" marL="0">
              <a:spcAft>
                <a:spcPts val="600"/>
              </a:spcAft>
              <a:buNone/>
            </a:pPr>
            <a:r>
              <a:rPr lang="en-US" sz="1080" dirty="0">
                <a:solidFill>
                  <a:srgbClr val="475569"/>
                </a:solidFill>
                <a:latin typeface="Calibri" pitchFamily="34" charset="0"/>
                <a:ea typeface="Calibri" pitchFamily="34" charset="-122"/>
                <a:cs typeface="Calibri" pitchFamily="34" charset="-120"/>
              </a:rPr>
              <a:t>  sets the working directory</a:t>
            </a:r>
            <a:endParaRPr lang="en-US" sz="1080" dirty="0"/>
          </a:p>
          <a:p>
            <a:pPr algn="l" marL="190500" indent="-190500">
              <a:buSzPct val="100000"/>
              <a:buChar char="•"/>
            </a:pPr>
            <a:r>
              <a:rPr lang="en-US" sz="1080" b="1" dirty="0">
                <a:solidFill>
                  <a:srgbClr val="0F172A"/>
                </a:solidFill>
                <a:latin typeface="Calibri" pitchFamily="34" charset="0"/>
                <a:ea typeface="Calibri" pitchFamily="34" charset="-122"/>
                <a:cs typeface="Calibri" pitchFamily="34" charset="-120"/>
              </a:rPr>
              <a:t>COPY deps first</a:t>
            </a:r>
            <a:pPr algn="l" indent="0" marL="0">
              <a:spcAft>
                <a:spcPts val="600"/>
              </a:spcAft>
              <a:buNone/>
            </a:pPr>
            <a:r>
              <a:rPr lang="en-US" sz="1080" dirty="0">
                <a:solidFill>
                  <a:srgbClr val="475569"/>
                </a:solidFill>
                <a:latin typeface="Calibri" pitchFamily="34" charset="0"/>
                <a:ea typeface="Calibri" pitchFamily="34" charset="-122"/>
                <a:cs typeface="Calibri" pitchFamily="34" charset="-120"/>
              </a:rPr>
              <a:t>  manifests before source → better caching</a:t>
            </a:r>
            <a:endParaRPr lang="en-US" sz="1080" dirty="0"/>
          </a:p>
          <a:p>
            <a:pPr algn="l" marL="190500" indent="-190500">
              <a:buSzPct val="100000"/>
              <a:buChar char="•"/>
            </a:pPr>
            <a:r>
              <a:rPr lang="en-US" sz="1080" b="1" dirty="0">
                <a:solidFill>
                  <a:srgbClr val="0F172A"/>
                </a:solidFill>
                <a:latin typeface="Calibri" pitchFamily="34" charset="0"/>
                <a:ea typeface="Calibri" pitchFamily="34" charset="-122"/>
                <a:cs typeface="Calibri" pitchFamily="34" charset="-120"/>
              </a:rPr>
              <a:t>RUN</a:t>
            </a:r>
            <a:pPr algn="l" indent="0" marL="0">
              <a:spcAft>
                <a:spcPts val="600"/>
              </a:spcAft>
              <a:buNone/>
            </a:pPr>
            <a:r>
              <a:rPr lang="en-US" sz="1080" dirty="0">
                <a:solidFill>
                  <a:srgbClr val="475569"/>
                </a:solidFill>
                <a:latin typeface="Calibri" pitchFamily="34" charset="0"/>
                <a:ea typeface="Calibri" pitchFamily="34" charset="-122"/>
                <a:cs typeface="Calibri" pitchFamily="34" charset="-120"/>
              </a:rPr>
              <a:t>  execute build steps (install deps)</a:t>
            </a:r>
            <a:endParaRPr lang="en-US" sz="1080" dirty="0"/>
          </a:p>
          <a:p>
            <a:pPr algn="l" marL="190500" indent="-190500">
              <a:buSzPct val="100000"/>
              <a:buChar char="•"/>
            </a:pPr>
            <a:r>
              <a:rPr lang="en-US" sz="1080" b="1" dirty="0">
                <a:solidFill>
                  <a:srgbClr val="0F172A"/>
                </a:solidFill>
                <a:latin typeface="Calibri" pitchFamily="34" charset="0"/>
                <a:ea typeface="Calibri" pitchFamily="34" charset="-122"/>
                <a:cs typeface="Calibri" pitchFamily="34" charset="-120"/>
              </a:rPr>
              <a:t>ENV</a:t>
            </a:r>
            <a:pPr algn="l" indent="0" marL="0">
              <a:spcAft>
                <a:spcPts val="600"/>
              </a:spcAft>
              <a:buNone/>
            </a:pPr>
            <a:r>
              <a:rPr lang="en-US" sz="1080" dirty="0">
                <a:solidFill>
                  <a:srgbClr val="475569"/>
                </a:solidFill>
                <a:latin typeface="Calibri" pitchFamily="34" charset="0"/>
                <a:ea typeface="Calibri" pitchFamily="34" charset="-122"/>
                <a:cs typeface="Calibri" pitchFamily="34" charset="-120"/>
              </a:rPr>
              <a:t>  set runtime environment variables</a:t>
            </a:r>
            <a:endParaRPr lang="en-US" sz="1080" dirty="0"/>
          </a:p>
          <a:p>
            <a:pPr algn="l" marL="190500" indent="-190500">
              <a:buSzPct val="100000"/>
              <a:buChar char="•"/>
            </a:pPr>
            <a:r>
              <a:rPr lang="en-US" sz="1080" b="1" dirty="0">
                <a:solidFill>
                  <a:srgbClr val="0F172A"/>
                </a:solidFill>
                <a:latin typeface="Calibri" pitchFamily="34" charset="0"/>
                <a:ea typeface="Calibri" pitchFamily="34" charset="-122"/>
                <a:cs typeface="Calibri" pitchFamily="34" charset="-120"/>
              </a:rPr>
              <a:t>EXPOSE</a:t>
            </a:r>
            <a:pPr algn="l" indent="0" marL="0">
              <a:spcAft>
                <a:spcPts val="600"/>
              </a:spcAft>
              <a:buNone/>
            </a:pPr>
            <a:r>
              <a:rPr lang="en-US" sz="1080" dirty="0">
                <a:solidFill>
                  <a:srgbClr val="475569"/>
                </a:solidFill>
                <a:latin typeface="Calibri" pitchFamily="34" charset="0"/>
                <a:ea typeface="Calibri" pitchFamily="34" charset="-122"/>
                <a:cs typeface="Calibri" pitchFamily="34" charset="-120"/>
              </a:rPr>
              <a:t>  document the listening port</a:t>
            </a:r>
            <a:endParaRPr lang="en-US" sz="1080" dirty="0"/>
          </a:p>
          <a:p>
            <a:pPr algn="l" marL="190500" indent="-190500">
              <a:buSzPct val="100000"/>
              <a:buChar char="•"/>
            </a:pPr>
            <a:r>
              <a:rPr lang="en-US" sz="1080" b="1" dirty="0">
                <a:solidFill>
                  <a:srgbClr val="0F172A"/>
                </a:solidFill>
                <a:latin typeface="Calibri" pitchFamily="34" charset="0"/>
                <a:ea typeface="Calibri" pitchFamily="34" charset="-122"/>
                <a:cs typeface="Calibri" pitchFamily="34" charset="-120"/>
              </a:rPr>
              <a:t>USER</a:t>
            </a:r>
            <a:pPr algn="l" indent="0" marL="0">
              <a:spcAft>
                <a:spcPts val="600"/>
              </a:spcAft>
              <a:buNone/>
            </a:pPr>
            <a:r>
              <a:rPr lang="en-US" sz="1080" dirty="0">
                <a:solidFill>
                  <a:srgbClr val="475569"/>
                </a:solidFill>
                <a:latin typeface="Calibri" pitchFamily="34" charset="0"/>
                <a:ea typeface="Calibri" pitchFamily="34" charset="-122"/>
                <a:cs typeface="Calibri" pitchFamily="34" charset="-120"/>
              </a:rPr>
              <a:t>  drop to a non-root user</a:t>
            </a:r>
            <a:endParaRPr lang="en-US" sz="1080" dirty="0"/>
          </a:p>
          <a:p>
            <a:pPr algn="l" marL="190500" indent="-190500">
              <a:buSzPct val="100000"/>
              <a:buChar char="•"/>
            </a:pPr>
            <a:r>
              <a:rPr lang="en-US" sz="1080" b="1" dirty="0">
                <a:solidFill>
                  <a:srgbClr val="0F172A"/>
                </a:solidFill>
                <a:latin typeface="Calibri" pitchFamily="34" charset="0"/>
                <a:ea typeface="Calibri" pitchFamily="34" charset="-122"/>
                <a:cs typeface="Calibri" pitchFamily="34" charset="-120"/>
              </a:rPr>
              <a:t>CMD</a:t>
            </a:r>
            <a:pPr algn="l" indent="0" marL="0">
              <a:spcAft>
                <a:spcPts val="600"/>
              </a:spcAft>
              <a:buNone/>
            </a:pPr>
            <a:r>
              <a:rPr lang="en-US" sz="1080" dirty="0">
                <a:solidFill>
                  <a:srgbClr val="475569"/>
                </a:solidFill>
                <a:latin typeface="Calibri" pitchFamily="34" charset="0"/>
                <a:ea typeface="Calibri" pitchFamily="34" charset="-122"/>
                <a:cs typeface="Calibri" pitchFamily="34" charset="-120"/>
              </a:rPr>
              <a:t>  default command when the container starts</a:t>
            </a:r>
            <a:endParaRPr lang="en-US" sz="1080" dirty="0"/>
          </a:p>
        </p:txBody>
      </p:sp>
      <p:sp>
        <p:nvSpPr>
          <p:cNvPr id="13" name="Text 10"/>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14" name="Text 11"/>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Build Images</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REFERENCE</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Dockerfile instructions at a glance</a:t>
            </a:r>
            <a:endParaRPr lang="en-US" sz="2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3977640" cy="914400"/>
        </p:xfrm>
        <a:graphic>
          <a:graphicData uri="http://schemas.openxmlformats.org/drawingml/2006/table">
            <a:tbl>
              <a:tblPr/>
              <a:tblGrid>
                <a:gridCol w="1097280"/>
                <a:gridCol w="2880360"/>
              </a:tblGrid>
              <a:tr h="356616">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Instr.</a:t>
                      </a:r>
                      <a:endParaRPr lang="en-US" sz="105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Purpose</a:t>
                      </a:r>
                      <a:endParaRPr lang="en-US" sz="105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356616">
                <a:tc>
                  <a:txBody>
                    <a:bodyPr/>
                    <a:lstStyle/>
                    <a:p>
                      <a:pPr algn="l" indent="0" marL="0">
                        <a:buNone/>
                      </a:pPr>
                      <a:r>
                        <a:rPr lang="en-US" sz="1000" b="1" dirty="0">
                          <a:solidFill>
                            <a:srgbClr val="0F172A"/>
                          </a:solidFill>
                          <a:latin typeface="Calibri" pitchFamily="34" charset="0"/>
                          <a:ea typeface="Calibri" pitchFamily="34" charset="-122"/>
                          <a:cs typeface="Calibri" pitchFamily="34" charset="-120"/>
                        </a:rPr>
                        <a:t>FROM</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75569"/>
                          </a:solidFill>
                          <a:latin typeface="Calibri" pitchFamily="34" charset="0"/>
                          <a:ea typeface="Calibri" pitchFamily="34" charset="-122"/>
                          <a:cs typeface="Calibri" pitchFamily="34" charset="-120"/>
                        </a:rPr>
                        <a:t>base image to start from</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56616">
                <a:tc>
                  <a:txBody>
                    <a:bodyPr/>
                    <a:lstStyle/>
                    <a:p>
                      <a:pPr algn="l" indent="0" marL="0">
                        <a:buNone/>
                      </a:pPr>
                      <a:r>
                        <a:rPr lang="en-US" sz="1000" b="1" dirty="0">
                          <a:solidFill>
                            <a:srgbClr val="0F172A"/>
                          </a:solidFill>
                          <a:latin typeface="Calibri" pitchFamily="34" charset="0"/>
                          <a:ea typeface="Calibri" pitchFamily="34" charset="-122"/>
                          <a:cs typeface="Calibri" pitchFamily="34" charset="-120"/>
                        </a:rPr>
                        <a:t>RUN</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000" dirty="0">
                          <a:solidFill>
                            <a:srgbClr val="475569"/>
                          </a:solidFill>
                          <a:latin typeface="Calibri" pitchFamily="34" charset="0"/>
                          <a:ea typeface="Calibri" pitchFamily="34" charset="-122"/>
                          <a:cs typeface="Calibri" pitchFamily="34" charset="-120"/>
                        </a:rPr>
                        <a:t>execute a command at build time</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56616">
                <a:tc>
                  <a:txBody>
                    <a:bodyPr/>
                    <a:lstStyle/>
                    <a:p>
                      <a:pPr algn="l" indent="0" marL="0">
                        <a:buNone/>
                      </a:pPr>
                      <a:r>
                        <a:rPr lang="en-US" sz="1000" b="1" dirty="0">
                          <a:solidFill>
                            <a:srgbClr val="0F172A"/>
                          </a:solidFill>
                          <a:latin typeface="Calibri" pitchFamily="34" charset="0"/>
                          <a:ea typeface="Calibri" pitchFamily="34" charset="-122"/>
                          <a:cs typeface="Calibri" pitchFamily="34" charset="-120"/>
                        </a:rPr>
                        <a:t>COPY</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75569"/>
                          </a:solidFill>
                          <a:latin typeface="Calibri" pitchFamily="34" charset="0"/>
                          <a:ea typeface="Calibri" pitchFamily="34" charset="-122"/>
                          <a:cs typeface="Calibri" pitchFamily="34" charset="-120"/>
                        </a:rPr>
                        <a:t>copy files from build context</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56616">
                <a:tc>
                  <a:txBody>
                    <a:bodyPr/>
                    <a:lstStyle/>
                    <a:p>
                      <a:pPr algn="l" indent="0" marL="0">
                        <a:buNone/>
                      </a:pPr>
                      <a:r>
                        <a:rPr lang="en-US" sz="1000" b="1" dirty="0">
                          <a:solidFill>
                            <a:srgbClr val="0F172A"/>
                          </a:solidFill>
                          <a:latin typeface="Calibri" pitchFamily="34" charset="0"/>
                          <a:ea typeface="Calibri" pitchFamily="34" charset="-122"/>
                          <a:cs typeface="Calibri" pitchFamily="34" charset="-120"/>
                        </a:rPr>
                        <a:t>ADD</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000" dirty="0">
                          <a:solidFill>
                            <a:srgbClr val="475569"/>
                          </a:solidFill>
                          <a:latin typeface="Calibri" pitchFamily="34" charset="0"/>
                          <a:ea typeface="Calibri" pitchFamily="34" charset="-122"/>
                          <a:cs typeface="Calibri" pitchFamily="34" charset="-120"/>
                        </a:rPr>
                        <a:t>COPY + URL / tar auto-extract</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56616">
                <a:tc>
                  <a:txBody>
                    <a:bodyPr/>
                    <a:lstStyle/>
                    <a:p>
                      <a:pPr algn="l" indent="0" marL="0">
                        <a:buNone/>
                      </a:pPr>
                      <a:r>
                        <a:rPr lang="en-US" sz="1000" b="1" dirty="0">
                          <a:solidFill>
                            <a:srgbClr val="0F172A"/>
                          </a:solidFill>
                          <a:latin typeface="Calibri" pitchFamily="34" charset="0"/>
                          <a:ea typeface="Calibri" pitchFamily="34" charset="-122"/>
                          <a:cs typeface="Calibri" pitchFamily="34" charset="-120"/>
                        </a:rPr>
                        <a:t>WORKDIR</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75569"/>
                          </a:solidFill>
                          <a:latin typeface="Calibri" pitchFamily="34" charset="0"/>
                          <a:ea typeface="Calibri" pitchFamily="34" charset="-122"/>
                          <a:cs typeface="Calibri" pitchFamily="34" charset="-120"/>
                        </a:rPr>
                        <a:t>set working directory</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56616">
                <a:tc>
                  <a:txBody>
                    <a:bodyPr/>
                    <a:lstStyle/>
                    <a:p>
                      <a:pPr algn="l" indent="0" marL="0">
                        <a:buNone/>
                      </a:pPr>
                      <a:r>
                        <a:rPr lang="en-US" sz="1000" b="1" dirty="0">
                          <a:solidFill>
                            <a:srgbClr val="0F172A"/>
                          </a:solidFill>
                          <a:latin typeface="Calibri" pitchFamily="34" charset="0"/>
                          <a:ea typeface="Calibri" pitchFamily="34" charset="-122"/>
                          <a:cs typeface="Calibri" pitchFamily="34" charset="-120"/>
                        </a:rPr>
                        <a:t>ENV</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000" dirty="0">
                          <a:solidFill>
                            <a:srgbClr val="475569"/>
                          </a:solidFill>
                          <a:latin typeface="Calibri" pitchFamily="34" charset="0"/>
                          <a:ea typeface="Calibri" pitchFamily="34" charset="-122"/>
                          <a:cs typeface="Calibri" pitchFamily="34" charset="-120"/>
                        </a:rPr>
                        <a:t>set environment variable</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56616">
                <a:tc>
                  <a:txBody>
                    <a:bodyPr/>
                    <a:lstStyle/>
                    <a:p>
                      <a:pPr algn="l" indent="0" marL="0">
                        <a:buNone/>
                      </a:pPr>
                      <a:r>
                        <a:rPr lang="en-US" sz="1000" b="1" dirty="0">
                          <a:solidFill>
                            <a:srgbClr val="0F172A"/>
                          </a:solidFill>
                          <a:latin typeface="Calibri" pitchFamily="34" charset="0"/>
                          <a:ea typeface="Calibri" pitchFamily="34" charset="-122"/>
                          <a:cs typeface="Calibri" pitchFamily="34" charset="-120"/>
                        </a:rPr>
                        <a:t>ARG</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75569"/>
                          </a:solidFill>
                          <a:latin typeface="Calibri" pitchFamily="34" charset="0"/>
                          <a:ea typeface="Calibri" pitchFamily="34" charset="-122"/>
                          <a:cs typeface="Calibri" pitchFamily="34" charset="-120"/>
                        </a:rPr>
                        <a:t>build-time variable</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4709160" y="1280160"/>
          <a:ext cx="3977640" cy="914400"/>
        </p:xfrm>
        <a:graphic>
          <a:graphicData uri="http://schemas.openxmlformats.org/drawingml/2006/table">
            <a:tbl>
              <a:tblPr/>
              <a:tblGrid>
                <a:gridCol w="1280160"/>
                <a:gridCol w="2697480"/>
              </a:tblGrid>
              <a:tr h="356616">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Instr.</a:t>
                      </a:r>
                      <a:endParaRPr lang="en-US" sz="105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Purpose</a:t>
                      </a:r>
                      <a:endParaRPr lang="en-US" sz="105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356616">
                <a:tc>
                  <a:txBody>
                    <a:bodyPr/>
                    <a:lstStyle/>
                    <a:p>
                      <a:pPr algn="l" indent="0" marL="0">
                        <a:buNone/>
                      </a:pPr>
                      <a:r>
                        <a:rPr lang="en-US" sz="1000" b="1" dirty="0">
                          <a:solidFill>
                            <a:srgbClr val="0F172A"/>
                          </a:solidFill>
                          <a:latin typeface="Calibri" pitchFamily="34" charset="0"/>
                          <a:ea typeface="Calibri" pitchFamily="34" charset="-122"/>
                          <a:cs typeface="Calibri" pitchFamily="34" charset="-120"/>
                        </a:rPr>
                        <a:t>CMD</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75569"/>
                          </a:solidFill>
                          <a:latin typeface="Calibri" pitchFamily="34" charset="0"/>
                          <a:ea typeface="Calibri" pitchFamily="34" charset="-122"/>
                          <a:cs typeface="Calibri" pitchFamily="34" charset="-120"/>
                        </a:rPr>
                        <a:t>default command / args</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56616">
                <a:tc>
                  <a:txBody>
                    <a:bodyPr/>
                    <a:lstStyle/>
                    <a:p>
                      <a:pPr algn="l" indent="0" marL="0">
                        <a:buNone/>
                      </a:pPr>
                      <a:r>
                        <a:rPr lang="en-US" sz="1000" b="1" dirty="0">
                          <a:solidFill>
                            <a:srgbClr val="0F172A"/>
                          </a:solidFill>
                          <a:latin typeface="Calibri" pitchFamily="34" charset="0"/>
                          <a:ea typeface="Calibri" pitchFamily="34" charset="-122"/>
                          <a:cs typeface="Calibri" pitchFamily="34" charset="-120"/>
                        </a:rPr>
                        <a:t>ENTRYPOINT</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000" dirty="0">
                          <a:solidFill>
                            <a:srgbClr val="475569"/>
                          </a:solidFill>
                          <a:latin typeface="Calibri" pitchFamily="34" charset="0"/>
                          <a:ea typeface="Calibri" pitchFamily="34" charset="-122"/>
                          <a:cs typeface="Calibri" pitchFamily="34" charset="-120"/>
                        </a:rPr>
                        <a:t>the executable to run</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56616">
                <a:tc>
                  <a:txBody>
                    <a:bodyPr/>
                    <a:lstStyle/>
                    <a:p>
                      <a:pPr algn="l" indent="0" marL="0">
                        <a:buNone/>
                      </a:pPr>
                      <a:r>
                        <a:rPr lang="en-US" sz="1000" b="1" dirty="0">
                          <a:solidFill>
                            <a:srgbClr val="0F172A"/>
                          </a:solidFill>
                          <a:latin typeface="Calibri" pitchFamily="34" charset="0"/>
                          <a:ea typeface="Calibri" pitchFamily="34" charset="-122"/>
                          <a:cs typeface="Calibri" pitchFamily="34" charset="-120"/>
                        </a:rPr>
                        <a:t>EXPOSE</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75569"/>
                          </a:solidFill>
                          <a:latin typeface="Calibri" pitchFamily="34" charset="0"/>
                          <a:ea typeface="Calibri" pitchFamily="34" charset="-122"/>
                          <a:cs typeface="Calibri" pitchFamily="34" charset="-120"/>
                        </a:rPr>
                        <a:t>document a port</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56616">
                <a:tc>
                  <a:txBody>
                    <a:bodyPr/>
                    <a:lstStyle/>
                    <a:p>
                      <a:pPr algn="l" indent="0" marL="0">
                        <a:buNone/>
                      </a:pPr>
                      <a:r>
                        <a:rPr lang="en-US" sz="1000" b="1" dirty="0">
                          <a:solidFill>
                            <a:srgbClr val="0F172A"/>
                          </a:solidFill>
                          <a:latin typeface="Calibri" pitchFamily="34" charset="0"/>
                          <a:ea typeface="Calibri" pitchFamily="34" charset="-122"/>
                          <a:cs typeface="Calibri" pitchFamily="34" charset="-120"/>
                        </a:rPr>
                        <a:t>VOLUME</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000" dirty="0">
                          <a:solidFill>
                            <a:srgbClr val="475569"/>
                          </a:solidFill>
                          <a:latin typeface="Calibri" pitchFamily="34" charset="0"/>
                          <a:ea typeface="Calibri" pitchFamily="34" charset="-122"/>
                          <a:cs typeface="Calibri" pitchFamily="34" charset="-120"/>
                        </a:rPr>
                        <a:t>declare a mount point</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56616">
                <a:tc>
                  <a:txBody>
                    <a:bodyPr/>
                    <a:lstStyle/>
                    <a:p>
                      <a:pPr algn="l" indent="0" marL="0">
                        <a:buNone/>
                      </a:pPr>
                      <a:r>
                        <a:rPr lang="en-US" sz="1000" b="1" dirty="0">
                          <a:solidFill>
                            <a:srgbClr val="0F172A"/>
                          </a:solidFill>
                          <a:latin typeface="Calibri" pitchFamily="34" charset="0"/>
                          <a:ea typeface="Calibri" pitchFamily="34" charset="-122"/>
                          <a:cs typeface="Calibri" pitchFamily="34" charset="-120"/>
                        </a:rPr>
                        <a:t>USER</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75569"/>
                          </a:solidFill>
                          <a:latin typeface="Calibri" pitchFamily="34" charset="0"/>
                          <a:ea typeface="Calibri" pitchFamily="34" charset="-122"/>
                          <a:cs typeface="Calibri" pitchFamily="34" charset="-120"/>
                        </a:rPr>
                        <a:t>set the runtime user</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56616">
                <a:tc>
                  <a:txBody>
                    <a:bodyPr/>
                    <a:lstStyle/>
                    <a:p>
                      <a:pPr algn="l" indent="0" marL="0">
                        <a:buNone/>
                      </a:pPr>
                      <a:r>
                        <a:rPr lang="en-US" sz="1000" b="1" dirty="0">
                          <a:solidFill>
                            <a:srgbClr val="0F172A"/>
                          </a:solidFill>
                          <a:latin typeface="Calibri" pitchFamily="34" charset="0"/>
                          <a:ea typeface="Calibri" pitchFamily="34" charset="-122"/>
                          <a:cs typeface="Calibri" pitchFamily="34" charset="-120"/>
                        </a:rPr>
                        <a:t>LABEL</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000" dirty="0">
                          <a:solidFill>
                            <a:srgbClr val="475569"/>
                          </a:solidFill>
                          <a:latin typeface="Calibri" pitchFamily="34" charset="0"/>
                          <a:ea typeface="Calibri" pitchFamily="34" charset="-122"/>
                          <a:cs typeface="Calibri" pitchFamily="34" charset="-120"/>
                        </a:rPr>
                        <a:t>add metadata</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56616">
                <a:tc>
                  <a:txBody>
                    <a:bodyPr/>
                    <a:lstStyle/>
                    <a:p>
                      <a:pPr algn="l" indent="0" marL="0">
                        <a:buNone/>
                      </a:pPr>
                      <a:r>
                        <a:rPr lang="en-US" sz="1000" b="1" dirty="0">
                          <a:solidFill>
                            <a:srgbClr val="0F172A"/>
                          </a:solidFill>
                          <a:latin typeface="Calibri" pitchFamily="34" charset="0"/>
                          <a:ea typeface="Calibri" pitchFamily="34" charset="-122"/>
                          <a:cs typeface="Calibri" pitchFamily="34" charset="-120"/>
                        </a:rPr>
                        <a:t>HEALTHCHECK</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75569"/>
                          </a:solidFill>
                          <a:latin typeface="Calibri" pitchFamily="34" charset="0"/>
                          <a:ea typeface="Calibri" pitchFamily="34" charset="-122"/>
                          <a:cs typeface="Calibri" pitchFamily="34" charset="-120"/>
                        </a:rPr>
                        <a:t>container health probe</a:t>
                      </a:r>
                      <a:endParaRPr lang="en-US" sz="10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8" name="Shape 3"/>
          <p:cNvSpPr/>
          <p:nvPr/>
        </p:nvSpPr>
        <p:spPr>
          <a:xfrm>
            <a:off x="457200" y="4224528"/>
            <a:ext cx="8229600" cy="475488"/>
          </a:xfrm>
          <a:prstGeom prst="roundRect">
            <a:avLst>
              <a:gd name="adj" fmla="val 15385"/>
            </a:avLst>
          </a:prstGeom>
          <a:solidFill>
            <a:srgbClr val="0F172A"/>
          </a:solidFill>
          <a:ln/>
          <a:effectLst>
            <a:outerShdw sx="100000" sy="100000" kx="0" ky="0" algn="bl" rotWithShape="0" blurRad="76200" dist="25400" dir="2700000">
              <a:srgbClr val="475569">
                <a:alpha val="12000"/>
              </a:srgbClr>
            </a:outerShdw>
          </a:effectLst>
        </p:spPr>
      </p:sp>
      <p:sp>
        <p:nvSpPr>
          <p:cNvPr id="9" name="Text 4"/>
          <p:cNvSpPr/>
          <p:nvPr/>
        </p:nvSpPr>
        <p:spPr>
          <a:xfrm>
            <a:off x="640080" y="4224528"/>
            <a:ext cx="7863840" cy="475488"/>
          </a:xfrm>
          <a:prstGeom prst="rect">
            <a:avLst/>
          </a:prstGeom>
          <a:noFill/>
          <a:ln/>
        </p:spPr>
        <p:txBody>
          <a:bodyPr wrap="square" lIns="0" tIns="0" rIns="0" bIns="0" rtlCol="0" anchor="ctr"/>
          <a:lstStyle/>
          <a:p>
            <a:pPr algn="ctr" indent="0" marL="0">
              <a:buNone/>
            </a:pPr>
            <a:r>
              <a:rPr lang="en-US" sz="1250" b="1" i="1" dirty="0">
                <a:solidFill>
                  <a:srgbClr val="FFFFFF"/>
                </a:solidFill>
                <a:latin typeface="Calibri" pitchFamily="34" charset="0"/>
                <a:ea typeface="Calibri" pitchFamily="34" charset="-122"/>
                <a:cs typeface="Calibri" pitchFamily="34" charset="-120"/>
              </a:rPr>
              <a:t>Build-time: FROM · RUN · COPY · ARG      Run-time: CMD · ENTRYPOINT · ENV · USER</a:t>
            </a:r>
            <a:endParaRPr lang="en-US" sz="1250" dirty="0"/>
          </a:p>
        </p:txBody>
      </p:sp>
      <p:sp>
        <p:nvSpPr>
          <p:cNvPr id="10" name="Text 5"/>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11" name="Text 6"/>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Build Images</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THE CLASSIC CONFUSION</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CMD vs ENTRYPOINT</a:t>
            </a:r>
            <a:endParaRPr lang="en-US" sz="2500" dirty="0"/>
          </a:p>
        </p:txBody>
      </p:sp>
      <p:sp>
        <p:nvSpPr>
          <p:cNvPr id="6" name="Shape 3"/>
          <p:cNvSpPr/>
          <p:nvPr/>
        </p:nvSpPr>
        <p:spPr>
          <a:xfrm>
            <a:off x="457200" y="1234440"/>
            <a:ext cx="3977640" cy="1600200"/>
          </a:xfrm>
          <a:prstGeom prst="roundRect">
            <a:avLst>
              <a:gd name="adj" fmla="val 4571"/>
            </a:avLst>
          </a:prstGeom>
          <a:solidFill>
            <a:srgbClr val="EAF4FD"/>
          </a:solidFill>
          <a:ln w="12700">
            <a:solidFill>
              <a:srgbClr val="BBDDF7"/>
            </a:solidFill>
            <a:prstDash val="solid"/>
          </a:ln>
          <a:effectLst>
            <a:outerShdw sx="100000" sy="100000" kx="0" ky="0" algn="bl" rotWithShape="0" blurRad="76200" dist="25400" dir="2700000">
              <a:srgbClr val="475569">
                <a:alpha val="10000"/>
              </a:srgbClr>
            </a:outerShdw>
          </a:effectLst>
        </p:spPr>
      </p:sp>
      <p:pic>
        <p:nvPicPr>
          <p:cNvPr id="7" name="Image 1" descr="preencoded.png">    </p:cNvPr>
          <p:cNvPicPr>
            <a:picLocks noChangeAspect="1"/>
          </p:cNvPicPr>
          <p:nvPr/>
        </p:nvPicPr>
        <p:blipFill>
          <a:blip r:embed="rId2"/>
          <a:stretch>
            <a:fillRect/>
          </a:stretch>
        </p:blipFill>
        <p:spPr>
          <a:xfrm>
            <a:off x="694944" y="1463040"/>
            <a:ext cx="310896" cy="310896"/>
          </a:xfrm>
          <a:prstGeom prst="rect">
            <a:avLst/>
          </a:prstGeom>
        </p:spPr>
      </p:pic>
      <p:sp>
        <p:nvSpPr>
          <p:cNvPr id="8" name="Text 4"/>
          <p:cNvSpPr/>
          <p:nvPr/>
        </p:nvSpPr>
        <p:spPr>
          <a:xfrm>
            <a:off x="1115568" y="1463040"/>
            <a:ext cx="3154680" cy="310896"/>
          </a:xfrm>
          <a:prstGeom prst="rect">
            <a:avLst/>
          </a:prstGeom>
          <a:noFill/>
          <a:ln/>
        </p:spPr>
        <p:txBody>
          <a:bodyPr wrap="square" lIns="0" tIns="0" rIns="0" bIns="0" rtlCol="0" anchor="ctr"/>
          <a:lstStyle/>
          <a:p>
            <a:pPr indent="0" marL="0">
              <a:buNone/>
            </a:pPr>
            <a:r>
              <a:rPr lang="en-US" sz="1200" b="1" spc="150" kern="0" dirty="0">
                <a:solidFill>
                  <a:srgbClr val="2496ED"/>
                </a:solidFill>
                <a:latin typeface="Calibri" pitchFamily="34" charset="0"/>
                <a:ea typeface="Calibri" pitchFamily="34" charset="-122"/>
                <a:cs typeface="Calibri" pitchFamily="34" charset="-120"/>
              </a:rPr>
              <a:t>CMD</a:t>
            </a:r>
            <a:endParaRPr lang="en-US" sz="1200" dirty="0"/>
          </a:p>
        </p:txBody>
      </p:sp>
      <p:sp>
        <p:nvSpPr>
          <p:cNvPr id="9" name="Text 5"/>
          <p:cNvSpPr/>
          <p:nvPr/>
        </p:nvSpPr>
        <p:spPr>
          <a:xfrm>
            <a:off x="676656" y="1755648"/>
            <a:ext cx="3566160" cy="1097280"/>
          </a:xfrm>
          <a:prstGeom prst="rect">
            <a:avLst/>
          </a:prstGeom>
          <a:noFill/>
          <a:ln/>
        </p:spPr>
        <p:txBody>
          <a:bodyPr wrap="square" lIns="0" tIns="0" rIns="0" bIns="0" rtlCol="0" anchor="t"/>
          <a:lstStyle/>
          <a:p>
            <a:pPr marL="165100" indent="-165100">
              <a:spcAft>
                <a:spcPts val="700"/>
              </a:spcAft>
              <a:buSzPct val="100000"/>
              <a:buChar char="•"/>
            </a:pPr>
            <a:r>
              <a:rPr lang="en-US" sz="1100" dirty="0">
                <a:solidFill>
                  <a:srgbClr val="334155"/>
                </a:solidFill>
                <a:latin typeface="Calibri" pitchFamily="34" charset="0"/>
                <a:ea typeface="Calibri" pitchFamily="34" charset="-122"/>
                <a:cs typeface="Calibri" pitchFamily="34" charset="-120"/>
              </a:rPr>
              <a:t>Provides default arguments</a:t>
            </a:r>
            <a:endParaRPr lang="en-US" sz="1100" dirty="0"/>
          </a:p>
          <a:p>
            <a:pPr marL="165100" indent="-165100">
              <a:spcAft>
                <a:spcPts val="700"/>
              </a:spcAft>
              <a:buSzPct val="100000"/>
              <a:buChar char="•"/>
            </a:pPr>
            <a:r>
              <a:rPr lang="en-US" sz="1100" dirty="0">
                <a:solidFill>
                  <a:srgbClr val="334155"/>
                </a:solidFill>
                <a:latin typeface="Calibri" pitchFamily="34" charset="0"/>
                <a:ea typeface="Calibri" pitchFamily="34" charset="-122"/>
                <a:cs typeface="Calibri" pitchFamily="34" charset="-120"/>
              </a:rPr>
              <a:t>Easily overridden: docker run img &lt;other&gt;</a:t>
            </a:r>
            <a:endParaRPr lang="en-US" sz="1100" dirty="0"/>
          </a:p>
          <a:p>
            <a:pPr marL="165100" indent="-165100">
              <a:spcAft>
                <a:spcPts val="700"/>
              </a:spcAft>
              <a:buSzPct val="100000"/>
              <a:buChar char="•"/>
            </a:pPr>
            <a:r>
              <a:rPr lang="en-US" sz="1100" dirty="0">
                <a:solidFill>
                  <a:srgbClr val="334155"/>
                </a:solidFill>
                <a:latin typeface="Calibri" pitchFamily="34" charset="0"/>
                <a:ea typeface="Calibri" pitchFamily="34" charset="-122"/>
                <a:cs typeface="Calibri" pitchFamily="34" charset="-120"/>
              </a:rPr>
              <a:t>Often the whole command for simple images</a:t>
            </a:r>
            <a:endParaRPr lang="en-US" sz="1100" dirty="0"/>
          </a:p>
        </p:txBody>
      </p:sp>
      <p:sp>
        <p:nvSpPr>
          <p:cNvPr id="10" name="Shape 6"/>
          <p:cNvSpPr/>
          <p:nvPr/>
        </p:nvSpPr>
        <p:spPr>
          <a:xfrm>
            <a:off x="4709160" y="1234440"/>
            <a:ext cx="3977640" cy="1600200"/>
          </a:xfrm>
          <a:prstGeom prst="roundRect">
            <a:avLst>
              <a:gd name="adj" fmla="val 4571"/>
            </a:avLst>
          </a:prstGeom>
          <a:solidFill>
            <a:srgbClr val="F0FDFA"/>
          </a:solidFill>
          <a:ln w="12700">
            <a:solidFill>
              <a:srgbClr val="99F6E4"/>
            </a:solidFill>
            <a:prstDash val="solid"/>
          </a:ln>
          <a:effectLst>
            <a:outerShdw sx="100000" sy="100000" kx="0" ky="0" algn="bl" rotWithShape="0" blurRad="76200" dist="25400" dir="2700000">
              <a:srgbClr val="475569">
                <a:alpha val="10000"/>
              </a:srgbClr>
            </a:outerShdw>
          </a:effectLst>
        </p:spPr>
      </p:sp>
      <p:pic>
        <p:nvPicPr>
          <p:cNvPr id="11" name="Image 2" descr="preencoded.png">    </p:cNvPr>
          <p:cNvPicPr>
            <a:picLocks noChangeAspect="1"/>
          </p:cNvPicPr>
          <p:nvPr/>
        </p:nvPicPr>
        <p:blipFill>
          <a:blip r:embed="rId3"/>
          <a:stretch>
            <a:fillRect/>
          </a:stretch>
        </p:blipFill>
        <p:spPr>
          <a:xfrm>
            <a:off x="4946904" y="1463040"/>
            <a:ext cx="310896" cy="310896"/>
          </a:xfrm>
          <a:prstGeom prst="rect">
            <a:avLst/>
          </a:prstGeom>
        </p:spPr>
      </p:pic>
      <p:sp>
        <p:nvSpPr>
          <p:cNvPr id="12" name="Text 7"/>
          <p:cNvSpPr/>
          <p:nvPr/>
        </p:nvSpPr>
        <p:spPr>
          <a:xfrm>
            <a:off x="5367528" y="1463040"/>
            <a:ext cx="3154680" cy="310896"/>
          </a:xfrm>
          <a:prstGeom prst="rect">
            <a:avLst/>
          </a:prstGeom>
          <a:noFill/>
          <a:ln/>
        </p:spPr>
        <p:txBody>
          <a:bodyPr wrap="square" lIns="0" tIns="0" rIns="0" bIns="0" rtlCol="0" anchor="ctr"/>
          <a:lstStyle/>
          <a:p>
            <a:pPr indent="0" marL="0">
              <a:buNone/>
            </a:pPr>
            <a:r>
              <a:rPr lang="en-US" sz="1200" b="1" spc="150" kern="0" dirty="0">
                <a:solidFill>
                  <a:srgbClr val="0F766E"/>
                </a:solidFill>
                <a:latin typeface="Calibri" pitchFamily="34" charset="0"/>
                <a:ea typeface="Calibri" pitchFamily="34" charset="-122"/>
                <a:cs typeface="Calibri" pitchFamily="34" charset="-120"/>
              </a:rPr>
              <a:t>ENTRYPOINT</a:t>
            </a:r>
            <a:endParaRPr lang="en-US" sz="1200" dirty="0"/>
          </a:p>
        </p:txBody>
      </p:sp>
      <p:sp>
        <p:nvSpPr>
          <p:cNvPr id="13" name="Text 8"/>
          <p:cNvSpPr/>
          <p:nvPr/>
        </p:nvSpPr>
        <p:spPr>
          <a:xfrm>
            <a:off x="4928616" y="1755648"/>
            <a:ext cx="3566160" cy="1097280"/>
          </a:xfrm>
          <a:prstGeom prst="rect">
            <a:avLst/>
          </a:prstGeom>
          <a:noFill/>
          <a:ln/>
        </p:spPr>
        <p:txBody>
          <a:bodyPr wrap="square" lIns="0" tIns="0" rIns="0" bIns="0" rtlCol="0" anchor="t"/>
          <a:lstStyle/>
          <a:p>
            <a:pPr marL="165100" indent="-165100">
              <a:spcAft>
                <a:spcPts val="700"/>
              </a:spcAft>
              <a:buSzPct val="100000"/>
              <a:buChar char="•"/>
            </a:pPr>
            <a:r>
              <a:rPr lang="en-US" sz="1100" dirty="0">
                <a:solidFill>
                  <a:srgbClr val="334155"/>
                </a:solidFill>
                <a:latin typeface="Calibri" pitchFamily="34" charset="0"/>
                <a:ea typeface="Calibri" pitchFamily="34" charset="-122"/>
                <a:cs typeface="Calibri" pitchFamily="34" charset="-120"/>
              </a:rPr>
              <a:t>Defines the executable that always runs</a:t>
            </a:r>
            <a:endParaRPr lang="en-US" sz="1100" dirty="0"/>
          </a:p>
          <a:p>
            <a:pPr marL="165100" indent="-165100">
              <a:spcAft>
                <a:spcPts val="700"/>
              </a:spcAft>
              <a:buSzPct val="100000"/>
              <a:buChar char="•"/>
            </a:pPr>
            <a:r>
              <a:rPr lang="en-US" sz="1100" dirty="0">
                <a:solidFill>
                  <a:srgbClr val="334155"/>
                </a:solidFill>
                <a:latin typeface="Calibri" pitchFamily="34" charset="0"/>
                <a:ea typeface="Calibri" pitchFamily="34" charset="-122"/>
                <a:cs typeface="Calibri" pitchFamily="34" charset="-120"/>
              </a:rPr>
              <a:t>CMD / CLI args are appended to it</a:t>
            </a:r>
            <a:endParaRPr lang="en-US" sz="1100" dirty="0"/>
          </a:p>
          <a:p>
            <a:pPr marL="165100" indent="-165100">
              <a:spcAft>
                <a:spcPts val="700"/>
              </a:spcAft>
              <a:buSzPct val="100000"/>
              <a:buChar char="•"/>
            </a:pPr>
            <a:r>
              <a:rPr lang="en-US" sz="1100" dirty="0">
                <a:solidFill>
                  <a:srgbClr val="334155"/>
                </a:solidFill>
                <a:latin typeface="Calibri" pitchFamily="34" charset="0"/>
                <a:ea typeface="Calibri" pitchFamily="34" charset="-122"/>
                <a:cs typeface="Calibri" pitchFamily="34" charset="-120"/>
              </a:rPr>
              <a:t>Override only with --entrypoint</a:t>
            </a:r>
            <a:endParaRPr lang="en-US" sz="1100" dirty="0"/>
          </a:p>
        </p:txBody>
      </p:sp>
      <p:sp>
        <p:nvSpPr>
          <p:cNvPr id="14" name="Shape 9"/>
          <p:cNvSpPr/>
          <p:nvPr/>
        </p:nvSpPr>
        <p:spPr>
          <a:xfrm>
            <a:off x="457200" y="3017520"/>
            <a:ext cx="8229600" cy="1417320"/>
          </a:xfrm>
          <a:prstGeom prst="roundRect">
            <a:avLst>
              <a:gd name="adj" fmla="val 4516"/>
            </a:avLst>
          </a:prstGeom>
          <a:solidFill>
            <a:srgbClr val="1E293B"/>
          </a:solidFill>
          <a:ln w="12700">
            <a:solidFill>
              <a:srgbClr val="334155"/>
            </a:solidFill>
            <a:prstDash val="solid"/>
          </a:ln>
          <a:effectLst>
            <a:outerShdw sx="100000" sy="100000" kx="0" ky="0" algn="bl" rotWithShape="0" blurRad="114300" dist="38100" dir="2700000">
              <a:srgbClr val="475569">
                <a:alpha val="24000"/>
              </a:srgbClr>
            </a:outerShdw>
          </a:effectLst>
        </p:spPr>
      </p:sp>
      <p:sp>
        <p:nvSpPr>
          <p:cNvPr id="15" name="Shape 10"/>
          <p:cNvSpPr/>
          <p:nvPr/>
        </p:nvSpPr>
        <p:spPr>
          <a:xfrm>
            <a:off x="658368" y="3200400"/>
            <a:ext cx="91440" cy="91440"/>
          </a:xfrm>
          <a:prstGeom prst="ellipse">
            <a:avLst/>
          </a:prstGeom>
          <a:solidFill>
            <a:srgbClr val="EF4444"/>
          </a:solidFill>
          <a:ln/>
        </p:spPr>
      </p:sp>
      <p:sp>
        <p:nvSpPr>
          <p:cNvPr id="16" name="Shape 11"/>
          <p:cNvSpPr/>
          <p:nvPr/>
        </p:nvSpPr>
        <p:spPr>
          <a:xfrm>
            <a:off x="804672" y="3200400"/>
            <a:ext cx="91440" cy="91440"/>
          </a:xfrm>
          <a:prstGeom prst="ellipse">
            <a:avLst/>
          </a:prstGeom>
          <a:solidFill>
            <a:srgbClr val="F59E0B"/>
          </a:solidFill>
          <a:ln/>
        </p:spPr>
      </p:sp>
      <p:sp>
        <p:nvSpPr>
          <p:cNvPr id="17" name="Shape 12"/>
          <p:cNvSpPr/>
          <p:nvPr/>
        </p:nvSpPr>
        <p:spPr>
          <a:xfrm>
            <a:off x="950976" y="3200400"/>
            <a:ext cx="91440" cy="91440"/>
          </a:xfrm>
          <a:prstGeom prst="ellipse">
            <a:avLst/>
          </a:prstGeom>
          <a:solidFill>
            <a:srgbClr val="22C55E"/>
          </a:solidFill>
          <a:ln/>
        </p:spPr>
      </p:sp>
      <p:sp>
        <p:nvSpPr>
          <p:cNvPr id="18" name="Text 13"/>
          <p:cNvSpPr/>
          <p:nvPr/>
        </p:nvSpPr>
        <p:spPr>
          <a:xfrm>
            <a:off x="1170432" y="3136392"/>
            <a:ext cx="7315200" cy="20116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best of both — exec form preferred</a:t>
            </a:r>
            <a:endParaRPr lang="en-US" sz="900" dirty="0"/>
          </a:p>
        </p:txBody>
      </p:sp>
      <p:sp>
        <p:nvSpPr>
          <p:cNvPr id="19" name="Text 14"/>
          <p:cNvSpPr/>
          <p:nvPr/>
        </p:nvSpPr>
        <p:spPr>
          <a:xfrm>
            <a:off x="676656" y="3456432"/>
            <a:ext cx="7790688" cy="868680"/>
          </a:xfrm>
          <a:prstGeom prst="rect">
            <a:avLst/>
          </a:prstGeom>
          <a:noFill/>
          <a:ln/>
        </p:spPr>
        <p:txBody>
          <a:bodyPr wrap="square" lIns="0" tIns="0" rIns="0" bIns="0" rtlCol="0" anchor="t"/>
          <a:lstStyle/>
          <a:p>
            <a:pPr algn="l" indent="0" marL="0">
              <a:lnSpc>
                <a:spcPts val="1180"/>
              </a:lnSpc>
              <a:buNone/>
            </a:pPr>
            <a:r>
              <a:rPr lang="en-US" sz="1000" b="1" dirty="0">
                <a:solidFill>
                  <a:srgbClr val="38BDF8"/>
                </a:solidFill>
                <a:latin typeface="Courier New" pitchFamily="34" charset="0"/>
                <a:ea typeface="Courier New" pitchFamily="34" charset="-122"/>
                <a:cs typeface="Courier New" pitchFamily="34" charset="-120"/>
              </a:rPr>
              <a:t>ENTRYPOINT </a:t>
            </a:r>
            <a:pPr algn="l" indent="0" marL="0">
              <a:lnSpc>
                <a:spcPts val="1180"/>
              </a:lnSpc>
              <a:buNone/>
            </a:pPr>
            <a:r>
              <a:rPr lang="en-US" sz="1000" dirty="0">
                <a:solidFill>
                  <a:srgbClr val="FFFFFF"/>
                </a:solidFill>
                <a:latin typeface="Courier New" pitchFamily="34" charset="0"/>
                <a:ea typeface="Courier New" pitchFamily="34" charset="-122"/>
                <a:cs typeface="Courier New" pitchFamily="34" charset="-120"/>
              </a:rPr>
              <a:t>["python", "app.py"]</a:t>
            </a:r>
            <a:endParaRPr lang="en-US" sz="1000" dirty="0"/>
          </a:p>
          <a:p>
            <a:pPr algn="l" indent="0" marL="0">
              <a:lnSpc>
                <a:spcPts val="1180"/>
              </a:lnSpc>
              <a:buNone/>
            </a:pPr>
            <a:r>
              <a:rPr lang="en-US" sz="1000" b="1" dirty="0">
                <a:solidFill>
                  <a:srgbClr val="38BDF8"/>
                </a:solidFill>
                <a:latin typeface="Courier New" pitchFamily="34" charset="0"/>
                <a:ea typeface="Courier New" pitchFamily="34" charset="-122"/>
                <a:cs typeface="Courier New" pitchFamily="34" charset="-120"/>
              </a:rPr>
              <a:t>CMD </a:t>
            </a:r>
            <a:pPr algn="l" indent="0" marL="0">
              <a:lnSpc>
                <a:spcPts val="1180"/>
              </a:lnSpc>
              <a:buNone/>
            </a:pPr>
            <a:r>
              <a:rPr lang="en-US" sz="1000" dirty="0">
                <a:solidFill>
                  <a:srgbClr val="FFFFFF"/>
                </a:solidFill>
                <a:latin typeface="Courier New" pitchFamily="34" charset="0"/>
                <a:ea typeface="Courier New" pitchFamily="34" charset="-122"/>
                <a:cs typeface="Courier New" pitchFamily="34" charset="-120"/>
              </a:rPr>
              <a:t>["--port", "8000"]</a:t>
            </a:r>
            <a:endParaRPr lang="en-US" sz="1000" dirty="0"/>
          </a:p>
          <a:p>
            <a:pPr algn="l" indent="0" marL="0">
              <a:lnSpc>
                <a:spcPts val="1180"/>
              </a:lnSpc>
              <a:buNone/>
            </a:pPr>
            <a:r>
              <a:rPr lang="en-US" sz="1000" dirty="0">
                <a:solidFill>
                  <a:srgbClr val="94A3B8"/>
                </a:solidFill>
                <a:latin typeface="Courier New" pitchFamily="34" charset="0"/>
                <a:ea typeface="Courier New" pitchFamily="34" charset="-122"/>
                <a:cs typeface="Courier New" pitchFamily="34" charset="-120"/>
              </a:rPr>
              <a:t># docker run img              -&gt;  python app.py --port 8000</a:t>
            </a:r>
            <a:endParaRPr lang="en-US" sz="1000" dirty="0"/>
          </a:p>
          <a:p>
            <a:pPr algn="l" indent="0" marL="0">
              <a:lnSpc>
                <a:spcPts val="1180"/>
              </a:lnSpc>
              <a:buNone/>
            </a:pPr>
            <a:r>
              <a:rPr lang="en-US" sz="1000" dirty="0">
                <a:solidFill>
                  <a:srgbClr val="94A3B8"/>
                </a:solidFill>
                <a:latin typeface="Courier New" pitchFamily="34" charset="0"/>
                <a:ea typeface="Courier New" pitchFamily="34" charset="-122"/>
                <a:cs typeface="Courier New" pitchFamily="34" charset="-120"/>
              </a:rPr>
              <a:t># docker run img --port 9000  -&gt;  python app.py --port 9000</a:t>
            </a:r>
            <a:endParaRPr lang="en-US" sz="1000" dirty="0"/>
          </a:p>
        </p:txBody>
      </p:sp>
      <p:sp>
        <p:nvSpPr>
          <p:cNvPr id="20" name="Text 15"/>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21" name="Text 16"/>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Build Images</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EAF4FD"/>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2496ED"/>
                </a:solidFill>
                <a:latin typeface="Calibri" pitchFamily="34" charset="0"/>
                <a:ea typeface="Calibri" pitchFamily="34" charset="-122"/>
                <a:cs typeface="Calibri" pitchFamily="34" charset="-120"/>
              </a:rPr>
              <a:t>PERFORMANCE</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Layers &amp; the build cache</a:t>
            </a:r>
            <a:endParaRPr lang="en-US" sz="2500" dirty="0"/>
          </a:p>
        </p:txBody>
      </p:sp>
      <p:sp>
        <p:nvSpPr>
          <p:cNvPr id="6" name="Shape 3"/>
          <p:cNvSpPr/>
          <p:nvPr/>
        </p:nvSpPr>
        <p:spPr>
          <a:xfrm>
            <a:off x="548640" y="1828800"/>
            <a:ext cx="3383280" cy="384048"/>
          </a:xfrm>
          <a:prstGeom prst="rect">
            <a:avLst/>
          </a:prstGeom>
          <a:solidFill>
            <a:srgbClr val="F0FDFA"/>
          </a:solidFill>
          <a:ln w="16510">
            <a:solidFill>
              <a:srgbClr val="99F6E4"/>
            </a:solidFill>
            <a:prstDash val="dash"/>
          </a:ln>
        </p:spPr>
      </p:sp>
      <p:sp>
        <p:nvSpPr>
          <p:cNvPr id="7" name="Text 4"/>
          <p:cNvSpPr/>
          <p:nvPr/>
        </p:nvSpPr>
        <p:spPr>
          <a:xfrm>
            <a:off x="548640" y="1828800"/>
            <a:ext cx="3383280" cy="384048"/>
          </a:xfrm>
          <a:prstGeom prst="rect">
            <a:avLst/>
          </a:prstGeom>
          <a:noFill/>
          <a:ln/>
        </p:spPr>
        <p:txBody>
          <a:bodyPr wrap="square" lIns="0" tIns="0" rIns="0" bIns="0" rtlCol="0" anchor="ctr"/>
          <a:lstStyle/>
          <a:p>
            <a:pPr algn="ctr" indent="0" marL="0">
              <a:buNone/>
            </a:pPr>
            <a:r>
              <a:rPr lang="en-US" sz="950" b="1" dirty="0">
                <a:solidFill>
                  <a:srgbClr val="0F766E"/>
                </a:solidFill>
                <a:latin typeface="Courier New" pitchFamily="34" charset="0"/>
                <a:ea typeface="Courier New" pitchFamily="34" charset="-122"/>
                <a:cs typeface="Courier New" pitchFamily="34" charset="-120"/>
              </a:rPr>
              <a:t>writable container layer</a:t>
            </a:r>
            <a:endParaRPr lang="en-US" sz="950" dirty="0"/>
          </a:p>
        </p:txBody>
      </p:sp>
      <p:sp>
        <p:nvSpPr>
          <p:cNvPr id="8" name="Shape 5"/>
          <p:cNvSpPr/>
          <p:nvPr/>
        </p:nvSpPr>
        <p:spPr>
          <a:xfrm>
            <a:off x="548640" y="2249424"/>
            <a:ext cx="3383280" cy="384048"/>
          </a:xfrm>
          <a:prstGeom prst="rect">
            <a:avLst/>
          </a:prstGeom>
          <a:solidFill>
            <a:srgbClr val="334155"/>
          </a:solidFill>
          <a:ln w="16510">
            <a:solidFill>
              <a:srgbClr val="FFFFFF"/>
            </a:solidFill>
            <a:prstDash val="solid"/>
          </a:ln>
        </p:spPr>
      </p:sp>
      <p:sp>
        <p:nvSpPr>
          <p:cNvPr id="9" name="Text 6"/>
          <p:cNvSpPr/>
          <p:nvPr/>
        </p:nvSpPr>
        <p:spPr>
          <a:xfrm>
            <a:off x="548640" y="2249424"/>
            <a:ext cx="3383280"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COPY . .</a:t>
            </a:r>
            <a:endParaRPr lang="en-US" sz="950" dirty="0"/>
          </a:p>
        </p:txBody>
      </p:sp>
      <p:sp>
        <p:nvSpPr>
          <p:cNvPr id="10" name="Shape 7"/>
          <p:cNvSpPr/>
          <p:nvPr/>
        </p:nvSpPr>
        <p:spPr>
          <a:xfrm>
            <a:off x="548640" y="2651760"/>
            <a:ext cx="3383280" cy="384048"/>
          </a:xfrm>
          <a:prstGeom prst="rect">
            <a:avLst/>
          </a:prstGeom>
          <a:solidFill>
            <a:srgbClr val="334155"/>
          </a:solidFill>
          <a:ln w="16510">
            <a:solidFill>
              <a:srgbClr val="FFFFFF"/>
            </a:solidFill>
            <a:prstDash val="solid"/>
          </a:ln>
        </p:spPr>
      </p:sp>
      <p:sp>
        <p:nvSpPr>
          <p:cNvPr id="11" name="Text 8"/>
          <p:cNvSpPr/>
          <p:nvPr/>
        </p:nvSpPr>
        <p:spPr>
          <a:xfrm>
            <a:off x="548640" y="2651760"/>
            <a:ext cx="3383280"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RUN npm ci</a:t>
            </a:r>
            <a:endParaRPr lang="en-US" sz="950" dirty="0"/>
          </a:p>
        </p:txBody>
      </p:sp>
      <p:sp>
        <p:nvSpPr>
          <p:cNvPr id="12" name="Shape 9"/>
          <p:cNvSpPr/>
          <p:nvPr/>
        </p:nvSpPr>
        <p:spPr>
          <a:xfrm>
            <a:off x="548640" y="3054096"/>
            <a:ext cx="3383280" cy="384048"/>
          </a:xfrm>
          <a:prstGeom prst="rect">
            <a:avLst/>
          </a:prstGeom>
          <a:solidFill>
            <a:srgbClr val="334155"/>
          </a:solidFill>
          <a:ln w="16510">
            <a:solidFill>
              <a:srgbClr val="FFFFFF"/>
            </a:solidFill>
            <a:prstDash val="solid"/>
          </a:ln>
        </p:spPr>
      </p:sp>
      <p:sp>
        <p:nvSpPr>
          <p:cNvPr id="13" name="Text 10"/>
          <p:cNvSpPr/>
          <p:nvPr/>
        </p:nvSpPr>
        <p:spPr>
          <a:xfrm>
            <a:off x="548640" y="3054096"/>
            <a:ext cx="3383280"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COPY package*.json</a:t>
            </a:r>
            <a:endParaRPr lang="en-US" sz="950" dirty="0"/>
          </a:p>
        </p:txBody>
      </p:sp>
      <p:sp>
        <p:nvSpPr>
          <p:cNvPr id="14" name="Shape 11"/>
          <p:cNvSpPr/>
          <p:nvPr/>
        </p:nvSpPr>
        <p:spPr>
          <a:xfrm>
            <a:off x="548640" y="3456432"/>
            <a:ext cx="3383280" cy="384048"/>
          </a:xfrm>
          <a:prstGeom prst="rect">
            <a:avLst/>
          </a:prstGeom>
          <a:solidFill>
            <a:srgbClr val="334155"/>
          </a:solidFill>
          <a:ln w="16510">
            <a:solidFill>
              <a:srgbClr val="FFFFFF"/>
            </a:solidFill>
            <a:prstDash val="solid"/>
          </a:ln>
        </p:spPr>
      </p:sp>
      <p:sp>
        <p:nvSpPr>
          <p:cNvPr id="15" name="Text 12"/>
          <p:cNvSpPr/>
          <p:nvPr/>
        </p:nvSpPr>
        <p:spPr>
          <a:xfrm>
            <a:off x="548640" y="3456432"/>
            <a:ext cx="3383280"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WORKDIR /app</a:t>
            </a:r>
            <a:endParaRPr lang="en-US" sz="950" dirty="0"/>
          </a:p>
        </p:txBody>
      </p:sp>
      <p:sp>
        <p:nvSpPr>
          <p:cNvPr id="16" name="Shape 13"/>
          <p:cNvSpPr/>
          <p:nvPr/>
        </p:nvSpPr>
        <p:spPr>
          <a:xfrm>
            <a:off x="548640" y="3858768"/>
            <a:ext cx="3383280" cy="384048"/>
          </a:xfrm>
          <a:prstGeom prst="rect">
            <a:avLst/>
          </a:prstGeom>
          <a:solidFill>
            <a:srgbClr val="2496ED"/>
          </a:solidFill>
          <a:ln w="16510">
            <a:solidFill>
              <a:srgbClr val="FFFFFF"/>
            </a:solidFill>
            <a:prstDash val="solid"/>
          </a:ln>
        </p:spPr>
      </p:sp>
      <p:sp>
        <p:nvSpPr>
          <p:cNvPr id="17" name="Text 14"/>
          <p:cNvSpPr/>
          <p:nvPr/>
        </p:nvSpPr>
        <p:spPr>
          <a:xfrm>
            <a:off x="548640" y="3858768"/>
            <a:ext cx="3383280"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FROM node:20-alpine</a:t>
            </a:r>
            <a:endParaRPr lang="en-US" sz="950" dirty="0"/>
          </a:p>
        </p:txBody>
      </p:sp>
      <p:sp>
        <p:nvSpPr>
          <p:cNvPr id="18" name="Text 15"/>
          <p:cNvSpPr/>
          <p:nvPr/>
        </p:nvSpPr>
        <p:spPr>
          <a:xfrm>
            <a:off x="548640" y="4261104"/>
            <a:ext cx="3383280" cy="201168"/>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read-only image layers</a:t>
            </a:r>
            <a:endParaRPr lang="en-US" sz="900" dirty="0"/>
          </a:p>
        </p:txBody>
      </p:sp>
      <p:sp>
        <p:nvSpPr>
          <p:cNvPr id="19" name="Text 16"/>
          <p:cNvSpPr/>
          <p:nvPr/>
        </p:nvSpPr>
        <p:spPr>
          <a:xfrm>
            <a:off x="4297680" y="1371600"/>
            <a:ext cx="4389120" cy="2743200"/>
          </a:xfrm>
          <a:prstGeom prst="rect">
            <a:avLst/>
          </a:prstGeom>
          <a:noFill/>
          <a:ln/>
        </p:spPr>
        <p:txBody>
          <a:bodyPr wrap="square" lIns="0" tIns="0" rIns="0" bIns="0" rtlCol="0" anchor="t"/>
          <a:lstStyle/>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Every instruction adds a layer</a:t>
            </a:r>
            <a:pPr algn="l" indent="0" marL="0">
              <a:spcAft>
                <a:spcPts val="700"/>
              </a:spcAft>
              <a:buNone/>
            </a:pPr>
            <a:r>
              <a:rPr lang="en-US" sz="1100" dirty="0">
                <a:solidFill>
                  <a:srgbClr val="475569"/>
                </a:solidFill>
                <a:latin typeface="Calibri" pitchFamily="34" charset="0"/>
                <a:ea typeface="Calibri" pitchFamily="34" charset="-122"/>
                <a:cs typeface="Calibri" pitchFamily="34" charset="-120"/>
              </a:rPr>
              <a:t>  content-addressed &amp; stacked</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Layers are cached</a:t>
            </a:r>
            <a:pPr algn="l" indent="0" marL="0">
              <a:spcAft>
                <a:spcPts val="700"/>
              </a:spcAft>
              <a:buNone/>
            </a:pPr>
            <a:r>
              <a:rPr lang="en-US" sz="1100" dirty="0">
                <a:solidFill>
                  <a:srgbClr val="475569"/>
                </a:solidFill>
                <a:latin typeface="Calibri" pitchFamily="34" charset="0"/>
                <a:ea typeface="Calibri" pitchFamily="34" charset="-122"/>
                <a:cs typeface="Calibri" pitchFamily="34" charset="-120"/>
              </a:rPr>
              <a:t>  unchanged layers are reused on rebuild — fast</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Order matters</a:t>
            </a:r>
            <a:pPr algn="l" indent="0" marL="0">
              <a:spcAft>
                <a:spcPts val="700"/>
              </a:spcAft>
              <a:buNone/>
            </a:pPr>
            <a:r>
              <a:rPr lang="en-US" sz="1100" dirty="0">
                <a:solidFill>
                  <a:srgbClr val="475569"/>
                </a:solidFill>
                <a:latin typeface="Calibri" pitchFamily="34" charset="0"/>
                <a:ea typeface="Calibri" pitchFamily="34" charset="-122"/>
                <a:cs typeface="Calibri" pitchFamily="34" charset="-120"/>
              </a:rPr>
              <a:t>  put rarely-changing steps first</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Cache busts cascade</a:t>
            </a:r>
            <a:pPr algn="l" indent="0" marL="0">
              <a:spcAft>
                <a:spcPts val="700"/>
              </a:spcAft>
              <a:buNone/>
            </a:pPr>
            <a:r>
              <a:rPr lang="en-US" sz="1100" dirty="0">
                <a:solidFill>
                  <a:srgbClr val="475569"/>
                </a:solidFill>
                <a:latin typeface="Calibri" pitchFamily="34" charset="0"/>
                <a:ea typeface="Calibri" pitchFamily="34" charset="-122"/>
                <a:cs typeface="Calibri" pitchFamily="34" charset="-120"/>
              </a:rPr>
              <a:t>  change one layer → everything after it rebuilds</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The pattern</a:t>
            </a:r>
            <a:pPr algn="l" indent="0" marL="0">
              <a:spcAft>
                <a:spcPts val="700"/>
              </a:spcAft>
              <a:buNone/>
            </a:pPr>
            <a:r>
              <a:rPr lang="en-US" sz="1100" dirty="0">
                <a:solidFill>
                  <a:srgbClr val="475569"/>
                </a:solidFill>
                <a:latin typeface="Calibri" pitchFamily="34" charset="0"/>
                <a:ea typeface="Calibri" pitchFamily="34" charset="-122"/>
                <a:cs typeface="Calibri" pitchFamily="34" charset="-120"/>
              </a:rPr>
              <a:t>  COPY manifests → install deps → COPY source last</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Writable layer</a:t>
            </a:r>
            <a:pPr algn="l" indent="0" marL="0">
              <a:spcAft>
                <a:spcPts val="700"/>
              </a:spcAft>
              <a:buNone/>
            </a:pPr>
            <a:r>
              <a:rPr lang="en-US" sz="1100" dirty="0">
                <a:solidFill>
                  <a:srgbClr val="475569"/>
                </a:solidFill>
                <a:latin typeface="Calibri" pitchFamily="34" charset="0"/>
                <a:ea typeface="Calibri" pitchFamily="34" charset="-122"/>
                <a:cs typeface="Calibri" pitchFamily="34" charset="-120"/>
              </a:rPr>
              <a:t>  the thin top layer; lost when the container is removed</a:t>
            </a:r>
            <a:endParaRPr lang="en-US" sz="1100" dirty="0"/>
          </a:p>
        </p:txBody>
      </p:sp>
      <p:sp>
        <p:nvSpPr>
          <p:cNvPr id="20" name="Text 17"/>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21" name="Text 18"/>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Build Images</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KEEP IMAGES SMALL &amp; FAST</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Dockerfile best practices</a:t>
            </a:r>
            <a:endParaRPr lang="en-US" sz="2500" dirty="0"/>
          </a:p>
        </p:txBody>
      </p:sp>
      <p:sp>
        <p:nvSpPr>
          <p:cNvPr id="6" name="Shape 3"/>
          <p:cNvSpPr/>
          <p:nvPr/>
        </p:nvSpPr>
        <p:spPr>
          <a:xfrm>
            <a:off x="457200" y="1234440"/>
            <a:ext cx="4572000" cy="3108960"/>
          </a:xfrm>
          <a:prstGeom prst="roundRect">
            <a:avLst>
              <a:gd name="adj" fmla="val 2059"/>
            </a:avLst>
          </a:prstGeom>
          <a:solidFill>
            <a:srgbClr val="1E293B"/>
          </a:solidFill>
          <a:ln w="12700">
            <a:solidFill>
              <a:srgbClr val="334155"/>
            </a:solidFill>
            <a:prstDash val="solid"/>
          </a:ln>
          <a:effectLst>
            <a:outerShdw sx="100000" sy="100000" kx="0" ky="0" algn="bl" rotWithShape="0" blurRad="114300" dist="38100" dir="2700000">
              <a:srgbClr val="475569">
                <a:alpha val="24000"/>
              </a:srgbClr>
            </a:outerShdw>
          </a:effectLst>
        </p:spPr>
      </p:sp>
      <p:sp>
        <p:nvSpPr>
          <p:cNvPr id="7" name="Shape 4"/>
          <p:cNvSpPr/>
          <p:nvPr/>
        </p:nvSpPr>
        <p:spPr>
          <a:xfrm>
            <a:off x="658368" y="1417320"/>
            <a:ext cx="91440" cy="91440"/>
          </a:xfrm>
          <a:prstGeom prst="ellipse">
            <a:avLst/>
          </a:prstGeom>
          <a:solidFill>
            <a:srgbClr val="EF4444"/>
          </a:solidFill>
          <a:ln/>
        </p:spPr>
      </p:sp>
      <p:sp>
        <p:nvSpPr>
          <p:cNvPr id="8" name="Shape 5"/>
          <p:cNvSpPr/>
          <p:nvPr/>
        </p:nvSpPr>
        <p:spPr>
          <a:xfrm>
            <a:off x="804672" y="1417320"/>
            <a:ext cx="91440" cy="91440"/>
          </a:xfrm>
          <a:prstGeom prst="ellipse">
            <a:avLst/>
          </a:prstGeom>
          <a:solidFill>
            <a:srgbClr val="F59E0B"/>
          </a:solidFill>
          <a:ln/>
        </p:spPr>
      </p:sp>
      <p:sp>
        <p:nvSpPr>
          <p:cNvPr id="9" name="Shape 6"/>
          <p:cNvSpPr/>
          <p:nvPr/>
        </p:nvSpPr>
        <p:spPr>
          <a:xfrm>
            <a:off x="950976" y="1417320"/>
            <a:ext cx="91440" cy="91440"/>
          </a:xfrm>
          <a:prstGeom prst="ellipse">
            <a:avLst/>
          </a:prstGeom>
          <a:solidFill>
            <a:srgbClr val="22C55E"/>
          </a:solidFill>
          <a:ln/>
        </p:spPr>
      </p:sp>
      <p:sp>
        <p:nvSpPr>
          <p:cNvPr id="10" name="Text 7"/>
          <p:cNvSpPr/>
          <p:nvPr/>
        </p:nvSpPr>
        <p:spPr>
          <a:xfrm>
            <a:off x="1170432" y="1353312"/>
            <a:ext cx="3657600" cy="20116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multi-stage build</a:t>
            </a:r>
            <a:endParaRPr lang="en-US" sz="900" dirty="0"/>
          </a:p>
        </p:txBody>
      </p:sp>
      <p:sp>
        <p:nvSpPr>
          <p:cNvPr id="11" name="Text 8"/>
          <p:cNvSpPr/>
          <p:nvPr/>
        </p:nvSpPr>
        <p:spPr>
          <a:xfrm>
            <a:off x="676656" y="1673352"/>
            <a:ext cx="4133088" cy="2560320"/>
          </a:xfrm>
          <a:prstGeom prst="rect">
            <a:avLst/>
          </a:prstGeom>
          <a:noFill/>
          <a:ln/>
        </p:spPr>
        <p:txBody>
          <a:bodyPr wrap="square" lIns="0" tIns="0" rIns="0" bIns="0" rtlCol="0" anchor="t"/>
          <a:lstStyle/>
          <a:p>
            <a:pPr algn="l" indent="0" marL="0">
              <a:lnSpc>
                <a:spcPts val="1244"/>
              </a:lnSpc>
              <a:buNone/>
            </a:pPr>
            <a:r>
              <a:rPr lang="en-US" sz="1020" b="1" dirty="0">
                <a:solidFill>
                  <a:srgbClr val="38BDF8"/>
                </a:solidFill>
                <a:latin typeface="Courier New" pitchFamily="34" charset="0"/>
                <a:ea typeface="Courier New" pitchFamily="34" charset="-122"/>
                <a:cs typeface="Courier New" pitchFamily="34" charset="-120"/>
              </a:rPr>
              <a:t>FROM </a:t>
            </a:r>
            <a:pPr algn="l" indent="0" marL="0">
              <a:lnSpc>
                <a:spcPts val="1244"/>
              </a:lnSpc>
              <a:buNone/>
            </a:pPr>
            <a:r>
              <a:rPr lang="en-US" sz="1020" dirty="0">
                <a:solidFill>
                  <a:srgbClr val="FFFFFF"/>
                </a:solidFill>
                <a:latin typeface="Courier New" pitchFamily="34" charset="0"/>
                <a:ea typeface="Courier New" pitchFamily="34" charset="-122"/>
                <a:cs typeface="Courier New" pitchFamily="34" charset="-120"/>
              </a:rPr>
              <a:t>golang:1.22 </a:t>
            </a:r>
            <a:pPr algn="l" indent="0" marL="0">
              <a:lnSpc>
                <a:spcPts val="1244"/>
              </a:lnSpc>
              <a:buNone/>
            </a:pPr>
            <a:r>
              <a:rPr lang="en-US" sz="1020" b="1" dirty="0">
                <a:solidFill>
                  <a:srgbClr val="38BDF8"/>
                </a:solidFill>
                <a:latin typeface="Courier New" pitchFamily="34" charset="0"/>
                <a:ea typeface="Courier New" pitchFamily="34" charset="-122"/>
                <a:cs typeface="Courier New" pitchFamily="34" charset="-120"/>
              </a:rPr>
              <a:t>AS build</a:t>
            </a:r>
            <a:endParaRPr lang="en-US" sz="1020" dirty="0"/>
          </a:p>
          <a:p>
            <a:pPr algn="l" indent="0" marL="0">
              <a:lnSpc>
                <a:spcPts val="1244"/>
              </a:lnSpc>
              <a:buNone/>
            </a:pPr>
            <a:r>
              <a:rPr lang="en-US" sz="1020" b="1" dirty="0">
                <a:solidFill>
                  <a:srgbClr val="38BDF8"/>
                </a:solidFill>
                <a:latin typeface="Courier New" pitchFamily="34" charset="0"/>
                <a:ea typeface="Courier New" pitchFamily="34" charset="-122"/>
                <a:cs typeface="Courier New" pitchFamily="34" charset="-120"/>
              </a:rPr>
              <a:t>WORKDIR </a:t>
            </a:r>
            <a:pPr algn="l" indent="0" marL="0">
              <a:lnSpc>
                <a:spcPts val="1244"/>
              </a:lnSpc>
              <a:buNone/>
            </a:pPr>
            <a:r>
              <a:rPr lang="en-US" sz="1020" dirty="0">
                <a:solidFill>
                  <a:srgbClr val="FFFFFF"/>
                </a:solidFill>
                <a:latin typeface="Courier New" pitchFamily="34" charset="0"/>
                <a:ea typeface="Courier New" pitchFamily="34" charset="-122"/>
                <a:cs typeface="Courier New" pitchFamily="34" charset="-120"/>
              </a:rPr>
              <a:t>/src</a:t>
            </a:r>
            <a:endParaRPr lang="en-US" sz="1020" dirty="0"/>
          </a:p>
          <a:p>
            <a:pPr algn="l" indent="0" marL="0">
              <a:lnSpc>
                <a:spcPts val="1244"/>
              </a:lnSpc>
              <a:buNone/>
            </a:pPr>
            <a:r>
              <a:rPr lang="en-US" sz="1020" b="1" dirty="0">
                <a:solidFill>
                  <a:srgbClr val="38BDF8"/>
                </a:solidFill>
                <a:latin typeface="Courier New" pitchFamily="34" charset="0"/>
                <a:ea typeface="Courier New" pitchFamily="34" charset="-122"/>
                <a:cs typeface="Courier New" pitchFamily="34" charset="-120"/>
              </a:rPr>
              <a:t>COPY </a:t>
            </a:r>
            <a:pPr algn="l" indent="0" marL="0">
              <a:lnSpc>
                <a:spcPts val="1244"/>
              </a:lnSpc>
              <a:buNone/>
            </a:pPr>
            <a:r>
              <a:rPr lang="en-US" sz="1020" dirty="0">
                <a:solidFill>
                  <a:srgbClr val="FFFFFF"/>
                </a:solidFill>
                <a:latin typeface="Courier New" pitchFamily="34" charset="0"/>
                <a:ea typeface="Courier New" pitchFamily="34" charset="-122"/>
                <a:cs typeface="Courier New" pitchFamily="34" charset="-120"/>
              </a:rPr>
              <a:t>. .</a:t>
            </a:r>
            <a:endParaRPr lang="en-US" sz="1020" dirty="0"/>
          </a:p>
          <a:p>
            <a:pPr algn="l" indent="0" marL="0">
              <a:lnSpc>
                <a:spcPts val="1244"/>
              </a:lnSpc>
              <a:buNone/>
            </a:pPr>
            <a:r>
              <a:rPr lang="en-US" sz="1020" b="1" dirty="0">
                <a:solidFill>
                  <a:srgbClr val="38BDF8"/>
                </a:solidFill>
                <a:latin typeface="Courier New" pitchFamily="34" charset="0"/>
                <a:ea typeface="Courier New" pitchFamily="34" charset="-122"/>
                <a:cs typeface="Courier New" pitchFamily="34" charset="-120"/>
              </a:rPr>
              <a:t>RUN </a:t>
            </a:r>
            <a:pPr algn="l" indent="0" marL="0">
              <a:lnSpc>
                <a:spcPts val="1244"/>
              </a:lnSpc>
              <a:buNone/>
            </a:pPr>
            <a:r>
              <a:rPr lang="en-US" sz="1020" dirty="0">
                <a:solidFill>
                  <a:srgbClr val="FFFFFF"/>
                </a:solidFill>
                <a:latin typeface="Courier New" pitchFamily="34" charset="0"/>
                <a:ea typeface="Courier New" pitchFamily="34" charset="-122"/>
                <a:cs typeface="Courier New" pitchFamily="34" charset="-120"/>
              </a:rPr>
              <a:t>go build -o app</a:t>
            </a:r>
            <a:endParaRPr lang="en-US" sz="1020" dirty="0"/>
          </a:p>
          <a:p>
            <a:pPr algn="l" indent="0" marL="0">
              <a:lnSpc>
                <a:spcPts val="1244"/>
              </a:lnSpc>
              <a:buNone/>
            </a:pPr>
            <a:r>
              <a:rPr lang="en-US" sz="1020" dirty="0">
                <a:solidFill>
                  <a:srgbClr val="FFFFFF"/>
                </a:solidFill>
                <a:latin typeface="Courier New" pitchFamily="34" charset="0"/>
                <a:ea typeface="Courier New" pitchFamily="34" charset="-122"/>
                <a:cs typeface="Courier New" pitchFamily="34" charset="-120"/>
              </a:rPr>
              <a:t> </a:t>
            </a:r>
            <a:endParaRPr lang="en-US" sz="1020" dirty="0"/>
          </a:p>
          <a:p>
            <a:pPr algn="l" indent="0" marL="0">
              <a:lnSpc>
                <a:spcPts val="1244"/>
              </a:lnSpc>
              <a:buNone/>
            </a:pPr>
            <a:r>
              <a:rPr lang="en-US" sz="1020" dirty="0">
                <a:solidFill>
                  <a:srgbClr val="94A3B8"/>
                </a:solidFill>
                <a:latin typeface="Courier New" pitchFamily="34" charset="0"/>
                <a:ea typeface="Courier New" pitchFamily="34" charset="-122"/>
                <a:cs typeface="Courier New" pitchFamily="34" charset="-120"/>
              </a:rPr>
              <a:t># tiny final image — just the binary</a:t>
            </a:r>
            <a:endParaRPr lang="en-US" sz="1020" dirty="0"/>
          </a:p>
          <a:p>
            <a:pPr algn="l" indent="0" marL="0">
              <a:lnSpc>
                <a:spcPts val="1244"/>
              </a:lnSpc>
              <a:buNone/>
            </a:pPr>
            <a:r>
              <a:rPr lang="en-US" sz="1020" b="1" dirty="0">
                <a:solidFill>
                  <a:srgbClr val="38BDF8"/>
                </a:solidFill>
                <a:latin typeface="Courier New" pitchFamily="34" charset="0"/>
                <a:ea typeface="Courier New" pitchFamily="34" charset="-122"/>
                <a:cs typeface="Courier New" pitchFamily="34" charset="-120"/>
              </a:rPr>
              <a:t>FROM </a:t>
            </a:r>
            <a:pPr algn="l" indent="0" marL="0">
              <a:lnSpc>
                <a:spcPts val="1244"/>
              </a:lnSpc>
              <a:buNone/>
            </a:pPr>
            <a:r>
              <a:rPr lang="en-US" sz="1020" dirty="0">
                <a:solidFill>
                  <a:srgbClr val="FFFFFF"/>
                </a:solidFill>
                <a:latin typeface="Courier New" pitchFamily="34" charset="0"/>
                <a:ea typeface="Courier New" pitchFamily="34" charset="-122"/>
                <a:cs typeface="Courier New" pitchFamily="34" charset="-120"/>
              </a:rPr>
              <a:t>gcr.io/distroless/static</a:t>
            </a:r>
            <a:endParaRPr lang="en-US" sz="1020" dirty="0"/>
          </a:p>
          <a:p>
            <a:pPr algn="l" indent="0" marL="0">
              <a:lnSpc>
                <a:spcPts val="1244"/>
              </a:lnSpc>
              <a:buNone/>
            </a:pPr>
            <a:r>
              <a:rPr lang="en-US" sz="1020" b="1" dirty="0">
                <a:solidFill>
                  <a:srgbClr val="38BDF8"/>
                </a:solidFill>
                <a:latin typeface="Courier New" pitchFamily="34" charset="0"/>
                <a:ea typeface="Courier New" pitchFamily="34" charset="-122"/>
                <a:cs typeface="Courier New" pitchFamily="34" charset="-120"/>
              </a:rPr>
              <a:t>COPY </a:t>
            </a:r>
            <a:pPr algn="l" indent="0" marL="0">
              <a:lnSpc>
                <a:spcPts val="1244"/>
              </a:lnSpc>
              <a:buNone/>
            </a:pPr>
            <a:r>
              <a:rPr lang="en-US" sz="1020" dirty="0">
                <a:solidFill>
                  <a:srgbClr val="FFFFFF"/>
                </a:solidFill>
                <a:latin typeface="Courier New" pitchFamily="34" charset="0"/>
                <a:ea typeface="Courier New" pitchFamily="34" charset="-122"/>
                <a:cs typeface="Courier New" pitchFamily="34" charset="-120"/>
              </a:rPr>
              <a:t>--from=build /src/app /app</a:t>
            </a:r>
            <a:endParaRPr lang="en-US" sz="1020" dirty="0"/>
          </a:p>
          <a:p>
            <a:pPr algn="l" indent="0" marL="0">
              <a:lnSpc>
                <a:spcPts val="1244"/>
              </a:lnSpc>
              <a:buNone/>
            </a:pPr>
            <a:r>
              <a:rPr lang="en-US" sz="1020" b="1" dirty="0">
                <a:solidFill>
                  <a:srgbClr val="38BDF8"/>
                </a:solidFill>
                <a:latin typeface="Courier New" pitchFamily="34" charset="0"/>
                <a:ea typeface="Courier New" pitchFamily="34" charset="-122"/>
                <a:cs typeface="Courier New" pitchFamily="34" charset="-120"/>
              </a:rPr>
              <a:t>USER </a:t>
            </a:r>
            <a:pPr algn="l" indent="0" marL="0">
              <a:lnSpc>
                <a:spcPts val="1244"/>
              </a:lnSpc>
              <a:buNone/>
            </a:pPr>
            <a:r>
              <a:rPr lang="en-US" sz="1020" dirty="0">
                <a:solidFill>
                  <a:srgbClr val="FFFFFF"/>
                </a:solidFill>
                <a:latin typeface="Courier New" pitchFamily="34" charset="0"/>
                <a:ea typeface="Courier New" pitchFamily="34" charset="-122"/>
                <a:cs typeface="Courier New" pitchFamily="34" charset="-120"/>
              </a:rPr>
              <a:t>nonroot</a:t>
            </a:r>
            <a:endParaRPr lang="en-US" sz="1020" dirty="0"/>
          </a:p>
          <a:p>
            <a:pPr algn="l" indent="0" marL="0">
              <a:lnSpc>
                <a:spcPts val="1244"/>
              </a:lnSpc>
              <a:buNone/>
            </a:pPr>
            <a:r>
              <a:rPr lang="en-US" sz="1020" b="1" dirty="0">
                <a:solidFill>
                  <a:srgbClr val="38BDF8"/>
                </a:solidFill>
                <a:latin typeface="Courier New" pitchFamily="34" charset="0"/>
                <a:ea typeface="Courier New" pitchFamily="34" charset="-122"/>
                <a:cs typeface="Courier New" pitchFamily="34" charset="-120"/>
              </a:rPr>
              <a:t>ENTRYPOINT </a:t>
            </a:r>
            <a:pPr algn="l" indent="0" marL="0">
              <a:lnSpc>
                <a:spcPts val="1244"/>
              </a:lnSpc>
              <a:buNone/>
            </a:pPr>
            <a:r>
              <a:rPr lang="en-US" sz="1020" dirty="0">
                <a:solidFill>
                  <a:srgbClr val="FFFFFF"/>
                </a:solidFill>
                <a:latin typeface="Courier New" pitchFamily="34" charset="0"/>
                <a:ea typeface="Courier New" pitchFamily="34" charset="-122"/>
                <a:cs typeface="Courier New" pitchFamily="34" charset="-120"/>
              </a:rPr>
              <a:t>["/app"]</a:t>
            </a:r>
            <a:endParaRPr lang="en-US" sz="1020" dirty="0"/>
          </a:p>
        </p:txBody>
      </p:sp>
      <p:sp>
        <p:nvSpPr>
          <p:cNvPr id="12" name="Text 9"/>
          <p:cNvSpPr/>
          <p:nvPr/>
        </p:nvSpPr>
        <p:spPr>
          <a:xfrm>
            <a:off x="5212080" y="1298448"/>
            <a:ext cx="3474720" cy="3017520"/>
          </a:xfrm>
          <a:prstGeom prst="rect">
            <a:avLst/>
          </a:prstGeom>
          <a:noFill/>
          <a:ln/>
        </p:spPr>
        <p:txBody>
          <a:bodyPr wrap="square" lIns="0" tIns="0" rIns="0" bIns="0" rtlCol="0" anchor="t"/>
          <a:lstStyle/>
          <a:p>
            <a:pPr algn="l" marL="190500" indent="-190500">
              <a:buSzPct val="100000"/>
              <a:buChar char="•"/>
            </a:pPr>
            <a:r>
              <a:rPr lang="en-US" sz="1060" b="1" dirty="0">
                <a:solidFill>
                  <a:srgbClr val="0F172A"/>
                </a:solidFill>
                <a:latin typeface="Calibri" pitchFamily="34" charset="0"/>
                <a:ea typeface="Calibri" pitchFamily="34" charset="-122"/>
                <a:cs typeface="Calibri" pitchFamily="34" charset="-120"/>
              </a:rPr>
              <a:t>Multi-stage builds</a:t>
            </a:r>
            <a:pPr algn="l" indent="0" marL="0">
              <a:spcAft>
                <a:spcPts val="600"/>
              </a:spcAft>
              <a:buNone/>
            </a:pPr>
            <a:r>
              <a:rPr lang="en-US" sz="1060" dirty="0">
                <a:solidFill>
                  <a:srgbClr val="475569"/>
                </a:solidFill>
                <a:latin typeface="Calibri" pitchFamily="34" charset="0"/>
                <a:ea typeface="Calibri" pitchFamily="34" charset="-122"/>
                <a:cs typeface="Calibri" pitchFamily="34" charset="-120"/>
              </a:rPr>
              <a:t>  compile in a fat image, ship only the artifact</a:t>
            </a:r>
            <a:endParaRPr lang="en-US" sz="1060" dirty="0"/>
          </a:p>
          <a:p>
            <a:pPr algn="l" marL="190500" indent="-190500">
              <a:buSzPct val="100000"/>
              <a:buChar char="•"/>
            </a:pPr>
            <a:r>
              <a:rPr lang="en-US" sz="1060" b="1" dirty="0">
                <a:solidFill>
                  <a:srgbClr val="0F172A"/>
                </a:solidFill>
                <a:latin typeface="Calibri" pitchFamily="34" charset="0"/>
                <a:ea typeface="Calibri" pitchFamily="34" charset="-122"/>
                <a:cs typeface="Calibri" pitchFamily="34" charset="-120"/>
              </a:rPr>
              <a:t>Small base images</a:t>
            </a:r>
            <a:pPr algn="l" indent="0" marL="0">
              <a:spcAft>
                <a:spcPts val="600"/>
              </a:spcAft>
              <a:buNone/>
            </a:pPr>
            <a:r>
              <a:rPr lang="en-US" sz="1060" dirty="0">
                <a:solidFill>
                  <a:srgbClr val="475569"/>
                </a:solidFill>
                <a:latin typeface="Calibri" pitchFamily="34" charset="0"/>
                <a:ea typeface="Calibri" pitchFamily="34" charset="-122"/>
                <a:cs typeface="Calibri" pitchFamily="34" charset="-120"/>
              </a:rPr>
              <a:t>  alpine, slim, or distroless</a:t>
            </a:r>
            <a:endParaRPr lang="en-US" sz="1060" dirty="0"/>
          </a:p>
          <a:p>
            <a:pPr algn="l" marL="190500" indent="-190500">
              <a:buSzPct val="100000"/>
              <a:buChar char="•"/>
            </a:pPr>
            <a:r>
              <a:rPr lang="en-US" sz="1060" b="1" dirty="0">
                <a:solidFill>
                  <a:srgbClr val="0F172A"/>
                </a:solidFill>
                <a:latin typeface="Calibri" pitchFamily="34" charset="0"/>
                <a:ea typeface="Calibri" pitchFamily="34" charset="-122"/>
                <a:cs typeface="Calibri" pitchFamily="34" charset="-120"/>
              </a:rPr>
              <a:t>.dockerignore</a:t>
            </a:r>
            <a:pPr algn="l" indent="0" marL="0">
              <a:spcAft>
                <a:spcPts val="600"/>
              </a:spcAft>
              <a:buNone/>
            </a:pPr>
            <a:r>
              <a:rPr lang="en-US" sz="1060" dirty="0">
                <a:solidFill>
                  <a:srgbClr val="475569"/>
                </a:solidFill>
                <a:latin typeface="Calibri" pitchFamily="34" charset="0"/>
                <a:ea typeface="Calibri" pitchFamily="34" charset="-122"/>
                <a:cs typeface="Calibri" pitchFamily="34" charset="-120"/>
              </a:rPr>
              <a:t>  keep junk &amp; secrets out of the context</a:t>
            </a:r>
            <a:endParaRPr lang="en-US" sz="1060" dirty="0"/>
          </a:p>
          <a:p>
            <a:pPr algn="l" marL="190500" indent="-190500">
              <a:buSzPct val="100000"/>
              <a:buChar char="•"/>
            </a:pPr>
            <a:r>
              <a:rPr lang="en-US" sz="1060" b="1" dirty="0">
                <a:solidFill>
                  <a:srgbClr val="0F172A"/>
                </a:solidFill>
                <a:latin typeface="Calibri" pitchFamily="34" charset="0"/>
                <a:ea typeface="Calibri" pitchFamily="34" charset="-122"/>
                <a:cs typeface="Calibri" pitchFamily="34" charset="-120"/>
              </a:rPr>
              <a:t>Order for cache</a:t>
            </a:r>
            <a:pPr algn="l" indent="0" marL="0">
              <a:spcAft>
                <a:spcPts val="600"/>
              </a:spcAft>
              <a:buNone/>
            </a:pPr>
            <a:r>
              <a:rPr lang="en-US" sz="1060" dirty="0">
                <a:solidFill>
                  <a:srgbClr val="475569"/>
                </a:solidFill>
                <a:latin typeface="Calibri" pitchFamily="34" charset="0"/>
                <a:ea typeface="Calibri" pitchFamily="34" charset="-122"/>
                <a:cs typeface="Calibri" pitchFamily="34" charset="-120"/>
              </a:rPr>
              <a:t>  dependencies before source</a:t>
            </a:r>
            <a:endParaRPr lang="en-US" sz="1060" dirty="0"/>
          </a:p>
          <a:p>
            <a:pPr algn="l" marL="190500" indent="-190500">
              <a:buSzPct val="100000"/>
              <a:buChar char="•"/>
            </a:pPr>
            <a:r>
              <a:rPr lang="en-US" sz="1060" b="1" dirty="0">
                <a:solidFill>
                  <a:srgbClr val="0F172A"/>
                </a:solidFill>
                <a:latin typeface="Calibri" pitchFamily="34" charset="0"/>
                <a:ea typeface="Calibri" pitchFamily="34" charset="-122"/>
                <a:cs typeface="Calibri" pitchFamily="34" charset="-120"/>
              </a:rPr>
              <a:t>Combine RUN steps</a:t>
            </a:r>
            <a:pPr algn="l" indent="0" marL="0">
              <a:spcAft>
                <a:spcPts val="600"/>
              </a:spcAft>
              <a:buNone/>
            </a:pPr>
            <a:r>
              <a:rPr lang="en-US" sz="1060" dirty="0">
                <a:solidFill>
                  <a:srgbClr val="475569"/>
                </a:solidFill>
                <a:latin typeface="Calibri" pitchFamily="34" charset="0"/>
                <a:ea typeface="Calibri" pitchFamily="34" charset="-122"/>
                <a:cs typeface="Calibri" pitchFamily="34" charset="-120"/>
              </a:rPr>
              <a:t>  fewer layers; clean apt lists in the same layer</a:t>
            </a:r>
            <a:endParaRPr lang="en-US" sz="1060" dirty="0"/>
          </a:p>
          <a:p>
            <a:pPr algn="l" marL="190500" indent="-190500">
              <a:buSzPct val="100000"/>
              <a:buChar char="•"/>
            </a:pPr>
            <a:r>
              <a:rPr lang="en-US" sz="1060" b="1" dirty="0">
                <a:solidFill>
                  <a:srgbClr val="0F172A"/>
                </a:solidFill>
                <a:latin typeface="Calibri" pitchFamily="34" charset="0"/>
                <a:ea typeface="Calibri" pitchFamily="34" charset="-122"/>
                <a:cs typeface="Calibri" pitchFamily="34" charset="-120"/>
              </a:rPr>
              <a:t>Pin versions</a:t>
            </a:r>
            <a:pPr algn="l" indent="0" marL="0">
              <a:spcAft>
                <a:spcPts val="600"/>
              </a:spcAft>
              <a:buNone/>
            </a:pPr>
            <a:r>
              <a:rPr lang="en-US" sz="1060" dirty="0">
                <a:solidFill>
                  <a:srgbClr val="475569"/>
                </a:solidFill>
                <a:latin typeface="Calibri" pitchFamily="34" charset="0"/>
                <a:ea typeface="Calibri" pitchFamily="34" charset="-122"/>
                <a:cs typeface="Calibri" pitchFamily="34" charset="-120"/>
              </a:rPr>
              <a:t>  reproducible builds; avoid :latest</a:t>
            </a:r>
            <a:endParaRPr lang="en-US" sz="1060" dirty="0"/>
          </a:p>
          <a:p>
            <a:pPr algn="l" marL="190500" indent="-190500">
              <a:buSzPct val="100000"/>
              <a:buChar char="•"/>
            </a:pPr>
            <a:r>
              <a:rPr lang="en-US" sz="1060" b="1" dirty="0">
                <a:solidFill>
                  <a:srgbClr val="0F172A"/>
                </a:solidFill>
                <a:latin typeface="Calibri" pitchFamily="34" charset="0"/>
                <a:ea typeface="Calibri" pitchFamily="34" charset="-122"/>
                <a:cs typeface="Calibri" pitchFamily="34" charset="-120"/>
              </a:rPr>
              <a:t>One concern per image</a:t>
            </a:r>
            <a:pPr algn="l" indent="0" marL="0">
              <a:spcAft>
                <a:spcPts val="600"/>
              </a:spcAft>
              <a:buNone/>
            </a:pPr>
            <a:r>
              <a:rPr lang="en-US" sz="1060" dirty="0">
                <a:solidFill>
                  <a:srgbClr val="475569"/>
                </a:solidFill>
                <a:latin typeface="Calibri" pitchFamily="34" charset="0"/>
                <a:ea typeface="Calibri" pitchFamily="34" charset="-122"/>
                <a:cs typeface="Calibri" pitchFamily="34" charset="-120"/>
              </a:rPr>
              <a:t>  a container does one job</a:t>
            </a:r>
            <a:endParaRPr lang="en-US" sz="1060" dirty="0"/>
          </a:p>
        </p:txBody>
      </p:sp>
      <p:sp>
        <p:nvSpPr>
          <p:cNvPr id="13" name="Text 10"/>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14" name="Text 11"/>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Build Images</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SECURITY BEST PRACTICES</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Hardening images &amp; containers</a:t>
            </a:r>
            <a:endParaRPr lang="en-US" sz="2500" dirty="0"/>
          </a:p>
        </p:txBody>
      </p:sp>
      <p:sp>
        <p:nvSpPr>
          <p:cNvPr id="6" name="Shape 3"/>
          <p:cNvSpPr/>
          <p:nvPr/>
        </p:nvSpPr>
        <p:spPr>
          <a:xfrm>
            <a:off x="457200" y="1234440"/>
            <a:ext cx="3977640" cy="896112"/>
          </a:xfrm>
          <a:prstGeom prst="roundRect">
            <a:avLst>
              <a:gd name="adj" fmla="val 8163"/>
            </a:avLst>
          </a:prstGeom>
          <a:solidFill>
            <a:srgbClr val="FFFFFF"/>
          </a:solidFill>
          <a:ln w="12700">
            <a:solidFill>
              <a:srgbClr val="E2E8F0"/>
            </a:solidFill>
            <a:prstDash val="solid"/>
          </a:ln>
          <a:effectLst>
            <a:outerShdw sx="100000" sy="100000" kx="0" ky="0" algn="bl" rotWithShape="0" blurRad="76200" dist="25400" dir="2700000">
              <a:srgbClr val="475569">
                <a:alpha val="10000"/>
              </a:srgbClr>
            </a:outerShdw>
          </a:effectLst>
        </p:spPr>
      </p:sp>
      <p:sp>
        <p:nvSpPr>
          <p:cNvPr id="7" name="Shape 4"/>
          <p:cNvSpPr/>
          <p:nvPr/>
        </p:nvSpPr>
        <p:spPr>
          <a:xfrm>
            <a:off x="640080" y="1417320"/>
            <a:ext cx="457200" cy="457200"/>
          </a:xfrm>
          <a:prstGeom prst="roundRect">
            <a:avLst>
              <a:gd name="adj" fmla="val 18000"/>
            </a:avLst>
          </a:prstGeom>
          <a:solidFill>
            <a:srgbClr val="F0FDFA"/>
          </a:solidFill>
          <a:ln/>
        </p:spPr>
      </p:sp>
      <p:pic>
        <p:nvPicPr>
          <p:cNvPr id="8" name="Image 1" descr="preencoded.png">    </p:cNvPr>
          <p:cNvPicPr>
            <a:picLocks noChangeAspect="1"/>
          </p:cNvPicPr>
          <p:nvPr/>
        </p:nvPicPr>
        <p:blipFill>
          <a:blip r:embed="rId2"/>
          <a:stretch>
            <a:fillRect/>
          </a:stretch>
        </p:blipFill>
        <p:spPr>
          <a:xfrm>
            <a:off x="740664" y="1517904"/>
            <a:ext cx="256032" cy="256032"/>
          </a:xfrm>
          <a:prstGeom prst="rect">
            <a:avLst/>
          </a:prstGeom>
        </p:spPr>
      </p:pic>
      <p:sp>
        <p:nvSpPr>
          <p:cNvPr id="9" name="Text 5"/>
          <p:cNvSpPr/>
          <p:nvPr/>
        </p:nvSpPr>
        <p:spPr>
          <a:xfrm>
            <a:off x="1207008" y="1399032"/>
            <a:ext cx="3063240" cy="47548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Run as non-root</a:t>
            </a:r>
            <a:endParaRPr lang="en-US" sz="1300" dirty="0"/>
          </a:p>
        </p:txBody>
      </p:sp>
      <p:sp>
        <p:nvSpPr>
          <p:cNvPr id="10" name="Text 6"/>
          <p:cNvSpPr/>
          <p:nvPr/>
        </p:nvSpPr>
        <p:spPr>
          <a:xfrm>
            <a:off x="658368" y="1929384"/>
            <a:ext cx="3593592" cy="73152"/>
          </a:xfrm>
          <a:prstGeom prst="rect">
            <a:avLst/>
          </a:prstGeom>
          <a:noFill/>
          <a:ln/>
        </p:spPr>
        <p:txBody>
          <a:bodyPr wrap="square" lIns="0" tIns="0" rIns="0" bIns="0" rtlCol="0" anchor="t"/>
          <a:lstStyle/>
          <a:p>
            <a:pPr indent="0" marL="0">
              <a:lnSpc>
                <a:spcPts val="1250"/>
              </a:lnSpc>
              <a:buNone/>
            </a:pPr>
            <a:r>
              <a:rPr lang="en-US" sz="1050" dirty="0">
                <a:solidFill>
                  <a:srgbClr val="475569"/>
                </a:solidFill>
                <a:latin typeface="Calibri" pitchFamily="34" charset="0"/>
                <a:ea typeface="Calibri" pitchFamily="34" charset="-122"/>
                <a:cs typeface="Calibri" pitchFamily="34" charset="-120"/>
              </a:rPr>
              <a:t>USER directive; never run as root inside</a:t>
            </a:r>
            <a:endParaRPr lang="en-US" sz="1050" dirty="0"/>
          </a:p>
        </p:txBody>
      </p:sp>
      <p:sp>
        <p:nvSpPr>
          <p:cNvPr id="11" name="Shape 7"/>
          <p:cNvSpPr/>
          <p:nvPr/>
        </p:nvSpPr>
        <p:spPr>
          <a:xfrm>
            <a:off x="4709160" y="1234440"/>
            <a:ext cx="3977640" cy="896112"/>
          </a:xfrm>
          <a:prstGeom prst="roundRect">
            <a:avLst>
              <a:gd name="adj" fmla="val 8163"/>
            </a:avLst>
          </a:prstGeom>
          <a:solidFill>
            <a:srgbClr val="FFFFFF"/>
          </a:solidFill>
          <a:ln w="12700">
            <a:solidFill>
              <a:srgbClr val="E2E8F0"/>
            </a:solidFill>
            <a:prstDash val="solid"/>
          </a:ln>
          <a:effectLst>
            <a:outerShdw sx="100000" sy="100000" kx="0" ky="0" algn="bl" rotWithShape="0" blurRad="76200" dist="25400" dir="2700000">
              <a:srgbClr val="475569">
                <a:alpha val="10000"/>
              </a:srgbClr>
            </a:outerShdw>
          </a:effectLst>
        </p:spPr>
      </p:sp>
      <p:sp>
        <p:nvSpPr>
          <p:cNvPr id="12" name="Shape 8"/>
          <p:cNvSpPr/>
          <p:nvPr/>
        </p:nvSpPr>
        <p:spPr>
          <a:xfrm>
            <a:off x="4892040" y="1417320"/>
            <a:ext cx="457200" cy="457200"/>
          </a:xfrm>
          <a:prstGeom prst="roundRect">
            <a:avLst>
              <a:gd name="adj" fmla="val 18000"/>
            </a:avLst>
          </a:prstGeom>
          <a:solidFill>
            <a:srgbClr val="F0FDFA"/>
          </a:solidFill>
          <a:ln/>
        </p:spPr>
      </p:sp>
      <p:pic>
        <p:nvPicPr>
          <p:cNvPr id="13" name="Image 2" descr="preencoded.png">    </p:cNvPr>
          <p:cNvPicPr>
            <a:picLocks noChangeAspect="1"/>
          </p:cNvPicPr>
          <p:nvPr/>
        </p:nvPicPr>
        <p:blipFill>
          <a:blip r:embed="rId3"/>
          <a:stretch>
            <a:fillRect/>
          </a:stretch>
        </p:blipFill>
        <p:spPr>
          <a:xfrm>
            <a:off x="4992624" y="1517904"/>
            <a:ext cx="256032" cy="256032"/>
          </a:xfrm>
          <a:prstGeom prst="rect">
            <a:avLst/>
          </a:prstGeom>
        </p:spPr>
      </p:pic>
      <p:sp>
        <p:nvSpPr>
          <p:cNvPr id="14" name="Text 9"/>
          <p:cNvSpPr/>
          <p:nvPr/>
        </p:nvSpPr>
        <p:spPr>
          <a:xfrm>
            <a:off x="5458968" y="1399032"/>
            <a:ext cx="3063240" cy="47548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Minimal base image</a:t>
            </a:r>
            <a:endParaRPr lang="en-US" sz="1300" dirty="0"/>
          </a:p>
        </p:txBody>
      </p:sp>
      <p:sp>
        <p:nvSpPr>
          <p:cNvPr id="15" name="Text 10"/>
          <p:cNvSpPr/>
          <p:nvPr/>
        </p:nvSpPr>
        <p:spPr>
          <a:xfrm>
            <a:off x="4910328" y="1929384"/>
            <a:ext cx="3593592" cy="73152"/>
          </a:xfrm>
          <a:prstGeom prst="rect">
            <a:avLst/>
          </a:prstGeom>
          <a:noFill/>
          <a:ln/>
        </p:spPr>
        <p:txBody>
          <a:bodyPr wrap="square" lIns="0" tIns="0" rIns="0" bIns="0" rtlCol="0" anchor="t"/>
          <a:lstStyle/>
          <a:p>
            <a:pPr indent="0" marL="0">
              <a:lnSpc>
                <a:spcPts val="1250"/>
              </a:lnSpc>
              <a:buNone/>
            </a:pPr>
            <a:r>
              <a:rPr lang="en-US" sz="1050" dirty="0">
                <a:solidFill>
                  <a:srgbClr val="475569"/>
                </a:solidFill>
                <a:latin typeface="Calibri" pitchFamily="34" charset="0"/>
                <a:ea typeface="Calibri" pitchFamily="34" charset="-122"/>
                <a:cs typeface="Calibri" pitchFamily="34" charset="-120"/>
              </a:rPr>
              <a:t>fewer packages = smaller attack surface</a:t>
            </a:r>
            <a:endParaRPr lang="en-US" sz="1050" dirty="0"/>
          </a:p>
        </p:txBody>
      </p:sp>
      <p:sp>
        <p:nvSpPr>
          <p:cNvPr id="16" name="Shape 11"/>
          <p:cNvSpPr/>
          <p:nvPr/>
        </p:nvSpPr>
        <p:spPr>
          <a:xfrm>
            <a:off x="457200" y="2295144"/>
            <a:ext cx="3977640" cy="896112"/>
          </a:xfrm>
          <a:prstGeom prst="roundRect">
            <a:avLst>
              <a:gd name="adj" fmla="val 8163"/>
            </a:avLst>
          </a:prstGeom>
          <a:solidFill>
            <a:srgbClr val="FFFFFF"/>
          </a:solidFill>
          <a:ln w="12700">
            <a:solidFill>
              <a:srgbClr val="E2E8F0"/>
            </a:solidFill>
            <a:prstDash val="solid"/>
          </a:ln>
          <a:effectLst>
            <a:outerShdw sx="100000" sy="100000" kx="0" ky="0" algn="bl" rotWithShape="0" blurRad="76200" dist="25400" dir="2700000">
              <a:srgbClr val="475569">
                <a:alpha val="10000"/>
              </a:srgbClr>
            </a:outerShdw>
          </a:effectLst>
        </p:spPr>
      </p:sp>
      <p:sp>
        <p:nvSpPr>
          <p:cNvPr id="17" name="Shape 12"/>
          <p:cNvSpPr/>
          <p:nvPr/>
        </p:nvSpPr>
        <p:spPr>
          <a:xfrm>
            <a:off x="640080" y="2478024"/>
            <a:ext cx="457200" cy="457200"/>
          </a:xfrm>
          <a:prstGeom prst="roundRect">
            <a:avLst>
              <a:gd name="adj" fmla="val 18000"/>
            </a:avLst>
          </a:prstGeom>
          <a:solidFill>
            <a:srgbClr val="F0FDFA"/>
          </a:solidFill>
          <a:ln/>
        </p:spPr>
      </p:sp>
      <p:pic>
        <p:nvPicPr>
          <p:cNvPr id="18" name="Image 3" descr="preencoded.png">    </p:cNvPr>
          <p:cNvPicPr>
            <a:picLocks noChangeAspect="1"/>
          </p:cNvPicPr>
          <p:nvPr/>
        </p:nvPicPr>
        <p:blipFill>
          <a:blip r:embed="rId4"/>
          <a:stretch>
            <a:fillRect/>
          </a:stretch>
        </p:blipFill>
        <p:spPr>
          <a:xfrm>
            <a:off x="740664" y="2578608"/>
            <a:ext cx="256032" cy="256032"/>
          </a:xfrm>
          <a:prstGeom prst="rect">
            <a:avLst/>
          </a:prstGeom>
        </p:spPr>
      </p:pic>
      <p:sp>
        <p:nvSpPr>
          <p:cNvPr id="19" name="Text 13"/>
          <p:cNvSpPr/>
          <p:nvPr/>
        </p:nvSpPr>
        <p:spPr>
          <a:xfrm>
            <a:off x="1207008" y="2459736"/>
            <a:ext cx="3063240" cy="47548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Scan every image</a:t>
            </a:r>
            <a:endParaRPr lang="en-US" sz="1300" dirty="0"/>
          </a:p>
        </p:txBody>
      </p:sp>
      <p:sp>
        <p:nvSpPr>
          <p:cNvPr id="20" name="Text 14"/>
          <p:cNvSpPr/>
          <p:nvPr/>
        </p:nvSpPr>
        <p:spPr>
          <a:xfrm>
            <a:off x="658368" y="2990088"/>
            <a:ext cx="3593592" cy="73152"/>
          </a:xfrm>
          <a:prstGeom prst="rect">
            <a:avLst/>
          </a:prstGeom>
          <a:noFill/>
          <a:ln/>
        </p:spPr>
        <p:txBody>
          <a:bodyPr wrap="square" lIns="0" tIns="0" rIns="0" bIns="0" rtlCol="0" anchor="t"/>
          <a:lstStyle/>
          <a:p>
            <a:pPr indent="0" marL="0">
              <a:lnSpc>
                <a:spcPts val="1250"/>
              </a:lnSpc>
              <a:buNone/>
            </a:pPr>
            <a:r>
              <a:rPr lang="en-US" sz="1050" dirty="0">
                <a:solidFill>
                  <a:srgbClr val="475569"/>
                </a:solidFill>
                <a:latin typeface="Calibri" pitchFamily="34" charset="0"/>
                <a:ea typeface="Calibri" pitchFamily="34" charset="-122"/>
                <a:cs typeface="Calibri" pitchFamily="34" charset="-120"/>
              </a:rPr>
              <a:t>Trivy / Grype / Docker Scout in CI</a:t>
            </a:r>
            <a:endParaRPr lang="en-US" sz="1050" dirty="0"/>
          </a:p>
        </p:txBody>
      </p:sp>
      <p:sp>
        <p:nvSpPr>
          <p:cNvPr id="21" name="Shape 15"/>
          <p:cNvSpPr/>
          <p:nvPr/>
        </p:nvSpPr>
        <p:spPr>
          <a:xfrm>
            <a:off x="4709160" y="2295144"/>
            <a:ext cx="3977640" cy="896112"/>
          </a:xfrm>
          <a:prstGeom prst="roundRect">
            <a:avLst>
              <a:gd name="adj" fmla="val 8163"/>
            </a:avLst>
          </a:prstGeom>
          <a:solidFill>
            <a:srgbClr val="FFFFFF"/>
          </a:solidFill>
          <a:ln w="12700">
            <a:solidFill>
              <a:srgbClr val="E2E8F0"/>
            </a:solidFill>
            <a:prstDash val="solid"/>
          </a:ln>
          <a:effectLst>
            <a:outerShdw sx="100000" sy="100000" kx="0" ky="0" algn="bl" rotWithShape="0" blurRad="76200" dist="25400" dir="2700000">
              <a:srgbClr val="475569">
                <a:alpha val="10000"/>
              </a:srgbClr>
            </a:outerShdw>
          </a:effectLst>
        </p:spPr>
      </p:sp>
      <p:sp>
        <p:nvSpPr>
          <p:cNvPr id="22" name="Shape 16"/>
          <p:cNvSpPr/>
          <p:nvPr/>
        </p:nvSpPr>
        <p:spPr>
          <a:xfrm>
            <a:off x="4892040" y="2478024"/>
            <a:ext cx="457200" cy="457200"/>
          </a:xfrm>
          <a:prstGeom prst="roundRect">
            <a:avLst>
              <a:gd name="adj" fmla="val 18000"/>
            </a:avLst>
          </a:prstGeom>
          <a:solidFill>
            <a:srgbClr val="F0FDFA"/>
          </a:solidFill>
          <a:ln/>
        </p:spPr>
      </p:sp>
      <p:pic>
        <p:nvPicPr>
          <p:cNvPr id="23" name="Image 4" descr="preencoded.png">    </p:cNvPr>
          <p:cNvPicPr>
            <a:picLocks noChangeAspect="1"/>
          </p:cNvPicPr>
          <p:nvPr/>
        </p:nvPicPr>
        <p:blipFill>
          <a:blip r:embed="rId5"/>
          <a:stretch>
            <a:fillRect/>
          </a:stretch>
        </p:blipFill>
        <p:spPr>
          <a:xfrm>
            <a:off x="4992624" y="2578608"/>
            <a:ext cx="256032" cy="256032"/>
          </a:xfrm>
          <a:prstGeom prst="rect">
            <a:avLst/>
          </a:prstGeom>
        </p:spPr>
      </p:pic>
      <p:sp>
        <p:nvSpPr>
          <p:cNvPr id="24" name="Text 17"/>
          <p:cNvSpPr/>
          <p:nvPr/>
        </p:nvSpPr>
        <p:spPr>
          <a:xfrm>
            <a:off x="5458968" y="2459736"/>
            <a:ext cx="3063240" cy="47548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No secrets in layers</a:t>
            </a:r>
            <a:endParaRPr lang="en-US" sz="1300" dirty="0"/>
          </a:p>
        </p:txBody>
      </p:sp>
      <p:sp>
        <p:nvSpPr>
          <p:cNvPr id="25" name="Text 18"/>
          <p:cNvSpPr/>
          <p:nvPr/>
        </p:nvSpPr>
        <p:spPr>
          <a:xfrm>
            <a:off x="4910328" y="2990088"/>
            <a:ext cx="3593592" cy="73152"/>
          </a:xfrm>
          <a:prstGeom prst="rect">
            <a:avLst/>
          </a:prstGeom>
          <a:noFill/>
          <a:ln/>
        </p:spPr>
        <p:txBody>
          <a:bodyPr wrap="square" lIns="0" tIns="0" rIns="0" bIns="0" rtlCol="0" anchor="t"/>
          <a:lstStyle/>
          <a:p>
            <a:pPr indent="0" marL="0">
              <a:lnSpc>
                <a:spcPts val="1250"/>
              </a:lnSpc>
              <a:buNone/>
            </a:pPr>
            <a:r>
              <a:rPr lang="en-US" sz="1050" dirty="0">
                <a:solidFill>
                  <a:srgbClr val="475569"/>
                </a:solidFill>
                <a:latin typeface="Calibri" pitchFamily="34" charset="0"/>
                <a:ea typeface="Calibri" pitchFamily="34" charset="-122"/>
                <a:cs typeface="Calibri" pitchFamily="34" charset="-120"/>
              </a:rPr>
              <a:t>use build secrets &amp; runtime env, not COPY</a:t>
            </a:r>
            <a:endParaRPr lang="en-US" sz="1050" dirty="0"/>
          </a:p>
        </p:txBody>
      </p:sp>
      <p:sp>
        <p:nvSpPr>
          <p:cNvPr id="26" name="Shape 19"/>
          <p:cNvSpPr/>
          <p:nvPr/>
        </p:nvSpPr>
        <p:spPr>
          <a:xfrm>
            <a:off x="457200" y="3355848"/>
            <a:ext cx="3977640" cy="896112"/>
          </a:xfrm>
          <a:prstGeom prst="roundRect">
            <a:avLst>
              <a:gd name="adj" fmla="val 8163"/>
            </a:avLst>
          </a:prstGeom>
          <a:solidFill>
            <a:srgbClr val="FFFFFF"/>
          </a:solidFill>
          <a:ln w="12700">
            <a:solidFill>
              <a:srgbClr val="E2E8F0"/>
            </a:solidFill>
            <a:prstDash val="solid"/>
          </a:ln>
          <a:effectLst>
            <a:outerShdw sx="100000" sy="100000" kx="0" ky="0" algn="bl" rotWithShape="0" blurRad="76200" dist="25400" dir="2700000">
              <a:srgbClr val="475569">
                <a:alpha val="10000"/>
              </a:srgbClr>
            </a:outerShdw>
          </a:effectLst>
        </p:spPr>
      </p:sp>
      <p:sp>
        <p:nvSpPr>
          <p:cNvPr id="27" name="Shape 20"/>
          <p:cNvSpPr/>
          <p:nvPr/>
        </p:nvSpPr>
        <p:spPr>
          <a:xfrm>
            <a:off x="640080" y="3538728"/>
            <a:ext cx="457200" cy="457200"/>
          </a:xfrm>
          <a:prstGeom prst="roundRect">
            <a:avLst>
              <a:gd name="adj" fmla="val 18000"/>
            </a:avLst>
          </a:prstGeom>
          <a:solidFill>
            <a:srgbClr val="F0FDFA"/>
          </a:solidFill>
          <a:ln/>
        </p:spPr>
      </p:sp>
      <p:pic>
        <p:nvPicPr>
          <p:cNvPr id="28" name="Image 5" descr="preencoded.png">    </p:cNvPr>
          <p:cNvPicPr>
            <a:picLocks noChangeAspect="1"/>
          </p:cNvPicPr>
          <p:nvPr/>
        </p:nvPicPr>
        <p:blipFill>
          <a:blip r:embed="rId6"/>
          <a:stretch>
            <a:fillRect/>
          </a:stretch>
        </p:blipFill>
        <p:spPr>
          <a:xfrm>
            <a:off x="740664" y="3639312"/>
            <a:ext cx="256032" cy="256032"/>
          </a:xfrm>
          <a:prstGeom prst="rect">
            <a:avLst/>
          </a:prstGeom>
        </p:spPr>
      </p:pic>
      <p:sp>
        <p:nvSpPr>
          <p:cNvPr id="29" name="Text 21"/>
          <p:cNvSpPr/>
          <p:nvPr/>
        </p:nvSpPr>
        <p:spPr>
          <a:xfrm>
            <a:off x="1207008" y="3520440"/>
            <a:ext cx="3063240" cy="47548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Drop capabilities</a:t>
            </a:r>
            <a:endParaRPr lang="en-US" sz="1300" dirty="0"/>
          </a:p>
        </p:txBody>
      </p:sp>
      <p:sp>
        <p:nvSpPr>
          <p:cNvPr id="30" name="Text 22"/>
          <p:cNvSpPr/>
          <p:nvPr/>
        </p:nvSpPr>
        <p:spPr>
          <a:xfrm>
            <a:off x="658368" y="4050792"/>
            <a:ext cx="3593592" cy="73152"/>
          </a:xfrm>
          <a:prstGeom prst="rect">
            <a:avLst/>
          </a:prstGeom>
          <a:noFill/>
          <a:ln/>
        </p:spPr>
        <p:txBody>
          <a:bodyPr wrap="square" lIns="0" tIns="0" rIns="0" bIns="0" rtlCol="0" anchor="t"/>
          <a:lstStyle/>
          <a:p>
            <a:pPr indent="0" marL="0">
              <a:lnSpc>
                <a:spcPts val="1250"/>
              </a:lnSpc>
              <a:buNone/>
            </a:pPr>
            <a:r>
              <a:rPr lang="en-US" sz="1050" dirty="0">
                <a:solidFill>
                  <a:srgbClr val="475569"/>
                </a:solidFill>
                <a:latin typeface="Calibri" pitchFamily="34" charset="0"/>
                <a:ea typeface="Calibri" pitchFamily="34" charset="-122"/>
                <a:cs typeface="Calibri" pitchFamily="34" charset="-120"/>
              </a:rPr>
              <a:t>--cap-drop ALL, read-only root filesystem</a:t>
            </a:r>
            <a:endParaRPr lang="en-US" sz="1050" dirty="0"/>
          </a:p>
        </p:txBody>
      </p:sp>
      <p:sp>
        <p:nvSpPr>
          <p:cNvPr id="31" name="Shape 23"/>
          <p:cNvSpPr/>
          <p:nvPr/>
        </p:nvSpPr>
        <p:spPr>
          <a:xfrm>
            <a:off x="4709160" y="3355848"/>
            <a:ext cx="3977640" cy="896112"/>
          </a:xfrm>
          <a:prstGeom prst="roundRect">
            <a:avLst>
              <a:gd name="adj" fmla="val 8163"/>
            </a:avLst>
          </a:prstGeom>
          <a:solidFill>
            <a:srgbClr val="FFFFFF"/>
          </a:solidFill>
          <a:ln w="12700">
            <a:solidFill>
              <a:srgbClr val="E2E8F0"/>
            </a:solidFill>
            <a:prstDash val="solid"/>
          </a:ln>
          <a:effectLst>
            <a:outerShdw sx="100000" sy="100000" kx="0" ky="0" algn="bl" rotWithShape="0" blurRad="76200" dist="25400" dir="2700000">
              <a:srgbClr val="475569">
                <a:alpha val="10000"/>
              </a:srgbClr>
            </a:outerShdw>
          </a:effectLst>
        </p:spPr>
      </p:sp>
      <p:sp>
        <p:nvSpPr>
          <p:cNvPr id="32" name="Shape 24"/>
          <p:cNvSpPr/>
          <p:nvPr/>
        </p:nvSpPr>
        <p:spPr>
          <a:xfrm>
            <a:off x="4892040" y="3538728"/>
            <a:ext cx="457200" cy="457200"/>
          </a:xfrm>
          <a:prstGeom prst="roundRect">
            <a:avLst>
              <a:gd name="adj" fmla="val 18000"/>
            </a:avLst>
          </a:prstGeom>
          <a:solidFill>
            <a:srgbClr val="F0FDFA"/>
          </a:solidFill>
          <a:ln/>
        </p:spPr>
      </p:sp>
      <p:pic>
        <p:nvPicPr>
          <p:cNvPr id="33" name="Image 6" descr="preencoded.png">    </p:cNvPr>
          <p:cNvPicPr>
            <a:picLocks noChangeAspect="1"/>
          </p:cNvPicPr>
          <p:nvPr/>
        </p:nvPicPr>
        <p:blipFill>
          <a:blip r:embed="rId7"/>
          <a:stretch>
            <a:fillRect/>
          </a:stretch>
        </p:blipFill>
        <p:spPr>
          <a:xfrm>
            <a:off x="4992624" y="3639312"/>
            <a:ext cx="256032" cy="256032"/>
          </a:xfrm>
          <a:prstGeom prst="rect">
            <a:avLst/>
          </a:prstGeom>
        </p:spPr>
      </p:pic>
      <p:sp>
        <p:nvSpPr>
          <p:cNvPr id="34" name="Text 25"/>
          <p:cNvSpPr/>
          <p:nvPr/>
        </p:nvSpPr>
        <p:spPr>
          <a:xfrm>
            <a:off x="5458968" y="3520440"/>
            <a:ext cx="3063240" cy="47548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Patch &amp; update</a:t>
            </a:r>
            <a:endParaRPr lang="en-US" sz="1300" dirty="0"/>
          </a:p>
        </p:txBody>
      </p:sp>
      <p:sp>
        <p:nvSpPr>
          <p:cNvPr id="35" name="Text 26"/>
          <p:cNvSpPr/>
          <p:nvPr/>
        </p:nvSpPr>
        <p:spPr>
          <a:xfrm>
            <a:off x="4910328" y="4050792"/>
            <a:ext cx="3593592" cy="73152"/>
          </a:xfrm>
          <a:prstGeom prst="rect">
            <a:avLst/>
          </a:prstGeom>
          <a:noFill/>
          <a:ln/>
        </p:spPr>
        <p:txBody>
          <a:bodyPr wrap="square" lIns="0" tIns="0" rIns="0" bIns="0" rtlCol="0" anchor="t"/>
          <a:lstStyle/>
          <a:p>
            <a:pPr indent="0" marL="0">
              <a:lnSpc>
                <a:spcPts val="1250"/>
              </a:lnSpc>
              <a:buNone/>
            </a:pPr>
            <a:r>
              <a:rPr lang="en-US" sz="1050" dirty="0">
                <a:solidFill>
                  <a:srgbClr val="475569"/>
                </a:solidFill>
                <a:latin typeface="Calibri" pitchFamily="34" charset="0"/>
                <a:ea typeface="Calibri" pitchFamily="34" charset="-122"/>
                <a:cs typeface="Calibri" pitchFamily="34" charset="-120"/>
              </a:rPr>
              <a:t>rebuild on base-image CVE fixes; sign images</a:t>
            </a:r>
            <a:endParaRPr lang="en-US" sz="1050" dirty="0"/>
          </a:p>
        </p:txBody>
      </p:sp>
      <p:sp>
        <p:nvSpPr>
          <p:cNvPr id="36" name="Text 27"/>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37" name="Text 28"/>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Build Images</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6126480" y="576072"/>
            <a:ext cx="365760" cy="347472"/>
          </a:xfrm>
          <a:prstGeom prst="roundRect">
            <a:avLst>
              <a:gd name="adj" fmla="val 10526"/>
            </a:avLst>
          </a:prstGeom>
          <a:solidFill>
            <a:srgbClr val="2496ED">
              <a:alpha val="72000"/>
            </a:srgbClr>
          </a:solidFill>
          <a:ln/>
        </p:spPr>
      </p:sp>
      <p:sp>
        <p:nvSpPr>
          <p:cNvPr id="3" name="Shape 1"/>
          <p:cNvSpPr/>
          <p:nvPr/>
        </p:nvSpPr>
        <p:spPr>
          <a:xfrm>
            <a:off x="6181344" y="502920"/>
            <a:ext cx="256032" cy="82296"/>
          </a:xfrm>
          <a:prstGeom prst="rect">
            <a:avLst/>
          </a:prstGeom>
          <a:solidFill>
            <a:srgbClr val="2496ED">
              <a:alpha val="72000"/>
            </a:srgbClr>
          </a:solidFill>
          <a:ln/>
        </p:spPr>
      </p:sp>
      <p:sp>
        <p:nvSpPr>
          <p:cNvPr id="4" name="Shape 2"/>
          <p:cNvSpPr/>
          <p:nvPr/>
        </p:nvSpPr>
        <p:spPr>
          <a:xfrm>
            <a:off x="6583680" y="576072"/>
            <a:ext cx="365760" cy="347472"/>
          </a:xfrm>
          <a:prstGeom prst="roundRect">
            <a:avLst>
              <a:gd name="adj" fmla="val 10526"/>
            </a:avLst>
          </a:prstGeom>
          <a:solidFill>
            <a:srgbClr val="2496ED">
              <a:alpha val="63000"/>
            </a:srgbClr>
          </a:solidFill>
          <a:ln/>
        </p:spPr>
      </p:sp>
      <p:sp>
        <p:nvSpPr>
          <p:cNvPr id="5" name="Shape 3"/>
          <p:cNvSpPr/>
          <p:nvPr/>
        </p:nvSpPr>
        <p:spPr>
          <a:xfrm>
            <a:off x="6638544" y="502920"/>
            <a:ext cx="256032" cy="82296"/>
          </a:xfrm>
          <a:prstGeom prst="rect">
            <a:avLst/>
          </a:prstGeom>
          <a:solidFill>
            <a:srgbClr val="2496ED">
              <a:alpha val="63000"/>
            </a:srgbClr>
          </a:solidFill>
          <a:ln/>
        </p:spPr>
      </p:sp>
      <p:sp>
        <p:nvSpPr>
          <p:cNvPr id="6" name="Shape 4"/>
          <p:cNvSpPr/>
          <p:nvPr/>
        </p:nvSpPr>
        <p:spPr>
          <a:xfrm>
            <a:off x="7040880" y="576072"/>
            <a:ext cx="365760" cy="347472"/>
          </a:xfrm>
          <a:prstGeom prst="roundRect">
            <a:avLst>
              <a:gd name="adj" fmla="val 10526"/>
            </a:avLst>
          </a:prstGeom>
          <a:solidFill>
            <a:srgbClr val="2496ED">
              <a:alpha val="54000"/>
            </a:srgbClr>
          </a:solidFill>
          <a:ln/>
        </p:spPr>
      </p:sp>
      <p:sp>
        <p:nvSpPr>
          <p:cNvPr id="7" name="Shape 5"/>
          <p:cNvSpPr/>
          <p:nvPr/>
        </p:nvSpPr>
        <p:spPr>
          <a:xfrm>
            <a:off x="7095744" y="502920"/>
            <a:ext cx="256032" cy="82296"/>
          </a:xfrm>
          <a:prstGeom prst="rect">
            <a:avLst/>
          </a:prstGeom>
          <a:solidFill>
            <a:srgbClr val="2496ED">
              <a:alpha val="54000"/>
            </a:srgbClr>
          </a:solidFill>
          <a:ln/>
        </p:spPr>
      </p:sp>
      <p:sp>
        <p:nvSpPr>
          <p:cNvPr id="8" name="Shape 6"/>
          <p:cNvSpPr/>
          <p:nvPr/>
        </p:nvSpPr>
        <p:spPr>
          <a:xfrm>
            <a:off x="7498080" y="576072"/>
            <a:ext cx="365760" cy="347472"/>
          </a:xfrm>
          <a:prstGeom prst="roundRect">
            <a:avLst>
              <a:gd name="adj" fmla="val 10526"/>
            </a:avLst>
          </a:prstGeom>
          <a:solidFill>
            <a:srgbClr val="2496ED">
              <a:alpha val="45000"/>
            </a:srgbClr>
          </a:solidFill>
          <a:ln/>
        </p:spPr>
      </p:sp>
      <p:sp>
        <p:nvSpPr>
          <p:cNvPr id="9" name="Shape 7"/>
          <p:cNvSpPr/>
          <p:nvPr/>
        </p:nvSpPr>
        <p:spPr>
          <a:xfrm>
            <a:off x="7552944" y="502920"/>
            <a:ext cx="256032" cy="82296"/>
          </a:xfrm>
          <a:prstGeom prst="rect">
            <a:avLst/>
          </a:prstGeom>
          <a:solidFill>
            <a:srgbClr val="2496ED">
              <a:alpha val="45000"/>
            </a:srgbClr>
          </a:solidFill>
          <a:ln/>
        </p:spPr>
      </p:sp>
      <p:sp>
        <p:nvSpPr>
          <p:cNvPr id="10" name="Shape 8"/>
          <p:cNvSpPr/>
          <p:nvPr/>
        </p:nvSpPr>
        <p:spPr>
          <a:xfrm>
            <a:off x="7955280" y="576072"/>
            <a:ext cx="365760" cy="347472"/>
          </a:xfrm>
          <a:prstGeom prst="roundRect">
            <a:avLst>
              <a:gd name="adj" fmla="val 10526"/>
            </a:avLst>
          </a:prstGeom>
          <a:solidFill>
            <a:srgbClr val="2496ED">
              <a:alpha val="36000"/>
            </a:srgbClr>
          </a:solidFill>
          <a:ln/>
        </p:spPr>
      </p:sp>
      <p:sp>
        <p:nvSpPr>
          <p:cNvPr id="11" name="Shape 9"/>
          <p:cNvSpPr/>
          <p:nvPr/>
        </p:nvSpPr>
        <p:spPr>
          <a:xfrm>
            <a:off x="8010144" y="502920"/>
            <a:ext cx="256032" cy="82296"/>
          </a:xfrm>
          <a:prstGeom prst="rect">
            <a:avLst/>
          </a:prstGeom>
          <a:solidFill>
            <a:srgbClr val="2496ED">
              <a:alpha val="36000"/>
            </a:srgbClr>
          </a:solidFill>
          <a:ln/>
        </p:spPr>
      </p:sp>
      <p:sp>
        <p:nvSpPr>
          <p:cNvPr id="12" name="Shape 10"/>
          <p:cNvSpPr/>
          <p:nvPr/>
        </p:nvSpPr>
        <p:spPr>
          <a:xfrm>
            <a:off x="8412480" y="576072"/>
            <a:ext cx="365760" cy="347472"/>
          </a:xfrm>
          <a:prstGeom prst="roundRect">
            <a:avLst>
              <a:gd name="adj" fmla="val 10526"/>
            </a:avLst>
          </a:prstGeom>
          <a:solidFill>
            <a:srgbClr val="2496ED">
              <a:alpha val="27000"/>
            </a:srgbClr>
          </a:solidFill>
          <a:ln/>
        </p:spPr>
      </p:sp>
      <p:sp>
        <p:nvSpPr>
          <p:cNvPr id="13" name="Shape 11"/>
          <p:cNvSpPr/>
          <p:nvPr/>
        </p:nvSpPr>
        <p:spPr>
          <a:xfrm>
            <a:off x="8467344" y="502920"/>
            <a:ext cx="256032" cy="82296"/>
          </a:xfrm>
          <a:prstGeom prst="rect">
            <a:avLst/>
          </a:prstGeom>
          <a:solidFill>
            <a:srgbClr val="2496ED">
              <a:alpha val="27000"/>
            </a:srgbClr>
          </a:solidFill>
          <a:ln/>
        </p:spPr>
      </p:sp>
      <p:sp>
        <p:nvSpPr>
          <p:cNvPr id="14" name="Text 12"/>
          <p:cNvSpPr/>
          <p:nvPr/>
        </p:nvSpPr>
        <p:spPr>
          <a:xfrm>
            <a:off x="640080" y="1627632"/>
            <a:ext cx="4572000" cy="365760"/>
          </a:xfrm>
          <a:prstGeom prst="rect">
            <a:avLst/>
          </a:prstGeom>
          <a:noFill/>
          <a:ln/>
        </p:spPr>
        <p:txBody>
          <a:bodyPr wrap="square" lIns="0" tIns="0" rIns="0" bIns="0" rtlCol="0" anchor="ctr"/>
          <a:lstStyle/>
          <a:p>
            <a:pPr indent="0" marL="0">
              <a:buNone/>
            </a:pPr>
            <a:r>
              <a:rPr lang="en-US" sz="1500" b="1" spc="300" kern="0" dirty="0">
                <a:solidFill>
                  <a:srgbClr val="2496ED"/>
                </a:solidFill>
                <a:latin typeface="Calibri" pitchFamily="34" charset="0"/>
                <a:ea typeface="Calibri" pitchFamily="34" charset="-122"/>
                <a:cs typeface="Calibri" pitchFamily="34" charset="-120"/>
              </a:rPr>
              <a:t>PART 4</a:t>
            </a:r>
            <a:endParaRPr lang="en-US" sz="1500" dirty="0"/>
          </a:p>
        </p:txBody>
      </p:sp>
      <p:sp>
        <p:nvSpPr>
          <p:cNvPr id="15" name="Text 13"/>
          <p:cNvSpPr/>
          <p:nvPr/>
        </p:nvSpPr>
        <p:spPr>
          <a:xfrm>
            <a:off x="603504" y="1993392"/>
            <a:ext cx="6400800" cy="1097280"/>
          </a:xfrm>
          <a:prstGeom prst="rect">
            <a:avLst/>
          </a:prstGeom>
          <a:noFill/>
          <a:ln/>
        </p:spPr>
        <p:txBody>
          <a:bodyPr wrap="square" lIns="0" tIns="0" rIns="0" bIns="0" rtlCol="0" anchor="t"/>
          <a:lstStyle/>
          <a:p>
            <a:pPr indent="0" marL="0">
              <a:buNone/>
            </a:pPr>
            <a:r>
              <a:rPr lang="en-US" sz="4000" b="1" dirty="0">
                <a:solidFill>
                  <a:srgbClr val="FFFFFF"/>
                </a:solidFill>
                <a:latin typeface="Bookman Old Style" pitchFamily="34" charset="0"/>
                <a:ea typeface="Bookman Old Style" pitchFamily="34" charset="-122"/>
                <a:cs typeface="Bookman Old Style" pitchFamily="34" charset="-120"/>
              </a:rPr>
              <a:t>Networking &amp; Storage</a:t>
            </a:r>
            <a:endParaRPr lang="en-US" sz="4000" dirty="0"/>
          </a:p>
        </p:txBody>
      </p:sp>
      <p:sp>
        <p:nvSpPr>
          <p:cNvPr id="16" name="Text 14"/>
          <p:cNvSpPr/>
          <p:nvPr/>
        </p:nvSpPr>
        <p:spPr>
          <a:xfrm>
            <a:off x="640080" y="3127248"/>
            <a:ext cx="6035040" cy="731520"/>
          </a:xfrm>
          <a:prstGeom prst="rect">
            <a:avLst/>
          </a:prstGeom>
          <a:noFill/>
          <a:ln/>
        </p:spPr>
        <p:txBody>
          <a:bodyPr wrap="square" lIns="0" tIns="0" rIns="0" bIns="0" rtlCol="0" anchor="t"/>
          <a:lstStyle/>
          <a:p>
            <a:pPr indent="0" marL="0">
              <a:buNone/>
            </a:pPr>
            <a:r>
              <a:rPr lang="en-US" sz="1350" i="1" dirty="0">
                <a:solidFill>
                  <a:srgbClr val="94A3B8"/>
                </a:solidFill>
                <a:latin typeface="Calibri" pitchFamily="34" charset="0"/>
                <a:ea typeface="Calibri" pitchFamily="34" charset="-122"/>
                <a:cs typeface="Calibri" pitchFamily="34" charset="-120"/>
              </a:rPr>
              <a:t>How containers talk to each other and the outside world, and how to keep data alive when containers do not.</a:t>
            </a:r>
            <a:endParaRPr lang="en-US" sz="1350" dirty="0"/>
          </a:p>
        </p:txBody>
      </p:sp>
      <p:sp>
        <p:nvSpPr>
          <p:cNvPr id="17" name="Shape 15"/>
          <p:cNvSpPr/>
          <p:nvPr/>
        </p:nvSpPr>
        <p:spPr>
          <a:xfrm>
            <a:off x="7086600" y="1783080"/>
            <a:ext cx="1417320" cy="1417320"/>
          </a:xfrm>
          <a:prstGeom prst="roundRect">
            <a:avLst>
              <a:gd name="adj" fmla="val 10323"/>
            </a:avLst>
          </a:prstGeom>
          <a:solidFill>
            <a:srgbClr val="1E293B"/>
          </a:solidFill>
          <a:ln w="12700">
            <a:solidFill>
              <a:srgbClr val="334155"/>
            </a:solidFill>
            <a:prstDash val="solid"/>
          </a:ln>
          <a:effectLst>
            <a:outerShdw sx="100000" sy="100000" kx="0" ky="0" algn="bl" rotWithShape="0" blurRad="152400" dist="50800" dir="2700000">
              <a:srgbClr val="475569">
                <a:alpha val="30000"/>
              </a:srgbClr>
            </a:outerShdw>
          </a:effectLst>
        </p:spPr>
      </p:sp>
      <p:pic>
        <p:nvPicPr>
          <p:cNvPr id="18" name="Image 0" descr="preencoded.png">    </p:cNvPr>
          <p:cNvPicPr>
            <a:picLocks noChangeAspect="1"/>
          </p:cNvPicPr>
          <p:nvPr/>
        </p:nvPicPr>
        <p:blipFill>
          <a:blip r:embed="rId1"/>
          <a:stretch>
            <a:fillRect/>
          </a:stretch>
        </p:blipFill>
        <p:spPr>
          <a:xfrm>
            <a:off x="7424928" y="2121408"/>
            <a:ext cx="740664" cy="740664"/>
          </a:xfrm>
          <a:prstGeom prst="rect">
            <a:avLst/>
          </a:prstGeom>
        </p:spPr>
      </p:pic>
      <p:sp>
        <p:nvSpPr>
          <p:cNvPr id="19" name="Text 16"/>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20" name="Text 17"/>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Part 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CONTAINER NETWORKING</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How containers get on the network</a:t>
            </a:r>
            <a:endParaRPr lang="en-US" sz="2500" dirty="0"/>
          </a:p>
        </p:txBody>
      </p:sp>
      <p:sp>
        <p:nvSpPr>
          <p:cNvPr id="6" name="Text 3"/>
          <p:cNvSpPr/>
          <p:nvPr/>
        </p:nvSpPr>
        <p:spPr>
          <a:xfrm>
            <a:off x="502920" y="1371600"/>
            <a:ext cx="3840480" cy="2651760"/>
          </a:xfrm>
          <a:prstGeom prst="rect">
            <a:avLst/>
          </a:prstGeom>
          <a:noFill/>
          <a:ln/>
        </p:spPr>
        <p:txBody>
          <a:bodyPr wrap="square" lIns="0" tIns="0" rIns="0" bIns="0" rtlCol="0" anchor="t"/>
          <a:lstStyle/>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Own network namespace</a:t>
            </a:r>
            <a:pPr algn="l" indent="0" marL="0">
              <a:spcAft>
                <a:spcPts val="900"/>
              </a:spcAft>
              <a:buNone/>
            </a:pPr>
            <a:r>
              <a:rPr lang="en-US" sz="1100" dirty="0">
                <a:solidFill>
                  <a:srgbClr val="475569"/>
                </a:solidFill>
                <a:latin typeface="Calibri" pitchFamily="34" charset="0"/>
                <a:ea typeface="Calibri" pitchFamily="34" charset="-122"/>
                <a:cs typeface="Calibri" pitchFamily="34" charset="-120"/>
              </a:rPr>
              <a:t>  each container gets its own IP &amp; interfaces</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Virtual bridge</a:t>
            </a:r>
            <a:pPr algn="l" indent="0" marL="0">
              <a:spcAft>
                <a:spcPts val="900"/>
              </a:spcAft>
              <a:buNone/>
            </a:pPr>
            <a:r>
              <a:rPr lang="en-US" sz="1100" dirty="0">
                <a:solidFill>
                  <a:srgbClr val="475569"/>
                </a:solidFill>
                <a:latin typeface="Calibri" pitchFamily="34" charset="0"/>
                <a:ea typeface="Calibri" pitchFamily="34" charset="-122"/>
                <a:cs typeface="Calibri" pitchFamily="34" charset="-120"/>
              </a:rPr>
              <a:t>  Docker creates docker0; containers attach via veth pairs</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Built-in DNS</a:t>
            </a:r>
            <a:pPr algn="l" indent="0" marL="0">
              <a:spcAft>
                <a:spcPts val="900"/>
              </a:spcAft>
              <a:buNone/>
            </a:pPr>
            <a:r>
              <a:rPr lang="en-US" sz="1100" dirty="0">
                <a:solidFill>
                  <a:srgbClr val="475569"/>
                </a:solidFill>
                <a:latin typeface="Calibri" pitchFamily="34" charset="0"/>
                <a:ea typeface="Calibri" pitchFamily="34" charset="-122"/>
                <a:cs typeface="Calibri" pitchFamily="34" charset="-120"/>
              </a:rPr>
              <a:t>  on a user-defined network, reach others by name</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NAT to outside</a:t>
            </a:r>
            <a:pPr algn="l" indent="0" marL="0">
              <a:spcAft>
                <a:spcPts val="900"/>
              </a:spcAft>
              <a:buNone/>
            </a:pPr>
            <a:r>
              <a:rPr lang="en-US" sz="1100" dirty="0">
                <a:solidFill>
                  <a:srgbClr val="475569"/>
                </a:solidFill>
                <a:latin typeface="Calibri" pitchFamily="34" charset="0"/>
                <a:ea typeface="Calibri" pitchFamily="34" charset="-122"/>
                <a:cs typeface="Calibri" pitchFamily="34" charset="-120"/>
              </a:rPr>
              <a:t>  outbound traffic is masqueraded through the host</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Ports stay private</a:t>
            </a:r>
            <a:pPr algn="l" indent="0" marL="0">
              <a:spcAft>
                <a:spcPts val="900"/>
              </a:spcAft>
              <a:buNone/>
            </a:pPr>
            <a:r>
              <a:rPr lang="en-US" sz="1100" dirty="0">
                <a:solidFill>
                  <a:srgbClr val="475569"/>
                </a:solidFill>
                <a:latin typeface="Calibri" pitchFamily="34" charset="0"/>
                <a:ea typeface="Calibri" pitchFamily="34" charset="-122"/>
                <a:cs typeface="Calibri" pitchFamily="34" charset="-120"/>
              </a:rPr>
              <a:t>  until you publish them with -p</a:t>
            </a:r>
            <a:endParaRPr lang="en-US" sz="1100" dirty="0"/>
          </a:p>
        </p:txBody>
      </p:sp>
      <p:sp>
        <p:nvSpPr>
          <p:cNvPr id="7" name="Shape 4"/>
          <p:cNvSpPr/>
          <p:nvPr/>
        </p:nvSpPr>
        <p:spPr>
          <a:xfrm>
            <a:off x="4846320" y="1417320"/>
            <a:ext cx="3657600" cy="2331720"/>
          </a:xfrm>
          <a:prstGeom prst="roundRect">
            <a:avLst>
              <a:gd name="adj" fmla="val 3137"/>
            </a:avLst>
          </a:prstGeom>
          <a:solidFill>
            <a:srgbClr val="EAF4FD"/>
          </a:solidFill>
          <a:ln w="12700">
            <a:solidFill>
              <a:srgbClr val="BBDDF7"/>
            </a:solidFill>
            <a:prstDash val="solid"/>
          </a:ln>
        </p:spPr>
      </p:sp>
      <p:sp>
        <p:nvSpPr>
          <p:cNvPr id="8" name="Text 5"/>
          <p:cNvSpPr/>
          <p:nvPr/>
        </p:nvSpPr>
        <p:spPr>
          <a:xfrm>
            <a:off x="4937760" y="1481328"/>
            <a:ext cx="3474720" cy="219456"/>
          </a:xfrm>
          <a:prstGeom prst="rect">
            <a:avLst/>
          </a:prstGeom>
          <a:noFill/>
          <a:ln/>
        </p:spPr>
        <p:txBody>
          <a:bodyPr wrap="square" lIns="0" tIns="0" rIns="0" bIns="0" rtlCol="0" anchor="ctr"/>
          <a:lstStyle/>
          <a:p>
            <a:pPr indent="0" marL="0">
              <a:buNone/>
            </a:pPr>
            <a:r>
              <a:rPr lang="en-US" sz="950" b="1" dirty="0">
                <a:solidFill>
                  <a:srgbClr val="2496ED"/>
                </a:solidFill>
                <a:latin typeface="Calibri" pitchFamily="34" charset="0"/>
                <a:ea typeface="Calibri" pitchFamily="34" charset="-122"/>
                <a:cs typeface="Calibri" pitchFamily="34" charset="-120"/>
              </a:rPr>
              <a:t>Docker Host</a:t>
            </a:r>
            <a:endParaRPr lang="en-US" sz="950" dirty="0"/>
          </a:p>
        </p:txBody>
      </p:sp>
      <p:sp>
        <p:nvSpPr>
          <p:cNvPr id="9" name="Shape 6"/>
          <p:cNvSpPr/>
          <p:nvPr/>
        </p:nvSpPr>
        <p:spPr>
          <a:xfrm>
            <a:off x="5120640" y="1783080"/>
            <a:ext cx="1371600" cy="502920"/>
          </a:xfrm>
          <a:prstGeom prst="roundRect">
            <a:avLst>
              <a:gd name="adj" fmla="val 10909"/>
            </a:avLst>
          </a:prstGeom>
          <a:solidFill>
            <a:srgbClr val="FFFFFF"/>
          </a:solidFill>
          <a:ln w="12700">
            <a:solidFill>
              <a:srgbClr val="99F6E4"/>
            </a:solidFill>
            <a:prstDash val="solid"/>
          </a:ln>
        </p:spPr>
      </p:sp>
      <p:sp>
        <p:nvSpPr>
          <p:cNvPr id="10" name="Text 7"/>
          <p:cNvSpPr/>
          <p:nvPr/>
        </p:nvSpPr>
        <p:spPr>
          <a:xfrm>
            <a:off x="5120640" y="1783080"/>
            <a:ext cx="1371600" cy="502920"/>
          </a:xfrm>
          <a:prstGeom prst="rect">
            <a:avLst/>
          </a:prstGeom>
          <a:noFill/>
          <a:ln/>
        </p:spPr>
        <p:txBody>
          <a:bodyPr wrap="square" lIns="0" tIns="0" rIns="0" bIns="0" rtlCol="0" anchor="ctr"/>
          <a:lstStyle/>
          <a:p>
            <a:pPr algn="ctr" indent="0" marL="0">
              <a:buNone/>
            </a:pPr>
            <a:r>
              <a:rPr lang="en-US" sz="1000" b="1" dirty="0">
                <a:solidFill>
                  <a:srgbClr val="0F766E"/>
                </a:solidFill>
                <a:latin typeface="Courier New" pitchFamily="34" charset="0"/>
                <a:ea typeface="Courier New" pitchFamily="34" charset="-122"/>
                <a:cs typeface="Courier New" pitchFamily="34" charset="-120"/>
              </a:rPr>
              <a:t>web</a:t>
            </a:r>
            <a:endParaRPr lang="en-US" sz="1000" dirty="0"/>
          </a:p>
        </p:txBody>
      </p:sp>
      <p:sp>
        <p:nvSpPr>
          <p:cNvPr id="11" name="Shape 8"/>
          <p:cNvSpPr/>
          <p:nvPr/>
        </p:nvSpPr>
        <p:spPr>
          <a:xfrm>
            <a:off x="5806440" y="2286000"/>
            <a:ext cx="0" cy="320040"/>
          </a:xfrm>
          <a:prstGeom prst="line">
            <a:avLst/>
          </a:prstGeom>
          <a:noFill/>
          <a:ln w="20320">
            <a:solidFill>
              <a:srgbClr val="64748B"/>
            </a:solidFill>
            <a:prstDash val="solid"/>
            <a:tailEnd type="triangle"/>
          </a:ln>
        </p:spPr>
      </p:sp>
      <p:sp>
        <p:nvSpPr>
          <p:cNvPr id="12" name="Shape 9"/>
          <p:cNvSpPr/>
          <p:nvPr/>
        </p:nvSpPr>
        <p:spPr>
          <a:xfrm>
            <a:off x="6858000" y="1783080"/>
            <a:ext cx="1371600" cy="502920"/>
          </a:xfrm>
          <a:prstGeom prst="roundRect">
            <a:avLst>
              <a:gd name="adj" fmla="val 10909"/>
            </a:avLst>
          </a:prstGeom>
          <a:solidFill>
            <a:srgbClr val="FFFFFF"/>
          </a:solidFill>
          <a:ln w="12700">
            <a:solidFill>
              <a:srgbClr val="99F6E4"/>
            </a:solidFill>
            <a:prstDash val="solid"/>
          </a:ln>
        </p:spPr>
      </p:sp>
      <p:sp>
        <p:nvSpPr>
          <p:cNvPr id="13" name="Text 10"/>
          <p:cNvSpPr/>
          <p:nvPr/>
        </p:nvSpPr>
        <p:spPr>
          <a:xfrm>
            <a:off x="6858000" y="1783080"/>
            <a:ext cx="1371600" cy="502920"/>
          </a:xfrm>
          <a:prstGeom prst="rect">
            <a:avLst/>
          </a:prstGeom>
          <a:noFill/>
          <a:ln/>
        </p:spPr>
        <p:txBody>
          <a:bodyPr wrap="square" lIns="0" tIns="0" rIns="0" bIns="0" rtlCol="0" anchor="ctr"/>
          <a:lstStyle/>
          <a:p>
            <a:pPr algn="ctr" indent="0" marL="0">
              <a:buNone/>
            </a:pPr>
            <a:r>
              <a:rPr lang="en-US" sz="1000" b="1" dirty="0">
                <a:solidFill>
                  <a:srgbClr val="0F766E"/>
                </a:solidFill>
                <a:latin typeface="Courier New" pitchFamily="34" charset="0"/>
                <a:ea typeface="Courier New" pitchFamily="34" charset="-122"/>
                <a:cs typeface="Courier New" pitchFamily="34" charset="-120"/>
              </a:rPr>
              <a:t>db</a:t>
            </a:r>
            <a:endParaRPr lang="en-US" sz="1000" dirty="0"/>
          </a:p>
        </p:txBody>
      </p:sp>
      <p:sp>
        <p:nvSpPr>
          <p:cNvPr id="14" name="Shape 11"/>
          <p:cNvSpPr/>
          <p:nvPr/>
        </p:nvSpPr>
        <p:spPr>
          <a:xfrm>
            <a:off x="7543800" y="2286000"/>
            <a:ext cx="0" cy="320040"/>
          </a:xfrm>
          <a:prstGeom prst="line">
            <a:avLst/>
          </a:prstGeom>
          <a:noFill/>
          <a:ln w="20320">
            <a:solidFill>
              <a:srgbClr val="64748B"/>
            </a:solidFill>
            <a:prstDash val="solid"/>
            <a:tailEnd type="triangle"/>
          </a:ln>
        </p:spPr>
      </p:sp>
      <p:sp>
        <p:nvSpPr>
          <p:cNvPr id="15" name="Shape 12"/>
          <p:cNvSpPr/>
          <p:nvPr/>
        </p:nvSpPr>
        <p:spPr>
          <a:xfrm>
            <a:off x="5120640" y="2606040"/>
            <a:ext cx="3108960" cy="384048"/>
          </a:xfrm>
          <a:prstGeom prst="rect">
            <a:avLst/>
          </a:prstGeom>
          <a:solidFill>
            <a:srgbClr val="1E293B"/>
          </a:solidFill>
          <a:ln/>
        </p:spPr>
      </p:sp>
      <p:sp>
        <p:nvSpPr>
          <p:cNvPr id="16" name="Text 13"/>
          <p:cNvSpPr/>
          <p:nvPr/>
        </p:nvSpPr>
        <p:spPr>
          <a:xfrm>
            <a:off x="5120640" y="2606040"/>
            <a:ext cx="310896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docker0  bridge</a:t>
            </a:r>
            <a:endParaRPr lang="en-US" sz="1000" dirty="0"/>
          </a:p>
        </p:txBody>
      </p:sp>
      <p:sp>
        <p:nvSpPr>
          <p:cNvPr id="17" name="Shape 14"/>
          <p:cNvSpPr/>
          <p:nvPr/>
        </p:nvSpPr>
        <p:spPr>
          <a:xfrm>
            <a:off x="6675120" y="2990088"/>
            <a:ext cx="0" cy="301752"/>
          </a:xfrm>
          <a:prstGeom prst="line">
            <a:avLst/>
          </a:prstGeom>
          <a:noFill/>
          <a:ln w="22860">
            <a:solidFill>
              <a:srgbClr val="64748B"/>
            </a:solidFill>
            <a:prstDash val="solid"/>
            <a:tailEnd type="triangle"/>
          </a:ln>
        </p:spPr>
      </p:sp>
      <p:sp>
        <p:nvSpPr>
          <p:cNvPr id="18" name="Shape 15"/>
          <p:cNvSpPr/>
          <p:nvPr/>
        </p:nvSpPr>
        <p:spPr>
          <a:xfrm>
            <a:off x="5120640" y="3291840"/>
            <a:ext cx="3108960" cy="347472"/>
          </a:xfrm>
          <a:prstGeom prst="rect">
            <a:avLst/>
          </a:prstGeom>
          <a:solidFill>
            <a:srgbClr val="64748B"/>
          </a:solidFill>
          <a:ln/>
        </p:spPr>
      </p:sp>
      <p:sp>
        <p:nvSpPr>
          <p:cNvPr id="19" name="Text 16"/>
          <p:cNvSpPr/>
          <p:nvPr/>
        </p:nvSpPr>
        <p:spPr>
          <a:xfrm>
            <a:off x="5120640" y="3291840"/>
            <a:ext cx="310896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eth0  →  NAT  →  Internet</a:t>
            </a:r>
            <a:endParaRPr lang="en-US" sz="950" dirty="0"/>
          </a:p>
        </p:txBody>
      </p:sp>
      <p:sp>
        <p:nvSpPr>
          <p:cNvPr id="20" name="Shape 17"/>
          <p:cNvSpPr/>
          <p:nvPr/>
        </p:nvSpPr>
        <p:spPr>
          <a:xfrm>
            <a:off x="457200" y="4114800"/>
            <a:ext cx="8229600" cy="475488"/>
          </a:xfrm>
          <a:prstGeom prst="roundRect">
            <a:avLst>
              <a:gd name="adj" fmla="val 15385"/>
            </a:avLst>
          </a:prstGeom>
          <a:solidFill>
            <a:srgbClr val="0F766E"/>
          </a:solidFill>
          <a:ln/>
          <a:effectLst>
            <a:outerShdw sx="100000" sy="100000" kx="0" ky="0" algn="bl" rotWithShape="0" blurRad="76200" dist="25400" dir="2700000">
              <a:srgbClr val="475569">
                <a:alpha val="12000"/>
              </a:srgbClr>
            </a:outerShdw>
          </a:effectLst>
        </p:spPr>
      </p:sp>
      <p:sp>
        <p:nvSpPr>
          <p:cNvPr id="21" name="Text 18"/>
          <p:cNvSpPr/>
          <p:nvPr/>
        </p:nvSpPr>
        <p:spPr>
          <a:xfrm>
            <a:off x="640080" y="4114800"/>
            <a:ext cx="7863840" cy="475488"/>
          </a:xfrm>
          <a:prstGeom prst="rect">
            <a:avLst/>
          </a:prstGeom>
          <a:noFill/>
          <a:ln/>
        </p:spPr>
        <p:txBody>
          <a:bodyPr wrap="square" lIns="0" tIns="0" rIns="0" bIns="0" rtlCol="0" anchor="ctr"/>
          <a:lstStyle/>
          <a:p>
            <a:pPr algn="ctr" indent="0" marL="0">
              <a:buNone/>
            </a:pPr>
            <a:r>
              <a:rPr lang="en-US" sz="1250" b="1" i="1" dirty="0">
                <a:solidFill>
                  <a:srgbClr val="FFFFFF"/>
                </a:solidFill>
                <a:latin typeface="Calibri" pitchFamily="34" charset="0"/>
                <a:ea typeface="Calibri" pitchFamily="34" charset="-122"/>
                <a:cs typeface="Calibri" pitchFamily="34" charset="-120"/>
              </a:rPr>
              <a:t>Each container is networked in isolation; the bridge connects them and NAT reaches the world.</a:t>
            </a:r>
            <a:endParaRPr lang="en-US" sz="1250" dirty="0"/>
          </a:p>
        </p:txBody>
      </p:sp>
      <p:sp>
        <p:nvSpPr>
          <p:cNvPr id="22" name="Text 19"/>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23" name="Text 20"/>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Networking &amp; Storage</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NETWORK DRIVERS</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Types of container networking</a:t>
            </a:r>
            <a:endParaRPr lang="en-US" sz="25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463040"/>
                <a:gridCol w="2103120"/>
                <a:gridCol w="4663440"/>
              </a:tblGrid>
              <a:tr h="420624">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Driver</a:t>
                      </a:r>
                      <a:endParaRPr lang="en-US" sz="115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Scope</a:t>
                      </a:r>
                      <a:endParaRPr lang="en-US" sz="115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When to use</a:t>
                      </a:r>
                      <a:endParaRPr lang="en-US" sz="115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420624">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bridge</a:t>
                      </a:r>
                      <a:endParaRPr lang="en-US" sz="11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75569"/>
                          </a:solidFill>
                          <a:latin typeface="Calibri" pitchFamily="34" charset="0"/>
                          <a:ea typeface="Calibri" pitchFamily="34" charset="-122"/>
                          <a:cs typeface="Calibri" pitchFamily="34" charset="-120"/>
                        </a:rPr>
                        <a:t>single host</a:t>
                      </a:r>
                      <a:endParaRPr lang="en-US" sz="11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75569"/>
                          </a:solidFill>
                          <a:latin typeface="Calibri" pitchFamily="34" charset="0"/>
                          <a:ea typeface="Calibri" pitchFamily="34" charset="-122"/>
                          <a:cs typeface="Calibri" pitchFamily="34" charset="-120"/>
                        </a:rPr>
                        <a:t>default; isolated apps on one host</a:t>
                      </a:r>
                      <a:endParaRPr lang="en-US" sz="11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20624">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host</a:t>
                      </a:r>
                      <a:endParaRPr lang="en-US" sz="11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475569"/>
                          </a:solidFill>
                          <a:latin typeface="Calibri" pitchFamily="34" charset="0"/>
                          <a:ea typeface="Calibri" pitchFamily="34" charset="-122"/>
                          <a:cs typeface="Calibri" pitchFamily="34" charset="-120"/>
                        </a:rPr>
                        <a:t>single host</a:t>
                      </a:r>
                      <a:endParaRPr lang="en-US" sz="11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475569"/>
                          </a:solidFill>
                          <a:latin typeface="Calibri" pitchFamily="34" charset="0"/>
                          <a:ea typeface="Calibri" pitchFamily="34" charset="-122"/>
                          <a:cs typeface="Calibri" pitchFamily="34" charset="-120"/>
                        </a:rPr>
                        <a:t>share host's stack; max performance, no isolation</a:t>
                      </a:r>
                      <a:endParaRPr lang="en-US" sz="11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20624">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75569"/>
                          </a:solidFill>
                          <a:latin typeface="Calibri" pitchFamily="34" charset="0"/>
                          <a:ea typeface="Calibri" pitchFamily="34" charset="-122"/>
                          <a:cs typeface="Calibri" pitchFamily="34" charset="-120"/>
                        </a:rPr>
                        <a:t>single host</a:t>
                      </a:r>
                      <a:endParaRPr lang="en-US" sz="11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75569"/>
                          </a:solidFill>
                          <a:latin typeface="Calibri" pitchFamily="34" charset="0"/>
                          <a:ea typeface="Calibri" pitchFamily="34" charset="-122"/>
                          <a:cs typeface="Calibri" pitchFamily="34" charset="-120"/>
                        </a:rPr>
                        <a:t>no networking; fully isolated</a:t>
                      </a:r>
                      <a:endParaRPr lang="en-US" sz="11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20624">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overlay</a:t>
                      </a:r>
                      <a:endParaRPr lang="en-US" sz="11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475569"/>
                          </a:solidFill>
                          <a:latin typeface="Calibri" pitchFamily="34" charset="0"/>
                          <a:ea typeface="Calibri" pitchFamily="34" charset="-122"/>
                          <a:cs typeface="Calibri" pitchFamily="34" charset="-120"/>
                        </a:rPr>
                        <a:t>multi-host</a:t>
                      </a:r>
                      <a:endParaRPr lang="en-US" sz="11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475569"/>
                          </a:solidFill>
                          <a:latin typeface="Calibri" pitchFamily="34" charset="0"/>
                          <a:ea typeface="Calibri" pitchFamily="34" charset="-122"/>
                          <a:cs typeface="Calibri" pitchFamily="34" charset="-120"/>
                        </a:rPr>
                        <a:t>connect containers across a Swarm cluster</a:t>
                      </a:r>
                      <a:endParaRPr lang="en-US" sz="11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20624">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macvlan</a:t>
                      </a:r>
                      <a:endParaRPr lang="en-US" sz="11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75569"/>
                          </a:solidFill>
                          <a:latin typeface="Calibri" pitchFamily="34" charset="0"/>
                          <a:ea typeface="Calibri" pitchFamily="34" charset="-122"/>
                          <a:cs typeface="Calibri" pitchFamily="34" charset="-120"/>
                        </a:rPr>
                        <a:t>single host</a:t>
                      </a:r>
                      <a:endParaRPr lang="en-US" sz="11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75569"/>
                          </a:solidFill>
                          <a:latin typeface="Calibri" pitchFamily="34" charset="0"/>
                          <a:ea typeface="Calibri" pitchFamily="34" charset="-122"/>
                          <a:cs typeface="Calibri" pitchFamily="34" charset="-120"/>
                        </a:rPr>
                        <a:t>give a container its own MAC/IP on the LAN</a:t>
                      </a:r>
                      <a:endParaRPr lang="en-US" sz="1100" dirty="0">
                        <a:latin typeface="Calibri" charset="0"/>
                        <a:ea typeface="Calibri" charset="0"/>
                        <a:cs typeface="Calibri" charset="0"/>
                      </a:endParaRPr>
                    </a:p>
                  </a:txBody>
                  <a:tcPr marL="63500" marR="63500" marT="25400" marB="2540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Shape 3"/>
          <p:cNvSpPr/>
          <p:nvPr/>
        </p:nvSpPr>
        <p:spPr>
          <a:xfrm>
            <a:off x="457200" y="4160520"/>
            <a:ext cx="8229600" cy="475488"/>
          </a:xfrm>
          <a:prstGeom prst="roundRect">
            <a:avLst>
              <a:gd name="adj" fmla="val 15385"/>
            </a:avLst>
          </a:prstGeom>
          <a:solidFill>
            <a:srgbClr val="0F172A"/>
          </a:solidFill>
          <a:ln/>
          <a:effectLst>
            <a:outerShdw sx="100000" sy="100000" kx="0" ky="0" algn="bl" rotWithShape="0" blurRad="76200" dist="25400" dir="2700000">
              <a:srgbClr val="475569">
                <a:alpha val="12000"/>
              </a:srgbClr>
            </a:outerShdw>
          </a:effectLst>
        </p:spPr>
      </p:sp>
      <p:sp>
        <p:nvSpPr>
          <p:cNvPr id="8" name="Text 4"/>
          <p:cNvSpPr/>
          <p:nvPr/>
        </p:nvSpPr>
        <p:spPr>
          <a:xfrm>
            <a:off x="640080" y="4160520"/>
            <a:ext cx="7863840" cy="475488"/>
          </a:xfrm>
          <a:prstGeom prst="rect">
            <a:avLst/>
          </a:prstGeom>
          <a:noFill/>
          <a:ln/>
        </p:spPr>
        <p:txBody>
          <a:bodyPr wrap="square" lIns="0" tIns="0" rIns="0" bIns="0" rtlCol="0" anchor="ctr"/>
          <a:lstStyle/>
          <a:p>
            <a:pPr algn="ctr" indent="0" marL="0">
              <a:buNone/>
            </a:pPr>
            <a:r>
              <a:rPr lang="en-US" sz="1250" b="1" i="1" dirty="0">
                <a:solidFill>
                  <a:srgbClr val="FFFFFF"/>
                </a:solidFill>
                <a:latin typeface="Calibri" pitchFamily="34" charset="0"/>
                <a:ea typeface="Calibri" pitchFamily="34" charset="-122"/>
                <a:cs typeface="Calibri" pitchFamily="34" charset="-120"/>
              </a:rPr>
              <a:t>Prefer a user-defined bridge over the default — you get automatic DNS by container name.</a:t>
            </a:r>
            <a:endParaRPr lang="en-US" sz="1250" dirty="0"/>
          </a:p>
        </p:txBody>
      </p:sp>
      <p:sp>
        <p:nvSpPr>
          <p:cNvPr id="9" name="Text 5"/>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10" name="Text 6"/>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Networking &amp; Storage</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NETWORKING IN PRACTICE</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Connecting containers by name</a:t>
            </a:r>
            <a:endParaRPr lang="en-US" sz="2500" dirty="0"/>
          </a:p>
        </p:txBody>
      </p:sp>
      <p:sp>
        <p:nvSpPr>
          <p:cNvPr id="6" name="Shape 3"/>
          <p:cNvSpPr/>
          <p:nvPr/>
        </p:nvSpPr>
        <p:spPr>
          <a:xfrm>
            <a:off x="457200" y="1234440"/>
            <a:ext cx="4983480" cy="2834640"/>
          </a:xfrm>
          <a:prstGeom prst="roundRect">
            <a:avLst>
              <a:gd name="adj" fmla="val 2258"/>
            </a:avLst>
          </a:prstGeom>
          <a:solidFill>
            <a:srgbClr val="1E293B"/>
          </a:solidFill>
          <a:ln w="12700">
            <a:solidFill>
              <a:srgbClr val="334155"/>
            </a:solidFill>
            <a:prstDash val="solid"/>
          </a:ln>
          <a:effectLst>
            <a:outerShdw sx="100000" sy="100000" kx="0" ky="0" algn="bl" rotWithShape="0" blurRad="114300" dist="38100" dir="2700000">
              <a:srgbClr val="475569">
                <a:alpha val="24000"/>
              </a:srgbClr>
            </a:outerShdw>
          </a:effectLst>
        </p:spPr>
      </p:sp>
      <p:sp>
        <p:nvSpPr>
          <p:cNvPr id="7" name="Shape 4"/>
          <p:cNvSpPr/>
          <p:nvPr/>
        </p:nvSpPr>
        <p:spPr>
          <a:xfrm>
            <a:off x="658368" y="1417320"/>
            <a:ext cx="91440" cy="91440"/>
          </a:xfrm>
          <a:prstGeom prst="ellipse">
            <a:avLst/>
          </a:prstGeom>
          <a:solidFill>
            <a:srgbClr val="EF4444"/>
          </a:solidFill>
          <a:ln/>
        </p:spPr>
      </p:sp>
      <p:sp>
        <p:nvSpPr>
          <p:cNvPr id="8" name="Shape 5"/>
          <p:cNvSpPr/>
          <p:nvPr/>
        </p:nvSpPr>
        <p:spPr>
          <a:xfrm>
            <a:off x="804672" y="1417320"/>
            <a:ext cx="91440" cy="91440"/>
          </a:xfrm>
          <a:prstGeom prst="ellipse">
            <a:avLst/>
          </a:prstGeom>
          <a:solidFill>
            <a:srgbClr val="F59E0B"/>
          </a:solidFill>
          <a:ln/>
        </p:spPr>
      </p:sp>
      <p:sp>
        <p:nvSpPr>
          <p:cNvPr id="9" name="Shape 6"/>
          <p:cNvSpPr/>
          <p:nvPr/>
        </p:nvSpPr>
        <p:spPr>
          <a:xfrm>
            <a:off x="950976" y="1417320"/>
            <a:ext cx="91440" cy="91440"/>
          </a:xfrm>
          <a:prstGeom prst="ellipse">
            <a:avLst/>
          </a:prstGeom>
          <a:solidFill>
            <a:srgbClr val="22C55E"/>
          </a:solidFill>
          <a:ln/>
        </p:spPr>
      </p:sp>
      <p:sp>
        <p:nvSpPr>
          <p:cNvPr id="10" name="Text 7"/>
          <p:cNvSpPr/>
          <p:nvPr/>
        </p:nvSpPr>
        <p:spPr>
          <a:xfrm>
            <a:off x="1170432" y="1353312"/>
            <a:ext cx="4069080" cy="20116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network</a:t>
            </a:r>
            <a:endParaRPr lang="en-US" sz="900" dirty="0"/>
          </a:p>
        </p:txBody>
      </p:sp>
      <p:sp>
        <p:nvSpPr>
          <p:cNvPr id="11" name="Text 8"/>
          <p:cNvSpPr/>
          <p:nvPr/>
        </p:nvSpPr>
        <p:spPr>
          <a:xfrm>
            <a:off x="676656" y="1673352"/>
            <a:ext cx="4544568" cy="2286000"/>
          </a:xfrm>
          <a:prstGeom prst="rect">
            <a:avLst/>
          </a:prstGeom>
          <a:noFill/>
          <a:ln/>
        </p:spPr>
        <p:txBody>
          <a:bodyPr wrap="square" lIns="0" tIns="0" rIns="0" bIns="0" rtlCol="0" anchor="t"/>
          <a:lstStyle/>
          <a:p>
            <a:pPr algn="l" indent="0" marL="0">
              <a:lnSpc>
                <a:spcPts val="1133"/>
              </a:lnSpc>
              <a:buNone/>
            </a:pPr>
            <a:r>
              <a:rPr lang="en-US" sz="960" b="1" dirty="0">
                <a:solidFill>
                  <a:srgbClr val="0D9488"/>
                </a:solidFill>
                <a:latin typeface="Courier New" pitchFamily="34" charset="0"/>
                <a:ea typeface="Courier New" pitchFamily="34" charset="-122"/>
                <a:cs typeface="Courier New" pitchFamily="34" charset="-120"/>
              </a:rPr>
              <a:t>$ </a:t>
            </a:r>
            <a:pPr algn="l" indent="0" marL="0">
              <a:lnSpc>
                <a:spcPts val="1133"/>
              </a:lnSpc>
              <a:buNone/>
            </a:pPr>
            <a:r>
              <a:rPr lang="en-US" sz="960" dirty="0">
                <a:solidFill>
                  <a:srgbClr val="FFFFFF"/>
                </a:solidFill>
                <a:latin typeface="Courier New" pitchFamily="34" charset="0"/>
                <a:ea typeface="Courier New" pitchFamily="34" charset="-122"/>
                <a:cs typeface="Courier New" pitchFamily="34" charset="-120"/>
              </a:rPr>
              <a:t>docker network create appnet</a:t>
            </a:r>
            <a:endParaRPr lang="en-US" sz="960" dirty="0"/>
          </a:p>
          <a:p>
            <a:pPr algn="l" indent="0" marL="0">
              <a:lnSpc>
                <a:spcPts val="1133"/>
              </a:lnSpc>
              <a:buNone/>
            </a:pPr>
            <a:r>
              <a:rPr lang="en-US" sz="960" b="1" dirty="0">
                <a:solidFill>
                  <a:srgbClr val="0D9488"/>
                </a:solidFill>
                <a:latin typeface="Courier New" pitchFamily="34" charset="0"/>
                <a:ea typeface="Courier New" pitchFamily="34" charset="-122"/>
                <a:cs typeface="Courier New" pitchFamily="34" charset="-120"/>
              </a:rPr>
              <a:t>$ </a:t>
            </a:r>
            <a:pPr algn="l" indent="0" marL="0">
              <a:lnSpc>
                <a:spcPts val="1133"/>
              </a:lnSpc>
              <a:buNone/>
            </a:pPr>
            <a:r>
              <a:rPr lang="en-US" sz="960" dirty="0">
                <a:solidFill>
                  <a:srgbClr val="FFFFFF"/>
                </a:solidFill>
                <a:latin typeface="Courier New" pitchFamily="34" charset="0"/>
                <a:ea typeface="Courier New" pitchFamily="34" charset="-122"/>
                <a:cs typeface="Courier New" pitchFamily="34" charset="-120"/>
              </a:rPr>
              <a:t>docker network ls</a:t>
            </a:r>
            <a:endParaRPr lang="en-US" sz="960" dirty="0"/>
          </a:p>
          <a:p>
            <a:pPr algn="l" indent="0" marL="0">
              <a:lnSpc>
                <a:spcPts val="1133"/>
              </a:lnSpc>
              <a:buNone/>
            </a:pPr>
            <a:r>
              <a:rPr lang="en-US" sz="960" dirty="0">
                <a:solidFill>
                  <a:srgbClr val="38BDF8"/>
                </a:solidFill>
                <a:latin typeface="Courier New" pitchFamily="34" charset="0"/>
                <a:ea typeface="Courier New" pitchFamily="34" charset="-122"/>
                <a:cs typeface="Courier New" pitchFamily="34" charset="-120"/>
              </a:rPr>
              <a:t>NAME     DRIVER   SCOPE</a:t>
            </a:r>
            <a:endParaRPr lang="en-US" sz="960" dirty="0"/>
          </a:p>
          <a:p>
            <a:pPr algn="l" indent="0" marL="0">
              <a:lnSpc>
                <a:spcPts val="1133"/>
              </a:lnSpc>
              <a:buNone/>
            </a:pPr>
            <a:r>
              <a:rPr lang="en-US" sz="960" dirty="0">
                <a:solidFill>
                  <a:srgbClr val="38BDF8"/>
                </a:solidFill>
                <a:latin typeface="Courier New" pitchFamily="34" charset="0"/>
                <a:ea typeface="Courier New" pitchFamily="34" charset="-122"/>
                <a:cs typeface="Courier New" pitchFamily="34" charset="-120"/>
              </a:rPr>
              <a:t>appnet   bridge   local</a:t>
            </a:r>
            <a:endParaRPr lang="en-US" sz="960" dirty="0"/>
          </a:p>
          <a:p>
            <a:pPr algn="l" indent="0" marL="0">
              <a:lnSpc>
                <a:spcPts val="1133"/>
              </a:lnSpc>
              <a:buNone/>
            </a:pPr>
            <a:r>
              <a:rPr lang="en-US" sz="960" dirty="0">
                <a:solidFill>
                  <a:srgbClr val="FFFFFF"/>
                </a:solidFill>
                <a:latin typeface="Courier New" pitchFamily="34" charset="0"/>
                <a:ea typeface="Courier New" pitchFamily="34" charset="-122"/>
                <a:cs typeface="Courier New" pitchFamily="34" charset="-120"/>
              </a:rPr>
              <a:t> </a:t>
            </a:r>
            <a:endParaRPr lang="en-US" sz="960" dirty="0"/>
          </a:p>
          <a:p>
            <a:pPr algn="l" indent="0" marL="0">
              <a:lnSpc>
                <a:spcPts val="1133"/>
              </a:lnSpc>
              <a:buNone/>
            </a:pPr>
            <a:r>
              <a:rPr lang="en-US" sz="960" b="1" dirty="0">
                <a:solidFill>
                  <a:srgbClr val="0D9488"/>
                </a:solidFill>
                <a:latin typeface="Courier New" pitchFamily="34" charset="0"/>
                <a:ea typeface="Courier New" pitchFamily="34" charset="-122"/>
                <a:cs typeface="Courier New" pitchFamily="34" charset="-120"/>
              </a:rPr>
              <a:t>$ </a:t>
            </a:r>
            <a:pPr algn="l" indent="0" marL="0">
              <a:lnSpc>
                <a:spcPts val="1133"/>
              </a:lnSpc>
              <a:buNone/>
            </a:pPr>
            <a:r>
              <a:rPr lang="en-US" sz="960" dirty="0">
                <a:solidFill>
                  <a:srgbClr val="FFFFFF"/>
                </a:solidFill>
                <a:latin typeface="Courier New" pitchFamily="34" charset="0"/>
                <a:ea typeface="Courier New" pitchFamily="34" charset="-122"/>
                <a:cs typeface="Courier New" pitchFamily="34" charset="-120"/>
              </a:rPr>
              <a:t>docker run -d --name db --network appnet postgres</a:t>
            </a:r>
            <a:endParaRPr lang="en-US" sz="960" dirty="0"/>
          </a:p>
          <a:p>
            <a:pPr algn="l" indent="0" marL="0">
              <a:lnSpc>
                <a:spcPts val="1133"/>
              </a:lnSpc>
              <a:buNone/>
            </a:pPr>
            <a:r>
              <a:rPr lang="en-US" sz="960" b="1" dirty="0">
                <a:solidFill>
                  <a:srgbClr val="0D9488"/>
                </a:solidFill>
                <a:latin typeface="Courier New" pitchFamily="34" charset="0"/>
                <a:ea typeface="Courier New" pitchFamily="34" charset="-122"/>
                <a:cs typeface="Courier New" pitchFamily="34" charset="-120"/>
              </a:rPr>
              <a:t>$ </a:t>
            </a:r>
            <a:pPr algn="l" indent="0" marL="0">
              <a:lnSpc>
                <a:spcPts val="1133"/>
              </a:lnSpc>
              <a:buNone/>
            </a:pPr>
            <a:r>
              <a:rPr lang="en-US" sz="960" dirty="0">
                <a:solidFill>
                  <a:srgbClr val="FFFFFF"/>
                </a:solidFill>
                <a:latin typeface="Courier New" pitchFamily="34" charset="0"/>
                <a:ea typeface="Courier New" pitchFamily="34" charset="-122"/>
                <a:cs typeface="Courier New" pitchFamily="34" charset="-120"/>
              </a:rPr>
              <a:t>docker run -d --name api --network appnet myapi</a:t>
            </a:r>
            <a:endParaRPr lang="en-US" sz="960" dirty="0"/>
          </a:p>
          <a:p>
            <a:pPr algn="l" indent="0" marL="0">
              <a:lnSpc>
                <a:spcPts val="1133"/>
              </a:lnSpc>
              <a:buNone/>
            </a:pPr>
            <a:r>
              <a:rPr lang="en-US" sz="960" dirty="0">
                <a:solidFill>
                  <a:srgbClr val="FFFFFF"/>
                </a:solidFill>
                <a:latin typeface="Courier New" pitchFamily="34" charset="0"/>
                <a:ea typeface="Courier New" pitchFamily="34" charset="-122"/>
                <a:cs typeface="Courier New" pitchFamily="34" charset="-120"/>
              </a:rPr>
              <a:t> </a:t>
            </a:r>
            <a:endParaRPr lang="en-US" sz="960" dirty="0"/>
          </a:p>
          <a:p>
            <a:pPr algn="l" indent="0" marL="0">
              <a:lnSpc>
                <a:spcPts val="1133"/>
              </a:lnSpc>
              <a:buNone/>
            </a:pPr>
            <a:r>
              <a:rPr lang="en-US" sz="960" dirty="0">
                <a:solidFill>
                  <a:srgbClr val="94A3B8"/>
                </a:solidFill>
                <a:latin typeface="Courier New" pitchFamily="34" charset="0"/>
                <a:ea typeface="Courier New" pitchFamily="34" charset="-122"/>
                <a:cs typeface="Courier New" pitchFamily="34" charset="-120"/>
              </a:rPr>
              <a:t># api reaches the database simply as:</a:t>
            </a:r>
            <a:endParaRPr lang="en-US" sz="960" dirty="0"/>
          </a:p>
          <a:p>
            <a:pPr algn="l" indent="0" marL="0">
              <a:lnSpc>
                <a:spcPts val="1133"/>
              </a:lnSpc>
              <a:buNone/>
            </a:pPr>
            <a:r>
              <a:rPr lang="en-US" sz="960" dirty="0">
                <a:solidFill>
                  <a:srgbClr val="34D399"/>
                </a:solidFill>
                <a:latin typeface="Courier New" pitchFamily="34" charset="0"/>
                <a:ea typeface="Courier New" pitchFamily="34" charset="-122"/>
                <a:cs typeface="Courier New" pitchFamily="34" charset="-120"/>
              </a:rPr>
              <a:t>  postgres://</a:t>
            </a:r>
            <a:pPr algn="l" indent="0" marL="0">
              <a:lnSpc>
                <a:spcPts val="1133"/>
              </a:lnSpc>
              <a:buNone/>
            </a:pPr>
            <a:r>
              <a:rPr lang="en-US" sz="960" dirty="0">
                <a:solidFill>
                  <a:srgbClr val="38BDF8"/>
                </a:solidFill>
                <a:latin typeface="Courier New" pitchFamily="34" charset="0"/>
                <a:ea typeface="Courier New" pitchFamily="34" charset="-122"/>
                <a:cs typeface="Courier New" pitchFamily="34" charset="-120"/>
              </a:rPr>
              <a:t>db</a:t>
            </a:r>
            <a:pPr algn="l" indent="0" marL="0">
              <a:lnSpc>
                <a:spcPts val="1133"/>
              </a:lnSpc>
              <a:buNone/>
            </a:pPr>
            <a:r>
              <a:rPr lang="en-US" sz="960" dirty="0">
                <a:solidFill>
                  <a:srgbClr val="34D399"/>
                </a:solidFill>
                <a:latin typeface="Courier New" pitchFamily="34" charset="0"/>
                <a:ea typeface="Courier New" pitchFamily="34" charset="-122"/>
                <a:cs typeface="Courier New" pitchFamily="34" charset="-120"/>
              </a:rPr>
              <a:t>:5432</a:t>
            </a:r>
            <a:endParaRPr lang="en-US" sz="960" dirty="0"/>
          </a:p>
        </p:txBody>
      </p:sp>
      <p:sp>
        <p:nvSpPr>
          <p:cNvPr id="12" name="Text 9"/>
          <p:cNvSpPr/>
          <p:nvPr/>
        </p:nvSpPr>
        <p:spPr>
          <a:xfrm>
            <a:off x="5623560" y="1325880"/>
            <a:ext cx="3063240" cy="2743200"/>
          </a:xfrm>
          <a:prstGeom prst="rect">
            <a:avLst/>
          </a:prstGeom>
          <a:noFill/>
          <a:ln/>
        </p:spPr>
        <p:txBody>
          <a:bodyPr wrap="square" lIns="0" tIns="0" rIns="0" bIns="0" rtlCol="0" anchor="t"/>
          <a:lstStyle/>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User-defined bridge</a:t>
            </a:r>
            <a:pPr algn="l" indent="0" marL="0">
              <a:spcAft>
                <a:spcPts val="1000"/>
              </a:spcAft>
              <a:buNone/>
            </a:pPr>
            <a:r>
              <a:rPr lang="en-US" sz="1100" dirty="0">
                <a:solidFill>
                  <a:srgbClr val="475569"/>
                </a:solidFill>
                <a:latin typeface="Calibri" pitchFamily="34" charset="0"/>
                <a:ea typeface="Calibri" pitchFamily="34" charset="-122"/>
                <a:cs typeface="Calibri" pitchFamily="34" charset="-120"/>
              </a:rPr>
              <a:t>  create one per app stack</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DNS by name</a:t>
            </a:r>
            <a:pPr algn="l" indent="0" marL="0">
              <a:spcAft>
                <a:spcPts val="1000"/>
              </a:spcAft>
              <a:buNone/>
            </a:pPr>
            <a:r>
              <a:rPr lang="en-US" sz="1100" dirty="0">
                <a:solidFill>
                  <a:srgbClr val="475569"/>
                </a:solidFill>
                <a:latin typeface="Calibri" pitchFamily="34" charset="0"/>
                <a:ea typeface="Calibri" pitchFamily="34" charset="-122"/>
                <a:cs typeface="Calibri" pitchFamily="34" charset="-120"/>
              </a:rPr>
              <a:t>  api connects to 'db', never a hard-coded IP</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Isolation</a:t>
            </a:r>
            <a:pPr algn="l" indent="0" marL="0">
              <a:spcAft>
                <a:spcPts val="1000"/>
              </a:spcAft>
              <a:buNone/>
            </a:pPr>
            <a:r>
              <a:rPr lang="en-US" sz="1100" dirty="0">
                <a:solidFill>
                  <a:srgbClr val="475569"/>
                </a:solidFill>
                <a:latin typeface="Calibri" pitchFamily="34" charset="0"/>
                <a:ea typeface="Calibri" pitchFamily="34" charset="-122"/>
                <a:cs typeface="Calibri" pitchFamily="34" charset="-120"/>
              </a:rPr>
              <a:t>  only containers on appnet can talk to db</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Compose does this</a:t>
            </a:r>
            <a:pPr algn="l" indent="0" marL="0">
              <a:spcAft>
                <a:spcPts val="1000"/>
              </a:spcAft>
              <a:buNone/>
            </a:pPr>
            <a:r>
              <a:rPr lang="en-US" sz="1100" dirty="0">
                <a:solidFill>
                  <a:srgbClr val="475569"/>
                </a:solidFill>
                <a:latin typeface="Calibri" pitchFamily="34" charset="0"/>
                <a:ea typeface="Calibri" pitchFamily="34" charset="-122"/>
                <a:cs typeface="Calibri" pitchFamily="34" charset="-120"/>
              </a:rPr>
              <a:t>  one network per project, automatically</a:t>
            </a:r>
            <a:endParaRPr lang="en-US" sz="1100" dirty="0"/>
          </a:p>
        </p:txBody>
      </p:sp>
      <p:sp>
        <p:nvSpPr>
          <p:cNvPr id="13" name="Text 10"/>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14" name="Text 11"/>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Networking &amp; Storage</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FF7ED"/>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F97316"/>
                </a:solidFill>
                <a:latin typeface="Calibri" pitchFamily="34" charset="0"/>
                <a:ea typeface="Calibri" pitchFamily="34" charset="-122"/>
                <a:cs typeface="Calibri" pitchFamily="34" charset="-120"/>
              </a:rPr>
              <a:t>THE PROBLEM</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Containers forget everything</a:t>
            </a:r>
            <a:endParaRPr lang="en-US" sz="2500" dirty="0"/>
          </a:p>
        </p:txBody>
      </p:sp>
      <p:sp>
        <p:nvSpPr>
          <p:cNvPr id="6" name="Shape 3"/>
          <p:cNvSpPr/>
          <p:nvPr/>
        </p:nvSpPr>
        <p:spPr>
          <a:xfrm>
            <a:off x="457200" y="1234440"/>
            <a:ext cx="3977640" cy="2697480"/>
          </a:xfrm>
          <a:prstGeom prst="roundRect">
            <a:avLst>
              <a:gd name="adj" fmla="val 2712"/>
            </a:avLst>
          </a:prstGeom>
          <a:solidFill>
            <a:srgbClr val="FFF7ED"/>
          </a:solidFill>
          <a:ln w="12700">
            <a:solidFill>
              <a:srgbClr val="FED7AA"/>
            </a:solidFill>
            <a:prstDash val="solid"/>
          </a:ln>
          <a:effectLst>
            <a:outerShdw sx="100000" sy="100000" kx="0" ky="0" algn="bl" rotWithShape="0" blurRad="76200" dist="25400" dir="2700000">
              <a:srgbClr val="475569">
                <a:alpha val="10000"/>
              </a:srgbClr>
            </a:outerShdw>
          </a:effectLst>
        </p:spPr>
      </p:sp>
      <p:pic>
        <p:nvPicPr>
          <p:cNvPr id="7" name="Image 1" descr="preencoded.png">    </p:cNvPr>
          <p:cNvPicPr>
            <a:picLocks noChangeAspect="1"/>
          </p:cNvPicPr>
          <p:nvPr/>
        </p:nvPicPr>
        <p:blipFill>
          <a:blip r:embed="rId2"/>
          <a:stretch>
            <a:fillRect/>
          </a:stretch>
        </p:blipFill>
        <p:spPr>
          <a:xfrm>
            <a:off x="694944" y="1463040"/>
            <a:ext cx="310896" cy="310896"/>
          </a:xfrm>
          <a:prstGeom prst="rect">
            <a:avLst/>
          </a:prstGeom>
        </p:spPr>
      </p:pic>
      <p:sp>
        <p:nvSpPr>
          <p:cNvPr id="8" name="Text 4"/>
          <p:cNvSpPr/>
          <p:nvPr/>
        </p:nvSpPr>
        <p:spPr>
          <a:xfrm>
            <a:off x="1115568" y="1463040"/>
            <a:ext cx="3154680" cy="310896"/>
          </a:xfrm>
          <a:prstGeom prst="rect">
            <a:avLst/>
          </a:prstGeom>
          <a:noFill/>
          <a:ln/>
        </p:spPr>
        <p:txBody>
          <a:bodyPr wrap="square" lIns="0" tIns="0" rIns="0" bIns="0" rtlCol="0" anchor="ctr"/>
          <a:lstStyle/>
          <a:p>
            <a:pPr indent="0" marL="0">
              <a:buNone/>
            </a:pPr>
            <a:r>
              <a:rPr lang="en-US" sz="1200" b="1" spc="150" kern="0" dirty="0">
                <a:solidFill>
                  <a:srgbClr val="C2410C"/>
                </a:solidFill>
                <a:latin typeface="Calibri" pitchFamily="34" charset="0"/>
                <a:ea typeface="Calibri" pitchFamily="34" charset="-122"/>
                <a:cs typeface="Calibri" pitchFamily="34" charset="-120"/>
              </a:rPr>
              <a:t>EPHEMERAL BY DESIGN</a:t>
            </a:r>
            <a:endParaRPr lang="en-US" sz="1200" dirty="0"/>
          </a:p>
        </p:txBody>
      </p:sp>
      <p:sp>
        <p:nvSpPr>
          <p:cNvPr id="9" name="Text 5"/>
          <p:cNvSpPr/>
          <p:nvPr/>
        </p:nvSpPr>
        <p:spPr>
          <a:xfrm>
            <a:off x="676656" y="1783080"/>
            <a:ext cx="3566160" cy="2103120"/>
          </a:xfrm>
          <a:prstGeom prst="rect">
            <a:avLst/>
          </a:prstGeom>
          <a:noFill/>
          <a:ln/>
        </p:spPr>
        <p:txBody>
          <a:bodyPr wrap="square" lIns="0" tIns="0" rIns="0" bIns="0" rtlCol="0" anchor="t"/>
          <a:lstStyle/>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The writable layer lives and dies with the container</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docker rm the container → all its data is gone</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Copy-on-write is slow for heavy writes (databases)</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Data is trapped inside one container — not shareable</a:t>
            </a:r>
            <a:endParaRPr lang="en-US" sz="1150" dirty="0"/>
          </a:p>
        </p:txBody>
      </p:sp>
      <p:sp>
        <p:nvSpPr>
          <p:cNvPr id="10" name="Shape 6"/>
          <p:cNvSpPr/>
          <p:nvPr/>
        </p:nvSpPr>
        <p:spPr>
          <a:xfrm>
            <a:off x="4709160" y="1234440"/>
            <a:ext cx="3977640" cy="2697480"/>
          </a:xfrm>
          <a:prstGeom prst="roundRect">
            <a:avLst>
              <a:gd name="adj" fmla="val 2712"/>
            </a:avLst>
          </a:prstGeom>
          <a:solidFill>
            <a:srgbClr val="F0FDFA"/>
          </a:solidFill>
          <a:ln w="12700">
            <a:solidFill>
              <a:srgbClr val="99F6E4"/>
            </a:solidFill>
            <a:prstDash val="solid"/>
          </a:ln>
          <a:effectLst>
            <a:outerShdw sx="100000" sy="100000" kx="0" ky="0" algn="bl" rotWithShape="0" blurRad="76200" dist="25400" dir="2700000">
              <a:srgbClr val="475569">
                <a:alpha val="10000"/>
              </a:srgbClr>
            </a:outerShdw>
          </a:effectLst>
        </p:spPr>
      </p:sp>
      <p:pic>
        <p:nvPicPr>
          <p:cNvPr id="11" name="Image 2" descr="preencoded.png">    </p:cNvPr>
          <p:cNvPicPr>
            <a:picLocks noChangeAspect="1"/>
          </p:cNvPicPr>
          <p:nvPr/>
        </p:nvPicPr>
        <p:blipFill>
          <a:blip r:embed="rId3"/>
          <a:stretch>
            <a:fillRect/>
          </a:stretch>
        </p:blipFill>
        <p:spPr>
          <a:xfrm>
            <a:off x="4946904" y="1463040"/>
            <a:ext cx="310896" cy="310896"/>
          </a:xfrm>
          <a:prstGeom prst="rect">
            <a:avLst/>
          </a:prstGeom>
        </p:spPr>
      </p:pic>
      <p:sp>
        <p:nvSpPr>
          <p:cNvPr id="12" name="Text 7"/>
          <p:cNvSpPr/>
          <p:nvPr/>
        </p:nvSpPr>
        <p:spPr>
          <a:xfrm>
            <a:off x="5367528" y="1463040"/>
            <a:ext cx="3154680" cy="310896"/>
          </a:xfrm>
          <a:prstGeom prst="rect">
            <a:avLst/>
          </a:prstGeom>
          <a:noFill/>
          <a:ln/>
        </p:spPr>
        <p:txBody>
          <a:bodyPr wrap="square" lIns="0" tIns="0" rIns="0" bIns="0" rtlCol="0" anchor="ctr"/>
          <a:lstStyle/>
          <a:p>
            <a:pPr indent="0" marL="0">
              <a:buNone/>
            </a:pPr>
            <a:r>
              <a:rPr lang="en-US" sz="1200" b="1" spc="150" kern="0" dirty="0">
                <a:solidFill>
                  <a:srgbClr val="0F766E"/>
                </a:solidFill>
                <a:latin typeface="Calibri" pitchFamily="34" charset="0"/>
                <a:ea typeface="Calibri" pitchFamily="34" charset="-122"/>
                <a:cs typeface="Calibri" pitchFamily="34" charset="-120"/>
              </a:rPr>
              <a:t>PERSIST OUTSIDE IT</a:t>
            </a:r>
            <a:endParaRPr lang="en-US" sz="1200" dirty="0"/>
          </a:p>
        </p:txBody>
      </p:sp>
      <p:sp>
        <p:nvSpPr>
          <p:cNvPr id="13" name="Text 8"/>
          <p:cNvSpPr/>
          <p:nvPr/>
        </p:nvSpPr>
        <p:spPr>
          <a:xfrm>
            <a:off x="4928616" y="1783080"/>
            <a:ext cx="3566160" cy="2103120"/>
          </a:xfrm>
          <a:prstGeom prst="rect">
            <a:avLst/>
          </a:prstGeom>
          <a:noFill/>
          <a:ln/>
        </p:spPr>
        <p:txBody>
          <a:bodyPr wrap="square" lIns="0" tIns="0" rIns="0" bIns="0" rtlCol="0" anchor="t"/>
          <a:lstStyle/>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Mount storage that outlives any single container</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Share the same data across containers and restarts</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Back it up and manage it independently of the image</a:t>
            </a:r>
            <a:endParaRPr lang="en-US" sz="1150" dirty="0"/>
          </a:p>
        </p:txBody>
      </p:sp>
      <p:sp>
        <p:nvSpPr>
          <p:cNvPr id="14" name="Shape 9"/>
          <p:cNvSpPr/>
          <p:nvPr/>
        </p:nvSpPr>
        <p:spPr>
          <a:xfrm>
            <a:off x="457200" y="4114800"/>
            <a:ext cx="8229600" cy="475488"/>
          </a:xfrm>
          <a:prstGeom prst="roundRect">
            <a:avLst>
              <a:gd name="adj" fmla="val 15385"/>
            </a:avLst>
          </a:prstGeom>
          <a:solidFill>
            <a:srgbClr val="0F766E"/>
          </a:solidFill>
          <a:ln/>
          <a:effectLst>
            <a:outerShdw sx="100000" sy="100000" kx="0" ky="0" algn="bl" rotWithShape="0" blurRad="76200" dist="25400" dir="2700000">
              <a:srgbClr val="475569">
                <a:alpha val="12000"/>
              </a:srgbClr>
            </a:outerShdw>
          </a:effectLst>
        </p:spPr>
      </p:sp>
      <p:sp>
        <p:nvSpPr>
          <p:cNvPr id="15" name="Text 10"/>
          <p:cNvSpPr/>
          <p:nvPr/>
        </p:nvSpPr>
        <p:spPr>
          <a:xfrm>
            <a:off x="640080" y="4114800"/>
            <a:ext cx="7863840" cy="475488"/>
          </a:xfrm>
          <a:prstGeom prst="rect">
            <a:avLst/>
          </a:prstGeom>
          <a:noFill/>
          <a:ln/>
        </p:spPr>
        <p:txBody>
          <a:bodyPr wrap="square" lIns="0" tIns="0" rIns="0" bIns="0" rtlCol="0" anchor="ctr"/>
          <a:lstStyle/>
          <a:p>
            <a:pPr algn="ctr" indent="0" marL="0">
              <a:buNone/>
            </a:pPr>
            <a:r>
              <a:rPr lang="en-US" sz="1250" b="1" i="1" dirty="0">
                <a:solidFill>
                  <a:srgbClr val="FFFFFF"/>
                </a:solidFill>
                <a:latin typeface="Calibri" pitchFamily="34" charset="0"/>
                <a:ea typeface="Calibri" pitchFamily="34" charset="-122"/>
                <a:cs typeface="Calibri" pitchFamily="34" charset="-120"/>
              </a:rPr>
              <a:t>Code belongs in the image; data belongs in a volume.</a:t>
            </a:r>
            <a:endParaRPr lang="en-US" sz="1250" dirty="0"/>
          </a:p>
        </p:txBody>
      </p:sp>
      <p:sp>
        <p:nvSpPr>
          <p:cNvPr id="16" name="Text 11"/>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17" name="Text 12"/>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Networking &amp; Storage</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PERSISTENT STORAGE</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Volumes, bind mounts &amp; tmpfs</a:t>
            </a:r>
            <a:endParaRPr lang="en-US" sz="2500" dirty="0"/>
          </a:p>
        </p:txBody>
      </p:sp>
      <p:sp>
        <p:nvSpPr>
          <p:cNvPr id="6" name="Shape 3"/>
          <p:cNvSpPr/>
          <p:nvPr/>
        </p:nvSpPr>
        <p:spPr>
          <a:xfrm>
            <a:off x="457200" y="1207008"/>
            <a:ext cx="2679192" cy="1874520"/>
          </a:xfrm>
          <a:prstGeom prst="roundRect">
            <a:avLst>
              <a:gd name="adj" fmla="val 3902"/>
            </a:avLst>
          </a:prstGeom>
          <a:solidFill>
            <a:srgbClr val="FFFFFF"/>
          </a:solidFill>
          <a:ln w="12700">
            <a:solidFill>
              <a:srgbClr val="E2E8F0"/>
            </a:solidFill>
            <a:prstDash val="solid"/>
          </a:ln>
          <a:effectLst>
            <a:outerShdw sx="100000" sy="100000" kx="0" ky="0" algn="bl" rotWithShape="0" blurRad="76200" dist="25400" dir="2700000">
              <a:srgbClr val="475569">
                <a:alpha val="10000"/>
              </a:srgbClr>
            </a:outerShdw>
          </a:effectLst>
        </p:spPr>
      </p:sp>
      <p:sp>
        <p:nvSpPr>
          <p:cNvPr id="7" name="Shape 4"/>
          <p:cNvSpPr/>
          <p:nvPr/>
        </p:nvSpPr>
        <p:spPr>
          <a:xfrm>
            <a:off x="658368" y="1408176"/>
            <a:ext cx="475488" cy="475488"/>
          </a:xfrm>
          <a:prstGeom prst="roundRect">
            <a:avLst>
              <a:gd name="adj" fmla="val 17308"/>
            </a:avLst>
          </a:prstGeom>
          <a:solidFill>
            <a:srgbClr val="F0FDFA"/>
          </a:solidFill>
          <a:ln/>
        </p:spPr>
      </p:sp>
      <p:pic>
        <p:nvPicPr>
          <p:cNvPr id="8" name="Image 1" descr="preencoded.png">    </p:cNvPr>
          <p:cNvPicPr>
            <a:picLocks noChangeAspect="1"/>
          </p:cNvPicPr>
          <p:nvPr/>
        </p:nvPicPr>
        <p:blipFill>
          <a:blip r:embed="rId2"/>
          <a:stretch>
            <a:fillRect/>
          </a:stretch>
        </p:blipFill>
        <p:spPr>
          <a:xfrm>
            <a:off x="763524" y="1513332"/>
            <a:ext cx="265176" cy="265176"/>
          </a:xfrm>
          <a:prstGeom prst="rect">
            <a:avLst/>
          </a:prstGeom>
        </p:spPr>
      </p:pic>
      <p:sp>
        <p:nvSpPr>
          <p:cNvPr id="9" name="Text 5"/>
          <p:cNvSpPr/>
          <p:nvPr/>
        </p:nvSpPr>
        <p:spPr>
          <a:xfrm>
            <a:off x="1243584" y="1408176"/>
            <a:ext cx="1764792" cy="475488"/>
          </a:xfrm>
          <a:prstGeom prst="rect">
            <a:avLst/>
          </a:prstGeom>
          <a:noFill/>
          <a:ln/>
        </p:spPr>
        <p:txBody>
          <a:bodyPr wrap="square" lIns="0" tIns="0" rIns="0" bIns="0"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Volume</a:t>
            </a:r>
            <a:endParaRPr lang="en-US" sz="1400" dirty="0"/>
          </a:p>
        </p:txBody>
      </p:sp>
      <p:sp>
        <p:nvSpPr>
          <p:cNvPr id="10" name="Text 6"/>
          <p:cNvSpPr/>
          <p:nvPr/>
        </p:nvSpPr>
        <p:spPr>
          <a:xfrm>
            <a:off x="676656" y="1993392"/>
            <a:ext cx="2258568" cy="960120"/>
          </a:xfrm>
          <a:prstGeom prst="rect">
            <a:avLst/>
          </a:prstGeom>
          <a:noFill/>
          <a:ln/>
        </p:spPr>
        <p:txBody>
          <a:bodyPr wrap="square" lIns="0" tIns="0" rIns="0" bIns="0" rtlCol="0" anchor="t"/>
          <a:lstStyle/>
          <a:p>
            <a:pPr marL="152400" indent="-152400">
              <a:spcAft>
                <a:spcPts val="500"/>
              </a:spcAft>
              <a:buSzPct val="100000"/>
              <a:buChar char="•"/>
            </a:pPr>
            <a:r>
              <a:rPr lang="en-US" sz="1080" dirty="0">
                <a:solidFill>
                  <a:srgbClr val="475569"/>
                </a:solidFill>
                <a:latin typeface="Calibri" pitchFamily="34" charset="0"/>
                <a:ea typeface="Calibri" pitchFamily="34" charset="-122"/>
                <a:cs typeface="Calibri" pitchFamily="34" charset="-120"/>
              </a:rPr>
              <a:t>Docker-managed storage</a:t>
            </a:r>
            <a:endParaRPr lang="en-US" sz="1080" dirty="0"/>
          </a:p>
          <a:p>
            <a:pPr marL="152400" indent="-152400">
              <a:spcAft>
                <a:spcPts val="500"/>
              </a:spcAft>
              <a:buSzPct val="100000"/>
              <a:buChar char="•"/>
            </a:pPr>
            <a:r>
              <a:rPr lang="en-US" sz="1080" dirty="0">
                <a:solidFill>
                  <a:srgbClr val="475569"/>
                </a:solidFill>
                <a:latin typeface="Calibri" pitchFamily="34" charset="0"/>
                <a:ea typeface="Calibri" pitchFamily="34" charset="-122"/>
                <a:cs typeface="Calibri" pitchFamily="34" charset="-120"/>
              </a:rPr>
              <a:t>Best for persistent app data</a:t>
            </a:r>
            <a:endParaRPr lang="en-US" sz="1080" dirty="0"/>
          </a:p>
          <a:p>
            <a:pPr marL="152400" indent="-152400">
              <a:spcAft>
                <a:spcPts val="500"/>
              </a:spcAft>
              <a:buSzPct val="100000"/>
              <a:buChar char="•"/>
            </a:pPr>
            <a:r>
              <a:rPr lang="en-US" sz="1080" dirty="0">
                <a:solidFill>
                  <a:srgbClr val="475569"/>
                </a:solidFill>
                <a:latin typeface="Calibri" pitchFamily="34" charset="0"/>
                <a:ea typeface="Calibri" pitchFamily="34" charset="-122"/>
                <a:cs typeface="Calibri" pitchFamily="34" charset="-120"/>
              </a:rPr>
              <a:t>Portable &amp; backup-friendly</a:t>
            </a:r>
            <a:endParaRPr lang="en-US" sz="1080" dirty="0"/>
          </a:p>
        </p:txBody>
      </p:sp>
      <p:sp>
        <p:nvSpPr>
          <p:cNvPr id="11" name="Shape 7"/>
          <p:cNvSpPr/>
          <p:nvPr/>
        </p:nvSpPr>
        <p:spPr>
          <a:xfrm>
            <a:off x="3227832" y="1207008"/>
            <a:ext cx="2679192" cy="1874520"/>
          </a:xfrm>
          <a:prstGeom prst="roundRect">
            <a:avLst>
              <a:gd name="adj" fmla="val 3902"/>
            </a:avLst>
          </a:prstGeom>
          <a:solidFill>
            <a:srgbClr val="FFFFFF"/>
          </a:solidFill>
          <a:ln w="12700">
            <a:solidFill>
              <a:srgbClr val="E2E8F0"/>
            </a:solidFill>
            <a:prstDash val="solid"/>
          </a:ln>
          <a:effectLst>
            <a:outerShdw sx="100000" sy="100000" kx="0" ky="0" algn="bl" rotWithShape="0" blurRad="76200" dist="25400" dir="2700000">
              <a:srgbClr val="475569">
                <a:alpha val="10000"/>
              </a:srgbClr>
            </a:outerShdw>
          </a:effectLst>
        </p:spPr>
      </p:sp>
      <p:sp>
        <p:nvSpPr>
          <p:cNvPr id="12" name="Shape 8"/>
          <p:cNvSpPr/>
          <p:nvPr/>
        </p:nvSpPr>
        <p:spPr>
          <a:xfrm>
            <a:off x="3429000" y="1408176"/>
            <a:ext cx="475488" cy="475488"/>
          </a:xfrm>
          <a:prstGeom prst="roundRect">
            <a:avLst>
              <a:gd name="adj" fmla="val 17308"/>
            </a:avLst>
          </a:prstGeom>
          <a:solidFill>
            <a:srgbClr val="EAF4FD"/>
          </a:solidFill>
          <a:ln/>
        </p:spPr>
      </p:sp>
      <p:pic>
        <p:nvPicPr>
          <p:cNvPr id="13" name="Image 2" descr="preencoded.png">    </p:cNvPr>
          <p:cNvPicPr>
            <a:picLocks noChangeAspect="1"/>
          </p:cNvPicPr>
          <p:nvPr/>
        </p:nvPicPr>
        <p:blipFill>
          <a:blip r:embed="rId3"/>
          <a:stretch>
            <a:fillRect/>
          </a:stretch>
        </p:blipFill>
        <p:spPr>
          <a:xfrm>
            <a:off x="3534156" y="1513332"/>
            <a:ext cx="265176" cy="265176"/>
          </a:xfrm>
          <a:prstGeom prst="rect">
            <a:avLst/>
          </a:prstGeom>
        </p:spPr>
      </p:pic>
      <p:sp>
        <p:nvSpPr>
          <p:cNvPr id="14" name="Text 9"/>
          <p:cNvSpPr/>
          <p:nvPr/>
        </p:nvSpPr>
        <p:spPr>
          <a:xfrm>
            <a:off x="4014216" y="1408176"/>
            <a:ext cx="1764792" cy="475488"/>
          </a:xfrm>
          <a:prstGeom prst="rect">
            <a:avLst/>
          </a:prstGeom>
          <a:noFill/>
          <a:ln/>
        </p:spPr>
        <p:txBody>
          <a:bodyPr wrap="square" lIns="0" tIns="0" rIns="0" bIns="0" rtlCol="0" anchor="ctr"/>
          <a:lstStyle/>
          <a:p>
            <a:pPr indent="0" marL="0">
              <a:buNone/>
            </a:pPr>
            <a:r>
              <a:rPr lang="en-US" sz="1400" b="1" dirty="0">
                <a:solidFill>
                  <a:srgbClr val="2496ED"/>
                </a:solidFill>
                <a:latin typeface="Calibri" pitchFamily="34" charset="0"/>
                <a:ea typeface="Calibri" pitchFamily="34" charset="-122"/>
                <a:cs typeface="Calibri" pitchFamily="34" charset="-120"/>
              </a:rPr>
              <a:t>Bind mount</a:t>
            </a:r>
            <a:endParaRPr lang="en-US" sz="1400" dirty="0"/>
          </a:p>
        </p:txBody>
      </p:sp>
      <p:sp>
        <p:nvSpPr>
          <p:cNvPr id="15" name="Text 10"/>
          <p:cNvSpPr/>
          <p:nvPr/>
        </p:nvSpPr>
        <p:spPr>
          <a:xfrm>
            <a:off x="3447288" y="1993392"/>
            <a:ext cx="2258568" cy="960120"/>
          </a:xfrm>
          <a:prstGeom prst="rect">
            <a:avLst/>
          </a:prstGeom>
          <a:noFill/>
          <a:ln/>
        </p:spPr>
        <p:txBody>
          <a:bodyPr wrap="square" lIns="0" tIns="0" rIns="0" bIns="0" rtlCol="0" anchor="t"/>
          <a:lstStyle/>
          <a:p>
            <a:pPr marL="152400" indent="-152400">
              <a:spcAft>
                <a:spcPts val="500"/>
              </a:spcAft>
              <a:buSzPct val="100000"/>
              <a:buChar char="•"/>
            </a:pPr>
            <a:r>
              <a:rPr lang="en-US" sz="1080" dirty="0">
                <a:solidFill>
                  <a:srgbClr val="475569"/>
                </a:solidFill>
                <a:latin typeface="Calibri" pitchFamily="34" charset="0"/>
                <a:ea typeface="Calibri" pitchFamily="34" charset="-122"/>
                <a:cs typeface="Calibri" pitchFamily="34" charset="-120"/>
              </a:rPr>
              <a:t>Maps a host path inside</a:t>
            </a:r>
            <a:endParaRPr lang="en-US" sz="1080" dirty="0"/>
          </a:p>
          <a:p>
            <a:pPr marL="152400" indent="-152400">
              <a:spcAft>
                <a:spcPts val="500"/>
              </a:spcAft>
              <a:buSzPct val="100000"/>
              <a:buChar char="•"/>
            </a:pPr>
            <a:r>
              <a:rPr lang="en-US" sz="1080" dirty="0">
                <a:solidFill>
                  <a:srgbClr val="475569"/>
                </a:solidFill>
                <a:latin typeface="Calibri" pitchFamily="34" charset="0"/>
                <a:ea typeface="Calibri" pitchFamily="34" charset="-122"/>
                <a:cs typeface="Calibri" pitchFamily="34" charset="-120"/>
              </a:rPr>
              <a:t>Great for live code in dev</a:t>
            </a:r>
            <a:endParaRPr lang="en-US" sz="1080" dirty="0"/>
          </a:p>
          <a:p>
            <a:pPr marL="152400" indent="-152400">
              <a:spcAft>
                <a:spcPts val="500"/>
              </a:spcAft>
              <a:buSzPct val="100000"/>
              <a:buChar char="•"/>
            </a:pPr>
            <a:r>
              <a:rPr lang="en-US" sz="1080" dirty="0">
                <a:solidFill>
                  <a:srgbClr val="475569"/>
                </a:solidFill>
                <a:latin typeface="Calibri" pitchFamily="34" charset="0"/>
                <a:ea typeface="Calibri" pitchFamily="34" charset="-122"/>
                <a:cs typeface="Calibri" pitchFamily="34" charset="-120"/>
              </a:rPr>
              <a:t>Host-path dependent</a:t>
            </a:r>
            <a:endParaRPr lang="en-US" sz="1080" dirty="0"/>
          </a:p>
        </p:txBody>
      </p:sp>
      <p:sp>
        <p:nvSpPr>
          <p:cNvPr id="16" name="Shape 11"/>
          <p:cNvSpPr/>
          <p:nvPr/>
        </p:nvSpPr>
        <p:spPr>
          <a:xfrm>
            <a:off x="5998464" y="1207008"/>
            <a:ext cx="2679192" cy="1874520"/>
          </a:xfrm>
          <a:prstGeom prst="roundRect">
            <a:avLst>
              <a:gd name="adj" fmla="val 3902"/>
            </a:avLst>
          </a:prstGeom>
          <a:solidFill>
            <a:srgbClr val="FFFFFF"/>
          </a:solidFill>
          <a:ln w="12700">
            <a:solidFill>
              <a:srgbClr val="E2E8F0"/>
            </a:solidFill>
            <a:prstDash val="solid"/>
          </a:ln>
          <a:effectLst>
            <a:outerShdw sx="100000" sy="100000" kx="0" ky="0" algn="bl" rotWithShape="0" blurRad="76200" dist="25400" dir="2700000">
              <a:srgbClr val="475569">
                <a:alpha val="10000"/>
              </a:srgbClr>
            </a:outerShdw>
          </a:effectLst>
        </p:spPr>
      </p:sp>
      <p:sp>
        <p:nvSpPr>
          <p:cNvPr id="17" name="Shape 12"/>
          <p:cNvSpPr/>
          <p:nvPr/>
        </p:nvSpPr>
        <p:spPr>
          <a:xfrm>
            <a:off x="6199632" y="1408176"/>
            <a:ext cx="475488" cy="475488"/>
          </a:xfrm>
          <a:prstGeom prst="roundRect">
            <a:avLst>
              <a:gd name="adj" fmla="val 17308"/>
            </a:avLst>
          </a:prstGeom>
          <a:solidFill>
            <a:srgbClr val="FFF7ED"/>
          </a:solidFill>
          <a:ln/>
        </p:spPr>
      </p:sp>
      <p:pic>
        <p:nvPicPr>
          <p:cNvPr id="18" name="Image 3" descr="preencoded.png">    </p:cNvPr>
          <p:cNvPicPr>
            <a:picLocks noChangeAspect="1"/>
          </p:cNvPicPr>
          <p:nvPr/>
        </p:nvPicPr>
        <p:blipFill>
          <a:blip r:embed="rId4"/>
          <a:stretch>
            <a:fillRect/>
          </a:stretch>
        </p:blipFill>
        <p:spPr>
          <a:xfrm>
            <a:off x="6304788" y="1513332"/>
            <a:ext cx="265176" cy="265176"/>
          </a:xfrm>
          <a:prstGeom prst="rect">
            <a:avLst/>
          </a:prstGeom>
        </p:spPr>
      </p:pic>
      <p:sp>
        <p:nvSpPr>
          <p:cNvPr id="19" name="Text 13"/>
          <p:cNvSpPr/>
          <p:nvPr/>
        </p:nvSpPr>
        <p:spPr>
          <a:xfrm>
            <a:off x="6784848" y="1408176"/>
            <a:ext cx="1764792" cy="475488"/>
          </a:xfrm>
          <a:prstGeom prst="rect">
            <a:avLst/>
          </a:prstGeom>
          <a:noFill/>
          <a:ln/>
        </p:spPr>
        <p:txBody>
          <a:bodyPr wrap="square" lIns="0" tIns="0" rIns="0" bIns="0" rtlCol="0" anchor="ctr"/>
          <a:lstStyle/>
          <a:p>
            <a:pPr indent="0" marL="0">
              <a:buNone/>
            </a:pPr>
            <a:r>
              <a:rPr lang="en-US" sz="1400" b="1" dirty="0">
                <a:solidFill>
                  <a:srgbClr val="C2410C"/>
                </a:solidFill>
                <a:latin typeface="Calibri" pitchFamily="34" charset="0"/>
                <a:ea typeface="Calibri" pitchFamily="34" charset="-122"/>
                <a:cs typeface="Calibri" pitchFamily="34" charset="-120"/>
              </a:rPr>
              <a:t>tmpfs</a:t>
            </a:r>
            <a:endParaRPr lang="en-US" sz="1400" dirty="0"/>
          </a:p>
        </p:txBody>
      </p:sp>
      <p:sp>
        <p:nvSpPr>
          <p:cNvPr id="20" name="Text 14"/>
          <p:cNvSpPr/>
          <p:nvPr/>
        </p:nvSpPr>
        <p:spPr>
          <a:xfrm>
            <a:off x="6217920" y="1993392"/>
            <a:ext cx="2258568" cy="960120"/>
          </a:xfrm>
          <a:prstGeom prst="rect">
            <a:avLst/>
          </a:prstGeom>
          <a:noFill/>
          <a:ln/>
        </p:spPr>
        <p:txBody>
          <a:bodyPr wrap="square" lIns="0" tIns="0" rIns="0" bIns="0" rtlCol="0" anchor="t"/>
          <a:lstStyle/>
          <a:p>
            <a:pPr marL="152400" indent="-152400">
              <a:spcAft>
                <a:spcPts val="500"/>
              </a:spcAft>
              <a:buSzPct val="100000"/>
              <a:buChar char="•"/>
            </a:pPr>
            <a:r>
              <a:rPr lang="en-US" sz="1080" dirty="0">
                <a:solidFill>
                  <a:srgbClr val="475569"/>
                </a:solidFill>
                <a:latin typeface="Calibri" pitchFamily="34" charset="0"/>
                <a:ea typeface="Calibri" pitchFamily="34" charset="-122"/>
                <a:cs typeface="Calibri" pitchFamily="34" charset="-120"/>
              </a:rPr>
              <a:t>In-memory, never on disk</a:t>
            </a:r>
            <a:endParaRPr lang="en-US" sz="1080" dirty="0"/>
          </a:p>
          <a:p>
            <a:pPr marL="152400" indent="-152400">
              <a:spcAft>
                <a:spcPts val="500"/>
              </a:spcAft>
              <a:buSzPct val="100000"/>
              <a:buChar char="•"/>
            </a:pPr>
            <a:r>
              <a:rPr lang="en-US" sz="1080" dirty="0">
                <a:solidFill>
                  <a:srgbClr val="475569"/>
                </a:solidFill>
                <a:latin typeface="Calibri" pitchFamily="34" charset="0"/>
                <a:ea typeface="Calibri" pitchFamily="34" charset="-122"/>
                <a:cs typeface="Calibri" pitchFamily="34" charset="-120"/>
              </a:rPr>
              <a:t>For secrets &amp; scratch data</a:t>
            </a:r>
            <a:endParaRPr lang="en-US" sz="1080" dirty="0"/>
          </a:p>
          <a:p>
            <a:pPr marL="152400" indent="-152400">
              <a:spcAft>
                <a:spcPts val="500"/>
              </a:spcAft>
              <a:buSzPct val="100000"/>
              <a:buChar char="•"/>
            </a:pPr>
            <a:r>
              <a:rPr lang="en-US" sz="1080" dirty="0">
                <a:solidFill>
                  <a:srgbClr val="475569"/>
                </a:solidFill>
                <a:latin typeface="Calibri" pitchFamily="34" charset="0"/>
                <a:ea typeface="Calibri" pitchFamily="34" charset="-122"/>
                <a:cs typeface="Calibri" pitchFamily="34" charset="-120"/>
              </a:rPr>
              <a:t>Vanishes when stopped</a:t>
            </a:r>
            <a:endParaRPr lang="en-US" sz="1080" dirty="0"/>
          </a:p>
        </p:txBody>
      </p:sp>
      <p:sp>
        <p:nvSpPr>
          <p:cNvPr id="21" name="Shape 15"/>
          <p:cNvSpPr/>
          <p:nvPr/>
        </p:nvSpPr>
        <p:spPr>
          <a:xfrm>
            <a:off x="457200" y="3310128"/>
            <a:ext cx="8229600" cy="1371600"/>
          </a:xfrm>
          <a:prstGeom prst="roundRect">
            <a:avLst>
              <a:gd name="adj" fmla="val 4667"/>
            </a:avLst>
          </a:prstGeom>
          <a:solidFill>
            <a:srgbClr val="1E293B"/>
          </a:solidFill>
          <a:ln w="12700">
            <a:solidFill>
              <a:srgbClr val="334155"/>
            </a:solidFill>
            <a:prstDash val="solid"/>
          </a:ln>
          <a:effectLst>
            <a:outerShdw sx="100000" sy="100000" kx="0" ky="0" algn="bl" rotWithShape="0" blurRad="114300" dist="38100" dir="2700000">
              <a:srgbClr val="475569">
                <a:alpha val="24000"/>
              </a:srgbClr>
            </a:outerShdw>
          </a:effectLst>
        </p:spPr>
      </p:sp>
      <p:sp>
        <p:nvSpPr>
          <p:cNvPr id="22" name="Shape 16"/>
          <p:cNvSpPr/>
          <p:nvPr/>
        </p:nvSpPr>
        <p:spPr>
          <a:xfrm>
            <a:off x="658368" y="3493008"/>
            <a:ext cx="91440" cy="91440"/>
          </a:xfrm>
          <a:prstGeom prst="ellipse">
            <a:avLst/>
          </a:prstGeom>
          <a:solidFill>
            <a:srgbClr val="EF4444"/>
          </a:solidFill>
          <a:ln/>
        </p:spPr>
      </p:sp>
      <p:sp>
        <p:nvSpPr>
          <p:cNvPr id="23" name="Shape 17"/>
          <p:cNvSpPr/>
          <p:nvPr/>
        </p:nvSpPr>
        <p:spPr>
          <a:xfrm>
            <a:off x="804672" y="3493008"/>
            <a:ext cx="91440" cy="91440"/>
          </a:xfrm>
          <a:prstGeom prst="ellipse">
            <a:avLst/>
          </a:prstGeom>
          <a:solidFill>
            <a:srgbClr val="F59E0B"/>
          </a:solidFill>
          <a:ln/>
        </p:spPr>
      </p:sp>
      <p:sp>
        <p:nvSpPr>
          <p:cNvPr id="24" name="Shape 18"/>
          <p:cNvSpPr/>
          <p:nvPr/>
        </p:nvSpPr>
        <p:spPr>
          <a:xfrm>
            <a:off x="950976" y="3493008"/>
            <a:ext cx="91440" cy="91440"/>
          </a:xfrm>
          <a:prstGeom prst="ellipse">
            <a:avLst/>
          </a:prstGeom>
          <a:solidFill>
            <a:srgbClr val="22C55E"/>
          </a:solidFill>
          <a:ln/>
        </p:spPr>
      </p:sp>
      <p:sp>
        <p:nvSpPr>
          <p:cNvPr id="25" name="Text 19"/>
          <p:cNvSpPr/>
          <p:nvPr/>
        </p:nvSpPr>
        <p:spPr>
          <a:xfrm>
            <a:off x="1170432" y="3429000"/>
            <a:ext cx="7315200" cy="20116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mounting</a:t>
            </a:r>
            <a:endParaRPr lang="en-US" sz="900" dirty="0"/>
          </a:p>
        </p:txBody>
      </p:sp>
      <p:sp>
        <p:nvSpPr>
          <p:cNvPr id="26" name="Text 20"/>
          <p:cNvSpPr/>
          <p:nvPr/>
        </p:nvSpPr>
        <p:spPr>
          <a:xfrm>
            <a:off x="676656" y="3749040"/>
            <a:ext cx="7790688" cy="822960"/>
          </a:xfrm>
          <a:prstGeom prst="rect">
            <a:avLst/>
          </a:prstGeom>
          <a:noFill/>
          <a:ln/>
        </p:spPr>
        <p:txBody>
          <a:bodyPr wrap="square" lIns="0" tIns="0" rIns="0" bIns="0" rtlCol="0" anchor="t"/>
          <a:lstStyle/>
          <a:p>
            <a:pPr algn="l" indent="0" marL="0">
              <a:lnSpc>
                <a:spcPts val="1156"/>
              </a:lnSpc>
              <a:buNone/>
            </a:pPr>
            <a:r>
              <a:rPr lang="en-US" sz="980" b="1" dirty="0">
                <a:solidFill>
                  <a:srgbClr val="0D9488"/>
                </a:solidFill>
                <a:latin typeface="Courier New" pitchFamily="34" charset="0"/>
                <a:ea typeface="Courier New" pitchFamily="34" charset="-122"/>
                <a:cs typeface="Courier New" pitchFamily="34" charset="-120"/>
              </a:rPr>
              <a:t>$ </a:t>
            </a:r>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docker volume create pgdata</a:t>
            </a:r>
            <a:endParaRPr lang="en-US" sz="980" dirty="0"/>
          </a:p>
          <a:p>
            <a:pPr algn="l" indent="0" marL="0">
              <a:lnSpc>
                <a:spcPts val="1156"/>
              </a:lnSpc>
              <a:buNone/>
            </a:pPr>
            <a:r>
              <a:rPr lang="en-US" sz="980" b="1" dirty="0">
                <a:solidFill>
                  <a:srgbClr val="0D9488"/>
                </a:solidFill>
                <a:latin typeface="Courier New" pitchFamily="34" charset="0"/>
                <a:ea typeface="Courier New" pitchFamily="34" charset="-122"/>
                <a:cs typeface="Courier New" pitchFamily="34" charset="-120"/>
              </a:rPr>
              <a:t>$ </a:t>
            </a:r>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docker run -d -v pgdata:/var/lib/postgresql/data postgres</a:t>
            </a:r>
            <a:pPr algn="l" indent="0" marL="0">
              <a:lnSpc>
                <a:spcPts val="1156"/>
              </a:lnSpc>
              <a:buNone/>
            </a:pPr>
            <a:r>
              <a:rPr lang="en-US" sz="980" dirty="0">
                <a:solidFill>
                  <a:srgbClr val="94A3B8"/>
                </a:solidFill>
                <a:latin typeface="Courier New" pitchFamily="34" charset="0"/>
                <a:ea typeface="Courier New" pitchFamily="34" charset="-122"/>
                <a:cs typeface="Courier New" pitchFamily="34" charset="-120"/>
              </a:rPr>
              <a:t>  # volume</a:t>
            </a:r>
            <a:endParaRPr lang="en-US" sz="980" dirty="0"/>
          </a:p>
          <a:p>
            <a:pPr algn="l" indent="0" marL="0">
              <a:lnSpc>
                <a:spcPts val="1156"/>
              </a:lnSpc>
              <a:buNone/>
            </a:pPr>
            <a:r>
              <a:rPr lang="en-US" sz="980" b="1" dirty="0">
                <a:solidFill>
                  <a:srgbClr val="0D9488"/>
                </a:solidFill>
                <a:latin typeface="Courier New" pitchFamily="34" charset="0"/>
                <a:ea typeface="Courier New" pitchFamily="34" charset="-122"/>
                <a:cs typeface="Courier New" pitchFamily="34" charset="-120"/>
              </a:rPr>
              <a:t>$ </a:t>
            </a:r>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docker run -v $(pwd):/app node</a:t>
            </a:r>
            <a:pPr algn="l" indent="0" marL="0">
              <a:lnSpc>
                <a:spcPts val="1156"/>
              </a:lnSpc>
              <a:buNone/>
            </a:pPr>
            <a:r>
              <a:rPr lang="en-US" sz="980" dirty="0">
                <a:solidFill>
                  <a:srgbClr val="94A3B8"/>
                </a:solidFill>
                <a:latin typeface="Courier New" pitchFamily="34" charset="0"/>
                <a:ea typeface="Courier New" pitchFamily="34" charset="-122"/>
                <a:cs typeface="Courier New" pitchFamily="34" charset="-120"/>
              </a:rPr>
              <a:t>  # bind mount for dev</a:t>
            </a:r>
            <a:endParaRPr lang="en-US" sz="980" dirty="0"/>
          </a:p>
          <a:p>
            <a:pPr algn="l" indent="0" marL="0">
              <a:lnSpc>
                <a:spcPts val="1156"/>
              </a:lnSpc>
              <a:buNone/>
            </a:pPr>
            <a:r>
              <a:rPr lang="en-US" sz="980" b="1" dirty="0">
                <a:solidFill>
                  <a:srgbClr val="0D9488"/>
                </a:solidFill>
                <a:latin typeface="Courier New" pitchFamily="34" charset="0"/>
                <a:ea typeface="Courier New" pitchFamily="34" charset="-122"/>
                <a:cs typeface="Courier New" pitchFamily="34" charset="-120"/>
              </a:rPr>
              <a:t>$ </a:t>
            </a:r>
            <a:pPr algn="l" indent="0" marL="0">
              <a:lnSpc>
                <a:spcPts val="1156"/>
              </a:lnSpc>
              <a:buNone/>
            </a:pPr>
            <a:r>
              <a:rPr lang="en-US" sz="980" dirty="0">
                <a:solidFill>
                  <a:srgbClr val="FFFFFF"/>
                </a:solidFill>
                <a:latin typeface="Courier New" pitchFamily="34" charset="0"/>
                <a:ea typeface="Courier New" pitchFamily="34" charset="-122"/>
                <a:cs typeface="Courier New" pitchFamily="34" charset="-120"/>
              </a:rPr>
              <a:t>docker run --tmpfs /tmp:rw,size=64m alpine</a:t>
            </a:r>
            <a:pPr algn="l" indent="0" marL="0">
              <a:lnSpc>
                <a:spcPts val="1156"/>
              </a:lnSpc>
              <a:buNone/>
            </a:pPr>
            <a:r>
              <a:rPr lang="en-US" sz="980" dirty="0">
                <a:solidFill>
                  <a:srgbClr val="94A3B8"/>
                </a:solidFill>
                <a:latin typeface="Courier New" pitchFamily="34" charset="0"/>
                <a:ea typeface="Courier New" pitchFamily="34" charset="-122"/>
                <a:cs typeface="Courier New" pitchFamily="34" charset="-120"/>
              </a:rPr>
              <a:t>  # tmpfs</a:t>
            </a:r>
            <a:endParaRPr lang="en-US" sz="980" dirty="0"/>
          </a:p>
        </p:txBody>
      </p:sp>
      <p:sp>
        <p:nvSpPr>
          <p:cNvPr id="27" name="Text 21"/>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28" name="Text 22"/>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Networking &amp; Storage</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6126480" y="576072"/>
            <a:ext cx="365760" cy="347472"/>
          </a:xfrm>
          <a:prstGeom prst="roundRect">
            <a:avLst>
              <a:gd name="adj" fmla="val 10526"/>
            </a:avLst>
          </a:prstGeom>
          <a:solidFill>
            <a:srgbClr val="2496ED">
              <a:alpha val="72000"/>
            </a:srgbClr>
          </a:solidFill>
          <a:ln/>
        </p:spPr>
      </p:sp>
      <p:sp>
        <p:nvSpPr>
          <p:cNvPr id="3" name="Shape 1"/>
          <p:cNvSpPr/>
          <p:nvPr/>
        </p:nvSpPr>
        <p:spPr>
          <a:xfrm>
            <a:off x="6181344" y="502920"/>
            <a:ext cx="256032" cy="82296"/>
          </a:xfrm>
          <a:prstGeom prst="rect">
            <a:avLst/>
          </a:prstGeom>
          <a:solidFill>
            <a:srgbClr val="2496ED">
              <a:alpha val="72000"/>
            </a:srgbClr>
          </a:solidFill>
          <a:ln/>
        </p:spPr>
      </p:sp>
      <p:sp>
        <p:nvSpPr>
          <p:cNvPr id="4" name="Shape 2"/>
          <p:cNvSpPr/>
          <p:nvPr/>
        </p:nvSpPr>
        <p:spPr>
          <a:xfrm>
            <a:off x="6583680" y="576072"/>
            <a:ext cx="365760" cy="347472"/>
          </a:xfrm>
          <a:prstGeom prst="roundRect">
            <a:avLst>
              <a:gd name="adj" fmla="val 10526"/>
            </a:avLst>
          </a:prstGeom>
          <a:solidFill>
            <a:srgbClr val="2496ED">
              <a:alpha val="63000"/>
            </a:srgbClr>
          </a:solidFill>
          <a:ln/>
        </p:spPr>
      </p:sp>
      <p:sp>
        <p:nvSpPr>
          <p:cNvPr id="5" name="Shape 3"/>
          <p:cNvSpPr/>
          <p:nvPr/>
        </p:nvSpPr>
        <p:spPr>
          <a:xfrm>
            <a:off x="6638544" y="502920"/>
            <a:ext cx="256032" cy="82296"/>
          </a:xfrm>
          <a:prstGeom prst="rect">
            <a:avLst/>
          </a:prstGeom>
          <a:solidFill>
            <a:srgbClr val="2496ED">
              <a:alpha val="63000"/>
            </a:srgbClr>
          </a:solidFill>
          <a:ln/>
        </p:spPr>
      </p:sp>
      <p:sp>
        <p:nvSpPr>
          <p:cNvPr id="6" name="Shape 4"/>
          <p:cNvSpPr/>
          <p:nvPr/>
        </p:nvSpPr>
        <p:spPr>
          <a:xfrm>
            <a:off x="7040880" y="576072"/>
            <a:ext cx="365760" cy="347472"/>
          </a:xfrm>
          <a:prstGeom prst="roundRect">
            <a:avLst>
              <a:gd name="adj" fmla="val 10526"/>
            </a:avLst>
          </a:prstGeom>
          <a:solidFill>
            <a:srgbClr val="2496ED">
              <a:alpha val="54000"/>
            </a:srgbClr>
          </a:solidFill>
          <a:ln/>
        </p:spPr>
      </p:sp>
      <p:sp>
        <p:nvSpPr>
          <p:cNvPr id="7" name="Shape 5"/>
          <p:cNvSpPr/>
          <p:nvPr/>
        </p:nvSpPr>
        <p:spPr>
          <a:xfrm>
            <a:off x="7095744" y="502920"/>
            <a:ext cx="256032" cy="82296"/>
          </a:xfrm>
          <a:prstGeom prst="rect">
            <a:avLst/>
          </a:prstGeom>
          <a:solidFill>
            <a:srgbClr val="2496ED">
              <a:alpha val="54000"/>
            </a:srgbClr>
          </a:solidFill>
          <a:ln/>
        </p:spPr>
      </p:sp>
      <p:sp>
        <p:nvSpPr>
          <p:cNvPr id="8" name="Shape 6"/>
          <p:cNvSpPr/>
          <p:nvPr/>
        </p:nvSpPr>
        <p:spPr>
          <a:xfrm>
            <a:off x="7498080" y="576072"/>
            <a:ext cx="365760" cy="347472"/>
          </a:xfrm>
          <a:prstGeom prst="roundRect">
            <a:avLst>
              <a:gd name="adj" fmla="val 10526"/>
            </a:avLst>
          </a:prstGeom>
          <a:solidFill>
            <a:srgbClr val="2496ED">
              <a:alpha val="45000"/>
            </a:srgbClr>
          </a:solidFill>
          <a:ln/>
        </p:spPr>
      </p:sp>
      <p:sp>
        <p:nvSpPr>
          <p:cNvPr id="9" name="Shape 7"/>
          <p:cNvSpPr/>
          <p:nvPr/>
        </p:nvSpPr>
        <p:spPr>
          <a:xfrm>
            <a:off x="7552944" y="502920"/>
            <a:ext cx="256032" cy="82296"/>
          </a:xfrm>
          <a:prstGeom prst="rect">
            <a:avLst/>
          </a:prstGeom>
          <a:solidFill>
            <a:srgbClr val="2496ED">
              <a:alpha val="45000"/>
            </a:srgbClr>
          </a:solidFill>
          <a:ln/>
        </p:spPr>
      </p:sp>
      <p:sp>
        <p:nvSpPr>
          <p:cNvPr id="10" name="Shape 8"/>
          <p:cNvSpPr/>
          <p:nvPr/>
        </p:nvSpPr>
        <p:spPr>
          <a:xfrm>
            <a:off x="7955280" y="576072"/>
            <a:ext cx="365760" cy="347472"/>
          </a:xfrm>
          <a:prstGeom prst="roundRect">
            <a:avLst>
              <a:gd name="adj" fmla="val 10526"/>
            </a:avLst>
          </a:prstGeom>
          <a:solidFill>
            <a:srgbClr val="2496ED">
              <a:alpha val="36000"/>
            </a:srgbClr>
          </a:solidFill>
          <a:ln/>
        </p:spPr>
      </p:sp>
      <p:sp>
        <p:nvSpPr>
          <p:cNvPr id="11" name="Shape 9"/>
          <p:cNvSpPr/>
          <p:nvPr/>
        </p:nvSpPr>
        <p:spPr>
          <a:xfrm>
            <a:off x="8010144" y="502920"/>
            <a:ext cx="256032" cy="82296"/>
          </a:xfrm>
          <a:prstGeom prst="rect">
            <a:avLst/>
          </a:prstGeom>
          <a:solidFill>
            <a:srgbClr val="2496ED">
              <a:alpha val="36000"/>
            </a:srgbClr>
          </a:solidFill>
          <a:ln/>
        </p:spPr>
      </p:sp>
      <p:sp>
        <p:nvSpPr>
          <p:cNvPr id="12" name="Shape 10"/>
          <p:cNvSpPr/>
          <p:nvPr/>
        </p:nvSpPr>
        <p:spPr>
          <a:xfrm>
            <a:off x="8412480" y="576072"/>
            <a:ext cx="365760" cy="347472"/>
          </a:xfrm>
          <a:prstGeom prst="roundRect">
            <a:avLst>
              <a:gd name="adj" fmla="val 10526"/>
            </a:avLst>
          </a:prstGeom>
          <a:solidFill>
            <a:srgbClr val="2496ED">
              <a:alpha val="27000"/>
            </a:srgbClr>
          </a:solidFill>
          <a:ln/>
        </p:spPr>
      </p:sp>
      <p:sp>
        <p:nvSpPr>
          <p:cNvPr id="13" name="Shape 11"/>
          <p:cNvSpPr/>
          <p:nvPr/>
        </p:nvSpPr>
        <p:spPr>
          <a:xfrm>
            <a:off x="8467344" y="502920"/>
            <a:ext cx="256032" cy="82296"/>
          </a:xfrm>
          <a:prstGeom prst="rect">
            <a:avLst/>
          </a:prstGeom>
          <a:solidFill>
            <a:srgbClr val="2496ED">
              <a:alpha val="27000"/>
            </a:srgbClr>
          </a:solidFill>
          <a:ln/>
        </p:spPr>
      </p:sp>
      <p:sp>
        <p:nvSpPr>
          <p:cNvPr id="14" name="Text 12"/>
          <p:cNvSpPr/>
          <p:nvPr/>
        </p:nvSpPr>
        <p:spPr>
          <a:xfrm>
            <a:off x="640080" y="1627632"/>
            <a:ext cx="4572000" cy="365760"/>
          </a:xfrm>
          <a:prstGeom prst="rect">
            <a:avLst/>
          </a:prstGeom>
          <a:noFill/>
          <a:ln/>
        </p:spPr>
        <p:txBody>
          <a:bodyPr wrap="square" lIns="0" tIns="0" rIns="0" bIns="0" rtlCol="0" anchor="ctr"/>
          <a:lstStyle/>
          <a:p>
            <a:pPr indent="0" marL="0">
              <a:buNone/>
            </a:pPr>
            <a:r>
              <a:rPr lang="en-US" sz="1500" b="1" spc="300" kern="0" dirty="0">
                <a:solidFill>
                  <a:srgbClr val="2496ED"/>
                </a:solidFill>
                <a:latin typeface="Calibri" pitchFamily="34" charset="0"/>
                <a:ea typeface="Calibri" pitchFamily="34" charset="-122"/>
                <a:cs typeface="Calibri" pitchFamily="34" charset="-120"/>
              </a:rPr>
              <a:t>PART 5</a:t>
            </a:r>
            <a:endParaRPr lang="en-US" sz="1500" dirty="0"/>
          </a:p>
        </p:txBody>
      </p:sp>
      <p:sp>
        <p:nvSpPr>
          <p:cNvPr id="15" name="Text 13"/>
          <p:cNvSpPr/>
          <p:nvPr/>
        </p:nvSpPr>
        <p:spPr>
          <a:xfrm>
            <a:off x="603504" y="1993392"/>
            <a:ext cx="6400800" cy="1097280"/>
          </a:xfrm>
          <a:prstGeom prst="rect">
            <a:avLst/>
          </a:prstGeom>
          <a:noFill/>
          <a:ln/>
        </p:spPr>
        <p:txBody>
          <a:bodyPr wrap="square" lIns="0" tIns="0" rIns="0" bIns="0" rtlCol="0" anchor="t"/>
          <a:lstStyle/>
          <a:p>
            <a:pPr indent="0" marL="0">
              <a:buNone/>
            </a:pPr>
            <a:r>
              <a:rPr lang="en-US" sz="4000" b="1" dirty="0">
                <a:solidFill>
                  <a:srgbClr val="FFFFFF"/>
                </a:solidFill>
                <a:latin typeface="Bookman Old Style" pitchFamily="34" charset="0"/>
                <a:ea typeface="Bookman Old Style" pitchFamily="34" charset="-122"/>
                <a:cs typeface="Bookman Old Style" pitchFamily="34" charset="-120"/>
              </a:rPr>
              <a:t>Registries</a:t>
            </a:r>
            <a:endParaRPr lang="en-US" sz="4000" dirty="0"/>
          </a:p>
        </p:txBody>
      </p:sp>
      <p:sp>
        <p:nvSpPr>
          <p:cNvPr id="16" name="Text 14"/>
          <p:cNvSpPr/>
          <p:nvPr/>
        </p:nvSpPr>
        <p:spPr>
          <a:xfrm>
            <a:off x="640080" y="3127248"/>
            <a:ext cx="6035040" cy="731520"/>
          </a:xfrm>
          <a:prstGeom prst="rect">
            <a:avLst/>
          </a:prstGeom>
          <a:noFill/>
          <a:ln/>
        </p:spPr>
        <p:txBody>
          <a:bodyPr wrap="square" lIns="0" tIns="0" rIns="0" bIns="0" rtlCol="0" anchor="t"/>
          <a:lstStyle/>
          <a:p>
            <a:pPr indent="0" marL="0">
              <a:buNone/>
            </a:pPr>
            <a:r>
              <a:rPr lang="en-US" sz="1350" i="1" dirty="0">
                <a:solidFill>
                  <a:srgbClr val="94A3B8"/>
                </a:solidFill>
                <a:latin typeface="Calibri" pitchFamily="34" charset="0"/>
                <a:ea typeface="Calibri" pitchFamily="34" charset="-122"/>
                <a:cs typeface="Calibri" pitchFamily="34" charset="-120"/>
              </a:rPr>
              <a:t>Where images live and travel — Docker Hub, your own private registry, and scanning images before they ship.</a:t>
            </a:r>
            <a:endParaRPr lang="en-US" sz="1350" dirty="0"/>
          </a:p>
        </p:txBody>
      </p:sp>
      <p:sp>
        <p:nvSpPr>
          <p:cNvPr id="17" name="Shape 15"/>
          <p:cNvSpPr/>
          <p:nvPr/>
        </p:nvSpPr>
        <p:spPr>
          <a:xfrm>
            <a:off x="7086600" y="1783080"/>
            <a:ext cx="1417320" cy="1417320"/>
          </a:xfrm>
          <a:prstGeom prst="roundRect">
            <a:avLst>
              <a:gd name="adj" fmla="val 10323"/>
            </a:avLst>
          </a:prstGeom>
          <a:solidFill>
            <a:srgbClr val="1E293B"/>
          </a:solidFill>
          <a:ln w="12700">
            <a:solidFill>
              <a:srgbClr val="334155"/>
            </a:solidFill>
            <a:prstDash val="solid"/>
          </a:ln>
          <a:effectLst>
            <a:outerShdw sx="100000" sy="100000" kx="0" ky="0" algn="bl" rotWithShape="0" blurRad="152400" dist="50800" dir="2700000">
              <a:srgbClr val="475569">
                <a:alpha val="30000"/>
              </a:srgbClr>
            </a:outerShdw>
          </a:effectLst>
        </p:spPr>
      </p:sp>
      <p:pic>
        <p:nvPicPr>
          <p:cNvPr id="18" name="Image 0" descr="preencoded.png">    </p:cNvPr>
          <p:cNvPicPr>
            <a:picLocks noChangeAspect="1"/>
          </p:cNvPicPr>
          <p:nvPr/>
        </p:nvPicPr>
        <p:blipFill>
          <a:blip r:embed="rId1"/>
          <a:stretch>
            <a:fillRect/>
          </a:stretch>
        </p:blipFill>
        <p:spPr>
          <a:xfrm>
            <a:off x="7424928" y="2121408"/>
            <a:ext cx="740664" cy="740664"/>
          </a:xfrm>
          <a:prstGeom prst="rect">
            <a:avLst/>
          </a:prstGeom>
        </p:spPr>
      </p:pic>
      <p:sp>
        <p:nvSpPr>
          <p:cNvPr id="19" name="Text 16"/>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20" name="Text 17"/>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Part 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WHERE IMAGES LIVE</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Docker registry &amp; Docker Hub</a:t>
            </a:r>
            <a:endParaRPr lang="en-US" sz="2500" dirty="0"/>
          </a:p>
        </p:txBody>
      </p:sp>
      <p:sp>
        <p:nvSpPr>
          <p:cNvPr id="6" name="Text 3"/>
          <p:cNvSpPr/>
          <p:nvPr/>
        </p:nvSpPr>
        <p:spPr>
          <a:xfrm>
            <a:off x="502920" y="1371600"/>
            <a:ext cx="4023360" cy="2651760"/>
          </a:xfrm>
          <a:prstGeom prst="rect">
            <a:avLst/>
          </a:prstGeom>
          <a:noFill/>
          <a:ln/>
        </p:spPr>
        <p:txBody>
          <a:bodyPr wrap="square" lIns="0" tIns="0" rIns="0" bIns="0" rtlCol="0" anchor="t"/>
          <a:lstStyle/>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Registry</a:t>
            </a:r>
            <a:pPr algn="l" indent="0" marL="0">
              <a:spcAft>
                <a:spcPts val="700"/>
              </a:spcAft>
              <a:buNone/>
            </a:pPr>
            <a:r>
              <a:rPr lang="en-US" sz="1100" dirty="0">
                <a:solidFill>
                  <a:srgbClr val="475569"/>
                </a:solidFill>
                <a:latin typeface="Calibri" pitchFamily="34" charset="0"/>
                <a:ea typeface="Calibri" pitchFamily="34" charset="-122"/>
                <a:cs typeface="Calibri" pitchFamily="34" charset="-120"/>
              </a:rPr>
              <a:t>  stores &amp; distributes images (push / pull)</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Docker Hub</a:t>
            </a:r>
            <a:pPr algn="l" indent="0" marL="0">
              <a:spcAft>
                <a:spcPts val="700"/>
              </a:spcAft>
              <a:buNone/>
            </a:pPr>
            <a:r>
              <a:rPr lang="en-US" sz="1100" dirty="0">
                <a:solidFill>
                  <a:srgbClr val="475569"/>
                </a:solidFill>
                <a:latin typeface="Calibri" pitchFamily="34" charset="0"/>
                <a:ea typeface="Calibri" pitchFamily="34" charset="-122"/>
                <a:cs typeface="Calibri" pitchFamily="34" charset="-120"/>
              </a:rPr>
              <a:t>  the default public registry (docker.io)</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Repositories &amp; tags</a:t>
            </a:r>
            <a:pPr algn="l" indent="0" marL="0">
              <a:spcAft>
                <a:spcPts val="700"/>
              </a:spcAft>
              <a:buNone/>
            </a:pPr>
            <a:r>
              <a:rPr lang="en-US" sz="1100" dirty="0">
                <a:solidFill>
                  <a:srgbClr val="475569"/>
                </a:solidFill>
                <a:latin typeface="Calibri" pitchFamily="34" charset="0"/>
                <a:ea typeface="Calibri" pitchFamily="34" charset="-122"/>
                <a:cs typeface="Calibri" pitchFamily="34" charset="-120"/>
              </a:rPr>
              <a:t>  user/app:1.0, user/app:latest</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Official &amp; verified</a:t>
            </a:r>
            <a:pPr algn="l" indent="0" marL="0">
              <a:spcAft>
                <a:spcPts val="700"/>
              </a:spcAft>
              <a:buNone/>
            </a:pPr>
            <a:r>
              <a:rPr lang="en-US" sz="1100" dirty="0">
                <a:solidFill>
                  <a:srgbClr val="475569"/>
                </a:solidFill>
                <a:latin typeface="Calibri" pitchFamily="34" charset="0"/>
                <a:ea typeface="Calibri" pitchFamily="34" charset="-122"/>
                <a:cs typeface="Calibri" pitchFamily="34" charset="-120"/>
              </a:rPr>
              <a:t>  curated base images you can trust</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Public vs private</a:t>
            </a:r>
            <a:pPr algn="l" indent="0" marL="0">
              <a:spcAft>
                <a:spcPts val="700"/>
              </a:spcAft>
              <a:buNone/>
            </a:pPr>
            <a:r>
              <a:rPr lang="en-US" sz="1100" dirty="0">
                <a:solidFill>
                  <a:srgbClr val="475569"/>
                </a:solidFill>
                <a:latin typeface="Calibri" pitchFamily="34" charset="0"/>
                <a:ea typeface="Calibri" pitchFamily="34" charset="-122"/>
                <a:cs typeface="Calibri" pitchFamily="34" charset="-120"/>
              </a:rPr>
              <a:t>  keep proprietary images private</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Hub rate limits</a:t>
            </a:r>
            <a:pPr algn="l" indent="0" marL="0">
              <a:spcAft>
                <a:spcPts val="700"/>
              </a:spcAft>
              <a:buNone/>
            </a:pPr>
            <a:r>
              <a:rPr lang="en-US" sz="1100" dirty="0">
                <a:solidFill>
                  <a:srgbClr val="475569"/>
                </a:solidFill>
                <a:latin typeface="Calibri" pitchFamily="34" charset="0"/>
                <a:ea typeface="Calibri" pitchFamily="34" charset="-122"/>
                <a:cs typeface="Calibri" pitchFamily="34" charset="-120"/>
              </a:rPr>
              <a:t>  anonymous pulls are throttled — log in or mirror</a:t>
            </a:r>
            <a:endParaRPr lang="en-US" sz="1100" dirty="0"/>
          </a:p>
        </p:txBody>
      </p:sp>
      <p:sp>
        <p:nvSpPr>
          <p:cNvPr id="7" name="Shape 4"/>
          <p:cNvSpPr/>
          <p:nvPr/>
        </p:nvSpPr>
        <p:spPr>
          <a:xfrm>
            <a:off x="4846320" y="1463040"/>
            <a:ext cx="1051560" cy="868680"/>
          </a:xfrm>
          <a:prstGeom prst="roundRect">
            <a:avLst>
              <a:gd name="adj" fmla="val 8421"/>
            </a:avLst>
          </a:prstGeom>
          <a:solidFill>
            <a:srgbClr val="FFFFFF"/>
          </a:solidFill>
          <a:ln w="12700">
            <a:solidFill>
              <a:srgbClr val="E2E8F0"/>
            </a:solidFill>
            <a:prstDash val="solid"/>
          </a:ln>
          <a:effectLst>
            <a:outerShdw sx="100000" sy="100000" kx="0" ky="0" algn="bl" rotWithShape="0" blurRad="63500" dist="25400" dir="2700000">
              <a:srgbClr val="475569">
                <a:alpha val="10000"/>
              </a:srgbClr>
            </a:outerShdw>
          </a:effectLst>
        </p:spPr>
      </p:sp>
      <p:sp>
        <p:nvSpPr>
          <p:cNvPr id="8" name="Text 5"/>
          <p:cNvSpPr/>
          <p:nvPr/>
        </p:nvSpPr>
        <p:spPr>
          <a:xfrm>
            <a:off x="4846320" y="1463040"/>
            <a:ext cx="1051560" cy="868680"/>
          </a:xfrm>
          <a:prstGeom prst="rect">
            <a:avLst/>
          </a:prstGeom>
          <a:noFill/>
          <a:ln/>
        </p:spPr>
        <p:txBody>
          <a:bodyPr wrap="square" lIns="0" tIns="0" rIns="0" bIns="0" rtlCol="0" anchor="ctr"/>
          <a:lstStyle/>
          <a:p>
            <a:pPr algn="ctr" indent="0" marL="0">
              <a:lnSpc>
                <a:spcPts val="1100"/>
              </a:lnSpc>
              <a:buNone/>
            </a:pPr>
            <a:r>
              <a:rPr lang="en-US" sz="1050" b="1" dirty="0">
                <a:solidFill>
                  <a:srgbClr val="0F172A"/>
                </a:solidFill>
                <a:latin typeface="Calibri" pitchFamily="34" charset="0"/>
                <a:ea typeface="Calibri" pitchFamily="34" charset="-122"/>
                <a:cs typeface="Calibri" pitchFamily="34" charset="-120"/>
              </a:rPr>
              <a:t>Build</a:t>
            </a:r>
            <a:endParaRPr lang="en-US" sz="1050" dirty="0"/>
          </a:p>
          <a:p>
            <a:pPr algn="ctr" indent="0" marL="0">
              <a:lnSpc>
                <a:spcPts val="1100"/>
              </a:lnSpc>
              <a:buNone/>
            </a:pPr>
            <a:r>
              <a:rPr lang="en-US" sz="850" dirty="0">
                <a:solidFill>
                  <a:srgbClr val="0F172A"/>
                </a:solidFill>
                <a:latin typeface="Calibri" pitchFamily="34" charset="0"/>
                <a:ea typeface="Calibri" pitchFamily="34" charset="-122"/>
                <a:cs typeface="Calibri" pitchFamily="34" charset="-120"/>
              </a:rPr>
              <a:t>docker build</a:t>
            </a:r>
            <a:endParaRPr lang="en-US" sz="1050" dirty="0"/>
          </a:p>
        </p:txBody>
      </p:sp>
      <p:sp>
        <p:nvSpPr>
          <p:cNvPr id="9" name="Shape 6"/>
          <p:cNvSpPr/>
          <p:nvPr/>
        </p:nvSpPr>
        <p:spPr>
          <a:xfrm>
            <a:off x="6446520" y="1463040"/>
            <a:ext cx="1051560" cy="868680"/>
          </a:xfrm>
          <a:prstGeom prst="roundRect">
            <a:avLst>
              <a:gd name="adj" fmla="val 8421"/>
            </a:avLst>
          </a:prstGeom>
          <a:solidFill>
            <a:srgbClr val="EAF4FD"/>
          </a:solidFill>
          <a:ln w="12700">
            <a:solidFill>
              <a:srgbClr val="BBDDF7"/>
            </a:solidFill>
            <a:prstDash val="solid"/>
          </a:ln>
          <a:effectLst>
            <a:outerShdw sx="100000" sy="100000" kx="0" ky="0" algn="bl" rotWithShape="0" blurRad="63500" dist="25400" dir="2700000">
              <a:srgbClr val="475569">
                <a:alpha val="10000"/>
              </a:srgbClr>
            </a:outerShdw>
          </a:effectLst>
        </p:spPr>
      </p:sp>
      <p:sp>
        <p:nvSpPr>
          <p:cNvPr id="10" name="Text 7"/>
          <p:cNvSpPr/>
          <p:nvPr/>
        </p:nvSpPr>
        <p:spPr>
          <a:xfrm>
            <a:off x="6446520" y="1463040"/>
            <a:ext cx="1051560" cy="868680"/>
          </a:xfrm>
          <a:prstGeom prst="rect">
            <a:avLst/>
          </a:prstGeom>
          <a:noFill/>
          <a:ln/>
        </p:spPr>
        <p:txBody>
          <a:bodyPr wrap="square" lIns="0" tIns="0" rIns="0" bIns="0" rtlCol="0" anchor="ctr"/>
          <a:lstStyle/>
          <a:p>
            <a:pPr algn="ctr" indent="0" marL="0">
              <a:lnSpc>
                <a:spcPts val="1100"/>
              </a:lnSpc>
              <a:buNone/>
            </a:pPr>
            <a:r>
              <a:rPr lang="en-US" sz="1050" b="1" dirty="0">
                <a:solidFill>
                  <a:srgbClr val="2496ED"/>
                </a:solidFill>
                <a:latin typeface="Calibri" pitchFamily="34" charset="0"/>
                <a:ea typeface="Calibri" pitchFamily="34" charset="-122"/>
                <a:cs typeface="Calibri" pitchFamily="34" charset="-120"/>
              </a:rPr>
              <a:t>Registry</a:t>
            </a:r>
            <a:endParaRPr lang="en-US" sz="1050" dirty="0"/>
          </a:p>
          <a:p>
            <a:pPr algn="ctr" indent="0" marL="0">
              <a:lnSpc>
                <a:spcPts val="1100"/>
              </a:lnSpc>
              <a:buNone/>
            </a:pPr>
            <a:r>
              <a:rPr lang="en-US" sz="850" dirty="0">
                <a:solidFill>
                  <a:srgbClr val="2496ED"/>
                </a:solidFill>
                <a:latin typeface="Calibri" pitchFamily="34" charset="0"/>
                <a:ea typeface="Calibri" pitchFamily="34" charset="-122"/>
                <a:cs typeface="Calibri" pitchFamily="34" charset="-120"/>
              </a:rPr>
              <a:t>Docker Hub</a:t>
            </a:r>
            <a:endParaRPr lang="en-US" sz="1050" dirty="0"/>
          </a:p>
        </p:txBody>
      </p:sp>
      <p:sp>
        <p:nvSpPr>
          <p:cNvPr id="11" name="Shape 8"/>
          <p:cNvSpPr/>
          <p:nvPr/>
        </p:nvSpPr>
        <p:spPr>
          <a:xfrm>
            <a:off x="7635240" y="1463040"/>
            <a:ext cx="1051560" cy="868680"/>
          </a:xfrm>
          <a:prstGeom prst="roundRect">
            <a:avLst>
              <a:gd name="adj" fmla="val 8421"/>
            </a:avLst>
          </a:prstGeom>
          <a:solidFill>
            <a:srgbClr val="FFFFFF"/>
          </a:solidFill>
          <a:ln w="12700">
            <a:solidFill>
              <a:srgbClr val="E2E8F0"/>
            </a:solidFill>
            <a:prstDash val="solid"/>
          </a:ln>
          <a:effectLst>
            <a:outerShdw sx="100000" sy="100000" kx="0" ky="0" algn="bl" rotWithShape="0" blurRad="63500" dist="25400" dir="2700000">
              <a:srgbClr val="475569">
                <a:alpha val="10000"/>
              </a:srgbClr>
            </a:outerShdw>
          </a:effectLst>
        </p:spPr>
      </p:sp>
      <p:sp>
        <p:nvSpPr>
          <p:cNvPr id="12" name="Text 9"/>
          <p:cNvSpPr/>
          <p:nvPr/>
        </p:nvSpPr>
        <p:spPr>
          <a:xfrm>
            <a:off x="7635240" y="1463040"/>
            <a:ext cx="1051560" cy="868680"/>
          </a:xfrm>
          <a:prstGeom prst="rect">
            <a:avLst/>
          </a:prstGeom>
          <a:noFill/>
          <a:ln/>
        </p:spPr>
        <p:txBody>
          <a:bodyPr wrap="square" lIns="0" tIns="0" rIns="0" bIns="0" rtlCol="0" anchor="ctr"/>
          <a:lstStyle/>
          <a:p>
            <a:pPr algn="ctr" indent="0" marL="0">
              <a:lnSpc>
                <a:spcPts val="1100"/>
              </a:lnSpc>
              <a:buNone/>
            </a:pPr>
            <a:r>
              <a:rPr lang="en-US" sz="1050" b="1" dirty="0">
                <a:solidFill>
                  <a:srgbClr val="0F172A"/>
                </a:solidFill>
                <a:latin typeface="Calibri" pitchFamily="34" charset="0"/>
                <a:ea typeface="Calibri" pitchFamily="34" charset="-122"/>
                <a:cs typeface="Calibri" pitchFamily="34" charset="-120"/>
              </a:rPr>
              <a:t>Run</a:t>
            </a:r>
            <a:endParaRPr lang="en-US" sz="1050" dirty="0"/>
          </a:p>
          <a:p>
            <a:pPr algn="ctr" indent="0" marL="0">
              <a:lnSpc>
                <a:spcPts val="1100"/>
              </a:lnSpc>
              <a:buNone/>
            </a:pPr>
            <a:r>
              <a:rPr lang="en-US" sz="850" dirty="0">
                <a:solidFill>
                  <a:srgbClr val="0F172A"/>
                </a:solidFill>
                <a:latin typeface="Calibri" pitchFamily="34" charset="0"/>
                <a:ea typeface="Calibri" pitchFamily="34" charset="-122"/>
                <a:cs typeface="Calibri" pitchFamily="34" charset="-120"/>
              </a:rPr>
              <a:t>docker run</a:t>
            </a:r>
            <a:endParaRPr lang="en-US" sz="1050" dirty="0"/>
          </a:p>
        </p:txBody>
      </p:sp>
      <p:sp>
        <p:nvSpPr>
          <p:cNvPr id="13" name="Shape 10"/>
          <p:cNvSpPr/>
          <p:nvPr/>
        </p:nvSpPr>
        <p:spPr>
          <a:xfrm>
            <a:off x="5897880" y="1783080"/>
            <a:ext cx="548640" cy="0"/>
          </a:xfrm>
          <a:prstGeom prst="line">
            <a:avLst/>
          </a:prstGeom>
          <a:noFill/>
          <a:ln w="25400">
            <a:solidFill>
              <a:srgbClr val="64748B"/>
            </a:solidFill>
            <a:prstDash val="solid"/>
            <a:tailEnd type="triangle"/>
          </a:ln>
        </p:spPr>
      </p:sp>
      <p:sp>
        <p:nvSpPr>
          <p:cNvPr id="14" name="Text 11"/>
          <p:cNvSpPr/>
          <p:nvPr/>
        </p:nvSpPr>
        <p:spPr>
          <a:xfrm>
            <a:off x="5852160" y="1554480"/>
            <a:ext cx="640080" cy="201168"/>
          </a:xfrm>
          <a:prstGeom prst="rect">
            <a:avLst/>
          </a:prstGeom>
          <a:noFill/>
          <a:ln/>
        </p:spPr>
        <p:txBody>
          <a:bodyPr wrap="square" lIns="0" tIns="0" rIns="0" bIns="0" rtlCol="0" anchor="ctr"/>
          <a:lstStyle/>
          <a:p>
            <a:pPr algn="ctr" indent="0" marL="0">
              <a:buNone/>
            </a:pPr>
            <a:r>
              <a:rPr lang="en-US" sz="850" dirty="0">
                <a:solidFill>
                  <a:srgbClr val="0F766E"/>
                </a:solidFill>
                <a:latin typeface="Courier New" pitchFamily="34" charset="0"/>
                <a:ea typeface="Courier New" pitchFamily="34" charset="-122"/>
                <a:cs typeface="Courier New" pitchFamily="34" charset="-120"/>
              </a:rPr>
              <a:t>push</a:t>
            </a:r>
            <a:endParaRPr lang="en-US" sz="850" dirty="0"/>
          </a:p>
        </p:txBody>
      </p:sp>
      <p:sp>
        <p:nvSpPr>
          <p:cNvPr id="15" name="Shape 12"/>
          <p:cNvSpPr/>
          <p:nvPr/>
        </p:nvSpPr>
        <p:spPr>
          <a:xfrm>
            <a:off x="7498080" y="2011680"/>
            <a:ext cx="137160" cy="0"/>
          </a:xfrm>
          <a:prstGeom prst="line">
            <a:avLst/>
          </a:prstGeom>
          <a:noFill/>
          <a:ln w="25400">
            <a:solidFill>
              <a:srgbClr val="64748B"/>
            </a:solidFill>
            <a:prstDash val="solid"/>
            <a:tailEnd type="triangle"/>
          </a:ln>
        </p:spPr>
      </p:sp>
      <p:sp>
        <p:nvSpPr>
          <p:cNvPr id="16" name="Text 13"/>
          <p:cNvSpPr/>
          <p:nvPr/>
        </p:nvSpPr>
        <p:spPr>
          <a:xfrm>
            <a:off x="7223760" y="2331720"/>
            <a:ext cx="640080" cy="201168"/>
          </a:xfrm>
          <a:prstGeom prst="rect">
            <a:avLst/>
          </a:prstGeom>
          <a:noFill/>
          <a:ln/>
        </p:spPr>
        <p:txBody>
          <a:bodyPr wrap="square" lIns="0" tIns="0" rIns="0" bIns="0" rtlCol="0" anchor="ctr"/>
          <a:lstStyle/>
          <a:p>
            <a:pPr algn="ctr" indent="0" marL="0">
              <a:buNone/>
            </a:pPr>
            <a:r>
              <a:rPr lang="en-US" sz="850" dirty="0">
                <a:solidFill>
                  <a:srgbClr val="0F766E"/>
                </a:solidFill>
                <a:latin typeface="Courier New" pitchFamily="34" charset="0"/>
                <a:ea typeface="Courier New" pitchFamily="34" charset="-122"/>
                <a:cs typeface="Courier New" pitchFamily="34" charset="-120"/>
              </a:rPr>
              <a:t>pull</a:t>
            </a:r>
            <a:endParaRPr lang="en-US" sz="850" dirty="0"/>
          </a:p>
        </p:txBody>
      </p:sp>
      <p:sp>
        <p:nvSpPr>
          <p:cNvPr id="17" name="Shape 14"/>
          <p:cNvSpPr/>
          <p:nvPr/>
        </p:nvSpPr>
        <p:spPr>
          <a:xfrm>
            <a:off x="4846320" y="2560320"/>
            <a:ext cx="3840480" cy="1508760"/>
          </a:xfrm>
          <a:prstGeom prst="roundRect">
            <a:avLst>
              <a:gd name="adj" fmla="val 4242"/>
            </a:avLst>
          </a:prstGeom>
          <a:solidFill>
            <a:srgbClr val="1E293B"/>
          </a:solidFill>
          <a:ln w="12700">
            <a:solidFill>
              <a:srgbClr val="334155"/>
            </a:solidFill>
            <a:prstDash val="solid"/>
          </a:ln>
          <a:effectLst>
            <a:outerShdw sx="100000" sy="100000" kx="0" ky="0" algn="bl" rotWithShape="0" blurRad="114300" dist="38100" dir="2700000">
              <a:srgbClr val="475569">
                <a:alpha val="24000"/>
              </a:srgbClr>
            </a:outerShdw>
          </a:effectLst>
        </p:spPr>
      </p:sp>
      <p:sp>
        <p:nvSpPr>
          <p:cNvPr id="18" name="Shape 15"/>
          <p:cNvSpPr/>
          <p:nvPr/>
        </p:nvSpPr>
        <p:spPr>
          <a:xfrm>
            <a:off x="5047488" y="2743200"/>
            <a:ext cx="91440" cy="91440"/>
          </a:xfrm>
          <a:prstGeom prst="ellipse">
            <a:avLst/>
          </a:prstGeom>
          <a:solidFill>
            <a:srgbClr val="EF4444"/>
          </a:solidFill>
          <a:ln/>
        </p:spPr>
      </p:sp>
      <p:sp>
        <p:nvSpPr>
          <p:cNvPr id="19" name="Shape 16"/>
          <p:cNvSpPr/>
          <p:nvPr/>
        </p:nvSpPr>
        <p:spPr>
          <a:xfrm>
            <a:off x="5193792" y="2743200"/>
            <a:ext cx="91440" cy="91440"/>
          </a:xfrm>
          <a:prstGeom prst="ellipse">
            <a:avLst/>
          </a:prstGeom>
          <a:solidFill>
            <a:srgbClr val="F59E0B"/>
          </a:solidFill>
          <a:ln/>
        </p:spPr>
      </p:sp>
      <p:sp>
        <p:nvSpPr>
          <p:cNvPr id="20" name="Shape 17"/>
          <p:cNvSpPr/>
          <p:nvPr/>
        </p:nvSpPr>
        <p:spPr>
          <a:xfrm>
            <a:off x="5340096" y="2743200"/>
            <a:ext cx="91440" cy="91440"/>
          </a:xfrm>
          <a:prstGeom prst="ellipse">
            <a:avLst/>
          </a:prstGeom>
          <a:solidFill>
            <a:srgbClr val="22C55E"/>
          </a:solidFill>
          <a:ln/>
        </p:spPr>
      </p:sp>
      <p:sp>
        <p:nvSpPr>
          <p:cNvPr id="21" name="Text 18"/>
          <p:cNvSpPr/>
          <p:nvPr/>
        </p:nvSpPr>
        <p:spPr>
          <a:xfrm>
            <a:off x="5559552" y="2679192"/>
            <a:ext cx="2926080" cy="20116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publish</a:t>
            </a:r>
            <a:endParaRPr lang="en-US" sz="900" dirty="0"/>
          </a:p>
        </p:txBody>
      </p:sp>
      <p:sp>
        <p:nvSpPr>
          <p:cNvPr id="22" name="Text 19"/>
          <p:cNvSpPr/>
          <p:nvPr/>
        </p:nvSpPr>
        <p:spPr>
          <a:xfrm>
            <a:off x="5065776" y="2999232"/>
            <a:ext cx="3401568" cy="960120"/>
          </a:xfrm>
          <a:prstGeom prst="rect">
            <a:avLst/>
          </a:prstGeom>
          <a:noFill/>
          <a:ln/>
        </p:spPr>
        <p:txBody>
          <a:bodyPr wrap="square" lIns="0" tIns="0" rIns="0" bIns="0" rtlCol="0" anchor="t"/>
          <a:lstStyle/>
          <a:p>
            <a:pPr algn="l" indent="0" marL="0">
              <a:lnSpc>
                <a:spcPts val="1109"/>
              </a:lnSpc>
              <a:buNone/>
            </a:pPr>
            <a:r>
              <a:rPr lang="en-US" sz="940" b="1" dirty="0">
                <a:solidFill>
                  <a:srgbClr val="0D9488"/>
                </a:solidFill>
                <a:latin typeface="Courier New" pitchFamily="34" charset="0"/>
                <a:ea typeface="Courier New" pitchFamily="34" charset="-122"/>
                <a:cs typeface="Courier New" pitchFamily="34" charset="-120"/>
              </a:rPr>
              <a:t>$ </a:t>
            </a:r>
            <a:pPr algn="l" indent="0" marL="0">
              <a:lnSpc>
                <a:spcPts val="1109"/>
              </a:lnSpc>
              <a:buNone/>
            </a:pPr>
            <a:r>
              <a:rPr lang="en-US" sz="940" dirty="0">
                <a:solidFill>
                  <a:srgbClr val="FFFFFF"/>
                </a:solidFill>
                <a:latin typeface="Courier New" pitchFamily="34" charset="0"/>
                <a:ea typeface="Courier New" pitchFamily="34" charset="-122"/>
                <a:cs typeface="Courier New" pitchFamily="34" charset="-120"/>
              </a:rPr>
              <a:t>docker login</a:t>
            </a:r>
            <a:endParaRPr lang="en-US" sz="940" dirty="0"/>
          </a:p>
          <a:p>
            <a:pPr algn="l" indent="0" marL="0">
              <a:lnSpc>
                <a:spcPts val="1109"/>
              </a:lnSpc>
              <a:buNone/>
            </a:pPr>
            <a:r>
              <a:rPr lang="en-US" sz="940" b="1" dirty="0">
                <a:solidFill>
                  <a:srgbClr val="0D9488"/>
                </a:solidFill>
                <a:latin typeface="Courier New" pitchFamily="34" charset="0"/>
                <a:ea typeface="Courier New" pitchFamily="34" charset="-122"/>
                <a:cs typeface="Courier New" pitchFamily="34" charset="-120"/>
              </a:rPr>
              <a:t>$ </a:t>
            </a:r>
            <a:pPr algn="l" indent="0" marL="0">
              <a:lnSpc>
                <a:spcPts val="1109"/>
              </a:lnSpc>
              <a:buNone/>
            </a:pPr>
            <a:r>
              <a:rPr lang="en-US" sz="940" dirty="0">
                <a:solidFill>
                  <a:srgbClr val="FFFFFF"/>
                </a:solidFill>
                <a:latin typeface="Courier New" pitchFamily="34" charset="0"/>
                <a:ea typeface="Courier New" pitchFamily="34" charset="-122"/>
                <a:cs typeface="Courier New" pitchFamily="34" charset="-120"/>
              </a:rPr>
              <a:t>docker tag myapi:1.0 user/myapi:1.0</a:t>
            </a:r>
            <a:endParaRPr lang="en-US" sz="940" dirty="0"/>
          </a:p>
          <a:p>
            <a:pPr algn="l" indent="0" marL="0">
              <a:lnSpc>
                <a:spcPts val="1109"/>
              </a:lnSpc>
              <a:buNone/>
            </a:pPr>
            <a:r>
              <a:rPr lang="en-US" sz="940" b="1" dirty="0">
                <a:solidFill>
                  <a:srgbClr val="0D9488"/>
                </a:solidFill>
                <a:latin typeface="Courier New" pitchFamily="34" charset="0"/>
                <a:ea typeface="Courier New" pitchFamily="34" charset="-122"/>
                <a:cs typeface="Courier New" pitchFamily="34" charset="-120"/>
              </a:rPr>
              <a:t>$ </a:t>
            </a:r>
            <a:pPr algn="l" indent="0" marL="0">
              <a:lnSpc>
                <a:spcPts val="1109"/>
              </a:lnSpc>
              <a:buNone/>
            </a:pPr>
            <a:r>
              <a:rPr lang="en-US" sz="940" dirty="0">
                <a:solidFill>
                  <a:srgbClr val="FFFFFF"/>
                </a:solidFill>
                <a:latin typeface="Courier New" pitchFamily="34" charset="0"/>
                <a:ea typeface="Courier New" pitchFamily="34" charset="-122"/>
                <a:cs typeface="Courier New" pitchFamily="34" charset="-120"/>
              </a:rPr>
              <a:t>docker push user/myapi:1.0</a:t>
            </a:r>
            <a:endParaRPr lang="en-US" sz="940" dirty="0"/>
          </a:p>
          <a:p>
            <a:pPr algn="l" indent="0" marL="0">
              <a:lnSpc>
                <a:spcPts val="1109"/>
              </a:lnSpc>
              <a:buNone/>
            </a:pPr>
            <a:r>
              <a:rPr lang="en-US" sz="940" dirty="0">
                <a:solidFill>
                  <a:srgbClr val="34D399"/>
                </a:solidFill>
                <a:latin typeface="Courier New" pitchFamily="34" charset="0"/>
                <a:ea typeface="Courier New" pitchFamily="34" charset="-122"/>
                <a:cs typeface="Courier New" pitchFamily="34" charset="-120"/>
              </a:rPr>
              <a:t>1.0: digest: sha256:... pushed</a:t>
            </a:r>
            <a:endParaRPr lang="en-US" sz="940" dirty="0"/>
          </a:p>
        </p:txBody>
      </p:sp>
      <p:sp>
        <p:nvSpPr>
          <p:cNvPr id="23" name="Text 20"/>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24" name="Text 21"/>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Registries</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PRIVATE &amp; SECURE</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Self-hosted registry, Harbor &amp; scanning</a:t>
            </a:r>
            <a:endParaRPr lang="en-US" sz="2500" dirty="0"/>
          </a:p>
        </p:txBody>
      </p:sp>
      <p:sp>
        <p:nvSpPr>
          <p:cNvPr id="6" name="Shape 3"/>
          <p:cNvSpPr/>
          <p:nvPr/>
        </p:nvSpPr>
        <p:spPr>
          <a:xfrm>
            <a:off x="457200" y="1234440"/>
            <a:ext cx="3977640" cy="2194560"/>
          </a:xfrm>
          <a:prstGeom prst="roundRect">
            <a:avLst>
              <a:gd name="adj" fmla="val 3333"/>
            </a:avLst>
          </a:prstGeom>
          <a:solidFill>
            <a:srgbClr val="F8FAFC"/>
          </a:solidFill>
          <a:ln w="12700">
            <a:solidFill>
              <a:srgbClr val="E2E8F0"/>
            </a:solidFill>
            <a:prstDash val="solid"/>
          </a:ln>
          <a:effectLst>
            <a:outerShdw sx="100000" sy="100000" kx="0" ky="0" algn="bl" rotWithShape="0" blurRad="76200" dist="25400" dir="2700000">
              <a:srgbClr val="475569">
                <a:alpha val="10000"/>
              </a:srgbClr>
            </a:outerShdw>
          </a:effectLst>
        </p:spPr>
      </p:sp>
      <p:pic>
        <p:nvPicPr>
          <p:cNvPr id="7" name="Image 1" descr="preencoded.png">    </p:cNvPr>
          <p:cNvPicPr>
            <a:picLocks noChangeAspect="1"/>
          </p:cNvPicPr>
          <p:nvPr/>
        </p:nvPicPr>
        <p:blipFill>
          <a:blip r:embed="rId2"/>
          <a:stretch>
            <a:fillRect/>
          </a:stretch>
        </p:blipFill>
        <p:spPr>
          <a:xfrm>
            <a:off x="694944" y="1463040"/>
            <a:ext cx="310896" cy="310896"/>
          </a:xfrm>
          <a:prstGeom prst="rect">
            <a:avLst/>
          </a:prstGeom>
        </p:spPr>
      </p:pic>
      <p:sp>
        <p:nvSpPr>
          <p:cNvPr id="8" name="Text 4"/>
          <p:cNvSpPr/>
          <p:nvPr/>
        </p:nvSpPr>
        <p:spPr>
          <a:xfrm>
            <a:off x="1115568" y="1463040"/>
            <a:ext cx="3154680" cy="310896"/>
          </a:xfrm>
          <a:prstGeom prst="rect">
            <a:avLst/>
          </a:prstGeom>
          <a:noFill/>
          <a:ln/>
        </p:spPr>
        <p:txBody>
          <a:bodyPr wrap="square" lIns="0" tIns="0" rIns="0" bIns="0" rtlCol="0" anchor="ctr"/>
          <a:lstStyle/>
          <a:p>
            <a:pPr indent="0" marL="0">
              <a:buNone/>
            </a:pPr>
            <a:r>
              <a:rPr lang="en-US" sz="1200" b="1" spc="150" kern="0" dirty="0">
                <a:solidFill>
                  <a:srgbClr val="475569"/>
                </a:solidFill>
                <a:latin typeface="Calibri" pitchFamily="34" charset="0"/>
                <a:ea typeface="Calibri" pitchFamily="34" charset="-122"/>
                <a:cs typeface="Calibri" pitchFamily="34" charset="-120"/>
              </a:rPr>
              <a:t>REGISTRY:2  (DISTRIBUTION)</a:t>
            </a:r>
            <a:endParaRPr lang="en-US" sz="1200" dirty="0"/>
          </a:p>
        </p:txBody>
      </p:sp>
      <p:sp>
        <p:nvSpPr>
          <p:cNvPr id="9" name="Text 5"/>
          <p:cNvSpPr/>
          <p:nvPr/>
        </p:nvSpPr>
        <p:spPr>
          <a:xfrm>
            <a:off x="676656" y="1755648"/>
            <a:ext cx="3566160" cy="1554480"/>
          </a:xfrm>
          <a:prstGeom prst="rect">
            <a:avLst/>
          </a:prstGeom>
          <a:noFill/>
          <a:ln/>
        </p:spPr>
        <p:txBody>
          <a:bodyPr wrap="square" lIns="0" tIns="0" rIns="0" bIns="0" rtlCol="0" anchor="t"/>
          <a:lstStyle/>
          <a:p>
            <a:pPr marL="165100" indent="-165100">
              <a:spcAft>
                <a:spcPts val="700"/>
              </a:spcAft>
              <a:buSzPct val="100000"/>
              <a:buChar char="•"/>
            </a:pPr>
            <a:r>
              <a:rPr lang="en-US" sz="1080" dirty="0">
                <a:solidFill>
                  <a:srgbClr val="334155"/>
                </a:solidFill>
                <a:latin typeface="Calibri" pitchFamily="34" charset="0"/>
                <a:ea typeface="Calibri" pitchFamily="34" charset="-122"/>
                <a:cs typeface="Calibri" pitchFamily="34" charset="-120"/>
              </a:rPr>
              <a:t>Minimal — just stores &amp; serves images</a:t>
            </a:r>
            <a:endParaRPr lang="en-US" sz="1080" dirty="0"/>
          </a:p>
          <a:p>
            <a:pPr marL="165100" indent="-165100">
              <a:spcAft>
                <a:spcPts val="700"/>
              </a:spcAft>
              <a:buSzPct val="100000"/>
              <a:buChar char="•"/>
            </a:pPr>
            <a:r>
              <a:rPr lang="en-US" sz="1080" dirty="0">
                <a:solidFill>
                  <a:srgbClr val="334155"/>
                </a:solidFill>
                <a:latin typeface="Calibri" pitchFamily="34" charset="0"/>
                <a:ea typeface="Calibri" pitchFamily="34" charset="-122"/>
                <a:cs typeface="Calibri" pitchFamily="34" charset="-120"/>
              </a:rPr>
              <a:t>No web UI, RBAC, or scanning</a:t>
            </a:r>
            <a:endParaRPr lang="en-US" sz="1080" dirty="0"/>
          </a:p>
          <a:p>
            <a:pPr marL="165100" indent="-165100">
              <a:spcAft>
                <a:spcPts val="700"/>
              </a:spcAft>
              <a:buSzPct val="100000"/>
              <a:buChar char="•"/>
            </a:pPr>
            <a:r>
              <a:rPr lang="en-US" sz="1080" dirty="0">
                <a:solidFill>
                  <a:srgbClr val="334155"/>
                </a:solidFill>
                <a:latin typeface="Calibri" pitchFamily="34" charset="0"/>
                <a:ea typeface="Calibri" pitchFamily="34" charset="-122"/>
                <a:cs typeface="Calibri" pitchFamily="34" charset="-120"/>
              </a:rPr>
              <a:t>Runs in a single container</a:t>
            </a:r>
            <a:endParaRPr lang="en-US" sz="1080" dirty="0"/>
          </a:p>
          <a:p>
            <a:pPr marL="165100" indent="-165100">
              <a:spcAft>
                <a:spcPts val="700"/>
              </a:spcAft>
              <a:buSzPct val="100000"/>
              <a:buChar char="•"/>
            </a:pPr>
            <a:r>
              <a:rPr lang="en-US" sz="1080" dirty="0">
                <a:solidFill>
                  <a:srgbClr val="334155"/>
                </a:solidFill>
                <a:latin typeface="Calibri" pitchFamily="34" charset="0"/>
                <a:ea typeface="Calibri" pitchFamily="34" charset="-122"/>
                <a:cs typeface="Calibri" pitchFamily="34" charset="-120"/>
              </a:rPr>
              <a:t>Good for a simple private mirror</a:t>
            </a:r>
            <a:endParaRPr lang="en-US" sz="1080" dirty="0"/>
          </a:p>
        </p:txBody>
      </p:sp>
      <p:sp>
        <p:nvSpPr>
          <p:cNvPr id="10" name="Shape 6"/>
          <p:cNvSpPr/>
          <p:nvPr/>
        </p:nvSpPr>
        <p:spPr>
          <a:xfrm>
            <a:off x="4709160" y="1234440"/>
            <a:ext cx="3977640" cy="2194560"/>
          </a:xfrm>
          <a:prstGeom prst="roundRect">
            <a:avLst>
              <a:gd name="adj" fmla="val 3333"/>
            </a:avLst>
          </a:prstGeom>
          <a:solidFill>
            <a:srgbClr val="F0FDFA"/>
          </a:solidFill>
          <a:ln w="12700">
            <a:solidFill>
              <a:srgbClr val="99F6E4"/>
            </a:solidFill>
            <a:prstDash val="solid"/>
          </a:ln>
          <a:effectLst>
            <a:outerShdw sx="100000" sy="100000" kx="0" ky="0" algn="bl" rotWithShape="0" blurRad="76200" dist="25400" dir="2700000">
              <a:srgbClr val="475569">
                <a:alpha val="10000"/>
              </a:srgbClr>
            </a:outerShdw>
          </a:effectLst>
        </p:spPr>
      </p:sp>
      <p:pic>
        <p:nvPicPr>
          <p:cNvPr id="11" name="Image 2" descr="preencoded.png">    </p:cNvPr>
          <p:cNvPicPr>
            <a:picLocks noChangeAspect="1"/>
          </p:cNvPicPr>
          <p:nvPr/>
        </p:nvPicPr>
        <p:blipFill>
          <a:blip r:embed="rId3"/>
          <a:stretch>
            <a:fillRect/>
          </a:stretch>
        </p:blipFill>
        <p:spPr>
          <a:xfrm>
            <a:off x="4946904" y="1463040"/>
            <a:ext cx="310896" cy="310896"/>
          </a:xfrm>
          <a:prstGeom prst="rect">
            <a:avLst/>
          </a:prstGeom>
        </p:spPr>
      </p:pic>
      <p:sp>
        <p:nvSpPr>
          <p:cNvPr id="12" name="Text 7"/>
          <p:cNvSpPr/>
          <p:nvPr/>
        </p:nvSpPr>
        <p:spPr>
          <a:xfrm>
            <a:off x="5367528" y="1463040"/>
            <a:ext cx="3154680" cy="310896"/>
          </a:xfrm>
          <a:prstGeom prst="rect">
            <a:avLst/>
          </a:prstGeom>
          <a:noFill/>
          <a:ln/>
        </p:spPr>
        <p:txBody>
          <a:bodyPr wrap="square" lIns="0" tIns="0" rIns="0" bIns="0" rtlCol="0" anchor="ctr"/>
          <a:lstStyle/>
          <a:p>
            <a:pPr indent="0" marL="0">
              <a:buNone/>
            </a:pPr>
            <a:r>
              <a:rPr lang="en-US" sz="1200" b="1" spc="150" kern="0" dirty="0">
                <a:solidFill>
                  <a:srgbClr val="0F766E"/>
                </a:solidFill>
                <a:latin typeface="Calibri" pitchFamily="34" charset="0"/>
                <a:ea typeface="Calibri" pitchFamily="34" charset="-122"/>
                <a:cs typeface="Calibri" pitchFamily="34" charset="-120"/>
              </a:rPr>
              <a:t>HARBOR  (ENTERPRISE)</a:t>
            </a:r>
            <a:endParaRPr lang="en-US" sz="1200" dirty="0"/>
          </a:p>
        </p:txBody>
      </p:sp>
      <p:sp>
        <p:nvSpPr>
          <p:cNvPr id="13" name="Text 8"/>
          <p:cNvSpPr/>
          <p:nvPr/>
        </p:nvSpPr>
        <p:spPr>
          <a:xfrm>
            <a:off x="4928616" y="1755648"/>
            <a:ext cx="3566160" cy="1554480"/>
          </a:xfrm>
          <a:prstGeom prst="rect">
            <a:avLst/>
          </a:prstGeom>
          <a:noFill/>
          <a:ln/>
        </p:spPr>
        <p:txBody>
          <a:bodyPr wrap="square" lIns="0" tIns="0" rIns="0" bIns="0" rtlCol="0" anchor="t"/>
          <a:lstStyle/>
          <a:p>
            <a:pPr marL="165100" indent="-165100">
              <a:spcAft>
                <a:spcPts val="700"/>
              </a:spcAft>
              <a:buSzPct val="100000"/>
              <a:buChar char="•"/>
            </a:pPr>
            <a:r>
              <a:rPr lang="en-US" sz="1080" dirty="0">
                <a:solidFill>
                  <a:srgbClr val="334155"/>
                </a:solidFill>
                <a:latin typeface="Calibri" pitchFamily="34" charset="0"/>
                <a:ea typeface="Calibri" pitchFamily="34" charset="-122"/>
                <a:cs typeface="Calibri" pitchFamily="34" charset="-120"/>
              </a:rPr>
              <a:t>Web UI + RBAC, projects &amp; quotas</a:t>
            </a:r>
            <a:endParaRPr lang="en-US" sz="1080" dirty="0"/>
          </a:p>
          <a:p>
            <a:pPr marL="165100" indent="-165100">
              <a:spcAft>
                <a:spcPts val="700"/>
              </a:spcAft>
              <a:buSzPct val="100000"/>
              <a:buChar char="•"/>
            </a:pPr>
            <a:r>
              <a:rPr lang="en-US" sz="1080" dirty="0">
                <a:solidFill>
                  <a:srgbClr val="334155"/>
                </a:solidFill>
                <a:latin typeface="Calibri" pitchFamily="34" charset="0"/>
                <a:ea typeface="Calibri" pitchFamily="34" charset="-122"/>
                <a:cs typeface="Calibri" pitchFamily="34" charset="-120"/>
              </a:rPr>
              <a:t>Replication across registries</a:t>
            </a:r>
            <a:endParaRPr lang="en-US" sz="1080" dirty="0"/>
          </a:p>
          <a:p>
            <a:pPr marL="165100" indent="-165100">
              <a:spcAft>
                <a:spcPts val="700"/>
              </a:spcAft>
              <a:buSzPct val="100000"/>
              <a:buChar char="•"/>
            </a:pPr>
            <a:r>
              <a:rPr lang="en-US" sz="1080" dirty="0">
                <a:solidFill>
                  <a:srgbClr val="334155"/>
                </a:solidFill>
                <a:latin typeface="Calibri" pitchFamily="34" charset="0"/>
                <a:ea typeface="Calibri" pitchFamily="34" charset="-122"/>
                <a:cs typeface="Calibri" pitchFamily="34" charset="-120"/>
              </a:rPr>
              <a:t>Built-in Trivy vulnerability scanning</a:t>
            </a:r>
            <a:endParaRPr lang="en-US" sz="1080" dirty="0"/>
          </a:p>
          <a:p>
            <a:pPr marL="165100" indent="-165100">
              <a:spcAft>
                <a:spcPts val="700"/>
              </a:spcAft>
              <a:buSzPct val="100000"/>
              <a:buChar char="•"/>
            </a:pPr>
            <a:r>
              <a:rPr lang="en-US" sz="1080" dirty="0">
                <a:solidFill>
                  <a:srgbClr val="334155"/>
                </a:solidFill>
                <a:latin typeface="Calibri" pitchFamily="34" charset="0"/>
                <a:ea typeface="Calibri" pitchFamily="34" charset="-122"/>
                <a:cs typeface="Calibri" pitchFamily="34" charset="-120"/>
              </a:rPr>
              <a:t>Image signing (Cosign) + pull policies</a:t>
            </a:r>
            <a:endParaRPr lang="en-US" sz="1080" dirty="0"/>
          </a:p>
        </p:txBody>
      </p:sp>
      <p:sp>
        <p:nvSpPr>
          <p:cNvPr id="14" name="Shape 9"/>
          <p:cNvSpPr/>
          <p:nvPr/>
        </p:nvSpPr>
        <p:spPr>
          <a:xfrm>
            <a:off x="457200" y="3611880"/>
            <a:ext cx="8229600" cy="868680"/>
          </a:xfrm>
          <a:prstGeom prst="roundRect">
            <a:avLst>
              <a:gd name="adj" fmla="val 8421"/>
            </a:avLst>
          </a:prstGeom>
          <a:solidFill>
            <a:srgbClr val="FFF7ED"/>
          </a:solidFill>
          <a:ln w="12700">
            <a:solidFill>
              <a:srgbClr val="FED7AA"/>
            </a:solidFill>
            <a:prstDash val="solid"/>
          </a:ln>
          <a:effectLst>
            <a:outerShdw sx="100000" sy="100000" kx="0" ky="0" algn="bl" rotWithShape="0" blurRad="63500" dist="25400" dir="2700000">
              <a:srgbClr val="475569">
                <a:alpha val="10000"/>
              </a:srgbClr>
            </a:outerShdw>
          </a:effectLst>
        </p:spPr>
      </p:sp>
      <p:pic>
        <p:nvPicPr>
          <p:cNvPr id="15" name="Image 3" descr="preencoded.png">    </p:cNvPr>
          <p:cNvPicPr>
            <a:picLocks noChangeAspect="1"/>
          </p:cNvPicPr>
          <p:nvPr/>
        </p:nvPicPr>
        <p:blipFill>
          <a:blip r:embed="rId4"/>
          <a:stretch>
            <a:fillRect/>
          </a:stretch>
        </p:blipFill>
        <p:spPr>
          <a:xfrm>
            <a:off x="676656" y="3822192"/>
            <a:ext cx="457200" cy="457200"/>
          </a:xfrm>
          <a:prstGeom prst="rect">
            <a:avLst/>
          </a:prstGeom>
        </p:spPr>
      </p:pic>
      <p:sp>
        <p:nvSpPr>
          <p:cNvPr id="16" name="Text 10"/>
          <p:cNvSpPr/>
          <p:nvPr/>
        </p:nvSpPr>
        <p:spPr>
          <a:xfrm>
            <a:off x="1280160" y="3611880"/>
            <a:ext cx="7223760" cy="868680"/>
          </a:xfrm>
          <a:prstGeom prst="rect">
            <a:avLst/>
          </a:prstGeom>
          <a:noFill/>
          <a:ln/>
        </p:spPr>
        <p:txBody>
          <a:bodyPr wrap="square" lIns="0" tIns="0" rIns="0" bIns="0" rtlCol="0" anchor="ctr"/>
          <a:lstStyle/>
          <a:p>
            <a:pPr indent="0" marL="0">
              <a:buNone/>
            </a:pPr>
            <a:r>
              <a:rPr lang="en-US" sz="1200" b="1" dirty="0">
                <a:solidFill>
                  <a:srgbClr val="C2410C"/>
                </a:solidFill>
                <a:latin typeface="Calibri" pitchFamily="34" charset="0"/>
                <a:ea typeface="Calibri" pitchFamily="34" charset="-122"/>
                <a:cs typeface="Calibri" pitchFamily="34" charset="-120"/>
              </a:rPr>
              <a:t>Scanner gate:  </a:t>
            </a:r>
            <a:pPr indent="0" marL="0">
              <a:buNone/>
            </a:pPr>
            <a:r>
              <a:rPr lang="en-US" sz="1200" dirty="0">
                <a:solidFill>
                  <a:srgbClr val="7C2D12"/>
                </a:solidFill>
                <a:latin typeface="Calibri" pitchFamily="34" charset="0"/>
                <a:ea typeface="Calibri" pitchFamily="34" charset="-122"/>
                <a:cs typeface="Calibri" pitchFamily="34" charset="-120"/>
              </a:rPr>
              <a:t>on push, Trivy scans every layer → policy blocks pulling images with critical CVEs.</a:t>
            </a:r>
            <a:endParaRPr lang="en-US" sz="1200" dirty="0"/>
          </a:p>
        </p:txBody>
      </p:sp>
      <p:sp>
        <p:nvSpPr>
          <p:cNvPr id="17" name="Text 11"/>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18" name="Text 12"/>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Registries</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6126480" y="576072"/>
            <a:ext cx="365760" cy="347472"/>
          </a:xfrm>
          <a:prstGeom prst="roundRect">
            <a:avLst>
              <a:gd name="adj" fmla="val 10526"/>
            </a:avLst>
          </a:prstGeom>
          <a:solidFill>
            <a:srgbClr val="2496ED">
              <a:alpha val="72000"/>
            </a:srgbClr>
          </a:solidFill>
          <a:ln/>
        </p:spPr>
      </p:sp>
      <p:sp>
        <p:nvSpPr>
          <p:cNvPr id="3" name="Shape 1"/>
          <p:cNvSpPr/>
          <p:nvPr/>
        </p:nvSpPr>
        <p:spPr>
          <a:xfrm>
            <a:off x="6181344" y="502920"/>
            <a:ext cx="256032" cy="82296"/>
          </a:xfrm>
          <a:prstGeom prst="rect">
            <a:avLst/>
          </a:prstGeom>
          <a:solidFill>
            <a:srgbClr val="2496ED">
              <a:alpha val="72000"/>
            </a:srgbClr>
          </a:solidFill>
          <a:ln/>
        </p:spPr>
      </p:sp>
      <p:sp>
        <p:nvSpPr>
          <p:cNvPr id="4" name="Shape 2"/>
          <p:cNvSpPr/>
          <p:nvPr/>
        </p:nvSpPr>
        <p:spPr>
          <a:xfrm>
            <a:off x="6583680" y="576072"/>
            <a:ext cx="365760" cy="347472"/>
          </a:xfrm>
          <a:prstGeom prst="roundRect">
            <a:avLst>
              <a:gd name="adj" fmla="val 10526"/>
            </a:avLst>
          </a:prstGeom>
          <a:solidFill>
            <a:srgbClr val="2496ED">
              <a:alpha val="63000"/>
            </a:srgbClr>
          </a:solidFill>
          <a:ln/>
        </p:spPr>
      </p:sp>
      <p:sp>
        <p:nvSpPr>
          <p:cNvPr id="5" name="Shape 3"/>
          <p:cNvSpPr/>
          <p:nvPr/>
        </p:nvSpPr>
        <p:spPr>
          <a:xfrm>
            <a:off x="6638544" y="502920"/>
            <a:ext cx="256032" cy="82296"/>
          </a:xfrm>
          <a:prstGeom prst="rect">
            <a:avLst/>
          </a:prstGeom>
          <a:solidFill>
            <a:srgbClr val="2496ED">
              <a:alpha val="63000"/>
            </a:srgbClr>
          </a:solidFill>
          <a:ln/>
        </p:spPr>
      </p:sp>
      <p:sp>
        <p:nvSpPr>
          <p:cNvPr id="6" name="Shape 4"/>
          <p:cNvSpPr/>
          <p:nvPr/>
        </p:nvSpPr>
        <p:spPr>
          <a:xfrm>
            <a:off x="7040880" y="576072"/>
            <a:ext cx="365760" cy="347472"/>
          </a:xfrm>
          <a:prstGeom prst="roundRect">
            <a:avLst>
              <a:gd name="adj" fmla="val 10526"/>
            </a:avLst>
          </a:prstGeom>
          <a:solidFill>
            <a:srgbClr val="2496ED">
              <a:alpha val="54000"/>
            </a:srgbClr>
          </a:solidFill>
          <a:ln/>
        </p:spPr>
      </p:sp>
      <p:sp>
        <p:nvSpPr>
          <p:cNvPr id="7" name="Shape 5"/>
          <p:cNvSpPr/>
          <p:nvPr/>
        </p:nvSpPr>
        <p:spPr>
          <a:xfrm>
            <a:off x="7095744" y="502920"/>
            <a:ext cx="256032" cy="82296"/>
          </a:xfrm>
          <a:prstGeom prst="rect">
            <a:avLst/>
          </a:prstGeom>
          <a:solidFill>
            <a:srgbClr val="2496ED">
              <a:alpha val="54000"/>
            </a:srgbClr>
          </a:solidFill>
          <a:ln/>
        </p:spPr>
      </p:sp>
      <p:sp>
        <p:nvSpPr>
          <p:cNvPr id="8" name="Shape 6"/>
          <p:cNvSpPr/>
          <p:nvPr/>
        </p:nvSpPr>
        <p:spPr>
          <a:xfrm>
            <a:off x="7498080" y="576072"/>
            <a:ext cx="365760" cy="347472"/>
          </a:xfrm>
          <a:prstGeom prst="roundRect">
            <a:avLst>
              <a:gd name="adj" fmla="val 10526"/>
            </a:avLst>
          </a:prstGeom>
          <a:solidFill>
            <a:srgbClr val="2496ED">
              <a:alpha val="45000"/>
            </a:srgbClr>
          </a:solidFill>
          <a:ln/>
        </p:spPr>
      </p:sp>
      <p:sp>
        <p:nvSpPr>
          <p:cNvPr id="9" name="Shape 7"/>
          <p:cNvSpPr/>
          <p:nvPr/>
        </p:nvSpPr>
        <p:spPr>
          <a:xfrm>
            <a:off x="7552944" y="502920"/>
            <a:ext cx="256032" cy="82296"/>
          </a:xfrm>
          <a:prstGeom prst="rect">
            <a:avLst/>
          </a:prstGeom>
          <a:solidFill>
            <a:srgbClr val="2496ED">
              <a:alpha val="45000"/>
            </a:srgbClr>
          </a:solidFill>
          <a:ln/>
        </p:spPr>
      </p:sp>
      <p:sp>
        <p:nvSpPr>
          <p:cNvPr id="10" name="Shape 8"/>
          <p:cNvSpPr/>
          <p:nvPr/>
        </p:nvSpPr>
        <p:spPr>
          <a:xfrm>
            <a:off x="7955280" y="576072"/>
            <a:ext cx="365760" cy="347472"/>
          </a:xfrm>
          <a:prstGeom prst="roundRect">
            <a:avLst>
              <a:gd name="adj" fmla="val 10526"/>
            </a:avLst>
          </a:prstGeom>
          <a:solidFill>
            <a:srgbClr val="2496ED">
              <a:alpha val="36000"/>
            </a:srgbClr>
          </a:solidFill>
          <a:ln/>
        </p:spPr>
      </p:sp>
      <p:sp>
        <p:nvSpPr>
          <p:cNvPr id="11" name="Shape 9"/>
          <p:cNvSpPr/>
          <p:nvPr/>
        </p:nvSpPr>
        <p:spPr>
          <a:xfrm>
            <a:off x="8010144" y="502920"/>
            <a:ext cx="256032" cy="82296"/>
          </a:xfrm>
          <a:prstGeom prst="rect">
            <a:avLst/>
          </a:prstGeom>
          <a:solidFill>
            <a:srgbClr val="2496ED">
              <a:alpha val="36000"/>
            </a:srgbClr>
          </a:solidFill>
          <a:ln/>
        </p:spPr>
      </p:sp>
      <p:sp>
        <p:nvSpPr>
          <p:cNvPr id="12" name="Shape 10"/>
          <p:cNvSpPr/>
          <p:nvPr/>
        </p:nvSpPr>
        <p:spPr>
          <a:xfrm>
            <a:off x="8412480" y="576072"/>
            <a:ext cx="365760" cy="347472"/>
          </a:xfrm>
          <a:prstGeom prst="roundRect">
            <a:avLst>
              <a:gd name="adj" fmla="val 10526"/>
            </a:avLst>
          </a:prstGeom>
          <a:solidFill>
            <a:srgbClr val="2496ED">
              <a:alpha val="27000"/>
            </a:srgbClr>
          </a:solidFill>
          <a:ln/>
        </p:spPr>
      </p:sp>
      <p:sp>
        <p:nvSpPr>
          <p:cNvPr id="13" name="Shape 11"/>
          <p:cNvSpPr/>
          <p:nvPr/>
        </p:nvSpPr>
        <p:spPr>
          <a:xfrm>
            <a:off x="8467344" y="502920"/>
            <a:ext cx="256032" cy="82296"/>
          </a:xfrm>
          <a:prstGeom prst="rect">
            <a:avLst/>
          </a:prstGeom>
          <a:solidFill>
            <a:srgbClr val="2496ED">
              <a:alpha val="27000"/>
            </a:srgbClr>
          </a:solidFill>
          <a:ln/>
        </p:spPr>
      </p:sp>
      <p:sp>
        <p:nvSpPr>
          <p:cNvPr id="14" name="Text 12"/>
          <p:cNvSpPr/>
          <p:nvPr/>
        </p:nvSpPr>
        <p:spPr>
          <a:xfrm>
            <a:off x="640080" y="1627632"/>
            <a:ext cx="4572000" cy="365760"/>
          </a:xfrm>
          <a:prstGeom prst="rect">
            <a:avLst/>
          </a:prstGeom>
          <a:noFill/>
          <a:ln/>
        </p:spPr>
        <p:txBody>
          <a:bodyPr wrap="square" lIns="0" tIns="0" rIns="0" bIns="0" rtlCol="0" anchor="ctr"/>
          <a:lstStyle/>
          <a:p>
            <a:pPr indent="0" marL="0">
              <a:buNone/>
            </a:pPr>
            <a:r>
              <a:rPr lang="en-US" sz="1500" b="1" spc="300" kern="0" dirty="0">
                <a:solidFill>
                  <a:srgbClr val="2496ED"/>
                </a:solidFill>
                <a:latin typeface="Calibri" pitchFamily="34" charset="0"/>
                <a:ea typeface="Calibri" pitchFamily="34" charset="-122"/>
                <a:cs typeface="Calibri" pitchFamily="34" charset="-120"/>
              </a:rPr>
              <a:t>PART 6</a:t>
            </a:r>
            <a:endParaRPr lang="en-US" sz="1500" dirty="0"/>
          </a:p>
        </p:txBody>
      </p:sp>
      <p:sp>
        <p:nvSpPr>
          <p:cNvPr id="15" name="Text 13"/>
          <p:cNvSpPr/>
          <p:nvPr/>
        </p:nvSpPr>
        <p:spPr>
          <a:xfrm>
            <a:off x="603504" y="1993392"/>
            <a:ext cx="6400800" cy="1097280"/>
          </a:xfrm>
          <a:prstGeom prst="rect">
            <a:avLst/>
          </a:prstGeom>
          <a:noFill/>
          <a:ln/>
        </p:spPr>
        <p:txBody>
          <a:bodyPr wrap="square" lIns="0" tIns="0" rIns="0" bIns="0" rtlCol="0" anchor="t"/>
          <a:lstStyle/>
          <a:p>
            <a:pPr indent="0" marL="0">
              <a:buNone/>
            </a:pPr>
            <a:r>
              <a:rPr lang="en-US" sz="4000" b="1" dirty="0">
                <a:solidFill>
                  <a:srgbClr val="FFFFFF"/>
                </a:solidFill>
                <a:latin typeface="Bookman Old Style" pitchFamily="34" charset="0"/>
                <a:ea typeface="Bookman Old Style" pitchFamily="34" charset="-122"/>
                <a:cs typeface="Bookman Old Style" pitchFamily="34" charset="-120"/>
              </a:rPr>
              <a:t>Compose, CI/CD &amp; Orchestration</a:t>
            </a:r>
            <a:endParaRPr lang="en-US" sz="4000" dirty="0"/>
          </a:p>
        </p:txBody>
      </p:sp>
      <p:sp>
        <p:nvSpPr>
          <p:cNvPr id="16" name="Text 14"/>
          <p:cNvSpPr/>
          <p:nvPr/>
        </p:nvSpPr>
        <p:spPr>
          <a:xfrm>
            <a:off x="640080" y="3127248"/>
            <a:ext cx="6035040" cy="731520"/>
          </a:xfrm>
          <a:prstGeom prst="rect">
            <a:avLst/>
          </a:prstGeom>
          <a:noFill/>
          <a:ln/>
        </p:spPr>
        <p:txBody>
          <a:bodyPr wrap="square" lIns="0" tIns="0" rIns="0" bIns="0" rtlCol="0" anchor="t"/>
          <a:lstStyle/>
          <a:p>
            <a:pPr indent="0" marL="0">
              <a:buNone/>
            </a:pPr>
            <a:r>
              <a:rPr lang="en-US" sz="1350" i="1" dirty="0">
                <a:solidFill>
                  <a:srgbClr val="94A3B8"/>
                </a:solidFill>
                <a:latin typeface="Calibri" pitchFamily="34" charset="0"/>
                <a:ea typeface="Calibri" pitchFamily="34" charset="-122"/>
                <a:cs typeface="Calibri" pitchFamily="34" charset="-120"/>
              </a:rPr>
              <a:t>From one container to a whole stack, into a pipeline, and out across a cluster.</a:t>
            </a:r>
            <a:endParaRPr lang="en-US" sz="1350" dirty="0"/>
          </a:p>
        </p:txBody>
      </p:sp>
      <p:sp>
        <p:nvSpPr>
          <p:cNvPr id="17" name="Shape 15"/>
          <p:cNvSpPr/>
          <p:nvPr/>
        </p:nvSpPr>
        <p:spPr>
          <a:xfrm>
            <a:off x="7086600" y="1783080"/>
            <a:ext cx="1417320" cy="1417320"/>
          </a:xfrm>
          <a:prstGeom prst="roundRect">
            <a:avLst>
              <a:gd name="adj" fmla="val 10323"/>
            </a:avLst>
          </a:prstGeom>
          <a:solidFill>
            <a:srgbClr val="1E293B"/>
          </a:solidFill>
          <a:ln w="12700">
            <a:solidFill>
              <a:srgbClr val="334155"/>
            </a:solidFill>
            <a:prstDash val="solid"/>
          </a:ln>
          <a:effectLst>
            <a:outerShdw sx="100000" sy="100000" kx="0" ky="0" algn="bl" rotWithShape="0" blurRad="152400" dist="50800" dir="2700000">
              <a:srgbClr val="475569">
                <a:alpha val="30000"/>
              </a:srgbClr>
            </a:outerShdw>
          </a:effectLst>
        </p:spPr>
      </p:sp>
      <p:pic>
        <p:nvPicPr>
          <p:cNvPr id="18" name="Image 0" descr="preencoded.png">    </p:cNvPr>
          <p:cNvPicPr>
            <a:picLocks noChangeAspect="1"/>
          </p:cNvPicPr>
          <p:nvPr/>
        </p:nvPicPr>
        <p:blipFill>
          <a:blip r:embed="rId1"/>
          <a:stretch>
            <a:fillRect/>
          </a:stretch>
        </p:blipFill>
        <p:spPr>
          <a:xfrm>
            <a:off x="7424928" y="2121408"/>
            <a:ext cx="740664" cy="740664"/>
          </a:xfrm>
          <a:prstGeom prst="rect">
            <a:avLst/>
          </a:prstGeom>
        </p:spPr>
      </p:pic>
      <p:sp>
        <p:nvSpPr>
          <p:cNvPr id="19" name="Text 16"/>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20" name="Text 17"/>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Part 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FF7ED"/>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F97316"/>
                </a:solidFill>
                <a:latin typeface="Calibri" pitchFamily="34" charset="0"/>
                <a:ea typeface="Calibri" pitchFamily="34" charset="-122"/>
                <a:cs typeface="Calibri" pitchFamily="34" charset="-120"/>
              </a:rPr>
              <a:t>THE PROBLEM</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Real apps are many containers</a:t>
            </a:r>
            <a:endParaRPr lang="en-US" sz="2500" dirty="0"/>
          </a:p>
        </p:txBody>
      </p:sp>
      <p:sp>
        <p:nvSpPr>
          <p:cNvPr id="6" name="Shape 3"/>
          <p:cNvSpPr/>
          <p:nvPr/>
        </p:nvSpPr>
        <p:spPr>
          <a:xfrm>
            <a:off x="457200" y="1234440"/>
            <a:ext cx="3977640" cy="2697480"/>
          </a:xfrm>
          <a:prstGeom prst="roundRect">
            <a:avLst>
              <a:gd name="adj" fmla="val 2712"/>
            </a:avLst>
          </a:prstGeom>
          <a:solidFill>
            <a:srgbClr val="FFF7ED"/>
          </a:solidFill>
          <a:ln w="12700">
            <a:solidFill>
              <a:srgbClr val="FED7AA"/>
            </a:solidFill>
            <a:prstDash val="solid"/>
          </a:ln>
          <a:effectLst>
            <a:outerShdw sx="100000" sy="100000" kx="0" ky="0" algn="bl" rotWithShape="0" blurRad="76200" dist="25400" dir="2700000">
              <a:srgbClr val="475569">
                <a:alpha val="10000"/>
              </a:srgbClr>
            </a:outerShdw>
          </a:effectLst>
        </p:spPr>
      </p:sp>
      <p:pic>
        <p:nvPicPr>
          <p:cNvPr id="7" name="Image 1" descr="preencoded.png">    </p:cNvPr>
          <p:cNvPicPr>
            <a:picLocks noChangeAspect="1"/>
          </p:cNvPicPr>
          <p:nvPr/>
        </p:nvPicPr>
        <p:blipFill>
          <a:blip r:embed="rId2"/>
          <a:stretch>
            <a:fillRect/>
          </a:stretch>
        </p:blipFill>
        <p:spPr>
          <a:xfrm>
            <a:off x="694944" y="1463040"/>
            <a:ext cx="310896" cy="310896"/>
          </a:xfrm>
          <a:prstGeom prst="rect">
            <a:avLst/>
          </a:prstGeom>
        </p:spPr>
      </p:pic>
      <p:sp>
        <p:nvSpPr>
          <p:cNvPr id="8" name="Text 4"/>
          <p:cNvSpPr/>
          <p:nvPr/>
        </p:nvSpPr>
        <p:spPr>
          <a:xfrm>
            <a:off x="1115568" y="1463040"/>
            <a:ext cx="3154680" cy="310896"/>
          </a:xfrm>
          <a:prstGeom prst="rect">
            <a:avLst/>
          </a:prstGeom>
          <a:noFill/>
          <a:ln/>
        </p:spPr>
        <p:txBody>
          <a:bodyPr wrap="square" lIns="0" tIns="0" rIns="0" bIns="0" rtlCol="0" anchor="ctr"/>
          <a:lstStyle/>
          <a:p>
            <a:pPr indent="0" marL="0">
              <a:buNone/>
            </a:pPr>
            <a:r>
              <a:rPr lang="en-US" sz="1200" b="1" spc="150" kern="0" dirty="0">
                <a:solidFill>
                  <a:srgbClr val="C2410C"/>
                </a:solidFill>
                <a:latin typeface="Calibri" pitchFamily="34" charset="0"/>
                <a:ea typeface="Calibri" pitchFamily="34" charset="-122"/>
                <a:cs typeface="Calibri" pitchFamily="34" charset="-120"/>
              </a:rPr>
              <a:t>BY HAND IT'S PAINFUL</a:t>
            </a:r>
            <a:endParaRPr lang="en-US" sz="1200" dirty="0"/>
          </a:p>
        </p:txBody>
      </p:sp>
      <p:sp>
        <p:nvSpPr>
          <p:cNvPr id="9" name="Text 5"/>
          <p:cNvSpPr/>
          <p:nvPr/>
        </p:nvSpPr>
        <p:spPr>
          <a:xfrm>
            <a:off x="676656" y="1783080"/>
            <a:ext cx="3566160" cy="2103120"/>
          </a:xfrm>
          <a:prstGeom prst="rect">
            <a:avLst/>
          </a:prstGeom>
          <a:noFill/>
          <a:ln/>
        </p:spPr>
        <p:txBody>
          <a:bodyPr wrap="square" lIns="0" tIns="0" rIns="0" bIns="0" rtlCol="0" anchor="t"/>
          <a:lstStyle/>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A real app = web + API + database + cache + queue</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Long docker run commands, right order, right network</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Easy to forget a flag; impossible to hand off cleanly</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No single source of truth for the whole stack</a:t>
            </a:r>
            <a:endParaRPr lang="en-US" sz="1150" dirty="0"/>
          </a:p>
        </p:txBody>
      </p:sp>
      <p:sp>
        <p:nvSpPr>
          <p:cNvPr id="10" name="Shape 6"/>
          <p:cNvSpPr/>
          <p:nvPr/>
        </p:nvSpPr>
        <p:spPr>
          <a:xfrm>
            <a:off x="4709160" y="1234440"/>
            <a:ext cx="3977640" cy="2697480"/>
          </a:xfrm>
          <a:prstGeom prst="roundRect">
            <a:avLst>
              <a:gd name="adj" fmla="val 2712"/>
            </a:avLst>
          </a:prstGeom>
          <a:solidFill>
            <a:srgbClr val="F0FDFA"/>
          </a:solidFill>
          <a:ln w="12700">
            <a:solidFill>
              <a:srgbClr val="99F6E4"/>
            </a:solidFill>
            <a:prstDash val="solid"/>
          </a:ln>
          <a:effectLst>
            <a:outerShdw sx="100000" sy="100000" kx="0" ky="0" algn="bl" rotWithShape="0" blurRad="76200" dist="25400" dir="2700000">
              <a:srgbClr val="475569">
                <a:alpha val="10000"/>
              </a:srgbClr>
            </a:outerShdw>
          </a:effectLst>
        </p:spPr>
      </p:sp>
      <p:pic>
        <p:nvPicPr>
          <p:cNvPr id="11" name="Image 2" descr="preencoded.png">    </p:cNvPr>
          <p:cNvPicPr>
            <a:picLocks noChangeAspect="1"/>
          </p:cNvPicPr>
          <p:nvPr/>
        </p:nvPicPr>
        <p:blipFill>
          <a:blip r:embed="rId3"/>
          <a:stretch>
            <a:fillRect/>
          </a:stretch>
        </p:blipFill>
        <p:spPr>
          <a:xfrm>
            <a:off x="4946904" y="1463040"/>
            <a:ext cx="310896" cy="310896"/>
          </a:xfrm>
          <a:prstGeom prst="rect">
            <a:avLst/>
          </a:prstGeom>
        </p:spPr>
      </p:pic>
      <p:sp>
        <p:nvSpPr>
          <p:cNvPr id="12" name="Text 7"/>
          <p:cNvSpPr/>
          <p:nvPr/>
        </p:nvSpPr>
        <p:spPr>
          <a:xfrm>
            <a:off x="5367528" y="1463040"/>
            <a:ext cx="3154680" cy="310896"/>
          </a:xfrm>
          <a:prstGeom prst="rect">
            <a:avLst/>
          </a:prstGeom>
          <a:noFill/>
          <a:ln/>
        </p:spPr>
        <p:txBody>
          <a:bodyPr wrap="square" lIns="0" tIns="0" rIns="0" bIns="0" rtlCol="0" anchor="ctr"/>
          <a:lstStyle/>
          <a:p>
            <a:pPr indent="0" marL="0">
              <a:buNone/>
            </a:pPr>
            <a:r>
              <a:rPr lang="en-US" sz="1200" b="1" spc="150" kern="0" dirty="0">
                <a:solidFill>
                  <a:srgbClr val="0F766E"/>
                </a:solidFill>
                <a:latin typeface="Calibri" pitchFamily="34" charset="0"/>
                <a:ea typeface="Calibri" pitchFamily="34" charset="-122"/>
                <a:cs typeface="Calibri" pitchFamily="34" charset="-120"/>
              </a:rPr>
              <a:t>DECLARE THE WHOLE STACK</a:t>
            </a:r>
            <a:endParaRPr lang="en-US" sz="1200" dirty="0"/>
          </a:p>
        </p:txBody>
      </p:sp>
      <p:sp>
        <p:nvSpPr>
          <p:cNvPr id="13" name="Text 8"/>
          <p:cNvSpPr/>
          <p:nvPr/>
        </p:nvSpPr>
        <p:spPr>
          <a:xfrm>
            <a:off x="4928616" y="1783080"/>
            <a:ext cx="3566160" cy="2103120"/>
          </a:xfrm>
          <a:prstGeom prst="rect">
            <a:avLst/>
          </a:prstGeom>
          <a:noFill/>
          <a:ln/>
        </p:spPr>
        <p:txBody>
          <a:bodyPr wrap="square" lIns="0" tIns="0" rIns="0" bIns="0" rtlCol="0" anchor="t"/>
          <a:lstStyle/>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One YAML file describes every service, network &amp; volume</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docker compose up brings the entire app up together</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Versioned in git — the stack is reproducible</a:t>
            </a:r>
            <a:endParaRPr lang="en-US" sz="1150" dirty="0"/>
          </a:p>
        </p:txBody>
      </p:sp>
      <p:sp>
        <p:nvSpPr>
          <p:cNvPr id="14" name="Shape 9"/>
          <p:cNvSpPr/>
          <p:nvPr/>
        </p:nvSpPr>
        <p:spPr>
          <a:xfrm>
            <a:off x="457200" y="4114800"/>
            <a:ext cx="8229600" cy="475488"/>
          </a:xfrm>
          <a:prstGeom prst="roundRect">
            <a:avLst>
              <a:gd name="adj" fmla="val 15385"/>
            </a:avLst>
          </a:prstGeom>
          <a:solidFill>
            <a:srgbClr val="0F766E"/>
          </a:solidFill>
          <a:ln/>
          <a:effectLst>
            <a:outerShdw sx="100000" sy="100000" kx="0" ky="0" algn="bl" rotWithShape="0" blurRad="76200" dist="25400" dir="2700000">
              <a:srgbClr val="475569">
                <a:alpha val="12000"/>
              </a:srgbClr>
            </a:outerShdw>
          </a:effectLst>
        </p:spPr>
      </p:sp>
      <p:sp>
        <p:nvSpPr>
          <p:cNvPr id="15" name="Text 10"/>
          <p:cNvSpPr/>
          <p:nvPr/>
        </p:nvSpPr>
        <p:spPr>
          <a:xfrm>
            <a:off x="640080" y="4114800"/>
            <a:ext cx="7863840" cy="475488"/>
          </a:xfrm>
          <a:prstGeom prst="rect">
            <a:avLst/>
          </a:prstGeom>
          <a:noFill/>
          <a:ln/>
        </p:spPr>
        <p:txBody>
          <a:bodyPr wrap="square" lIns="0" tIns="0" rIns="0" bIns="0" rtlCol="0" anchor="ctr"/>
          <a:lstStyle/>
          <a:p>
            <a:pPr algn="ctr" indent="0" marL="0">
              <a:buNone/>
            </a:pPr>
            <a:r>
              <a:rPr lang="en-US" sz="1250" b="1" i="1" dirty="0">
                <a:solidFill>
                  <a:srgbClr val="FFFFFF"/>
                </a:solidFill>
                <a:latin typeface="Calibri" pitchFamily="34" charset="0"/>
                <a:ea typeface="Calibri" pitchFamily="34" charset="-122"/>
                <a:cs typeface="Calibri" pitchFamily="34" charset="-120"/>
              </a:rPr>
              <a:t>One file. One command. The whole application.</a:t>
            </a:r>
            <a:endParaRPr lang="en-US" sz="1250" dirty="0"/>
          </a:p>
        </p:txBody>
      </p:sp>
      <p:sp>
        <p:nvSpPr>
          <p:cNvPr id="16" name="Text 11"/>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17" name="Text 12"/>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Compose, CI/CD &amp; Orchestration</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DECLARATIVE STACKS</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A compose file, explained</a:t>
            </a:r>
            <a:endParaRPr lang="en-US" sz="2500" dirty="0"/>
          </a:p>
        </p:txBody>
      </p:sp>
      <p:sp>
        <p:nvSpPr>
          <p:cNvPr id="6" name="Shape 3"/>
          <p:cNvSpPr/>
          <p:nvPr/>
        </p:nvSpPr>
        <p:spPr>
          <a:xfrm>
            <a:off x="457200" y="1234440"/>
            <a:ext cx="4937760" cy="3108960"/>
          </a:xfrm>
          <a:prstGeom prst="roundRect">
            <a:avLst>
              <a:gd name="adj" fmla="val 2059"/>
            </a:avLst>
          </a:prstGeom>
          <a:solidFill>
            <a:srgbClr val="1E293B"/>
          </a:solidFill>
          <a:ln w="12700">
            <a:solidFill>
              <a:srgbClr val="334155"/>
            </a:solidFill>
            <a:prstDash val="solid"/>
          </a:ln>
          <a:effectLst>
            <a:outerShdw sx="100000" sy="100000" kx="0" ky="0" algn="bl" rotWithShape="0" blurRad="114300" dist="38100" dir="2700000">
              <a:srgbClr val="475569">
                <a:alpha val="24000"/>
              </a:srgbClr>
            </a:outerShdw>
          </a:effectLst>
        </p:spPr>
      </p:sp>
      <p:sp>
        <p:nvSpPr>
          <p:cNvPr id="7" name="Shape 4"/>
          <p:cNvSpPr/>
          <p:nvPr/>
        </p:nvSpPr>
        <p:spPr>
          <a:xfrm>
            <a:off x="658368" y="1417320"/>
            <a:ext cx="91440" cy="91440"/>
          </a:xfrm>
          <a:prstGeom prst="ellipse">
            <a:avLst/>
          </a:prstGeom>
          <a:solidFill>
            <a:srgbClr val="EF4444"/>
          </a:solidFill>
          <a:ln/>
        </p:spPr>
      </p:sp>
      <p:sp>
        <p:nvSpPr>
          <p:cNvPr id="8" name="Shape 5"/>
          <p:cNvSpPr/>
          <p:nvPr/>
        </p:nvSpPr>
        <p:spPr>
          <a:xfrm>
            <a:off x="804672" y="1417320"/>
            <a:ext cx="91440" cy="91440"/>
          </a:xfrm>
          <a:prstGeom prst="ellipse">
            <a:avLst/>
          </a:prstGeom>
          <a:solidFill>
            <a:srgbClr val="F59E0B"/>
          </a:solidFill>
          <a:ln/>
        </p:spPr>
      </p:sp>
      <p:sp>
        <p:nvSpPr>
          <p:cNvPr id="9" name="Shape 6"/>
          <p:cNvSpPr/>
          <p:nvPr/>
        </p:nvSpPr>
        <p:spPr>
          <a:xfrm>
            <a:off x="950976" y="1417320"/>
            <a:ext cx="91440" cy="91440"/>
          </a:xfrm>
          <a:prstGeom prst="ellipse">
            <a:avLst/>
          </a:prstGeom>
          <a:solidFill>
            <a:srgbClr val="22C55E"/>
          </a:solidFill>
          <a:ln/>
        </p:spPr>
      </p:sp>
      <p:sp>
        <p:nvSpPr>
          <p:cNvPr id="10" name="Text 7"/>
          <p:cNvSpPr/>
          <p:nvPr/>
        </p:nvSpPr>
        <p:spPr>
          <a:xfrm>
            <a:off x="1170432" y="1353312"/>
            <a:ext cx="4023360" cy="20116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compose.yaml</a:t>
            </a:r>
            <a:endParaRPr lang="en-US" sz="900" dirty="0"/>
          </a:p>
        </p:txBody>
      </p:sp>
      <p:sp>
        <p:nvSpPr>
          <p:cNvPr id="11" name="Text 8"/>
          <p:cNvSpPr/>
          <p:nvPr/>
        </p:nvSpPr>
        <p:spPr>
          <a:xfrm>
            <a:off x="676656" y="1673352"/>
            <a:ext cx="4498848" cy="2560320"/>
          </a:xfrm>
          <a:prstGeom prst="rect">
            <a:avLst/>
          </a:prstGeom>
          <a:noFill/>
          <a:ln/>
        </p:spPr>
        <p:txBody>
          <a:bodyPr wrap="square" lIns="0" tIns="0" rIns="0" bIns="0" rtlCol="0" anchor="t"/>
          <a:lstStyle/>
          <a:p>
            <a:pPr algn="l" indent="0" marL="0">
              <a:lnSpc>
                <a:spcPts val="1137"/>
              </a:lnSpc>
              <a:buNone/>
            </a:pPr>
            <a:r>
              <a:rPr lang="en-US" sz="980" b="1" dirty="0">
                <a:solidFill>
                  <a:srgbClr val="38BDF8"/>
                </a:solidFill>
                <a:latin typeface="Courier New" pitchFamily="34" charset="0"/>
                <a:ea typeface="Courier New" pitchFamily="34" charset="-122"/>
                <a:cs typeface="Courier New" pitchFamily="34" charset="-120"/>
              </a:rPr>
              <a:t>services:</a:t>
            </a:r>
            <a:endParaRPr lang="en-US" sz="980" dirty="0"/>
          </a:p>
          <a:p>
            <a:pPr algn="l" indent="0" marL="0">
              <a:lnSpc>
                <a:spcPts val="1137"/>
              </a:lnSpc>
              <a:buNone/>
            </a:pPr>
            <a:r>
              <a:rPr lang="en-US" sz="980" dirty="0">
                <a:solidFill>
                  <a:srgbClr val="FFFFFF"/>
                </a:solidFill>
                <a:latin typeface="Courier New" pitchFamily="34" charset="0"/>
                <a:ea typeface="Courier New" pitchFamily="34" charset="-122"/>
                <a:cs typeface="Courier New" pitchFamily="34" charset="-120"/>
              </a:rPr>
              <a:t>  web:</a:t>
            </a:r>
            <a:endParaRPr lang="en-US" sz="980" dirty="0"/>
          </a:p>
          <a:p>
            <a:pPr algn="l" indent="0" marL="0">
              <a:lnSpc>
                <a:spcPts val="1137"/>
              </a:lnSpc>
              <a:buNone/>
            </a:pPr>
            <a:r>
              <a:rPr lang="en-US" sz="980" dirty="0">
                <a:solidFill>
                  <a:srgbClr val="FFFFFF"/>
                </a:solidFill>
                <a:latin typeface="Courier New" pitchFamily="34" charset="0"/>
                <a:ea typeface="Courier New" pitchFamily="34" charset="-122"/>
                <a:cs typeface="Courier New" pitchFamily="34" charset="-120"/>
              </a:rPr>
              <a:t>    build: .</a:t>
            </a:r>
            <a:endParaRPr lang="en-US" sz="980" dirty="0"/>
          </a:p>
          <a:p>
            <a:pPr algn="l" indent="0" marL="0">
              <a:lnSpc>
                <a:spcPts val="1137"/>
              </a:lnSpc>
              <a:buNone/>
            </a:pPr>
            <a:r>
              <a:rPr lang="en-US" sz="980" dirty="0">
                <a:solidFill>
                  <a:srgbClr val="FFFFFF"/>
                </a:solidFill>
                <a:latin typeface="Courier New" pitchFamily="34" charset="0"/>
                <a:ea typeface="Courier New" pitchFamily="34" charset="-122"/>
                <a:cs typeface="Courier New" pitchFamily="34" charset="-120"/>
              </a:rPr>
              <a:t>    ports: </a:t>
            </a:r>
            <a:pPr algn="l" indent="0" marL="0">
              <a:lnSpc>
                <a:spcPts val="1137"/>
              </a:lnSpc>
              <a:buNone/>
            </a:pPr>
            <a:r>
              <a:rPr lang="en-US" sz="980" dirty="0">
                <a:solidFill>
                  <a:srgbClr val="34D399"/>
                </a:solidFill>
                <a:latin typeface="Courier New" pitchFamily="34" charset="0"/>
                <a:ea typeface="Courier New" pitchFamily="34" charset="-122"/>
                <a:cs typeface="Courier New" pitchFamily="34" charset="-120"/>
              </a:rPr>
              <a:t>["8080:80"]</a:t>
            </a:r>
            <a:endParaRPr lang="en-US" sz="980" dirty="0"/>
          </a:p>
          <a:p>
            <a:pPr algn="l" indent="0" marL="0">
              <a:lnSpc>
                <a:spcPts val="1137"/>
              </a:lnSpc>
              <a:buNone/>
            </a:pPr>
            <a:r>
              <a:rPr lang="en-US" sz="980" dirty="0">
                <a:solidFill>
                  <a:srgbClr val="FFFFFF"/>
                </a:solidFill>
                <a:latin typeface="Courier New" pitchFamily="34" charset="0"/>
                <a:ea typeface="Courier New" pitchFamily="34" charset="-122"/>
                <a:cs typeface="Courier New" pitchFamily="34" charset="-120"/>
              </a:rPr>
              <a:t>    depends_on: </a:t>
            </a:r>
            <a:pPr algn="l" indent="0" marL="0">
              <a:lnSpc>
                <a:spcPts val="1137"/>
              </a:lnSpc>
              <a:buNone/>
            </a:pPr>
            <a:r>
              <a:rPr lang="en-US" sz="980" dirty="0">
                <a:solidFill>
                  <a:srgbClr val="34D399"/>
                </a:solidFill>
                <a:latin typeface="Courier New" pitchFamily="34" charset="0"/>
                <a:ea typeface="Courier New" pitchFamily="34" charset="-122"/>
                <a:cs typeface="Courier New" pitchFamily="34" charset="-120"/>
              </a:rPr>
              <a:t>[db]</a:t>
            </a:r>
            <a:endParaRPr lang="en-US" sz="980" dirty="0"/>
          </a:p>
          <a:p>
            <a:pPr algn="l" indent="0" marL="0">
              <a:lnSpc>
                <a:spcPts val="1137"/>
              </a:lnSpc>
              <a:buNone/>
            </a:pPr>
            <a:r>
              <a:rPr lang="en-US" sz="980" dirty="0">
                <a:solidFill>
                  <a:srgbClr val="FFFFFF"/>
                </a:solidFill>
                <a:latin typeface="Courier New" pitchFamily="34" charset="0"/>
                <a:ea typeface="Courier New" pitchFamily="34" charset="-122"/>
                <a:cs typeface="Courier New" pitchFamily="34" charset="-120"/>
              </a:rPr>
              <a:t>  db:</a:t>
            </a:r>
            <a:endParaRPr lang="en-US" sz="980" dirty="0"/>
          </a:p>
          <a:p>
            <a:pPr algn="l" indent="0" marL="0">
              <a:lnSpc>
                <a:spcPts val="1137"/>
              </a:lnSpc>
              <a:buNone/>
            </a:pPr>
            <a:r>
              <a:rPr lang="en-US" sz="980" dirty="0">
                <a:solidFill>
                  <a:srgbClr val="FFFFFF"/>
                </a:solidFill>
                <a:latin typeface="Courier New" pitchFamily="34" charset="0"/>
                <a:ea typeface="Courier New" pitchFamily="34" charset="-122"/>
                <a:cs typeface="Courier New" pitchFamily="34" charset="-120"/>
              </a:rPr>
              <a:t>    image: postgres:16</a:t>
            </a:r>
            <a:endParaRPr lang="en-US" sz="980" dirty="0"/>
          </a:p>
          <a:p>
            <a:pPr algn="l" indent="0" marL="0">
              <a:lnSpc>
                <a:spcPts val="1137"/>
              </a:lnSpc>
              <a:buNone/>
            </a:pPr>
            <a:r>
              <a:rPr lang="en-US" sz="980" dirty="0">
                <a:solidFill>
                  <a:srgbClr val="FFFFFF"/>
                </a:solidFill>
                <a:latin typeface="Courier New" pitchFamily="34" charset="0"/>
                <a:ea typeface="Courier New" pitchFamily="34" charset="-122"/>
                <a:cs typeface="Courier New" pitchFamily="34" charset="-120"/>
              </a:rPr>
              <a:t>    environment: </a:t>
            </a:r>
            <a:pPr algn="l" indent="0" marL="0">
              <a:lnSpc>
                <a:spcPts val="1137"/>
              </a:lnSpc>
              <a:buNone/>
            </a:pPr>
            <a:r>
              <a:rPr lang="en-US" sz="980" dirty="0">
                <a:solidFill>
                  <a:srgbClr val="34D399"/>
                </a:solidFill>
                <a:latin typeface="Courier New" pitchFamily="34" charset="0"/>
                <a:ea typeface="Courier New" pitchFamily="34" charset="-122"/>
                <a:cs typeface="Courier New" pitchFamily="34" charset="-120"/>
              </a:rPr>
              <a:t>[POSTGRES_PASSWORD=secret]</a:t>
            </a:r>
            <a:endParaRPr lang="en-US" sz="980" dirty="0"/>
          </a:p>
          <a:p>
            <a:pPr algn="l" indent="0" marL="0">
              <a:lnSpc>
                <a:spcPts val="1137"/>
              </a:lnSpc>
              <a:buNone/>
            </a:pPr>
            <a:r>
              <a:rPr lang="en-US" sz="980" dirty="0">
                <a:solidFill>
                  <a:srgbClr val="FFFFFF"/>
                </a:solidFill>
                <a:latin typeface="Courier New" pitchFamily="34" charset="0"/>
                <a:ea typeface="Courier New" pitchFamily="34" charset="-122"/>
                <a:cs typeface="Courier New" pitchFamily="34" charset="-120"/>
              </a:rPr>
              <a:t>    volumes: </a:t>
            </a:r>
            <a:pPr algn="l" indent="0" marL="0">
              <a:lnSpc>
                <a:spcPts val="1137"/>
              </a:lnSpc>
              <a:buNone/>
            </a:pPr>
            <a:r>
              <a:rPr lang="en-US" sz="980" dirty="0">
                <a:solidFill>
                  <a:srgbClr val="34D399"/>
                </a:solidFill>
                <a:latin typeface="Courier New" pitchFamily="34" charset="0"/>
                <a:ea typeface="Courier New" pitchFamily="34" charset="-122"/>
                <a:cs typeface="Courier New" pitchFamily="34" charset="-120"/>
              </a:rPr>
              <a:t>[pgdata:/var/lib/postgresql/data]</a:t>
            </a:r>
            <a:endParaRPr lang="en-US" sz="980" dirty="0"/>
          </a:p>
          <a:p>
            <a:pPr algn="l" indent="0" marL="0">
              <a:lnSpc>
                <a:spcPts val="1137"/>
              </a:lnSpc>
              <a:buNone/>
            </a:pPr>
            <a:r>
              <a:rPr lang="en-US" sz="980" b="1" dirty="0">
                <a:solidFill>
                  <a:srgbClr val="38BDF8"/>
                </a:solidFill>
                <a:latin typeface="Courier New" pitchFamily="34" charset="0"/>
                <a:ea typeface="Courier New" pitchFamily="34" charset="-122"/>
                <a:cs typeface="Courier New" pitchFamily="34" charset="-120"/>
              </a:rPr>
              <a:t>volumes:</a:t>
            </a:r>
            <a:endParaRPr lang="en-US" sz="980" dirty="0"/>
          </a:p>
          <a:p>
            <a:pPr algn="l" indent="0" marL="0">
              <a:lnSpc>
                <a:spcPts val="1137"/>
              </a:lnSpc>
              <a:buNone/>
            </a:pPr>
            <a:r>
              <a:rPr lang="en-US" sz="980" dirty="0">
                <a:solidFill>
                  <a:srgbClr val="FFFFFF"/>
                </a:solidFill>
                <a:latin typeface="Courier New" pitchFamily="34" charset="0"/>
                <a:ea typeface="Courier New" pitchFamily="34" charset="-122"/>
                <a:cs typeface="Courier New" pitchFamily="34" charset="-120"/>
              </a:rPr>
              <a:t>  pgdata:</a:t>
            </a:r>
            <a:endParaRPr lang="en-US" sz="980" dirty="0"/>
          </a:p>
        </p:txBody>
      </p:sp>
      <p:sp>
        <p:nvSpPr>
          <p:cNvPr id="12" name="Text 9"/>
          <p:cNvSpPr/>
          <p:nvPr/>
        </p:nvSpPr>
        <p:spPr>
          <a:xfrm>
            <a:off x="5577840" y="1298448"/>
            <a:ext cx="3108960" cy="2011680"/>
          </a:xfrm>
          <a:prstGeom prst="rect">
            <a:avLst/>
          </a:prstGeom>
          <a:noFill/>
          <a:ln/>
        </p:spPr>
        <p:txBody>
          <a:bodyPr wrap="square" lIns="0" tIns="0" rIns="0" bIns="0" rtlCol="0" anchor="t"/>
          <a:lstStyle/>
          <a:p>
            <a:pPr algn="l" marL="190500" indent="-190500">
              <a:buSzPct val="100000"/>
              <a:buChar char="•"/>
            </a:pPr>
            <a:r>
              <a:rPr lang="en-US" sz="1060" b="1" dirty="0">
                <a:solidFill>
                  <a:srgbClr val="0F172A"/>
                </a:solidFill>
                <a:latin typeface="Calibri" pitchFamily="34" charset="0"/>
                <a:ea typeface="Calibri" pitchFamily="34" charset="-122"/>
                <a:cs typeface="Calibri" pitchFamily="34" charset="-120"/>
              </a:rPr>
              <a:t>services</a:t>
            </a:r>
            <a:pPr algn="l" indent="0" marL="0">
              <a:spcAft>
                <a:spcPts val="500"/>
              </a:spcAft>
              <a:buNone/>
            </a:pPr>
            <a:r>
              <a:rPr lang="en-US" sz="1060" dirty="0">
                <a:solidFill>
                  <a:srgbClr val="475569"/>
                </a:solidFill>
                <a:latin typeface="Calibri" pitchFamily="34" charset="0"/>
                <a:ea typeface="Calibri" pitchFamily="34" charset="-122"/>
                <a:cs typeface="Calibri" pitchFamily="34" charset="-120"/>
              </a:rPr>
              <a:t>  each container in the stack</a:t>
            </a:r>
            <a:endParaRPr lang="en-US" sz="1060" dirty="0"/>
          </a:p>
          <a:p>
            <a:pPr algn="l" marL="190500" indent="-190500">
              <a:buSzPct val="100000"/>
              <a:buChar char="•"/>
            </a:pPr>
            <a:r>
              <a:rPr lang="en-US" sz="1060" b="1" dirty="0">
                <a:solidFill>
                  <a:srgbClr val="0F172A"/>
                </a:solidFill>
                <a:latin typeface="Calibri" pitchFamily="34" charset="0"/>
                <a:ea typeface="Calibri" pitchFamily="34" charset="-122"/>
                <a:cs typeface="Calibri" pitchFamily="34" charset="-120"/>
              </a:rPr>
              <a:t>build / image</a:t>
            </a:r>
            <a:pPr algn="l" indent="0" marL="0">
              <a:spcAft>
                <a:spcPts val="500"/>
              </a:spcAft>
              <a:buNone/>
            </a:pPr>
            <a:r>
              <a:rPr lang="en-US" sz="1060" dirty="0">
                <a:solidFill>
                  <a:srgbClr val="475569"/>
                </a:solidFill>
                <a:latin typeface="Calibri" pitchFamily="34" charset="0"/>
                <a:ea typeface="Calibri" pitchFamily="34" charset="-122"/>
                <a:cs typeface="Calibri" pitchFamily="34" charset="-120"/>
              </a:rPr>
              <a:t>  from a Dockerfile or a pulled image</a:t>
            </a:r>
            <a:endParaRPr lang="en-US" sz="1060" dirty="0"/>
          </a:p>
          <a:p>
            <a:pPr algn="l" marL="190500" indent="-190500">
              <a:buSzPct val="100000"/>
              <a:buChar char="•"/>
            </a:pPr>
            <a:r>
              <a:rPr lang="en-US" sz="1060" b="1" dirty="0">
                <a:solidFill>
                  <a:srgbClr val="0F172A"/>
                </a:solidFill>
                <a:latin typeface="Calibri" pitchFamily="34" charset="0"/>
                <a:ea typeface="Calibri" pitchFamily="34" charset="-122"/>
                <a:cs typeface="Calibri" pitchFamily="34" charset="-120"/>
              </a:rPr>
              <a:t>depends_on</a:t>
            </a:r>
            <a:pPr algn="l" indent="0" marL="0">
              <a:spcAft>
                <a:spcPts val="500"/>
              </a:spcAft>
              <a:buNone/>
            </a:pPr>
            <a:r>
              <a:rPr lang="en-US" sz="1060" dirty="0">
                <a:solidFill>
                  <a:srgbClr val="475569"/>
                </a:solidFill>
                <a:latin typeface="Calibri" pitchFamily="34" charset="0"/>
                <a:ea typeface="Calibri" pitchFamily="34" charset="-122"/>
                <a:cs typeface="Calibri" pitchFamily="34" charset="-120"/>
              </a:rPr>
              <a:t>  start order between services</a:t>
            </a:r>
            <a:endParaRPr lang="en-US" sz="1060" dirty="0"/>
          </a:p>
          <a:p>
            <a:pPr algn="l" marL="190500" indent="-190500">
              <a:buSzPct val="100000"/>
              <a:buChar char="•"/>
            </a:pPr>
            <a:r>
              <a:rPr lang="en-US" sz="1060" b="1" dirty="0">
                <a:solidFill>
                  <a:srgbClr val="0F172A"/>
                </a:solidFill>
                <a:latin typeface="Calibri" pitchFamily="34" charset="0"/>
                <a:ea typeface="Calibri" pitchFamily="34" charset="-122"/>
                <a:cs typeface="Calibri" pitchFamily="34" charset="-120"/>
              </a:rPr>
              <a:t>networks</a:t>
            </a:r>
            <a:pPr algn="l" indent="0" marL="0">
              <a:spcAft>
                <a:spcPts val="500"/>
              </a:spcAft>
              <a:buNone/>
            </a:pPr>
            <a:r>
              <a:rPr lang="en-US" sz="1060" dirty="0">
                <a:solidFill>
                  <a:srgbClr val="475569"/>
                </a:solidFill>
                <a:latin typeface="Calibri" pitchFamily="34" charset="0"/>
                <a:ea typeface="Calibri" pitchFamily="34" charset="-122"/>
                <a:cs typeface="Calibri" pitchFamily="34" charset="-120"/>
              </a:rPr>
              <a:t>  auto-created; talk by service name</a:t>
            </a:r>
            <a:endParaRPr lang="en-US" sz="1060" dirty="0"/>
          </a:p>
          <a:p>
            <a:pPr algn="l" marL="190500" indent="-190500">
              <a:buSzPct val="100000"/>
              <a:buChar char="•"/>
            </a:pPr>
            <a:r>
              <a:rPr lang="en-US" sz="1060" b="1" dirty="0">
                <a:solidFill>
                  <a:srgbClr val="0F172A"/>
                </a:solidFill>
                <a:latin typeface="Calibri" pitchFamily="34" charset="0"/>
                <a:ea typeface="Calibri" pitchFamily="34" charset="-122"/>
                <a:cs typeface="Calibri" pitchFamily="34" charset="-120"/>
              </a:rPr>
              <a:t>volumes</a:t>
            </a:r>
            <a:pPr algn="l" indent="0" marL="0">
              <a:spcAft>
                <a:spcPts val="500"/>
              </a:spcAft>
              <a:buNone/>
            </a:pPr>
            <a:r>
              <a:rPr lang="en-US" sz="1060" dirty="0">
                <a:solidFill>
                  <a:srgbClr val="475569"/>
                </a:solidFill>
                <a:latin typeface="Calibri" pitchFamily="34" charset="0"/>
                <a:ea typeface="Calibri" pitchFamily="34" charset="-122"/>
                <a:cs typeface="Calibri" pitchFamily="34" charset="-120"/>
              </a:rPr>
              <a:t>  named, persistent storage</a:t>
            </a:r>
            <a:endParaRPr lang="en-US" sz="1060" dirty="0"/>
          </a:p>
        </p:txBody>
      </p:sp>
      <p:sp>
        <p:nvSpPr>
          <p:cNvPr id="13" name="Shape 10"/>
          <p:cNvSpPr/>
          <p:nvPr/>
        </p:nvSpPr>
        <p:spPr>
          <a:xfrm>
            <a:off x="5577840" y="3429000"/>
            <a:ext cx="3108960" cy="914400"/>
          </a:xfrm>
          <a:prstGeom prst="roundRect">
            <a:avLst>
              <a:gd name="adj" fmla="val 7000"/>
            </a:avLst>
          </a:prstGeom>
          <a:solidFill>
            <a:srgbClr val="1E293B"/>
          </a:solidFill>
          <a:ln w="12700">
            <a:solidFill>
              <a:srgbClr val="334155"/>
            </a:solidFill>
            <a:prstDash val="solid"/>
          </a:ln>
          <a:effectLst>
            <a:outerShdw sx="100000" sy="100000" kx="0" ky="0" algn="bl" rotWithShape="0" blurRad="114300" dist="38100" dir="2700000">
              <a:srgbClr val="475569">
                <a:alpha val="24000"/>
              </a:srgbClr>
            </a:outerShdw>
          </a:effectLst>
        </p:spPr>
      </p:sp>
      <p:sp>
        <p:nvSpPr>
          <p:cNvPr id="14" name="Shape 11"/>
          <p:cNvSpPr/>
          <p:nvPr/>
        </p:nvSpPr>
        <p:spPr>
          <a:xfrm>
            <a:off x="5779008" y="3611880"/>
            <a:ext cx="91440" cy="91440"/>
          </a:xfrm>
          <a:prstGeom prst="ellipse">
            <a:avLst/>
          </a:prstGeom>
          <a:solidFill>
            <a:srgbClr val="EF4444"/>
          </a:solidFill>
          <a:ln/>
        </p:spPr>
      </p:sp>
      <p:sp>
        <p:nvSpPr>
          <p:cNvPr id="15" name="Shape 12"/>
          <p:cNvSpPr/>
          <p:nvPr/>
        </p:nvSpPr>
        <p:spPr>
          <a:xfrm>
            <a:off x="5925312" y="3611880"/>
            <a:ext cx="91440" cy="91440"/>
          </a:xfrm>
          <a:prstGeom prst="ellipse">
            <a:avLst/>
          </a:prstGeom>
          <a:solidFill>
            <a:srgbClr val="F59E0B"/>
          </a:solidFill>
          <a:ln/>
        </p:spPr>
      </p:sp>
      <p:sp>
        <p:nvSpPr>
          <p:cNvPr id="16" name="Shape 13"/>
          <p:cNvSpPr/>
          <p:nvPr/>
        </p:nvSpPr>
        <p:spPr>
          <a:xfrm>
            <a:off x="6071616" y="3611880"/>
            <a:ext cx="91440" cy="91440"/>
          </a:xfrm>
          <a:prstGeom prst="ellipse">
            <a:avLst/>
          </a:prstGeom>
          <a:solidFill>
            <a:srgbClr val="22C55E"/>
          </a:solidFill>
          <a:ln/>
        </p:spPr>
      </p:sp>
      <p:sp>
        <p:nvSpPr>
          <p:cNvPr id="17" name="Text 14"/>
          <p:cNvSpPr/>
          <p:nvPr/>
        </p:nvSpPr>
        <p:spPr>
          <a:xfrm>
            <a:off x="6291072" y="3547872"/>
            <a:ext cx="2194560" cy="20116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run it</a:t>
            </a:r>
            <a:endParaRPr lang="en-US" sz="900" dirty="0"/>
          </a:p>
        </p:txBody>
      </p:sp>
      <p:sp>
        <p:nvSpPr>
          <p:cNvPr id="18" name="Text 15"/>
          <p:cNvSpPr/>
          <p:nvPr/>
        </p:nvSpPr>
        <p:spPr>
          <a:xfrm>
            <a:off x="5797296" y="3867912"/>
            <a:ext cx="2670048" cy="365760"/>
          </a:xfrm>
          <a:prstGeom prst="rect">
            <a:avLst/>
          </a:prstGeom>
          <a:noFill/>
          <a:ln/>
        </p:spPr>
        <p:txBody>
          <a:bodyPr wrap="square" lIns="0" tIns="0" rIns="0" bIns="0" rtlCol="0" anchor="t"/>
          <a:lstStyle/>
          <a:p>
            <a:pPr algn="l" indent="0" marL="0">
              <a:lnSpc>
                <a:spcPts val="1109"/>
              </a:lnSpc>
              <a:buNone/>
            </a:pPr>
            <a:r>
              <a:rPr lang="en-US" sz="940" b="1" dirty="0">
                <a:solidFill>
                  <a:srgbClr val="0D9488"/>
                </a:solidFill>
                <a:latin typeface="Courier New" pitchFamily="34" charset="0"/>
                <a:ea typeface="Courier New" pitchFamily="34" charset="-122"/>
                <a:cs typeface="Courier New" pitchFamily="34" charset="-120"/>
              </a:rPr>
              <a:t>$ </a:t>
            </a:r>
            <a:pPr algn="l" indent="0" marL="0">
              <a:lnSpc>
                <a:spcPts val="1109"/>
              </a:lnSpc>
              <a:buNone/>
            </a:pPr>
            <a:r>
              <a:rPr lang="en-US" sz="940" dirty="0">
                <a:solidFill>
                  <a:srgbClr val="FFFFFF"/>
                </a:solidFill>
                <a:latin typeface="Courier New" pitchFamily="34" charset="0"/>
                <a:ea typeface="Courier New" pitchFamily="34" charset="-122"/>
                <a:cs typeface="Courier New" pitchFamily="34" charset="-120"/>
              </a:rPr>
              <a:t>docker compose up -d</a:t>
            </a:r>
            <a:endParaRPr lang="en-US" sz="940" dirty="0"/>
          </a:p>
          <a:p>
            <a:pPr algn="l" indent="0" marL="0">
              <a:lnSpc>
                <a:spcPts val="1109"/>
              </a:lnSpc>
              <a:buNone/>
            </a:pPr>
            <a:r>
              <a:rPr lang="en-US" sz="940" b="1" dirty="0">
                <a:solidFill>
                  <a:srgbClr val="0D9488"/>
                </a:solidFill>
                <a:latin typeface="Courier New" pitchFamily="34" charset="0"/>
                <a:ea typeface="Courier New" pitchFamily="34" charset="-122"/>
                <a:cs typeface="Courier New" pitchFamily="34" charset="-120"/>
              </a:rPr>
              <a:t>$ </a:t>
            </a:r>
            <a:pPr algn="l" indent="0" marL="0">
              <a:lnSpc>
                <a:spcPts val="1109"/>
              </a:lnSpc>
              <a:buNone/>
            </a:pPr>
            <a:r>
              <a:rPr lang="en-US" sz="940" dirty="0">
                <a:solidFill>
                  <a:srgbClr val="FFFFFF"/>
                </a:solidFill>
                <a:latin typeface="Courier New" pitchFamily="34" charset="0"/>
                <a:ea typeface="Courier New" pitchFamily="34" charset="-122"/>
                <a:cs typeface="Courier New" pitchFamily="34" charset="-120"/>
              </a:rPr>
              <a:t>docker compose ps</a:t>
            </a:r>
            <a:endParaRPr lang="en-US" sz="940" dirty="0"/>
          </a:p>
          <a:p>
            <a:pPr algn="l" indent="0" marL="0">
              <a:lnSpc>
                <a:spcPts val="1109"/>
              </a:lnSpc>
              <a:buNone/>
            </a:pPr>
            <a:r>
              <a:rPr lang="en-US" sz="940" b="1" dirty="0">
                <a:solidFill>
                  <a:srgbClr val="0D9488"/>
                </a:solidFill>
                <a:latin typeface="Courier New" pitchFamily="34" charset="0"/>
                <a:ea typeface="Courier New" pitchFamily="34" charset="-122"/>
                <a:cs typeface="Courier New" pitchFamily="34" charset="-120"/>
              </a:rPr>
              <a:t>$ </a:t>
            </a:r>
            <a:pPr algn="l" indent="0" marL="0">
              <a:lnSpc>
                <a:spcPts val="1109"/>
              </a:lnSpc>
              <a:buNone/>
            </a:pPr>
            <a:r>
              <a:rPr lang="en-US" sz="940" dirty="0">
                <a:solidFill>
                  <a:srgbClr val="FFFFFF"/>
                </a:solidFill>
                <a:latin typeface="Courier New" pitchFamily="34" charset="0"/>
                <a:ea typeface="Courier New" pitchFamily="34" charset="-122"/>
                <a:cs typeface="Courier New" pitchFamily="34" charset="-120"/>
              </a:rPr>
              <a:t>docker compose down</a:t>
            </a:r>
            <a:endParaRPr lang="en-US" sz="940" dirty="0"/>
          </a:p>
        </p:txBody>
      </p:sp>
      <p:sp>
        <p:nvSpPr>
          <p:cNvPr id="19" name="Text 16"/>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20" name="Text 17"/>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Compose, CI/CD &amp; Orchestration</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PROVISIONING SERVICES</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Compose beyond the basics</a:t>
            </a:r>
            <a:endParaRPr lang="en-US" sz="2500" dirty="0"/>
          </a:p>
        </p:txBody>
      </p:sp>
      <p:sp>
        <p:nvSpPr>
          <p:cNvPr id="6" name="Text 3"/>
          <p:cNvSpPr/>
          <p:nvPr/>
        </p:nvSpPr>
        <p:spPr>
          <a:xfrm>
            <a:off x="502920" y="1371600"/>
            <a:ext cx="4160520" cy="2743200"/>
          </a:xfrm>
          <a:prstGeom prst="rect">
            <a:avLst/>
          </a:prstGeom>
          <a:noFill/>
          <a:ln/>
        </p:spPr>
        <p:txBody>
          <a:bodyPr wrap="square" lIns="0" tIns="0" rIns="0" bIns="0" rtlCol="0" anchor="t"/>
          <a:lstStyle/>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.env files</a:t>
            </a:r>
            <a:pPr algn="l" indent="0" marL="0">
              <a:spcAft>
                <a:spcPts val="700"/>
              </a:spcAft>
              <a:buNone/>
            </a:pPr>
            <a:r>
              <a:rPr lang="en-US" sz="1100" dirty="0">
                <a:solidFill>
                  <a:srgbClr val="475569"/>
                </a:solidFill>
                <a:latin typeface="Calibri" pitchFamily="34" charset="0"/>
                <a:ea typeface="Calibri" pitchFamily="34" charset="-122"/>
                <a:cs typeface="Calibri" pitchFamily="34" charset="-120"/>
              </a:rPr>
              <a:t>  keep config &amp; secrets out of the compose file</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healthcheck + depends_on</a:t>
            </a:r>
            <a:pPr algn="l" indent="0" marL="0">
              <a:spcAft>
                <a:spcPts val="700"/>
              </a:spcAft>
              <a:buNone/>
            </a:pPr>
            <a:r>
              <a:rPr lang="en-US" sz="1100" dirty="0">
                <a:solidFill>
                  <a:srgbClr val="475569"/>
                </a:solidFill>
                <a:latin typeface="Calibri" pitchFamily="34" charset="0"/>
                <a:ea typeface="Calibri" pitchFamily="34" charset="-122"/>
                <a:cs typeface="Calibri" pitchFamily="34" charset="-120"/>
              </a:rPr>
              <a:t>  wait until db is actually ready, not just started</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restart: unless-stopped</a:t>
            </a:r>
            <a:pPr algn="l" indent="0" marL="0">
              <a:spcAft>
                <a:spcPts val="700"/>
              </a:spcAft>
              <a:buNone/>
            </a:pPr>
            <a:r>
              <a:rPr lang="en-US" sz="1100" dirty="0">
                <a:solidFill>
                  <a:srgbClr val="475569"/>
                </a:solidFill>
                <a:latin typeface="Calibri" pitchFamily="34" charset="0"/>
                <a:ea typeface="Calibri" pitchFamily="34" charset="-122"/>
                <a:cs typeface="Calibri" pitchFamily="34" charset="-120"/>
              </a:rPr>
              <a:t>  auto-recover crashed services</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Scaling</a:t>
            </a:r>
            <a:pPr algn="l" indent="0" marL="0">
              <a:spcAft>
                <a:spcPts val="700"/>
              </a:spcAft>
              <a:buNone/>
            </a:pPr>
            <a:r>
              <a:rPr lang="en-US" sz="1100" dirty="0">
                <a:solidFill>
                  <a:srgbClr val="475569"/>
                </a:solidFill>
                <a:latin typeface="Calibri" pitchFamily="34" charset="0"/>
                <a:ea typeface="Calibri" pitchFamily="34" charset="-122"/>
                <a:cs typeface="Calibri" pitchFamily="34" charset="-120"/>
              </a:rPr>
              <a:t>  run N identical replicas of a service</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Override files</a:t>
            </a:r>
            <a:pPr algn="l" indent="0" marL="0">
              <a:spcAft>
                <a:spcPts val="700"/>
              </a:spcAft>
              <a:buNone/>
            </a:pPr>
            <a:r>
              <a:rPr lang="en-US" sz="1100" dirty="0">
                <a:solidFill>
                  <a:srgbClr val="475569"/>
                </a:solidFill>
                <a:latin typeface="Calibri" pitchFamily="34" charset="0"/>
                <a:ea typeface="Calibri" pitchFamily="34" charset="-122"/>
                <a:cs typeface="Calibri" pitchFamily="34" charset="-120"/>
              </a:rPr>
              <a:t>  compose.override.yaml for dev vs prod</a:t>
            </a:r>
            <a:endParaRPr lang="en-US" sz="1100" dirty="0"/>
          </a:p>
          <a:p>
            <a:pPr algn="l" marL="190500" indent="-190500">
              <a:buSzPct val="100000"/>
              <a:buChar char="•"/>
            </a:pPr>
            <a:r>
              <a:rPr lang="en-US" sz="1100" b="1" dirty="0">
                <a:solidFill>
                  <a:srgbClr val="0F172A"/>
                </a:solidFill>
                <a:latin typeface="Calibri" pitchFamily="34" charset="0"/>
                <a:ea typeface="Calibri" pitchFamily="34" charset="-122"/>
                <a:cs typeface="Calibri" pitchFamily="34" charset="-120"/>
              </a:rPr>
              <a:t>Profiles</a:t>
            </a:r>
            <a:pPr algn="l" indent="0" marL="0">
              <a:spcAft>
                <a:spcPts val="700"/>
              </a:spcAft>
              <a:buNone/>
            </a:pPr>
            <a:r>
              <a:rPr lang="en-US" sz="1100" dirty="0">
                <a:solidFill>
                  <a:srgbClr val="475569"/>
                </a:solidFill>
                <a:latin typeface="Calibri" pitchFamily="34" charset="0"/>
                <a:ea typeface="Calibri" pitchFamily="34" charset="-122"/>
                <a:cs typeface="Calibri" pitchFamily="34" charset="-120"/>
              </a:rPr>
              <a:t>  optionally enable extra services (debug tools)</a:t>
            </a:r>
            <a:endParaRPr lang="en-US" sz="1100" dirty="0"/>
          </a:p>
        </p:txBody>
      </p:sp>
      <p:sp>
        <p:nvSpPr>
          <p:cNvPr id="7" name="Shape 4"/>
          <p:cNvSpPr/>
          <p:nvPr/>
        </p:nvSpPr>
        <p:spPr>
          <a:xfrm>
            <a:off x="4846320" y="1234440"/>
            <a:ext cx="3840480" cy="2834640"/>
          </a:xfrm>
          <a:prstGeom prst="roundRect">
            <a:avLst>
              <a:gd name="adj" fmla="val 2258"/>
            </a:avLst>
          </a:prstGeom>
          <a:solidFill>
            <a:srgbClr val="1E293B"/>
          </a:solidFill>
          <a:ln w="12700">
            <a:solidFill>
              <a:srgbClr val="334155"/>
            </a:solidFill>
            <a:prstDash val="solid"/>
          </a:ln>
          <a:effectLst>
            <a:outerShdw sx="100000" sy="100000" kx="0" ky="0" algn="bl" rotWithShape="0" blurRad="114300" dist="38100" dir="2700000">
              <a:srgbClr val="475569">
                <a:alpha val="24000"/>
              </a:srgbClr>
            </a:outerShdw>
          </a:effectLst>
        </p:spPr>
      </p:sp>
      <p:sp>
        <p:nvSpPr>
          <p:cNvPr id="8" name="Shape 5"/>
          <p:cNvSpPr/>
          <p:nvPr/>
        </p:nvSpPr>
        <p:spPr>
          <a:xfrm>
            <a:off x="5047488" y="1417320"/>
            <a:ext cx="91440" cy="91440"/>
          </a:xfrm>
          <a:prstGeom prst="ellipse">
            <a:avLst/>
          </a:prstGeom>
          <a:solidFill>
            <a:srgbClr val="EF4444"/>
          </a:solidFill>
          <a:ln/>
        </p:spPr>
      </p:sp>
      <p:sp>
        <p:nvSpPr>
          <p:cNvPr id="9" name="Shape 6"/>
          <p:cNvSpPr/>
          <p:nvPr/>
        </p:nvSpPr>
        <p:spPr>
          <a:xfrm>
            <a:off x="5193792" y="1417320"/>
            <a:ext cx="91440" cy="91440"/>
          </a:xfrm>
          <a:prstGeom prst="ellipse">
            <a:avLst/>
          </a:prstGeom>
          <a:solidFill>
            <a:srgbClr val="F59E0B"/>
          </a:solidFill>
          <a:ln/>
        </p:spPr>
      </p:sp>
      <p:sp>
        <p:nvSpPr>
          <p:cNvPr id="10" name="Shape 7"/>
          <p:cNvSpPr/>
          <p:nvPr/>
        </p:nvSpPr>
        <p:spPr>
          <a:xfrm>
            <a:off x="5340096" y="1417320"/>
            <a:ext cx="91440" cy="91440"/>
          </a:xfrm>
          <a:prstGeom prst="ellipse">
            <a:avLst/>
          </a:prstGeom>
          <a:solidFill>
            <a:srgbClr val="22C55E"/>
          </a:solidFill>
          <a:ln/>
        </p:spPr>
      </p:sp>
      <p:sp>
        <p:nvSpPr>
          <p:cNvPr id="11" name="Text 8"/>
          <p:cNvSpPr/>
          <p:nvPr/>
        </p:nvSpPr>
        <p:spPr>
          <a:xfrm>
            <a:off x="5559552" y="1353312"/>
            <a:ext cx="2926080" cy="20116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operate the stack</a:t>
            </a:r>
            <a:endParaRPr lang="en-US" sz="900" dirty="0"/>
          </a:p>
        </p:txBody>
      </p:sp>
      <p:sp>
        <p:nvSpPr>
          <p:cNvPr id="12" name="Text 9"/>
          <p:cNvSpPr/>
          <p:nvPr/>
        </p:nvSpPr>
        <p:spPr>
          <a:xfrm>
            <a:off x="5065776" y="1673352"/>
            <a:ext cx="3401568" cy="2286000"/>
          </a:xfrm>
          <a:prstGeom prst="rect">
            <a:avLst/>
          </a:prstGeom>
          <a:noFill/>
          <a:ln/>
        </p:spPr>
        <p:txBody>
          <a:bodyPr wrap="square" lIns="0" tIns="0" rIns="0" bIns="0" rtlCol="0" anchor="t"/>
          <a:lstStyle/>
          <a:p>
            <a:pPr algn="l" indent="0" marL="0">
              <a:lnSpc>
                <a:spcPts val="1133"/>
              </a:lnSpc>
              <a:buNone/>
            </a:pPr>
            <a:r>
              <a:rPr lang="en-US" sz="960" b="1" dirty="0">
                <a:solidFill>
                  <a:srgbClr val="0D9488"/>
                </a:solidFill>
                <a:latin typeface="Courier New" pitchFamily="34" charset="0"/>
                <a:ea typeface="Courier New" pitchFamily="34" charset="-122"/>
                <a:cs typeface="Courier New" pitchFamily="34" charset="-120"/>
              </a:rPr>
              <a:t>$ </a:t>
            </a:r>
            <a:pPr algn="l" indent="0" marL="0">
              <a:lnSpc>
                <a:spcPts val="1133"/>
              </a:lnSpc>
              <a:buNone/>
            </a:pPr>
            <a:r>
              <a:rPr lang="en-US" sz="960" dirty="0">
                <a:solidFill>
                  <a:srgbClr val="FFFFFF"/>
                </a:solidFill>
                <a:latin typeface="Courier New" pitchFamily="34" charset="0"/>
                <a:ea typeface="Courier New" pitchFamily="34" charset="-122"/>
                <a:cs typeface="Courier New" pitchFamily="34" charset="-120"/>
              </a:rPr>
              <a:t>docker compose up -d --scale web=3</a:t>
            </a:r>
            <a:endParaRPr lang="en-US" sz="960" dirty="0"/>
          </a:p>
          <a:p>
            <a:pPr algn="l" indent="0" marL="0">
              <a:lnSpc>
                <a:spcPts val="1133"/>
              </a:lnSpc>
              <a:buNone/>
            </a:pPr>
            <a:r>
              <a:rPr lang="en-US" sz="960" dirty="0">
                <a:solidFill>
                  <a:srgbClr val="34D399"/>
                </a:solidFill>
                <a:latin typeface="Courier New" pitchFamily="34" charset="0"/>
                <a:ea typeface="Courier New" pitchFamily="34" charset="-122"/>
                <a:cs typeface="Courier New" pitchFamily="34" charset="-120"/>
              </a:rPr>
              <a:t>Creating web-1 ... web-2 ... web-3</a:t>
            </a:r>
            <a:endParaRPr lang="en-US" sz="960" dirty="0"/>
          </a:p>
          <a:p>
            <a:pPr algn="l" indent="0" marL="0">
              <a:lnSpc>
                <a:spcPts val="1133"/>
              </a:lnSpc>
              <a:buNone/>
            </a:pPr>
            <a:r>
              <a:rPr lang="en-US" sz="960" dirty="0">
                <a:solidFill>
                  <a:srgbClr val="FFFFFF"/>
                </a:solidFill>
                <a:latin typeface="Courier New" pitchFamily="34" charset="0"/>
                <a:ea typeface="Courier New" pitchFamily="34" charset="-122"/>
                <a:cs typeface="Courier New" pitchFamily="34" charset="-120"/>
              </a:rPr>
              <a:t> </a:t>
            </a:r>
            <a:endParaRPr lang="en-US" sz="960" dirty="0"/>
          </a:p>
          <a:p>
            <a:pPr algn="l" indent="0" marL="0">
              <a:lnSpc>
                <a:spcPts val="1133"/>
              </a:lnSpc>
              <a:buNone/>
            </a:pPr>
            <a:r>
              <a:rPr lang="en-US" sz="960" b="1" dirty="0">
                <a:solidFill>
                  <a:srgbClr val="0D9488"/>
                </a:solidFill>
                <a:latin typeface="Courier New" pitchFamily="34" charset="0"/>
                <a:ea typeface="Courier New" pitchFamily="34" charset="-122"/>
                <a:cs typeface="Courier New" pitchFamily="34" charset="-120"/>
              </a:rPr>
              <a:t>$ </a:t>
            </a:r>
            <a:pPr algn="l" indent="0" marL="0">
              <a:lnSpc>
                <a:spcPts val="1133"/>
              </a:lnSpc>
              <a:buNone/>
            </a:pPr>
            <a:r>
              <a:rPr lang="en-US" sz="960" dirty="0">
                <a:solidFill>
                  <a:srgbClr val="FFFFFF"/>
                </a:solidFill>
                <a:latin typeface="Courier New" pitchFamily="34" charset="0"/>
                <a:ea typeface="Courier New" pitchFamily="34" charset="-122"/>
                <a:cs typeface="Courier New" pitchFamily="34" charset="-120"/>
              </a:rPr>
              <a:t>docker compose logs -f web</a:t>
            </a:r>
            <a:endParaRPr lang="en-US" sz="960" dirty="0"/>
          </a:p>
          <a:p>
            <a:pPr algn="l" indent="0" marL="0">
              <a:lnSpc>
                <a:spcPts val="1133"/>
              </a:lnSpc>
              <a:buNone/>
            </a:pPr>
            <a:r>
              <a:rPr lang="en-US" sz="960" b="1" dirty="0">
                <a:solidFill>
                  <a:srgbClr val="0D9488"/>
                </a:solidFill>
                <a:latin typeface="Courier New" pitchFamily="34" charset="0"/>
                <a:ea typeface="Courier New" pitchFamily="34" charset="-122"/>
                <a:cs typeface="Courier New" pitchFamily="34" charset="-120"/>
              </a:rPr>
              <a:t>$ </a:t>
            </a:r>
            <a:pPr algn="l" indent="0" marL="0">
              <a:lnSpc>
                <a:spcPts val="1133"/>
              </a:lnSpc>
              <a:buNone/>
            </a:pPr>
            <a:r>
              <a:rPr lang="en-US" sz="960" dirty="0">
                <a:solidFill>
                  <a:srgbClr val="FFFFFF"/>
                </a:solidFill>
                <a:latin typeface="Courier New" pitchFamily="34" charset="0"/>
                <a:ea typeface="Courier New" pitchFamily="34" charset="-122"/>
                <a:cs typeface="Courier New" pitchFamily="34" charset="-120"/>
              </a:rPr>
              <a:t>docker compose exec db psql -U postgres</a:t>
            </a:r>
            <a:endParaRPr lang="en-US" sz="960" dirty="0"/>
          </a:p>
          <a:p>
            <a:pPr algn="l" indent="0" marL="0">
              <a:lnSpc>
                <a:spcPts val="1133"/>
              </a:lnSpc>
              <a:buNone/>
            </a:pPr>
            <a:r>
              <a:rPr lang="en-US" sz="960" dirty="0">
                <a:solidFill>
                  <a:srgbClr val="FFFFFF"/>
                </a:solidFill>
                <a:latin typeface="Courier New" pitchFamily="34" charset="0"/>
                <a:ea typeface="Courier New" pitchFamily="34" charset="-122"/>
                <a:cs typeface="Courier New" pitchFamily="34" charset="-120"/>
              </a:rPr>
              <a:t> </a:t>
            </a:r>
            <a:endParaRPr lang="en-US" sz="960" dirty="0"/>
          </a:p>
          <a:p>
            <a:pPr algn="l" indent="0" marL="0">
              <a:lnSpc>
                <a:spcPts val="1133"/>
              </a:lnSpc>
              <a:buNone/>
            </a:pPr>
            <a:r>
              <a:rPr lang="en-US" sz="960" b="1" dirty="0">
                <a:solidFill>
                  <a:srgbClr val="0D9488"/>
                </a:solidFill>
                <a:latin typeface="Courier New" pitchFamily="34" charset="0"/>
                <a:ea typeface="Courier New" pitchFamily="34" charset="-122"/>
                <a:cs typeface="Courier New" pitchFamily="34" charset="-120"/>
              </a:rPr>
              <a:t>$ </a:t>
            </a:r>
            <a:pPr algn="l" indent="0" marL="0">
              <a:lnSpc>
                <a:spcPts val="1133"/>
              </a:lnSpc>
              <a:buNone/>
            </a:pPr>
            <a:r>
              <a:rPr lang="en-US" sz="960" dirty="0">
                <a:solidFill>
                  <a:srgbClr val="FFFFFF"/>
                </a:solidFill>
                <a:latin typeface="Courier New" pitchFamily="34" charset="0"/>
                <a:ea typeface="Courier New" pitchFamily="34" charset="-122"/>
                <a:cs typeface="Courier New" pitchFamily="34" charset="-120"/>
              </a:rPr>
              <a:t>docker compose -f compose.yaml \</a:t>
            </a:r>
            <a:endParaRPr lang="en-US" sz="960" dirty="0"/>
          </a:p>
          <a:p>
            <a:pPr algn="l" indent="0" marL="0">
              <a:lnSpc>
                <a:spcPts val="1133"/>
              </a:lnSpc>
              <a:buNone/>
            </a:pPr>
            <a:r>
              <a:rPr lang="en-US" sz="960" dirty="0">
                <a:solidFill>
                  <a:srgbClr val="FFFFFF"/>
                </a:solidFill>
                <a:latin typeface="Courier New" pitchFamily="34" charset="0"/>
                <a:ea typeface="Courier New" pitchFamily="34" charset="-122"/>
                <a:cs typeface="Courier New" pitchFamily="34" charset="-120"/>
              </a:rPr>
              <a:t>   -f compose.prod.yaml up -d</a:t>
            </a:r>
            <a:endParaRPr lang="en-US" sz="960" dirty="0"/>
          </a:p>
          <a:p>
            <a:pPr algn="l" indent="0" marL="0">
              <a:lnSpc>
                <a:spcPts val="1133"/>
              </a:lnSpc>
              <a:buNone/>
            </a:pPr>
            <a:r>
              <a:rPr lang="en-US" sz="960" dirty="0">
                <a:solidFill>
                  <a:srgbClr val="34D399"/>
                </a:solidFill>
                <a:latin typeface="Courier New" pitchFamily="34" charset="0"/>
                <a:ea typeface="Courier New" pitchFamily="34" charset="-122"/>
                <a:cs typeface="Courier New" pitchFamily="34" charset="-120"/>
              </a:rPr>
              <a:t>stack is up: web x3, db x1</a:t>
            </a:r>
            <a:endParaRPr lang="en-US" sz="960" dirty="0"/>
          </a:p>
        </p:txBody>
      </p:sp>
      <p:sp>
        <p:nvSpPr>
          <p:cNvPr id="13" name="Text 10"/>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14" name="Text 11"/>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Compose, CI/CD &amp; Orchestration</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INTO THE DEVOPS LOOP</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Deploy via a CI/CD pipeline</a:t>
            </a:r>
            <a:endParaRPr lang="en-US" sz="2500" dirty="0"/>
          </a:p>
        </p:txBody>
      </p:sp>
      <p:sp>
        <p:nvSpPr>
          <p:cNvPr id="6" name="Shape 3"/>
          <p:cNvSpPr/>
          <p:nvPr/>
        </p:nvSpPr>
        <p:spPr>
          <a:xfrm>
            <a:off x="457200" y="1417320"/>
            <a:ext cx="1280160" cy="822960"/>
          </a:xfrm>
          <a:prstGeom prst="roundRect">
            <a:avLst>
              <a:gd name="adj" fmla="val 8889"/>
            </a:avLst>
          </a:prstGeom>
          <a:solidFill>
            <a:srgbClr val="F0FDFA"/>
          </a:solidFill>
          <a:ln w="12700">
            <a:solidFill>
              <a:srgbClr val="0D9488"/>
            </a:solidFill>
            <a:prstDash val="solid"/>
          </a:ln>
          <a:effectLst>
            <a:outerShdw sx="100000" sy="100000" kx="0" ky="0" algn="bl" rotWithShape="0" blurRad="63500" dist="25400" dir="2700000">
              <a:srgbClr val="475569">
                <a:alpha val="10000"/>
              </a:srgbClr>
            </a:outerShdw>
          </a:effectLst>
        </p:spPr>
      </p:sp>
      <p:sp>
        <p:nvSpPr>
          <p:cNvPr id="7" name="Text 4"/>
          <p:cNvSpPr/>
          <p:nvPr/>
        </p:nvSpPr>
        <p:spPr>
          <a:xfrm>
            <a:off x="457200" y="1417320"/>
            <a:ext cx="1280160" cy="822960"/>
          </a:xfrm>
          <a:prstGeom prst="rect">
            <a:avLst/>
          </a:prstGeom>
          <a:noFill/>
          <a:ln/>
        </p:spPr>
        <p:txBody>
          <a:bodyPr wrap="square" lIns="0" tIns="0" rIns="0" bIns="0" rtlCol="0" anchor="ctr"/>
          <a:lstStyle/>
          <a:p>
            <a:pPr algn="ctr" indent="0" marL="0">
              <a:lnSpc>
                <a:spcPts val="1200"/>
              </a:lnSpc>
              <a:buNone/>
            </a:pPr>
            <a:r>
              <a:rPr lang="en-US" sz="1200" b="1" dirty="0">
                <a:solidFill>
                  <a:srgbClr val="0D9488"/>
                </a:solidFill>
                <a:latin typeface="Calibri" pitchFamily="34" charset="0"/>
                <a:ea typeface="Calibri" pitchFamily="34" charset="-122"/>
                <a:cs typeface="Calibri" pitchFamily="34" charset="-120"/>
              </a:rPr>
              <a:t>Commit</a:t>
            </a:r>
            <a:endParaRPr lang="en-US" sz="1200" dirty="0"/>
          </a:p>
          <a:p>
            <a:pPr algn="ctr" indent="0" marL="0">
              <a:lnSpc>
                <a:spcPts val="1200"/>
              </a:lnSpc>
              <a:buNone/>
            </a:pPr>
            <a:r>
              <a:rPr lang="en-US" sz="900" dirty="0">
                <a:solidFill>
                  <a:srgbClr val="64748B"/>
                </a:solidFill>
                <a:latin typeface="Calibri" pitchFamily="34" charset="0"/>
                <a:ea typeface="Calibri" pitchFamily="34" charset="-122"/>
                <a:cs typeface="Calibri" pitchFamily="34" charset="-120"/>
              </a:rPr>
              <a:t>code</a:t>
            </a:r>
            <a:endParaRPr lang="en-US" sz="1200" dirty="0"/>
          </a:p>
        </p:txBody>
      </p:sp>
      <p:sp>
        <p:nvSpPr>
          <p:cNvPr id="8" name="Shape 5"/>
          <p:cNvSpPr/>
          <p:nvPr/>
        </p:nvSpPr>
        <p:spPr>
          <a:xfrm>
            <a:off x="1741932" y="1828800"/>
            <a:ext cx="100584" cy="0"/>
          </a:xfrm>
          <a:prstGeom prst="line">
            <a:avLst/>
          </a:prstGeom>
          <a:noFill/>
          <a:ln w="22860">
            <a:solidFill>
              <a:srgbClr val="64748B"/>
            </a:solidFill>
            <a:prstDash val="solid"/>
            <a:tailEnd type="triangle"/>
          </a:ln>
        </p:spPr>
      </p:sp>
      <p:sp>
        <p:nvSpPr>
          <p:cNvPr id="9" name="Shape 6"/>
          <p:cNvSpPr/>
          <p:nvPr/>
        </p:nvSpPr>
        <p:spPr>
          <a:xfrm>
            <a:off x="1847088" y="1417320"/>
            <a:ext cx="1280160" cy="822960"/>
          </a:xfrm>
          <a:prstGeom prst="roundRect">
            <a:avLst>
              <a:gd name="adj" fmla="val 8889"/>
            </a:avLst>
          </a:prstGeom>
          <a:solidFill>
            <a:srgbClr val="EAF4FD"/>
          </a:solidFill>
          <a:ln w="12700">
            <a:solidFill>
              <a:srgbClr val="2496ED"/>
            </a:solidFill>
            <a:prstDash val="solid"/>
          </a:ln>
          <a:effectLst>
            <a:outerShdw sx="100000" sy="100000" kx="0" ky="0" algn="bl" rotWithShape="0" blurRad="63500" dist="25400" dir="2700000">
              <a:srgbClr val="475569">
                <a:alpha val="10000"/>
              </a:srgbClr>
            </a:outerShdw>
          </a:effectLst>
        </p:spPr>
      </p:sp>
      <p:sp>
        <p:nvSpPr>
          <p:cNvPr id="10" name="Text 7"/>
          <p:cNvSpPr/>
          <p:nvPr/>
        </p:nvSpPr>
        <p:spPr>
          <a:xfrm>
            <a:off x="1847088" y="1417320"/>
            <a:ext cx="1280160" cy="822960"/>
          </a:xfrm>
          <a:prstGeom prst="rect">
            <a:avLst/>
          </a:prstGeom>
          <a:noFill/>
          <a:ln/>
        </p:spPr>
        <p:txBody>
          <a:bodyPr wrap="square" lIns="0" tIns="0" rIns="0" bIns="0" rtlCol="0" anchor="ctr"/>
          <a:lstStyle/>
          <a:p>
            <a:pPr algn="ctr" indent="0" marL="0">
              <a:lnSpc>
                <a:spcPts val="1200"/>
              </a:lnSpc>
              <a:buNone/>
            </a:pPr>
            <a:r>
              <a:rPr lang="en-US" sz="1200" b="1" dirty="0">
                <a:solidFill>
                  <a:srgbClr val="2496ED"/>
                </a:solidFill>
                <a:latin typeface="Calibri" pitchFamily="34" charset="0"/>
                <a:ea typeface="Calibri" pitchFamily="34" charset="-122"/>
                <a:cs typeface="Calibri" pitchFamily="34" charset="-120"/>
              </a:rPr>
              <a:t>Build</a:t>
            </a:r>
            <a:endParaRPr lang="en-US" sz="1200" dirty="0"/>
          </a:p>
          <a:p>
            <a:pPr algn="ctr" indent="0" marL="0">
              <a:lnSpc>
                <a:spcPts val="1200"/>
              </a:lnSpc>
              <a:buNone/>
            </a:pPr>
            <a:r>
              <a:rPr lang="en-US" sz="900" dirty="0">
                <a:solidFill>
                  <a:srgbClr val="64748B"/>
                </a:solidFill>
                <a:latin typeface="Calibri" pitchFamily="34" charset="0"/>
                <a:ea typeface="Calibri" pitchFamily="34" charset="-122"/>
                <a:cs typeface="Calibri" pitchFamily="34" charset="-120"/>
              </a:rPr>
              <a:t>image</a:t>
            </a:r>
            <a:endParaRPr lang="en-US" sz="1200" dirty="0"/>
          </a:p>
        </p:txBody>
      </p:sp>
      <p:sp>
        <p:nvSpPr>
          <p:cNvPr id="11" name="Shape 8"/>
          <p:cNvSpPr/>
          <p:nvPr/>
        </p:nvSpPr>
        <p:spPr>
          <a:xfrm>
            <a:off x="3131820" y="1828800"/>
            <a:ext cx="100584" cy="0"/>
          </a:xfrm>
          <a:prstGeom prst="line">
            <a:avLst/>
          </a:prstGeom>
          <a:noFill/>
          <a:ln w="22860">
            <a:solidFill>
              <a:srgbClr val="64748B"/>
            </a:solidFill>
            <a:prstDash val="solid"/>
            <a:tailEnd type="triangle"/>
          </a:ln>
        </p:spPr>
      </p:sp>
      <p:sp>
        <p:nvSpPr>
          <p:cNvPr id="12" name="Shape 9"/>
          <p:cNvSpPr/>
          <p:nvPr/>
        </p:nvSpPr>
        <p:spPr>
          <a:xfrm>
            <a:off x="3236976" y="1417320"/>
            <a:ext cx="1280160" cy="822960"/>
          </a:xfrm>
          <a:prstGeom prst="roundRect">
            <a:avLst>
              <a:gd name="adj" fmla="val 8889"/>
            </a:avLst>
          </a:prstGeom>
          <a:solidFill>
            <a:srgbClr val="F0FDFA"/>
          </a:solidFill>
          <a:ln w="12700">
            <a:solidFill>
              <a:srgbClr val="0D9488"/>
            </a:solidFill>
            <a:prstDash val="solid"/>
          </a:ln>
          <a:effectLst>
            <a:outerShdw sx="100000" sy="100000" kx="0" ky="0" algn="bl" rotWithShape="0" blurRad="63500" dist="25400" dir="2700000">
              <a:srgbClr val="475569">
                <a:alpha val="10000"/>
              </a:srgbClr>
            </a:outerShdw>
          </a:effectLst>
        </p:spPr>
      </p:sp>
      <p:sp>
        <p:nvSpPr>
          <p:cNvPr id="13" name="Text 10"/>
          <p:cNvSpPr/>
          <p:nvPr/>
        </p:nvSpPr>
        <p:spPr>
          <a:xfrm>
            <a:off x="3236976" y="1417320"/>
            <a:ext cx="1280160" cy="822960"/>
          </a:xfrm>
          <a:prstGeom prst="rect">
            <a:avLst/>
          </a:prstGeom>
          <a:noFill/>
          <a:ln/>
        </p:spPr>
        <p:txBody>
          <a:bodyPr wrap="square" lIns="0" tIns="0" rIns="0" bIns="0" rtlCol="0" anchor="ctr"/>
          <a:lstStyle/>
          <a:p>
            <a:pPr algn="ctr" indent="0" marL="0">
              <a:lnSpc>
                <a:spcPts val="1200"/>
              </a:lnSpc>
              <a:buNone/>
            </a:pPr>
            <a:r>
              <a:rPr lang="en-US" sz="1200" b="1" dirty="0">
                <a:solidFill>
                  <a:srgbClr val="0D9488"/>
                </a:solidFill>
                <a:latin typeface="Calibri" pitchFamily="34" charset="0"/>
                <a:ea typeface="Calibri" pitchFamily="34" charset="-122"/>
                <a:cs typeface="Calibri" pitchFamily="34" charset="-120"/>
              </a:rPr>
              <a:t>Test</a:t>
            </a:r>
            <a:endParaRPr lang="en-US" sz="1200" dirty="0"/>
          </a:p>
          <a:p>
            <a:pPr algn="ctr" indent="0" marL="0">
              <a:lnSpc>
                <a:spcPts val="1200"/>
              </a:lnSpc>
              <a:buNone/>
            </a:pPr>
            <a:r>
              <a:rPr lang="en-US" sz="900" dirty="0">
                <a:solidFill>
                  <a:srgbClr val="64748B"/>
                </a:solidFill>
                <a:latin typeface="Calibri" pitchFamily="34" charset="0"/>
                <a:ea typeface="Calibri" pitchFamily="34" charset="-122"/>
                <a:cs typeface="Calibri" pitchFamily="34" charset="-120"/>
              </a:rPr>
              <a:t>unit</a:t>
            </a:r>
            <a:endParaRPr lang="en-US" sz="1200" dirty="0"/>
          </a:p>
        </p:txBody>
      </p:sp>
      <p:sp>
        <p:nvSpPr>
          <p:cNvPr id="14" name="Shape 11"/>
          <p:cNvSpPr/>
          <p:nvPr/>
        </p:nvSpPr>
        <p:spPr>
          <a:xfrm>
            <a:off x="4521708" y="1828800"/>
            <a:ext cx="100584" cy="0"/>
          </a:xfrm>
          <a:prstGeom prst="line">
            <a:avLst/>
          </a:prstGeom>
          <a:noFill/>
          <a:ln w="22860">
            <a:solidFill>
              <a:srgbClr val="64748B"/>
            </a:solidFill>
            <a:prstDash val="solid"/>
            <a:tailEnd type="triangle"/>
          </a:ln>
        </p:spPr>
      </p:sp>
      <p:sp>
        <p:nvSpPr>
          <p:cNvPr id="15" name="Shape 12"/>
          <p:cNvSpPr/>
          <p:nvPr/>
        </p:nvSpPr>
        <p:spPr>
          <a:xfrm>
            <a:off x="4626864" y="1417320"/>
            <a:ext cx="1280160" cy="822960"/>
          </a:xfrm>
          <a:prstGeom prst="roundRect">
            <a:avLst>
              <a:gd name="adj" fmla="val 8889"/>
            </a:avLst>
          </a:prstGeom>
          <a:solidFill>
            <a:srgbClr val="FFF7ED"/>
          </a:solidFill>
          <a:ln w="12700">
            <a:solidFill>
              <a:srgbClr val="F97316"/>
            </a:solidFill>
            <a:prstDash val="solid"/>
          </a:ln>
          <a:effectLst>
            <a:outerShdw sx="100000" sy="100000" kx="0" ky="0" algn="bl" rotWithShape="0" blurRad="63500" dist="25400" dir="2700000">
              <a:srgbClr val="475569">
                <a:alpha val="10000"/>
              </a:srgbClr>
            </a:outerShdw>
          </a:effectLst>
        </p:spPr>
      </p:sp>
      <p:sp>
        <p:nvSpPr>
          <p:cNvPr id="16" name="Text 13"/>
          <p:cNvSpPr/>
          <p:nvPr/>
        </p:nvSpPr>
        <p:spPr>
          <a:xfrm>
            <a:off x="4626864" y="1417320"/>
            <a:ext cx="1280160" cy="822960"/>
          </a:xfrm>
          <a:prstGeom prst="rect">
            <a:avLst/>
          </a:prstGeom>
          <a:noFill/>
          <a:ln/>
        </p:spPr>
        <p:txBody>
          <a:bodyPr wrap="square" lIns="0" tIns="0" rIns="0" bIns="0" rtlCol="0" anchor="ctr"/>
          <a:lstStyle/>
          <a:p>
            <a:pPr algn="ctr" indent="0" marL="0">
              <a:lnSpc>
                <a:spcPts val="1200"/>
              </a:lnSpc>
              <a:buNone/>
            </a:pPr>
            <a:r>
              <a:rPr lang="en-US" sz="1200" b="1" dirty="0">
                <a:solidFill>
                  <a:srgbClr val="F97316"/>
                </a:solidFill>
                <a:latin typeface="Calibri" pitchFamily="34" charset="0"/>
                <a:ea typeface="Calibri" pitchFamily="34" charset="-122"/>
                <a:cs typeface="Calibri" pitchFamily="34" charset="-120"/>
              </a:rPr>
              <a:t>Scan</a:t>
            </a:r>
            <a:endParaRPr lang="en-US" sz="1200" dirty="0"/>
          </a:p>
          <a:p>
            <a:pPr algn="ctr" indent="0" marL="0">
              <a:lnSpc>
                <a:spcPts val="1200"/>
              </a:lnSpc>
              <a:buNone/>
            </a:pPr>
            <a:r>
              <a:rPr lang="en-US" sz="900" dirty="0">
                <a:solidFill>
                  <a:srgbClr val="64748B"/>
                </a:solidFill>
                <a:latin typeface="Calibri" pitchFamily="34" charset="0"/>
                <a:ea typeface="Calibri" pitchFamily="34" charset="-122"/>
                <a:cs typeface="Calibri" pitchFamily="34" charset="-120"/>
              </a:rPr>
              <a:t>Trivy</a:t>
            </a:r>
            <a:endParaRPr lang="en-US" sz="1200" dirty="0"/>
          </a:p>
        </p:txBody>
      </p:sp>
      <p:sp>
        <p:nvSpPr>
          <p:cNvPr id="17" name="Shape 14"/>
          <p:cNvSpPr/>
          <p:nvPr/>
        </p:nvSpPr>
        <p:spPr>
          <a:xfrm>
            <a:off x="5911596" y="1828800"/>
            <a:ext cx="100584" cy="0"/>
          </a:xfrm>
          <a:prstGeom prst="line">
            <a:avLst/>
          </a:prstGeom>
          <a:noFill/>
          <a:ln w="22860">
            <a:solidFill>
              <a:srgbClr val="64748B"/>
            </a:solidFill>
            <a:prstDash val="solid"/>
            <a:tailEnd type="triangle"/>
          </a:ln>
        </p:spPr>
      </p:sp>
      <p:sp>
        <p:nvSpPr>
          <p:cNvPr id="18" name="Shape 15"/>
          <p:cNvSpPr/>
          <p:nvPr/>
        </p:nvSpPr>
        <p:spPr>
          <a:xfrm>
            <a:off x="6016752" y="1417320"/>
            <a:ext cx="1280160" cy="822960"/>
          </a:xfrm>
          <a:prstGeom prst="roundRect">
            <a:avLst>
              <a:gd name="adj" fmla="val 8889"/>
            </a:avLst>
          </a:prstGeom>
          <a:solidFill>
            <a:srgbClr val="EAF4FD"/>
          </a:solidFill>
          <a:ln w="12700">
            <a:solidFill>
              <a:srgbClr val="2496ED"/>
            </a:solidFill>
            <a:prstDash val="solid"/>
          </a:ln>
          <a:effectLst>
            <a:outerShdw sx="100000" sy="100000" kx="0" ky="0" algn="bl" rotWithShape="0" blurRad="63500" dist="25400" dir="2700000">
              <a:srgbClr val="475569">
                <a:alpha val="10000"/>
              </a:srgbClr>
            </a:outerShdw>
          </a:effectLst>
        </p:spPr>
      </p:sp>
      <p:sp>
        <p:nvSpPr>
          <p:cNvPr id="19" name="Text 16"/>
          <p:cNvSpPr/>
          <p:nvPr/>
        </p:nvSpPr>
        <p:spPr>
          <a:xfrm>
            <a:off x="6016752" y="1417320"/>
            <a:ext cx="1280160" cy="822960"/>
          </a:xfrm>
          <a:prstGeom prst="rect">
            <a:avLst/>
          </a:prstGeom>
          <a:noFill/>
          <a:ln/>
        </p:spPr>
        <p:txBody>
          <a:bodyPr wrap="square" lIns="0" tIns="0" rIns="0" bIns="0" rtlCol="0" anchor="ctr"/>
          <a:lstStyle/>
          <a:p>
            <a:pPr algn="ctr" indent="0" marL="0">
              <a:lnSpc>
                <a:spcPts val="1200"/>
              </a:lnSpc>
              <a:buNone/>
            </a:pPr>
            <a:r>
              <a:rPr lang="en-US" sz="1200" b="1" dirty="0">
                <a:solidFill>
                  <a:srgbClr val="2496ED"/>
                </a:solidFill>
                <a:latin typeface="Calibri" pitchFamily="34" charset="0"/>
                <a:ea typeface="Calibri" pitchFamily="34" charset="-122"/>
                <a:cs typeface="Calibri" pitchFamily="34" charset="-120"/>
              </a:rPr>
              <a:t>Push</a:t>
            </a:r>
            <a:endParaRPr lang="en-US" sz="1200" dirty="0"/>
          </a:p>
          <a:p>
            <a:pPr algn="ctr" indent="0" marL="0">
              <a:lnSpc>
                <a:spcPts val="1200"/>
              </a:lnSpc>
              <a:buNone/>
            </a:pPr>
            <a:r>
              <a:rPr lang="en-US" sz="900" dirty="0">
                <a:solidFill>
                  <a:srgbClr val="64748B"/>
                </a:solidFill>
                <a:latin typeface="Calibri" pitchFamily="34" charset="0"/>
                <a:ea typeface="Calibri" pitchFamily="34" charset="-122"/>
                <a:cs typeface="Calibri" pitchFamily="34" charset="-120"/>
              </a:rPr>
              <a:t>registry</a:t>
            </a:r>
            <a:endParaRPr lang="en-US" sz="1200" dirty="0"/>
          </a:p>
        </p:txBody>
      </p:sp>
      <p:sp>
        <p:nvSpPr>
          <p:cNvPr id="20" name="Shape 17"/>
          <p:cNvSpPr/>
          <p:nvPr/>
        </p:nvSpPr>
        <p:spPr>
          <a:xfrm>
            <a:off x="7301484" y="1828800"/>
            <a:ext cx="100584" cy="0"/>
          </a:xfrm>
          <a:prstGeom prst="line">
            <a:avLst/>
          </a:prstGeom>
          <a:noFill/>
          <a:ln w="22860">
            <a:solidFill>
              <a:srgbClr val="64748B"/>
            </a:solidFill>
            <a:prstDash val="solid"/>
            <a:tailEnd type="triangle"/>
          </a:ln>
        </p:spPr>
      </p:sp>
      <p:sp>
        <p:nvSpPr>
          <p:cNvPr id="21" name="Shape 18"/>
          <p:cNvSpPr/>
          <p:nvPr/>
        </p:nvSpPr>
        <p:spPr>
          <a:xfrm>
            <a:off x="7406640" y="1417320"/>
            <a:ext cx="1280160" cy="822960"/>
          </a:xfrm>
          <a:prstGeom prst="roundRect">
            <a:avLst>
              <a:gd name="adj" fmla="val 8889"/>
            </a:avLst>
          </a:prstGeom>
          <a:solidFill>
            <a:srgbClr val="F0FDFA"/>
          </a:solidFill>
          <a:ln w="12700">
            <a:solidFill>
              <a:srgbClr val="0D9488"/>
            </a:solidFill>
            <a:prstDash val="solid"/>
          </a:ln>
          <a:effectLst>
            <a:outerShdw sx="100000" sy="100000" kx="0" ky="0" algn="bl" rotWithShape="0" blurRad="63500" dist="25400" dir="2700000">
              <a:srgbClr val="475569">
                <a:alpha val="10000"/>
              </a:srgbClr>
            </a:outerShdw>
          </a:effectLst>
        </p:spPr>
      </p:sp>
      <p:sp>
        <p:nvSpPr>
          <p:cNvPr id="22" name="Text 19"/>
          <p:cNvSpPr/>
          <p:nvPr/>
        </p:nvSpPr>
        <p:spPr>
          <a:xfrm>
            <a:off x="7406640" y="1417320"/>
            <a:ext cx="1280160" cy="822960"/>
          </a:xfrm>
          <a:prstGeom prst="rect">
            <a:avLst/>
          </a:prstGeom>
          <a:noFill/>
          <a:ln/>
        </p:spPr>
        <p:txBody>
          <a:bodyPr wrap="square" lIns="0" tIns="0" rIns="0" bIns="0" rtlCol="0" anchor="ctr"/>
          <a:lstStyle/>
          <a:p>
            <a:pPr algn="ctr" indent="0" marL="0">
              <a:lnSpc>
                <a:spcPts val="1200"/>
              </a:lnSpc>
              <a:buNone/>
            </a:pPr>
            <a:r>
              <a:rPr lang="en-US" sz="1200" b="1" dirty="0">
                <a:solidFill>
                  <a:srgbClr val="0D9488"/>
                </a:solidFill>
                <a:latin typeface="Calibri" pitchFamily="34" charset="0"/>
                <a:ea typeface="Calibri" pitchFamily="34" charset="-122"/>
                <a:cs typeface="Calibri" pitchFamily="34" charset="-120"/>
              </a:rPr>
              <a:t>Deploy</a:t>
            </a:r>
            <a:endParaRPr lang="en-US" sz="1200" dirty="0"/>
          </a:p>
          <a:p>
            <a:pPr algn="ctr" indent="0" marL="0">
              <a:lnSpc>
                <a:spcPts val="1200"/>
              </a:lnSpc>
              <a:buNone/>
            </a:pPr>
            <a:r>
              <a:rPr lang="en-US" sz="900" dirty="0">
                <a:solidFill>
                  <a:srgbClr val="64748B"/>
                </a:solidFill>
                <a:latin typeface="Calibri" pitchFamily="34" charset="0"/>
                <a:ea typeface="Calibri" pitchFamily="34" charset="-122"/>
                <a:cs typeface="Calibri" pitchFamily="34" charset="-120"/>
              </a:rPr>
              <a:t>server</a:t>
            </a:r>
            <a:endParaRPr lang="en-US" sz="1200" dirty="0"/>
          </a:p>
        </p:txBody>
      </p:sp>
      <p:sp>
        <p:nvSpPr>
          <p:cNvPr id="23" name="Shape 20"/>
          <p:cNvSpPr/>
          <p:nvPr/>
        </p:nvSpPr>
        <p:spPr>
          <a:xfrm>
            <a:off x="457200" y="2606040"/>
            <a:ext cx="8229600" cy="1828800"/>
          </a:xfrm>
          <a:prstGeom prst="roundRect">
            <a:avLst>
              <a:gd name="adj" fmla="val 3500"/>
            </a:avLst>
          </a:prstGeom>
          <a:solidFill>
            <a:srgbClr val="1E293B"/>
          </a:solidFill>
          <a:ln w="12700">
            <a:solidFill>
              <a:srgbClr val="334155"/>
            </a:solidFill>
            <a:prstDash val="solid"/>
          </a:ln>
          <a:effectLst>
            <a:outerShdw sx="100000" sy="100000" kx="0" ky="0" algn="bl" rotWithShape="0" blurRad="114300" dist="38100" dir="2700000">
              <a:srgbClr val="475569">
                <a:alpha val="24000"/>
              </a:srgbClr>
            </a:outerShdw>
          </a:effectLst>
        </p:spPr>
      </p:sp>
      <p:sp>
        <p:nvSpPr>
          <p:cNvPr id="24" name="Shape 21"/>
          <p:cNvSpPr/>
          <p:nvPr/>
        </p:nvSpPr>
        <p:spPr>
          <a:xfrm>
            <a:off x="658368" y="2788920"/>
            <a:ext cx="91440" cy="91440"/>
          </a:xfrm>
          <a:prstGeom prst="ellipse">
            <a:avLst/>
          </a:prstGeom>
          <a:solidFill>
            <a:srgbClr val="EF4444"/>
          </a:solidFill>
          <a:ln/>
        </p:spPr>
      </p:sp>
      <p:sp>
        <p:nvSpPr>
          <p:cNvPr id="25" name="Shape 22"/>
          <p:cNvSpPr/>
          <p:nvPr/>
        </p:nvSpPr>
        <p:spPr>
          <a:xfrm>
            <a:off x="804672" y="2788920"/>
            <a:ext cx="91440" cy="91440"/>
          </a:xfrm>
          <a:prstGeom prst="ellipse">
            <a:avLst/>
          </a:prstGeom>
          <a:solidFill>
            <a:srgbClr val="F59E0B"/>
          </a:solidFill>
          <a:ln/>
        </p:spPr>
      </p:sp>
      <p:sp>
        <p:nvSpPr>
          <p:cNvPr id="26" name="Shape 23"/>
          <p:cNvSpPr/>
          <p:nvPr/>
        </p:nvSpPr>
        <p:spPr>
          <a:xfrm>
            <a:off x="950976" y="2788920"/>
            <a:ext cx="91440" cy="91440"/>
          </a:xfrm>
          <a:prstGeom prst="ellipse">
            <a:avLst/>
          </a:prstGeom>
          <a:solidFill>
            <a:srgbClr val="22C55E"/>
          </a:solidFill>
          <a:ln/>
        </p:spPr>
      </p:sp>
      <p:sp>
        <p:nvSpPr>
          <p:cNvPr id="27" name="Text 24"/>
          <p:cNvSpPr/>
          <p:nvPr/>
        </p:nvSpPr>
        <p:spPr>
          <a:xfrm>
            <a:off x="1170432" y="2724912"/>
            <a:ext cx="7315200" cy="20116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.github/workflows/deploy.yml  (excerpt)</a:t>
            </a:r>
            <a:endParaRPr lang="en-US" sz="900" dirty="0"/>
          </a:p>
        </p:txBody>
      </p:sp>
      <p:sp>
        <p:nvSpPr>
          <p:cNvPr id="28" name="Text 25"/>
          <p:cNvSpPr/>
          <p:nvPr/>
        </p:nvSpPr>
        <p:spPr>
          <a:xfrm>
            <a:off x="676656" y="3044952"/>
            <a:ext cx="7790688" cy="1280160"/>
          </a:xfrm>
          <a:prstGeom prst="rect">
            <a:avLst/>
          </a:prstGeom>
          <a:noFill/>
          <a:ln/>
        </p:spPr>
        <p:txBody>
          <a:bodyPr wrap="square" lIns="0" tIns="0" rIns="0" bIns="0" rtlCol="0" anchor="t"/>
          <a:lstStyle/>
          <a:p>
            <a:pPr algn="l" indent="0" marL="0">
              <a:lnSpc>
                <a:spcPts val="1180"/>
              </a:lnSpc>
              <a:buNone/>
            </a:pPr>
            <a:r>
              <a:rPr lang="en-US" sz="1000" b="1" dirty="0">
                <a:solidFill>
                  <a:srgbClr val="0D9488"/>
                </a:solidFill>
                <a:latin typeface="Courier New" pitchFamily="34" charset="0"/>
                <a:ea typeface="Courier New" pitchFamily="34" charset="-122"/>
                <a:cs typeface="Courier New" pitchFamily="34" charset="-120"/>
              </a:rPr>
              <a:t>$ </a:t>
            </a:r>
            <a:pPr algn="l" indent="0" marL="0">
              <a:lnSpc>
                <a:spcPts val="1180"/>
              </a:lnSpc>
              <a:buNone/>
            </a:pPr>
            <a:r>
              <a:rPr lang="en-US" sz="1000" dirty="0">
                <a:solidFill>
                  <a:srgbClr val="FFFFFF"/>
                </a:solidFill>
                <a:latin typeface="Courier New" pitchFamily="34" charset="0"/>
                <a:ea typeface="Courier New" pitchFamily="34" charset="-122"/>
                <a:cs typeface="Courier New" pitchFamily="34" charset="-120"/>
              </a:rPr>
              <a:t>docker build -t $REG/app:$SHA .</a:t>
            </a:r>
            <a:endParaRPr lang="en-US" sz="1000" dirty="0"/>
          </a:p>
          <a:p>
            <a:pPr algn="l" indent="0" marL="0">
              <a:lnSpc>
                <a:spcPts val="1180"/>
              </a:lnSpc>
              <a:buNone/>
            </a:pPr>
            <a:r>
              <a:rPr lang="en-US" sz="1000" b="1" dirty="0">
                <a:solidFill>
                  <a:srgbClr val="0D9488"/>
                </a:solidFill>
                <a:latin typeface="Courier New" pitchFamily="34" charset="0"/>
                <a:ea typeface="Courier New" pitchFamily="34" charset="-122"/>
                <a:cs typeface="Courier New" pitchFamily="34" charset="-120"/>
              </a:rPr>
              <a:t>$ </a:t>
            </a:r>
            <a:pPr algn="l" indent="0" marL="0">
              <a:lnSpc>
                <a:spcPts val="1180"/>
              </a:lnSpc>
              <a:buNone/>
            </a:pPr>
            <a:r>
              <a:rPr lang="en-US" sz="1000" dirty="0">
                <a:solidFill>
                  <a:srgbClr val="FFFFFF"/>
                </a:solidFill>
                <a:latin typeface="Courier New" pitchFamily="34" charset="0"/>
                <a:ea typeface="Courier New" pitchFamily="34" charset="-122"/>
                <a:cs typeface="Courier New" pitchFamily="34" charset="-120"/>
              </a:rPr>
              <a:t>trivy image --exit-code 1 $REG/app:$SHA</a:t>
            </a:r>
            <a:pPr algn="l" indent="0" marL="0">
              <a:lnSpc>
                <a:spcPts val="1180"/>
              </a:lnSpc>
              <a:buNone/>
            </a:pPr>
            <a:r>
              <a:rPr lang="en-US" sz="1000" dirty="0">
                <a:solidFill>
                  <a:srgbClr val="94A3B8"/>
                </a:solidFill>
                <a:latin typeface="Courier New" pitchFamily="34" charset="0"/>
                <a:ea typeface="Courier New" pitchFamily="34" charset="-122"/>
                <a:cs typeface="Courier New" pitchFamily="34" charset="-120"/>
              </a:rPr>
              <a:t>  # fail on critical CVEs</a:t>
            </a:r>
            <a:endParaRPr lang="en-US" sz="1000" dirty="0"/>
          </a:p>
          <a:p>
            <a:pPr algn="l" indent="0" marL="0">
              <a:lnSpc>
                <a:spcPts val="1180"/>
              </a:lnSpc>
              <a:buNone/>
            </a:pPr>
            <a:r>
              <a:rPr lang="en-US" sz="1000" b="1" dirty="0">
                <a:solidFill>
                  <a:srgbClr val="0D9488"/>
                </a:solidFill>
                <a:latin typeface="Courier New" pitchFamily="34" charset="0"/>
                <a:ea typeface="Courier New" pitchFamily="34" charset="-122"/>
                <a:cs typeface="Courier New" pitchFamily="34" charset="-120"/>
              </a:rPr>
              <a:t>$ </a:t>
            </a:r>
            <a:pPr algn="l" indent="0" marL="0">
              <a:lnSpc>
                <a:spcPts val="1180"/>
              </a:lnSpc>
              <a:buNone/>
            </a:pPr>
            <a:r>
              <a:rPr lang="en-US" sz="1000" dirty="0">
                <a:solidFill>
                  <a:srgbClr val="FFFFFF"/>
                </a:solidFill>
                <a:latin typeface="Courier New" pitchFamily="34" charset="0"/>
                <a:ea typeface="Courier New" pitchFamily="34" charset="-122"/>
                <a:cs typeface="Courier New" pitchFamily="34" charset="-120"/>
              </a:rPr>
              <a:t>docker push $REG/app:$SHA</a:t>
            </a:r>
            <a:endParaRPr lang="en-US" sz="1000" dirty="0"/>
          </a:p>
          <a:p>
            <a:pPr algn="l" indent="0" marL="0">
              <a:lnSpc>
                <a:spcPts val="1180"/>
              </a:lnSpc>
              <a:buNone/>
            </a:pPr>
            <a:r>
              <a:rPr lang="en-US" sz="1000" b="1" dirty="0">
                <a:solidFill>
                  <a:srgbClr val="0D9488"/>
                </a:solidFill>
                <a:latin typeface="Courier New" pitchFamily="34" charset="0"/>
                <a:ea typeface="Courier New" pitchFamily="34" charset="-122"/>
                <a:cs typeface="Courier New" pitchFamily="34" charset="-120"/>
              </a:rPr>
              <a:t>$ </a:t>
            </a:r>
            <a:pPr algn="l" indent="0" marL="0">
              <a:lnSpc>
                <a:spcPts val="1180"/>
              </a:lnSpc>
              <a:buNone/>
            </a:pPr>
            <a:r>
              <a:rPr lang="en-US" sz="1000" dirty="0">
                <a:solidFill>
                  <a:srgbClr val="FFFFFF"/>
                </a:solidFill>
                <a:latin typeface="Courier New" pitchFamily="34" charset="0"/>
                <a:ea typeface="Courier New" pitchFamily="34" charset="-122"/>
                <a:cs typeface="Courier New" pitchFamily="34" charset="-120"/>
              </a:rPr>
              <a:t>ssh prod 'docker compose pull &amp;&amp; \</a:t>
            </a:r>
            <a:endParaRPr lang="en-US" sz="1000" dirty="0"/>
          </a:p>
          <a:p>
            <a:pPr algn="l" indent="0" marL="0">
              <a:lnSpc>
                <a:spcPts val="1180"/>
              </a:lnSpc>
              <a:buNone/>
            </a:pPr>
            <a:r>
              <a:rPr lang="en-US" sz="1000" dirty="0">
                <a:solidFill>
                  <a:srgbClr val="FFFFFF"/>
                </a:solidFill>
                <a:latin typeface="Courier New" pitchFamily="34" charset="0"/>
                <a:ea typeface="Courier New" pitchFamily="34" charset="-122"/>
                <a:cs typeface="Courier New" pitchFamily="34" charset="-120"/>
              </a:rPr>
              <a:t>          docker compose up -d'</a:t>
            </a:r>
            <a:endParaRPr lang="en-US" sz="1000" dirty="0"/>
          </a:p>
          <a:p>
            <a:pPr algn="l" indent="0" marL="0">
              <a:lnSpc>
                <a:spcPts val="1180"/>
              </a:lnSpc>
              <a:buNone/>
            </a:pPr>
            <a:r>
              <a:rPr lang="en-US" sz="1000" dirty="0">
                <a:solidFill>
                  <a:srgbClr val="34D399"/>
                </a:solidFill>
                <a:latin typeface="Courier New" pitchFamily="34" charset="0"/>
                <a:ea typeface="Courier New" pitchFamily="34" charset="-122"/>
                <a:cs typeface="Courier New" pitchFamily="34" charset="-120"/>
              </a:rPr>
              <a:t>deployed app:$SHA to prod</a:t>
            </a:r>
            <a:endParaRPr lang="en-US" sz="1000" dirty="0"/>
          </a:p>
        </p:txBody>
      </p:sp>
      <p:sp>
        <p:nvSpPr>
          <p:cNvPr id="29" name="Text 26"/>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30" name="Text 27"/>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Compose, CI/CD &amp; Orchestration</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FF7ED"/>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F97316"/>
                </a:solidFill>
                <a:latin typeface="Calibri" pitchFamily="34" charset="0"/>
                <a:ea typeface="Calibri" pitchFamily="34" charset="-122"/>
                <a:cs typeface="Calibri" pitchFamily="34" charset="-120"/>
              </a:rPr>
              <a:t>THE PROBLEM</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One host is not enough</a:t>
            </a:r>
            <a:endParaRPr lang="en-US" sz="2500" dirty="0"/>
          </a:p>
        </p:txBody>
      </p:sp>
      <p:sp>
        <p:nvSpPr>
          <p:cNvPr id="6" name="Shape 3"/>
          <p:cNvSpPr/>
          <p:nvPr/>
        </p:nvSpPr>
        <p:spPr>
          <a:xfrm>
            <a:off x="457200" y="1234440"/>
            <a:ext cx="3977640" cy="2697480"/>
          </a:xfrm>
          <a:prstGeom prst="roundRect">
            <a:avLst>
              <a:gd name="adj" fmla="val 2712"/>
            </a:avLst>
          </a:prstGeom>
          <a:solidFill>
            <a:srgbClr val="FFF7ED"/>
          </a:solidFill>
          <a:ln w="12700">
            <a:solidFill>
              <a:srgbClr val="FED7AA"/>
            </a:solidFill>
            <a:prstDash val="solid"/>
          </a:ln>
          <a:effectLst>
            <a:outerShdw sx="100000" sy="100000" kx="0" ky="0" algn="bl" rotWithShape="0" blurRad="76200" dist="25400" dir="2700000">
              <a:srgbClr val="475569">
                <a:alpha val="10000"/>
              </a:srgbClr>
            </a:outerShdw>
          </a:effectLst>
        </p:spPr>
      </p:sp>
      <p:pic>
        <p:nvPicPr>
          <p:cNvPr id="7" name="Image 1" descr="preencoded.png">    </p:cNvPr>
          <p:cNvPicPr>
            <a:picLocks noChangeAspect="1"/>
          </p:cNvPicPr>
          <p:nvPr/>
        </p:nvPicPr>
        <p:blipFill>
          <a:blip r:embed="rId2"/>
          <a:stretch>
            <a:fillRect/>
          </a:stretch>
        </p:blipFill>
        <p:spPr>
          <a:xfrm>
            <a:off x="694944" y="1463040"/>
            <a:ext cx="310896" cy="310896"/>
          </a:xfrm>
          <a:prstGeom prst="rect">
            <a:avLst/>
          </a:prstGeom>
        </p:spPr>
      </p:pic>
      <p:sp>
        <p:nvSpPr>
          <p:cNvPr id="8" name="Text 4"/>
          <p:cNvSpPr/>
          <p:nvPr/>
        </p:nvSpPr>
        <p:spPr>
          <a:xfrm>
            <a:off x="1115568" y="1463040"/>
            <a:ext cx="3154680" cy="310896"/>
          </a:xfrm>
          <a:prstGeom prst="rect">
            <a:avLst/>
          </a:prstGeom>
          <a:noFill/>
          <a:ln/>
        </p:spPr>
        <p:txBody>
          <a:bodyPr wrap="square" lIns="0" tIns="0" rIns="0" bIns="0" rtlCol="0" anchor="ctr"/>
          <a:lstStyle/>
          <a:p>
            <a:pPr indent="0" marL="0">
              <a:buNone/>
            </a:pPr>
            <a:r>
              <a:rPr lang="en-US" sz="1200" b="1" spc="150" kern="0" dirty="0">
                <a:solidFill>
                  <a:srgbClr val="C2410C"/>
                </a:solidFill>
                <a:latin typeface="Calibri" pitchFamily="34" charset="0"/>
                <a:ea typeface="Calibri" pitchFamily="34" charset="-122"/>
                <a:cs typeface="Calibri" pitchFamily="34" charset="-120"/>
              </a:rPr>
              <a:t>A SINGLE DOCKER HOST</a:t>
            </a:r>
            <a:endParaRPr lang="en-US" sz="1200" dirty="0"/>
          </a:p>
        </p:txBody>
      </p:sp>
      <p:sp>
        <p:nvSpPr>
          <p:cNvPr id="9" name="Text 5"/>
          <p:cNvSpPr/>
          <p:nvPr/>
        </p:nvSpPr>
        <p:spPr>
          <a:xfrm>
            <a:off x="676656" y="1783080"/>
            <a:ext cx="3566160" cy="2103120"/>
          </a:xfrm>
          <a:prstGeom prst="rect">
            <a:avLst/>
          </a:prstGeom>
          <a:noFill/>
          <a:ln/>
        </p:spPr>
        <p:txBody>
          <a:bodyPr wrap="square" lIns="0" tIns="0" rIns="0" bIns="0" rtlCol="0" anchor="t"/>
          <a:lstStyle/>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One machine = a single point of failure</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Limited CPU / memory — can't scale past one box</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Crashed container? Nothing restarts it for you</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Scaling &amp; updates are manual and risky</a:t>
            </a:r>
            <a:endParaRPr lang="en-US" sz="1150" dirty="0"/>
          </a:p>
        </p:txBody>
      </p:sp>
      <p:sp>
        <p:nvSpPr>
          <p:cNvPr id="10" name="Shape 6"/>
          <p:cNvSpPr/>
          <p:nvPr/>
        </p:nvSpPr>
        <p:spPr>
          <a:xfrm>
            <a:off x="4709160" y="1234440"/>
            <a:ext cx="3977640" cy="2697480"/>
          </a:xfrm>
          <a:prstGeom prst="roundRect">
            <a:avLst>
              <a:gd name="adj" fmla="val 2712"/>
            </a:avLst>
          </a:prstGeom>
          <a:solidFill>
            <a:srgbClr val="F0FDFA"/>
          </a:solidFill>
          <a:ln w="12700">
            <a:solidFill>
              <a:srgbClr val="99F6E4"/>
            </a:solidFill>
            <a:prstDash val="solid"/>
          </a:ln>
          <a:effectLst>
            <a:outerShdw sx="100000" sy="100000" kx="0" ky="0" algn="bl" rotWithShape="0" blurRad="76200" dist="25400" dir="2700000">
              <a:srgbClr val="475569">
                <a:alpha val="10000"/>
              </a:srgbClr>
            </a:outerShdw>
          </a:effectLst>
        </p:spPr>
      </p:sp>
      <p:pic>
        <p:nvPicPr>
          <p:cNvPr id="11" name="Image 2" descr="preencoded.png">    </p:cNvPr>
          <p:cNvPicPr>
            <a:picLocks noChangeAspect="1"/>
          </p:cNvPicPr>
          <p:nvPr/>
        </p:nvPicPr>
        <p:blipFill>
          <a:blip r:embed="rId3"/>
          <a:stretch>
            <a:fillRect/>
          </a:stretch>
        </p:blipFill>
        <p:spPr>
          <a:xfrm>
            <a:off x="4946904" y="1463040"/>
            <a:ext cx="310896" cy="310896"/>
          </a:xfrm>
          <a:prstGeom prst="rect">
            <a:avLst/>
          </a:prstGeom>
        </p:spPr>
      </p:pic>
      <p:sp>
        <p:nvSpPr>
          <p:cNvPr id="12" name="Text 7"/>
          <p:cNvSpPr/>
          <p:nvPr/>
        </p:nvSpPr>
        <p:spPr>
          <a:xfrm>
            <a:off x="5367528" y="1463040"/>
            <a:ext cx="3154680" cy="310896"/>
          </a:xfrm>
          <a:prstGeom prst="rect">
            <a:avLst/>
          </a:prstGeom>
          <a:noFill/>
          <a:ln/>
        </p:spPr>
        <p:txBody>
          <a:bodyPr wrap="square" lIns="0" tIns="0" rIns="0" bIns="0" rtlCol="0" anchor="ctr"/>
          <a:lstStyle/>
          <a:p>
            <a:pPr indent="0" marL="0">
              <a:buNone/>
            </a:pPr>
            <a:r>
              <a:rPr lang="en-US" sz="1200" b="1" spc="150" kern="0" dirty="0">
                <a:solidFill>
                  <a:srgbClr val="0F766E"/>
                </a:solidFill>
                <a:latin typeface="Calibri" pitchFamily="34" charset="0"/>
                <a:ea typeface="Calibri" pitchFamily="34" charset="-122"/>
                <a:cs typeface="Calibri" pitchFamily="34" charset="-120"/>
              </a:rPr>
              <a:t>ORCHESTRATION</a:t>
            </a:r>
            <a:endParaRPr lang="en-US" sz="1200" dirty="0"/>
          </a:p>
        </p:txBody>
      </p:sp>
      <p:sp>
        <p:nvSpPr>
          <p:cNvPr id="13" name="Text 8"/>
          <p:cNvSpPr/>
          <p:nvPr/>
        </p:nvSpPr>
        <p:spPr>
          <a:xfrm>
            <a:off x="4928616" y="1783080"/>
            <a:ext cx="3566160" cy="2103120"/>
          </a:xfrm>
          <a:prstGeom prst="rect">
            <a:avLst/>
          </a:prstGeom>
          <a:noFill/>
          <a:ln/>
        </p:spPr>
        <p:txBody>
          <a:bodyPr wrap="square" lIns="0" tIns="0" rIns="0" bIns="0" rtlCol="0" anchor="t"/>
          <a:lstStyle/>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Run containers across a cluster of machines</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Scheduling, load-balancing &amp; self-healing built in</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Declare desired state; the orchestrator maintains it</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Rolling updates &amp; rollbacks with little downtime</a:t>
            </a:r>
            <a:endParaRPr lang="en-US" sz="1150" dirty="0"/>
          </a:p>
        </p:txBody>
      </p:sp>
      <p:sp>
        <p:nvSpPr>
          <p:cNvPr id="14" name="Shape 9"/>
          <p:cNvSpPr/>
          <p:nvPr/>
        </p:nvSpPr>
        <p:spPr>
          <a:xfrm>
            <a:off x="457200" y="4114800"/>
            <a:ext cx="8229600" cy="475488"/>
          </a:xfrm>
          <a:prstGeom prst="roundRect">
            <a:avLst>
              <a:gd name="adj" fmla="val 15385"/>
            </a:avLst>
          </a:prstGeom>
          <a:solidFill>
            <a:srgbClr val="0F766E"/>
          </a:solidFill>
          <a:ln/>
          <a:effectLst>
            <a:outerShdw sx="100000" sy="100000" kx="0" ky="0" algn="bl" rotWithShape="0" blurRad="76200" dist="25400" dir="2700000">
              <a:srgbClr val="475569">
                <a:alpha val="12000"/>
              </a:srgbClr>
            </a:outerShdw>
          </a:effectLst>
        </p:spPr>
      </p:sp>
      <p:sp>
        <p:nvSpPr>
          <p:cNvPr id="15" name="Text 10"/>
          <p:cNvSpPr/>
          <p:nvPr/>
        </p:nvSpPr>
        <p:spPr>
          <a:xfrm>
            <a:off x="640080" y="4114800"/>
            <a:ext cx="7863840" cy="475488"/>
          </a:xfrm>
          <a:prstGeom prst="rect">
            <a:avLst/>
          </a:prstGeom>
          <a:noFill/>
          <a:ln/>
        </p:spPr>
        <p:txBody>
          <a:bodyPr wrap="square" lIns="0" tIns="0" rIns="0" bIns="0" rtlCol="0" anchor="ctr"/>
          <a:lstStyle/>
          <a:p>
            <a:pPr algn="ctr" indent="0" marL="0">
              <a:buNone/>
            </a:pPr>
            <a:r>
              <a:rPr lang="en-US" sz="1250" b="1" i="1" dirty="0">
                <a:solidFill>
                  <a:srgbClr val="FFFFFF"/>
                </a:solidFill>
                <a:latin typeface="Calibri" pitchFamily="34" charset="0"/>
                <a:ea typeface="Calibri" pitchFamily="34" charset="-122"/>
                <a:cs typeface="Calibri" pitchFamily="34" charset="-120"/>
              </a:rPr>
              <a:t>Tell it what you want running; it keeps it running.</a:t>
            </a:r>
            <a:endParaRPr lang="en-US" sz="1250" dirty="0"/>
          </a:p>
        </p:txBody>
      </p:sp>
      <p:sp>
        <p:nvSpPr>
          <p:cNvPr id="16" name="Text 11"/>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17" name="Text 12"/>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Compose, CI/CD &amp; Orchestration</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BUILT-IN ORCHESTRATION</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Docker Swarm</a:t>
            </a:r>
            <a:endParaRPr lang="en-US" sz="2500" dirty="0"/>
          </a:p>
        </p:txBody>
      </p:sp>
      <p:sp>
        <p:nvSpPr>
          <p:cNvPr id="6" name="Shape 3"/>
          <p:cNvSpPr/>
          <p:nvPr/>
        </p:nvSpPr>
        <p:spPr>
          <a:xfrm>
            <a:off x="640080" y="1463040"/>
            <a:ext cx="3108960" cy="594360"/>
          </a:xfrm>
          <a:prstGeom prst="roundRect">
            <a:avLst>
              <a:gd name="adj" fmla="val 12308"/>
            </a:avLst>
          </a:prstGeom>
          <a:solidFill>
            <a:srgbClr val="0D9488"/>
          </a:solidFill>
          <a:ln/>
          <a:effectLst>
            <a:outerShdw sx="100000" sy="100000" kx="0" ky="0" algn="bl" rotWithShape="0" blurRad="76200" dist="25400" dir="2700000">
              <a:srgbClr val="475569">
                <a:alpha val="12000"/>
              </a:srgbClr>
            </a:outerShdw>
          </a:effectLst>
        </p:spPr>
      </p:sp>
      <p:sp>
        <p:nvSpPr>
          <p:cNvPr id="7" name="Text 4"/>
          <p:cNvSpPr/>
          <p:nvPr/>
        </p:nvSpPr>
        <p:spPr>
          <a:xfrm>
            <a:off x="640080" y="1463040"/>
            <a:ext cx="310896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Manager  (Raft consensus)</a:t>
            </a:r>
            <a:endParaRPr lang="en-US" sz="1100" dirty="0"/>
          </a:p>
        </p:txBody>
      </p:sp>
      <p:sp>
        <p:nvSpPr>
          <p:cNvPr id="8" name="Shape 5"/>
          <p:cNvSpPr/>
          <p:nvPr/>
        </p:nvSpPr>
        <p:spPr>
          <a:xfrm>
            <a:off x="640080" y="2743200"/>
            <a:ext cx="950976" cy="1005840"/>
          </a:xfrm>
          <a:prstGeom prst="roundRect">
            <a:avLst>
              <a:gd name="adj" fmla="val 5769"/>
            </a:avLst>
          </a:prstGeom>
          <a:solidFill>
            <a:srgbClr val="EAF4FD"/>
          </a:solidFill>
          <a:ln w="12700">
            <a:solidFill>
              <a:srgbClr val="BBDDF7"/>
            </a:solidFill>
            <a:prstDash val="solid"/>
          </a:ln>
        </p:spPr>
      </p:sp>
      <p:sp>
        <p:nvSpPr>
          <p:cNvPr id="9" name="Text 6"/>
          <p:cNvSpPr/>
          <p:nvPr/>
        </p:nvSpPr>
        <p:spPr>
          <a:xfrm>
            <a:off x="640080" y="2779776"/>
            <a:ext cx="950976" cy="201168"/>
          </a:xfrm>
          <a:prstGeom prst="rect">
            <a:avLst/>
          </a:prstGeom>
          <a:noFill/>
          <a:ln/>
        </p:spPr>
        <p:txBody>
          <a:bodyPr wrap="square" lIns="0" tIns="0" rIns="0" bIns="0" rtlCol="0" anchor="ctr"/>
          <a:lstStyle/>
          <a:p>
            <a:pPr algn="ctr" indent="0" marL="0">
              <a:buNone/>
            </a:pPr>
            <a:r>
              <a:rPr lang="en-US" sz="850" b="1" dirty="0">
                <a:solidFill>
                  <a:srgbClr val="2496ED"/>
                </a:solidFill>
                <a:latin typeface="Calibri" pitchFamily="34" charset="0"/>
                <a:ea typeface="Calibri" pitchFamily="34" charset="-122"/>
                <a:cs typeface="Calibri" pitchFamily="34" charset="-120"/>
              </a:rPr>
              <a:t>worker</a:t>
            </a:r>
            <a:endParaRPr lang="en-US" sz="850" dirty="0"/>
          </a:p>
        </p:txBody>
      </p:sp>
      <p:sp>
        <p:nvSpPr>
          <p:cNvPr id="10" name="Shape 7"/>
          <p:cNvSpPr/>
          <p:nvPr/>
        </p:nvSpPr>
        <p:spPr>
          <a:xfrm>
            <a:off x="786384" y="3054096"/>
            <a:ext cx="292608" cy="548640"/>
          </a:xfrm>
          <a:prstGeom prst="rect">
            <a:avLst/>
          </a:prstGeom>
          <a:solidFill>
            <a:srgbClr val="0D9488"/>
          </a:solidFill>
          <a:ln w="12700">
            <a:solidFill>
              <a:srgbClr val="FFFFFF"/>
            </a:solidFill>
            <a:prstDash val="solid"/>
          </a:ln>
        </p:spPr>
      </p:sp>
      <p:sp>
        <p:nvSpPr>
          <p:cNvPr id="11" name="Shape 8"/>
          <p:cNvSpPr/>
          <p:nvPr/>
        </p:nvSpPr>
        <p:spPr>
          <a:xfrm>
            <a:off x="1152144" y="3054096"/>
            <a:ext cx="292608" cy="548640"/>
          </a:xfrm>
          <a:prstGeom prst="rect">
            <a:avLst/>
          </a:prstGeom>
          <a:solidFill>
            <a:srgbClr val="0D9488"/>
          </a:solidFill>
          <a:ln w="12700">
            <a:solidFill>
              <a:srgbClr val="FFFFFF"/>
            </a:solidFill>
            <a:prstDash val="solid"/>
          </a:ln>
        </p:spPr>
      </p:sp>
      <p:sp>
        <p:nvSpPr>
          <p:cNvPr id="12" name="Shape 9"/>
          <p:cNvSpPr/>
          <p:nvPr/>
        </p:nvSpPr>
        <p:spPr>
          <a:xfrm>
            <a:off x="2194560" y="2057400"/>
            <a:ext cx="-1078992" cy="685800"/>
          </a:xfrm>
          <a:prstGeom prst="line">
            <a:avLst/>
          </a:prstGeom>
          <a:noFill/>
          <a:ln w="17780">
            <a:solidFill>
              <a:srgbClr val="94A3B8"/>
            </a:solidFill>
            <a:prstDash val="solid"/>
            <a:tailEnd type="triangle"/>
          </a:ln>
        </p:spPr>
      </p:sp>
      <p:sp>
        <p:nvSpPr>
          <p:cNvPr id="13" name="Shape 10"/>
          <p:cNvSpPr/>
          <p:nvPr/>
        </p:nvSpPr>
        <p:spPr>
          <a:xfrm>
            <a:off x="1719072" y="2743200"/>
            <a:ext cx="950976" cy="1005840"/>
          </a:xfrm>
          <a:prstGeom prst="roundRect">
            <a:avLst>
              <a:gd name="adj" fmla="val 5769"/>
            </a:avLst>
          </a:prstGeom>
          <a:solidFill>
            <a:srgbClr val="EAF4FD"/>
          </a:solidFill>
          <a:ln w="12700">
            <a:solidFill>
              <a:srgbClr val="BBDDF7"/>
            </a:solidFill>
            <a:prstDash val="solid"/>
          </a:ln>
        </p:spPr>
      </p:sp>
      <p:sp>
        <p:nvSpPr>
          <p:cNvPr id="14" name="Text 11"/>
          <p:cNvSpPr/>
          <p:nvPr/>
        </p:nvSpPr>
        <p:spPr>
          <a:xfrm>
            <a:off x="1719072" y="2779776"/>
            <a:ext cx="950976" cy="201168"/>
          </a:xfrm>
          <a:prstGeom prst="rect">
            <a:avLst/>
          </a:prstGeom>
          <a:noFill/>
          <a:ln/>
        </p:spPr>
        <p:txBody>
          <a:bodyPr wrap="square" lIns="0" tIns="0" rIns="0" bIns="0" rtlCol="0" anchor="ctr"/>
          <a:lstStyle/>
          <a:p>
            <a:pPr algn="ctr" indent="0" marL="0">
              <a:buNone/>
            </a:pPr>
            <a:r>
              <a:rPr lang="en-US" sz="850" b="1" dirty="0">
                <a:solidFill>
                  <a:srgbClr val="2496ED"/>
                </a:solidFill>
                <a:latin typeface="Calibri" pitchFamily="34" charset="0"/>
                <a:ea typeface="Calibri" pitchFamily="34" charset="-122"/>
                <a:cs typeface="Calibri" pitchFamily="34" charset="-120"/>
              </a:rPr>
              <a:t>worker</a:t>
            </a:r>
            <a:endParaRPr lang="en-US" sz="850" dirty="0"/>
          </a:p>
        </p:txBody>
      </p:sp>
      <p:sp>
        <p:nvSpPr>
          <p:cNvPr id="15" name="Shape 12"/>
          <p:cNvSpPr/>
          <p:nvPr/>
        </p:nvSpPr>
        <p:spPr>
          <a:xfrm>
            <a:off x="1865376" y="3054096"/>
            <a:ext cx="292608" cy="548640"/>
          </a:xfrm>
          <a:prstGeom prst="rect">
            <a:avLst/>
          </a:prstGeom>
          <a:solidFill>
            <a:srgbClr val="0D9488"/>
          </a:solidFill>
          <a:ln w="12700">
            <a:solidFill>
              <a:srgbClr val="FFFFFF"/>
            </a:solidFill>
            <a:prstDash val="solid"/>
          </a:ln>
        </p:spPr>
      </p:sp>
      <p:sp>
        <p:nvSpPr>
          <p:cNvPr id="16" name="Shape 13"/>
          <p:cNvSpPr/>
          <p:nvPr/>
        </p:nvSpPr>
        <p:spPr>
          <a:xfrm>
            <a:off x="2231136" y="3054096"/>
            <a:ext cx="292608" cy="548640"/>
          </a:xfrm>
          <a:prstGeom prst="rect">
            <a:avLst/>
          </a:prstGeom>
          <a:solidFill>
            <a:srgbClr val="0D9488"/>
          </a:solidFill>
          <a:ln w="12700">
            <a:solidFill>
              <a:srgbClr val="FFFFFF"/>
            </a:solidFill>
            <a:prstDash val="solid"/>
          </a:ln>
        </p:spPr>
      </p:sp>
      <p:sp>
        <p:nvSpPr>
          <p:cNvPr id="17" name="Shape 14"/>
          <p:cNvSpPr/>
          <p:nvPr/>
        </p:nvSpPr>
        <p:spPr>
          <a:xfrm>
            <a:off x="2194560" y="2057400"/>
            <a:ext cx="0" cy="685800"/>
          </a:xfrm>
          <a:prstGeom prst="line">
            <a:avLst/>
          </a:prstGeom>
          <a:noFill/>
          <a:ln w="17780">
            <a:solidFill>
              <a:srgbClr val="94A3B8"/>
            </a:solidFill>
            <a:prstDash val="solid"/>
            <a:tailEnd type="triangle"/>
          </a:ln>
        </p:spPr>
      </p:sp>
      <p:sp>
        <p:nvSpPr>
          <p:cNvPr id="18" name="Shape 15"/>
          <p:cNvSpPr/>
          <p:nvPr/>
        </p:nvSpPr>
        <p:spPr>
          <a:xfrm>
            <a:off x="2798064" y="2743200"/>
            <a:ext cx="950976" cy="1005840"/>
          </a:xfrm>
          <a:prstGeom prst="roundRect">
            <a:avLst>
              <a:gd name="adj" fmla="val 5769"/>
            </a:avLst>
          </a:prstGeom>
          <a:solidFill>
            <a:srgbClr val="EAF4FD"/>
          </a:solidFill>
          <a:ln w="12700">
            <a:solidFill>
              <a:srgbClr val="BBDDF7"/>
            </a:solidFill>
            <a:prstDash val="solid"/>
          </a:ln>
        </p:spPr>
      </p:sp>
      <p:sp>
        <p:nvSpPr>
          <p:cNvPr id="19" name="Text 16"/>
          <p:cNvSpPr/>
          <p:nvPr/>
        </p:nvSpPr>
        <p:spPr>
          <a:xfrm>
            <a:off x="2798064" y="2779776"/>
            <a:ext cx="950976" cy="201168"/>
          </a:xfrm>
          <a:prstGeom prst="rect">
            <a:avLst/>
          </a:prstGeom>
          <a:noFill/>
          <a:ln/>
        </p:spPr>
        <p:txBody>
          <a:bodyPr wrap="square" lIns="0" tIns="0" rIns="0" bIns="0" rtlCol="0" anchor="ctr"/>
          <a:lstStyle/>
          <a:p>
            <a:pPr algn="ctr" indent="0" marL="0">
              <a:buNone/>
            </a:pPr>
            <a:r>
              <a:rPr lang="en-US" sz="850" b="1" dirty="0">
                <a:solidFill>
                  <a:srgbClr val="2496ED"/>
                </a:solidFill>
                <a:latin typeface="Calibri" pitchFamily="34" charset="0"/>
                <a:ea typeface="Calibri" pitchFamily="34" charset="-122"/>
                <a:cs typeface="Calibri" pitchFamily="34" charset="-120"/>
              </a:rPr>
              <a:t>worker</a:t>
            </a:r>
            <a:endParaRPr lang="en-US" sz="850" dirty="0"/>
          </a:p>
        </p:txBody>
      </p:sp>
      <p:sp>
        <p:nvSpPr>
          <p:cNvPr id="20" name="Shape 17"/>
          <p:cNvSpPr/>
          <p:nvPr/>
        </p:nvSpPr>
        <p:spPr>
          <a:xfrm>
            <a:off x="2944368" y="3054096"/>
            <a:ext cx="292608" cy="548640"/>
          </a:xfrm>
          <a:prstGeom prst="rect">
            <a:avLst/>
          </a:prstGeom>
          <a:solidFill>
            <a:srgbClr val="0D9488"/>
          </a:solidFill>
          <a:ln w="12700">
            <a:solidFill>
              <a:srgbClr val="FFFFFF"/>
            </a:solidFill>
            <a:prstDash val="solid"/>
          </a:ln>
        </p:spPr>
      </p:sp>
      <p:sp>
        <p:nvSpPr>
          <p:cNvPr id="21" name="Shape 18"/>
          <p:cNvSpPr/>
          <p:nvPr/>
        </p:nvSpPr>
        <p:spPr>
          <a:xfrm>
            <a:off x="3310128" y="3054096"/>
            <a:ext cx="292608" cy="548640"/>
          </a:xfrm>
          <a:prstGeom prst="rect">
            <a:avLst/>
          </a:prstGeom>
          <a:solidFill>
            <a:srgbClr val="0D9488"/>
          </a:solidFill>
          <a:ln w="12700">
            <a:solidFill>
              <a:srgbClr val="FFFFFF"/>
            </a:solidFill>
            <a:prstDash val="solid"/>
          </a:ln>
        </p:spPr>
      </p:sp>
      <p:sp>
        <p:nvSpPr>
          <p:cNvPr id="22" name="Shape 19"/>
          <p:cNvSpPr/>
          <p:nvPr/>
        </p:nvSpPr>
        <p:spPr>
          <a:xfrm>
            <a:off x="2194560" y="2057400"/>
            <a:ext cx="1078992" cy="685800"/>
          </a:xfrm>
          <a:prstGeom prst="line">
            <a:avLst/>
          </a:prstGeom>
          <a:noFill/>
          <a:ln w="17780">
            <a:solidFill>
              <a:srgbClr val="94A3B8"/>
            </a:solidFill>
            <a:prstDash val="solid"/>
            <a:tailEnd type="triangle"/>
          </a:ln>
        </p:spPr>
      </p:sp>
      <p:sp>
        <p:nvSpPr>
          <p:cNvPr id="23" name="Text 20"/>
          <p:cNvSpPr/>
          <p:nvPr/>
        </p:nvSpPr>
        <p:spPr>
          <a:xfrm>
            <a:off x="640080" y="3822192"/>
            <a:ext cx="3108960" cy="201168"/>
          </a:xfrm>
          <a:prstGeom prst="rect">
            <a:avLst/>
          </a:prstGeom>
          <a:noFill/>
          <a:ln/>
        </p:spPr>
        <p:txBody>
          <a:bodyPr wrap="square" lIns="0" tIns="0" rIns="0" bIns="0" rtlCol="0" anchor="ctr"/>
          <a:lstStyle/>
          <a:p>
            <a:pPr algn="ctr" indent="0" marL="0">
              <a:buNone/>
            </a:pPr>
            <a:r>
              <a:rPr lang="en-US" sz="850" i="1" dirty="0">
                <a:solidFill>
                  <a:srgbClr val="64748B"/>
                </a:solidFill>
                <a:latin typeface="Calibri" pitchFamily="34" charset="0"/>
                <a:ea typeface="Calibri" pitchFamily="34" charset="-122"/>
                <a:cs typeface="Calibri" pitchFamily="34" charset="-120"/>
              </a:rPr>
              <a:t>desired state → scheduled tasks (replicas)</a:t>
            </a:r>
            <a:endParaRPr lang="en-US" sz="850" dirty="0"/>
          </a:p>
        </p:txBody>
      </p:sp>
      <p:sp>
        <p:nvSpPr>
          <p:cNvPr id="24" name="Text 21"/>
          <p:cNvSpPr/>
          <p:nvPr/>
        </p:nvSpPr>
        <p:spPr>
          <a:xfrm>
            <a:off x="4114800" y="1371600"/>
            <a:ext cx="4572000" cy="2148840"/>
          </a:xfrm>
          <a:prstGeom prst="rect">
            <a:avLst/>
          </a:prstGeom>
          <a:noFill/>
          <a:ln/>
        </p:spPr>
        <p:txBody>
          <a:bodyPr wrap="square" lIns="0" tIns="0" rIns="0" bIns="0" rtlCol="0" anchor="t"/>
          <a:lstStyle/>
          <a:p>
            <a:pPr algn="l" marL="190500" indent="-190500">
              <a:buSzPct val="100000"/>
              <a:buChar char="•"/>
            </a:pPr>
            <a:r>
              <a:rPr lang="en-US" sz="1060" b="1" dirty="0">
                <a:solidFill>
                  <a:srgbClr val="0F172A"/>
                </a:solidFill>
                <a:latin typeface="Calibri" pitchFamily="34" charset="0"/>
                <a:ea typeface="Calibri" pitchFamily="34" charset="-122"/>
                <a:cs typeface="Calibri" pitchFamily="34" charset="-120"/>
              </a:rPr>
              <a:t>Managers &amp; workers</a:t>
            </a:r>
            <a:pPr algn="l" indent="0" marL="0">
              <a:spcAft>
                <a:spcPts val="500"/>
              </a:spcAft>
              <a:buNone/>
            </a:pPr>
            <a:r>
              <a:rPr lang="en-US" sz="1060" dirty="0">
                <a:solidFill>
                  <a:srgbClr val="475569"/>
                </a:solidFill>
                <a:latin typeface="Calibri" pitchFamily="34" charset="0"/>
                <a:ea typeface="Calibri" pitchFamily="34" charset="-122"/>
                <a:cs typeface="Calibri" pitchFamily="34" charset="-120"/>
              </a:rPr>
              <a:t>  managers hold state via Raft; workers run tasks</a:t>
            </a:r>
            <a:endParaRPr lang="en-US" sz="1060" dirty="0"/>
          </a:p>
          <a:p>
            <a:pPr algn="l" marL="190500" indent="-190500">
              <a:buSzPct val="100000"/>
              <a:buChar char="•"/>
            </a:pPr>
            <a:r>
              <a:rPr lang="en-US" sz="1060" b="1" dirty="0">
                <a:solidFill>
                  <a:srgbClr val="0F172A"/>
                </a:solidFill>
                <a:latin typeface="Calibri" pitchFamily="34" charset="0"/>
                <a:ea typeface="Calibri" pitchFamily="34" charset="-122"/>
                <a:cs typeface="Calibri" pitchFamily="34" charset="-120"/>
              </a:rPr>
              <a:t>Services &amp; replicas</a:t>
            </a:r>
            <a:pPr algn="l" indent="0" marL="0">
              <a:spcAft>
                <a:spcPts val="500"/>
              </a:spcAft>
              <a:buNone/>
            </a:pPr>
            <a:r>
              <a:rPr lang="en-US" sz="1060" dirty="0">
                <a:solidFill>
                  <a:srgbClr val="475569"/>
                </a:solidFill>
                <a:latin typeface="Calibri" pitchFamily="34" charset="0"/>
                <a:ea typeface="Calibri" pitchFamily="34" charset="-122"/>
                <a:cs typeface="Calibri" pitchFamily="34" charset="-120"/>
              </a:rPr>
              <a:t>  declare 'run 3 copies'; Swarm schedules them</a:t>
            </a:r>
            <a:endParaRPr lang="en-US" sz="1060" dirty="0"/>
          </a:p>
          <a:p>
            <a:pPr algn="l" marL="190500" indent="-190500">
              <a:buSzPct val="100000"/>
              <a:buChar char="•"/>
            </a:pPr>
            <a:r>
              <a:rPr lang="en-US" sz="1060" b="1" dirty="0">
                <a:solidFill>
                  <a:srgbClr val="0F172A"/>
                </a:solidFill>
                <a:latin typeface="Calibri" pitchFamily="34" charset="0"/>
                <a:ea typeface="Calibri" pitchFamily="34" charset="-122"/>
                <a:cs typeface="Calibri" pitchFamily="34" charset="-120"/>
              </a:rPr>
              <a:t>Self-healing</a:t>
            </a:r>
            <a:pPr algn="l" indent="0" marL="0">
              <a:spcAft>
                <a:spcPts val="500"/>
              </a:spcAft>
              <a:buNone/>
            </a:pPr>
            <a:r>
              <a:rPr lang="en-US" sz="1060" dirty="0">
                <a:solidFill>
                  <a:srgbClr val="475569"/>
                </a:solidFill>
                <a:latin typeface="Calibri" pitchFamily="34" charset="0"/>
                <a:ea typeface="Calibri" pitchFamily="34" charset="-122"/>
                <a:cs typeface="Calibri" pitchFamily="34" charset="-120"/>
              </a:rPr>
              <a:t>  a dead task is rescheduled automatically</a:t>
            </a:r>
            <a:endParaRPr lang="en-US" sz="1060" dirty="0"/>
          </a:p>
          <a:p>
            <a:pPr algn="l" marL="190500" indent="-190500">
              <a:buSzPct val="100000"/>
              <a:buChar char="•"/>
            </a:pPr>
            <a:r>
              <a:rPr lang="en-US" sz="1060" b="1" dirty="0">
                <a:solidFill>
                  <a:srgbClr val="0F172A"/>
                </a:solidFill>
                <a:latin typeface="Calibri" pitchFamily="34" charset="0"/>
                <a:ea typeface="Calibri" pitchFamily="34" charset="-122"/>
                <a:cs typeface="Calibri" pitchFamily="34" charset="-120"/>
              </a:rPr>
              <a:t>Routing mesh</a:t>
            </a:r>
            <a:pPr algn="l" indent="0" marL="0">
              <a:spcAft>
                <a:spcPts val="500"/>
              </a:spcAft>
              <a:buNone/>
            </a:pPr>
            <a:r>
              <a:rPr lang="en-US" sz="1060" dirty="0">
                <a:solidFill>
                  <a:srgbClr val="475569"/>
                </a:solidFill>
                <a:latin typeface="Calibri" pitchFamily="34" charset="0"/>
                <a:ea typeface="Calibri" pitchFamily="34" charset="-122"/>
                <a:cs typeface="Calibri" pitchFamily="34" charset="-120"/>
              </a:rPr>
              <a:t>  hit any node:port → routed to a healthy replica</a:t>
            </a:r>
            <a:endParaRPr lang="en-US" sz="1060" dirty="0"/>
          </a:p>
          <a:p>
            <a:pPr algn="l" marL="190500" indent="-190500">
              <a:buSzPct val="100000"/>
              <a:buChar char="•"/>
            </a:pPr>
            <a:r>
              <a:rPr lang="en-US" sz="1060" b="1" dirty="0">
                <a:solidFill>
                  <a:srgbClr val="0F172A"/>
                </a:solidFill>
                <a:latin typeface="Calibri" pitchFamily="34" charset="0"/>
                <a:ea typeface="Calibri" pitchFamily="34" charset="-122"/>
                <a:cs typeface="Calibri" pitchFamily="34" charset="-120"/>
              </a:rPr>
              <a:t>Rolling updates</a:t>
            </a:r>
            <a:pPr algn="l" indent="0" marL="0">
              <a:spcAft>
                <a:spcPts val="500"/>
              </a:spcAft>
              <a:buNone/>
            </a:pPr>
            <a:r>
              <a:rPr lang="en-US" sz="1060" dirty="0">
                <a:solidFill>
                  <a:srgbClr val="475569"/>
                </a:solidFill>
                <a:latin typeface="Calibri" pitchFamily="34" charset="0"/>
                <a:ea typeface="Calibri" pitchFamily="34" charset="-122"/>
                <a:cs typeface="Calibri" pitchFamily="34" charset="-120"/>
              </a:rPr>
              <a:t>  update gradually; roll back on failure</a:t>
            </a:r>
            <a:endParaRPr lang="en-US" sz="1060" dirty="0"/>
          </a:p>
        </p:txBody>
      </p:sp>
      <p:sp>
        <p:nvSpPr>
          <p:cNvPr id="25" name="Shape 22"/>
          <p:cNvSpPr/>
          <p:nvPr/>
        </p:nvSpPr>
        <p:spPr>
          <a:xfrm>
            <a:off x="4114800" y="3611880"/>
            <a:ext cx="4572000" cy="868680"/>
          </a:xfrm>
          <a:prstGeom prst="roundRect">
            <a:avLst>
              <a:gd name="adj" fmla="val 7368"/>
            </a:avLst>
          </a:prstGeom>
          <a:solidFill>
            <a:srgbClr val="1E293B"/>
          </a:solidFill>
          <a:ln w="12700">
            <a:solidFill>
              <a:srgbClr val="334155"/>
            </a:solidFill>
            <a:prstDash val="solid"/>
          </a:ln>
          <a:effectLst>
            <a:outerShdw sx="100000" sy="100000" kx="0" ky="0" algn="bl" rotWithShape="0" blurRad="114300" dist="38100" dir="2700000">
              <a:srgbClr val="475569">
                <a:alpha val="24000"/>
              </a:srgbClr>
            </a:outerShdw>
          </a:effectLst>
        </p:spPr>
      </p:sp>
      <p:sp>
        <p:nvSpPr>
          <p:cNvPr id="26" name="Shape 23"/>
          <p:cNvSpPr/>
          <p:nvPr/>
        </p:nvSpPr>
        <p:spPr>
          <a:xfrm>
            <a:off x="4315968" y="3794760"/>
            <a:ext cx="91440" cy="91440"/>
          </a:xfrm>
          <a:prstGeom prst="ellipse">
            <a:avLst/>
          </a:prstGeom>
          <a:solidFill>
            <a:srgbClr val="EF4444"/>
          </a:solidFill>
          <a:ln/>
        </p:spPr>
      </p:sp>
      <p:sp>
        <p:nvSpPr>
          <p:cNvPr id="27" name="Shape 24"/>
          <p:cNvSpPr/>
          <p:nvPr/>
        </p:nvSpPr>
        <p:spPr>
          <a:xfrm>
            <a:off x="4462272" y="3794760"/>
            <a:ext cx="91440" cy="91440"/>
          </a:xfrm>
          <a:prstGeom prst="ellipse">
            <a:avLst/>
          </a:prstGeom>
          <a:solidFill>
            <a:srgbClr val="F59E0B"/>
          </a:solidFill>
          <a:ln/>
        </p:spPr>
      </p:sp>
      <p:sp>
        <p:nvSpPr>
          <p:cNvPr id="28" name="Shape 25"/>
          <p:cNvSpPr/>
          <p:nvPr/>
        </p:nvSpPr>
        <p:spPr>
          <a:xfrm>
            <a:off x="4608576" y="3794760"/>
            <a:ext cx="91440" cy="91440"/>
          </a:xfrm>
          <a:prstGeom prst="ellipse">
            <a:avLst/>
          </a:prstGeom>
          <a:solidFill>
            <a:srgbClr val="22C55E"/>
          </a:solidFill>
          <a:ln/>
        </p:spPr>
      </p:sp>
      <p:sp>
        <p:nvSpPr>
          <p:cNvPr id="29" name="Text 26"/>
          <p:cNvSpPr/>
          <p:nvPr/>
        </p:nvSpPr>
        <p:spPr>
          <a:xfrm>
            <a:off x="4828032" y="3730752"/>
            <a:ext cx="3657600" cy="201168"/>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swarm</a:t>
            </a:r>
            <a:endParaRPr lang="en-US" sz="900" dirty="0"/>
          </a:p>
        </p:txBody>
      </p:sp>
      <p:sp>
        <p:nvSpPr>
          <p:cNvPr id="30" name="Text 27"/>
          <p:cNvSpPr/>
          <p:nvPr/>
        </p:nvSpPr>
        <p:spPr>
          <a:xfrm>
            <a:off x="4334256" y="4050792"/>
            <a:ext cx="4133088" cy="320040"/>
          </a:xfrm>
          <a:prstGeom prst="rect">
            <a:avLst/>
          </a:prstGeom>
          <a:noFill/>
          <a:ln/>
        </p:spPr>
        <p:txBody>
          <a:bodyPr wrap="square" lIns="0" tIns="0" rIns="0" bIns="0" rtlCol="0" anchor="t"/>
          <a:lstStyle/>
          <a:p>
            <a:pPr algn="l" indent="0" marL="0">
              <a:lnSpc>
                <a:spcPts val="1086"/>
              </a:lnSpc>
              <a:buNone/>
            </a:pPr>
            <a:r>
              <a:rPr lang="en-US" sz="920" b="1" dirty="0">
                <a:solidFill>
                  <a:srgbClr val="0D9488"/>
                </a:solidFill>
                <a:latin typeface="Courier New" pitchFamily="34" charset="0"/>
                <a:ea typeface="Courier New" pitchFamily="34" charset="-122"/>
                <a:cs typeface="Courier New" pitchFamily="34" charset="-120"/>
              </a:rPr>
              <a:t>$ </a:t>
            </a:r>
            <a:pPr algn="l" indent="0" marL="0">
              <a:lnSpc>
                <a:spcPts val="1086"/>
              </a:lnSpc>
              <a:buNone/>
            </a:pPr>
            <a:r>
              <a:rPr lang="en-US" sz="920" dirty="0">
                <a:solidFill>
                  <a:srgbClr val="FFFFFF"/>
                </a:solidFill>
                <a:latin typeface="Courier New" pitchFamily="34" charset="0"/>
                <a:ea typeface="Courier New" pitchFamily="34" charset="-122"/>
                <a:cs typeface="Courier New" pitchFamily="34" charset="-120"/>
              </a:rPr>
              <a:t>docker swarm init</a:t>
            </a:r>
            <a:endParaRPr lang="en-US" sz="920" dirty="0"/>
          </a:p>
          <a:p>
            <a:pPr algn="l" indent="0" marL="0">
              <a:lnSpc>
                <a:spcPts val="1086"/>
              </a:lnSpc>
              <a:buNone/>
            </a:pPr>
            <a:r>
              <a:rPr lang="en-US" sz="920" b="1" dirty="0">
                <a:solidFill>
                  <a:srgbClr val="0D9488"/>
                </a:solidFill>
                <a:latin typeface="Courier New" pitchFamily="34" charset="0"/>
                <a:ea typeface="Courier New" pitchFamily="34" charset="-122"/>
                <a:cs typeface="Courier New" pitchFamily="34" charset="-120"/>
              </a:rPr>
              <a:t>$ </a:t>
            </a:r>
            <a:pPr algn="l" indent="0" marL="0">
              <a:lnSpc>
                <a:spcPts val="1086"/>
              </a:lnSpc>
              <a:buNone/>
            </a:pPr>
            <a:r>
              <a:rPr lang="en-US" sz="920" dirty="0">
                <a:solidFill>
                  <a:srgbClr val="FFFFFF"/>
                </a:solidFill>
                <a:latin typeface="Courier New" pitchFamily="34" charset="0"/>
                <a:ea typeface="Courier New" pitchFamily="34" charset="-122"/>
                <a:cs typeface="Courier New" pitchFamily="34" charset="-120"/>
              </a:rPr>
              <a:t>docker service create --replicas 3 -p 80:80 nginx</a:t>
            </a:r>
            <a:endParaRPr lang="en-US" sz="920" dirty="0"/>
          </a:p>
          <a:p>
            <a:pPr algn="l" indent="0" marL="0">
              <a:lnSpc>
                <a:spcPts val="1086"/>
              </a:lnSpc>
              <a:buNone/>
            </a:pPr>
            <a:r>
              <a:rPr lang="en-US" sz="920" dirty="0">
                <a:solidFill>
                  <a:srgbClr val="34D399"/>
                </a:solidFill>
                <a:latin typeface="Courier New" pitchFamily="34" charset="0"/>
                <a:ea typeface="Courier New" pitchFamily="34" charset="-122"/>
                <a:cs typeface="Courier New" pitchFamily="34" charset="-120"/>
              </a:rPr>
              <a:t>overall progress: 3 out of 3 tasks</a:t>
            </a:r>
            <a:endParaRPr lang="en-US" sz="920" dirty="0"/>
          </a:p>
        </p:txBody>
      </p:sp>
      <p:sp>
        <p:nvSpPr>
          <p:cNvPr id="31" name="Text 28"/>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32" name="Text 29"/>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Compose, CI/CD &amp; Orchestration</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THE LANDSCAPE</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Swarm vs Kubernetes</a:t>
            </a:r>
            <a:endParaRPr lang="en-US" sz="2500" dirty="0"/>
          </a:p>
        </p:txBody>
      </p:sp>
      <p:sp>
        <p:nvSpPr>
          <p:cNvPr id="6" name="Shape 3"/>
          <p:cNvSpPr/>
          <p:nvPr/>
        </p:nvSpPr>
        <p:spPr>
          <a:xfrm>
            <a:off x="457200" y="1234440"/>
            <a:ext cx="3977640" cy="2697480"/>
          </a:xfrm>
          <a:prstGeom prst="roundRect">
            <a:avLst>
              <a:gd name="adj" fmla="val 2712"/>
            </a:avLst>
          </a:prstGeom>
          <a:solidFill>
            <a:srgbClr val="F0FDFA"/>
          </a:solidFill>
          <a:ln w="12700">
            <a:solidFill>
              <a:srgbClr val="99F6E4"/>
            </a:solidFill>
            <a:prstDash val="solid"/>
          </a:ln>
          <a:effectLst>
            <a:outerShdw sx="100000" sy="100000" kx="0" ky="0" algn="bl" rotWithShape="0" blurRad="76200" dist="25400" dir="2700000">
              <a:srgbClr val="475569">
                <a:alpha val="10000"/>
              </a:srgbClr>
            </a:outerShdw>
          </a:effectLst>
        </p:spPr>
      </p:sp>
      <p:pic>
        <p:nvPicPr>
          <p:cNvPr id="7" name="Image 1" descr="preencoded.png">    </p:cNvPr>
          <p:cNvPicPr>
            <a:picLocks noChangeAspect="1"/>
          </p:cNvPicPr>
          <p:nvPr/>
        </p:nvPicPr>
        <p:blipFill>
          <a:blip r:embed="rId2"/>
          <a:stretch>
            <a:fillRect/>
          </a:stretch>
        </p:blipFill>
        <p:spPr>
          <a:xfrm>
            <a:off x="694944" y="1463040"/>
            <a:ext cx="310896" cy="310896"/>
          </a:xfrm>
          <a:prstGeom prst="rect">
            <a:avLst/>
          </a:prstGeom>
        </p:spPr>
      </p:pic>
      <p:sp>
        <p:nvSpPr>
          <p:cNvPr id="8" name="Text 4"/>
          <p:cNvSpPr/>
          <p:nvPr/>
        </p:nvSpPr>
        <p:spPr>
          <a:xfrm>
            <a:off x="1115568" y="1463040"/>
            <a:ext cx="3154680" cy="310896"/>
          </a:xfrm>
          <a:prstGeom prst="rect">
            <a:avLst/>
          </a:prstGeom>
          <a:noFill/>
          <a:ln/>
        </p:spPr>
        <p:txBody>
          <a:bodyPr wrap="square" lIns="0" tIns="0" rIns="0" bIns="0" rtlCol="0" anchor="ctr"/>
          <a:lstStyle/>
          <a:p>
            <a:pPr indent="0" marL="0">
              <a:buNone/>
            </a:pPr>
            <a:r>
              <a:rPr lang="en-US" sz="1200" b="1" spc="150" kern="0" dirty="0">
                <a:solidFill>
                  <a:srgbClr val="0F766E"/>
                </a:solidFill>
                <a:latin typeface="Calibri" pitchFamily="34" charset="0"/>
                <a:ea typeface="Calibri" pitchFamily="34" charset="-122"/>
                <a:cs typeface="Calibri" pitchFamily="34" charset="-120"/>
              </a:rPr>
              <a:t>DOCKER SWARM</a:t>
            </a:r>
            <a:endParaRPr lang="en-US" sz="1200" dirty="0"/>
          </a:p>
        </p:txBody>
      </p:sp>
      <p:sp>
        <p:nvSpPr>
          <p:cNvPr id="9" name="Text 5"/>
          <p:cNvSpPr/>
          <p:nvPr/>
        </p:nvSpPr>
        <p:spPr>
          <a:xfrm>
            <a:off x="676656" y="1783080"/>
            <a:ext cx="3566160" cy="2103120"/>
          </a:xfrm>
          <a:prstGeom prst="rect">
            <a:avLst/>
          </a:prstGeom>
          <a:noFill/>
          <a:ln/>
        </p:spPr>
        <p:txBody>
          <a:bodyPr wrap="square" lIns="0" tIns="0" rIns="0" bIns="0" rtlCol="0" anchor="t"/>
          <a:lstStyle/>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Built into Docker — nothing extra to install</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Simple: few concepts, fast to learn</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Great for small / medium clusters</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Smaller ecosystem &amp; community</a:t>
            </a:r>
            <a:endParaRPr lang="en-US" sz="1150" dirty="0"/>
          </a:p>
        </p:txBody>
      </p:sp>
      <p:sp>
        <p:nvSpPr>
          <p:cNvPr id="10" name="Shape 6"/>
          <p:cNvSpPr/>
          <p:nvPr/>
        </p:nvSpPr>
        <p:spPr>
          <a:xfrm>
            <a:off x="4709160" y="1234440"/>
            <a:ext cx="3977640" cy="2697480"/>
          </a:xfrm>
          <a:prstGeom prst="roundRect">
            <a:avLst>
              <a:gd name="adj" fmla="val 2712"/>
            </a:avLst>
          </a:prstGeom>
          <a:solidFill>
            <a:srgbClr val="EAF4FD"/>
          </a:solidFill>
          <a:ln w="12700">
            <a:solidFill>
              <a:srgbClr val="BBDDF7"/>
            </a:solidFill>
            <a:prstDash val="solid"/>
          </a:ln>
          <a:effectLst>
            <a:outerShdw sx="100000" sy="100000" kx="0" ky="0" algn="bl" rotWithShape="0" blurRad="76200" dist="25400" dir="2700000">
              <a:srgbClr val="475569">
                <a:alpha val="10000"/>
              </a:srgbClr>
            </a:outerShdw>
          </a:effectLst>
        </p:spPr>
      </p:sp>
      <p:pic>
        <p:nvPicPr>
          <p:cNvPr id="11" name="Image 2" descr="preencoded.png">    </p:cNvPr>
          <p:cNvPicPr>
            <a:picLocks noChangeAspect="1"/>
          </p:cNvPicPr>
          <p:nvPr/>
        </p:nvPicPr>
        <p:blipFill>
          <a:blip r:embed="rId3"/>
          <a:stretch>
            <a:fillRect/>
          </a:stretch>
        </p:blipFill>
        <p:spPr>
          <a:xfrm>
            <a:off x="4946904" y="1463040"/>
            <a:ext cx="310896" cy="310896"/>
          </a:xfrm>
          <a:prstGeom prst="rect">
            <a:avLst/>
          </a:prstGeom>
        </p:spPr>
      </p:pic>
      <p:sp>
        <p:nvSpPr>
          <p:cNvPr id="12" name="Text 7"/>
          <p:cNvSpPr/>
          <p:nvPr/>
        </p:nvSpPr>
        <p:spPr>
          <a:xfrm>
            <a:off x="5367528" y="1463040"/>
            <a:ext cx="3154680" cy="310896"/>
          </a:xfrm>
          <a:prstGeom prst="rect">
            <a:avLst/>
          </a:prstGeom>
          <a:noFill/>
          <a:ln/>
        </p:spPr>
        <p:txBody>
          <a:bodyPr wrap="square" lIns="0" tIns="0" rIns="0" bIns="0" rtlCol="0" anchor="ctr"/>
          <a:lstStyle/>
          <a:p>
            <a:pPr indent="0" marL="0">
              <a:buNone/>
            </a:pPr>
            <a:r>
              <a:rPr lang="en-US" sz="1200" b="1" spc="150" kern="0" dirty="0">
                <a:solidFill>
                  <a:srgbClr val="2496ED"/>
                </a:solidFill>
                <a:latin typeface="Calibri" pitchFamily="34" charset="0"/>
                <a:ea typeface="Calibri" pitchFamily="34" charset="-122"/>
                <a:cs typeface="Calibri" pitchFamily="34" charset="-120"/>
              </a:rPr>
              <a:t>KUBERNETES</a:t>
            </a:r>
            <a:endParaRPr lang="en-US" sz="1200" dirty="0"/>
          </a:p>
        </p:txBody>
      </p:sp>
      <p:sp>
        <p:nvSpPr>
          <p:cNvPr id="13" name="Text 8"/>
          <p:cNvSpPr/>
          <p:nvPr/>
        </p:nvSpPr>
        <p:spPr>
          <a:xfrm>
            <a:off x="4928616" y="1783080"/>
            <a:ext cx="3566160" cy="2103120"/>
          </a:xfrm>
          <a:prstGeom prst="rect">
            <a:avLst/>
          </a:prstGeom>
          <a:noFill/>
          <a:ln/>
        </p:spPr>
        <p:txBody>
          <a:bodyPr wrap="square" lIns="0" tIns="0" rIns="0" bIns="0" rtlCol="0" anchor="t"/>
          <a:lstStyle/>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The industry standard at scale</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Very powerful &amp; extensible (operators, CRDs)</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Huge ecosystem &amp; cloud support</a:t>
            </a:r>
            <a:endParaRPr lang="en-US" sz="1150" dirty="0"/>
          </a:p>
          <a:p>
            <a:pPr marL="165100" indent="-1651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Steep learning curve — runs your same images</a:t>
            </a:r>
            <a:endParaRPr lang="en-US" sz="1150" dirty="0"/>
          </a:p>
        </p:txBody>
      </p:sp>
      <p:sp>
        <p:nvSpPr>
          <p:cNvPr id="14" name="Shape 9"/>
          <p:cNvSpPr/>
          <p:nvPr/>
        </p:nvSpPr>
        <p:spPr>
          <a:xfrm>
            <a:off x="457200" y="4114800"/>
            <a:ext cx="8229600" cy="475488"/>
          </a:xfrm>
          <a:prstGeom prst="roundRect">
            <a:avLst>
              <a:gd name="adj" fmla="val 15385"/>
            </a:avLst>
          </a:prstGeom>
          <a:solidFill>
            <a:srgbClr val="0F172A"/>
          </a:solidFill>
          <a:ln/>
          <a:effectLst>
            <a:outerShdw sx="100000" sy="100000" kx="0" ky="0" algn="bl" rotWithShape="0" blurRad="76200" dist="25400" dir="2700000">
              <a:srgbClr val="475569">
                <a:alpha val="12000"/>
              </a:srgbClr>
            </a:outerShdw>
          </a:effectLst>
        </p:spPr>
      </p:sp>
      <p:sp>
        <p:nvSpPr>
          <p:cNvPr id="15" name="Text 10"/>
          <p:cNvSpPr/>
          <p:nvPr/>
        </p:nvSpPr>
        <p:spPr>
          <a:xfrm>
            <a:off x="640080" y="4114800"/>
            <a:ext cx="7863840" cy="475488"/>
          </a:xfrm>
          <a:prstGeom prst="rect">
            <a:avLst/>
          </a:prstGeom>
          <a:noFill/>
          <a:ln/>
        </p:spPr>
        <p:txBody>
          <a:bodyPr wrap="square" lIns="0" tIns="0" rIns="0" bIns="0" rtlCol="0" anchor="ctr"/>
          <a:lstStyle/>
          <a:p>
            <a:pPr algn="ctr" indent="0" marL="0">
              <a:buNone/>
            </a:pPr>
            <a:r>
              <a:rPr lang="en-US" sz="1250" b="1" i="1" dirty="0">
                <a:solidFill>
                  <a:srgbClr val="FFFFFF"/>
                </a:solidFill>
                <a:latin typeface="Calibri" pitchFamily="34" charset="0"/>
                <a:ea typeface="Calibri" pitchFamily="34" charset="-122"/>
                <a:cs typeface="Calibri" pitchFamily="34" charset="-120"/>
              </a:rPr>
              <a:t>Same containers underneath — Kubernetes is the next chapter.</a:t>
            </a:r>
            <a:endParaRPr lang="en-US" sz="1250" dirty="0"/>
          </a:p>
        </p:txBody>
      </p:sp>
      <p:sp>
        <p:nvSpPr>
          <p:cNvPr id="16" name="Text 11"/>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17" name="Text 12"/>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Compose, CI/CD &amp; Orchestration</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84048"/>
            <a:ext cx="585216" cy="585216"/>
          </a:xfrm>
          <a:prstGeom prst="roundRect">
            <a:avLst>
              <a:gd name="adj" fmla="val 15625"/>
            </a:avLst>
          </a:prstGeom>
          <a:solidFill>
            <a:srgbClr val="F0FDFA"/>
          </a:solidFill>
          <a:ln/>
          <a:effectLst>
            <a:outerShdw sx="100000" sy="100000" kx="0" ky="0" algn="bl" rotWithShape="0" blurRad="63500" dist="25400" dir="2700000">
              <a:srgbClr val="475569">
                <a:alpha val="10000"/>
              </a:srgbClr>
            </a:outerShdw>
          </a:effectLst>
        </p:spPr>
      </p:sp>
      <p:pic>
        <p:nvPicPr>
          <p:cNvPr id="3" name="Image 0" descr="preencoded.png">    </p:cNvPr>
          <p:cNvPicPr>
            <a:picLocks noChangeAspect="1"/>
          </p:cNvPicPr>
          <p:nvPr/>
        </p:nvPicPr>
        <p:blipFill>
          <a:blip r:embed="rId1"/>
          <a:stretch>
            <a:fillRect/>
          </a:stretch>
        </p:blipFill>
        <p:spPr>
          <a:xfrm>
            <a:off x="576072" y="502920"/>
            <a:ext cx="347472" cy="347472"/>
          </a:xfrm>
          <a:prstGeom prst="rect">
            <a:avLst/>
          </a:prstGeom>
        </p:spPr>
      </p:pic>
      <p:sp>
        <p:nvSpPr>
          <p:cNvPr id="4" name="Text 1"/>
          <p:cNvSpPr/>
          <p:nvPr/>
        </p:nvSpPr>
        <p:spPr>
          <a:xfrm>
            <a:off x="1188720" y="384048"/>
            <a:ext cx="7498080" cy="219456"/>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PUTTING IT TOGETHER</a:t>
            </a:r>
            <a:endParaRPr lang="en-US" sz="1100" dirty="0"/>
          </a:p>
        </p:txBody>
      </p:sp>
      <p:sp>
        <p:nvSpPr>
          <p:cNvPr id="5" name="Text 2"/>
          <p:cNvSpPr/>
          <p:nvPr/>
        </p:nvSpPr>
        <p:spPr>
          <a:xfrm>
            <a:off x="1170432" y="585216"/>
            <a:ext cx="7589520" cy="420624"/>
          </a:xfrm>
          <a:prstGeom prst="rect">
            <a:avLst/>
          </a:prstGeom>
          <a:noFill/>
          <a:ln/>
        </p:spPr>
        <p:txBody>
          <a:bodyPr wrap="square" lIns="0" tIns="0" rIns="0" bIns="0" rtlCol="0" anchor="ctr"/>
          <a:lstStyle/>
          <a:p>
            <a:pPr indent="0" marL="0">
              <a:buNone/>
            </a:pPr>
            <a:r>
              <a:rPr lang="en-US" sz="2500" b="1" dirty="0">
                <a:solidFill>
                  <a:srgbClr val="0F172A"/>
                </a:solidFill>
                <a:latin typeface="Bookman Old Style" pitchFamily="34" charset="0"/>
                <a:ea typeface="Bookman Old Style" pitchFamily="34" charset="-122"/>
                <a:cs typeface="Bookman Old Style" pitchFamily="34" charset="-120"/>
              </a:rPr>
              <a:t>The Docker workflow</a:t>
            </a:r>
            <a:endParaRPr lang="en-US" sz="2500" dirty="0"/>
          </a:p>
        </p:txBody>
      </p:sp>
      <p:sp>
        <p:nvSpPr>
          <p:cNvPr id="6" name="Shape 3"/>
          <p:cNvSpPr/>
          <p:nvPr/>
        </p:nvSpPr>
        <p:spPr>
          <a:xfrm>
            <a:off x="457200" y="1417320"/>
            <a:ext cx="2606040" cy="2377440"/>
          </a:xfrm>
          <a:prstGeom prst="roundRect">
            <a:avLst>
              <a:gd name="adj" fmla="val 3077"/>
            </a:avLst>
          </a:prstGeom>
          <a:solidFill>
            <a:srgbClr val="FFFFFF"/>
          </a:solidFill>
          <a:ln w="12700">
            <a:solidFill>
              <a:srgbClr val="E2E8F0"/>
            </a:solidFill>
            <a:prstDash val="solid"/>
          </a:ln>
          <a:effectLst>
            <a:outerShdw sx="100000" sy="100000" kx="0" ky="0" algn="bl" rotWithShape="0" blurRad="76200" dist="25400" dir="2700000">
              <a:srgbClr val="475569">
                <a:alpha val="10000"/>
              </a:srgbClr>
            </a:outerShdw>
          </a:effectLst>
        </p:spPr>
      </p:sp>
      <p:sp>
        <p:nvSpPr>
          <p:cNvPr id="7" name="Shape 4"/>
          <p:cNvSpPr/>
          <p:nvPr/>
        </p:nvSpPr>
        <p:spPr>
          <a:xfrm>
            <a:off x="640080" y="1627632"/>
            <a:ext cx="548640" cy="548640"/>
          </a:xfrm>
          <a:prstGeom prst="roundRect">
            <a:avLst>
              <a:gd name="adj" fmla="val 16667"/>
            </a:avLst>
          </a:prstGeom>
          <a:solidFill>
            <a:srgbClr val="EAF4FD"/>
          </a:solidFill>
          <a:ln/>
        </p:spPr>
      </p:sp>
      <p:pic>
        <p:nvPicPr>
          <p:cNvPr id="8" name="Image 1" descr="preencoded.png">    </p:cNvPr>
          <p:cNvPicPr>
            <a:picLocks noChangeAspect="1"/>
          </p:cNvPicPr>
          <p:nvPr/>
        </p:nvPicPr>
        <p:blipFill>
          <a:blip r:embed="rId2"/>
          <a:stretch>
            <a:fillRect/>
          </a:stretch>
        </p:blipFill>
        <p:spPr>
          <a:xfrm>
            <a:off x="758952" y="1746504"/>
            <a:ext cx="310896" cy="310896"/>
          </a:xfrm>
          <a:prstGeom prst="rect">
            <a:avLst/>
          </a:prstGeom>
        </p:spPr>
      </p:pic>
      <p:sp>
        <p:nvSpPr>
          <p:cNvPr id="9" name="Text 5"/>
          <p:cNvSpPr/>
          <p:nvPr/>
        </p:nvSpPr>
        <p:spPr>
          <a:xfrm>
            <a:off x="1298448" y="1627632"/>
            <a:ext cx="1627632" cy="548640"/>
          </a:xfrm>
          <a:prstGeom prst="rect">
            <a:avLst/>
          </a:prstGeom>
          <a:noFill/>
          <a:ln/>
        </p:spPr>
        <p:txBody>
          <a:bodyPr wrap="square" lIns="0" tIns="0" rIns="0" bIns="0" rtlCol="0" anchor="ctr"/>
          <a:lstStyle/>
          <a:p>
            <a:pPr algn="l" indent="0" marL="0">
              <a:buNone/>
            </a:pPr>
            <a:r>
              <a:rPr lang="en-US" sz="1800" b="1" dirty="0">
                <a:solidFill>
                  <a:srgbClr val="2496ED"/>
                </a:solidFill>
                <a:latin typeface="Bookman Old Style" pitchFamily="34" charset="0"/>
                <a:ea typeface="Bookman Old Style" pitchFamily="34" charset="-122"/>
                <a:cs typeface="Bookman Old Style" pitchFamily="34" charset="-120"/>
              </a:rPr>
              <a:t>BUILD</a:t>
            </a:r>
            <a:endParaRPr lang="en-US" sz="1800" dirty="0"/>
          </a:p>
        </p:txBody>
      </p:sp>
      <p:sp>
        <p:nvSpPr>
          <p:cNvPr id="10" name="Text 6"/>
          <p:cNvSpPr/>
          <p:nvPr/>
        </p:nvSpPr>
        <p:spPr>
          <a:xfrm>
            <a:off x="676656" y="2331720"/>
            <a:ext cx="2194560" cy="132588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Dockerfile</a:t>
            </a:r>
            <a:endParaRPr lang="en-US" sz="1100" dirty="0"/>
          </a:p>
          <a:p>
            <a:pPr marL="152400" indent="-1524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docker build</a:t>
            </a:r>
            <a:endParaRPr lang="en-US" sz="1100" dirty="0"/>
          </a:p>
          <a:p>
            <a:pPr marL="152400" indent="-1524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layers &amp; cache</a:t>
            </a:r>
            <a:endParaRPr lang="en-US" sz="1100" dirty="0"/>
          </a:p>
        </p:txBody>
      </p:sp>
      <p:sp>
        <p:nvSpPr>
          <p:cNvPr id="11" name="Shape 7"/>
          <p:cNvSpPr/>
          <p:nvPr/>
        </p:nvSpPr>
        <p:spPr>
          <a:xfrm>
            <a:off x="3273552" y="1417320"/>
            <a:ext cx="2606040" cy="2377440"/>
          </a:xfrm>
          <a:prstGeom prst="roundRect">
            <a:avLst>
              <a:gd name="adj" fmla="val 3077"/>
            </a:avLst>
          </a:prstGeom>
          <a:solidFill>
            <a:srgbClr val="FFFFFF"/>
          </a:solidFill>
          <a:ln w="12700">
            <a:solidFill>
              <a:srgbClr val="E2E8F0"/>
            </a:solidFill>
            <a:prstDash val="solid"/>
          </a:ln>
          <a:effectLst>
            <a:outerShdw sx="100000" sy="100000" kx="0" ky="0" algn="bl" rotWithShape="0" blurRad="76200" dist="25400" dir="2700000">
              <a:srgbClr val="475569">
                <a:alpha val="10000"/>
              </a:srgbClr>
            </a:outerShdw>
          </a:effectLst>
        </p:spPr>
      </p:sp>
      <p:sp>
        <p:nvSpPr>
          <p:cNvPr id="12" name="Shape 8"/>
          <p:cNvSpPr/>
          <p:nvPr/>
        </p:nvSpPr>
        <p:spPr>
          <a:xfrm>
            <a:off x="3456432" y="1627632"/>
            <a:ext cx="548640" cy="548640"/>
          </a:xfrm>
          <a:prstGeom prst="roundRect">
            <a:avLst>
              <a:gd name="adj" fmla="val 16667"/>
            </a:avLst>
          </a:prstGeom>
          <a:solidFill>
            <a:srgbClr val="F0FDFA"/>
          </a:solidFill>
          <a:ln/>
        </p:spPr>
      </p:sp>
      <p:pic>
        <p:nvPicPr>
          <p:cNvPr id="13" name="Image 2" descr="preencoded.png">    </p:cNvPr>
          <p:cNvPicPr>
            <a:picLocks noChangeAspect="1"/>
          </p:cNvPicPr>
          <p:nvPr/>
        </p:nvPicPr>
        <p:blipFill>
          <a:blip r:embed="rId3"/>
          <a:stretch>
            <a:fillRect/>
          </a:stretch>
        </p:blipFill>
        <p:spPr>
          <a:xfrm>
            <a:off x="3575304" y="1746504"/>
            <a:ext cx="310896" cy="310896"/>
          </a:xfrm>
          <a:prstGeom prst="rect">
            <a:avLst/>
          </a:prstGeom>
        </p:spPr>
      </p:pic>
      <p:sp>
        <p:nvSpPr>
          <p:cNvPr id="14" name="Text 9"/>
          <p:cNvSpPr/>
          <p:nvPr/>
        </p:nvSpPr>
        <p:spPr>
          <a:xfrm>
            <a:off x="4114800" y="1627632"/>
            <a:ext cx="1627632" cy="548640"/>
          </a:xfrm>
          <a:prstGeom prst="rect">
            <a:avLst/>
          </a:prstGeom>
          <a:noFill/>
          <a:ln/>
        </p:spPr>
        <p:txBody>
          <a:bodyPr wrap="square" lIns="0" tIns="0" rIns="0" bIns="0" rtlCol="0" anchor="ctr"/>
          <a:lstStyle/>
          <a:p>
            <a:pPr algn="l" indent="0" marL="0">
              <a:buNone/>
            </a:pPr>
            <a:r>
              <a:rPr lang="en-US" sz="1800" b="1" dirty="0">
                <a:solidFill>
                  <a:srgbClr val="0F766E"/>
                </a:solidFill>
                <a:latin typeface="Bookman Old Style" pitchFamily="34" charset="0"/>
                <a:ea typeface="Bookman Old Style" pitchFamily="34" charset="-122"/>
                <a:cs typeface="Bookman Old Style" pitchFamily="34" charset="-120"/>
              </a:rPr>
              <a:t>SHIP</a:t>
            </a:r>
            <a:endParaRPr lang="en-US" sz="1800" dirty="0"/>
          </a:p>
        </p:txBody>
      </p:sp>
      <p:sp>
        <p:nvSpPr>
          <p:cNvPr id="15" name="Text 10"/>
          <p:cNvSpPr/>
          <p:nvPr/>
        </p:nvSpPr>
        <p:spPr>
          <a:xfrm>
            <a:off x="3493008" y="2331720"/>
            <a:ext cx="2194560" cy="132588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tag &amp; push</a:t>
            </a:r>
            <a:endParaRPr lang="en-US" sz="1100" dirty="0"/>
          </a:p>
          <a:p>
            <a:pPr marL="152400" indent="-1524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scan in CI/CD</a:t>
            </a:r>
            <a:endParaRPr lang="en-US" sz="1100" dirty="0"/>
          </a:p>
          <a:p>
            <a:pPr marL="152400" indent="-1524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to a registry</a:t>
            </a:r>
            <a:endParaRPr lang="en-US" sz="1100" dirty="0"/>
          </a:p>
        </p:txBody>
      </p:sp>
      <p:sp>
        <p:nvSpPr>
          <p:cNvPr id="16" name="Shape 11"/>
          <p:cNvSpPr/>
          <p:nvPr/>
        </p:nvSpPr>
        <p:spPr>
          <a:xfrm>
            <a:off x="6080760" y="1417320"/>
            <a:ext cx="2606040" cy="2377440"/>
          </a:xfrm>
          <a:prstGeom prst="roundRect">
            <a:avLst>
              <a:gd name="adj" fmla="val 3077"/>
            </a:avLst>
          </a:prstGeom>
          <a:solidFill>
            <a:srgbClr val="FFFFFF"/>
          </a:solidFill>
          <a:ln w="12700">
            <a:solidFill>
              <a:srgbClr val="E2E8F0"/>
            </a:solidFill>
            <a:prstDash val="solid"/>
          </a:ln>
          <a:effectLst>
            <a:outerShdw sx="100000" sy="100000" kx="0" ky="0" algn="bl" rotWithShape="0" blurRad="76200" dist="25400" dir="2700000">
              <a:srgbClr val="475569">
                <a:alpha val="10000"/>
              </a:srgbClr>
            </a:outerShdw>
          </a:effectLst>
        </p:spPr>
      </p:sp>
      <p:sp>
        <p:nvSpPr>
          <p:cNvPr id="17" name="Shape 12"/>
          <p:cNvSpPr/>
          <p:nvPr/>
        </p:nvSpPr>
        <p:spPr>
          <a:xfrm>
            <a:off x="6263640" y="1627632"/>
            <a:ext cx="548640" cy="548640"/>
          </a:xfrm>
          <a:prstGeom prst="roundRect">
            <a:avLst>
              <a:gd name="adj" fmla="val 16667"/>
            </a:avLst>
          </a:prstGeom>
          <a:solidFill>
            <a:srgbClr val="FFF7ED"/>
          </a:solidFill>
          <a:ln/>
        </p:spPr>
      </p:sp>
      <p:pic>
        <p:nvPicPr>
          <p:cNvPr id="18" name="Image 3" descr="preencoded.png">    </p:cNvPr>
          <p:cNvPicPr>
            <a:picLocks noChangeAspect="1"/>
          </p:cNvPicPr>
          <p:nvPr/>
        </p:nvPicPr>
        <p:blipFill>
          <a:blip r:embed="rId4"/>
          <a:stretch>
            <a:fillRect/>
          </a:stretch>
        </p:blipFill>
        <p:spPr>
          <a:xfrm>
            <a:off x="6382512" y="1746504"/>
            <a:ext cx="310896" cy="310896"/>
          </a:xfrm>
          <a:prstGeom prst="rect">
            <a:avLst/>
          </a:prstGeom>
        </p:spPr>
      </p:pic>
      <p:sp>
        <p:nvSpPr>
          <p:cNvPr id="19" name="Text 13"/>
          <p:cNvSpPr/>
          <p:nvPr/>
        </p:nvSpPr>
        <p:spPr>
          <a:xfrm>
            <a:off x="6922008" y="1627632"/>
            <a:ext cx="1627632" cy="548640"/>
          </a:xfrm>
          <a:prstGeom prst="rect">
            <a:avLst/>
          </a:prstGeom>
          <a:noFill/>
          <a:ln/>
        </p:spPr>
        <p:txBody>
          <a:bodyPr wrap="square" lIns="0" tIns="0" rIns="0" bIns="0" rtlCol="0" anchor="ctr"/>
          <a:lstStyle/>
          <a:p>
            <a:pPr algn="l" indent="0" marL="0">
              <a:buNone/>
            </a:pPr>
            <a:r>
              <a:rPr lang="en-US" sz="1800" b="1" dirty="0">
                <a:solidFill>
                  <a:srgbClr val="C2410C"/>
                </a:solidFill>
                <a:latin typeface="Bookman Old Style" pitchFamily="34" charset="0"/>
                <a:ea typeface="Bookman Old Style" pitchFamily="34" charset="-122"/>
                <a:cs typeface="Bookman Old Style" pitchFamily="34" charset="-120"/>
              </a:rPr>
              <a:t>RUN</a:t>
            </a:r>
            <a:endParaRPr lang="en-US" sz="1800" dirty="0"/>
          </a:p>
        </p:txBody>
      </p:sp>
      <p:sp>
        <p:nvSpPr>
          <p:cNvPr id="20" name="Text 14"/>
          <p:cNvSpPr/>
          <p:nvPr/>
        </p:nvSpPr>
        <p:spPr>
          <a:xfrm>
            <a:off x="6300216" y="2331720"/>
            <a:ext cx="2194560" cy="132588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docker run</a:t>
            </a:r>
            <a:endParaRPr lang="en-US" sz="1100" dirty="0"/>
          </a:p>
          <a:p>
            <a:pPr marL="152400" indent="-1524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compose up</a:t>
            </a:r>
            <a:endParaRPr lang="en-US" sz="1100" dirty="0"/>
          </a:p>
          <a:p>
            <a:pPr marL="152400" indent="-1524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swarm / k8s</a:t>
            </a:r>
            <a:endParaRPr lang="en-US" sz="1100" dirty="0"/>
          </a:p>
        </p:txBody>
      </p:sp>
      <p:sp>
        <p:nvSpPr>
          <p:cNvPr id="21" name="Shape 15"/>
          <p:cNvSpPr/>
          <p:nvPr/>
        </p:nvSpPr>
        <p:spPr>
          <a:xfrm>
            <a:off x="3136392" y="2606040"/>
            <a:ext cx="137160" cy="0"/>
          </a:xfrm>
          <a:prstGeom prst="line">
            <a:avLst/>
          </a:prstGeom>
          <a:noFill/>
          <a:ln w="30480">
            <a:solidFill>
              <a:srgbClr val="64748B"/>
            </a:solidFill>
            <a:prstDash val="solid"/>
            <a:tailEnd type="triangle"/>
          </a:ln>
        </p:spPr>
      </p:sp>
      <p:sp>
        <p:nvSpPr>
          <p:cNvPr id="22" name="Shape 16"/>
          <p:cNvSpPr/>
          <p:nvPr/>
        </p:nvSpPr>
        <p:spPr>
          <a:xfrm>
            <a:off x="5943600" y="2606040"/>
            <a:ext cx="137160" cy="0"/>
          </a:xfrm>
          <a:prstGeom prst="line">
            <a:avLst/>
          </a:prstGeom>
          <a:noFill/>
          <a:ln w="30480">
            <a:solidFill>
              <a:srgbClr val="64748B"/>
            </a:solidFill>
            <a:prstDash val="solid"/>
            <a:tailEnd type="triangle"/>
          </a:ln>
        </p:spPr>
      </p:sp>
      <p:sp>
        <p:nvSpPr>
          <p:cNvPr id="23" name="Shape 17"/>
          <p:cNvSpPr/>
          <p:nvPr/>
        </p:nvSpPr>
        <p:spPr>
          <a:xfrm>
            <a:off x="457200" y="4114800"/>
            <a:ext cx="8229600" cy="475488"/>
          </a:xfrm>
          <a:prstGeom prst="roundRect">
            <a:avLst>
              <a:gd name="adj" fmla="val 15385"/>
            </a:avLst>
          </a:prstGeom>
          <a:solidFill>
            <a:srgbClr val="0F172A"/>
          </a:solidFill>
          <a:ln/>
          <a:effectLst>
            <a:outerShdw sx="100000" sy="100000" kx="0" ky="0" algn="bl" rotWithShape="0" blurRad="76200" dist="25400" dir="2700000">
              <a:srgbClr val="475569">
                <a:alpha val="12000"/>
              </a:srgbClr>
            </a:outerShdw>
          </a:effectLst>
        </p:spPr>
      </p:sp>
      <p:sp>
        <p:nvSpPr>
          <p:cNvPr id="24" name="Text 18"/>
          <p:cNvSpPr/>
          <p:nvPr/>
        </p:nvSpPr>
        <p:spPr>
          <a:xfrm>
            <a:off x="640080" y="4114800"/>
            <a:ext cx="7863840" cy="475488"/>
          </a:xfrm>
          <a:prstGeom prst="rect">
            <a:avLst/>
          </a:prstGeom>
          <a:noFill/>
          <a:ln/>
        </p:spPr>
        <p:txBody>
          <a:bodyPr wrap="square" lIns="0" tIns="0" rIns="0" bIns="0" rtlCol="0" anchor="ctr"/>
          <a:lstStyle/>
          <a:p>
            <a:pPr algn="ctr" indent="0" marL="0">
              <a:buNone/>
            </a:pPr>
            <a:r>
              <a:rPr lang="en-US" sz="1250" b="1" i="1" dirty="0">
                <a:solidFill>
                  <a:srgbClr val="FFFFFF"/>
                </a:solidFill>
                <a:latin typeface="Calibri" pitchFamily="34" charset="0"/>
                <a:ea typeface="Calibri" pitchFamily="34" charset="-122"/>
                <a:cs typeface="Calibri" pitchFamily="34" charset="-120"/>
              </a:rPr>
              <a:t>Write a recipe, build an image, ship it through a registry &amp; pipeline, run it anywhere — from one container to a cluster.</a:t>
            </a:r>
            <a:endParaRPr lang="en-US" sz="1250" dirty="0"/>
          </a:p>
        </p:txBody>
      </p:sp>
      <p:sp>
        <p:nvSpPr>
          <p:cNvPr id="25" name="Text 19"/>
          <p:cNvSpPr/>
          <p:nvPr/>
        </p:nvSpPr>
        <p:spPr>
          <a:xfrm>
            <a:off x="457200" y="4882896"/>
            <a:ext cx="4572000" cy="201168"/>
          </a:xfrm>
          <a:prstGeom prst="rect">
            <a:avLst/>
          </a:prstGeom>
          <a:noFill/>
          <a:ln/>
        </p:spPr>
        <p:txBody>
          <a:bodyPr wrap="square" lIns="0" tIns="0" rIns="0" bIns="0" rtlCol="0" anchor="ctr"/>
          <a:lstStyle/>
          <a:p>
            <a:pPr algn="l" indent="0" marL="0">
              <a:buNone/>
            </a:pPr>
            <a:r>
              <a:rPr lang="en-US" sz="850" dirty="0">
                <a:solidFill>
                  <a:srgbClr val="94A3B8"/>
                </a:solidFill>
                <a:latin typeface="Calibri" pitchFamily="34" charset="0"/>
                <a:ea typeface="Calibri" pitchFamily="34" charset="-122"/>
                <a:cs typeface="Calibri" pitchFamily="34" charset="-120"/>
              </a:rPr>
              <a:t>Docker &amp; Containers</a:t>
            </a:r>
            <a:endParaRPr lang="en-US" sz="850" dirty="0"/>
          </a:p>
        </p:txBody>
      </p:sp>
      <p:sp>
        <p:nvSpPr>
          <p:cNvPr id="26" name="Text 20"/>
          <p:cNvSpPr/>
          <p:nvPr/>
        </p:nvSpPr>
        <p:spPr>
          <a:xfrm>
            <a:off x="5029200" y="4882896"/>
            <a:ext cx="3657600" cy="201168"/>
          </a:xfrm>
          <a:prstGeom prst="rect">
            <a:avLst/>
          </a:prstGeom>
          <a:noFill/>
          <a:ln/>
        </p:spPr>
        <p:txBody>
          <a:bodyPr wrap="square" lIns="0" tIns="0" rIns="0" bIns="0"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Recap</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6126480" y="621792"/>
            <a:ext cx="365760" cy="347472"/>
          </a:xfrm>
          <a:prstGeom prst="roundRect">
            <a:avLst>
              <a:gd name="adj" fmla="val 10526"/>
            </a:avLst>
          </a:prstGeom>
          <a:solidFill>
            <a:srgbClr val="0D9488">
              <a:alpha val="72000"/>
            </a:srgbClr>
          </a:solidFill>
          <a:ln/>
        </p:spPr>
      </p:sp>
      <p:sp>
        <p:nvSpPr>
          <p:cNvPr id="3" name="Shape 1"/>
          <p:cNvSpPr/>
          <p:nvPr/>
        </p:nvSpPr>
        <p:spPr>
          <a:xfrm>
            <a:off x="6181344" y="548640"/>
            <a:ext cx="256032" cy="82296"/>
          </a:xfrm>
          <a:prstGeom prst="rect">
            <a:avLst/>
          </a:prstGeom>
          <a:solidFill>
            <a:srgbClr val="0D9488">
              <a:alpha val="72000"/>
            </a:srgbClr>
          </a:solidFill>
          <a:ln/>
        </p:spPr>
      </p:sp>
      <p:sp>
        <p:nvSpPr>
          <p:cNvPr id="4" name="Shape 2"/>
          <p:cNvSpPr/>
          <p:nvPr/>
        </p:nvSpPr>
        <p:spPr>
          <a:xfrm>
            <a:off x="6583680" y="621792"/>
            <a:ext cx="365760" cy="347472"/>
          </a:xfrm>
          <a:prstGeom prst="roundRect">
            <a:avLst>
              <a:gd name="adj" fmla="val 10526"/>
            </a:avLst>
          </a:prstGeom>
          <a:solidFill>
            <a:srgbClr val="0D9488">
              <a:alpha val="63000"/>
            </a:srgbClr>
          </a:solidFill>
          <a:ln/>
        </p:spPr>
      </p:sp>
      <p:sp>
        <p:nvSpPr>
          <p:cNvPr id="5" name="Shape 3"/>
          <p:cNvSpPr/>
          <p:nvPr/>
        </p:nvSpPr>
        <p:spPr>
          <a:xfrm>
            <a:off x="6638544" y="548640"/>
            <a:ext cx="256032" cy="82296"/>
          </a:xfrm>
          <a:prstGeom prst="rect">
            <a:avLst/>
          </a:prstGeom>
          <a:solidFill>
            <a:srgbClr val="0D9488">
              <a:alpha val="63000"/>
            </a:srgbClr>
          </a:solidFill>
          <a:ln/>
        </p:spPr>
      </p:sp>
      <p:sp>
        <p:nvSpPr>
          <p:cNvPr id="6" name="Shape 4"/>
          <p:cNvSpPr/>
          <p:nvPr/>
        </p:nvSpPr>
        <p:spPr>
          <a:xfrm>
            <a:off x="7040880" y="621792"/>
            <a:ext cx="365760" cy="347472"/>
          </a:xfrm>
          <a:prstGeom prst="roundRect">
            <a:avLst>
              <a:gd name="adj" fmla="val 10526"/>
            </a:avLst>
          </a:prstGeom>
          <a:solidFill>
            <a:srgbClr val="0D9488">
              <a:alpha val="54000"/>
            </a:srgbClr>
          </a:solidFill>
          <a:ln/>
        </p:spPr>
      </p:sp>
      <p:sp>
        <p:nvSpPr>
          <p:cNvPr id="7" name="Shape 5"/>
          <p:cNvSpPr/>
          <p:nvPr/>
        </p:nvSpPr>
        <p:spPr>
          <a:xfrm>
            <a:off x="7095744" y="548640"/>
            <a:ext cx="256032" cy="82296"/>
          </a:xfrm>
          <a:prstGeom prst="rect">
            <a:avLst/>
          </a:prstGeom>
          <a:solidFill>
            <a:srgbClr val="0D9488">
              <a:alpha val="54000"/>
            </a:srgbClr>
          </a:solidFill>
          <a:ln/>
        </p:spPr>
      </p:sp>
      <p:sp>
        <p:nvSpPr>
          <p:cNvPr id="8" name="Shape 6"/>
          <p:cNvSpPr/>
          <p:nvPr/>
        </p:nvSpPr>
        <p:spPr>
          <a:xfrm>
            <a:off x="7498080" y="621792"/>
            <a:ext cx="365760" cy="347472"/>
          </a:xfrm>
          <a:prstGeom prst="roundRect">
            <a:avLst>
              <a:gd name="adj" fmla="val 10526"/>
            </a:avLst>
          </a:prstGeom>
          <a:solidFill>
            <a:srgbClr val="0D9488">
              <a:alpha val="45000"/>
            </a:srgbClr>
          </a:solidFill>
          <a:ln/>
        </p:spPr>
      </p:sp>
      <p:sp>
        <p:nvSpPr>
          <p:cNvPr id="9" name="Shape 7"/>
          <p:cNvSpPr/>
          <p:nvPr/>
        </p:nvSpPr>
        <p:spPr>
          <a:xfrm>
            <a:off x="7552944" y="548640"/>
            <a:ext cx="256032" cy="82296"/>
          </a:xfrm>
          <a:prstGeom prst="rect">
            <a:avLst/>
          </a:prstGeom>
          <a:solidFill>
            <a:srgbClr val="0D9488">
              <a:alpha val="45000"/>
            </a:srgbClr>
          </a:solidFill>
          <a:ln/>
        </p:spPr>
      </p:sp>
      <p:sp>
        <p:nvSpPr>
          <p:cNvPr id="10" name="Shape 8"/>
          <p:cNvSpPr/>
          <p:nvPr/>
        </p:nvSpPr>
        <p:spPr>
          <a:xfrm>
            <a:off x="7955280" y="621792"/>
            <a:ext cx="365760" cy="347472"/>
          </a:xfrm>
          <a:prstGeom prst="roundRect">
            <a:avLst>
              <a:gd name="adj" fmla="val 10526"/>
            </a:avLst>
          </a:prstGeom>
          <a:solidFill>
            <a:srgbClr val="0D9488">
              <a:alpha val="36000"/>
            </a:srgbClr>
          </a:solidFill>
          <a:ln/>
        </p:spPr>
      </p:sp>
      <p:sp>
        <p:nvSpPr>
          <p:cNvPr id="11" name="Shape 9"/>
          <p:cNvSpPr/>
          <p:nvPr/>
        </p:nvSpPr>
        <p:spPr>
          <a:xfrm>
            <a:off x="8010144" y="548640"/>
            <a:ext cx="256032" cy="82296"/>
          </a:xfrm>
          <a:prstGeom prst="rect">
            <a:avLst/>
          </a:prstGeom>
          <a:solidFill>
            <a:srgbClr val="0D9488">
              <a:alpha val="36000"/>
            </a:srgbClr>
          </a:solidFill>
          <a:ln/>
        </p:spPr>
      </p:sp>
      <p:sp>
        <p:nvSpPr>
          <p:cNvPr id="12" name="Shape 10"/>
          <p:cNvSpPr/>
          <p:nvPr/>
        </p:nvSpPr>
        <p:spPr>
          <a:xfrm>
            <a:off x="8412480" y="621792"/>
            <a:ext cx="365760" cy="347472"/>
          </a:xfrm>
          <a:prstGeom prst="roundRect">
            <a:avLst>
              <a:gd name="adj" fmla="val 10526"/>
            </a:avLst>
          </a:prstGeom>
          <a:solidFill>
            <a:srgbClr val="0D9488">
              <a:alpha val="27000"/>
            </a:srgbClr>
          </a:solidFill>
          <a:ln/>
        </p:spPr>
      </p:sp>
      <p:sp>
        <p:nvSpPr>
          <p:cNvPr id="13" name="Shape 11"/>
          <p:cNvSpPr/>
          <p:nvPr/>
        </p:nvSpPr>
        <p:spPr>
          <a:xfrm>
            <a:off x="8467344" y="548640"/>
            <a:ext cx="256032" cy="82296"/>
          </a:xfrm>
          <a:prstGeom prst="rect">
            <a:avLst/>
          </a:prstGeom>
          <a:solidFill>
            <a:srgbClr val="0D9488">
              <a:alpha val="27000"/>
            </a:srgbClr>
          </a:solidFill>
          <a:ln/>
        </p:spPr>
      </p:sp>
      <p:sp>
        <p:nvSpPr>
          <p:cNvPr id="14" name="Text 12"/>
          <p:cNvSpPr/>
          <p:nvPr/>
        </p:nvSpPr>
        <p:spPr>
          <a:xfrm>
            <a:off x="640080" y="1371600"/>
            <a:ext cx="5486400" cy="320040"/>
          </a:xfrm>
          <a:prstGeom prst="rect">
            <a:avLst/>
          </a:prstGeom>
          <a:noFill/>
          <a:ln/>
        </p:spPr>
        <p:txBody>
          <a:bodyPr wrap="square" lIns="0" tIns="0" rIns="0" bIns="0" rtlCol="0" anchor="ctr"/>
          <a:lstStyle/>
          <a:p>
            <a:pPr indent="0" marL="0">
              <a:buNone/>
            </a:pPr>
            <a:r>
              <a:rPr lang="en-US" sz="1400" b="1" spc="300" kern="0" dirty="0">
                <a:solidFill>
                  <a:srgbClr val="0D9488"/>
                </a:solidFill>
                <a:latin typeface="Calibri" pitchFamily="34" charset="0"/>
                <a:ea typeface="Calibri" pitchFamily="34" charset="-122"/>
                <a:cs typeface="Calibri" pitchFamily="34" charset="-120"/>
              </a:rPr>
              <a:t>CHAPTER COMPLETE</a:t>
            </a:r>
            <a:endParaRPr lang="en-US" sz="1400" dirty="0"/>
          </a:p>
        </p:txBody>
      </p:sp>
      <p:sp>
        <p:nvSpPr>
          <p:cNvPr id="15" name="Text 13"/>
          <p:cNvSpPr/>
          <p:nvPr/>
        </p:nvSpPr>
        <p:spPr>
          <a:xfrm>
            <a:off x="603504" y="1737360"/>
            <a:ext cx="7863840" cy="822960"/>
          </a:xfrm>
          <a:prstGeom prst="rect">
            <a:avLst/>
          </a:prstGeom>
          <a:noFill/>
          <a:ln/>
        </p:spPr>
        <p:txBody>
          <a:bodyPr wrap="square" lIns="0" tIns="0" rIns="0" bIns="0" rtlCol="0" anchor="t"/>
          <a:lstStyle/>
          <a:p>
            <a:pPr indent="0" marL="0">
              <a:buNone/>
            </a:pPr>
            <a:r>
              <a:rPr lang="en-US" sz="3800" b="1" dirty="0">
                <a:solidFill>
                  <a:srgbClr val="FFFFFF"/>
                </a:solidFill>
                <a:latin typeface="Bookman Old Style" pitchFamily="34" charset="0"/>
                <a:ea typeface="Bookman Old Style" pitchFamily="34" charset="-122"/>
                <a:cs typeface="Bookman Old Style" pitchFamily="34" charset="-120"/>
              </a:rPr>
              <a:t>From containers to clusters</a:t>
            </a:r>
            <a:endParaRPr lang="en-US" sz="3800" dirty="0"/>
          </a:p>
        </p:txBody>
      </p:sp>
      <p:sp>
        <p:nvSpPr>
          <p:cNvPr id="16" name="Text 14"/>
          <p:cNvSpPr/>
          <p:nvPr/>
        </p:nvSpPr>
        <p:spPr>
          <a:xfrm>
            <a:off x="640080" y="2606040"/>
            <a:ext cx="7680960" cy="548640"/>
          </a:xfrm>
          <a:prstGeom prst="rect">
            <a:avLst/>
          </a:prstGeom>
          <a:noFill/>
          <a:ln/>
        </p:spPr>
        <p:txBody>
          <a:bodyPr wrap="square" lIns="0" tIns="0" rIns="0" bIns="0" rtlCol="0" anchor="t"/>
          <a:lstStyle/>
          <a:p>
            <a:pPr indent="0" marL="0">
              <a:buNone/>
            </a:pPr>
            <a:r>
              <a:rPr lang="en-US" sz="1400" i="1" dirty="0">
                <a:solidFill>
                  <a:srgbClr val="94A3B8"/>
                </a:solidFill>
                <a:latin typeface="Calibri" pitchFamily="34" charset="0"/>
                <a:ea typeface="Calibri" pitchFamily="34" charset="-122"/>
                <a:cs typeface="Calibri" pitchFamily="34" charset="-120"/>
              </a:rPr>
              <a:t>You can now package any app, ship it through a registry and a pipeline, and run it anywhere — reproducibly.</a:t>
            </a:r>
            <a:endParaRPr lang="en-US" sz="1400" dirty="0"/>
          </a:p>
        </p:txBody>
      </p:sp>
      <p:sp>
        <p:nvSpPr>
          <p:cNvPr id="17" name="Shape 15"/>
          <p:cNvSpPr/>
          <p:nvPr/>
        </p:nvSpPr>
        <p:spPr>
          <a:xfrm>
            <a:off x="640080" y="3291840"/>
            <a:ext cx="1130198" cy="310896"/>
          </a:xfrm>
          <a:prstGeom prst="roundRect">
            <a:avLst>
              <a:gd name="adj" fmla="val 50000"/>
            </a:avLst>
          </a:prstGeom>
          <a:solidFill>
            <a:srgbClr val="1E293B"/>
          </a:solidFill>
          <a:ln w="12700">
            <a:solidFill>
              <a:srgbClr val="99F6E4"/>
            </a:solidFill>
            <a:prstDash val="solid"/>
          </a:ln>
        </p:spPr>
      </p:sp>
      <p:sp>
        <p:nvSpPr>
          <p:cNvPr id="18" name="Text 16"/>
          <p:cNvSpPr/>
          <p:nvPr/>
        </p:nvSpPr>
        <p:spPr>
          <a:xfrm>
            <a:off x="640080" y="3291840"/>
            <a:ext cx="1130198" cy="310896"/>
          </a:xfrm>
          <a:prstGeom prst="rect">
            <a:avLst/>
          </a:prstGeom>
          <a:noFill/>
          <a:ln/>
        </p:spPr>
        <p:txBody>
          <a:bodyPr wrap="square" lIns="0" tIns="0" rIns="0" bIns="0" rtlCol="0" anchor="ctr"/>
          <a:lstStyle/>
          <a:p>
            <a:pPr algn="ctr" indent="0" marL="0">
              <a:buNone/>
            </a:pPr>
            <a:r>
              <a:rPr lang="en-US" sz="1000" b="1" dirty="0">
                <a:solidFill>
                  <a:srgbClr val="99F6E4"/>
                </a:solidFill>
                <a:latin typeface="Calibri" pitchFamily="34" charset="0"/>
                <a:ea typeface="Calibri" pitchFamily="34" charset="-122"/>
                <a:cs typeface="Calibri" pitchFamily="34" charset="-120"/>
              </a:rPr>
              <a:t>docker build</a:t>
            </a:r>
            <a:endParaRPr lang="en-US" sz="1000" dirty="0"/>
          </a:p>
        </p:txBody>
      </p:sp>
      <p:sp>
        <p:nvSpPr>
          <p:cNvPr id="19" name="Shape 17"/>
          <p:cNvSpPr/>
          <p:nvPr/>
        </p:nvSpPr>
        <p:spPr>
          <a:xfrm>
            <a:off x="1880006" y="3291840"/>
            <a:ext cx="674827" cy="310896"/>
          </a:xfrm>
          <a:prstGeom prst="roundRect">
            <a:avLst>
              <a:gd name="adj" fmla="val 50000"/>
            </a:avLst>
          </a:prstGeom>
          <a:solidFill>
            <a:srgbClr val="1E293B"/>
          </a:solidFill>
          <a:ln w="12700">
            <a:solidFill>
              <a:srgbClr val="99F6E4"/>
            </a:solidFill>
            <a:prstDash val="solid"/>
          </a:ln>
        </p:spPr>
      </p:sp>
      <p:sp>
        <p:nvSpPr>
          <p:cNvPr id="20" name="Text 18"/>
          <p:cNvSpPr/>
          <p:nvPr/>
        </p:nvSpPr>
        <p:spPr>
          <a:xfrm>
            <a:off x="1880006" y="3291840"/>
            <a:ext cx="674827" cy="310896"/>
          </a:xfrm>
          <a:prstGeom prst="rect">
            <a:avLst/>
          </a:prstGeom>
          <a:noFill/>
          <a:ln/>
        </p:spPr>
        <p:txBody>
          <a:bodyPr wrap="square" lIns="0" tIns="0" rIns="0" bIns="0" rtlCol="0" anchor="ctr"/>
          <a:lstStyle/>
          <a:p>
            <a:pPr algn="ctr" indent="0" marL="0">
              <a:buNone/>
            </a:pPr>
            <a:r>
              <a:rPr lang="en-US" sz="1000" b="1" dirty="0">
                <a:solidFill>
                  <a:srgbClr val="99F6E4"/>
                </a:solidFill>
                <a:latin typeface="Calibri" pitchFamily="34" charset="0"/>
                <a:ea typeface="Calibri" pitchFamily="34" charset="-122"/>
                <a:cs typeface="Calibri" pitchFamily="34" charset="-120"/>
              </a:rPr>
              <a:t>run -p</a:t>
            </a:r>
            <a:endParaRPr lang="en-US" sz="1000" dirty="0"/>
          </a:p>
        </p:txBody>
      </p:sp>
      <p:sp>
        <p:nvSpPr>
          <p:cNvPr id="21" name="Shape 19"/>
          <p:cNvSpPr/>
          <p:nvPr/>
        </p:nvSpPr>
        <p:spPr>
          <a:xfrm>
            <a:off x="2664562" y="3291840"/>
            <a:ext cx="674827" cy="310896"/>
          </a:xfrm>
          <a:prstGeom prst="roundRect">
            <a:avLst>
              <a:gd name="adj" fmla="val 50000"/>
            </a:avLst>
          </a:prstGeom>
          <a:solidFill>
            <a:srgbClr val="1E293B"/>
          </a:solidFill>
          <a:ln w="12700">
            <a:solidFill>
              <a:srgbClr val="99F6E4"/>
            </a:solidFill>
            <a:prstDash val="solid"/>
          </a:ln>
        </p:spPr>
      </p:sp>
      <p:sp>
        <p:nvSpPr>
          <p:cNvPr id="22" name="Text 20"/>
          <p:cNvSpPr/>
          <p:nvPr/>
        </p:nvSpPr>
        <p:spPr>
          <a:xfrm>
            <a:off x="2664562" y="3291840"/>
            <a:ext cx="674827" cy="310896"/>
          </a:xfrm>
          <a:prstGeom prst="rect">
            <a:avLst/>
          </a:prstGeom>
          <a:noFill/>
          <a:ln/>
        </p:spPr>
        <p:txBody>
          <a:bodyPr wrap="square" lIns="0" tIns="0" rIns="0" bIns="0" rtlCol="0" anchor="ctr"/>
          <a:lstStyle/>
          <a:p>
            <a:pPr algn="ctr" indent="0" marL="0">
              <a:buNone/>
            </a:pPr>
            <a:r>
              <a:rPr lang="en-US" sz="1000" b="1" dirty="0">
                <a:solidFill>
                  <a:srgbClr val="99F6E4"/>
                </a:solidFill>
                <a:latin typeface="Calibri" pitchFamily="34" charset="0"/>
                <a:ea typeface="Calibri" pitchFamily="34" charset="-122"/>
                <a:cs typeface="Calibri" pitchFamily="34" charset="-120"/>
              </a:rPr>
              <a:t>volume</a:t>
            </a:r>
            <a:endParaRPr lang="en-US" sz="1000" dirty="0"/>
          </a:p>
        </p:txBody>
      </p:sp>
      <p:sp>
        <p:nvSpPr>
          <p:cNvPr id="23" name="Shape 21"/>
          <p:cNvSpPr/>
          <p:nvPr/>
        </p:nvSpPr>
        <p:spPr>
          <a:xfrm>
            <a:off x="3449117" y="3291840"/>
            <a:ext cx="978408" cy="310896"/>
          </a:xfrm>
          <a:prstGeom prst="roundRect">
            <a:avLst>
              <a:gd name="adj" fmla="val 50000"/>
            </a:avLst>
          </a:prstGeom>
          <a:solidFill>
            <a:srgbClr val="1E293B"/>
          </a:solidFill>
          <a:ln w="12700">
            <a:solidFill>
              <a:srgbClr val="99F6E4"/>
            </a:solidFill>
            <a:prstDash val="solid"/>
          </a:ln>
        </p:spPr>
      </p:sp>
      <p:sp>
        <p:nvSpPr>
          <p:cNvPr id="24" name="Text 22"/>
          <p:cNvSpPr/>
          <p:nvPr/>
        </p:nvSpPr>
        <p:spPr>
          <a:xfrm>
            <a:off x="3449117" y="3291840"/>
            <a:ext cx="978408" cy="310896"/>
          </a:xfrm>
          <a:prstGeom prst="rect">
            <a:avLst/>
          </a:prstGeom>
          <a:noFill/>
          <a:ln/>
        </p:spPr>
        <p:txBody>
          <a:bodyPr wrap="square" lIns="0" tIns="0" rIns="0" bIns="0" rtlCol="0" anchor="ctr"/>
          <a:lstStyle/>
          <a:p>
            <a:pPr algn="ctr" indent="0" marL="0">
              <a:buNone/>
            </a:pPr>
            <a:r>
              <a:rPr lang="en-US" sz="1000" b="1" dirty="0">
                <a:solidFill>
                  <a:srgbClr val="99F6E4"/>
                </a:solidFill>
                <a:latin typeface="Calibri" pitchFamily="34" charset="0"/>
                <a:ea typeface="Calibri" pitchFamily="34" charset="-122"/>
                <a:cs typeface="Calibri" pitchFamily="34" charset="-120"/>
              </a:rPr>
              <a:t>compose up</a:t>
            </a:r>
            <a:endParaRPr lang="en-US" sz="1000" dirty="0"/>
          </a:p>
        </p:txBody>
      </p:sp>
      <p:sp>
        <p:nvSpPr>
          <p:cNvPr id="25" name="Shape 23"/>
          <p:cNvSpPr/>
          <p:nvPr/>
        </p:nvSpPr>
        <p:spPr>
          <a:xfrm>
            <a:off x="4537253" y="3291840"/>
            <a:ext cx="566928" cy="310896"/>
          </a:xfrm>
          <a:prstGeom prst="roundRect">
            <a:avLst>
              <a:gd name="adj" fmla="val 50000"/>
            </a:avLst>
          </a:prstGeom>
          <a:solidFill>
            <a:srgbClr val="1E293B"/>
          </a:solidFill>
          <a:ln w="12700">
            <a:solidFill>
              <a:srgbClr val="99F6E4"/>
            </a:solidFill>
            <a:prstDash val="solid"/>
          </a:ln>
        </p:spPr>
      </p:sp>
      <p:sp>
        <p:nvSpPr>
          <p:cNvPr id="26" name="Text 24"/>
          <p:cNvSpPr/>
          <p:nvPr/>
        </p:nvSpPr>
        <p:spPr>
          <a:xfrm>
            <a:off x="4537253" y="3291840"/>
            <a:ext cx="566928" cy="310896"/>
          </a:xfrm>
          <a:prstGeom prst="rect">
            <a:avLst/>
          </a:prstGeom>
          <a:noFill/>
          <a:ln/>
        </p:spPr>
        <p:txBody>
          <a:bodyPr wrap="square" lIns="0" tIns="0" rIns="0" bIns="0" rtlCol="0" anchor="ctr"/>
          <a:lstStyle/>
          <a:p>
            <a:pPr algn="ctr" indent="0" marL="0">
              <a:buNone/>
            </a:pPr>
            <a:r>
              <a:rPr lang="en-US" sz="1000" b="1" dirty="0">
                <a:solidFill>
                  <a:srgbClr val="99F6E4"/>
                </a:solidFill>
                <a:latin typeface="Calibri" pitchFamily="34" charset="0"/>
                <a:ea typeface="Calibri" pitchFamily="34" charset="-122"/>
                <a:cs typeface="Calibri" pitchFamily="34" charset="-120"/>
              </a:rPr>
              <a:t>push</a:t>
            </a:r>
            <a:endParaRPr lang="en-US" sz="1000" dirty="0"/>
          </a:p>
        </p:txBody>
      </p:sp>
      <p:sp>
        <p:nvSpPr>
          <p:cNvPr id="27" name="Shape 25"/>
          <p:cNvSpPr/>
          <p:nvPr/>
        </p:nvSpPr>
        <p:spPr>
          <a:xfrm>
            <a:off x="5213909" y="3291840"/>
            <a:ext cx="1281989" cy="310896"/>
          </a:xfrm>
          <a:prstGeom prst="roundRect">
            <a:avLst>
              <a:gd name="adj" fmla="val 50000"/>
            </a:avLst>
          </a:prstGeom>
          <a:solidFill>
            <a:srgbClr val="1E293B"/>
          </a:solidFill>
          <a:ln w="12700">
            <a:solidFill>
              <a:srgbClr val="99F6E4"/>
            </a:solidFill>
            <a:prstDash val="solid"/>
          </a:ln>
        </p:spPr>
      </p:sp>
      <p:sp>
        <p:nvSpPr>
          <p:cNvPr id="28" name="Text 26"/>
          <p:cNvSpPr/>
          <p:nvPr/>
        </p:nvSpPr>
        <p:spPr>
          <a:xfrm>
            <a:off x="5213909" y="3291840"/>
            <a:ext cx="1281989" cy="310896"/>
          </a:xfrm>
          <a:prstGeom prst="rect">
            <a:avLst/>
          </a:prstGeom>
          <a:noFill/>
          <a:ln/>
        </p:spPr>
        <p:txBody>
          <a:bodyPr wrap="square" lIns="0" tIns="0" rIns="0" bIns="0" rtlCol="0" anchor="ctr"/>
          <a:lstStyle/>
          <a:p>
            <a:pPr algn="ctr" indent="0" marL="0">
              <a:buNone/>
            </a:pPr>
            <a:r>
              <a:rPr lang="en-US" sz="1000" b="1" dirty="0">
                <a:solidFill>
                  <a:srgbClr val="99F6E4"/>
                </a:solidFill>
                <a:latin typeface="Calibri" pitchFamily="34" charset="0"/>
                <a:ea typeface="Calibri" pitchFamily="34" charset="-122"/>
                <a:cs typeface="Calibri" pitchFamily="34" charset="-120"/>
              </a:rPr>
              <a:t>service create</a:t>
            </a:r>
            <a:endParaRPr lang="en-US" sz="1000" dirty="0"/>
          </a:p>
        </p:txBody>
      </p:sp>
      <p:sp>
        <p:nvSpPr>
          <p:cNvPr id="29" name="Text 27"/>
          <p:cNvSpPr/>
          <p:nvPr/>
        </p:nvSpPr>
        <p:spPr>
          <a:xfrm>
            <a:off x="640080" y="4023360"/>
            <a:ext cx="7772400" cy="365760"/>
          </a:xfrm>
          <a:prstGeom prst="rect">
            <a:avLst/>
          </a:prstGeom>
          <a:noFill/>
          <a:ln/>
        </p:spPr>
        <p:txBody>
          <a:bodyPr wrap="square" lIns="0" tIns="0" rIns="0" bIns="0" rtlCol="0" anchor="ctr"/>
          <a:lstStyle/>
          <a:p>
            <a:pPr indent="0" marL="0">
              <a:buNone/>
            </a:pPr>
            <a:r>
              <a:rPr lang="en-US" sz="1500" dirty="0">
                <a:solidFill>
                  <a:srgbClr val="94A3B8"/>
                </a:solidFill>
                <a:latin typeface="Calibri" pitchFamily="34" charset="0"/>
                <a:ea typeface="Calibri" pitchFamily="34" charset="-122"/>
                <a:cs typeface="Calibri" pitchFamily="34" charset="-120"/>
              </a:rPr>
              <a:t>Up next:  </a:t>
            </a:r>
            <a:pPr indent="0" marL="0">
              <a:buNone/>
            </a:pPr>
            <a:r>
              <a:rPr lang="en-US" sz="1500" b="1" dirty="0">
                <a:solidFill>
                  <a:srgbClr val="2496ED"/>
                </a:solidFill>
                <a:latin typeface="Calibri" pitchFamily="34" charset="0"/>
                <a:ea typeface="Calibri" pitchFamily="34" charset="-122"/>
                <a:cs typeface="Calibri" pitchFamily="34" charset="-120"/>
              </a:rPr>
              <a:t>Kubernetes — orchestration at scale</a:t>
            </a:r>
            <a:endParaRPr lang="en-US" sz="1500" dirty="0"/>
          </a:p>
        </p:txBody>
      </p:sp>
      <p:sp>
        <p:nvSpPr>
          <p:cNvPr id="30" name="Text 28"/>
          <p:cNvSpPr/>
          <p:nvPr/>
        </p:nvSpPr>
        <p:spPr>
          <a:xfrm>
            <a:off x="457200" y="4736592"/>
            <a:ext cx="8229600" cy="27432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Sagyam Thapa  ·  blog.sagyamthapa.com.np</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Docker &amp; Containers</dc:title>
  <dc:subject>PptxGenJS Presentation</dc:subject>
  <dc:creator>Sagyam Thapa</dc:creator>
  <cp:lastModifiedBy>Sagyam Thapa</cp:lastModifiedBy>
  <cp:revision>1</cp:revision>
  <dcterms:created xsi:type="dcterms:W3CDTF">2026-06-23T01:03:24Z</dcterms:created>
  <dcterms:modified xsi:type="dcterms:W3CDTF">2026-06-23T01:03:24Z</dcterms:modified>
</cp:coreProperties>
</file>