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IaC module. Frame the arc: we spent the AWS module clicking through the console and typing CLI commands, and that was the right way to learn what the services ARE. Today we stop doing it by hand. This first hour is concepts — no keyboards. After the break we build real AWS infrastructure with Terraform, ending with an EKS cluster you provisioned yourself and an app running on it. Tell them up front: the single hardest idea in Terraform is STATE, and we will spend a whole section on it. Everything else is syntax you can look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before the content. This part is about earning the right to introduce a tool — nobody adopts Terraform because the syntax is nice, they adopt it because manual infrastructure hurt them. Spend about twelve minutes here. If the room is quiet, the ClickOps story on the next slide is a good place to invite their own war stories; if it is a talkative cohort, keep moving because the payoff is in part two. Do not mention Terraform by name until the end of part one. The problem should feel real before the tool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slowly — this is a story, not a bullet list. The point is that no single person did anything unreasonable. The senior engineer was being efficient. The wiki author was being helpful. The 2am hotfix was correct under pressure. Emphasise step 4: the knowledge was never in the system, it was in a person, and people leave. The terminal on the right is the moment every one of them will experience within two years of starting a job.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 it is the spine of the whole module. Map each failure to its later fix so they see the arc: snowflakes are killed by declarative config plus immutability; drift is caught by terraform plan; the audit trail becomes git history with pull requests; reproducibility becomes changing one variable and running apply against a second region. The staging-vs-prod story in tile one is worth a personal anecdote if you have one — it is the most relatable.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sales pitch, so deliver it with confidence. Both scenarios are real: regional failover and audit are the two situations where manual infrastructure stops being merely annoying and starts being a business problem. The terminal is deliberately anticlimactic — that is the whole point of IaC. Boring is the goal. Note the git log line: the audit answer isn't a Terraform feature at all, it's what you get free once infrastructure lives in a repository. Reviewers and ticket numbers come along for the 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the previous slide: those were the failures, these are the requirements. The key insight to voice here is the footnote — versioned, reviewable, auditable and self-documenting are not really Terraform features. They are git features that you unlock by expressing infrastructure as text. Terraform's actual contribution is the first and the fifth: reproducible and disposable. That reframing helps students who already understand git see why this is not a new discipline, just an old one applied to a new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formal definition once, then immediately give the one-line version at the bottom — that is the one they will remember. Stress the third card: students arriving from the AWS module tend to think 'infrastructure' means EC2. It also means the IAM role, the S3 bucket policy, the ECR lifecycle rule, the EKS node group, and the CloudWatch alarm. All of it is provisionable, and today's lab touches most of that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vocabulary, and it is the vocabulary they will be interviewed on. Four distinctions: imperative/declarative, idempotent or not, mutable/immutable, provisioning versus configuration management. About fifteen minutes. The imperative-versus-declarative slide is the one that must land — if you are running behind, compress the tool landscape and the licensing slide instead, never that one. Keep the tone comparative rather than evangelical. Students who leave thinking Terraform is the only correct answer have learned the wrong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conceptual slide before the lab. Give it time. Point out that the bash script is not badly written — it is careful and correct. The problem is that it must stay correct as requirements grow, and every new requirement is a new if-statement. In the Terraform column, note there is no existence check anywhere. Terraform derives 'create or update or nothing' from the difference between your file and reality. Callback to the Kubernetes module: a Deployment manifest is the same idea. You declare three replicas; you never write the loop that starts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Idempotency is abstract until you show the second terminal. The 0/0/0 line is the whole lesson — put your finger on it. Contrast with the bash script from the previous slide: running that twice without its existence check would error out with BucketAlreadyOwnedByYou. Warn them about one gotcha they will hit in the lab: apply is idempotent with respect to YOUR config, not with respect to the world. If someone changes a resource in the console, the second apply will not be a no-op — it will change it back. That is drift, and we cover it in the state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pets-and-cattle metaphor is well known but often misunderstood as being about scale. It is really about whether a machine has a name and a history you care about. The container callback is the strongest teaching move here — they lived this in the Docker and Kubernetes modules, so you are naming an instinct they already have rather than introducing a new idea. Be honest about the limits: not everything can be immutable. Databases hold state and generally get upgraded in place. The goal is immutable-by-default with deliberate exceptions, not purity.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did the Vagrant and Ansible module will ask this question, so answer it before they do. The clean line: Terraform is good at things that have an API and an ID; Ansible is good at things that live on a filesystem. Acknowledge the overlap honestly — Terraform has provisioners and Ansible has cloud modules — and then say plainly that using either to do the other's job is a well-known way to have a bad time. The last sentence of the fix card matters for their careers: in a container-first world, configuration management shrinks because the Dockerfile absorbed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this become a tool-war slide. The message is: Terraform is the lingua franca, and everything else in the table is a reasonable choice under specific conditions. Two rows deserve a sentence each. CDK and Pulumi solve the 'HCL has no real loops' complaint by letting you write actual code — which is a genuine advantage and also a genuine footgun, because now your infrastructure can have bugs that only appear at runtime. Crossplane is worth flagging for anyone who enjoyed the Kubernetes module: it turns cloud resources into custom resources managed by controllers, which is exactly the reconciliation pattern they already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and neutral — three minutes maximum. Students love a drama and this one is a distraction from the actual learning. The line that matters is on the fix card: it changes nothing about what they learn today. It is worth one sentence on why it happened at all: HashiCorp's business model was being built on by vendors selling managed Terraform, and the licence change was a response to that. Whether it was justified is a matter of opinion and not one you need to settle in class. Flag the footnote genuinely — tell them to check the current state of things rather than repeating a date they heard in a bootcamp.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syntax, and the promise to make is that there is far less of it than they fear. One block shape, five block types, and everything else is provider-specific vocabulary you look up. About twenty minutes. Resist the urge to teach the full HCL expression language — for-expressions, dynamic blocks, count versus for_each. They do not need it for the lab and it will crowd out the graph slide, which they do need. If someone asks about loops, promise it for the second half of the module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Rosetta stone. If they understand block type / labels / arguments, they can read any Terraform file on the internet, including ones using services they have never heard of. The panel on the right is the most common beginner confusion: students assume the second label is the AWS resource name. It is not — it is a symbol in your config, like a variable name in a program. The naming advice is real advice: in the lab they will see aws_s3_bucket.data and aws_s3_bucket.state, named for what they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hammer. First, terraform init is not optional ceremony — it is the step that downloads the provider, and it must be re-run whenever required_providers changes. Second, version pinning. Tell them the true story shape: an unpinned provider auto-upgrades on a colleague's machine, an argument gets renamed in a major version, and now the plan is full of changes nobody asked for. default_tags is worth calling out as an operations win — it is how you make cost allocation work without relying on anyone remembering to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bucket, six resources' surprise is worth demonstrating live if you have a browser open — pull up the aws_s3_bucket page in the registry and scroll the related-resources list. Explain WHY: older provider versions bundled these as inline blocks, and version 4 split them apart to match the API. This is exactly the kind of major-version break that the pinning slide warned about. The registry advice is the single most useful habit you can give them today. Students who learn to read provider docs are self-sufficient; students who memorise arguments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hardcoded-AMI point is not theoretical: it is the number one reason a Terraform config that worked last month fails today, and it is the exact mistake the AWS module warned about with SSM parameters. Same lesson, new tool. The 'would deleting this delete something' test is a good one to have them answer out loud with a couple of examples. Mention the second card as a preview of team reality: in a real company you almost never own the whole account. You own your slice and read everyone else's.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Precedence is the part they will trip over: the last one to set a value wins, and the ordering is not alphabetical or obvious. The practical takeaway for the lab is that terraform.tfvars is picked up automatically and should be in .gitignore, while CI uses TF_VAR_ environment variables. Sell validation properly. The student_name regex in the lab exists because S3 bucket names must be DNS-compatible — if you skip validation, the failure surfaces as an opaque AWS error halfway through an apply, with some resources already created. Failing fast at plan time is the entire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variable-vs-local distinction crisp: a variable is an input from outside that a caller can change; a local is an internal shorthand that nobody outside can set. Students routinely reach for a variable when they mean a local. The prefix local is the pattern they will actually reuse — one place to change the naming convention across forty resources. End on the problem card and let it hang. It is the bridge into the state section, and it is the fact that turns 'state is a config file' into 'state is a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sentence of the fix card is the one to say twice. Students coming from scripting habits want to copy an ARN out of the console and paste it in. It appears to work and it silently removes Terraform's ability to order operations correctly. The visible symptom, weeks later, is an intermittent apply failure where a resource is created before the thing it depends on exists — and it only fails sometimes, because Terraform parallelises. Preview the next slide: those references are not just convenience, they are how the graph gets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left to right, then say the destroy sentence and walk it right to left. That reversal is the moment the graph idea clicks for most people. Warn against depends_on as a habit: students who hit a race condition tend to sprinkle depends_on everywhere, which serialises the graph and makes applies slow. Nine times out of ten the right fix is to reference the attribute instead of hardcoding it. If you have time, mention terraform graph, which emits DOT you can render — a nice thing to show once, rarely useful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part, roughly ten minutes, and the most practical one in the deck — these are the commands their hands will be on all afternoon. The whole section exists to build one habit: read the plan before typing yes. Say it on the first slide, demonstrate it on the second, and say it again at the end. If you have a terminal on the projector, this is the natural place for a two-minute live run: init, plan, apply on something trivial like a single S3 bucket. Seeing the real output beats any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plan as the command that makes Terraform safe to learn on. You can run it as many times as you like, against production, and nothing happens. Encourage them to run it constantly in the lab. Be blunt about apply being the only one that costs money — several of them will be on personal AWS accounts. And insist on destroy at the end of the lab. Tell them the number: leaving one EKS cluster running for a month is roughly seventy dollars of control plane charges for a cluster nobody is using. The teardown lab is not optional housekeeping.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operationally important slide in the deck. A career-ending Terraform incident is almost always someone typing yes without reading. Teach the habit explicitly: eyes to the bottom summary line first, then scan upward for anything red. Give a concrete forces-replacement example they will meet in the lab: changing an EC2 instance's availability zone, or changing an S3 bucket's name. Both look like tiny edits and both mean destroy-and-recreate. Mention terraform plan -out=tfplan followed by terraform apply tfplan — this is what CI does, and it guarantees the thing you reviewed is the thing that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 it is a reference slide. Two things to actually say out loud. validate needs no credentials, which is why it is the first gate in CI: it catches typos in seconds without touching AWS. terraform console is the underrated one. When a for-expression or a join isn't producing what they expect, the console lets them evaluate it interactively against real state instead of guessing through repeated plans. Demonstrate it once if you have a terminal handy.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highest-value callback in the deck for anyone who did the Kubernetes module. Draw the parallel explicitly and then draw the distinction: Kubernetes reconciles continuously because a controller is always running; Terraform reconciles on demand because it is a CLI tool that exits. Neither is better — they are different trade-offs. The continuous loop means self-healing but also means you cannot make a manual change stick. The on-demand model means you have precise control over when things change, at the cost of drift going unnoticed. The solution card previews GitOps and Atlantis-style workflows without needing to name them; mention Crossplane again for anyone who wants the continuous model for cloud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centrepiece. Budget twenty-five minutes and protect it — if the session is running long, cut from part six, never from here. Tell them explicitly that this is the section that separates people who use Terraform confidently from people who are quietly afraid of it, and that most of the confusion they will feel in the lab traces back to state. Three beats: what state is, the three rules, and what to do when it goes wrong. The drift demo in the middle is the one to run live if you run anything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mapping framing is the one that makes state click: config is names you chose, AWS is IDs it assigned, and state is the dictionary between them. The footnote deserves a beat. Students expect deleting a block to be a no-op, like removing a comment. It is not — it is an instruction to destroy. That surprise has cost people production databases. End on the problem card and let the discomfort sit; the next slide formalises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as three separate beats with a pause after each. Rule one explains the most common confused-student question: 'I deleted it in the console, why is Terraform still talking about it?' Rule two is the security lesson. Say plainly that .gitignore must contain *.tfstate and *.tfstate.backup, and that a state file in a public repo is a credential leak. There are real breaches with this exact cause. Rule three sets up the backend discussion two slides from now — do not resolve it yet, just leave them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if you possibly can — deleting something in the console and watching plan notice it is the single most convincing demo in the module. Two subtleties worth naming. First, plan detects drift by refreshing: it calls the AWS API for every resource in state, which is why plan gets slow on large projects. terraform plan -refresh=false skips it when you are iterating on syntax. Second, Terraform heals drift by making reality match the config — always in that direction. If the manual change was actually correct, the fix is to change the config, not to let apply revert it. That distinction is where the discipline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orphaned-subnet outcome in the terminal is the thing to explain slowly: the resource exists and is being billed, but no state file records it, so no terraform destroy will ever clean it up. It becomes permanent invisible cost. This is why the lab has you create the state bucket in lab 01 and migrate into it immediately — you experience the migration rather than being told about it. Note honestly that for a solo lab you could skip all of this. We do not skip it because the habit is what transfers to their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bootstrap paradox is a fair question and worth answering directly: you need a bucket to store state, but creating the bucket is itself Terraform. The lab resolves it the way real teams do — create the state bucket with local state first, then migrate. A one-time chicken-and-egg you solve once per account. The backend-block-cannot-use-variables point is genuinely universal. Every Terraform user has hit it. Tell them it is not their mistake, it is a load-order constraint. If any student is on Terraform 1.9 or 1.10, use_lockfile will error — they should delete that line, since they are working solo today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as the tools you reach for on a bad day, not part of the daily loop. Most days you never touch them. state mv is the one they will need soonest: renaming a resource block from web to api makes Terraform plan a destroy and a create, because the address changed. state mv preserves the mapping and turns it into a no-op. Since 1.5 there are also moved blocks, which do the same thing declaratively and survive in the repo. Sell import as the answer to the question every one of them will face in their first job: 'we already have infrastructure, is it too late for Terraform?' It is not. You import incrementally.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context rather than lab prerequisite — nothing here is needed to complete the afternoon, so it is your cut-list if you are short on time. Drop the environments slide first, then modules. Keep the Kubernetes slide regardless: lab 06 walks straight into the two-provider problem and they will handle it much better having seen it named. The pipeline slide is the one that connects this module to the CI/CD module and to how the work actually happens in a job, so it is worth the five minutes even in a compressed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function-call analogy carries all the weight here; lean on it. Variables in, outputs out, call it twice with different arguments. Anyone who can write a function can write a module. In the lab we deliberately do NOT use the community EKS module, because it hides the five resource types that make up a cluster and today we want those visible. Say that explicitly so nobody thinks we did it the hard way by accident. The 'don't modularise too early' warning is real engineering advice, not Terraform-specific. Wait for the second caller.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genuine disagreement in the community about directory-per-environment versus workspaces, so present it as a trade-off rather than a rule, but be clear about which one you would choose and why. The strongest argument for separate directories is that prod deserves separate credentials, and workspaces make that awkward. The blast-radius principle is the transferable idea and echoes the namespace isolation from the Kubernetes module. Small state files plan fast, fail small, and can be owned by different teams. One giant state file is slow, scary, and eventually nobody wants to touch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06 hits this directly, so prepare them. The exec block is worth explaining: it shells out to the AWS CLI for a short-lived token rather than baking a long-lived credential into state — which matters given everything we said about secrets in state. The split-apply fix is what the lab does, and it is what production teams do. If someone asks about the -target flag as a workaround, the honest answer is that it works and it is a smell; splitting configurations is the real fix. The closing question is a good discussion prompt. The line — things the cluster needs versus things that run on it — is the one to leave them with, and it connects forward to any future GitOps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slide for anyone who did the GitHub Actions module — the OIDC keyless pattern they set up there is exactly what a Terraform pipeline uses, and seeing it reused makes it stick. The plan-as-PR-comment step is the important cultural one: it turns infrastructure review into ordinary code review. Reviewers are looking at the diff of reality, not the diff of the file. Mention that the CI apply should use a saved plan file (plan -out then apply that file) so the reviewed plan is provably the one executed. Name Atlantis and HCP Terraform as tools that package all of this if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quickly — one sentence each, this is a scannable reference. Slow down on two of them. Number 6 is the cultural one: the console is not forbidden, but any console change must be followed by either updating the config or accepting that apply will revert it. Silent manual changes are how teams lose trust in their own tooling. Number 8 is the one that costs students actual money this week. Make the teardown lab non-optional and say the number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card three back to the Docker module explicitly: Trivy scanning a Terraform plan is the same tool and the same shift-left instinct they already applied to container images. Familiar tool, new target. Card two has a nice pattern worth naming: random_password generates a value, Terraform writes it straight into Secrets Manager, and no human ever sees it. It still lands in state, which is why card one comes first. Policy-as-code is aspirational for a bootcamp graduate but worth knowing exists, because in a regulated company it will be sitting in the pipeline on their first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quickly and point out the arc: each lab produces something the next one consumes. The state bucket from 01 holds state for everything after it, the IAM role from 02 is what the EC2 instance in 03 assumes, the ECR repo from 04 is what the EKS nodes pull from in 05. Set expectations on lab 05: EKS takes ten to fifteen minutes to create and there is nothing to do while it runs. That is a good moment for questions, or for reading the plan output properly. Repeat the cost warning and the naming rule. Both of them cause real pain when ignored, and both are trivially avoidable.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to close laptops for this one. Five things, one sentence each, then stop talking. If you only get one to stick, make it state. It is the concept that separates people who use Terraform confidently from people who are afraid of it. The footnote is the encouraging close: they did not learn a vendor's CLI, they learned declarative infrastructure, and that idea is now portable across every tool in the landscape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break to walk the room and fix broken installs — on past cohorts the two failures are a Terraform version older than 1.9 from a distro package manager, and AWS credentials that were never configured. Windows users: confirm they are in PowerShell or WSL consistently and not mixing the two, because the path handling differs. Have the setup lab open on the projector while they get coffee so anyone who is stuck can read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slideLayout" Target="../slideLayouts/slideLayout1.xml"/><Relationship Id="rId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slideLayout" Target="../slideLayouts/slideLayout1.xml"/><Relationship Id="rId6"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732520" y="1481328"/>
            <a:ext cx="2788920" cy="2788920"/>
          </a:xfrm>
          <a:prstGeom prst="ellipse">
            <a:avLst/>
          </a:prstGeom>
          <a:solidFill>
            <a:srgbClr val="1E293B"/>
          </a:solidFill>
          <a:ln w="19050">
            <a:solidFill>
              <a:srgbClr val="7B42BC"/>
            </a:solidFill>
            <a:prstDash val="solid"/>
          </a:ln>
        </p:spPr>
      </p:sp>
      <p:pic>
        <p:nvPicPr>
          <p:cNvPr id="3" name="Image 0" descr="preencoded.png">    </p:cNvPr>
          <p:cNvPicPr>
            <a:picLocks noChangeAspect="1"/>
          </p:cNvPicPr>
          <p:nvPr/>
        </p:nvPicPr>
        <p:blipFill>
          <a:blip r:embed="rId1"/>
          <a:stretch>
            <a:fillRect/>
          </a:stretch>
        </p:blipFill>
        <p:spPr>
          <a:xfrm>
            <a:off x="9528048" y="2276856"/>
            <a:ext cx="1207008" cy="1207008"/>
          </a:xfrm>
          <a:prstGeom prst="rect">
            <a:avLst/>
          </a:prstGeom>
        </p:spPr>
      </p:pic>
      <p:sp>
        <p:nvSpPr>
          <p:cNvPr id="4" name="Text 1"/>
          <p:cNvSpPr/>
          <p:nvPr/>
        </p:nvSpPr>
        <p:spPr>
          <a:xfrm>
            <a:off x="566928" y="1572768"/>
            <a:ext cx="7680960" cy="274320"/>
          </a:xfrm>
          <a:prstGeom prst="rect">
            <a:avLst/>
          </a:prstGeom>
          <a:noFill/>
          <a:ln/>
        </p:spPr>
        <p:txBody>
          <a:bodyPr wrap="square" lIns="0" tIns="0" rIns="0" bIns="0" rtlCol="0" anchor="ctr"/>
          <a:lstStyle/>
          <a:p>
            <a:pPr indent="0" marL="0">
              <a:buNone/>
            </a:pPr>
            <a:r>
              <a:rPr lang="en-US" sz="1200" b="1" spc="260" kern="0" dirty="0">
                <a:solidFill>
                  <a:srgbClr val="7B42BC"/>
                </a:solidFill>
                <a:latin typeface="Calibri" pitchFamily="34" charset="0"/>
                <a:ea typeface="Calibri" pitchFamily="34" charset="-122"/>
                <a:cs typeface="Calibri" pitchFamily="34" charset="-120"/>
              </a:rPr>
              <a:t>MODULE 07  ·  DEVOPS BOOTCAMP</a:t>
            </a:r>
            <a:endParaRPr lang="en-US" sz="1200" dirty="0"/>
          </a:p>
        </p:txBody>
      </p:sp>
      <p:sp>
        <p:nvSpPr>
          <p:cNvPr id="5" name="Text 2"/>
          <p:cNvSpPr/>
          <p:nvPr/>
        </p:nvSpPr>
        <p:spPr>
          <a:xfrm>
            <a:off x="566928" y="1938528"/>
            <a:ext cx="7863840" cy="822960"/>
          </a:xfrm>
          <a:prstGeom prst="rect">
            <a:avLst/>
          </a:prstGeom>
          <a:noFill/>
          <a:ln/>
        </p:spPr>
        <p:txBody>
          <a:bodyPr wrap="square" lIns="0" tIns="0" rIns="0" bIns="0" rtlCol="0" anchor="ctr"/>
          <a:lstStyle/>
          <a:p>
            <a:pPr indent="0" marL="0">
              <a:buNone/>
            </a:pPr>
            <a:r>
              <a:rPr lang="en-US" sz="4400" b="1" dirty="0">
                <a:solidFill>
                  <a:srgbClr val="FFFFFF"/>
                </a:solidFill>
                <a:latin typeface="Bookman Old Style" pitchFamily="34" charset="0"/>
                <a:ea typeface="Bookman Old Style" pitchFamily="34" charset="-122"/>
                <a:cs typeface="Bookman Old Style" pitchFamily="34" charset="-120"/>
              </a:rPr>
              <a:t>Infrastructure as Code</a:t>
            </a:r>
            <a:endParaRPr lang="en-US" sz="4400" dirty="0"/>
          </a:p>
        </p:txBody>
      </p:sp>
      <p:sp>
        <p:nvSpPr>
          <p:cNvPr id="6" name="Text 3"/>
          <p:cNvSpPr/>
          <p:nvPr/>
        </p:nvSpPr>
        <p:spPr>
          <a:xfrm>
            <a:off x="566928" y="2761488"/>
            <a:ext cx="7863840" cy="822960"/>
          </a:xfrm>
          <a:prstGeom prst="rect">
            <a:avLst/>
          </a:prstGeom>
          <a:noFill/>
          <a:ln/>
        </p:spPr>
        <p:txBody>
          <a:bodyPr wrap="square" lIns="0" tIns="0" rIns="0" bIns="0" rtlCol="0" anchor="ctr"/>
          <a:lstStyle/>
          <a:p>
            <a:pPr indent="0" marL="0">
              <a:buNone/>
            </a:pPr>
            <a:r>
              <a:rPr lang="en-US" sz="4400" b="1" dirty="0">
                <a:solidFill>
                  <a:srgbClr val="7B42BC"/>
                </a:solidFill>
                <a:latin typeface="Bookman Old Style" pitchFamily="34" charset="0"/>
                <a:ea typeface="Bookman Old Style" pitchFamily="34" charset="-122"/>
                <a:cs typeface="Bookman Old Style" pitchFamily="34" charset="-120"/>
              </a:rPr>
              <a:t>with Terraform</a:t>
            </a:r>
            <a:endParaRPr lang="en-US" sz="4400" dirty="0"/>
          </a:p>
        </p:txBody>
      </p:sp>
      <p:sp>
        <p:nvSpPr>
          <p:cNvPr id="7" name="Text 4"/>
          <p:cNvSpPr/>
          <p:nvPr/>
        </p:nvSpPr>
        <p:spPr>
          <a:xfrm>
            <a:off x="566928" y="3730752"/>
            <a:ext cx="7589520" cy="914400"/>
          </a:xfrm>
          <a:prstGeom prst="rect">
            <a:avLst/>
          </a:prstGeom>
          <a:noFill/>
          <a:ln/>
        </p:spPr>
        <p:txBody>
          <a:bodyPr wrap="square" lIns="0" tIns="0" rIns="0" bIns="0" rtlCol="0" anchor="ctr"/>
          <a:lstStyle/>
          <a:p>
            <a:pPr indent="0" marL="0">
              <a:lnSpc>
                <a:spcPts val="2300"/>
              </a:lnSpc>
              <a:buNone/>
            </a:pPr>
            <a:r>
              <a:rPr lang="en-US" sz="1500" dirty="0">
                <a:solidFill>
                  <a:srgbClr val="94A3B8"/>
                </a:solidFill>
                <a:latin typeface="Calibri" pitchFamily="34" charset="0"/>
                <a:ea typeface="Calibri" pitchFamily="34" charset="-122"/>
                <a:cs typeface="Calibri" pitchFamily="34" charset="-120"/>
              </a:rPr>
              <a:t>Stop clicking. Start describing. Then let a machine make reality match the description — every time, in every region, for everyone on the team.</a:t>
            </a:r>
            <a:endParaRPr lang="en-US" sz="1500" dirty="0"/>
          </a:p>
        </p:txBody>
      </p:sp>
      <p:sp>
        <p:nvSpPr>
          <p:cNvPr id="8" name="Shape 5"/>
          <p:cNvSpPr/>
          <p:nvPr/>
        </p:nvSpPr>
        <p:spPr>
          <a:xfrm>
            <a:off x="566928" y="4864608"/>
            <a:ext cx="980237" cy="310896"/>
          </a:xfrm>
          <a:prstGeom prst="roundRect">
            <a:avLst>
              <a:gd name="adj" fmla="val 47059"/>
            </a:avLst>
          </a:prstGeom>
          <a:solidFill>
            <a:srgbClr val="1E293B"/>
          </a:solidFill>
          <a:ln w="10795">
            <a:solidFill>
              <a:srgbClr val="334155"/>
            </a:solidFill>
            <a:prstDash val="solid"/>
          </a:ln>
        </p:spPr>
      </p:sp>
      <p:sp>
        <p:nvSpPr>
          <p:cNvPr id="9" name="Text 6"/>
          <p:cNvSpPr/>
          <p:nvPr/>
        </p:nvSpPr>
        <p:spPr>
          <a:xfrm>
            <a:off x="566928" y="4864608"/>
            <a:ext cx="980237"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terraform</a:t>
            </a:r>
            <a:endParaRPr lang="en-US" sz="1050" dirty="0"/>
          </a:p>
        </p:txBody>
      </p:sp>
      <p:sp>
        <p:nvSpPr>
          <p:cNvPr id="10" name="Shape 7"/>
          <p:cNvSpPr/>
          <p:nvPr/>
        </p:nvSpPr>
        <p:spPr>
          <a:xfrm>
            <a:off x="1693469" y="4864608"/>
            <a:ext cx="497434" cy="310896"/>
          </a:xfrm>
          <a:prstGeom prst="roundRect">
            <a:avLst>
              <a:gd name="adj" fmla="val 47059"/>
            </a:avLst>
          </a:prstGeom>
          <a:solidFill>
            <a:srgbClr val="1E293B"/>
          </a:solidFill>
          <a:ln w="10795">
            <a:solidFill>
              <a:srgbClr val="334155"/>
            </a:solidFill>
            <a:prstDash val="solid"/>
          </a:ln>
        </p:spPr>
      </p:sp>
      <p:sp>
        <p:nvSpPr>
          <p:cNvPr id="11" name="Text 8"/>
          <p:cNvSpPr/>
          <p:nvPr/>
        </p:nvSpPr>
        <p:spPr>
          <a:xfrm>
            <a:off x="1693469" y="4864608"/>
            <a:ext cx="497434"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aws</a:t>
            </a:r>
            <a:endParaRPr lang="en-US" sz="1050" dirty="0"/>
          </a:p>
        </p:txBody>
      </p:sp>
      <p:sp>
        <p:nvSpPr>
          <p:cNvPr id="12" name="Shape 9"/>
          <p:cNvSpPr/>
          <p:nvPr/>
        </p:nvSpPr>
        <p:spPr>
          <a:xfrm>
            <a:off x="2337206" y="4864608"/>
            <a:ext cx="1060704" cy="310896"/>
          </a:xfrm>
          <a:prstGeom prst="roundRect">
            <a:avLst>
              <a:gd name="adj" fmla="val 47059"/>
            </a:avLst>
          </a:prstGeom>
          <a:solidFill>
            <a:srgbClr val="1E293B"/>
          </a:solidFill>
          <a:ln w="10795">
            <a:solidFill>
              <a:srgbClr val="334155"/>
            </a:solidFill>
            <a:prstDash val="solid"/>
          </a:ln>
        </p:spPr>
      </p:sp>
      <p:sp>
        <p:nvSpPr>
          <p:cNvPr id="13" name="Text 10"/>
          <p:cNvSpPr/>
          <p:nvPr/>
        </p:nvSpPr>
        <p:spPr>
          <a:xfrm>
            <a:off x="2337206" y="4864608"/>
            <a:ext cx="1060704"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kubernetes</a:t>
            </a:r>
            <a:endParaRPr lang="en-US" sz="1050" dirty="0"/>
          </a:p>
        </p:txBody>
      </p:sp>
      <p:sp>
        <p:nvSpPr>
          <p:cNvPr id="14" name="Shape 11"/>
          <p:cNvSpPr/>
          <p:nvPr/>
        </p:nvSpPr>
        <p:spPr>
          <a:xfrm>
            <a:off x="3544214" y="4864608"/>
            <a:ext cx="497434" cy="310896"/>
          </a:xfrm>
          <a:prstGeom prst="roundRect">
            <a:avLst>
              <a:gd name="adj" fmla="val 47059"/>
            </a:avLst>
          </a:prstGeom>
          <a:solidFill>
            <a:srgbClr val="1E293B"/>
          </a:solidFill>
          <a:ln w="10795">
            <a:solidFill>
              <a:srgbClr val="334155"/>
            </a:solidFill>
            <a:prstDash val="solid"/>
          </a:ln>
        </p:spPr>
      </p:sp>
      <p:sp>
        <p:nvSpPr>
          <p:cNvPr id="15" name="Text 12"/>
          <p:cNvSpPr/>
          <p:nvPr/>
        </p:nvSpPr>
        <p:spPr>
          <a:xfrm>
            <a:off x="3544214" y="4864608"/>
            <a:ext cx="497434"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hcl</a:t>
            </a:r>
            <a:endParaRPr lang="en-US" sz="1050" dirty="0"/>
          </a:p>
        </p:txBody>
      </p:sp>
      <p:sp>
        <p:nvSpPr>
          <p:cNvPr id="16" name="Shape 13"/>
          <p:cNvSpPr/>
          <p:nvPr/>
        </p:nvSpPr>
        <p:spPr>
          <a:xfrm>
            <a:off x="4187952" y="4864608"/>
            <a:ext cx="1060704" cy="310896"/>
          </a:xfrm>
          <a:prstGeom prst="roundRect">
            <a:avLst>
              <a:gd name="adj" fmla="val 47059"/>
            </a:avLst>
          </a:prstGeom>
          <a:solidFill>
            <a:srgbClr val="1E293B"/>
          </a:solidFill>
          <a:ln w="10795">
            <a:solidFill>
              <a:srgbClr val="334155"/>
            </a:solidFill>
            <a:prstDash val="solid"/>
          </a:ln>
        </p:spPr>
      </p:sp>
      <p:sp>
        <p:nvSpPr>
          <p:cNvPr id="17" name="Text 14"/>
          <p:cNvSpPr/>
          <p:nvPr/>
        </p:nvSpPr>
        <p:spPr>
          <a:xfrm>
            <a:off x="4187952" y="4864608"/>
            <a:ext cx="1060704"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3-hour lab</a:t>
            </a:r>
            <a:endParaRPr lang="en-US" sz="1050" dirty="0"/>
          </a:p>
        </p:txBody>
      </p:sp>
      <p:sp>
        <p:nvSpPr>
          <p:cNvPr id="18" name="Text 15"/>
          <p:cNvSpPr/>
          <p:nvPr/>
        </p:nvSpPr>
        <p:spPr>
          <a:xfrm>
            <a:off x="566928" y="5806440"/>
            <a:ext cx="7680960" cy="292608"/>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Concepts first — the keyboard comes after the break.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566928" y="1417320"/>
            <a:ext cx="1828800" cy="1371600"/>
          </a:xfrm>
          <a:prstGeom prst="rect">
            <a:avLst/>
          </a:prstGeom>
          <a:noFill/>
          <a:ln/>
        </p:spPr>
        <p:txBody>
          <a:bodyPr wrap="square" lIns="0" tIns="0" rIns="0" bIns="0" rtlCol="0" anchor="ctr"/>
          <a:lstStyle/>
          <a:p>
            <a:pPr indent="0" marL="0">
              <a:buNone/>
            </a:pPr>
            <a:r>
              <a:rPr lang="en-US" sz="8400" b="1" dirty="0">
                <a:solidFill>
                  <a:srgbClr val="F97316"/>
                </a:solidFill>
                <a:latin typeface="Bookman Old Style" pitchFamily="34" charset="0"/>
                <a:ea typeface="Bookman Old Style" pitchFamily="34" charset="-122"/>
                <a:cs typeface="Bookman Old Style" pitchFamily="34" charset="-120"/>
              </a:rPr>
              <a:t>01</a:t>
            </a:r>
            <a:endParaRPr lang="en-US" sz="8400" dirty="0"/>
          </a:p>
        </p:txBody>
      </p:sp>
      <p:sp>
        <p:nvSpPr>
          <p:cNvPr id="4" name="Text 1"/>
          <p:cNvSpPr/>
          <p:nvPr/>
        </p:nvSpPr>
        <p:spPr>
          <a:xfrm>
            <a:off x="566928" y="278892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The Problem With Clicking</a:t>
            </a:r>
            <a:endParaRPr lang="en-US" sz="4000" dirty="0"/>
          </a:p>
        </p:txBody>
      </p:sp>
      <p:sp>
        <p:nvSpPr>
          <p:cNvPr id="5" name="Text 2"/>
          <p:cNvSpPr/>
          <p:nvPr/>
        </p:nvSpPr>
        <p:spPr>
          <a:xfrm>
            <a:off x="566928" y="3767328"/>
            <a:ext cx="7315200" cy="777240"/>
          </a:xfrm>
          <a:prstGeom prst="rect">
            <a:avLst/>
          </a:prstGeom>
          <a:noFill/>
          <a:ln/>
        </p:spPr>
        <p:txBody>
          <a:bodyPr wrap="square" lIns="0" tIns="0" rIns="0" bIns="0" rtlCol="0" anchor="ctr"/>
          <a:lstStyle/>
          <a:p>
            <a:pPr indent="0" marL="0">
              <a:lnSpc>
                <a:spcPts val="2400"/>
              </a:lnSpc>
              <a:buNone/>
            </a:pPr>
            <a:r>
              <a:rPr lang="en-US" sz="1600" dirty="0">
                <a:solidFill>
                  <a:srgbClr val="94A3B8"/>
                </a:solidFill>
                <a:latin typeface="Calibri" pitchFamily="34" charset="0"/>
                <a:ea typeface="Calibri" pitchFamily="34" charset="-122"/>
                <a:cs typeface="Calibri" pitchFamily="34" charset="-120"/>
              </a:rPr>
              <a:t>Every console click is a decision nobody wrote down. Multiply that by six months and a team of five, and nobody can say what your infrastructure actually is.</a:t>
            </a:r>
            <a:endParaRPr lang="en-US" sz="1600" dirty="0"/>
          </a:p>
        </p:txBody>
      </p:sp>
      <p:sp>
        <p:nvSpPr>
          <p:cNvPr id="6" name="Shape 3"/>
          <p:cNvSpPr/>
          <p:nvPr/>
        </p:nvSpPr>
        <p:spPr>
          <a:xfrm>
            <a:off x="9418320" y="2148840"/>
            <a:ext cx="1874520" cy="1874520"/>
          </a:xfrm>
          <a:prstGeom prst="ellipse">
            <a:avLst/>
          </a:prstGeom>
          <a:solidFill>
            <a:srgbClr val="1E293B"/>
          </a:solidFill>
          <a:ln w="15875">
            <a:solidFill>
              <a:srgbClr val="F97316"/>
            </a:solidFill>
            <a:prstDash val="solid"/>
          </a:ln>
        </p:spPr>
      </p:sp>
      <p:pic>
        <p:nvPicPr>
          <p:cNvPr id="7" name="Image 0" descr="preencoded.png">    </p:cNvPr>
          <p:cNvPicPr>
            <a:picLocks noChangeAspect="1"/>
          </p:cNvPicPr>
          <p:nvPr/>
        </p:nvPicPr>
        <p:blipFill>
          <a:blip r:embed="rId1"/>
          <a:stretch>
            <a:fillRect/>
          </a:stretch>
        </p:blipFill>
        <p:spPr>
          <a:xfrm>
            <a:off x="9893808" y="2624328"/>
            <a:ext cx="914400" cy="914400"/>
          </a:xfrm>
          <a:prstGeom prst="rect">
            <a:avLst/>
          </a:prstGeom>
        </p:spPr>
      </p:pic>
      <p:sp>
        <p:nvSpPr>
          <p:cNvPr id="8" name="Shape 4"/>
          <p:cNvSpPr/>
          <p:nvPr/>
        </p:nvSpPr>
        <p:spPr>
          <a:xfrm>
            <a:off x="566928" y="4892040"/>
            <a:ext cx="1009498" cy="384048"/>
          </a:xfrm>
          <a:prstGeom prst="roundRect">
            <a:avLst>
              <a:gd name="adj" fmla="val 47619"/>
            </a:avLst>
          </a:prstGeom>
          <a:solidFill>
            <a:srgbClr val="1E293B"/>
          </a:solidFill>
          <a:ln w="9525">
            <a:solidFill>
              <a:srgbClr val="334155"/>
            </a:solidFill>
            <a:prstDash val="solid"/>
          </a:ln>
        </p:spPr>
      </p:sp>
      <p:sp>
        <p:nvSpPr>
          <p:cNvPr id="9" name="Text 5"/>
          <p:cNvSpPr/>
          <p:nvPr/>
        </p:nvSpPr>
        <p:spPr>
          <a:xfrm>
            <a:off x="566928" y="4892040"/>
            <a:ext cx="100949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clickops</a:t>
            </a:r>
            <a:endParaRPr lang="en-US" sz="1050" dirty="0"/>
          </a:p>
        </p:txBody>
      </p:sp>
      <p:sp>
        <p:nvSpPr>
          <p:cNvPr id="10" name="Shape 6"/>
          <p:cNvSpPr/>
          <p:nvPr/>
        </p:nvSpPr>
        <p:spPr>
          <a:xfrm>
            <a:off x="1722730" y="4892040"/>
            <a:ext cx="1207008" cy="384048"/>
          </a:xfrm>
          <a:prstGeom prst="roundRect">
            <a:avLst>
              <a:gd name="adj" fmla="val 47619"/>
            </a:avLst>
          </a:prstGeom>
          <a:solidFill>
            <a:srgbClr val="1E293B"/>
          </a:solidFill>
          <a:ln w="9525">
            <a:solidFill>
              <a:srgbClr val="334155"/>
            </a:solidFill>
            <a:prstDash val="solid"/>
          </a:ln>
        </p:spPr>
      </p:sp>
      <p:sp>
        <p:nvSpPr>
          <p:cNvPr id="11" name="Text 7"/>
          <p:cNvSpPr/>
          <p:nvPr/>
        </p:nvSpPr>
        <p:spPr>
          <a:xfrm>
            <a:off x="1722730" y="4892040"/>
            <a:ext cx="120700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snowflakes</a:t>
            </a:r>
            <a:endParaRPr lang="en-US" sz="1050" dirty="0"/>
          </a:p>
        </p:txBody>
      </p:sp>
      <p:sp>
        <p:nvSpPr>
          <p:cNvPr id="12" name="Shape 8"/>
          <p:cNvSpPr/>
          <p:nvPr/>
        </p:nvSpPr>
        <p:spPr>
          <a:xfrm>
            <a:off x="3076042" y="4892040"/>
            <a:ext cx="713232" cy="384048"/>
          </a:xfrm>
          <a:prstGeom prst="roundRect">
            <a:avLst>
              <a:gd name="adj" fmla="val 47619"/>
            </a:avLst>
          </a:prstGeom>
          <a:solidFill>
            <a:srgbClr val="1E293B"/>
          </a:solidFill>
          <a:ln w="9525">
            <a:solidFill>
              <a:srgbClr val="334155"/>
            </a:solidFill>
            <a:prstDash val="solid"/>
          </a:ln>
        </p:spPr>
      </p:sp>
      <p:sp>
        <p:nvSpPr>
          <p:cNvPr id="13" name="Text 9"/>
          <p:cNvSpPr/>
          <p:nvPr/>
        </p:nvSpPr>
        <p:spPr>
          <a:xfrm>
            <a:off x="3076042" y="4892040"/>
            <a:ext cx="71323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drift</a:t>
            </a:r>
            <a:endParaRPr lang="en-US" sz="1050" dirty="0"/>
          </a:p>
        </p:txBody>
      </p:sp>
      <p:sp>
        <p:nvSpPr>
          <p:cNvPr id="14" name="Shape 10"/>
          <p:cNvSpPr/>
          <p:nvPr/>
        </p:nvSpPr>
        <p:spPr>
          <a:xfrm>
            <a:off x="3935578" y="4892040"/>
            <a:ext cx="1799539" cy="384048"/>
          </a:xfrm>
          <a:prstGeom prst="roundRect">
            <a:avLst>
              <a:gd name="adj" fmla="val 47619"/>
            </a:avLst>
          </a:prstGeom>
          <a:solidFill>
            <a:srgbClr val="1E293B"/>
          </a:solidFill>
          <a:ln w="9525">
            <a:solidFill>
              <a:srgbClr val="334155"/>
            </a:solidFill>
            <a:prstDash val="solid"/>
          </a:ln>
        </p:spPr>
      </p:sp>
      <p:sp>
        <p:nvSpPr>
          <p:cNvPr id="15" name="Text 11"/>
          <p:cNvSpPr/>
          <p:nvPr/>
        </p:nvSpPr>
        <p:spPr>
          <a:xfrm>
            <a:off x="3935578" y="4892040"/>
            <a:ext cx="1799539"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tribal knowledge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THE HONEST VERSION</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How infrastructure gets built by hand</a:t>
            </a:r>
            <a:endParaRPr lang="en-US" sz="3000" dirty="0"/>
          </a:p>
        </p:txBody>
      </p:sp>
      <p:sp>
        <p:nvSpPr>
          <p:cNvPr id="4" name="Shape 2"/>
          <p:cNvSpPr/>
          <p:nvPr/>
        </p:nvSpPr>
        <p:spPr>
          <a:xfrm>
            <a:off x="566928" y="1536192"/>
            <a:ext cx="566928" cy="566928"/>
          </a:xfrm>
          <a:prstGeom prst="ellipse">
            <a:avLst/>
          </a:prstGeom>
          <a:solidFill>
            <a:srgbClr val="334155"/>
          </a:solidFill>
          <a:ln w="12700">
            <a:solidFill>
              <a:srgbClr val="334155"/>
            </a:solidFill>
            <a:prstDash val="solid"/>
          </a:ln>
        </p:spPr>
      </p:sp>
      <p:sp>
        <p:nvSpPr>
          <p:cNvPr id="5" name="Text 3"/>
          <p:cNvSpPr/>
          <p:nvPr/>
        </p:nvSpPr>
        <p:spPr>
          <a:xfrm>
            <a:off x="566928" y="1536192"/>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6" name="Text 4"/>
          <p:cNvSpPr/>
          <p:nvPr/>
        </p:nvSpPr>
        <p:spPr>
          <a:xfrm>
            <a:off x="1353312" y="1481328"/>
            <a:ext cx="36576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Someone clicks</a:t>
            </a:r>
            <a:endParaRPr lang="en-US" sz="1500" dirty="0"/>
          </a:p>
        </p:txBody>
      </p:sp>
      <p:sp>
        <p:nvSpPr>
          <p:cNvPr id="7" name="Text 5"/>
          <p:cNvSpPr/>
          <p:nvPr/>
        </p:nvSpPr>
        <p:spPr>
          <a:xfrm>
            <a:off x="1353312" y="1792224"/>
            <a:ext cx="5394960" cy="475488"/>
          </a:xfrm>
          <a:prstGeom prst="rect">
            <a:avLst/>
          </a:prstGeom>
          <a:noFill/>
          <a:ln/>
        </p:spPr>
        <p:txBody>
          <a:bodyPr wrap="square" lIns="0" tIns="0" rIns="0" bIns="0" rtlCol="0" anchor="t"/>
          <a:lstStyle/>
          <a:p>
            <a:pPr indent="0" marL="0">
              <a:lnSpc>
                <a:spcPts val="1600"/>
              </a:lnSpc>
              <a:buNone/>
            </a:pPr>
            <a:r>
              <a:rPr lang="en-US" sz="1200" dirty="0">
                <a:solidFill>
                  <a:srgbClr val="334155"/>
                </a:solidFill>
                <a:latin typeface="Calibri" pitchFamily="34" charset="0"/>
                <a:ea typeface="Calibri" pitchFamily="34" charset="-122"/>
                <a:cs typeface="Calibri" pitchFamily="34" charset="-120"/>
              </a:rPr>
              <a:t>A senior engineer builds the VPC, the subnets, the security groups. It works. It ships.</a:t>
            </a:r>
            <a:endParaRPr lang="en-US" sz="1200" dirty="0"/>
          </a:p>
        </p:txBody>
      </p:sp>
      <p:sp>
        <p:nvSpPr>
          <p:cNvPr id="8" name="Shape 6"/>
          <p:cNvSpPr/>
          <p:nvPr/>
        </p:nvSpPr>
        <p:spPr>
          <a:xfrm>
            <a:off x="566928" y="2505456"/>
            <a:ext cx="566928" cy="566928"/>
          </a:xfrm>
          <a:prstGeom prst="ellipse">
            <a:avLst/>
          </a:prstGeom>
          <a:solidFill>
            <a:srgbClr val="334155"/>
          </a:solidFill>
          <a:ln w="12700">
            <a:solidFill>
              <a:srgbClr val="334155"/>
            </a:solidFill>
            <a:prstDash val="solid"/>
          </a:ln>
        </p:spPr>
      </p:sp>
      <p:sp>
        <p:nvSpPr>
          <p:cNvPr id="9" name="Text 7"/>
          <p:cNvSpPr/>
          <p:nvPr/>
        </p:nvSpPr>
        <p:spPr>
          <a:xfrm>
            <a:off x="566928" y="250545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0" name="Text 8"/>
          <p:cNvSpPr/>
          <p:nvPr/>
        </p:nvSpPr>
        <p:spPr>
          <a:xfrm>
            <a:off x="1353312" y="2450592"/>
            <a:ext cx="36576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Someone writes a wiki page</a:t>
            </a:r>
            <a:endParaRPr lang="en-US" sz="1500" dirty="0"/>
          </a:p>
        </p:txBody>
      </p:sp>
      <p:sp>
        <p:nvSpPr>
          <p:cNvPr id="11" name="Text 9"/>
          <p:cNvSpPr/>
          <p:nvPr/>
        </p:nvSpPr>
        <p:spPr>
          <a:xfrm>
            <a:off x="1353312" y="2761488"/>
            <a:ext cx="5394960" cy="475488"/>
          </a:xfrm>
          <a:prstGeom prst="rect">
            <a:avLst/>
          </a:prstGeom>
          <a:noFill/>
          <a:ln/>
        </p:spPr>
        <p:txBody>
          <a:bodyPr wrap="square" lIns="0" tIns="0" rIns="0" bIns="0" rtlCol="0" anchor="t"/>
          <a:lstStyle/>
          <a:p>
            <a:pPr indent="0" marL="0">
              <a:lnSpc>
                <a:spcPts val="1600"/>
              </a:lnSpc>
              <a:buNone/>
            </a:pPr>
            <a:r>
              <a:rPr lang="en-US" sz="1200" dirty="0">
                <a:solidFill>
                  <a:srgbClr val="334155"/>
                </a:solidFill>
                <a:latin typeface="Calibri" pitchFamily="34" charset="0"/>
                <a:ea typeface="Calibri" pitchFamily="34" charset="-122"/>
                <a:cs typeface="Calibri" pitchFamily="34" charset="-120"/>
              </a:rPr>
              <a:t>Fourteen screenshots. Accurate for about three weeks.</a:t>
            </a:r>
            <a:endParaRPr lang="en-US" sz="1200" dirty="0"/>
          </a:p>
        </p:txBody>
      </p:sp>
      <p:sp>
        <p:nvSpPr>
          <p:cNvPr id="12" name="Shape 10"/>
          <p:cNvSpPr/>
          <p:nvPr/>
        </p:nvSpPr>
        <p:spPr>
          <a:xfrm>
            <a:off x="566928" y="3474720"/>
            <a:ext cx="566928" cy="566928"/>
          </a:xfrm>
          <a:prstGeom prst="ellipse">
            <a:avLst/>
          </a:prstGeom>
          <a:solidFill>
            <a:srgbClr val="F97316"/>
          </a:solidFill>
          <a:ln w="12700">
            <a:solidFill>
              <a:srgbClr val="F97316"/>
            </a:solidFill>
            <a:prstDash val="solid"/>
          </a:ln>
        </p:spPr>
      </p:sp>
      <p:sp>
        <p:nvSpPr>
          <p:cNvPr id="13" name="Text 11"/>
          <p:cNvSpPr/>
          <p:nvPr/>
        </p:nvSpPr>
        <p:spPr>
          <a:xfrm>
            <a:off x="566928" y="347472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3</a:t>
            </a:r>
            <a:endParaRPr lang="en-US" sz="1700" dirty="0"/>
          </a:p>
        </p:txBody>
      </p:sp>
      <p:sp>
        <p:nvSpPr>
          <p:cNvPr id="14" name="Text 12"/>
          <p:cNvSpPr/>
          <p:nvPr/>
        </p:nvSpPr>
        <p:spPr>
          <a:xfrm>
            <a:off x="1353312" y="3419856"/>
            <a:ext cx="36576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Someone else hotfixes it</a:t>
            </a:r>
            <a:endParaRPr lang="en-US" sz="1500" dirty="0"/>
          </a:p>
        </p:txBody>
      </p:sp>
      <p:sp>
        <p:nvSpPr>
          <p:cNvPr id="15" name="Text 13"/>
          <p:cNvSpPr/>
          <p:nvPr/>
        </p:nvSpPr>
        <p:spPr>
          <a:xfrm>
            <a:off x="1353312" y="3730752"/>
            <a:ext cx="5394960" cy="475488"/>
          </a:xfrm>
          <a:prstGeom prst="rect">
            <a:avLst/>
          </a:prstGeom>
          <a:noFill/>
          <a:ln/>
        </p:spPr>
        <p:txBody>
          <a:bodyPr wrap="square" lIns="0" tIns="0" rIns="0" bIns="0" rtlCol="0" anchor="t"/>
          <a:lstStyle/>
          <a:p>
            <a:pPr indent="0" marL="0">
              <a:lnSpc>
                <a:spcPts val="1600"/>
              </a:lnSpc>
              <a:buNone/>
            </a:pPr>
            <a:r>
              <a:rPr lang="en-US" sz="1200" dirty="0">
                <a:solidFill>
                  <a:srgbClr val="334155"/>
                </a:solidFill>
                <a:latin typeface="Calibri" pitchFamily="34" charset="0"/>
                <a:ea typeface="Calibri" pitchFamily="34" charset="-122"/>
                <a:cs typeface="Calibri" pitchFamily="34" charset="-120"/>
              </a:rPr>
              <a:t>A port is opened at 2am during an incident. The wiki is not updated.</a:t>
            </a:r>
            <a:endParaRPr lang="en-US" sz="1200" dirty="0"/>
          </a:p>
        </p:txBody>
      </p:sp>
      <p:sp>
        <p:nvSpPr>
          <p:cNvPr id="16" name="Shape 14"/>
          <p:cNvSpPr/>
          <p:nvPr/>
        </p:nvSpPr>
        <p:spPr>
          <a:xfrm>
            <a:off x="566928" y="4443984"/>
            <a:ext cx="566928" cy="566928"/>
          </a:xfrm>
          <a:prstGeom prst="ellipse">
            <a:avLst/>
          </a:prstGeom>
          <a:solidFill>
            <a:srgbClr val="F97316"/>
          </a:solidFill>
          <a:ln w="12700">
            <a:solidFill>
              <a:srgbClr val="F97316"/>
            </a:solidFill>
            <a:prstDash val="solid"/>
          </a:ln>
        </p:spPr>
      </p:sp>
      <p:sp>
        <p:nvSpPr>
          <p:cNvPr id="17" name="Text 15"/>
          <p:cNvSpPr/>
          <p:nvPr/>
        </p:nvSpPr>
        <p:spPr>
          <a:xfrm>
            <a:off x="566928" y="4443984"/>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18" name="Text 16"/>
          <p:cNvSpPr/>
          <p:nvPr/>
        </p:nvSpPr>
        <p:spPr>
          <a:xfrm>
            <a:off x="1353312" y="4389120"/>
            <a:ext cx="36576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Someone leaves</a:t>
            </a:r>
            <a:endParaRPr lang="en-US" sz="1500" dirty="0"/>
          </a:p>
        </p:txBody>
      </p:sp>
      <p:sp>
        <p:nvSpPr>
          <p:cNvPr id="19" name="Text 17"/>
          <p:cNvSpPr/>
          <p:nvPr/>
        </p:nvSpPr>
        <p:spPr>
          <a:xfrm>
            <a:off x="1353312" y="4700016"/>
            <a:ext cx="5394960" cy="475488"/>
          </a:xfrm>
          <a:prstGeom prst="rect">
            <a:avLst/>
          </a:prstGeom>
          <a:noFill/>
          <a:ln/>
        </p:spPr>
        <p:txBody>
          <a:bodyPr wrap="square" lIns="0" tIns="0" rIns="0" bIns="0" rtlCol="0" anchor="t"/>
          <a:lstStyle/>
          <a:p>
            <a:pPr indent="0" marL="0">
              <a:lnSpc>
                <a:spcPts val="1600"/>
              </a:lnSpc>
              <a:buNone/>
            </a:pPr>
            <a:r>
              <a:rPr lang="en-US" sz="1200" dirty="0">
                <a:solidFill>
                  <a:srgbClr val="334155"/>
                </a:solidFill>
                <a:latin typeface="Calibri" pitchFamily="34" charset="0"/>
                <a:ea typeface="Calibri" pitchFamily="34" charset="-122"/>
                <a:cs typeface="Calibri" pitchFamily="34" charset="-120"/>
              </a:rPr>
              <a:t>The only person who knew why that security group rule exists is now at another company.</a:t>
            </a:r>
            <a:endParaRPr lang="en-US" sz="1200" dirty="0"/>
          </a:p>
        </p:txBody>
      </p:sp>
      <p:sp>
        <p:nvSpPr>
          <p:cNvPr id="20" name="Shape 18"/>
          <p:cNvSpPr/>
          <p:nvPr/>
        </p:nvSpPr>
        <p:spPr>
          <a:xfrm>
            <a:off x="7040880" y="1481328"/>
            <a:ext cx="4599432" cy="2834640"/>
          </a:xfrm>
          <a:prstGeom prst="roundRect">
            <a:avLst>
              <a:gd name="adj" fmla="val 1935"/>
            </a:avLst>
          </a:prstGeom>
          <a:solidFill>
            <a:srgbClr val="0F172A"/>
          </a:solidFill>
          <a:ln w="12700">
            <a:solidFill>
              <a:srgbClr val="334155"/>
            </a:solidFill>
            <a:prstDash val="solid"/>
          </a:ln>
        </p:spPr>
      </p:sp>
      <p:sp>
        <p:nvSpPr>
          <p:cNvPr id="21" name="Shape 19"/>
          <p:cNvSpPr/>
          <p:nvPr/>
        </p:nvSpPr>
        <p:spPr>
          <a:xfrm>
            <a:off x="7040880" y="1481328"/>
            <a:ext cx="4599432" cy="292608"/>
          </a:xfrm>
          <a:prstGeom prst="rect">
            <a:avLst/>
          </a:prstGeom>
          <a:solidFill>
            <a:srgbClr val="1E293B"/>
          </a:solidFill>
          <a:ln w="12700">
            <a:solidFill>
              <a:srgbClr val="334155"/>
            </a:solidFill>
            <a:prstDash val="solid"/>
          </a:ln>
        </p:spPr>
      </p:sp>
      <p:sp>
        <p:nvSpPr>
          <p:cNvPr id="22" name="Shape 20"/>
          <p:cNvSpPr/>
          <p:nvPr/>
        </p:nvSpPr>
        <p:spPr>
          <a:xfrm>
            <a:off x="7159752" y="1577340"/>
            <a:ext cx="100584" cy="100584"/>
          </a:xfrm>
          <a:prstGeom prst="ellipse">
            <a:avLst/>
          </a:prstGeom>
          <a:solidFill>
            <a:srgbClr val="F87171"/>
          </a:solidFill>
          <a:ln w="6350">
            <a:solidFill>
              <a:srgbClr val="F87171"/>
            </a:solidFill>
            <a:prstDash val="solid"/>
          </a:ln>
        </p:spPr>
      </p:sp>
      <p:sp>
        <p:nvSpPr>
          <p:cNvPr id="23" name="Shape 21"/>
          <p:cNvSpPr/>
          <p:nvPr/>
        </p:nvSpPr>
        <p:spPr>
          <a:xfrm>
            <a:off x="7333488" y="1577340"/>
            <a:ext cx="100584" cy="100584"/>
          </a:xfrm>
          <a:prstGeom prst="ellipse">
            <a:avLst/>
          </a:prstGeom>
          <a:solidFill>
            <a:srgbClr val="FBBF24"/>
          </a:solidFill>
          <a:ln w="6350">
            <a:solidFill>
              <a:srgbClr val="FBBF24"/>
            </a:solidFill>
            <a:prstDash val="solid"/>
          </a:ln>
        </p:spPr>
      </p:sp>
      <p:sp>
        <p:nvSpPr>
          <p:cNvPr id="24" name="Shape 22"/>
          <p:cNvSpPr/>
          <p:nvPr/>
        </p:nvSpPr>
        <p:spPr>
          <a:xfrm>
            <a:off x="7507224" y="1577340"/>
            <a:ext cx="100584" cy="100584"/>
          </a:xfrm>
          <a:prstGeom prst="ellipse">
            <a:avLst/>
          </a:prstGeom>
          <a:solidFill>
            <a:srgbClr val="34D399"/>
          </a:solidFill>
          <a:ln w="6350">
            <a:solidFill>
              <a:srgbClr val="34D399"/>
            </a:solidFill>
            <a:prstDash val="solid"/>
          </a:ln>
        </p:spPr>
      </p:sp>
      <p:sp>
        <p:nvSpPr>
          <p:cNvPr id="25" name="Text 23"/>
          <p:cNvSpPr/>
          <p:nvPr/>
        </p:nvSpPr>
        <p:spPr>
          <a:xfrm>
            <a:off x="7699248" y="1499616"/>
            <a:ext cx="3822192"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the handover</a:t>
            </a:r>
            <a:endParaRPr lang="en-US" sz="950" dirty="0"/>
          </a:p>
        </p:txBody>
      </p:sp>
      <p:sp>
        <p:nvSpPr>
          <p:cNvPr id="26" name="Text 24"/>
          <p:cNvSpPr/>
          <p:nvPr/>
        </p:nvSpPr>
        <p:spPr>
          <a:xfrm>
            <a:off x="7242048" y="1865376"/>
            <a:ext cx="4197096" cy="230428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why is port 8080 open on prod-web-sg?</a:t>
            </a:r>
            <a:endParaRPr lang="en-US" sz="1150" dirty="0"/>
          </a:p>
          <a:p>
            <a:pPr indent="0" marL="0">
              <a:lnSpc>
                <a:spcPts val="1863"/>
              </a:lnSpc>
              <a:buNone/>
            </a:pPr>
            <a:endParaRPr lang="en-US" sz="1150" dirty="0"/>
          </a:p>
          <a:p>
            <a:pPr indent="0" marL="0">
              <a:lnSpc>
                <a:spcPts val="1863"/>
              </a:lnSpc>
              <a:buNone/>
            </a:pPr>
            <a:r>
              <a:rPr lang="en-US" sz="1150" dirty="0">
                <a:solidFill>
                  <a:srgbClr val="FBBF24"/>
                </a:solidFill>
                <a:latin typeface="Courier New" pitchFamily="34" charset="0"/>
                <a:ea typeface="Courier New" pitchFamily="34" charset="-122"/>
                <a:cs typeface="Courier New" pitchFamily="34" charset="-120"/>
              </a:rPr>
              <a:t>  ¯\_(?)_/¯</a:t>
            </a:r>
            <a:endParaRPr lang="en-US" sz="1150" dirty="0"/>
          </a:p>
          <a:p>
            <a:pPr indent="0" marL="0">
              <a:lnSpc>
                <a:spcPts val="1863"/>
              </a:lnSpc>
              <a:buNone/>
            </a:pP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git log --oneline infrastructure/</a:t>
            </a:r>
            <a:endParaRPr lang="en-US" sz="1150" dirty="0"/>
          </a:p>
          <a:p>
            <a:pPr indent="0" marL="0">
              <a:lnSpc>
                <a:spcPts val="1863"/>
              </a:lnSpc>
              <a:buNone/>
            </a:pPr>
            <a:r>
              <a:rPr lang="en-US" sz="1150" dirty="0">
                <a:solidFill>
                  <a:srgbClr val="F87171"/>
                </a:solidFill>
                <a:latin typeface="Courier New" pitchFamily="34" charset="0"/>
                <a:ea typeface="Courier New" pitchFamily="34" charset="-122"/>
                <a:cs typeface="Courier New" pitchFamily="34" charset="-120"/>
              </a:rPr>
              <a:t>fatal: no such path in HEAD</a:t>
            </a:r>
            <a:endParaRPr lang="en-US" sz="1150" dirty="0"/>
          </a:p>
          <a:p>
            <a:pPr indent="0" marL="0">
              <a:lnSpc>
                <a:spcPts val="1863"/>
              </a:lnSpc>
              <a:buNone/>
            </a:pPr>
            <a:endParaRPr lang="en-US" sz="1150" dirty="0"/>
          </a:p>
          <a:p>
            <a:pPr indent="0" marL="0">
              <a:lnSpc>
                <a:spcPts val="1863"/>
              </a:lnSpc>
              <a:buNone/>
            </a:pPr>
            <a:r>
              <a:rPr lang="en-US" sz="1150" dirty="0">
                <a:solidFill>
                  <a:srgbClr val="94A3B8"/>
                </a:solidFill>
                <a:latin typeface="Courier New" pitchFamily="34" charset="0"/>
                <a:ea typeface="Courier New" pitchFamily="34" charset="-122"/>
                <a:cs typeface="Courier New" pitchFamily="34" charset="-120"/>
              </a:rPr>
              <a:t># there is no history.</a:t>
            </a:r>
            <a:endParaRPr lang="en-US" sz="1150" dirty="0"/>
          </a:p>
          <a:p>
            <a:pPr indent="0" marL="0">
              <a:lnSpc>
                <a:spcPts val="1863"/>
              </a:lnSpc>
              <a:buNone/>
            </a:pPr>
            <a:r>
              <a:rPr lang="en-US" sz="1150" dirty="0">
                <a:solidFill>
                  <a:srgbClr val="94A3B8"/>
                </a:solidFill>
                <a:latin typeface="Courier New" pitchFamily="34" charset="0"/>
                <a:ea typeface="Courier New" pitchFamily="34" charset="-122"/>
                <a:cs typeface="Courier New" pitchFamily="34" charset="-120"/>
              </a:rPr>
              <a:t># there was never any history.</a:t>
            </a:r>
            <a:endParaRPr lang="en-US" sz="1150" dirty="0"/>
          </a:p>
        </p:txBody>
      </p:sp>
      <p:sp>
        <p:nvSpPr>
          <p:cNvPr id="27" name="Shape 25"/>
          <p:cNvSpPr/>
          <p:nvPr/>
        </p:nvSpPr>
        <p:spPr>
          <a:xfrm>
            <a:off x="7040880" y="4535424"/>
            <a:ext cx="4599432" cy="1371600"/>
          </a:xfrm>
          <a:prstGeom prst="roundRect">
            <a:avLst>
              <a:gd name="adj" fmla="val 3333"/>
            </a:avLst>
          </a:prstGeom>
          <a:solidFill>
            <a:srgbClr val="FFF7ED"/>
          </a:solidFill>
          <a:ln w="12700">
            <a:solidFill>
              <a:srgbClr val="FED7AA"/>
            </a:solidFill>
            <a:prstDash val="solid"/>
          </a:ln>
        </p:spPr>
      </p:sp>
      <p:sp>
        <p:nvSpPr>
          <p:cNvPr id="28" name="Text 26"/>
          <p:cNvSpPr/>
          <p:nvPr/>
        </p:nvSpPr>
        <p:spPr>
          <a:xfrm>
            <a:off x="7278624" y="4626864"/>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THE REAL COST</a:t>
            </a:r>
            <a:endParaRPr lang="en-US" sz="1000" dirty="0"/>
          </a:p>
        </p:txBody>
      </p:sp>
      <p:sp>
        <p:nvSpPr>
          <p:cNvPr id="29" name="Text 27"/>
          <p:cNvSpPr/>
          <p:nvPr/>
        </p:nvSpPr>
        <p:spPr>
          <a:xfrm>
            <a:off x="7278624" y="4837176"/>
            <a:ext cx="4123944" cy="96926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None of these steps is wrong on its own. The failure is cumulative: infrastructure becomes an oral tradition, and oral traditions do not survive staff turnover, audits, or outages.</a:t>
            </a:r>
            <a:endParaRPr lang="en-US" sz="1300" dirty="0"/>
          </a:p>
        </p:txBody>
      </p:sp>
      <p:sp>
        <p:nvSpPr>
          <p:cNvPr id="30" name="Text 28"/>
          <p:cNvSpPr/>
          <p:nvPr/>
        </p:nvSpPr>
        <p:spPr>
          <a:xfrm>
            <a:off x="566928" y="623620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Ask the room: who has inherited a system nobody could explain? Nearly every hand goes up.</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FAILURE MODES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Four ways manual infrastructure fails you</a:t>
            </a:r>
            <a:endParaRPr lang="en-US" sz="3000" dirty="0"/>
          </a:p>
        </p:txBody>
      </p:sp>
      <p:sp>
        <p:nvSpPr>
          <p:cNvPr id="4" name="Shape 2"/>
          <p:cNvSpPr/>
          <p:nvPr/>
        </p:nvSpPr>
        <p:spPr>
          <a:xfrm>
            <a:off x="566928" y="1481328"/>
            <a:ext cx="5394960" cy="2011680"/>
          </a:xfrm>
          <a:prstGeom prst="roundRect">
            <a:avLst>
              <a:gd name="adj" fmla="val 2273"/>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5" name="Shape 3"/>
          <p:cNvSpPr/>
          <p:nvPr/>
        </p:nvSpPr>
        <p:spPr>
          <a:xfrm>
            <a:off x="804672" y="1719072"/>
            <a:ext cx="512064" cy="512064"/>
          </a:xfrm>
          <a:prstGeom prst="ellipse">
            <a:avLst/>
          </a:prstGeom>
          <a:solidFill>
            <a:srgbClr val="FFF7ED"/>
          </a:solidFill>
          <a:ln w="11430">
            <a:solidFill>
              <a:srgbClr val="F97316"/>
            </a:solidFill>
            <a:prstDash val="solid"/>
          </a:ln>
        </p:spPr>
      </p:sp>
      <p:pic>
        <p:nvPicPr>
          <p:cNvPr id="6" name="Image 0" descr="preencoded.png">    </p:cNvPr>
          <p:cNvPicPr>
            <a:picLocks noChangeAspect="1"/>
          </p:cNvPicPr>
          <p:nvPr/>
        </p:nvPicPr>
        <p:blipFill>
          <a:blip r:embed="rId1"/>
          <a:stretch>
            <a:fillRect/>
          </a:stretch>
        </p:blipFill>
        <p:spPr>
          <a:xfrm>
            <a:off x="928116" y="1842516"/>
            <a:ext cx="265176" cy="265176"/>
          </a:xfrm>
          <a:prstGeom prst="rect">
            <a:avLst/>
          </a:prstGeom>
        </p:spPr>
      </p:pic>
      <p:sp>
        <p:nvSpPr>
          <p:cNvPr id="7" name="Text 4"/>
          <p:cNvSpPr/>
          <p:nvPr/>
        </p:nvSpPr>
        <p:spPr>
          <a:xfrm>
            <a:off x="804672" y="2322576"/>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Snowflake servers</a:t>
            </a:r>
            <a:endParaRPr lang="en-US" sz="1350" dirty="0"/>
          </a:p>
        </p:txBody>
      </p:sp>
      <p:sp>
        <p:nvSpPr>
          <p:cNvPr id="8" name="Text 5"/>
          <p:cNvSpPr/>
          <p:nvPr/>
        </p:nvSpPr>
        <p:spPr>
          <a:xfrm>
            <a:off x="804672" y="2670048"/>
            <a:ext cx="4919472" cy="6400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Every box is subtly unique. Staging has a package prod doesn't. The bug reproduces on exactly one machine, and nobody knows why.</a:t>
            </a:r>
            <a:endParaRPr lang="en-US" sz="1150" dirty="0"/>
          </a:p>
        </p:txBody>
      </p:sp>
      <p:sp>
        <p:nvSpPr>
          <p:cNvPr id="9" name="Shape 6"/>
          <p:cNvSpPr/>
          <p:nvPr/>
        </p:nvSpPr>
        <p:spPr>
          <a:xfrm>
            <a:off x="6245352" y="1481328"/>
            <a:ext cx="5394960" cy="2011680"/>
          </a:xfrm>
          <a:prstGeom prst="roundRect">
            <a:avLst>
              <a:gd name="adj" fmla="val 2273"/>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0" name="Shape 7"/>
          <p:cNvSpPr/>
          <p:nvPr/>
        </p:nvSpPr>
        <p:spPr>
          <a:xfrm>
            <a:off x="6483096" y="1719072"/>
            <a:ext cx="512064" cy="512064"/>
          </a:xfrm>
          <a:prstGeom prst="ellipse">
            <a:avLst/>
          </a:prstGeom>
          <a:solidFill>
            <a:srgbClr val="FFF7ED"/>
          </a:solidFill>
          <a:ln w="11430">
            <a:solidFill>
              <a:srgbClr val="F97316"/>
            </a:solidFill>
            <a:prstDash val="solid"/>
          </a:ln>
        </p:spPr>
      </p:sp>
      <p:pic>
        <p:nvPicPr>
          <p:cNvPr id="11" name="Image 1" descr="preencoded.png">    </p:cNvPr>
          <p:cNvPicPr>
            <a:picLocks noChangeAspect="1"/>
          </p:cNvPicPr>
          <p:nvPr/>
        </p:nvPicPr>
        <p:blipFill>
          <a:blip r:embed="rId2"/>
          <a:stretch>
            <a:fillRect/>
          </a:stretch>
        </p:blipFill>
        <p:spPr>
          <a:xfrm>
            <a:off x="6606540" y="1842516"/>
            <a:ext cx="265176" cy="265176"/>
          </a:xfrm>
          <a:prstGeom prst="rect">
            <a:avLst/>
          </a:prstGeom>
        </p:spPr>
      </p:pic>
      <p:sp>
        <p:nvSpPr>
          <p:cNvPr id="12" name="Text 8"/>
          <p:cNvSpPr/>
          <p:nvPr/>
        </p:nvSpPr>
        <p:spPr>
          <a:xfrm>
            <a:off x="6483096" y="2322576"/>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Configuration drift</a:t>
            </a:r>
            <a:endParaRPr lang="en-US" sz="1350" dirty="0"/>
          </a:p>
        </p:txBody>
      </p:sp>
      <p:sp>
        <p:nvSpPr>
          <p:cNvPr id="13" name="Text 9"/>
          <p:cNvSpPr/>
          <p:nvPr/>
        </p:nvSpPr>
        <p:spPr>
          <a:xfrm>
            <a:off x="6483096" y="2670048"/>
            <a:ext cx="4919472" cy="6400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Reality slowly walks away from the documentation. Nobody notices until the thing you're restoring from doesn't match the thing you lost.</a:t>
            </a:r>
            <a:endParaRPr lang="en-US" sz="1150" dirty="0"/>
          </a:p>
        </p:txBody>
      </p:sp>
      <p:sp>
        <p:nvSpPr>
          <p:cNvPr id="14" name="Shape 10"/>
          <p:cNvSpPr/>
          <p:nvPr/>
        </p:nvSpPr>
        <p:spPr>
          <a:xfrm>
            <a:off x="566928" y="3767328"/>
            <a:ext cx="5394960" cy="2011680"/>
          </a:xfrm>
          <a:prstGeom prst="roundRect">
            <a:avLst>
              <a:gd name="adj" fmla="val 2273"/>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5" name="Shape 11"/>
          <p:cNvSpPr/>
          <p:nvPr/>
        </p:nvSpPr>
        <p:spPr>
          <a:xfrm>
            <a:off x="804672" y="4005072"/>
            <a:ext cx="512064" cy="512064"/>
          </a:xfrm>
          <a:prstGeom prst="ellipse">
            <a:avLst/>
          </a:prstGeom>
          <a:solidFill>
            <a:srgbClr val="FFF7ED"/>
          </a:solidFill>
          <a:ln w="11430">
            <a:solidFill>
              <a:srgbClr val="F97316"/>
            </a:solidFill>
            <a:prstDash val="solid"/>
          </a:ln>
        </p:spPr>
      </p:sp>
      <p:pic>
        <p:nvPicPr>
          <p:cNvPr id="16" name="Image 2" descr="preencoded.png">    </p:cNvPr>
          <p:cNvPicPr>
            <a:picLocks noChangeAspect="1"/>
          </p:cNvPicPr>
          <p:nvPr/>
        </p:nvPicPr>
        <p:blipFill>
          <a:blip r:embed="rId3"/>
          <a:stretch>
            <a:fillRect/>
          </a:stretch>
        </p:blipFill>
        <p:spPr>
          <a:xfrm>
            <a:off x="928116" y="4128516"/>
            <a:ext cx="265176" cy="265176"/>
          </a:xfrm>
          <a:prstGeom prst="rect">
            <a:avLst/>
          </a:prstGeom>
        </p:spPr>
      </p:pic>
      <p:sp>
        <p:nvSpPr>
          <p:cNvPr id="17" name="Text 12"/>
          <p:cNvSpPr/>
          <p:nvPr/>
        </p:nvSpPr>
        <p:spPr>
          <a:xfrm>
            <a:off x="804672" y="4608576"/>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No audit trail</a:t>
            </a:r>
            <a:endParaRPr lang="en-US" sz="1350" dirty="0"/>
          </a:p>
        </p:txBody>
      </p:sp>
      <p:sp>
        <p:nvSpPr>
          <p:cNvPr id="18" name="Text 13"/>
          <p:cNvSpPr/>
          <p:nvPr/>
        </p:nvSpPr>
        <p:spPr>
          <a:xfrm>
            <a:off x="804672" y="4956048"/>
            <a:ext cx="4919472" cy="6400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Who opened that port? When? For which ticket? CloudTrail tells you an API call happened. It does not tell you the intent behind it.</a:t>
            </a:r>
            <a:endParaRPr lang="en-US" sz="1150" dirty="0"/>
          </a:p>
        </p:txBody>
      </p:sp>
      <p:sp>
        <p:nvSpPr>
          <p:cNvPr id="19" name="Shape 14"/>
          <p:cNvSpPr/>
          <p:nvPr/>
        </p:nvSpPr>
        <p:spPr>
          <a:xfrm>
            <a:off x="6245352" y="3767328"/>
            <a:ext cx="5394960" cy="2011680"/>
          </a:xfrm>
          <a:prstGeom prst="roundRect">
            <a:avLst>
              <a:gd name="adj" fmla="val 2273"/>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0" name="Shape 15"/>
          <p:cNvSpPr/>
          <p:nvPr/>
        </p:nvSpPr>
        <p:spPr>
          <a:xfrm>
            <a:off x="6483096" y="4005072"/>
            <a:ext cx="512064" cy="512064"/>
          </a:xfrm>
          <a:prstGeom prst="ellipse">
            <a:avLst/>
          </a:prstGeom>
          <a:solidFill>
            <a:srgbClr val="FFF7ED"/>
          </a:solidFill>
          <a:ln w="11430">
            <a:solidFill>
              <a:srgbClr val="F97316"/>
            </a:solidFill>
            <a:prstDash val="solid"/>
          </a:ln>
        </p:spPr>
      </p:sp>
      <p:pic>
        <p:nvPicPr>
          <p:cNvPr id="21" name="Image 3" descr="preencoded.png">    </p:cNvPr>
          <p:cNvPicPr>
            <a:picLocks noChangeAspect="1"/>
          </p:cNvPicPr>
          <p:nvPr/>
        </p:nvPicPr>
        <p:blipFill>
          <a:blip r:embed="rId4"/>
          <a:stretch>
            <a:fillRect/>
          </a:stretch>
        </p:blipFill>
        <p:spPr>
          <a:xfrm>
            <a:off x="6606540" y="4128516"/>
            <a:ext cx="265176" cy="265176"/>
          </a:xfrm>
          <a:prstGeom prst="rect">
            <a:avLst/>
          </a:prstGeom>
        </p:spPr>
      </p:pic>
      <p:sp>
        <p:nvSpPr>
          <p:cNvPr id="22" name="Text 16"/>
          <p:cNvSpPr/>
          <p:nvPr/>
        </p:nvSpPr>
        <p:spPr>
          <a:xfrm>
            <a:off x="6483096" y="4608576"/>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Can't reproduce</a:t>
            </a:r>
            <a:endParaRPr lang="en-US" sz="1350" dirty="0"/>
          </a:p>
        </p:txBody>
      </p:sp>
      <p:sp>
        <p:nvSpPr>
          <p:cNvPr id="23" name="Text 17"/>
          <p:cNvSpPr/>
          <p:nvPr/>
        </p:nvSpPr>
        <p:spPr>
          <a:xfrm>
            <a:off x="6483096" y="4956048"/>
            <a:ext cx="4919472" cy="6400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"Build me an identical staging environment" becomes a two-week project instead of a twenty-minute one.</a:t>
            </a:r>
            <a:endParaRPr lang="en-US" sz="1150" dirty="0"/>
          </a:p>
        </p:txBody>
      </p:sp>
      <p:sp>
        <p:nvSpPr>
          <p:cNvPr id="24" name="Text 18"/>
          <p:cNvSpPr/>
          <p:nvPr/>
        </p:nvSpPr>
        <p:spPr>
          <a:xfrm>
            <a:off x="566928" y="623620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These four are why IaC exists. Every Terraform feature we cover today is an answer to one of them.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THE STRESS TEST</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Two questions that break a manual setup</a:t>
            </a:r>
            <a:endParaRPr lang="en-US" sz="3000" dirty="0"/>
          </a:p>
        </p:txBody>
      </p:sp>
      <p:sp>
        <p:nvSpPr>
          <p:cNvPr id="4" name="Shape 2"/>
          <p:cNvSpPr/>
          <p:nvPr/>
        </p:nvSpPr>
        <p:spPr>
          <a:xfrm>
            <a:off x="566928" y="1463040"/>
            <a:ext cx="5532120" cy="2148840"/>
          </a:xfrm>
          <a:prstGeom prst="roundRect">
            <a:avLst>
              <a:gd name="adj" fmla="val 2128"/>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5" name="Text 3"/>
          <p:cNvSpPr/>
          <p:nvPr/>
        </p:nvSpPr>
        <p:spPr>
          <a:xfrm>
            <a:off x="841248" y="1682496"/>
            <a:ext cx="4983480" cy="914400"/>
          </a:xfrm>
          <a:prstGeom prst="rect">
            <a:avLst/>
          </a:prstGeom>
          <a:noFill/>
          <a:ln/>
        </p:spPr>
        <p:txBody>
          <a:bodyPr wrap="square" lIns="0" tIns="0" rIns="0" bIns="0" rtlCol="0" anchor="ctr"/>
          <a:lstStyle/>
          <a:p>
            <a:pPr indent="0" marL="0">
              <a:lnSpc>
                <a:spcPts val="2600"/>
              </a:lnSpc>
              <a:buNone/>
            </a:pPr>
            <a:r>
              <a:rPr lang="en-US" sz="1700" b="1" dirty="0">
                <a:solidFill>
                  <a:srgbClr val="0F172A"/>
                </a:solidFill>
                <a:latin typeface="Bookman Old Style" pitchFamily="34" charset="0"/>
                <a:ea typeface="Bookman Old Style" pitchFamily="34" charset="-122"/>
                <a:cs typeface="Bookman Old Style" pitchFamily="34" charset="-120"/>
              </a:rPr>
              <a:t>“The Mumbai region is down.</a:t>
            </a:r>
            <a:endParaRPr lang="en-US" sz="1700" dirty="0"/>
          </a:p>
          <a:p>
            <a:pPr indent="0" marL="0">
              <a:lnSpc>
                <a:spcPts val="2600"/>
              </a:lnSpc>
              <a:buNone/>
            </a:pPr>
            <a:r>
              <a:rPr lang="en-US" sz="1700" b="1" dirty="0">
                <a:solidFill>
                  <a:srgbClr val="0F172A"/>
                </a:solidFill>
                <a:latin typeface="Bookman Old Style" pitchFamily="34" charset="0"/>
                <a:ea typeface="Bookman Old Style" pitchFamily="34" charset="-122"/>
                <a:cs typeface="Bookman Old Style" pitchFamily="34" charset="-120"/>
              </a:rPr>
              <a:t>Stand everything up in Singapore.”</a:t>
            </a:r>
            <a:endParaRPr lang="en-US" sz="1700" dirty="0"/>
          </a:p>
        </p:txBody>
      </p:sp>
      <p:sp>
        <p:nvSpPr>
          <p:cNvPr id="6" name="Text 4"/>
          <p:cNvSpPr/>
          <p:nvPr/>
        </p:nvSpPr>
        <p:spPr>
          <a:xfrm>
            <a:off x="841248" y="2670048"/>
            <a:ext cx="4983480" cy="777240"/>
          </a:xfrm>
          <a:prstGeom prst="rect">
            <a:avLst/>
          </a:prstGeom>
          <a:noFill/>
          <a:ln/>
        </p:spPr>
        <p:txBody>
          <a:bodyPr wrap="square" lIns="0" tIns="0" rIns="0" bIns="0" rtlCol="0" anchor="ctr"/>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By hand: a day of clicking, if you still remember every setting. Half your security groups will be subtly wrong.</a:t>
            </a:r>
            <a:endParaRPr lang="en-US" sz="1250" dirty="0"/>
          </a:p>
        </p:txBody>
      </p:sp>
      <p:sp>
        <p:nvSpPr>
          <p:cNvPr id="7" name="Shape 5"/>
          <p:cNvSpPr/>
          <p:nvPr/>
        </p:nvSpPr>
        <p:spPr>
          <a:xfrm>
            <a:off x="6382512" y="1463040"/>
            <a:ext cx="5532120" cy="2148840"/>
          </a:xfrm>
          <a:prstGeom prst="roundRect">
            <a:avLst>
              <a:gd name="adj" fmla="val 2128"/>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8" name="Text 6"/>
          <p:cNvSpPr/>
          <p:nvPr/>
        </p:nvSpPr>
        <p:spPr>
          <a:xfrm>
            <a:off x="6656832" y="1682496"/>
            <a:ext cx="4983480" cy="914400"/>
          </a:xfrm>
          <a:prstGeom prst="rect">
            <a:avLst/>
          </a:prstGeom>
          <a:noFill/>
          <a:ln/>
        </p:spPr>
        <p:txBody>
          <a:bodyPr wrap="square" lIns="0" tIns="0" rIns="0" bIns="0" rtlCol="0" anchor="ctr"/>
          <a:lstStyle/>
          <a:p>
            <a:pPr indent="0" marL="0">
              <a:lnSpc>
                <a:spcPts val="2600"/>
              </a:lnSpc>
              <a:buNone/>
            </a:pPr>
            <a:r>
              <a:rPr lang="en-US" sz="1700" b="1" dirty="0">
                <a:solidFill>
                  <a:srgbClr val="0F172A"/>
                </a:solidFill>
                <a:latin typeface="Bookman Old Style" pitchFamily="34" charset="0"/>
                <a:ea typeface="Bookman Old Style" pitchFamily="34" charset="-122"/>
                <a:cs typeface="Bookman Old Style" pitchFamily="34" charset="-120"/>
              </a:rPr>
              <a:t>“An auditor is here.</a:t>
            </a:r>
            <a:endParaRPr lang="en-US" sz="1700" dirty="0"/>
          </a:p>
          <a:p>
            <a:pPr indent="0" marL="0">
              <a:lnSpc>
                <a:spcPts val="2600"/>
              </a:lnSpc>
              <a:buNone/>
            </a:pPr>
            <a:r>
              <a:rPr lang="en-US" sz="1700" b="1" dirty="0">
                <a:solidFill>
                  <a:srgbClr val="0F172A"/>
                </a:solidFill>
                <a:latin typeface="Bookman Old Style" pitchFamily="34" charset="0"/>
                <a:ea typeface="Bookman Old Style" pitchFamily="34" charset="-122"/>
                <a:cs typeface="Bookman Old Style" pitchFamily="34" charset="-120"/>
              </a:rPr>
              <a:t>Prove prod matches what was approved.”</a:t>
            </a:r>
            <a:endParaRPr lang="en-US" sz="1700" dirty="0"/>
          </a:p>
        </p:txBody>
      </p:sp>
      <p:sp>
        <p:nvSpPr>
          <p:cNvPr id="9" name="Text 7"/>
          <p:cNvSpPr/>
          <p:nvPr/>
        </p:nvSpPr>
        <p:spPr>
          <a:xfrm>
            <a:off x="6656832" y="2670048"/>
            <a:ext cx="4983480" cy="777240"/>
          </a:xfrm>
          <a:prstGeom prst="rect">
            <a:avLst/>
          </a:prstGeom>
          <a:noFill/>
          <a:ln/>
        </p:spPr>
        <p:txBody>
          <a:bodyPr wrap="square" lIns="0" tIns="0" rIns="0" bIns="0" rtlCol="0" anchor="ctr"/>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By hand: you screenshot the console and hope. There is no approved version to compare against.</a:t>
            </a:r>
            <a:endParaRPr lang="en-US" sz="1250" dirty="0"/>
          </a:p>
        </p:txBody>
      </p:sp>
      <p:sp>
        <p:nvSpPr>
          <p:cNvPr id="10" name="Shape 8"/>
          <p:cNvSpPr/>
          <p:nvPr/>
        </p:nvSpPr>
        <p:spPr>
          <a:xfrm>
            <a:off x="566928" y="3877056"/>
            <a:ext cx="11073384" cy="1874520"/>
          </a:xfrm>
          <a:prstGeom prst="roundRect">
            <a:avLst>
              <a:gd name="adj" fmla="val 2927"/>
            </a:avLst>
          </a:prstGeom>
          <a:solidFill>
            <a:srgbClr val="0F172A"/>
          </a:solidFill>
          <a:ln w="12700">
            <a:solidFill>
              <a:srgbClr val="334155"/>
            </a:solidFill>
            <a:prstDash val="solid"/>
          </a:ln>
        </p:spPr>
      </p:sp>
      <p:sp>
        <p:nvSpPr>
          <p:cNvPr id="11" name="Shape 9"/>
          <p:cNvSpPr/>
          <p:nvPr/>
        </p:nvSpPr>
        <p:spPr>
          <a:xfrm>
            <a:off x="566928" y="3877056"/>
            <a:ext cx="11073384" cy="292608"/>
          </a:xfrm>
          <a:prstGeom prst="rect">
            <a:avLst/>
          </a:prstGeom>
          <a:solidFill>
            <a:srgbClr val="1E293B"/>
          </a:solidFill>
          <a:ln w="12700">
            <a:solidFill>
              <a:srgbClr val="334155"/>
            </a:solidFill>
            <a:prstDash val="solid"/>
          </a:ln>
        </p:spPr>
      </p:sp>
      <p:sp>
        <p:nvSpPr>
          <p:cNvPr id="12" name="Shape 10"/>
          <p:cNvSpPr/>
          <p:nvPr/>
        </p:nvSpPr>
        <p:spPr>
          <a:xfrm>
            <a:off x="685800" y="3973068"/>
            <a:ext cx="100584" cy="100584"/>
          </a:xfrm>
          <a:prstGeom prst="ellipse">
            <a:avLst/>
          </a:prstGeom>
          <a:solidFill>
            <a:srgbClr val="F87171"/>
          </a:solidFill>
          <a:ln w="6350">
            <a:solidFill>
              <a:srgbClr val="F87171"/>
            </a:solidFill>
            <a:prstDash val="solid"/>
          </a:ln>
        </p:spPr>
      </p:sp>
      <p:sp>
        <p:nvSpPr>
          <p:cNvPr id="13" name="Shape 11"/>
          <p:cNvSpPr/>
          <p:nvPr/>
        </p:nvSpPr>
        <p:spPr>
          <a:xfrm>
            <a:off x="859536" y="3973068"/>
            <a:ext cx="100584" cy="100584"/>
          </a:xfrm>
          <a:prstGeom prst="ellipse">
            <a:avLst/>
          </a:prstGeom>
          <a:solidFill>
            <a:srgbClr val="FBBF24"/>
          </a:solidFill>
          <a:ln w="6350">
            <a:solidFill>
              <a:srgbClr val="FBBF24"/>
            </a:solidFill>
            <a:prstDash val="solid"/>
          </a:ln>
        </p:spPr>
      </p:sp>
      <p:sp>
        <p:nvSpPr>
          <p:cNvPr id="14" name="Shape 12"/>
          <p:cNvSpPr/>
          <p:nvPr/>
        </p:nvSpPr>
        <p:spPr>
          <a:xfrm>
            <a:off x="1033272" y="3973068"/>
            <a:ext cx="100584" cy="100584"/>
          </a:xfrm>
          <a:prstGeom prst="ellipse">
            <a:avLst/>
          </a:prstGeom>
          <a:solidFill>
            <a:srgbClr val="34D399"/>
          </a:solidFill>
          <a:ln w="6350">
            <a:solidFill>
              <a:srgbClr val="34D399"/>
            </a:solidFill>
            <a:prstDash val="solid"/>
          </a:ln>
        </p:spPr>
      </p:sp>
      <p:sp>
        <p:nvSpPr>
          <p:cNvPr id="15" name="Text 13"/>
          <p:cNvSpPr/>
          <p:nvPr/>
        </p:nvSpPr>
        <p:spPr>
          <a:xfrm>
            <a:off x="1225296" y="3895344"/>
            <a:ext cx="10296144"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with infrastructure as code</a:t>
            </a:r>
            <a:endParaRPr lang="en-US" sz="950" dirty="0"/>
          </a:p>
        </p:txBody>
      </p:sp>
      <p:sp>
        <p:nvSpPr>
          <p:cNvPr id="16" name="Text 14"/>
          <p:cNvSpPr/>
          <p:nvPr/>
        </p:nvSpPr>
        <p:spPr>
          <a:xfrm>
            <a:off x="768096" y="4261104"/>
            <a:ext cx="10671048" cy="134416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apply -var region=ap-southeast-1</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Apply complete! Resources: 34 added, 0 changed, 0 destroyed.</a:t>
            </a:r>
            <a:endParaRPr lang="en-US" sz="1150" dirty="0"/>
          </a:p>
          <a:p>
            <a:pPr indent="0" marL="0">
              <a:lnSpc>
                <a:spcPts val="1863"/>
              </a:lnSpc>
              <a:buNone/>
            </a:pP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git log --oneline -- infra/prod/     # every change, every reviewer, every reason</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a3f9c21  open 8080 for the payments spike  (reviewed-by: sita)  #INC-412</a:t>
            </a:r>
            <a:endParaRPr lang="en-US" sz="1150" dirty="0"/>
          </a:p>
        </p:txBody>
      </p:sp>
      <p:sp>
        <p:nvSpPr>
          <p:cNvPr id="17" name="Text 15"/>
          <p:cNvSpPr/>
          <p:nvPr/>
        </p:nvSpPr>
        <p:spPr>
          <a:xfrm>
            <a:off x="566928" y="623620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Same two questions. One is a day of anxiety; the other is a command and a git log.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THE SIX PROPERTIES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What we actually want from infrastructure</a:t>
            </a:r>
            <a:endParaRPr lang="en-US" sz="3000" dirty="0"/>
          </a:p>
        </p:txBody>
      </p:sp>
      <p:sp>
        <p:nvSpPr>
          <p:cNvPr id="4" name="Shape 2"/>
          <p:cNvSpPr/>
          <p:nvPr/>
        </p:nvSpPr>
        <p:spPr>
          <a:xfrm>
            <a:off x="566928" y="1536192"/>
            <a:ext cx="3529584"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5" name="Shape 3"/>
          <p:cNvSpPr/>
          <p:nvPr/>
        </p:nvSpPr>
        <p:spPr>
          <a:xfrm>
            <a:off x="804672" y="1773936"/>
            <a:ext cx="512064" cy="512064"/>
          </a:xfrm>
          <a:prstGeom prst="ellipse">
            <a:avLst/>
          </a:prstGeom>
          <a:solidFill>
            <a:srgbClr val="F0FDFA"/>
          </a:solidFill>
          <a:ln w="1143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928116" y="1897380"/>
            <a:ext cx="265176" cy="265176"/>
          </a:xfrm>
          <a:prstGeom prst="rect">
            <a:avLst/>
          </a:prstGeom>
        </p:spPr>
      </p:pic>
      <p:sp>
        <p:nvSpPr>
          <p:cNvPr id="7" name="Text 4"/>
          <p:cNvSpPr/>
          <p:nvPr/>
        </p:nvSpPr>
        <p:spPr>
          <a:xfrm>
            <a:off x="804672" y="237744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Reproducible</a:t>
            </a:r>
            <a:endParaRPr lang="en-US" sz="1350" dirty="0"/>
          </a:p>
        </p:txBody>
      </p:sp>
      <p:sp>
        <p:nvSpPr>
          <p:cNvPr id="8" name="Text 5"/>
          <p:cNvSpPr/>
          <p:nvPr/>
        </p:nvSpPr>
        <p:spPr>
          <a:xfrm>
            <a:off x="804672" y="2724912"/>
            <a:ext cx="3054096" cy="4114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Same input, same infrastructure. Every time.</a:t>
            </a:r>
            <a:endParaRPr lang="en-US" sz="1150" dirty="0"/>
          </a:p>
        </p:txBody>
      </p:sp>
      <p:sp>
        <p:nvSpPr>
          <p:cNvPr id="9" name="Shape 6"/>
          <p:cNvSpPr/>
          <p:nvPr/>
        </p:nvSpPr>
        <p:spPr>
          <a:xfrm>
            <a:off x="4352544" y="1536192"/>
            <a:ext cx="3529584"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0" name="Shape 7"/>
          <p:cNvSpPr/>
          <p:nvPr/>
        </p:nvSpPr>
        <p:spPr>
          <a:xfrm>
            <a:off x="4590288" y="1773936"/>
            <a:ext cx="512064" cy="512064"/>
          </a:xfrm>
          <a:prstGeom prst="ellipse">
            <a:avLst/>
          </a:prstGeom>
          <a:solidFill>
            <a:srgbClr val="F0FDFA"/>
          </a:solidFill>
          <a:ln w="11430">
            <a:solidFill>
              <a:srgbClr val="0D9488"/>
            </a:solidFill>
            <a:prstDash val="solid"/>
          </a:ln>
        </p:spPr>
      </p:sp>
      <p:pic>
        <p:nvPicPr>
          <p:cNvPr id="11" name="Image 1" descr="preencoded.png">    </p:cNvPr>
          <p:cNvPicPr>
            <a:picLocks noChangeAspect="1"/>
          </p:cNvPicPr>
          <p:nvPr/>
        </p:nvPicPr>
        <p:blipFill>
          <a:blip r:embed="rId2"/>
          <a:stretch>
            <a:fillRect/>
          </a:stretch>
        </p:blipFill>
        <p:spPr>
          <a:xfrm>
            <a:off x="4713732" y="1897380"/>
            <a:ext cx="265176" cy="265176"/>
          </a:xfrm>
          <a:prstGeom prst="rect">
            <a:avLst/>
          </a:prstGeom>
        </p:spPr>
      </p:pic>
      <p:sp>
        <p:nvSpPr>
          <p:cNvPr id="12" name="Text 8"/>
          <p:cNvSpPr/>
          <p:nvPr/>
        </p:nvSpPr>
        <p:spPr>
          <a:xfrm>
            <a:off x="4590288" y="237744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Versioned</a:t>
            </a:r>
            <a:endParaRPr lang="en-US" sz="1350" dirty="0"/>
          </a:p>
        </p:txBody>
      </p:sp>
      <p:sp>
        <p:nvSpPr>
          <p:cNvPr id="13" name="Text 9"/>
          <p:cNvSpPr/>
          <p:nvPr/>
        </p:nvSpPr>
        <p:spPr>
          <a:xfrm>
            <a:off x="4590288" y="2724912"/>
            <a:ext cx="3054096" cy="4114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It lives in git. You can diff it and roll it back.</a:t>
            </a:r>
            <a:endParaRPr lang="en-US" sz="1150" dirty="0"/>
          </a:p>
        </p:txBody>
      </p:sp>
      <p:sp>
        <p:nvSpPr>
          <p:cNvPr id="14" name="Shape 10"/>
          <p:cNvSpPr/>
          <p:nvPr/>
        </p:nvSpPr>
        <p:spPr>
          <a:xfrm>
            <a:off x="8138160" y="1536192"/>
            <a:ext cx="3529584"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5" name="Shape 11"/>
          <p:cNvSpPr/>
          <p:nvPr/>
        </p:nvSpPr>
        <p:spPr>
          <a:xfrm>
            <a:off x="8375904" y="1773936"/>
            <a:ext cx="512064" cy="512064"/>
          </a:xfrm>
          <a:prstGeom prst="ellipse">
            <a:avLst/>
          </a:prstGeom>
          <a:solidFill>
            <a:srgbClr val="F0FDFA"/>
          </a:solidFill>
          <a:ln w="11430">
            <a:solidFill>
              <a:srgbClr val="0D9488"/>
            </a:solidFill>
            <a:prstDash val="solid"/>
          </a:ln>
        </p:spPr>
      </p:sp>
      <p:pic>
        <p:nvPicPr>
          <p:cNvPr id="16" name="Image 2" descr="preencoded.png">    </p:cNvPr>
          <p:cNvPicPr>
            <a:picLocks noChangeAspect="1"/>
          </p:cNvPicPr>
          <p:nvPr/>
        </p:nvPicPr>
        <p:blipFill>
          <a:blip r:embed="rId3"/>
          <a:stretch>
            <a:fillRect/>
          </a:stretch>
        </p:blipFill>
        <p:spPr>
          <a:xfrm>
            <a:off x="8499348" y="1897380"/>
            <a:ext cx="265176" cy="265176"/>
          </a:xfrm>
          <a:prstGeom prst="rect">
            <a:avLst/>
          </a:prstGeom>
        </p:spPr>
      </p:pic>
      <p:sp>
        <p:nvSpPr>
          <p:cNvPr id="17" name="Text 12"/>
          <p:cNvSpPr/>
          <p:nvPr/>
        </p:nvSpPr>
        <p:spPr>
          <a:xfrm>
            <a:off x="8375904" y="237744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Reviewable</a:t>
            </a:r>
            <a:endParaRPr lang="en-US" sz="1350" dirty="0"/>
          </a:p>
        </p:txBody>
      </p:sp>
      <p:sp>
        <p:nvSpPr>
          <p:cNvPr id="18" name="Text 13"/>
          <p:cNvSpPr/>
          <p:nvPr/>
        </p:nvSpPr>
        <p:spPr>
          <a:xfrm>
            <a:off x="8375904" y="2724912"/>
            <a:ext cx="3054096" cy="4114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Changes go through a pull request, like code.</a:t>
            </a:r>
            <a:endParaRPr lang="en-US" sz="1150" dirty="0"/>
          </a:p>
        </p:txBody>
      </p:sp>
      <p:sp>
        <p:nvSpPr>
          <p:cNvPr id="19" name="Shape 14"/>
          <p:cNvSpPr/>
          <p:nvPr/>
        </p:nvSpPr>
        <p:spPr>
          <a:xfrm>
            <a:off x="566928" y="3593592"/>
            <a:ext cx="3529584"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0" name="Shape 15"/>
          <p:cNvSpPr/>
          <p:nvPr/>
        </p:nvSpPr>
        <p:spPr>
          <a:xfrm>
            <a:off x="804672" y="3831336"/>
            <a:ext cx="512064" cy="512064"/>
          </a:xfrm>
          <a:prstGeom prst="ellipse">
            <a:avLst/>
          </a:prstGeom>
          <a:solidFill>
            <a:srgbClr val="F0FDFA"/>
          </a:solidFill>
          <a:ln w="11430">
            <a:solidFill>
              <a:srgbClr val="0D9488"/>
            </a:solidFill>
            <a:prstDash val="solid"/>
          </a:ln>
        </p:spPr>
      </p:sp>
      <p:pic>
        <p:nvPicPr>
          <p:cNvPr id="21" name="Image 3" descr="preencoded.png">    </p:cNvPr>
          <p:cNvPicPr>
            <a:picLocks noChangeAspect="1"/>
          </p:cNvPicPr>
          <p:nvPr/>
        </p:nvPicPr>
        <p:blipFill>
          <a:blip r:embed="rId4"/>
          <a:stretch>
            <a:fillRect/>
          </a:stretch>
        </p:blipFill>
        <p:spPr>
          <a:xfrm>
            <a:off x="928116" y="3954780"/>
            <a:ext cx="265176" cy="265176"/>
          </a:xfrm>
          <a:prstGeom prst="rect">
            <a:avLst/>
          </a:prstGeom>
        </p:spPr>
      </p:pic>
      <p:sp>
        <p:nvSpPr>
          <p:cNvPr id="22" name="Text 16"/>
          <p:cNvSpPr/>
          <p:nvPr/>
        </p:nvSpPr>
        <p:spPr>
          <a:xfrm>
            <a:off x="804672" y="443484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Auditable</a:t>
            </a:r>
            <a:endParaRPr lang="en-US" sz="1350" dirty="0"/>
          </a:p>
        </p:txBody>
      </p:sp>
      <p:sp>
        <p:nvSpPr>
          <p:cNvPr id="23" name="Text 17"/>
          <p:cNvSpPr/>
          <p:nvPr/>
        </p:nvSpPr>
        <p:spPr>
          <a:xfrm>
            <a:off x="804672" y="4782312"/>
            <a:ext cx="3054096" cy="4114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Who, what, when and why — from the commit log.</a:t>
            </a:r>
            <a:endParaRPr lang="en-US" sz="1150" dirty="0"/>
          </a:p>
        </p:txBody>
      </p:sp>
      <p:sp>
        <p:nvSpPr>
          <p:cNvPr id="24" name="Shape 18"/>
          <p:cNvSpPr/>
          <p:nvPr/>
        </p:nvSpPr>
        <p:spPr>
          <a:xfrm>
            <a:off x="4352544" y="3593592"/>
            <a:ext cx="3529584"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5" name="Shape 19"/>
          <p:cNvSpPr/>
          <p:nvPr/>
        </p:nvSpPr>
        <p:spPr>
          <a:xfrm>
            <a:off x="4590288" y="3831336"/>
            <a:ext cx="512064" cy="512064"/>
          </a:xfrm>
          <a:prstGeom prst="ellipse">
            <a:avLst/>
          </a:prstGeom>
          <a:solidFill>
            <a:srgbClr val="F0FDFA"/>
          </a:solidFill>
          <a:ln w="11430">
            <a:solidFill>
              <a:srgbClr val="0D9488"/>
            </a:solidFill>
            <a:prstDash val="solid"/>
          </a:ln>
        </p:spPr>
      </p:sp>
      <p:pic>
        <p:nvPicPr>
          <p:cNvPr id="26" name="Image 4" descr="preencoded.png">    </p:cNvPr>
          <p:cNvPicPr>
            <a:picLocks noChangeAspect="1"/>
          </p:cNvPicPr>
          <p:nvPr/>
        </p:nvPicPr>
        <p:blipFill>
          <a:blip r:embed="rId5"/>
          <a:stretch>
            <a:fillRect/>
          </a:stretch>
        </p:blipFill>
        <p:spPr>
          <a:xfrm>
            <a:off x="4713732" y="3954780"/>
            <a:ext cx="265176" cy="265176"/>
          </a:xfrm>
          <a:prstGeom prst="rect">
            <a:avLst/>
          </a:prstGeom>
        </p:spPr>
      </p:pic>
      <p:sp>
        <p:nvSpPr>
          <p:cNvPr id="27" name="Text 20"/>
          <p:cNvSpPr/>
          <p:nvPr/>
        </p:nvSpPr>
        <p:spPr>
          <a:xfrm>
            <a:off x="4590288" y="443484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Disposable</a:t>
            </a:r>
            <a:endParaRPr lang="en-US" sz="1350" dirty="0"/>
          </a:p>
        </p:txBody>
      </p:sp>
      <p:sp>
        <p:nvSpPr>
          <p:cNvPr id="28" name="Text 21"/>
          <p:cNvSpPr/>
          <p:nvPr/>
        </p:nvSpPr>
        <p:spPr>
          <a:xfrm>
            <a:off x="4590288" y="4782312"/>
            <a:ext cx="3054096" cy="4114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Tearing it all down is one safe, complete command.</a:t>
            </a:r>
            <a:endParaRPr lang="en-US" sz="1150" dirty="0"/>
          </a:p>
        </p:txBody>
      </p:sp>
      <p:sp>
        <p:nvSpPr>
          <p:cNvPr id="29" name="Shape 22"/>
          <p:cNvSpPr/>
          <p:nvPr/>
        </p:nvSpPr>
        <p:spPr>
          <a:xfrm>
            <a:off x="8138160" y="3593592"/>
            <a:ext cx="3529584"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30" name="Shape 23"/>
          <p:cNvSpPr/>
          <p:nvPr/>
        </p:nvSpPr>
        <p:spPr>
          <a:xfrm>
            <a:off x="8375904" y="3831336"/>
            <a:ext cx="512064" cy="512064"/>
          </a:xfrm>
          <a:prstGeom prst="ellipse">
            <a:avLst/>
          </a:prstGeom>
          <a:solidFill>
            <a:srgbClr val="F0FDFA"/>
          </a:solidFill>
          <a:ln w="11430">
            <a:solidFill>
              <a:srgbClr val="0D9488"/>
            </a:solidFill>
            <a:prstDash val="solid"/>
          </a:ln>
        </p:spPr>
      </p:sp>
      <p:pic>
        <p:nvPicPr>
          <p:cNvPr id="31" name="Image 5" descr="preencoded.png">    </p:cNvPr>
          <p:cNvPicPr>
            <a:picLocks noChangeAspect="1"/>
          </p:cNvPicPr>
          <p:nvPr/>
        </p:nvPicPr>
        <p:blipFill>
          <a:blip r:embed="rId6"/>
          <a:stretch>
            <a:fillRect/>
          </a:stretch>
        </p:blipFill>
        <p:spPr>
          <a:xfrm>
            <a:off x="8499348" y="3954780"/>
            <a:ext cx="265176" cy="265176"/>
          </a:xfrm>
          <a:prstGeom prst="rect">
            <a:avLst/>
          </a:prstGeom>
        </p:spPr>
      </p:pic>
      <p:sp>
        <p:nvSpPr>
          <p:cNvPr id="32" name="Text 24"/>
          <p:cNvSpPr/>
          <p:nvPr/>
        </p:nvSpPr>
        <p:spPr>
          <a:xfrm>
            <a:off x="8375904" y="443484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Self-documenting</a:t>
            </a:r>
            <a:endParaRPr lang="en-US" sz="1350" dirty="0"/>
          </a:p>
        </p:txBody>
      </p:sp>
      <p:sp>
        <p:nvSpPr>
          <p:cNvPr id="33" name="Text 25"/>
          <p:cNvSpPr/>
          <p:nvPr/>
        </p:nvSpPr>
        <p:spPr>
          <a:xfrm>
            <a:off x="8375904" y="4782312"/>
            <a:ext cx="3054096" cy="41148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The config is the documentation. It cannot go stale.</a:t>
            </a:r>
            <a:endParaRPr lang="en-US" sz="1150" dirty="0"/>
          </a:p>
        </p:txBody>
      </p:sp>
      <p:sp>
        <p:nvSpPr>
          <p:cNvPr id="34" name="Text 26"/>
          <p:cNvSpPr/>
          <p:nvPr/>
        </p:nvSpPr>
        <p:spPr>
          <a:xfrm>
            <a:off x="566928" y="623620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Notice that four of the six come free the moment infrastructure becomes a text file in a repository.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THE DEFINITION</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Infrastructure as Code, defined</a:t>
            </a:r>
            <a:endParaRPr lang="en-US" sz="3000" dirty="0"/>
          </a:p>
        </p:txBody>
      </p:sp>
      <p:sp>
        <p:nvSpPr>
          <p:cNvPr id="4" name="Shape 2"/>
          <p:cNvSpPr/>
          <p:nvPr/>
        </p:nvSpPr>
        <p:spPr>
          <a:xfrm>
            <a:off x="566928" y="1463040"/>
            <a:ext cx="11073384" cy="1298448"/>
          </a:xfrm>
          <a:prstGeom prst="roundRect">
            <a:avLst>
              <a:gd name="adj" fmla="val 3521"/>
            </a:avLst>
          </a:prstGeom>
          <a:solidFill>
            <a:srgbClr val="F4EDFB"/>
          </a:solidFill>
          <a:ln w="12700">
            <a:solidFill>
              <a:srgbClr val="DCC6F0"/>
            </a:solidFill>
            <a:prstDash val="solid"/>
          </a:ln>
        </p:spPr>
      </p:sp>
      <p:sp>
        <p:nvSpPr>
          <p:cNvPr id="5" name="Text 3"/>
          <p:cNvSpPr/>
          <p:nvPr/>
        </p:nvSpPr>
        <p:spPr>
          <a:xfrm>
            <a:off x="877824" y="1627632"/>
            <a:ext cx="10451592" cy="969264"/>
          </a:xfrm>
          <a:prstGeom prst="rect">
            <a:avLst/>
          </a:prstGeom>
          <a:noFill/>
          <a:ln/>
        </p:spPr>
        <p:txBody>
          <a:bodyPr wrap="square" lIns="0" tIns="0" rIns="0" bIns="0" rtlCol="0" anchor="ctr"/>
          <a:lstStyle/>
          <a:p>
            <a:pPr indent="0" marL="0">
              <a:lnSpc>
                <a:spcPts val="2700"/>
              </a:lnSpc>
              <a:buNone/>
            </a:pPr>
            <a:r>
              <a:rPr lang="en-US" sz="1700" dirty="0">
                <a:solidFill>
                  <a:srgbClr val="0F172A"/>
                </a:solidFill>
                <a:latin typeface="Bookman Old Style" pitchFamily="34" charset="0"/>
                <a:ea typeface="Bookman Old Style" pitchFamily="34" charset="-122"/>
                <a:cs typeface="Bookman Old Style" pitchFamily="34" charset="-120"/>
              </a:rPr>
              <a:t>Managing and provisioning infrastructure through machine-readable definition files, rather than through interactive configuration tools or physical hardware setup.</a:t>
            </a:r>
            <a:endParaRPr lang="en-US" sz="1700" dirty="0"/>
          </a:p>
        </p:txBody>
      </p:sp>
      <p:sp>
        <p:nvSpPr>
          <p:cNvPr id="6" name="Shape 4"/>
          <p:cNvSpPr/>
          <p:nvPr/>
        </p:nvSpPr>
        <p:spPr>
          <a:xfrm>
            <a:off x="566928" y="2999232"/>
            <a:ext cx="3529584" cy="1920240"/>
          </a:xfrm>
          <a:prstGeom prst="roundRect">
            <a:avLst>
              <a:gd name="adj" fmla="val 238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7" name="Shape 5"/>
          <p:cNvSpPr/>
          <p:nvPr/>
        </p:nvSpPr>
        <p:spPr>
          <a:xfrm>
            <a:off x="804672" y="3236976"/>
            <a:ext cx="512064" cy="512064"/>
          </a:xfrm>
          <a:prstGeom prst="ellipse">
            <a:avLst/>
          </a:prstGeom>
          <a:solidFill>
            <a:srgbClr val="F4EDFB"/>
          </a:solidFill>
          <a:ln w="11430">
            <a:solidFill>
              <a:srgbClr val="7B42BC"/>
            </a:solidFill>
            <a:prstDash val="solid"/>
          </a:ln>
        </p:spPr>
      </p:sp>
      <p:pic>
        <p:nvPicPr>
          <p:cNvPr id="8" name="Image 0" descr="preencoded.png">    </p:cNvPr>
          <p:cNvPicPr>
            <a:picLocks noChangeAspect="1"/>
          </p:cNvPicPr>
          <p:nvPr/>
        </p:nvPicPr>
        <p:blipFill>
          <a:blip r:embed="rId1"/>
          <a:stretch>
            <a:fillRect/>
          </a:stretch>
        </p:blipFill>
        <p:spPr>
          <a:xfrm>
            <a:off x="928116" y="3360420"/>
            <a:ext cx="265176" cy="265176"/>
          </a:xfrm>
          <a:prstGeom prst="rect">
            <a:avLst/>
          </a:prstGeom>
        </p:spPr>
      </p:pic>
      <p:sp>
        <p:nvSpPr>
          <p:cNvPr id="9" name="Text 6"/>
          <p:cNvSpPr/>
          <p:nvPr/>
        </p:nvSpPr>
        <p:spPr>
          <a:xfrm>
            <a:off x="804672" y="384048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Definition files</a:t>
            </a:r>
            <a:endParaRPr lang="en-US" sz="1350" dirty="0"/>
          </a:p>
        </p:txBody>
      </p:sp>
      <p:sp>
        <p:nvSpPr>
          <p:cNvPr id="10" name="Text 7"/>
          <p:cNvSpPr/>
          <p:nvPr/>
        </p:nvSpPr>
        <p:spPr>
          <a:xfrm>
            <a:off x="804672" y="4187952"/>
            <a:ext cx="3054096" cy="54864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Text. In a repository. Human-readable, diffable, reviewable — no binary blobs, no screenshots, no wiki.</a:t>
            </a:r>
            <a:endParaRPr lang="en-US" sz="1150" dirty="0"/>
          </a:p>
        </p:txBody>
      </p:sp>
      <p:sp>
        <p:nvSpPr>
          <p:cNvPr id="11" name="Shape 8"/>
          <p:cNvSpPr/>
          <p:nvPr/>
        </p:nvSpPr>
        <p:spPr>
          <a:xfrm>
            <a:off x="4352544" y="2999232"/>
            <a:ext cx="3529584" cy="1920240"/>
          </a:xfrm>
          <a:prstGeom prst="roundRect">
            <a:avLst>
              <a:gd name="adj" fmla="val 238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2" name="Shape 9"/>
          <p:cNvSpPr/>
          <p:nvPr/>
        </p:nvSpPr>
        <p:spPr>
          <a:xfrm>
            <a:off x="4590288" y="3236976"/>
            <a:ext cx="512064" cy="512064"/>
          </a:xfrm>
          <a:prstGeom prst="ellipse">
            <a:avLst/>
          </a:prstGeom>
          <a:solidFill>
            <a:srgbClr val="F4EDFB"/>
          </a:solidFill>
          <a:ln w="11430">
            <a:solidFill>
              <a:srgbClr val="7B42BC"/>
            </a:solidFill>
            <a:prstDash val="solid"/>
          </a:ln>
        </p:spPr>
      </p:sp>
      <p:pic>
        <p:nvPicPr>
          <p:cNvPr id="13" name="Image 1" descr="preencoded.png">    </p:cNvPr>
          <p:cNvPicPr>
            <a:picLocks noChangeAspect="1"/>
          </p:cNvPicPr>
          <p:nvPr/>
        </p:nvPicPr>
        <p:blipFill>
          <a:blip r:embed="rId2"/>
          <a:stretch>
            <a:fillRect/>
          </a:stretch>
        </p:blipFill>
        <p:spPr>
          <a:xfrm>
            <a:off x="4713732" y="3360420"/>
            <a:ext cx="265176" cy="265176"/>
          </a:xfrm>
          <a:prstGeom prst="rect">
            <a:avLst/>
          </a:prstGeom>
        </p:spPr>
      </p:pic>
      <p:sp>
        <p:nvSpPr>
          <p:cNvPr id="14" name="Text 10"/>
          <p:cNvSpPr/>
          <p:nvPr/>
        </p:nvSpPr>
        <p:spPr>
          <a:xfrm>
            <a:off x="4590288" y="384048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Machine-readable</a:t>
            </a:r>
            <a:endParaRPr lang="en-US" sz="1350" dirty="0"/>
          </a:p>
        </p:txBody>
      </p:sp>
      <p:sp>
        <p:nvSpPr>
          <p:cNvPr id="15" name="Text 11"/>
          <p:cNvSpPr/>
          <p:nvPr/>
        </p:nvSpPr>
        <p:spPr>
          <a:xfrm>
            <a:off x="4590288" y="4187952"/>
            <a:ext cx="3054096" cy="54864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A tool reads the files and makes the API calls. Humans state the goal; the machine does the clicking.</a:t>
            </a:r>
            <a:endParaRPr lang="en-US" sz="1150" dirty="0"/>
          </a:p>
        </p:txBody>
      </p:sp>
      <p:sp>
        <p:nvSpPr>
          <p:cNvPr id="16" name="Shape 12"/>
          <p:cNvSpPr/>
          <p:nvPr/>
        </p:nvSpPr>
        <p:spPr>
          <a:xfrm>
            <a:off x="8138160" y="2999232"/>
            <a:ext cx="3529584" cy="1920240"/>
          </a:xfrm>
          <a:prstGeom prst="roundRect">
            <a:avLst>
              <a:gd name="adj" fmla="val 238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7" name="Shape 13"/>
          <p:cNvSpPr/>
          <p:nvPr/>
        </p:nvSpPr>
        <p:spPr>
          <a:xfrm>
            <a:off x="8375904" y="3236976"/>
            <a:ext cx="512064" cy="512064"/>
          </a:xfrm>
          <a:prstGeom prst="ellipse">
            <a:avLst/>
          </a:prstGeom>
          <a:solidFill>
            <a:srgbClr val="F4EDFB"/>
          </a:solidFill>
          <a:ln w="11430">
            <a:solidFill>
              <a:srgbClr val="7B42BC"/>
            </a:solidFill>
            <a:prstDash val="solid"/>
          </a:ln>
        </p:spPr>
      </p:sp>
      <p:pic>
        <p:nvPicPr>
          <p:cNvPr id="18" name="Image 2" descr="preencoded.png">    </p:cNvPr>
          <p:cNvPicPr>
            <a:picLocks noChangeAspect="1"/>
          </p:cNvPicPr>
          <p:nvPr/>
        </p:nvPicPr>
        <p:blipFill>
          <a:blip r:embed="rId3"/>
          <a:stretch>
            <a:fillRect/>
          </a:stretch>
        </p:blipFill>
        <p:spPr>
          <a:xfrm>
            <a:off x="8499348" y="3360420"/>
            <a:ext cx="265176" cy="265176"/>
          </a:xfrm>
          <a:prstGeom prst="rect">
            <a:avLst/>
          </a:prstGeom>
        </p:spPr>
      </p:pic>
      <p:sp>
        <p:nvSpPr>
          <p:cNvPr id="19" name="Text 14"/>
          <p:cNvSpPr/>
          <p:nvPr/>
        </p:nvSpPr>
        <p:spPr>
          <a:xfrm>
            <a:off x="8375904" y="3840480"/>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Provisioning</a:t>
            </a:r>
            <a:endParaRPr lang="en-US" sz="1350" dirty="0"/>
          </a:p>
        </p:txBody>
      </p:sp>
      <p:sp>
        <p:nvSpPr>
          <p:cNvPr id="20" name="Text 15"/>
          <p:cNvSpPr/>
          <p:nvPr/>
        </p:nvSpPr>
        <p:spPr>
          <a:xfrm>
            <a:off x="8375904" y="4187952"/>
            <a:ext cx="3054096" cy="548640"/>
          </a:xfrm>
          <a:prstGeom prst="rect">
            <a:avLst/>
          </a:prstGeom>
          <a:noFill/>
          <a:ln/>
        </p:spPr>
        <p:txBody>
          <a:bodyPr wrap="square" lIns="0" tIns="0" rIns="0" bIns="0" rtlCol="0" anchor="t"/>
          <a:lstStyle/>
          <a:p>
            <a:pPr indent="0" marL="0">
              <a:lnSpc>
                <a:spcPts val="1610"/>
              </a:lnSpc>
              <a:buNone/>
            </a:pPr>
            <a:r>
              <a:rPr lang="en-US" sz="1150" dirty="0">
                <a:solidFill>
                  <a:srgbClr val="334155"/>
                </a:solidFill>
                <a:latin typeface="Calibri" pitchFamily="34" charset="0"/>
                <a:ea typeface="Calibri" pitchFamily="34" charset="-122"/>
                <a:cs typeface="Calibri" pitchFamily="34" charset="-120"/>
              </a:rPr>
              <a:t>Not just servers. Networks, IAM roles, DNS records, buckets, clusters, alerts, dashboards — all of it.</a:t>
            </a:r>
            <a:endParaRPr lang="en-US" sz="1150" dirty="0"/>
          </a:p>
        </p:txBody>
      </p:sp>
      <p:sp>
        <p:nvSpPr>
          <p:cNvPr id="21" name="Shape 16"/>
          <p:cNvSpPr/>
          <p:nvPr/>
        </p:nvSpPr>
        <p:spPr>
          <a:xfrm>
            <a:off x="566928" y="5157216"/>
            <a:ext cx="11073384" cy="914400"/>
          </a:xfrm>
          <a:prstGeom prst="roundRect">
            <a:avLst>
              <a:gd name="adj" fmla="val 5000"/>
            </a:avLst>
          </a:prstGeom>
          <a:solidFill>
            <a:srgbClr val="F0FDFA"/>
          </a:solidFill>
          <a:ln w="12700">
            <a:solidFill>
              <a:srgbClr val="99F6E4"/>
            </a:solidFill>
            <a:prstDash val="solid"/>
          </a:ln>
        </p:spPr>
      </p:sp>
      <p:sp>
        <p:nvSpPr>
          <p:cNvPr id="22" name="Text 17"/>
          <p:cNvSpPr/>
          <p:nvPr/>
        </p:nvSpPr>
        <p:spPr>
          <a:xfrm>
            <a:off x="804672" y="5248656"/>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THE ONE-LINE VERSION</a:t>
            </a:r>
            <a:endParaRPr lang="en-US" sz="1000" dirty="0"/>
          </a:p>
        </p:txBody>
      </p:sp>
      <p:sp>
        <p:nvSpPr>
          <p:cNvPr id="23" name="Text 18"/>
          <p:cNvSpPr/>
          <p:nvPr/>
        </p:nvSpPr>
        <p:spPr>
          <a:xfrm>
            <a:off x="804672" y="5458968"/>
            <a:ext cx="10597896" cy="51206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If you cannot rebuild your entire environment from a git clone and one command, you do not have Infrastructure as Code — you have documentation that happens to be executable in places.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566928" y="1417320"/>
            <a:ext cx="1828800" cy="1371600"/>
          </a:xfrm>
          <a:prstGeom prst="rect">
            <a:avLst/>
          </a:prstGeom>
          <a:noFill/>
          <a:ln/>
        </p:spPr>
        <p:txBody>
          <a:bodyPr wrap="square" lIns="0" tIns="0" rIns="0" bIns="0" rtlCol="0" anchor="ctr"/>
          <a:lstStyle/>
          <a:p>
            <a:pPr indent="0" marL="0">
              <a:buNone/>
            </a:pPr>
            <a:r>
              <a:rPr lang="en-US" sz="8400" b="1" dirty="0">
                <a:solidFill>
                  <a:srgbClr val="0D9488"/>
                </a:solidFill>
                <a:latin typeface="Bookman Old Style" pitchFamily="34" charset="0"/>
                <a:ea typeface="Bookman Old Style" pitchFamily="34" charset="-122"/>
                <a:cs typeface="Bookman Old Style" pitchFamily="34" charset="-120"/>
              </a:rPr>
              <a:t>02</a:t>
            </a:r>
            <a:endParaRPr lang="en-US" sz="8400" dirty="0"/>
          </a:p>
        </p:txBody>
      </p:sp>
      <p:sp>
        <p:nvSpPr>
          <p:cNvPr id="4" name="Text 1"/>
          <p:cNvSpPr/>
          <p:nvPr/>
        </p:nvSpPr>
        <p:spPr>
          <a:xfrm>
            <a:off x="566928" y="278892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Ways to Say It</a:t>
            </a:r>
            <a:endParaRPr lang="en-US" sz="4000" dirty="0"/>
          </a:p>
        </p:txBody>
      </p:sp>
      <p:sp>
        <p:nvSpPr>
          <p:cNvPr id="5" name="Text 2"/>
          <p:cNvSpPr/>
          <p:nvPr/>
        </p:nvSpPr>
        <p:spPr>
          <a:xfrm>
            <a:off x="566928" y="3767328"/>
            <a:ext cx="7315200" cy="777240"/>
          </a:xfrm>
          <a:prstGeom prst="rect">
            <a:avLst/>
          </a:prstGeom>
          <a:noFill/>
          <a:ln/>
        </p:spPr>
        <p:txBody>
          <a:bodyPr wrap="square" lIns="0" tIns="0" rIns="0" bIns="0" rtlCol="0" anchor="ctr"/>
          <a:lstStyle/>
          <a:p>
            <a:pPr indent="0" marL="0">
              <a:lnSpc>
                <a:spcPts val="2400"/>
              </a:lnSpc>
              <a:buNone/>
            </a:pPr>
            <a:r>
              <a:rPr lang="en-US" sz="1600" dirty="0">
                <a:solidFill>
                  <a:srgbClr val="94A3B8"/>
                </a:solidFill>
                <a:latin typeface="Calibri" pitchFamily="34" charset="0"/>
                <a:ea typeface="Calibri" pitchFamily="34" charset="-122"/>
                <a:cs typeface="Calibri" pitchFamily="34" charset="-120"/>
              </a:rPr>
              <a:t>Before the syntax: four distinctions that decide which tool you reach for, and which mistakes you are about to make.</a:t>
            </a:r>
            <a:endParaRPr lang="en-US" sz="1600" dirty="0"/>
          </a:p>
        </p:txBody>
      </p:sp>
      <p:sp>
        <p:nvSpPr>
          <p:cNvPr id="6" name="Shape 3"/>
          <p:cNvSpPr/>
          <p:nvPr/>
        </p:nvSpPr>
        <p:spPr>
          <a:xfrm>
            <a:off x="9418320" y="2148840"/>
            <a:ext cx="1874520" cy="1874520"/>
          </a:xfrm>
          <a:prstGeom prst="ellipse">
            <a:avLst/>
          </a:prstGeom>
          <a:solidFill>
            <a:srgbClr val="1E293B"/>
          </a:solidFill>
          <a:ln w="15875">
            <a:solidFill>
              <a:srgbClr val="0D9488"/>
            </a:solidFill>
            <a:prstDash val="solid"/>
          </a:ln>
        </p:spPr>
      </p:sp>
      <p:pic>
        <p:nvPicPr>
          <p:cNvPr id="7" name="Image 0" descr="preencoded.png">    </p:cNvPr>
          <p:cNvPicPr>
            <a:picLocks noChangeAspect="1"/>
          </p:cNvPicPr>
          <p:nvPr/>
        </p:nvPicPr>
        <p:blipFill>
          <a:blip r:embed="rId1"/>
          <a:stretch>
            <a:fillRect/>
          </a:stretch>
        </p:blipFill>
        <p:spPr>
          <a:xfrm>
            <a:off x="9893808" y="2624328"/>
            <a:ext cx="914400" cy="914400"/>
          </a:xfrm>
          <a:prstGeom prst="rect">
            <a:avLst/>
          </a:prstGeom>
        </p:spPr>
      </p:pic>
      <p:sp>
        <p:nvSpPr>
          <p:cNvPr id="8" name="Shape 4"/>
          <p:cNvSpPr/>
          <p:nvPr/>
        </p:nvSpPr>
        <p:spPr>
          <a:xfrm>
            <a:off x="566928" y="4892040"/>
            <a:ext cx="1305763" cy="384048"/>
          </a:xfrm>
          <a:prstGeom prst="roundRect">
            <a:avLst>
              <a:gd name="adj" fmla="val 47619"/>
            </a:avLst>
          </a:prstGeom>
          <a:solidFill>
            <a:srgbClr val="1E293B"/>
          </a:solidFill>
          <a:ln w="9525">
            <a:solidFill>
              <a:srgbClr val="334155"/>
            </a:solidFill>
            <a:prstDash val="solid"/>
          </a:ln>
        </p:spPr>
      </p:sp>
      <p:sp>
        <p:nvSpPr>
          <p:cNvPr id="9" name="Text 5"/>
          <p:cNvSpPr/>
          <p:nvPr/>
        </p:nvSpPr>
        <p:spPr>
          <a:xfrm>
            <a:off x="566928" y="4892040"/>
            <a:ext cx="1305763"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declarative</a:t>
            </a:r>
            <a:endParaRPr lang="en-US" sz="1050" dirty="0"/>
          </a:p>
        </p:txBody>
      </p:sp>
      <p:sp>
        <p:nvSpPr>
          <p:cNvPr id="10" name="Shape 6"/>
          <p:cNvSpPr/>
          <p:nvPr/>
        </p:nvSpPr>
        <p:spPr>
          <a:xfrm>
            <a:off x="2018995" y="4892040"/>
            <a:ext cx="1207008" cy="384048"/>
          </a:xfrm>
          <a:prstGeom prst="roundRect">
            <a:avLst>
              <a:gd name="adj" fmla="val 47619"/>
            </a:avLst>
          </a:prstGeom>
          <a:solidFill>
            <a:srgbClr val="1E293B"/>
          </a:solidFill>
          <a:ln w="9525">
            <a:solidFill>
              <a:srgbClr val="334155"/>
            </a:solidFill>
            <a:prstDash val="solid"/>
          </a:ln>
        </p:spPr>
      </p:sp>
      <p:sp>
        <p:nvSpPr>
          <p:cNvPr id="11" name="Text 7"/>
          <p:cNvSpPr/>
          <p:nvPr/>
        </p:nvSpPr>
        <p:spPr>
          <a:xfrm>
            <a:off x="2018995" y="4892040"/>
            <a:ext cx="120700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idempotent</a:t>
            </a:r>
            <a:endParaRPr lang="en-US" sz="1050" dirty="0"/>
          </a:p>
        </p:txBody>
      </p:sp>
      <p:sp>
        <p:nvSpPr>
          <p:cNvPr id="12" name="Shape 8"/>
          <p:cNvSpPr/>
          <p:nvPr/>
        </p:nvSpPr>
        <p:spPr>
          <a:xfrm>
            <a:off x="3372307" y="4892040"/>
            <a:ext cx="1108253" cy="384048"/>
          </a:xfrm>
          <a:prstGeom prst="roundRect">
            <a:avLst>
              <a:gd name="adj" fmla="val 47619"/>
            </a:avLst>
          </a:prstGeom>
          <a:solidFill>
            <a:srgbClr val="1E293B"/>
          </a:solidFill>
          <a:ln w="9525">
            <a:solidFill>
              <a:srgbClr val="334155"/>
            </a:solidFill>
            <a:prstDash val="solid"/>
          </a:ln>
        </p:spPr>
      </p:sp>
      <p:sp>
        <p:nvSpPr>
          <p:cNvPr id="13" name="Text 9"/>
          <p:cNvSpPr/>
          <p:nvPr/>
        </p:nvSpPr>
        <p:spPr>
          <a:xfrm>
            <a:off x="3372307" y="4892040"/>
            <a:ext cx="1108253"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immutable</a:t>
            </a:r>
            <a:endParaRPr lang="en-US" sz="1050" dirty="0"/>
          </a:p>
        </p:txBody>
      </p:sp>
      <p:sp>
        <p:nvSpPr>
          <p:cNvPr id="14" name="Shape 10"/>
          <p:cNvSpPr/>
          <p:nvPr/>
        </p:nvSpPr>
        <p:spPr>
          <a:xfrm>
            <a:off x="4626864" y="4892040"/>
            <a:ext cx="1404518" cy="384048"/>
          </a:xfrm>
          <a:prstGeom prst="roundRect">
            <a:avLst>
              <a:gd name="adj" fmla="val 47619"/>
            </a:avLst>
          </a:prstGeom>
          <a:solidFill>
            <a:srgbClr val="1E293B"/>
          </a:solidFill>
          <a:ln w="9525">
            <a:solidFill>
              <a:srgbClr val="334155"/>
            </a:solidFill>
            <a:prstDash val="solid"/>
          </a:ln>
        </p:spPr>
      </p:sp>
      <p:sp>
        <p:nvSpPr>
          <p:cNvPr id="15" name="Text 11"/>
          <p:cNvSpPr/>
          <p:nvPr/>
        </p:nvSpPr>
        <p:spPr>
          <a:xfrm>
            <a:off x="4626864" y="4892040"/>
            <a:ext cx="140451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provisioning</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THE CORE DISTINCTION</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Imperative vs declarative</a:t>
            </a:r>
            <a:endParaRPr lang="en-US" sz="3000" dirty="0"/>
          </a:p>
        </p:txBody>
      </p:sp>
      <p:sp>
        <p:nvSpPr>
          <p:cNvPr id="4" name="Text 2"/>
          <p:cNvSpPr/>
          <p:nvPr/>
        </p:nvSpPr>
        <p:spPr>
          <a:xfrm>
            <a:off x="566928" y="1417320"/>
            <a:ext cx="5394960" cy="274320"/>
          </a:xfrm>
          <a:prstGeom prst="rect">
            <a:avLst/>
          </a:prstGeom>
          <a:noFill/>
          <a:ln/>
        </p:spPr>
        <p:txBody>
          <a:bodyPr wrap="square" lIns="0" tIns="0" rIns="0" bIns="0" rtlCol="0" anchor="ctr"/>
          <a:lstStyle/>
          <a:p>
            <a:pPr indent="0" marL="0">
              <a:buNone/>
            </a:pPr>
            <a:r>
              <a:rPr lang="en-US" sz="1150" b="1" spc="160" kern="0" dirty="0">
                <a:solidFill>
                  <a:srgbClr val="C2410C"/>
                </a:solidFill>
                <a:latin typeface="Calibri" pitchFamily="34" charset="0"/>
                <a:ea typeface="Calibri" pitchFamily="34" charset="-122"/>
                <a:cs typeface="Calibri" pitchFamily="34" charset="-120"/>
              </a:rPr>
              <a:t>IMPERATIVE — you describe the steps</a:t>
            </a:r>
            <a:endParaRPr lang="en-US" sz="1150" dirty="0"/>
          </a:p>
        </p:txBody>
      </p:sp>
      <p:sp>
        <p:nvSpPr>
          <p:cNvPr id="5" name="Shape 3"/>
          <p:cNvSpPr/>
          <p:nvPr/>
        </p:nvSpPr>
        <p:spPr>
          <a:xfrm>
            <a:off x="566928" y="1737360"/>
            <a:ext cx="5394960" cy="2395728"/>
          </a:xfrm>
          <a:prstGeom prst="roundRect">
            <a:avLst>
              <a:gd name="adj" fmla="val 2290"/>
            </a:avLst>
          </a:prstGeom>
          <a:solidFill>
            <a:srgbClr val="0F172A"/>
          </a:solidFill>
          <a:ln w="12700">
            <a:solidFill>
              <a:srgbClr val="334155"/>
            </a:solidFill>
            <a:prstDash val="solid"/>
          </a:ln>
        </p:spPr>
      </p:sp>
      <p:sp>
        <p:nvSpPr>
          <p:cNvPr id="6" name="Shape 4"/>
          <p:cNvSpPr/>
          <p:nvPr/>
        </p:nvSpPr>
        <p:spPr>
          <a:xfrm>
            <a:off x="566928" y="1737360"/>
            <a:ext cx="5394960" cy="292608"/>
          </a:xfrm>
          <a:prstGeom prst="rect">
            <a:avLst/>
          </a:prstGeom>
          <a:solidFill>
            <a:srgbClr val="1E293B"/>
          </a:solidFill>
          <a:ln w="12700">
            <a:solidFill>
              <a:srgbClr val="334155"/>
            </a:solidFill>
            <a:prstDash val="solid"/>
          </a:ln>
        </p:spPr>
      </p:sp>
      <p:sp>
        <p:nvSpPr>
          <p:cNvPr id="7" name="Shape 5"/>
          <p:cNvSpPr/>
          <p:nvPr/>
        </p:nvSpPr>
        <p:spPr>
          <a:xfrm>
            <a:off x="685800" y="1833372"/>
            <a:ext cx="100584" cy="100584"/>
          </a:xfrm>
          <a:prstGeom prst="ellipse">
            <a:avLst/>
          </a:prstGeom>
          <a:solidFill>
            <a:srgbClr val="F87171"/>
          </a:solidFill>
          <a:ln w="6350">
            <a:solidFill>
              <a:srgbClr val="F87171"/>
            </a:solidFill>
            <a:prstDash val="solid"/>
          </a:ln>
        </p:spPr>
      </p:sp>
      <p:sp>
        <p:nvSpPr>
          <p:cNvPr id="8" name="Shape 6"/>
          <p:cNvSpPr/>
          <p:nvPr/>
        </p:nvSpPr>
        <p:spPr>
          <a:xfrm>
            <a:off x="859536" y="1833372"/>
            <a:ext cx="100584" cy="100584"/>
          </a:xfrm>
          <a:prstGeom prst="ellipse">
            <a:avLst/>
          </a:prstGeom>
          <a:solidFill>
            <a:srgbClr val="FBBF24"/>
          </a:solidFill>
          <a:ln w="6350">
            <a:solidFill>
              <a:srgbClr val="FBBF24"/>
            </a:solidFill>
            <a:prstDash val="solid"/>
          </a:ln>
        </p:spPr>
      </p:sp>
      <p:sp>
        <p:nvSpPr>
          <p:cNvPr id="9" name="Shape 7"/>
          <p:cNvSpPr/>
          <p:nvPr/>
        </p:nvSpPr>
        <p:spPr>
          <a:xfrm>
            <a:off x="1033272" y="1833372"/>
            <a:ext cx="100584" cy="100584"/>
          </a:xfrm>
          <a:prstGeom prst="ellipse">
            <a:avLst/>
          </a:prstGeom>
          <a:solidFill>
            <a:srgbClr val="34D399"/>
          </a:solidFill>
          <a:ln w="6350">
            <a:solidFill>
              <a:srgbClr val="34D399"/>
            </a:solidFill>
            <a:prstDash val="solid"/>
          </a:ln>
        </p:spPr>
      </p:sp>
      <p:sp>
        <p:nvSpPr>
          <p:cNvPr id="10" name="Text 8"/>
          <p:cNvSpPr/>
          <p:nvPr/>
        </p:nvSpPr>
        <p:spPr>
          <a:xfrm>
            <a:off x="1225296" y="1755648"/>
            <a:ext cx="461772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create-bucket.sh</a:t>
            </a:r>
            <a:endParaRPr lang="en-US" sz="950" dirty="0"/>
          </a:p>
        </p:txBody>
      </p:sp>
      <p:sp>
        <p:nvSpPr>
          <p:cNvPr id="11" name="Text 9"/>
          <p:cNvSpPr/>
          <p:nvPr/>
        </p:nvSpPr>
        <p:spPr>
          <a:xfrm>
            <a:off x="768096" y="2121408"/>
            <a:ext cx="4992624" cy="1865376"/>
          </a:xfrm>
          <a:prstGeom prst="rect">
            <a:avLst/>
          </a:prstGeom>
          <a:noFill/>
          <a:ln/>
        </p:spPr>
        <p:txBody>
          <a:bodyPr wrap="square" lIns="0" tIns="0" rIns="0" bIns="0" rtlCol="0" anchor="t"/>
          <a:lstStyle/>
          <a:p>
            <a:pPr indent="0" marL="0">
              <a:lnSpc>
                <a:spcPts val="1782"/>
              </a:lnSpc>
              <a:buNone/>
            </a:pPr>
            <a:r>
              <a:rPr lang="en-US" sz="1100" dirty="0">
                <a:solidFill>
                  <a:srgbClr val="94A3B8"/>
                </a:solidFill>
                <a:latin typeface="Courier New" pitchFamily="34" charset="0"/>
                <a:ea typeface="Courier New" pitchFamily="34" charset="-122"/>
                <a:cs typeface="Courier New" pitchFamily="34" charset="-120"/>
              </a:rPr>
              <a:t>#!/usr/bin/env bash</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if aws s3api head-bucket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--bucket $NAME 2&gt;/dev/null; then</a:t>
            </a:r>
            <a:endParaRPr lang="en-US" sz="1100" dirty="0"/>
          </a:p>
          <a:p>
            <a:pPr indent="0" marL="0">
              <a:lnSpc>
                <a:spcPts val="1782"/>
              </a:lnSpc>
              <a:buNone/>
            </a:pPr>
            <a:r>
              <a:rPr lang="en-US" sz="1100" dirty="0">
                <a:solidFill>
                  <a:srgbClr val="FBBF24"/>
                </a:solidFill>
                <a:latin typeface="Courier New" pitchFamily="34" charset="0"/>
                <a:ea typeface="Courier New" pitchFamily="34" charset="-122"/>
                <a:cs typeface="Courier New" pitchFamily="34" charset="-120"/>
              </a:rPr>
              <a:t>  echo "exists, skipping"</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else</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aws s3api create-bucket \</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--bucket $NAME --region ap-south-1</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fi</a:t>
            </a:r>
            <a:endParaRPr lang="en-US" sz="1100" dirty="0"/>
          </a:p>
          <a:p>
            <a:pPr indent="0" marL="0">
              <a:lnSpc>
                <a:spcPts val="1782"/>
              </a:lnSpc>
              <a:buNone/>
            </a:pPr>
            <a:r>
              <a:rPr lang="en-US" sz="1100" dirty="0">
                <a:solidFill>
                  <a:srgbClr val="94A3B8"/>
                </a:solidFill>
                <a:latin typeface="Courier New" pitchFamily="34" charset="0"/>
                <a:ea typeface="Courier New" pitchFamily="34" charset="-122"/>
                <a:cs typeface="Courier New" pitchFamily="34" charset="-120"/>
              </a:rPr>
              <a:t># ...and now handle versioning. and tags.</a:t>
            </a:r>
            <a:endParaRPr lang="en-US" sz="1100" dirty="0"/>
          </a:p>
        </p:txBody>
      </p:sp>
      <p:sp>
        <p:nvSpPr>
          <p:cNvPr id="12" name="Text 10"/>
          <p:cNvSpPr/>
          <p:nvPr/>
        </p:nvSpPr>
        <p:spPr>
          <a:xfrm>
            <a:off x="566928" y="4224528"/>
            <a:ext cx="5394960" cy="548640"/>
          </a:xfrm>
          <a:prstGeom prst="rect">
            <a:avLst/>
          </a:prstGeom>
          <a:noFill/>
          <a:ln/>
        </p:spPr>
        <p:txBody>
          <a:bodyPr wrap="square" lIns="0" tIns="0" rIns="0" bIns="0" rtlCol="0" anchor="ctr"/>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You own every branch. Every “does it already exist?” check is your problem, forever.</a:t>
            </a:r>
            <a:endParaRPr lang="en-US" sz="1250" dirty="0"/>
          </a:p>
        </p:txBody>
      </p:sp>
      <p:sp>
        <p:nvSpPr>
          <p:cNvPr id="13" name="Text 11"/>
          <p:cNvSpPr/>
          <p:nvPr/>
        </p:nvSpPr>
        <p:spPr>
          <a:xfrm>
            <a:off x="6382512" y="1417320"/>
            <a:ext cx="5532120" cy="274320"/>
          </a:xfrm>
          <a:prstGeom prst="rect">
            <a:avLst/>
          </a:prstGeom>
          <a:noFill/>
          <a:ln/>
        </p:spPr>
        <p:txBody>
          <a:bodyPr wrap="square" lIns="0" tIns="0" rIns="0" bIns="0" rtlCol="0" anchor="ctr"/>
          <a:lstStyle/>
          <a:p>
            <a:pPr indent="0" marL="0">
              <a:buNone/>
            </a:pPr>
            <a:r>
              <a:rPr lang="en-US" sz="1150" b="1" spc="160" kern="0" dirty="0">
                <a:solidFill>
                  <a:srgbClr val="0F766E"/>
                </a:solidFill>
                <a:latin typeface="Calibri" pitchFamily="34" charset="0"/>
                <a:ea typeface="Calibri" pitchFamily="34" charset="-122"/>
                <a:cs typeface="Calibri" pitchFamily="34" charset="-120"/>
              </a:rPr>
              <a:t>DECLARATIVE — you describe the destination</a:t>
            </a:r>
            <a:endParaRPr lang="en-US" sz="1150" dirty="0"/>
          </a:p>
        </p:txBody>
      </p:sp>
      <p:sp>
        <p:nvSpPr>
          <p:cNvPr id="14" name="Shape 12"/>
          <p:cNvSpPr/>
          <p:nvPr/>
        </p:nvSpPr>
        <p:spPr>
          <a:xfrm>
            <a:off x="6382512" y="1737360"/>
            <a:ext cx="5532120" cy="2395728"/>
          </a:xfrm>
          <a:prstGeom prst="roundRect">
            <a:avLst>
              <a:gd name="adj" fmla="val 2290"/>
            </a:avLst>
          </a:prstGeom>
          <a:solidFill>
            <a:srgbClr val="0F172A"/>
          </a:solidFill>
          <a:ln w="12700">
            <a:solidFill>
              <a:srgbClr val="334155"/>
            </a:solidFill>
            <a:prstDash val="solid"/>
          </a:ln>
        </p:spPr>
      </p:sp>
      <p:sp>
        <p:nvSpPr>
          <p:cNvPr id="15" name="Shape 13"/>
          <p:cNvSpPr/>
          <p:nvPr/>
        </p:nvSpPr>
        <p:spPr>
          <a:xfrm>
            <a:off x="6382512" y="1737360"/>
            <a:ext cx="5532120" cy="292608"/>
          </a:xfrm>
          <a:prstGeom prst="rect">
            <a:avLst/>
          </a:prstGeom>
          <a:solidFill>
            <a:srgbClr val="1E293B"/>
          </a:solidFill>
          <a:ln w="12700">
            <a:solidFill>
              <a:srgbClr val="334155"/>
            </a:solidFill>
            <a:prstDash val="solid"/>
          </a:ln>
        </p:spPr>
      </p:sp>
      <p:sp>
        <p:nvSpPr>
          <p:cNvPr id="16" name="Shape 14"/>
          <p:cNvSpPr/>
          <p:nvPr/>
        </p:nvSpPr>
        <p:spPr>
          <a:xfrm>
            <a:off x="6501384" y="1833372"/>
            <a:ext cx="100584" cy="100584"/>
          </a:xfrm>
          <a:prstGeom prst="ellipse">
            <a:avLst/>
          </a:prstGeom>
          <a:solidFill>
            <a:srgbClr val="F87171"/>
          </a:solidFill>
          <a:ln w="6350">
            <a:solidFill>
              <a:srgbClr val="F87171"/>
            </a:solidFill>
            <a:prstDash val="solid"/>
          </a:ln>
        </p:spPr>
      </p:sp>
      <p:sp>
        <p:nvSpPr>
          <p:cNvPr id="17" name="Shape 15"/>
          <p:cNvSpPr/>
          <p:nvPr/>
        </p:nvSpPr>
        <p:spPr>
          <a:xfrm>
            <a:off x="6675120" y="1833372"/>
            <a:ext cx="100584" cy="100584"/>
          </a:xfrm>
          <a:prstGeom prst="ellipse">
            <a:avLst/>
          </a:prstGeom>
          <a:solidFill>
            <a:srgbClr val="FBBF24"/>
          </a:solidFill>
          <a:ln w="6350">
            <a:solidFill>
              <a:srgbClr val="FBBF24"/>
            </a:solidFill>
            <a:prstDash val="solid"/>
          </a:ln>
        </p:spPr>
      </p:sp>
      <p:sp>
        <p:nvSpPr>
          <p:cNvPr id="18" name="Shape 16"/>
          <p:cNvSpPr/>
          <p:nvPr/>
        </p:nvSpPr>
        <p:spPr>
          <a:xfrm>
            <a:off x="6848856" y="1833372"/>
            <a:ext cx="100584" cy="100584"/>
          </a:xfrm>
          <a:prstGeom prst="ellipse">
            <a:avLst/>
          </a:prstGeom>
          <a:solidFill>
            <a:srgbClr val="34D399"/>
          </a:solidFill>
          <a:ln w="6350">
            <a:solidFill>
              <a:srgbClr val="34D399"/>
            </a:solidFill>
            <a:prstDash val="solid"/>
          </a:ln>
        </p:spPr>
      </p:sp>
      <p:sp>
        <p:nvSpPr>
          <p:cNvPr id="19" name="Text 17"/>
          <p:cNvSpPr/>
          <p:nvPr/>
        </p:nvSpPr>
        <p:spPr>
          <a:xfrm>
            <a:off x="7040880" y="1755648"/>
            <a:ext cx="475488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main.tf</a:t>
            </a:r>
            <a:endParaRPr lang="en-US" sz="950" dirty="0"/>
          </a:p>
        </p:txBody>
      </p:sp>
      <p:sp>
        <p:nvSpPr>
          <p:cNvPr id="20" name="Text 18"/>
          <p:cNvSpPr/>
          <p:nvPr/>
        </p:nvSpPr>
        <p:spPr>
          <a:xfrm>
            <a:off x="6583680" y="2121408"/>
            <a:ext cx="5129784" cy="1865376"/>
          </a:xfrm>
          <a:prstGeom prst="rect">
            <a:avLst/>
          </a:prstGeom>
          <a:noFill/>
          <a:ln/>
        </p:spPr>
        <p:txBody>
          <a:bodyPr wrap="square" lIns="0" tIns="0" rIns="0" bIns="0" rtlCol="0" anchor="t"/>
          <a:lstStyle/>
          <a:p>
            <a:pPr indent="0" marL="0">
              <a:lnSpc>
                <a:spcPts val="1782"/>
              </a:lnSpc>
              <a:buNone/>
            </a:pPr>
            <a:r>
              <a:rPr lang="en-US" sz="1100" dirty="0">
                <a:solidFill>
                  <a:srgbClr val="DCC6F0"/>
                </a:solidFill>
                <a:latin typeface="Courier New" pitchFamily="34" charset="0"/>
                <a:ea typeface="Courier New" pitchFamily="34" charset="-122"/>
                <a:cs typeface="Courier New" pitchFamily="34" charset="-120"/>
              </a:rPr>
              <a:t>resource "aws_s3_bucket" "data"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bucket = var.bucket_name</a:t>
            </a:r>
            <a:endParaRPr lang="en-US" sz="1100" dirty="0"/>
          </a:p>
          <a:p>
            <a:pPr indent="0" marL="0">
              <a:lnSpc>
                <a:spcPts val="1782"/>
              </a:lnSpc>
              <a:buNone/>
            </a:pPr>
            <a:r>
              <a:rPr lang="en-US" sz="1100" dirty="0">
                <a:solidFill>
                  <a:srgbClr val="DCC6F0"/>
                </a:solidFill>
                <a:latin typeface="Courier New" pitchFamily="34" charset="0"/>
                <a:ea typeface="Courier New" pitchFamily="34" charset="-122"/>
                <a:cs typeface="Courier New" pitchFamily="34" charset="-120"/>
              </a:rPr>
              <a:t>}</a:t>
            </a:r>
            <a:endParaRPr lang="en-US" sz="1100" dirty="0"/>
          </a:p>
          <a:p>
            <a:pPr indent="0" marL="0">
              <a:lnSpc>
                <a:spcPts val="1782"/>
              </a:lnSpc>
              <a:buNone/>
            </a:pPr>
            <a:endParaRPr lang="en-US" sz="1100" dirty="0"/>
          </a:p>
          <a:p>
            <a:pPr indent="0" marL="0">
              <a:lnSpc>
                <a:spcPts val="1782"/>
              </a:lnSpc>
              <a:buNone/>
            </a:pPr>
            <a:r>
              <a:rPr lang="en-US" sz="1100" dirty="0">
                <a:solidFill>
                  <a:srgbClr val="DCC6F0"/>
                </a:solidFill>
                <a:latin typeface="Courier New" pitchFamily="34" charset="0"/>
                <a:ea typeface="Courier New" pitchFamily="34" charset="-122"/>
                <a:cs typeface="Courier New" pitchFamily="34" charset="-120"/>
              </a:rPr>
              <a:t>resource "aws_s3_bucket_versioning" "data"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bucket = aws_s3_bucket.data.id</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versioning_configuration {</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status = "Enabled"</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t>
            </a:r>
            <a:endParaRPr lang="en-US" sz="1100" dirty="0"/>
          </a:p>
        </p:txBody>
      </p:sp>
      <p:sp>
        <p:nvSpPr>
          <p:cNvPr id="21" name="Text 19"/>
          <p:cNvSpPr/>
          <p:nvPr/>
        </p:nvSpPr>
        <p:spPr>
          <a:xfrm>
            <a:off x="6382512" y="4224528"/>
            <a:ext cx="5532120" cy="548640"/>
          </a:xfrm>
          <a:prstGeom prst="rect">
            <a:avLst/>
          </a:prstGeom>
          <a:noFill/>
          <a:ln/>
        </p:spPr>
        <p:txBody>
          <a:bodyPr wrap="square" lIns="0" tIns="0" rIns="0" bIns="0" rtlCol="0" anchor="ctr"/>
          <a:lstStyle/>
          <a:p>
            <a:pPr indent="0" marL="0">
              <a:lnSpc>
                <a:spcPts val="1700"/>
              </a:lnSpc>
              <a:buNone/>
            </a:pPr>
            <a:r>
              <a:rPr lang="en-US" sz="1250" dirty="0">
                <a:solidFill>
                  <a:srgbClr val="334155"/>
                </a:solidFill>
                <a:latin typeface="Calibri" pitchFamily="34" charset="0"/>
                <a:ea typeface="Calibri" pitchFamily="34" charset="-122"/>
                <a:cs typeface="Calibri" pitchFamily="34" charset="-120"/>
              </a:rPr>
              <a:t>You state the end result. Terraform works out whether that means create, update, or do nothing at all.</a:t>
            </a:r>
            <a:endParaRPr lang="en-US" sz="1250" dirty="0"/>
          </a:p>
        </p:txBody>
      </p:sp>
      <p:sp>
        <p:nvSpPr>
          <p:cNvPr id="22" name="Shape 20"/>
          <p:cNvSpPr/>
          <p:nvPr/>
        </p:nvSpPr>
        <p:spPr>
          <a:xfrm>
            <a:off x="566928" y="4956048"/>
            <a:ext cx="11073384" cy="960120"/>
          </a:xfrm>
          <a:prstGeom prst="roundRect">
            <a:avLst>
              <a:gd name="adj" fmla="val 4762"/>
            </a:avLst>
          </a:prstGeom>
          <a:solidFill>
            <a:srgbClr val="F0FDFA"/>
          </a:solidFill>
          <a:ln w="12700">
            <a:solidFill>
              <a:srgbClr val="99F6E4"/>
            </a:solidFill>
            <a:prstDash val="solid"/>
          </a:ln>
        </p:spPr>
      </p:sp>
      <p:sp>
        <p:nvSpPr>
          <p:cNvPr id="23" name="Text 21"/>
          <p:cNvSpPr/>
          <p:nvPr/>
        </p:nvSpPr>
        <p:spPr>
          <a:xfrm>
            <a:off x="804672" y="5047488"/>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WHY IT MATTERS</a:t>
            </a:r>
            <a:endParaRPr lang="en-US" sz="1000" dirty="0"/>
          </a:p>
        </p:txBody>
      </p:sp>
      <p:sp>
        <p:nvSpPr>
          <p:cNvPr id="24" name="Text 22"/>
          <p:cNvSpPr/>
          <p:nvPr/>
        </p:nvSpPr>
        <p:spPr>
          <a:xfrm>
            <a:off x="804672" y="5257800"/>
            <a:ext cx="10597896" cy="55778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The imperative script grows a new branch for every edge case until nobody dares run it. The declarative file stays the same size as your infrastructure — because it describes what you want, not the path to get there.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THE PROPERTY THAT MAKES IT SAFE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Idempotency: run it again, nothing happens</a:t>
            </a:r>
            <a:endParaRPr lang="en-US" sz="3000" dirty="0"/>
          </a:p>
        </p:txBody>
      </p:sp>
      <p:sp>
        <p:nvSpPr>
          <p:cNvPr id="4" name="Text 2"/>
          <p:cNvSpPr/>
          <p:nvPr/>
        </p:nvSpPr>
        <p:spPr>
          <a:xfrm>
            <a:off x="566928" y="1371600"/>
            <a:ext cx="11073384" cy="566928"/>
          </a:xfrm>
          <a:prstGeom prst="rect">
            <a:avLst/>
          </a:prstGeom>
          <a:noFill/>
          <a:ln/>
        </p:spPr>
        <p:txBody>
          <a:bodyPr wrap="square" lIns="0" tIns="0" rIns="0" bIns="0" rtlCol="0" anchor="ctr"/>
          <a:lstStyle/>
          <a:p>
            <a:pPr indent="0" marL="0">
              <a:lnSpc>
                <a:spcPts val="2000"/>
              </a:lnSpc>
              <a:buNone/>
            </a:pPr>
            <a:r>
              <a:rPr lang="en-US" sz="1400" dirty="0">
                <a:solidFill>
                  <a:srgbClr val="334155"/>
                </a:solidFill>
                <a:latin typeface="Calibri" pitchFamily="34" charset="0"/>
                <a:ea typeface="Calibri" pitchFamily="34" charset="-122"/>
                <a:cs typeface="Calibri" pitchFamily="34" charset="-120"/>
              </a:rPr>
              <a:t>An operation is idempotent when running it a second time changes nothing. It is what lets you re-run a deployment at 3am without first working out how far the last one got.</a:t>
            </a:r>
            <a:endParaRPr lang="en-US" sz="1400" dirty="0"/>
          </a:p>
        </p:txBody>
      </p:sp>
      <p:sp>
        <p:nvSpPr>
          <p:cNvPr id="5" name="Shape 3"/>
          <p:cNvSpPr/>
          <p:nvPr/>
        </p:nvSpPr>
        <p:spPr>
          <a:xfrm>
            <a:off x="566928" y="2066544"/>
            <a:ext cx="5943600" cy="2743200"/>
          </a:xfrm>
          <a:prstGeom prst="roundRect">
            <a:avLst>
              <a:gd name="adj" fmla="val 2000"/>
            </a:avLst>
          </a:prstGeom>
          <a:solidFill>
            <a:srgbClr val="0F172A"/>
          </a:solidFill>
          <a:ln w="12700">
            <a:solidFill>
              <a:srgbClr val="334155"/>
            </a:solidFill>
            <a:prstDash val="solid"/>
          </a:ln>
        </p:spPr>
      </p:sp>
      <p:sp>
        <p:nvSpPr>
          <p:cNvPr id="6" name="Shape 4"/>
          <p:cNvSpPr/>
          <p:nvPr/>
        </p:nvSpPr>
        <p:spPr>
          <a:xfrm>
            <a:off x="566928" y="2066544"/>
            <a:ext cx="5943600" cy="292608"/>
          </a:xfrm>
          <a:prstGeom prst="rect">
            <a:avLst/>
          </a:prstGeom>
          <a:solidFill>
            <a:srgbClr val="1E293B"/>
          </a:solidFill>
          <a:ln w="12700">
            <a:solidFill>
              <a:srgbClr val="334155"/>
            </a:solidFill>
            <a:prstDash val="solid"/>
          </a:ln>
        </p:spPr>
      </p:sp>
      <p:sp>
        <p:nvSpPr>
          <p:cNvPr id="7" name="Shape 5"/>
          <p:cNvSpPr/>
          <p:nvPr/>
        </p:nvSpPr>
        <p:spPr>
          <a:xfrm>
            <a:off x="685800" y="2162556"/>
            <a:ext cx="100584" cy="100584"/>
          </a:xfrm>
          <a:prstGeom prst="ellipse">
            <a:avLst/>
          </a:prstGeom>
          <a:solidFill>
            <a:srgbClr val="F87171"/>
          </a:solidFill>
          <a:ln w="6350">
            <a:solidFill>
              <a:srgbClr val="F87171"/>
            </a:solidFill>
            <a:prstDash val="solid"/>
          </a:ln>
        </p:spPr>
      </p:sp>
      <p:sp>
        <p:nvSpPr>
          <p:cNvPr id="8" name="Shape 6"/>
          <p:cNvSpPr/>
          <p:nvPr/>
        </p:nvSpPr>
        <p:spPr>
          <a:xfrm>
            <a:off x="859536" y="2162556"/>
            <a:ext cx="100584" cy="100584"/>
          </a:xfrm>
          <a:prstGeom prst="ellipse">
            <a:avLst/>
          </a:prstGeom>
          <a:solidFill>
            <a:srgbClr val="FBBF24"/>
          </a:solidFill>
          <a:ln w="6350">
            <a:solidFill>
              <a:srgbClr val="FBBF24"/>
            </a:solidFill>
            <a:prstDash val="solid"/>
          </a:ln>
        </p:spPr>
      </p:sp>
      <p:sp>
        <p:nvSpPr>
          <p:cNvPr id="9" name="Shape 7"/>
          <p:cNvSpPr/>
          <p:nvPr/>
        </p:nvSpPr>
        <p:spPr>
          <a:xfrm>
            <a:off x="1033272" y="2162556"/>
            <a:ext cx="100584" cy="100584"/>
          </a:xfrm>
          <a:prstGeom prst="ellipse">
            <a:avLst/>
          </a:prstGeom>
          <a:solidFill>
            <a:srgbClr val="34D399"/>
          </a:solidFill>
          <a:ln w="6350">
            <a:solidFill>
              <a:srgbClr val="34D399"/>
            </a:solidFill>
            <a:prstDash val="solid"/>
          </a:ln>
        </p:spPr>
      </p:sp>
      <p:sp>
        <p:nvSpPr>
          <p:cNvPr id="10" name="Text 8"/>
          <p:cNvSpPr/>
          <p:nvPr/>
        </p:nvSpPr>
        <p:spPr>
          <a:xfrm>
            <a:off x="1225296" y="2084832"/>
            <a:ext cx="51663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first run</a:t>
            </a:r>
            <a:endParaRPr lang="en-US" sz="950" dirty="0"/>
          </a:p>
        </p:txBody>
      </p:sp>
      <p:sp>
        <p:nvSpPr>
          <p:cNvPr id="11" name="Text 9"/>
          <p:cNvSpPr/>
          <p:nvPr/>
        </p:nvSpPr>
        <p:spPr>
          <a:xfrm>
            <a:off x="768096" y="2450592"/>
            <a:ext cx="5541264" cy="221284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apply</a:t>
            </a:r>
            <a:endParaRPr lang="en-US" sz="1150" dirty="0"/>
          </a:p>
          <a:p>
            <a:pPr indent="0" marL="0">
              <a:lnSpc>
                <a:spcPts val="1863"/>
              </a:lnSpc>
              <a:buNone/>
            </a:pP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 aws_s3_bucket.data will be created</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 resource "aws_s3_bucket" "data" {</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 bucket = "chiya-data-sagyam"</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a:t>
            </a:r>
            <a:endParaRPr lang="en-US" sz="1150" dirty="0"/>
          </a:p>
          <a:p>
            <a:pPr indent="0" marL="0">
              <a:lnSpc>
                <a:spcPts val="1863"/>
              </a:lnSpc>
              <a:buNone/>
            </a:pPr>
            <a:endParaRPr lang="en-US" sz="1150" dirty="0"/>
          </a:p>
          <a:p>
            <a:pPr indent="0" marL="0">
              <a:lnSpc>
                <a:spcPts val="1863"/>
              </a:lnSpc>
              <a:buNone/>
            </a:pPr>
            <a:r>
              <a:rPr lang="en-US" sz="1150" b="1" dirty="0">
                <a:solidFill>
                  <a:srgbClr val="34D399"/>
                </a:solidFill>
                <a:latin typeface="Courier New" pitchFamily="34" charset="0"/>
                <a:ea typeface="Courier New" pitchFamily="34" charset="-122"/>
                <a:cs typeface="Courier New" pitchFamily="34" charset="-120"/>
              </a:rPr>
              <a:t>Apply complete! 1 added, 0 changed, 0 destroyed.</a:t>
            </a:r>
            <a:endParaRPr lang="en-US" sz="1150" dirty="0"/>
          </a:p>
        </p:txBody>
      </p:sp>
      <p:sp>
        <p:nvSpPr>
          <p:cNvPr id="12" name="Shape 10"/>
          <p:cNvSpPr/>
          <p:nvPr/>
        </p:nvSpPr>
        <p:spPr>
          <a:xfrm>
            <a:off x="6720840" y="2066544"/>
            <a:ext cx="5193792" cy="2743200"/>
          </a:xfrm>
          <a:prstGeom prst="roundRect">
            <a:avLst>
              <a:gd name="adj" fmla="val 2000"/>
            </a:avLst>
          </a:prstGeom>
          <a:solidFill>
            <a:srgbClr val="0F172A"/>
          </a:solidFill>
          <a:ln w="12700">
            <a:solidFill>
              <a:srgbClr val="334155"/>
            </a:solidFill>
            <a:prstDash val="solid"/>
          </a:ln>
        </p:spPr>
      </p:sp>
      <p:sp>
        <p:nvSpPr>
          <p:cNvPr id="13" name="Shape 11"/>
          <p:cNvSpPr/>
          <p:nvPr/>
        </p:nvSpPr>
        <p:spPr>
          <a:xfrm>
            <a:off x="6720840" y="2066544"/>
            <a:ext cx="5193792" cy="292608"/>
          </a:xfrm>
          <a:prstGeom prst="rect">
            <a:avLst/>
          </a:prstGeom>
          <a:solidFill>
            <a:srgbClr val="1E293B"/>
          </a:solidFill>
          <a:ln w="12700">
            <a:solidFill>
              <a:srgbClr val="334155"/>
            </a:solidFill>
            <a:prstDash val="solid"/>
          </a:ln>
        </p:spPr>
      </p:sp>
      <p:sp>
        <p:nvSpPr>
          <p:cNvPr id="14" name="Shape 12"/>
          <p:cNvSpPr/>
          <p:nvPr/>
        </p:nvSpPr>
        <p:spPr>
          <a:xfrm>
            <a:off x="6839712" y="2162556"/>
            <a:ext cx="100584" cy="100584"/>
          </a:xfrm>
          <a:prstGeom prst="ellipse">
            <a:avLst/>
          </a:prstGeom>
          <a:solidFill>
            <a:srgbClr val="F87171"/>
          </a:solidFill>
          <a:ln w="6350">
            <a:solidFill>
              <a:srgbClr val="F87171"/>
            </a:solidFill>
            <a:prstDash val="solid"/>
          </a:ln>
        </p:spPr>
      </p:sp>
      <p:sp>
        <p:nvSpPr>
          <p:cNvPr id="15" name="Shape 13"/>
          <p:cNvSpPr/>
          <p:nvPr/>
        </p:nvSpPr>
        <p:spPr>
          <a:xfrm>
            <a:off x="7013448" y="2162556"/>
            <a:ext cx="100584" cy="100584"/>
          </a:xfrm>
          <a:prstGeom prst="ellipse">
            <a:avLst/>
          </a:prstGeom>
          <a:solidFill>
            <a:srgbClr val="FBBF24"/>
          </a:solidFill>
          <a:ln w="6350">
            <a:solidFill>
              <a:srgbClr val="FBBF24"/>
            </a:solidFill>
            <a:prstDash val="solid"/>
          </a:ln>
        </p:spPr>
      </p:sp>
      <p:sp>
        <p:nvSpPr>
          <p:cNvPr id="16" name="Shape 14"/>
          <p:cNvSpPr/>
          <p:nvPr/>
        </p:nvSpPr>
        <p:spPr>
          <a:xfrm>
            <a:off x="7187184" y="2162556"/>
            <a:ext cx="100584" cy="100584"/>
          </a:xfrm>
          <a:prstGeom prst="ellipse">
            <a:avLst/>
          </a:prstGeom>
          <a:solidFill>
            <a:srgbClr val="34D399"/>
          </a:solidFill>
          <a:ln w="6350">
            <a:solidFill>
              <a:srgbClr val="34D399"/>
            </a:solidFill>
            <a:prstDash val="solid"/>
          </a:ln>
        </p:spPr>
      </p:sp>
      <p:sp>
        <p:nvSpPr>
          <p:cNvPr id="17" name="Text 15"/>
          <p:cNvSpPr/>
          <p:nvPr/>
        </p:nvSpPr>
        <p:spPr>
          <a:xfrm>
            <a:off x="7379208" y="2084832"/>
            <a:ext cx="4416552"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second run — and the fiftieth</a:t>
            </a:r>
            <a:endParaRPr lang="en-US" sz="950" dirty="0"/>
          </a:p>
        </p:txBody>
      </p:sp>
      <p:sp>
        <p:nvSpPr>
          <p:cNvPr id="18" name="Text 16"/>
          <p:cNvSpPr/>
          <p:nvPr/>
        </p:nvSpPr>
        <p:spPr>
          <a:xfrm>
            <a:off x="6922008" y="2450592"/>
            <a:ext cx="4791456" cy="221284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apply</a:t>
            </a:r>
            <a:endParaRPr lang="en-US" sz="1150" dirty="0"/>
          </a:p>
          <a:p>
            <a:pPr indent="0" marL="0">
              <a:lnSpc>
                <a:spcPts val="1863"/>
              </a:lnSpc>
              <a:buNone/>
            </a:pP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No changes. Your infrastructure matches</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the configuration.</a:t>
            </a:r>
            <a:endParaRPr lang="en-US" sz="1150" dirty="0"/>
          </a:p>
          <a:p>
            <a:pPr indent="0" marL="0">
              <a:lnSpc>
                <a:spcPts val="1863"/>
              </a:lnSpc>
              <a:buNone/>
            </a:pPr>
            <a:endParaRPr lang="en-US" sz="1150" dirty="0"/>
          </a:p>
          <a:p>
            <a:pPr indent="0" marL="0">
              <a:lnSpc>
                <a:spcPts val="1863"/>
              </a:lnSpc>
              <a:buNone/>
            </a:pPr>
            <a:r>
              <a:rPr lang="en-US" sz="1150" b="1" dirty="0">
                <a:solidFill>
                  <a:srgbClr val="34D399"/>
                </a:solidFill>
                <a:latin typeface="Courier New" pitchFamily="34" charset="0"/>
                <a:ea typeface="Courier New" pitchFamily="34" charset="-122"/>
                <a:cs typeface="Courier New" pitchFamily="34" charset="-120"/>
              </a:rPr>
              <a:t>Apply complete! 0 added, 0 changed,</a:t>
            </a:r>
            <a:endParaRPr lang="en-US" sz="1150" dirty="0"/>
          </a:p>
          <a:p>
            <a:pPr indent="0" marL="0">
              <a:lnSpc>
                <a:spcPts val="1863"/>
              </a:lnSpc>
              <a:buNone/>
            </a:pPr>
            <a:r>
              <a:rPr lang="en-US" sz="1150" b="1" dirty="0">
                <a:solidFill>
                  <a:srgbClr val="34D399"/>
                </a:solidFill>
                <a:latin typeface="Courier New" pitchFamily="34" charset="0"/>
                <a:ea typeface="Courier New" pitchFamily="34" charset="-122"/>
                <a:cs typeface="Courier New" pitchFamily="34" charset="-120"/>
              </a:rPr>
              <a:t>0 destroyed.</a:t>
            </a:r>
            <a:endParaRPr lang="en-US" sz="1150" dirty="0"/>
          </a:p>
        </p:txBody>
      </p:sp>
      <p:sp>
        <p:nvSpPr>
          <p:cNvPr id="19" name="Shape 17"/>
          <p:cNvSpPr/>
          <p:nvPr/>
        </p:nvSpPr>
        <p:spPr>
          <a:xfrm>
            <a:off x="566928" y="5029200"/>
            <a:ext cx="11073384" cy="914400"/>
          </a:xfrm>
          <a:prstGeom prst="roundRect">
            <a:avLst>
              <a:gd name="adj" fmla="val 5000"/>
            </a:avLst>
          </a:prstGeom>
          <a:solidFill>
            <a:srgbClr val="F0FDFA"/>
          </a:solidFill>
          <a:ln w="12700">
            <a:solidFill>
              <a:srgbClr val="99F6E4"/>
            </a:solidFill>
            <a:prstDash val="solid"/>
          </a:ln>
        </p:spPr>
      </p:sp>
      <p:sp>
        <p:nvSpPr>
          <p:cNvPr id="20" name="Text 18"/>
          <p:cNvSpPr/>
          <p:nvPr/>
        </p:nvSpPr>
        <p:spPr>
          <a:xfrm>
            <a:off x="804672" y="5120640"/>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THE PRACTICAL PAYOFF</a:t>
            </a:r>
            <a:endParaRPr lang="en-US" sz="1000" dirty="0"/>
          </a:p>
        </p:txBody>
      </p:sp>
      <p:sp>
        <p:nvSpPr>
          <p:cNvPr id="21" name="Text 19"/>
          <p:cNvSpPr/>
          <p:nvPr/>
        </p:nvSpPr>
        <p:spPr>
          <a:xfrm>
            <a:off x="804672" y="5330952"/>
            <a:ext cx="10597896" cy="51206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You never have to remember what state a deployment was left in. Ran halfway and crashed? Run it again. Not sure if a colleague already applied? Run it again. “Run it again” is always the safe answer.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PETS AND CATTLE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Mutable vs immutable infrastructure</a:t>
            </a:r>
            <a:endParaRPr lang="en-US" sz="3000" dirty="0"/>
          </a:p>
        </p:txBody>
      </p:sp>
      <p:sp>
        <p:nvSpPr>
          <p:cNvPr id="4" name="Shape 2"/>
          <p:cNvSpPr/>
          <p:nvPr/>
        </p:nvSpPr>
        <p:spPr>
          <a:xfrm>
            <a:off x="566928" y="1417320"/>
            <a:ext cx="5394960" cy="2286000"/>
          </a:xfrm>
          <a:prstGeom prst="roundRect">
            <a:avLst>
              <a:gd name="adj" fmla="val 2000"/>
            </a:avLst>
          </a:prstGeom>
          <a:solidFill>
            <a:srgbClr val="FFFFFF"/>
          </a:solidFill>
          <a:ln w="12700">
            <a:solidFill>
              <a:srgbClr val="E2E8F0"/>
            </a:solidFill>
            <a:prstDash val="solid"/>
          </a:ln>
          <a:effectLst>
            <a:outerShdw sx="100000" sy="100000" kx="0" ky="0" algn="bl" rotWithShape="0" blurRad="101600" dist="12700" dir="5400000">
              <a:srgbClr val="94A3B8">
                <a:alpha val="18000"/>
              </a:srgbClr>
            </a:outerShdw>
          </a:effectLst>
        </p:spPr>
      </p:sp>
      <p:sp>
        <p:nvSpPr>
          <p:cNvPr id="5" name="Shape 3"/>
          <p:cNvSpPr/>
          <p:nvPr/>
        </p:nvSpPr>
        <p:spPr>
          <a:xfrm>
            <a:off x="804672" y="1655064"/>
            <a:ext cx="566928" cy="566928"/>
          </a:xfrm>
          <a:prstGeom prst="ellipse">
            <a:avLst/>
          </a:prstGeom>
          <a:solidFill>
            <a:srgbClr val="FFF7ED"/>
          </a:solidFill>
          <a:ln w="11430">
            <a:solidFill>
              <a:srgbClr val="F97316"/>
            </a:solidFill>
            <a:prstDash val="solid"/>
          </a:ln>
        </p:spPr>
      </p:sp>
      <p:pic>
        <p:nvPicPr>
          <p:cNvPr id="6" name="Image 0" descr="preencoded.png">    </p:cNvPr>
          <p:cNvPicPr>
            <a:picLocks noChangeAspect="1"/>
          </p:cNvPicPr>
          <p:nvPr/>
        </p:nvPicPr>
        <p:blipFill>
          <a:blip r:embed="rId1"/>
          <a:stretch>
            <a:fillRect/>
          </a:stretch>
        </p:blipFill>
        <p:spPr>
          <a:xfrm>
            <a:off x="941832" y="1792224"/>
            <a:ext cx="292608" cy="292608"/>
          </a:xfrm>
          <a:prstGeom prst="rect">
            <a:avLst/>
          </a:prstGeom>
        </p:spPr>
      </p:pic>
      <p:sp>
        <p:nvSpPr>
          <p:cNvPr id="7" name="Text 4"/>
          <p:cNvSpPr/>
          <p:nvPr/>
        </p:nvSpPr>
        <p:spPr>
          <a:xfrm>
            <a:off x="1499616" y="1691640"/>
            <a:ext cx="4242816"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Mutable  —  upgrade in place</a:t>
            </a:r>
            <a:endParaRPr lang="en-US" sz="1450" dirty="0"/>
          </a:p>
        </p:txBody>
      </p:sp>
      <p:sp>
        <p:nvSpPr>
          <p:cNvPr id="8" name="Text 5"/>
          <p:cNvSpPr/>
          <p:nvPr/>
        </p:nvSpPr>
        <p:spPr>
          <a:xfrm>
            <a:off x="822960" y="2331720"/>
            <a:ext cx="4882896" cy="1188720"/>
          </a:xfrm>
          <a:prstGeom prst="rect">
            <a:avLst/>
          </a:prstGeom>
          <a:noFill/>
          <a:ln/>
        </p:spPr>
        <p:txBody>
          <a:bodyPr wrap="square" lIns="0" tIns="0" rIns="0" bIns="0" rtlCol="0" anchor="t"/>
          <a:lstStyle/>
          <a:p>
            <a:pPr indent="0" marL="0">
              <a:lnSpc>
                <a:spcPts val="1704"/>
              </a:lnSpc>
              <a:buNone/>
            </a:pPr>
            <a:r>
              <a:rPr lang="en-US" sz="1200" dirty="0">
                <a:solidFill>
                  <a:srgbClr val="334155"/>
                </a:solidFill>
                <a:latin typeface="Calibri" pitchFamily="34" charset="0"/>
                <a:ea typeface="Calibri" pitchFamily="34" charset="-122"/>
                <a:cs typeface="Calibri" pitchFamily="34" charset="-120"/>
              </a:rPr>
              <a:t>SSH in, patch the package, restart the service. The server keeps its identity and accumulates history.</a:t>
            </a:r>
            <a:endParaRPr lang="en-US" sz="1200" dirty="0"/>
          </a:p>
          <a:p>
            <a:pPr indent="0" marL="0">
              <a:lnSpc>
                <a:spcPts val="1704"/>
              </a:lnSpc>
              <a:buNone/>
            </a:pPr>
            <a:endParaRPr lang="en-US" sz="1200" dirty="0"/>
          </a:p>
          <a:p>
            <a:pPr indent="0" marL="0">
              <a:lnSpc>
                <a:spcPts val="1704"/>
              </a:lnSpc>
              <a:buNone/>
            </a:pPr>
            <a:r>
              <a:rPr lang="en-US" sz="1200" dirty="0">
                <a:solidFill>
                  <a:srgbClr val="334155"/>
                </a:solidFill>
                <a:latin typeface="Calibri" pitchFamily="34" charset="0"/>
                <a:ea typeface="Calibri" pitchFamily="34" charset="-122"/>
                <a:cs typeface="Calibri" pitchFamily="34" charset="-120"/>
              </a:rPr>
              <a:t>After a year, no two servers have had the same sequence of changes applied. This is how snowflakes are born.</a:t>
            </a:r>
            <a:endParaRPr lang="en-US" sz="1200" dirty="0"/>
          </a:p>
        </p:txBody>
      </p:sp>
      <p:sp>
        <p:nvSpPr>
          <p:cNvPr id="9" name="Shape 6"/>
          <p:cNvSpPr/>
          <p:nvPr/>
        </p:nvSpPr>
        <p:spPr>
          <a:xfrm>
            <a:off x="6382512" y="1417320"/>
            <a:ext cx="5532120" cy="2286000"/>
          </a:xfrm>
          <a:prstGeom prst="roundRect">
            <a:avLst>
              <a:gd name="adj" fmla="val 2000"/>
            </a:avLst>
          </a:prstGeom>
          <a:solidFill>
            <a:srgbClr val="FFFFFF"/>
          </a:solidFill>
          <a:ln w="12700">
            <a:solidFill>
              <a:srgbClr val="E2E8F0"/>
            </a:solidFill>
            <a:prstDash val="solid"/>
          </a:ln>
          <a:effectLst>
            <a:outerShdw sx="100000" sy="100000" kx="0" ky="0" algn="bl" rotWithShape="0" blurRad="101600" dist="12700" dir="5400000">
              <a:srgbClr val="94A3B8">
                <a:alpha val="18000"/>
              </a:srgbClr>
            </a:outerShdw>
          </a:effectLst>
        </p:spPr>
      </p:sp>
      <p:sp>
        <p:nvSpPr>
          <p:cNvPr id="10" name="Shape 7"/>
          <p:cNvSpPr/>
          <p:nvPr/>
        </p:nvSpPr>
        <p:spPr>
          <a:xfrm>
            <a:off x="6620256" y="1655064"/>
            <a:ext cx="566928" cy="566928"/>
          </a:xfrm>
          <a:prstGeom prst="ellipse">
            <a:avLst/>
          </a:prstGeom>
          <a:solidFill>
            <a:srgbClr val="F0FDFA"/>
          </a:solidFill>
          <a:ln w="11430">
            <a:solidFill>
              <a:srgbClr val="0D9488"/>
            </a:solidFill>
            <a:prstDash val="solid"/>
          </a:ln>
        </p:spPr>
      </p:sp>
      <p:pic>
        <p:nvPicPr>
          <p:cNvPr id="11" name="Image 1" descr="preencoded.png">    </p:cNvPr>
          <p:cNvPicPr>
            <a:picLocks noChangeAspect="1"/>
          </p:cNvPicPr>
          <p:nvPr/>
        </p:nvPicPr>
        <p:blipFill>
          <a:blip r:embed="rId2"/>
          <a:stretch>
            <a:fillRect/>
          </a:stretch>
        </p:blipFill>
        <p:spPr>
          <a:xfrm>
            <a:off x="6757416" y="1792224"/>
            <a:ext cx="292608" cy="292608"/>
          </a:xfrm>
          <a:prstGeom prst="rect">
            <a:avLst/>
          </a:prstGeom>
        </p:spPr>
      </p:pic>
      <p:sp>
        <p:nvSpPr>
          <p:cNvPr id="12" name="Text 8"/>
          <p:cNvSpPr/>
          <p:nvPr/>
        </p:nvSpPr>
        <p:spPr>
          <a:xfrm>
            <a:off x="7315200" y="1691640"/>
            <a:ext cx="4379976"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Immutable  —  replace, don’t repair</a:t>
            </a:r>
            <a:endParaRPr lang="en-US" sz="1450" dirty="0"/>
          </a:p>
        </p:txBody>
      </p:sp>
      <p:sp>
        <p:nvSpPr>
          <p:cNvPr id="13" name="Text 9"/>
          <p:cNvSpPr/>
          <p:nvPr/>
        </p:nvSpPr>
        <p:spPr>
          <a:xfrm>
            <a:off x="6638544" y="2331720"/>
            <a:ext cx="5020056" cy="1188720"/>
          </a:xfrm>
          <a:prstGeom prst="rect">
            <a:avLst/>
          </a:prstGeom>
          <a:noFill/>
          <a:ln/>
        </p:spPr>
        <p:txBody>
          <a:bodyPr wrap="square" lIns="0" tIns="0" rIns="0" bIns="0" rtlCol="0" anchor="t"/>
          <a:lstStyle/>
          <a:p>
            <a:pPr indent="0" marL="0">
              <a:lnSpc>
                <a:spcPts val="1704"/>
              </a:lnSpc>
              <a:buNone/>
            </a:pPr>
            <a:r>
              <a:rPr lang="en-US" sz="1200" dirty="0">
                <a:solidFill>
                  <a:srgbClr val="334155"/>
                </a:solidFill>
                <a:latin typeface="Calibri" pitchFamily="34" charset="0"/>
                <a:ea typeface="Calibri" pitchFamily="34" charset="-122"/>
                <a:cs typeface="Calibri" pitchFamily="34" charset="-120"/>
              </a:rPr>
              <a:t>Build a new image, launch new instances from it, shift traffic, delete the old ones. Nothing is ever modified after creation.</a:t>
            </a:r>
            <a:endParaRPr lang="en-US" sz="1200" dirty="0"/>
          </a:p>
          <a:p>
            <a:pPr indent="0" marL="0">
              <a:lnSpc>
                <a:spcPts val="1704"/>
              </a:lnSpc>
              <a:buNone/>
            </a:pPr>
            <a:endParaRPr lang="en-US" sz="1200" dirty="0"/>
          </a:p>
          <a:p>
            <a:pPr indent="0" marL="0">
              <a:lnSpc>
                <a:spcPts val="1704"/>
              </a:lnSpc>
              <a:buNone/>
            </a:pPr>
            <a:r>
              <a:rPr lang="en-US" sz="1200" dirty="0">
                <a:solidFill>
                  <a:srgbClr val="334155"/>
                </a:solidFill>
                <a:latin typeface="Calibri" pitchFamily="34" charset="0"/>
                <a:ea typeface="Calibri" pitchFamily="34" charset="-122"/>
                <a:cs typeface="Calibri" pitchFamily="34" charset="-120"/>
              </a:rPr>
              <a:t>Rollback is trivial: the previous version still exists and still works.</a:t>
            </a:r>
            <a:endParaRPr lang="en-US" sz="1200" dirty="0"/>
          </a:p>
        </p:txBody>
      </p:sp>
      <p:sp>
        <p:nvSpPr>
          <p:cNvPr id="14" name="Shape 10"/>
          <p:cNvSpPr/>
          <p:nvPr/>
        </p:nvSpPr>
        <p:spPr>
          <a:xfrm>
            <a:off x="566928" y="3950208"/>
            <a:ext cx="11073384" cy="1371600"/>
          </a:xfrm>
          <a:prstGeom prst="roundRect">
            <a:avLst>
              <a:gd name="adj" fmla="val 3333"/>
            </a:avLst>
          </a:prstGeom>
          <a:solidFill>
            <a:srgbClr val="FFFFFF"/>
          </a:solidFill>
          <a:ln w="12700">
            <a:solidFill>
              <a:srgbClr val="E2E8F0"/>
            </a:solidFill>
            <a:prstDash val="solid"/>
          </a:ln>
        </p:spPr>
      </p:sp>
      <p:sp>
        <p:nvSpPr>
          <p:cNvPr id="15" name="Text 11"/>
          <p:cNvSpPr/>
          <p:nvPr/>
        </p:nvSpPr>
        <p:spPr>
          <a:xfrm>
            <a:off x="841248" y="4078224"/>
            <a:ext cx="1051560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You have already been doing this</a:t>
            </a:r>
            <a:endParaRPr lang="en-US" sz="1400" dirty="0"/>
          </a:p>
        </p:txBody>
      </p:sp>
      <p:sp>
        <p:nvSpPr>
          <p:cNvPr id="16" name="Text 12"/>
          <p:cNvSpPr/>
          <p:nvPr/>
        </p:nvSpPr>
        <p:spPr>
          <a:xfrm>
            <a:off x="841248" y="4389120"/>
            <a:ext cx="10515600" cy="804672"/>
          </a:xfrm>
          <a:prstGeom prst="rect">
            <a:avLst/>
          </a:prstGeom>
          <a:noFill/>
          <a:ln/>
        </p:spPr>
        <p:txBody>
          <a:bodyPr wrap="square" lIns="0" tIns="0" rIns="0" bIns="0" rtlCol="0" anchor="ctr"/>
          <a:lstStyle/>
          <a:p>
            <a:pPr indent="0" marL="0">
              <a:lnSpc>
                <a:spcPts val="1800"/>
              </a:lnSpc>
              <a:buNone/>
            </a:pPr>
            <a:r>
              <a:rPr lang="en-US" sz="1250" dirty="0">
                <a:solidFill>
                  <a:srgbClr val="334155"/>
                </a:solidFill>
                <a:latin typeface="Calibri" pitchFamily="34" charset="0"/>
                <a:ea typeface="Calibri" pitchFamily="34" charset="-122"/>
                <a:cs typeface="Calibri" pitchFamily="34" charset="-120"/>
              </a:rPr>
              <a:t>A container image is immutable infrastructure. You never patch a running container — you build a new image, push a new tag, and roll out. Terraform brings that same instinct up a level, to the servers, networks and clusters underneath.</a:t>
            </a:r>
            <a:endParaRPr lang="en-US" sz="1250" dirty="0"/>
          </a:p>
        </p:txBody>
      </p:sp>
      <p:sp>
        <p:nvSpPr>
          <p:cNvPr id="17" name="Shape 13"/>
          <p:cNvSpPr/>
          <p:nvPr/>
        </p:nvSpPr>
        <p:spPr>
          <a:xfrm>
            <a:off x="566928" y="5541264"/>
            <a:ext cx="1221638" cy="310896"/>
          </a:xfrm>
          <a:prstGeom prst="roundRect">
            <a:avLst>
              <a:gd name="adj" fmla="val 47059"/>
            </a:avLst>
          </a:prstGeom>
          <a:solidFill>
            <a:srgbClr val="F0FDFA"/>
          </a:solidFill>
          <a:ln w="10795">
            <a:solidFill>
              <a:srgbClr val="0D9488"/>
            </a:solidFill>
            <a:prstDash val="solid"/>
          </a:ln>
        </p:spPr>
      </p:sp>
      <p:sp>
        <p:nvSpPr>
          <p:cNvPr id="18" name="Text 14"/>
          <p:cNvSpPr/>
          <p:nvPr/>
        </p:nvSpPr>
        <p:spPr>
          <a:xfrm>
            <a:off x="566928" y="5541264"/>
            <a:ext cx="1221638" cy="310896"/>
          </a:xfrm>
          <a:prstGeom prst="rect">
            <a:avLst/>
          </a:prstGeom>
          <a:noFill/>
          <a:ln/>
        </p:spPr>
        <p:txBody>
          <a:bodyPr wrap="square" lIns="0" tIns="0" rIns="0" bIns="0" rtlCol="0" anchor="ctr"/>
          <a:lstStyle/>
          <a:p>
            <a:pPr algn="ctr" indent="0" marL="0">
              <a:buNone/>
            </a:pPr>
            <a:r>
              <a:rPr lang="en-US" sz="1050" dirty="0">
                <a:solidFill>
                  <a:srgbClr val="0D9488"/>
                </a:solidFill>
                <a:latin typeface="Courier New" pitchFamily="34" charset="0"/>
                <a:ea typeface="Courier New" pitchFamily="34" charset="-122"/>
                <a:cs typeface="Courier New" pitchFamily="34" charset="-120"/>
              </a:rPr>
              <a:t>docker build</a:t>
            </a:r>
            <a:endParaRPr lang="en-US" sz="1050" dirty="0"/>
          </a:p>
        </p:txBody>
      </p:sp>
      <p:sp>
        <p:nvSpPr>
          <p:cNvPr id="19" name="Shape 15"/>
          <p:cNvSpPr/>
          <p:nvPr/>
        </p:nvSpPr>
        <p:spPr>
          <a:xfrm>
            <a:off x="1953158" y="5541264"/>
            <a:ext cx="899770" cy="310896"/>
          </a:xfrm>
          <a:prstGeom prst="roundRect">
            <a:avLst>
              <a:gd name="adj" fmla="val 47059"/>
            </a:avLst>
          </a:prstGeom>
          <a:solidFill>
            <a:srgbClr val="F0FDFA"/>
          </a:solidFill>
          <a:ln w="10795">
            <a:solidFill>
              <a:srgbClr val="0D9488"/>
            </a:solidFill>
            <a:prstDash val="solid"/>
          </a:ln>
        </p:spPr>
      </p:sp>
      <p:sp>
        <p:nvSpPr>
          <p:cNvPr id="20" name="Text 16"/>
          <p:cNvSpPr/>
          <p:nvPr/>
        </p:nvSpPr>
        <p:spPr>
          <a:xfrm>
            <a:off x="1953158" y="5541264"/>
            <a:ext cx="899770" cy="310896"/>
          </a:xfrm>
          <a:prstGeom prst="rect">
            <a:avLst/>
          </a:prstGeom>
          <a:noFill/>
          <a:ln/>
        </p:spPr>
        <p:txBody>
          <a:bodyPr wrap="square" lIns="0" tIns="0" rIns="0" bIns="0" rtlCol="0" anchor="ctr"/>
          <a:lstStyle/>
          <a:p>
            <a:pPr algn="ctr" indent="0" marL="0">
              <a:buNone/>
            </a:pPr>
            <a:r>
              <a:rPr lang="en-US" sz="1050" dirty="0">
                <a:solidFill>
                  <a:srgbClr val="0D9488"/>
                </a:solidFill>
                <a:latin typeface="Courier New" pitchFamily="34" charset="0"/>
                <a:ea typeface="Courier New" pitchFamily="34" charset="-122"/>
                <a:cs typeface="Courier New" pitchFamily="34" charset="-120"/>
              </a:rPr>
              <a:t>push :v2</a:t>
            </a:r>
            <a:endParaRPr lang="en-US" sz="1050" dirty="0"/>
          </a:p>
        </p:txBody>
      </p:sp>
      <p:sp>
        <p:nvSpPr>
          <p:cNvPr id="21" name="Shape 17"/>
          <p:cNvSpPr/>
          <p:nvPr/>
        </p:nvSpPr>
        <p:spPr>
          <a:xfrm>
            <a:off x="3017520" y="5541264"/>
            <a:ext cx="1463040" cy="310896"/>
          </a:xfrm>
          <a:prstGeom prst="roundRect">
            <a:avLst>
              <a:gd name="adj" fmla="val 47059"/>
            </a:avLst>
          </a:prstGeom>
          <a:solidFill>
            <a:srgbClr val="EAF1FD"/>
          </a:solidFill>
          <a:ln w="10795">
            <a:solidFill>
              <a:srgbClr val="326CE5"/>
            </a:solidFill>
            <a:prstDash val="solid"/>
          </a:ln>
        </p:spPr>
      </p:sp>
      <p:sp>
        <p:nvSpPr>
          <p:cNvPr id="22" name="Text 18"/>
          <p:cNvSpPr/>
          <p:nvPr/>
        </p:nvSpPr>
        <p:spPr>
          <a:xfrm>
            <a:off x="3017520" y="5541264"/>
            <a:ext cx="1463040" cy="310896"/>
          </a:xfrm>
          <a:prstGeom prst="rect">
            <a:avLst/>
          </a:prstGeom>
          <a:noFill/>
          <a:ln/>
        </p:spPr>
        <p:txBody>
          <a:bodyPr wrap="square" lIns="0" tIns="0" rIns="0" bIns="0" rtlCol="0" anchor="ctr"/>
          <a:lstStyle/>
          <a:p>
            <a:pPr algn="ctr" indent="0" marL="0">
              <a:buNone/>
            </a:pPr>
            <a:r>
              <a:rPr lang="en-US" sz="1050" dirty="0">
                <a:solidFill>
                  <a:srgbClr val="326CE5"/>
                </a:solidFill>
                <a:latin typeface="Courier New" pitchFamily="34" charset="0"/>
                <a:ea typeface="Courier New" pitchFamily="34" charset="-122"/>
                <a:cs typeface="Courier New" pitchFamily="34" charset="-120"/>
              </a:rPr>
              <a:t>kubectl rollout</a:t>
            </a:r>
            <a:endParaRPr lang="en-US" sz="1050" dirty="0"/>
          </a:p>
        </p:txBody>
      </p:sp>
      <p:sp>
        <p:nvSpPr>
          <p:cNvPr id="23" name="Shape 19"/>
          <p:cNvSpPr/>
          <p:nvPr/>
        </p:nvSpPr>
        <p:spPr>
          <a:xfrm>
            <a:off x="4645152" y="5541264"/>
            <a:ext cx="1463040" cy="310896"/>
          </a:xfrm>
          <a:prstGeom prst="roundRect">
            <a:avLst>
              <a:gd name="adj" fmla="val 47059"/>
            </a:avLst>
          </a:prstGeom>
          <a:solidFill>
            <a:srgbClr val="F4EDFB"/>
          </a:solidFill>
          <a:ln w="10795">
            <a:solidFill>
              <a:srgbClr val="7B42BC"/>
            </a:solidFill>
            <a:prstDash val="solid"/>
          </a:ln>
        </p:spPr>
      </p:sp>
      <p:sp>
        <p:nvSpPr>
          <p:cNvPr id="24" name="Text 20"/>
          <p:cNvSpPr/>
          <p:nvPr/>
        </p:nvSpPr>
        <p:spPr>
          <a:xfrm>
            <a:off x="4645152" y="5541264"/>
            <a:ext cx="1463040" cy="310896"/>
          </a:xfrm>
          <a:prstGeom prst="rect">
            <a:avLst/>
          </a:prstGeom>
          <a:noFill/>
          <a:ln/>
        </p:spPr>
        <p:txBody>
          <a:bodyPr wrap="square" lIns="0" tIns="0" rIns="0" bIns="0" rtlCol="0" anchor="ctr"/>
          <a:lstStyle/>
          <a:p>
            <a:pPr algn="ctr" indent="0" marL="0">
              <a:buNone/>
            </a:pPr>
            <a:r>
              <a:rPr lang="en-US" sz="1050" dirty="0">
                <a:solidFill>
                  <a:srgbClr val="7B42BC"/>
                </a:solidFill>
                <a:latin typeface="Courier New" pitchFamily="34" charset="0"/>
                <a:ea typeface="Courier New" pitchFamily="34" charset="-122"/>
                <a:cs typeface="Courier New" pitchFamily="34" charset="-120"/>
              </a:rPr>
              <a:t>terraform apply</a:t>
            </a:r>
            <a:endParaRPr lang="en-US" sz="1050" dirty="0"/>
          </a:p>
        </p:txBody>
      </p:sp>
      <p:sp>
        <p:nvSpPr>
          <p:cNvPr id="25" name="Text 21"/>
          <p:cNvSpPr/>
          <p:nvPr/>
        </p:nvSpPr>
        <p:spPr>
          <a:xfrm>
            <a:off x="566928" y="614476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Terraform makes replacement cheap enough to prefer. Cheap replacement is what makes immutability practical.</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TERRAFORM AND ANSIBLE ARE NOT COMPETITORS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Provisioning vs configuration management</a:t>
            </a:r>
            <a:endParaRPr lang="en-US" sz="3000" dirty="0"/>
          </a:p>
        </p:txBody>
      </p:sp>
      <p:sp>
        <p:nvSpPr>
          <p:cNvPr id="4" name="Shape 2"/>
          <p:cNvSpPr/>
          <p:nvPr/>
        </p:nvSpPr>
        <p:spPr>
          <a:xfrm>
            <a:off x="566928" y="1417320"/>
            <a:ext cx="5394960" cy="3246120"/>
          </a:xfrm>
          <a:prstGeom prst="roundRect">
            <a:avLst>
              <a:gd name="adj" fmla="val 1408"/>
            </a:avLst>
          </a:prstGeom>
          <a:solidFill>
            <a:srgbClr val="FFFFFF"/>
          </a:solidFill>
          <a:ln w="15875">
            <a:solidFill>
              <a:srgbClr val="DCC6F0"/>
            </a:solidFill>
            <a:prstDash val="solid"/>
          </a:ln>
        </p:spPr>
      </p:sp>
      <p:sp>
        <p:nvSpPr>
          <p:cNvPr id="5" name="Shape 3"/>
          <p:cNvSpPr/>
          <p:nvPr/>
        </p:nvSpPr>
        <p:spPr>
          <a:xfrm>
            <a:off x="822960" y="1664208"/>
            <a:ext cx="548640" cy="548640"/>
          </a:xfrm>
          <a:prstGeom prst="ellipse">
            <a:avLst/>
          </a:prstGeom>
          <a:solidFill>
            <a:srgbClr val="F4EDFB"/>
          </a:solidFill>
          <a:ln w="12700">
            <a:solidFill>
              <a:srgbClr val="7B42BC"/>
            </a:solidFill>
            <a:prstDash val="solid"/>
          </a:ln>
        </p:spPr>
      </p:sp>
      <p:pic>
        <p:nvPicPr>
          <p:cNvPr id="6" name="Image 0" descr="preencoded.png">    </p:cNvPr>
          <p:cNvPicPr>
            <a:picLocks noChangeAspect="1"/>
          </p:cNvPicPr>
          <p:nvPr/>
        </p:nvPicPr>
        <p:blipFill>
          <a:blip r:embed="rId1"/>
          <a:stretch>
            <a:fillRect/>
          </a:stretch>
        </p:blipFill>
        <p:spPr>
          <a:xfrm>
            <a:off x="960120" y="1801368"/>
            <a:ext cx="274320" cy="274320"/>
          </a:xfrm>
          <a:prstGeom prst="rect">
            <a:avLst/>
          </a:prstGeom>
        </p:spPr>
      </p:pic>
      <p:sp>
        <p:nvSpPr>
          <p:cNvPr id="7" name="Text 4"/>
          <p:cNvSpPr/>
          <p:nvPr/>
        </p:nvSpPr>
        <p:spPr>
          <a:xfrm>
            <a:off x="1499616" y="1700784"/>
            <a:ext cx="4206240"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Provisioning</a:t>
            </a:r>
            <a:endParaRPr lang="en-US" sz="1600" dirty="0"/>
          </a:p>
        </p:txBody>
      </p:sp>
      <p:sp>
        <p:nvSpPr>
          <p:cNvPr id="8" name="Text 5"/>
          <p:cNvSpPr/>
          <p:nvPr/>
        </p:nvSpPr>
        <p:spPr>
          <a:xfrm>
            <a:off x="1499616" y="1975104"/>
            <a:ext cx="420624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Creates the things that did not exist.</a:t>
            </a:r>
            <a:endParaRPr lang="en-US" sz="1200" dirty="0"/>
          </a:p>
        </p:txBody>
      </p:sp>
      <p:sp>
        <p:nvSpPr>
          <p:cNvPr id="9" name="Text 6"/>
          <p:cNvSpPr/>
          <p:nvPr/>
        </p:nvSpPr>
        <p:spPr>
          <a:xfrm>
            <a:off x="877824" y="2432304"/>
            <a:ext cx="4754880" cy="20116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VPCs, subnets, security groups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EC2 instances, EBS volumes, load balancers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IAM roles, policies, OIDC providers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S3 buckets, ECR repositories, EKS clusters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DNS records, certificates, alarms</a:t>
            </a:r>
            <a:endParaRPr lang="en-US" sz="1250" dirty="0"/>
          </a:p>
        </p:txBody>
      </p:sp>
      <p:sp>
        <p:nvSpPr>
          <p:cNvPr id="10" name="Shape 7"/>
          <p:cNvSpPr/>
          <p:nvPr/>
        </p:nvSpPr>
        <p:spPr>
          <a:xfrm>
            <a:off x="6382512" y="1417320"/>
            <a:ext cx="5532120" cy="3246120"/>
          </a:xfrm>
          <a:prstGeom prst="roundRect">
            <a:avLst>
              <a:gd name="adj" fmla="val 1408"/>
            </a:avLst>
          </a:prstGeom>
          <a:solidFill>
            <a:srgbClr val="FFFFFF"/>
          </a:solidFill>
          <a:ln w="15875">
            <a:solidFill>
              <a:srgbClr val="E2E8F0"/>
            </a:solidFill>
            <a:prstDash val="solid"/>
          </a:ln>
        </p:spPr>
      </p:sp>
      <p:sp>
        <p:nvSpPr>
          <p:cNvPr id="11" name="Shape 8"/>
          <p:cNvSpPr/>
          <p:nvPr/>
        </p:nvSpPr>
        <p:spPr>
          <a:xfrm>
            <a:off x="6638544" y="1664208"/>
            <a:ext cx="548640" cy="548640"/>
          </a:xfrm>
          <a:prstGeom prst="ellipse">
            <a:avLst/>
          </a:prstGeom>
          <a:solidFill>
            <a:srgbClr val="F0FDFA"/>
          </a:solidFill>
          <a:ln w="1270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6775704" y="1801368"/>
            <a:ext cx="274320" cy="274320"/>
          </a:xfrm>
          <a:prstGeom prst="rect">
            <a:avLst/>
          </a:prstGeom>
        </p:spPr>
      </p:pic>
      <p:sp>
        <p:nvSpPr>
          <p:cNvPr id="13" name="Text 9"/>
          <p:cNvSpPr/>
          <p:nvPr/>
        </p:nvSpPr>
        <p:spPr>
          <a:xfrm>
            <a:off x="7315200" y="1700784"/>
            <a:ext cx="4389120"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Configuration management</a:t>
            </a:r>
            <a:endParaRPr lang="en-US" sz="1600" dirty="0"/>
          </a:p>
        </p:txBody>
      </p:sp>
      <p:sp>
        <p:nvSpPr>
          <p:cNvPr id="14" name="Text 10"/>
          <p:cNvSpPr/>
          <p:nvPr/>
        </p:nvSpPr>
        <p:spPr>
          <a:xfrm>
            <a:off x="7315200" y="1975104"/>
            <a:ext cx="438912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Shapes what is inside the thing.</a:t>
            </a:r>
            <a:endParaRPr lang="en-US" sz="1200" dirty="0"/>
          </a:p>
        </p:txBody>
      </p:sp>
      <p:sp>
        <p:nvSpPr>
          <p:cNvPr id="15" name="Text 11"/>
          <p:cNvSpPr/>
          <p:nvPr/>
        </p:nvSpPr>
        <p:spPr>
          <a:xfrm>
            <a:off x="6693408" y="2432304"/>
            <a:ext cx="4937760" cy="201168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Installing and pinning packages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Writing config files from templates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Managing users, groups and permissions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Enabling and restarting systemd services</a:t>
            </a:r>
            <a:endParaRPr lang="en-US" sz="1250" dirty="0"/>
          </a:p>
          <a:p>
            <a:pPr marL="342900" indent="-342900">
              <a:spcAft>
                <a:spcPts val="700"/>
              </a:spcAft>
              <a:buSzPct val="100000"/>
              <a:buChar char="•"/>
            </a:pPr>
            <a:r>
              <a:rPr lang="en-US" sz="1250" dirty="0">
                <a:solidFill>
                  <a:srgbClr val="334155"/>
                </a:solidFill>
                <a:latin typeface="Calibri" pitchFamily="34" charset="0"/>
                <a:ea typeface="Calibri" pitchFamily="34" charset="-122"/>
                <a:cs typeface="Calibri" pitchFamily="34" charset="-120"/>
              </a:rPr>
              <a:t>Deploying application artefacts</a:t>
            </a:r>
            <a:endParaRPr lang="en-US" sz="1250" dirty="0"/>
          </a:p>
        </p:txBody>
      </p:sp>
      <p:sp>
        <p:nvSpPr>
          <p:cNvPr id="16" name="Shape 12"/>
          <p:cNvSpPr/>
          <p:nvPr/>
        </p:nvSpPr>
        <p:spPr>
          <a:xfrm>
            <a:off x="566928" y="4956048"/>
            <a:ext cx="11073384" cy="1024128"/>
          </a:xfrm>
          <a:prstGeom prst="roundRect">
            <a:avLst>
              <a:gd name="adj" fmla="val 4464"/>
            </a:avLst>
          </a:prstGeom>
          <a:solidFill>
            <a:srgbClr val="F0FDFA"/>
          </a:solidFill>
          <a:ln w="12700">
            <a:solidFill>
              <a:srgbClr val="99F6E4"/>
            </a:solidFill>
            <a:prstDash val="solid"/>
          </a:ln>
        </p:spPr>
      </p:sp>
      <p:sp>
        <p:nvSpPr>
          <p:cNvPr id="17" name="Text 13"/>
          <p:cNvSpPr/>
          <p:nvPr/>
        </p:nvSpPr>
        <p:spPr>
          <a:xfrm>
            <a:off x="804672" y="5047488"/>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HOW THEY FIT TOGETHER</a:t>
            </a:r>
            <a:endParaRPr lang="en-US" sz="1000" dirty="0"/>
          </a:p>
        </p:txBody>
      </p:sp>
      <p:sp>
        <p:nvSpPr>
          <p:cNvPr id="18" name="Text 14"/>
          <p:cNvSpPr/>
          <p:nvPr/>
        </p:nvSpPr>
        <p:spPr>
          <a:xfrm>
            <a:off x="804672" y="5257800"/>
            <a:ext cx="10597896" cy="62179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Terraform creates the EC2 instance; Ansible configures what runs on it. In practice the seam is moving: with containers, the “inside” is baked into an image at build time, so Terraform provisions the cluster and the image carries the configuration.</a:t>
            </a:r>
            <a:endParaRPr lang="en-US" sz="1300" dirty="0"/>
          </a:p>
        </p:txBody>
      </p:sp>
      <p:sp>
        <p:nvSpPr>
          <p:cNvPr id="19" name="Text 15"/>
          <p:cNvSpPr/>
          <p:nvPr/>
        </p:nvSpPr>
        <p:spPr>
          <a:xfrm>
            <a:off x="566928" y="6163056"/>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Both tools overlap at the edges. Overlap is not a reason to pick one and force it to do everything.</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KNOW WHAT ELSE IS OUT THERE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The IaC tool landscape</a:t>
            </a:r>
            <a:endParaRPr lang="en-US" sz="3000" dirty="0"/>
          </a:p>
        </p:txBody>
      </p:sp>
      <p:sp>
        <p:nvSpPr>
          <p:cNvPr id="4" name="Shape 2"/>
          <p:cNvSpPr/>
          <p:nvPr/>
        </p:nvSpPr>
        <p:spPr>
          <a:xfrm>
            <a:off x="566928" y="1389888"/>
            <a:ext cx="11073384" cy="384048"/>
          </a:xfrm>
          <a:prstGeom prst="rect">
            <a:avLst/>
          </a:prstGeom>
          <a:solidFill>
            <a:srgbClr val="0F172A"/>
          </a:solidFill>
          <a:ln w="6350">
            <a:solidFill>
              <a:srgbClr val="0F172A"/>
            </a:solidFill>
            <a:prstDash val="solid"/>
          </a:ln>
        </p:spPr>
      </p:sp>
      <p:sp>
        <p:nvSpPr>
          <p:cNvPr id="5" name="Text 3"/>
          <p:cNvSpPr/>
          <p:nvPr/>
        </p:nvSpPr>
        <p:spPr>
          <a:xfrm>
            <a:off x="713232" y="1389888"/>
            <a:ext cx="206654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TOOL</a:t>
            </a:r>
            <a:endParaRPr lang="en-US" sz="1100" dirty="0"/>
          </a:p>
        </p:txBody>
      </p:sp>
      <p:sp>
        <p:nvSpPr>
          <p:cNvPr id="6" name="Text 4"/>
          <p:cNvSpPr/>
          <p:nvPr/>
        </p:nvSpPr>
        <p:spPr>
          <a:xfrm>
            <a:off x="2999232" y="1389888"/>
            <a:ext cx="170078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SCOPE</a:t>
            </a:r>
            <a:endParaRPr lang="en-US" sz="1100" dirty="0"/>
          </a:p>
        </p:txBody>
      </p:sp>
      <p:sp>
        <p:nvSpPr>
          <p:cNvPr id="7" name="Text 5"/>
          <p:cNvSpPr/>
          <p:nvPr/>
        </p:nvSpPr>
        <p:spPr>
          <a:xfrm>
            <a:off x="4919472" y="1389888"/>
            <a:ext cx="343814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LANGUAGE</a:t>
            </a:r>
            <a:endParaRPr lang="en-US" sz="1100" dirty="0"/>
          </a:p>
        </p:txBody>
      </p:sp>
      <p:sp>
        <p:nvSpPr>
          <p:cNvPr id="8" name="Text 6"/>
          <p:cNvSpPr/>
          <p:nvPr/>
        </p:nvSpPr>
        <p:spPr>
          <a:xfrm>
            <a:off x="8577072" y="1389888"/>
            <a:ext cx="2990088"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PICK IT WHEN</a:t>
            </a:r>
            <a:endParaRPr lang="en-US" sz="1100" dirty="0"/>
          </a:p>
        </p:txBody>
      </p:sp>
      <p:sp>
        <p:nvSpPr>
          <p:cNvPr id="9" name="Shape 7"/>
          <p:cNvSpPr/>
          <p:nvPr/>
        </p:nvSpPr>
        <p:spPr>
          <a:xfrm>
            <a:off x="566928" y="1773936"/>
            <a:ext cx="11073384" cy="402336"/>
          </a:xfrm>
          <a:prstGeom prst="rect">
            <a:avLst/>
          </a:prstGeom>
          <a:solidFill>
            <a:srgbClr val="EFF3F8"/>
          </a:solidFill>
          <a:ln w="9525">
            <a:solidFill>
              <a:srgbClr val="E2E8F0"/>
            </a:solidFill>
            <a:prstDash val="solid"/>
          </a:ln>
        </p:spPr>
      </p:sp>
      <p:sp>
        <p:nvSpPr>
          <p:cNvPr id="10" name="Text 8"/>
          <p:cNvSpPr/>
          <p:nvPr/>
        </p:nvSpPr>
        <p:spPr>
          <a:xfrm>
            <a:off x="713232" y="1773936"/>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Terraform</a:t>
            </a:r>
            <a:endParaRPr lang="en-US" sz="1150" dirty="0"/>
          </a:p>
        </p:txBody>
      </p:sp>
      <p:sp>
        <p:nvSpPr>
          <p:cNvPr id="11" name="Text 9"/>
          <p:cNvSpPr/>
          <p:nvPr/>
        </p:nvSpPr>
        <p:spPr>
          <a:xfrm>
            <a:off x="2999232" y="1773936"/>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Multi-cloud</a:t>
            </a:r>
            <a:endParaRPr lang="en-US" sz="1150" dirty="0"/>
          </a:p>
        </p:txBody>
      </p:sp>
      <p:sp>
        <p:nvSpPr>
          <p:cNvPr id="12" name="Text 10"/>
          <p:cNvSpPr/>
          <p:nvPr/>
        </p:nvSpPr>
        <p:spPr>
          <a:xfrm>
            <a:off x="4919472" y="1773936"/>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HCL (declarative)</a:t>
            </a:r>
            <a:endParaRPr lang="en-US" sz="1100" dirty="0"/>
          </a:p>
        </p:txBody>
      </p:sp>
      <p:sp>
        <p:nvSpPr>
          <p:cNvPr id="13" name="Text 11"/>
          <p:cNvSpPr/>
          <p:nvPr/>
        </p:nvSpPr>
        <p:spPr>
          <a:xfrm>
            <a:off x="8577072" y="1773936"/>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 want the default answer and the biggest ecosystem</a:t>
            </a:r>
            <a:endParaRPr lang="en-US" sz="1150" dirty="0"/>
          </a:p>
        </p:txBody>
      </p:sp>
      <p:sp>
        <p:nvSpPr>
          <p:cNvPr id="14" name="Shape 12"/>
          <p:cNvSpPr/>
          <p:nvPr/>
        </p:nvSpPr>
        <p:spPr>
          <a:xfrm>
            <a:off x="566928" y="2176272"/>
            <a:ext cx="11073384" cy="402336"/>
          </a:xfrm>
          <a:prstGeom prst="rect">
            <a:avLst/>
          </a:prstGeom>
          <a:solidFill>
            <a:srgbClr val="FFFFFF"/>
          </a:solidFill>
          <a:ln w="9525">
            <a:solidFill>
              <a:srgbClr val="E2E8F0"/>
            </a:solidFill>
            <a:prstDash val="solid"/>
          </a:ln>
        </p:spPr>
      </p:sp>
      <p:sp>
        <p:nvSpPr>
          <p:cNvPr id="15" name="Text 13"/>
          <p:cNvSpPr/>
          <p:nvPr/>
        </p:nvSpPr>
        <p:spPr>
          <a:xfrm>
            <a:off x="713232" y="2176272"/>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OpenTofu</a:t>
            </a:r>
            <a:endParaRPr lang="en-US" sz="1150" dirty="0"/>
          </a:p>
        </p:txBody>
      </p:sp>
      <p:sp>
        <p:nvSpPr>
          <p:cNvPr id="16" name="Text 14"/>
          <p:cNvSpPr/>
          <p:nvPr/>
        </p:nvSpPr>
        <p:spPr>
          <a:xfrm>
            <a:off x="2999232" y="2176272"/>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Multi-cloud</a:t>
            </a:r>
            <a:endParaRPr lang="en-US" sz="1150" dirty="0"/>
          </a:p>
        </p:txBody>
      </p:sp>
      <p:sp>
        <p:nvSpPr>
          <p:cNvPr id="17" name="Text 15"/>
          <p:cNvSpPr/>
          <p:nvPr/>
        </p:nvSpPr>
        <p:spPr>
          <a:xfrm>
            <a:off x="4919472" y="2176272"/>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HCL (declarative)</a:t>
            </a:r>
            <a:endParaRPr lang="en-US" sz="1100" dirty="0"/>
          </a:p>
        </p:txBody>
      </p:sp>
      <p:sp>
        <p:nvSpPr>
          <p:cNvPr id="18" name="Text 16"/>
          <p:cNvSpPr/>
          <p:nvPr/>
        </p:nvSpPr>
        <p:spPr>
          <a:xfrm>
            <a:off x="8577072" y="2176272"/>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 need a truly open-source licence</a:t>
            </a:r>
            <a:endParaRPr lang="en-US" sz="1150" dirty="0"/>
          </a:p>
        </p:txBody>
      </p:sp>
      <p:sp>
        <p:nvSpPr>
          <p:cNvPr id="19" name="Shape 17"/>
          <p:cNvSpPr/>
          <p:nvPr/>
        </p:nvSpPr>
        <p:spPr>
          <a:xfrm>
            <a:off x="566928" y="2578608"/>
            <a:ext cx="11073384" cy="402336"/>
          </a:xfrm>
          <a:prstGeom prst="rect">
            <a:avLst/>
          </a:prstGeom>
          <a:solidFill>
            <a:srgbClr val="EFF3F8"/>
          </a:solidFill>
          <a:ln w="9525">
            <a:solidFill>
              <a:srgbClr val="E2E8F0"/>
            </a:solidFill>
            <a:prstDash val="solid"/>
          </a:ln>
        </p:spPr>
      </p:sp>
      <p:sp>
        <p:nvSpPr>
          <p:cNvPr id="20" name="Text 18"/>
          <p:cNvSpPr/>
          <p:nvPr/>
        </p:nvSpPr>
        <p:spPr>
          <a:xfrm>
            <a:off x="713232" y="2578608"/>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CloudFormation</a:t>
            </a:r>
            <a:endParaRPr lang="en-US" sz="1150" dirty="0"/>
          </a:p>
        </p:txBody>
      </p:sp>
      <p:sp>
        <p:nvSpPr>
          <p:cNvPr id="21" name="Text 19"/>
          <p:cNvSpPr/>
          <p:nvPr/>
        </p:nvSpPr>
        <p:spPr>
          <a:xfrm>
            <a:off x="2999232" y="2578608"/>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AWS only</a:t>
            </a:r>
            <a:endParaRPr lang="en-US" sz="1150" dirty="0"/>
          </a:p>
        </p:txBody>
      </p:sp>
      <p:sp>
        <p:nvSpPr>
          <p:cNvPr id="22" name="Text 20"/>
          <p:cNvSpPr/>
          <p:nvPr/>
        </p:nvSpPr>
        <p:spPr>
          <a:xfrm>
            <a:off x="4919472" y="2578608"/>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YAML / JSON</a:t>
            </a:r>
            <a:endParaRPr lang="en-US" sz="1100" dirty="0"/>
          </a:p>
        </p:txBody>
      </p:sp>
      <p:sp>
        <p:nvSpPr>
          <p:cNvPr id="23" name="Text 21"/>
          <p:cNvSpPr/>
          <p:nvPr/>
        </p:nvSpPr>
        <p:spPr>
          <a:xfrm>
            <a:off x="8577072" y="2578608"/>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 are all-in on AWS and want native support</a:t>
            </a:r>
            <a:endParaRPr lang="en-US" sz="1150" dirty="0"/>
          </a:p>
        </p:txBody>
      </p:sp>
      <p:sp>
        <p:nvSpPr>
          <p:cNvPr id="24" name="Shape 22"/>
          <p:cNvSpPr/>
          <p:nvPr/>
        </p:nvSpPr>
        <p:spPr>
          <a:xfrm>
            <a:off x="566928" y="2980944"/>
            <a:ext cx="11073384" cy="402336"/>
          </a:xfrm>
          <a:prstGeom prst="rect">
            <a:avLst/>
          </a:prstGeom>
          <a:solidFill>
            <a:srgbClr val="FFFFFF"/>
          </a:solidFill>
          <a:ln w="9525">
            <a:solidFill>
              <a:srgbClr val="E2E8F0"/>
            </a:solidFill>
            <a:prstDash val="solid"/>
          </a:ln>
        </p:spPr>
      </p:sp>
      <p:sp>
        <p:nvSpPr>
          <p:cNvPr id="25" name="Text 23"/>
          <p:cNvSpPr/>
          <p:nvPr/>
        </p:nvSpPr>
        <p:spPr>
          <a:xfrm>
            <a:off x="713232" y="2980944"/>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AWS CDK</a:t>
            </a:r>
            <a:endParaRPr lang="en-US" sz="1150" dirty="0"/>
          </a:p>
        </p:txBody>
      </p:sp>
      <p:sp>
        <p:nvSpPr>
          <p:cNvPr id="26" name="Text 24"/>
          <p:cNvSpPr/>
          <p:nvPr/>
        </p:nvSpPr>
        <p:spPr>
          <a:xfrm>
            <a:off x="2999232" y="2980944"/>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AWS only</a:t>
            </a:r>
            <a:endParaRPr lang="en-US" sz="1150" dirty="0"/>
          </a:p>
        </p:txBody>
      </p:sp>
      <p:sp>
        <p:nvSpPr>
          <p:cNvPr id="27" name="Text 25"/>
          <p:cNvSpPr/>
          <p:nvPr/>
        </p:nvSpPr>
        <p:spPr>
          <a:xfrm>
            <a:off x="4919472" y="2980944"/>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TypeScript, Python…</a:t>
            </a:r>
            <a:endParaRPr lang="en-US" sz="1100" dirty="0"/>
          </a:p>
        </p:txBody>
      </p:sp>
      <p:sp>
        <p:nvSpPr>
          <p:cNvPr id="28" name="Text 26"/>
          <p:cNvSpPr/>
          <p:nvPr/>
        </p:nvSpPr>
        <p:spPr>
          <a:xfrm>
            <a:off x="8577072" y="2980944"/>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Your team would rather write real code than HCL</a:t>
            </a:r>
            <a:endParaRPr lang="en-US" sz="1150" dirty="0"/>
          </a:p>
        </p:txBody>
      </p:sp>
      <p:sp>
        <p:nvSpPr>
          <p:cNvPr id="29" name="Shape 27"/>
          <p:cNvSpPr/>
          <p:nvPr/>
        </p:nvSpPr>
        <p:spPr>
          <a:xfrm>
            <a:off x="566928" y="3383280"/>
            <a:ext cx="11073384" cy="402336"/>
          </a:xfrm>
          <a:prstGeom prst="rect">
            <a:avLst/>
          </a:prstGeom>
          <a:solidFill>
            <a:srgbClr val="EFF3F8"/>
          </a:solidFill>
          <a:ln w="9525">
            <a:solidFill>
              <a:srgbClr val="E2E8F0"/>
            </a:solidFill>
            <a:prstDash val="solid"/>
          </a:ln>
        </p:spPr>
      </p:sp>
      <p:sp>
        <p:nvSpPr>
          <p:cNvPr id="30" name="Text 28"/>
          <p:cNvSpPr/>
          <p:nvPr/>
        </p:nvSpPr>
        <p:spPr>
          <a:xfrm>
            <a:off x="713232" y="3383280"/>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Pulumi</a:t>
            </a:r>
            <a:endParaRPr lang="en-US" sz="1150" dirty="0"/>
          </a:p>
        </p:txBody>
      </p:sp>
      <p:sp>
        <p:nvSpPr>
          <p:cNvPr id="31" name="Text 29"/>
          <p:cNvSpPr/>
          <p:nvPr/>
        </p:nvSpPr>
        <p:spPr>
          <a:xfrm>
            <a:off x="2999232" y="3383280"/>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Multi-cloud</a:t>
            </a:r>
            <a:endParaRPr lang="en-US" sz="1150" dirty="0"/>
          </a:p>
        </p:txBody>
      </p:sp>
      <p:sp>
        <p:nvSpPr>
          <p:cNvPr id="32" name="Text 30"/>
          <p:cNvSpPr/>
          <p:nvPr/>
        </p:nvSpPr>
        <p:spPr>
          <a:xfrm>
            <a:off x="4919472" y="3383280"/>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TypeScript, Go, Python</a:t>
            </a:r>
            <a:endParaRPr lang="en-US" sz="1100" dirty="0"/>
          </a:p>
        </p:txBody>
      </p:sp>
      <p:sp>
        <p:nvSpPr>
          <p:cNvPr id="33" name="Text 31"/>
          <p:cNvSpPr/>
          <p:nvPr/>
        </p:nvSpPr>
        <p:spPr>
          <a:xfrm>
            <a:off x="8577072" y="3383280"/>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 want loops and types from a general language</a:t>
            </a:r>
            <a:endParaRPr lang="en-US" sz="1150" dirty="0"/>
          </a:p>
        </p:txBody>
      </p:sp>
      <p:sp>
        <p:nvSpPr>
          <p:cNvPr id="34" name="Shape 32"/>
          <p:cNvSpPr/>
          <p:nvPr/>
        </p:nvSpPr>
        <p:spPr>
          <a:xfrm>
            <a:off x="566928" y="3785616"/>
            <a:ext cx="11073384" cy="402336"/>
          </a:xfrm>
          <a:prstGeom prst="rect">
            <a:avLst/>
          </a:prstGeom>
          <a:solidFill>
            <a:srgbClr val="FFFFFF"/>
          </a:solidFill>
          <a:ln w="9525">
            <a:solidFill>
              <a:srgbClr val="E2E8F0"/>
            </a:solidFill>
            <a:prstDash val="solid"/>
          </a:ln>
        </p:spPr>
      </p:sp>
      <p:sp>
        <p:nvSpPr>
          <p:cNvPr id="35" name="Text 33"/>
          <p:cNvSpPr/>
          <p:nvPr/>
        </p:nvSpPr>
        <p:spPr>
          <a:xfrm>
            <a:off x="713232" y="3785616"/>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Bicep</a:t>
            </a:r>
            <a:endParaRPr lang="en-US" sz="1150" dirty="0"/>
          </a:p>
        </p:txBody>
      </p:sp>
      <p:sp>
        <p:nvSpPr>
          <p:cNvPr id="36" name="Text 34"/>
          <p:cNvSpPr/>
          <p:nvPr/>
        </p:nvSpPr>
        <p:spPr>
          <a:xfrm>
            <a:off x="2999232" y="3785616"/>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Azure only</a:t>
            </a:r>
            <a:endParaRPr lang="en-US" sz="1150" dirty="0"/>
          </a:p>
        </p:txBody>
      </p:sp>
      <p:sp>
        <p:nvSpPr>
          <p:cNvPr id="37" name="Text 35"/>
          <p:cNvSpPr/>
          <p:nvPr/>
        </p:nvSpPr>
        <p:spPr>
          <a:xfrm>
            <a:off x="4919472" y="3785616"/>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Bicep DSL</a:t>
            </a:r>
            <a:endParaRPr lang="en-US" sz="1100" dirty="0"/>
          </a:p>
        </p:txBody>
      </p:sp>
      <p:sp>
        <p:nvSpPr>
          <p:cNvPr id="38" name="Text 36"/>
          <p:cNvSpPr/>
          <p:nvPr/>
        </p:nvSpPr>
        <p:spPr>
          <a:xfrm>
            <a:off x="8577072" y="3785616"/>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 are on Azure and escaping ARM templates</a:t>
            </a:r>
            <a:endParaRPr lang="en-US" sz="1150" dirty="0"/>
          </a:p>
        </p:txBody>
      </p:sp>
      <p:sp>
        <p:nvSpPr>
          <p:cNvPr id="39" name="Shape 37"/>
          <p:cNvSpPr/>
          <p:nvPr/>
        </p:nvSpPr>
        <p:spPr>
          <a:xfrm>
            <a:off x="566928" y="4187952"/>
            <a:ext cx="11073384" cy="402336"/>
          </a:xfrm>
          <a:prstGeom prst="rect">
            <a:avLst/>
          </a:prstGeom>
          <a:solidFill>
            <a:srgbClr val="EFF3F8"/>
          </a:solidFill>
          <a:ln w="9525">
            <a:solidFill>
              <a:srgbClr val="E2E8F0"/>
            </a:solidFill>
            <a:prstDash val="solid"/>
          </a:ln>
        </p:spPr>
      </p:sp>
      <p:sp>
        <p:nvSpPr>
          <p:cNvPr id="40" name="Text 38"/>
          <p:cNvSpPr/>
          <p:nvPr/>
        </p:nvSpPr>
        <p:spPr>
          <a:xfrm>
            <a:off x="713232" y="4187952"/>
            <a:ext cx="2066544" cy="402336"/>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Crossplane</a:t>
            </a:r>
            <a:endParaRPr lang="en-US" sz="1150" dirty="0"/>
          </a:p>
        </p:txBody>
      </p:sp>
      <p:sp>
        <p:nvSpPr>
          <p:cNvPr id="41" name="Text 39"/>
          <p:cNvSpPr/>
          <p:nvPr/>
        </p:nvSpPr>
        <p:spPr>
          <a:xfrm>
            <a:off x="2999232" y="4187952"/>
            <a:ext cx="170078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Multi-cloud</a:t>
            </a:r>
            <a:endParaRPr lang="en-US" sz="1150" dirty="0"/>
          </a:p>
        </p:txBody>
      </p:sp>
      <p:sp>
        <p:nvSpPr>
          <p:cNvPr id="42" name="Text 40"/>
          <p:cNvSpPr/>
          <p:nvPr/>
        </p:nvSpPr>
        <p:spPr>
          <a:xfrm>
            <a:off x="4919472" y="4187952"/>
            <a:ext cx="3438144" cy="402336"/>
          </a:xfrm>
          <a:prstGeom prst="rect">
            <a:avLst/>
          </a:prstGeom>
          <a:noFill/>
          <a:ln/>
        </p:spPr>
        <p:txBody>
          <a:bodyPr wrap="square" lIns="0" tIns="0" rIns="0" bIns="0" rtlCol="0" anchor="ctr"/>
          <a:lstStyle/>
          <a:p>
            <a:pPr indent="0" marL="0">
              <a:buNone/>
            </a:pPr>
            <a:r>
              <a:rPr lang="en-US" sz="1100" dirty="0">
                <a:solidFill>
                  <a:srgbClr val="334155"/>
                </a:solidFill>
                <a:latin typeface="Courier New" pitchFamily="34" charset="0"/>
                <a:ea typeface="Courier New" pitchFamily="34" charset="-122"/>
                <a:cs typeface="Courier New" pitchFamily="34" charset="-120"/>
              </a:rPr>
              <a:t>Kubernetes YAML</a:t>
            </a:r>
            <a:endParaRPr lang="en-US" sz="1100" dirty="0"/>
          </a:p>
        </p:txBody>
      </p:sp>
      <p:sp>
        <p:nvSpPr>
          <p:cNvPr id="43" name="Text 41"/>
          <p:cNvSpPr/>
          <p:nvPr/>
        </p:nvSpPr>
        <p:spPr>
          <a:xfrm>
            <a:off x="8577072" y="4187952"/>
            <a:ext cx="299008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Your control plane is already Kubernetes</a:t>
            </a:r>
            <a:endParaRPr lang="en-US" sz="1150" dirty="0"/>
          </a:p>
        </p:txBody>
      </p:sp>
      <p:sp>
        <p:nvSpPr>
          <p:cNvPr id="44" name="Shape 42"/>
          <p:cNvSpPr/>
          <p:nvPr/>
        </p:nvSpPr>
        <p:spPr>
          <a:xfrm>
            <a:off x="566928" y="4828032"/>
            <a:ext cx="11073384" cy="1115568"/>
          </a:xfrm>
          <a:prstGeom prst="roundRect">
            <a:avLst>
              <a:gd name="adj" fmla="val 4098"/>
            </a:avLst>
          </a:prstGeom>
          <a:solidFill>
            <a:srgbClr val="F0FDFA"/>
          </a:solidFill>
          <a:ln w="12700">
            <a:solidFill>
              <a:srgbClr val="99F6E4"/>
            </a:solidFill>
            <a:prstDash val="solid"/>
          </a:ln>
        </p:spPr>
      </p:sp>
      <p:sp>
        <p:nvSpPr>
          <p:cNvPr id="45" name="Text 43"/>
          <p:cNvSpPr/>
          <p:nvPr/>
        </p:nvSpPr>
        <p:spPr>
          <a:xfrm>
            <a:off x="804672" y="4919472"/>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WHY WE TEACH TERRAFORM</a:t>
            </a:r>
            <a:endParaRPr lang="en-US" sz="1000" dirty="0"/>
          </a:p>
        </p:txBody>
      </p:sp>
      <p:sp>
        <p:nvSpPr>
          <p:cNvPr id="46" name="Text 44"/>
          <p:cNvSpPr/>
          <p:nvPr/>
        </p:nvSpPr>
        <p:spPr>
          <a:xfrm>
            <a:off x="804672" y="5129784"/>
            <a:ext cx="10597896" cy="71323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Not because it is the best on every axis — CDK has nicer abstractions and CloudFormation has deeper AWS integration. Because it is the one you are most likely to walk into on your first day, it works across every provider, and the concepts transfer directly to all the others.</a:t>
            </a:r>
            <a:endParaRPr lang="en-US" sz="1300" dirty="0"/>
          </a:p>
        </p:txBody>
      </p:sp>
      <p:sp>
        <p:nvSpPr>
          <p:cNvPr id="47" name="Text 45"/>
          <p:cNvSpPr/>
          <p:nvPr/>
        </p:nvSpPr>
        <p:spPr>
          <a:xfrm>
            <a:off x="566928" y="614476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ideas today — declarative config, state, plan-then-apply, modules — are shared by every tool in this table.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TERRAFORM, THE BSL, AND OPENTOFU</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One thing you will be asked in an interview</a:t>
            </a:r>
            <a:endParaRPr lang="en-US" sz="3000" dirty="0"/>
          </a:p>
        </p:txBody>
      </p:sp>
      <p:sp>
        <p:nvSpPr>
          <p:cNvPr id="4" name="Text 2"/>
          <p:cNvSpPr/>
          <p:nvPr/>
        </p:nvSpPr>
        <p:spPr>
          <a:xfrm>
            <a:off x="566928" y="1371600"/>
            <a:ext cx="11073384" cy="786384"/>
          </a:xfrm>
          <a:prstGeom prst="rect">
            <a:avLst/>
          </a:prstGeom>
          <a:noFill/>
          <a:ln/>
        </p:spPr>
        <p:txBody>
          <a:bodyPr wrap="square" lIns="0" tIns="0" rIns="0" bIns="0" rtlCol="0" anchor="ctr"/>
          <a:lstStyle/>
          <a:p>
            <a:pPr indent="0" marL="0">
              <a:lnSpc>
                <a:spcPts val="2000"/>
              </a:lnSpc>
              <a:buNone/>
            </a:pPr>
            <a:r>
              <a:rPr lang="en-US" sz="1350" dirty="0">
                <a:solidFill>
                  <a:srgbClr val="334155"/>
                </a:solidFill>
                <a:latin typeface="Calibri" pitchFamily="34" charset="0"/>
                <a:ea typeface="Calibri" pitchFamily="34" charset="-122"/>
                <a:cs typeface="Calibri" pitchFamily="34" charset="-120"/>
              </a:rPr>
              <a:t>In August 2023 HashiCorp changed Terraform’s licence from the Mozilla Public Licence to the Business Source Licence. The community forked the last open version as OpenTofu, now a Linux Foundation project. IBM completed its acquisition of HashiCorp in 2025.</a:t>
            </a:r>
            <a:endParaRPr lang="en-US" sz="1350" dirty="0"/>
          </a:p>
        </p:txBody>
      </p:sp>
      <p:sp>
        <p:nvSpPr>
          <p:cNvPr id="5" name="Shape 3"/>
          <p:cNvSpPr/>
          <p:nvPr/>
        </p:nvSpPr>
        <p:spPr>
          <a:xfrm>
            <a:off x="566928" y="2286000"/>
            <a:ext cx="5394960" cy="2103120"/>
          </a:xfrm>
          <a:prstGeom prst="roundRect">
            <a:avLst>
              <a:gd name="adj" fmla="val 2174"/>
            </a:avLst>
          </a:prstGeom>
          <a:solidFill>
            <a:srgbClr val="FFFFFF"/>
          </a:solidFill>
          <a:ln w="12700">
            <a:solidFill>
              <a:srgbClr val="E2E8F0"/>
            </a:solidFill>
            <a:prstDash val="solid"/>
          </a:ln>
          <a:effectLst>
            <a:outerShdw sx="100000" sy="100000" kx="0" ky="0" algn="bl" rotWithShape="0" blurRad="101600" dist="12700" dir="5400000">
              <a:srgbClr val="94A3B8">
                <a:alpha val="18000"/>
              </a:srgbClr>
            </a:outerShdw>
          </a:effectLst>
        </p:spPr>
      </p:sp>
      <p:sp>
        <p:nvSpPr>
          <p:cNvPr id="6" name="Shape 4"/>
          <p:cNvSpPr/>
          <p:nvPr/>
        </p:nvSpPr>
        <p:spPr>
          <a:xfrm>
            <a:off x="804672" y="2523744"/>
            <a:ext cx="566928" cy="566928"/>
          </a:xfrm>
          <a:prstGeom prst="ellipse">
            <a:avLst/>
          </a:prstGeom>
          <a:solidFill>
            <a:srgbClr val="F4EDFB"/>
          </a:solidFill>
          <a:ln w="11430">
            <a:solidFill>
              <a:srgbClr val="7B42BC"/>
            </a:solidFill>
            <a:prstDash val="solid"/>
          </a:ln>
        </p:spPr>
      </p:sp>
      <p:pic>
        <p:nvPicPr>
          <p:cNvPr id="7" name="Image 0" descr="preencoded.png">    </p:cNvPr>
          <p:cNvPicPr>
            <a:picLocks noChangeAspect="1"/>
          </p:cNvPicPr>
          <p:nvPr/>
        </p:nvPicPr>
        <p:blipFill>
          <a:blip r:embed="rId1"/>
          <a:stretch>
            <a:fillRect/>
          </a:stretch>
        </p:blipFill>
        <p:spPr>
          <a:xfrm>
            <a:off x="941832" y="2660904"/>
            <a:ext cx="292608" cy="292608"/>
          </a:xfrm>
          <a:prstGeom prst="rect">
            <a:avLst/>
          </a:prstGeom>
        </p:spPr>
      </p:pic>
      <p:sp>
        <p:nvSpPr>
          <p:cNvPr id="8" name="Text 5"/>
          <p:cNvSpPr/>
          <p:nvPr/>
        </p:nvSpPr>
        <p:spPr>
          <a:xfrm>
            <a:off x="1499616" y="2560320"/>
            <a:ext cx="4242816"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Terraform (BSL)</a:t>
            </a:r>
            <a:endParaRPr lang="en-US" sz="1450" dirty="0"/>
          </a:p>
        </p:txBody>
      </p:sp>
      <p:sp>
        <p:nvSpPr>
          <p:cNvPr id="9" name="Text 6"/>
          <p:cNvSpPr/>
          <p:nvPr/>
        </p:nvSpPr>
        <p:spPr>
          <a:xfrm>
            <a:off x="822960" y="3200400"/>
            <a:ext cx="4882896" cy="1005840"/>
          </a:xfrm>
          <a:prstGeom prst="rect">
            <a:avLst/>
          </a:prstGeom>
          <a:noFill/>
          <a:ln/>
        </p:spPr>
        <p:txBody>
          <a:bodyPr wrap="square" lIns="0" tIns="0" rIns="0" bIns="0" rtlCol="0" anchor="t"/>
          <a:lstStyle/>
          <a:p>
            <a:pPr indent="0" marL="0">
              <a:lnSpc>
                <a:spcPts val="1704"/>
              </a:lnSpc>
              <a:buNone/>
            </a:pPr>
            <a:r>
              <a:rPr lang="en-US" sz="1200" dirty="0">
                <a:solidFill>
                  <a:srgbClr val="334155"/>
                </a:solidFill>
                <a:latin typeface="Calibri" pitchFamily="34" charset="0"/>
                <a:ea typeface="Calibri" pitchFamily="34" charset="-122"/>
                <a:cs typeface="Calibri" pitchFamily="34" charset="-120"/>
              </a:rPr>
              <a:t>Free for essentially all normal use. The licence restricts building a competing commercial product on it. Largest provider ecosystem, HCP Terraform for teams.</a:t>
            </a:r>
            <a:endParaRPr lang="en-US" sz="1200" dirty="0"/>
          </a:p>
        </p:txBody>
      </p:sp>
      <p:sp>
        <p:nvSpPr>
          <p:cNvPr id="10" name="Shape 7"/>
          <p:cNvSpPr/>
          <p:nvPr/>
        </p:nvSpPr>
        <p:spPr>
          <a:xfrm>
            <a:off x="6382512" y="2286000"/>
            <a:ext cx="5532120" cy="2103120"/>
          </a:xfrm>
          <a:prstGeom prst="roundRect">
            <a:avLst>
              <a:gd name="adj" fmla="val 2174"/>
            </a:avLst>
          </a:prstGeom>
          <a:solidFill>
            <a:srgbClr val="FFFFFF"/>
          </a:solidFill>
          <a:ln w="12700">
            <a:solidFill>
              <a:srgbClr val="E2E8F0"/>
            </a:solidFill>
            <a:prstDash val="solid"/>
          </a:ln>
          <a:effectLst>
            <a:outerShdw sx="100000" sy="100000" kx="0" ky="0" algn="bl" rotWithShape="0" blurRad="101600" dist="12700" dir="5400000">
              <a:srgbClr val="94A3B8">
                <a:alpha val="18000"/>
              </a:srgbClr>
            </a:outerShdw>
          </a:effectLst>
        </p:spPr>
      </p:sp>
      <p:sp>
        <p:nvSpPr>
          <p:cNvPr id="11" name="Shape 8"/>
          <p:cNvSpPr/>
          <p:nvPr/>
        </p:nvSpPr>
        <p:spPr>
          <a:xfrm>
            <a:off x="6620256" y="2523744"/>
            <a:ext cx="566928" cy="566928"/>
          </a:xfrm>
          <a:prstGeom prst="ellipse">
            <a:avLst/>
          </a:prstGeom>
          <a:solidFill>
            <a:srgbClr val="F0FDFA"/>
          </a:solidFill>
          <a:ln w="11430">
            <a:solidFill>
              <a:srgbClr val="0D9488"/>
            </a:solidFill>
            <a:prstDash val="solid"/>
          </a:ln>
        </p:spPr>
      </p:sp>
      <p:pic>
        <p:nvPicPr>
          <p:cNvPr id="12" name="Image 1" descr="preencoded.png">    </p:cNvPr>
          <p:cNvPicPr>
            <a:picLocks noChangeAspect="1"/>
          </p:cNvPicPr>
          <p:nvPr/>
        </p:nvPicPr>
        <p:blipFill>
          <a:blip r:embed="rId2"/>
          <a:stretch>
            <a:fillRect/>
          </a:stretch>
        </p:blipFill>
        <p:spPr>
          <a:xfrm>
            <a:off x="6757416" y="2660904"/>
            <a:ext cx="292608" cy="292608"/>
          </a:xfrm>
          <a:prstGeom prst="rect">
            <a:avLst/>
          </a:prstGeom>
        </p:spPr>
      </p:pic>
      <p:sp>
        <p:nvSpPr>
          <p:cNvPr id="13" name="Text 9"/>
          <p:cNvSpPr/>
          <p:nvPr/>
        </p:nvSpPr>
        <p:spPr>
          <a:xfrm>
            <a:off x="7315200" y="2560320"/>
            <a:ext cx="4379976"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OpenTofu (MPL 2.0)</a:t>
            </a:r>
            <a:endParaRPr lang="en-US" sz="1450" dirty="0"/>
          </a:p>
        </p:txBody>
      </p:sp>
      <p:sp>
        <p:nvSpPr>
          <p:cNvPr id="14" name="Text 10"/>
          <p:cNvSpPr/>
          <p:nvPr/>
        </p:nvSpPr>
        <p:spPr>
          <a:xfrm>
            <a:off x="6638544" y="3200400"/>
            <a:ext cx="5020056" cy="1005840"/>
          </a:xfrm>
          <a:prstGeom prst="rect">
            <a:avLst/>
          </a:prstGeom>
          <a:noFill/>
          <a:ln/>
        </p:spPr>
        <p:txBody>
          <a:bodyPr wrap="square" lIns="0" tIns="0" rIns="0" bIns="0" rtlCol="0" anchor="t"/>
          <a:lstStyle/>
          <a:p>
            <a:pPr indent="0" marL="0">
              <a:lnSpc>
                <a:spcPts val="1704"/>
              </a:lnSpc>
              <a:buNone/>
            </a:pPr>
            <a:r>
              <a:rPr lang="en-US" sz="1200" dirty="0">
                <a:solidFill>
                  <a:srgbClr val="334155"/>
                </a:solidFill>
                <a:latin typeface="Calibri" pitchFamily="34" charset="0"/>
                <a:ea typeface="Calibri" pitchFamily="34" charset="-122"/>
                <a:cs typeface="Calibri" pitchFamily="34" charset="-120"/>
              </a:rPr>
              <a:t>Drop-in fork. Same HCL, same providers, same state format. Swap terraform for tofu on the command line and most projects keep working.</a:t>
            </a:r>
            <a:endParaRPr lang="en-US" sz="1200" dirty="0"/>
          </a:p>
        </p:txBody>
      </p:sp>
      <p:sp>
        <p:nvSpPr>
          <p:cNvPr id="15" name="Shape 11"/>
          <p:cNvSpPr/>
          <p:nvPr/>
        </p:nvSpPr>
        <p:spPr>
          <a:xfrm>
            <a:off x="566928" y="4590288"/>
            <a:ext cx="11073384" cy="1298448"/>
          </a:xfrm>
          <a:prstGeom prst="roundRect">
            <a:avLst>
              <a:gd name="adj" fmla="val 3521"/>
            </a:avLst>
          </a:prstGeom>
          <a:solidFill>
            <a:srgbClr val="F0FDFA"/>
          </a:solidFill>
          <a:ln w="12700">
            <a:solidFill>
              <a:srgbClr val="99F6E4"/>
            </a:solidFill>
            <a:prstDash val="solid"/>
          </a:ln>
        </p:spPr>
      </p:sp>
      <p:sp>
        <p:nvSpPr>
          <p:cNvPr id="16" name="Text 12"/>
          <p:cNvSpPr/>
          <p:nvPr/>
        </p:nvSpPr>
        <p:spPr>
          <a:xfrm>
            <a:off x="804672" y="4681728"/>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WHAT THIS MEANS FOR YOU TODAY</a:t>
            </a:r>
            <a:endParaRPr lang="en-US" sz="1000" dirty="0"/>
          </a:p>
        </p:txBody>
      </p:sp>
      <p:sp>
        <p:nvSpPr>
          <p:cNvPr id="17" name="Text 13"/>
          <p:cNvSpPr/>
          <p:nvPr/>
        </p:nvSpPr>
        <p:spPr>
          <a:xfrm>
            <a:off x="804672" y="4892040"/>
            <a:ext cx="10597896" cy="89611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Nothing. Everything in this module — HCL syntax, state, plan and apply, modules, the AWS provider — is identical in both tools. Learn the concepts; the binary is a swap. Know the story anyway, because it is a common interview question and it is a useful lesson in what open-source licensing risk actually costs a company.</a:t>
            </a:r>
            <a:endParaRPr lang="en-US" sz="1300" dirty="0"/>
          </a:p>
        </p:txBody>
      </p:sp>
      <p:sp>
        <p:nvSpPr>
          <p:cNvPr id="18" name="Text 14"/>
          <p:cNvSpPr/>
          <p:nvPr/>
        </p:nvSpPr>
        <p:spPr>
          <a:xfrm>
            <a:off x="566928" y="6108192"/>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Verify the current licensing and release status before you quote it in an interview — this space keeps moving.</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566928" y="1417320"/>
            <a:ext cx="1828800" cy="1371600"/>
          </a:xfrm>
          <a:prstGeom prst="rect">
            <a:avLst/>
          </a:prstGeom>
          <a:noFill/>
          <a:ln/>
        </p:spPr>
        <p:txBody>
          <a:bodyPr wrap="square" lIns="0" tIns="0" rIns="0" bIns="0" rtlCol="0" anchor="ctr"/>
          <a:lstStyle/>
          <a:p>
            <a:pPr indent="0" marL="0">
              <a:buNone/>
            </a:pPr>
            <a:r>
              <a:rPr lang="en-US" sz="8400" b="1" dirty="0">
                <a:solidFill>
                  <a:srgbClr val="7B42BC"/>
                </a:solidFill>
                <a:latin typeface="Bookman Old Style" pitchFamily="34" charset="0"/>
                <a:ea typeface="Bookman Old Style" pitchFamily="34" charset="-122"/>
                <a:cs typeface="Bookman Old Style" pitchFamily="34" charset="-120"/>
              </a:rPr>
              <a:t>03</a:t>
            </a:r>
            <a:endParaRPr lang="en-US" sz="8400" dirty="0"/>
          </a:p>
        </p:txBody>
      </p:sp>
      <p:sp>
        <p:nvSpPr>
          <p:cNvPr id="4" name="Text 1"/>
          <p:cNvSpPr/>
          <p:nvPr/>
        </p:nvSpPr>
        <p:spPr>
          <a:xfrm>
            <a:off x="566928" y="278892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The Language</a:t>
            </a:r>
            <a:endParaRPr lang="en-US" sz="4000" dirty="0"/>
          </a:p>
        </p:txBody>
      </p:sp>
      <p:sp>
        <p:nvSpPr>
          <p:cNvPr id="5" name="Text 2"/>
          <p:cNvSpPr/>
          <p:nvPr/>
        </p:nvSpPr>
        <p:spPr>
          <a:xfrm>
            <a:off x="566928" y="3767328"/>
            <a:ext cx="7315200" cy="777240"/>
          </a:xfrm>
          <a:prstGeom prst="rect">
            <a:avLst/>
          </a:prstGeom>
          <a:noFill/>
          <a:ln/>
        </p:spPr>
        <p:txBody>
          <a:bodyPr wrap="square" lIns="0" tIns="0" rIns="0" bIns="0" rtlCol="0" anchor="ctr"/>
          <a:lstStyle/>
          <a:p>
            <a:pPr indent="0" marL="0">
              <a:lnSpc>
                <a:spcPts val="2400"/>
              </a:lnSpc>
              <a:buNone/>
            </a:pPr>
            <a:r>
              <a:rPr lang="en-US" sz="1600" dirty="0">
                <a:solidFill>
                  <a:srgbClr val="94A3B8"/>
                </a:solidFill>
                <a:latin typeface="Calibri" pitchFamily="34" charset="0"/>
                <a:ea typeface="Calibri" pitchFamily="34" charset="-122"/>
                <a:cs typeface="Calibri" pitchFamily="34" charset="-120"/>
              </a:rPr>
              <a:t>HCL has exactly one shape — a block with a type, some labels and some arguments. Learn that shape once and the rest is vocabulary.</a:t>
            </a:r>
            <a:endParaRPr lang="en-US" sz="1600" dirty="0"/>
          </a:p>
        </p:txBody>
      </p:sp>
      <p:sp>
        <p:nvSpPr>
          <p:cNvPr id="6" name="Shape 3"/>
          <p:cNvSpPr/>
          <p:nvPr/>
        </p:nvSpPr>
        <p:spPr>
          <a:xfrm>
            <a:off x="9418320" y="2148840"/>
            <a:ext cx="1874520" cy="1874520"/>
          </a:xfrm>
          <a:prstGeom prst="ellipse">
            <a:avLst/>
          </a:prstGeom>
          <a:solidFill>
            <a:srgbClr val="1E293B"/>
          </a:solidFill>
          <a:ln w="15875">
            <a:solidFill>
              <a:srgbClr val="7B42BC"/>
            </a:solidFill>
            <a:prstDash val="solid"/>
          </a:ln>
        </p:spPr>
      </p:sp>
      <p:pic>
        <p:nvPicPr>
          <p:cNvPr id="7" name="Image 0" descr="preencoded.png">    </p:cNvPr>
          <p:cNvPicPr>
            <a:picLocks noChangeAspect="1"/>
          </p:cNvPicPr>
          <p:nvPr/>
        </p:nvPicPr>
        <p:blipFill>
          <a:blip r:embed="rId1"/>
          <a:stretch>
            <a:fillRect/>
          </a:stretch>
        </p:blipFill>
        <p:spPr>
          <a:xfrm>
            <a:off x="9893808" y="2624328"/>
            <a:ext cx="914400" cy="914400"/>
          </a:xfrm>
          <a:prstGeom prst="rect">
            <a:avLst/>
          </a:prstGeom>
        </p:spPr>
      </p:pic>
      <p:sp>
        <p:nvSpPr>
          <p:cNvPr id="8" name="Shape 4"/>
          <p:cNvSpPr/>
          <p:nvPr/>
        </p:nvSpPr>
        <p:spPr>
          <a:xfrm>
            <a:off x="566928" y="4892040"/>
            <a:ext cx="1009498" cy="384048"/>
          </a:xfrm>
          <a:prstGeom prst="roundRect">
            <a:avLst>
              <a:gd name="adj" fmla="val 47619"/>
            </a:avLst>
          </a:prstGeom>
          <a:solidFill>
            <a:srgbClr val="1E293B"/>
          </a:solidFill>
          <a:ln w="9525">
            <a:solidFill>
              <a:srgbClr val="334155"/>
            </a:solidFill>
            <a:prstDash val="solid"/>
          </a:ln>
        </p:spPr>
      </p:sp>
      <p:sp>
        <p:nvSpPr>
          <p:cNvPr id="9" name="Text 5"/>
          <p:cNvSpPr/>
          <p:nvPr/>
        </p:nvSpPr>
        <p:spPr>
          <a:xfrm>
            <a:off x="566928" y="4892040"/>
            <a:ext cx="100949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provider</a:t>
            </a:r>
            <a:endParaRPr lang="en-US" sz="1050" dirty="0"/>
          </a:p>
        </p:txBody>
      </p:sp>
      <p:sp>
        <p:nvSpPr>
          <p:cNvPr id="10" name="Shape 6"/>
          <p:cNvSpPr/>
          <p:nvPr/>
        </p:nvSpPr>
        <p:spPr>
          <a:xfrm>
            <a:off x="1722730" y="4892040"/>
            <a:ext cx="1009498" cy="384048"/>
          </a:xfrm>
          <a:prstGeom prst="roundRect">
            <a:avLst>
              <a:gd name="adj" fmla="val 47619"/>
            </a:avLst>
          </a:prstGeom>
          <a:solidFill>
            <a:srgbClr val="1E293B"/>
          </a:solidFill>
          <a:ln w="9525">
            <a:solidFill>
              <a:srgbClr val="334155"/>
            </a:solidFill>
            <a:prstDash val="solid"/>
          </a:ln>
        </p:spPr>
      </p:sp>
      <p:sp>
        <p:nvSpPr>
          <p:cNvPr id="11" name="Text 7"/>
          <p:cNvSpPr/>
          <p:nvPr/>
        </p:nvSpPr>
        <p:spPr>
          <a:xfrm>
            <a:off x="1722730" y="4892040"/>
            <a:ext cx="100949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resource</a:t>
            </a:r>
            <a:endParaRPr lang="en-US" sz="1050" dirty="0"/>
          </a:p>
        </p:txBody>
      </p:sp>
      <p:sp>
        <p:nvSpPr>
          <p:cNvPr id="12" name="Shape 8"/>
          <p:cNvSpPr/>
          <p:nvPr/>
        </p:nvSpPr>
        <p:spPr>
          <a:xfrm>
            <a:off x="2878531" y="4892040"/>
            <a:ext cx="614477" cy="384048"/>
          </a:xfrm>
          <a:prstGeom prst="roundRect">
            <a:avLst>
              <a:gd name="adj" fmla="val 47619"/>
            </a:avLst>
          </a:prstGeom>
          <a:solidFill>
            <a:srgbClr val="1E293B"/>
          </a:solidFill>
          <a:ln w="9525">
            <a:solidFill>
              <a:srgbClr val="334155"/>
            </a:solidFill>
            <a:prstDash val="solid"/>
          </a:ln>
        </p:spPr>
      </p:sp>
      <p:sp>
        <p:nvSpPr>
          <p:cNvPr id="13" name="Text 9"/>
          <p:cNvSpPr/>
          <p:nvPr/>
        </p:nvSpPr>
        <p:spPr>
          <a:xfrm>
            <a:off x="2878531" y="4892040"/>
            <a:ext cx="614477"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data</a:t>
            </a:r>
            <a:endParaRPr lang="en-US" sz="1050" dirty="0"/>
          </a:p>
        </p:txBody>
      </p:sp>
      <p:sp>
        <p:nvSpPr>
          <p:cNvPr id="14" name="Shape 10"/>
          <p:cNvSpPr/>
          <p:nvPr/>
        </p:nvSpPr>
        <p:spPr>
          <a:xfrm>
            <a:off x="3639312" y="4892040"/>
            <a:ext cx="1009498" cy="384048"/>
          </a:xfrm>
          <a:prstGeom prst="roundRect">
            <a:avLst>
              <a:gd name="adj" fmla="val 47619"/>
            </a:avLst>
          </a:prstGeom>
          <a:solidFill>
            <a:srgbClr val="1E293B"/>
          </a:solidFill>
          <a:ln w="9525">
            <a:solidFill>
              <a:srgbClr val="334155"/>
            </a:solidFill>
            <a:prstDash val="solid"/>
          </a:ln>
        </p:spPr>
      </p:sp>
      <p:sp>
        <p:nvSpPr>
          <p:cNvPr id="15" name="Text 11"/>
          <p:cNvSpPr/>
          <p:nvPr/>
        </p:nvSpPr>
        <p:spPr>
          <a:xfrm>
            <a:off x="3639312" y="4892040"/>
            <a:ext cx="100949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variable</a:t>
            </a:r>
            <a:endParaRPr lang="en-US" sz="1050" dirty="0"/>
          </a:p>
        </p:txBody>
      </p:sp>
      <p:sp>
        <p:nvSpPr>
          <p:cNvPr id="16" name="Shape 12"/>
          <p:cNvSpPr/>
          <p:nvPr/>
        </p:nvSpPr>
        <p:spPr>
          <a:xfrm>
            <a:off x="4795114" y="4892040"/>
            <a:ext cx="811987" cy="384048"/>
          </a:xfrm>
          <a:prstGeom prst="roundRect">
            <a:avLst>
              <a:gd name="adj" fmla="val 47619"/>
            </a:avLst>
          </a:prstGeom>
          <a:solidFill>
            <a:srgbClr val="1E293B"/>
          </a:solidFill>
          <a:ln w="9525">
            <a:solidFill>
              <a:srgbClr val="334155"/>
            </a:solidFill>
            <a:prstDash val="solid"/>
          </a:ln>
        </p:spPr>
      </p:sp>
      <p:sp>
        <p:nvSpPr>
          <p:cNvPr id="17" name="Text 13"/>
          <p:cNvSpPr/>
          <p:nvPr/>
        </p:nvSpPr>
        <p:spPr>
          <a:xfrm>
            <a:off x="4795114" y="4892040"/>
            <a:ext cx="811987"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output</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BLOCK ANATOMY</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Every line of HCL is one of these</a:t>
            </a:r>
            <a:endParaRPr lang="en-US" sz="3000" dirty="0"/>
          </a:p>
        </p:txBody>
      </p:sp>
      <p:sp>
        <p:nvSpPr>
          <p:cNvPr id="4" name="Shape 2"/>
          <p:cNvSpPr/>
          <p:nvPr/>
        </p:nvSpPr>
        <p:spPr>
          <a:xfrm>
            <a:off x="566928" y="1371600"/>
            <a:ext cx="6629400" cy="2487168"/>
          </a:xfrm>
          <a:prstGeom prst="roundRect">
            <a:avLst>
              <a:gd name="adj" fmla="val 2206"/>
            </a:avLst>
          </a:prstGeom>
          <a:solidFill>
            <a:srgbClr val="0F172A"/>
          </a:solidFill>
          <a:ln w="12700">
            <a:solidFill>
              <a:srgbClr val="334155"/>
            </a:solidFill>
            <a:prstDash val="solid"/>
          </a:ln>
        </p:spPr>
      </p:sp>
      <p:sp>
        <p:nvSpPr>
          <p:cNvPr id="5" name="Shape 3"/>
          <p:cNvSpPr/>
          <p:nvPr/>
        </p:nvSpPr>
        <p:spPr>
          <a:xfrm>
            <a:off x="566928" y="1371600"/>
            <a:ext cx="662940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5852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main.tf</a:t>
            </a:r>
            <a:endParaRPr lang="en-US" sz="950" dirty="0"/>
          </a:p>
        </p:txBody>
      </p:sp>
      <p:sp>
        <p:nvSpPr>
          <p:cNvPr id="10" name="Text 8"/>
          <p:cNvSpPr/>
          <p:nvPr/>
        </p:nvSpPr>
        <p:spPr>
          <a:xfrm>
            <a:off x="768096" y="1755648"/>
            <a:ext cx="6227064" cy="1956816"/>
          </a:xfrm>
          <a:prstGeom prst="rect">
            <a:avLst/>
          </a:prstGeom>
          <a:noFill/>
          <a:ln/>
        </p:spPr>
        <p:txBody>
          <a:bodyPr wrap="square" lIns="0" tIns="0" rIns="0" bIns="0" rtlCol="0" anchor="t"/>
          <a:lstStyle/>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resource "aws_instance" "web" {</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ami           = data.aws_ami.al2023.id</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instance_type = "t3.micro"</a:t>
            </a:r>
            <a:endParaRPr lang="en-US" sz="1150" dirty="0"/>
          </a:p>
          <a:p>
            <a:pPr indent="0" marL="0">
              <a:lnSpc>
                <a:spcPts val="1863"/>
              </a:lnSpc>
              <a:buNone/>
            </a:pP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tags = {</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Name = "web-${var.student_name}"</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566928" y="4041648"/>
            <a:ext cx="11073384" cy="457200"/>
          </a:xfrm>
          <a:prstGeom prst="roundRect">
            <a:avLst>
              <a:gd name="adj" fmla="val 10000"/>
            </a:avLst>
          </a:prstGeom>
          <a:solidFill>
            <a:srgbClr val="FFFFFF"/>
          </a:solidFill>
          <a:ln w="12700">
            <a:solidFill>
              <a:srgbClr val="E2E8F0"/>
            </a:solidFill>
            <a:prstDash val="solid"/>
          </a:ln>
        </p:spPr>
      </p:sp>
      <p:sp>
        <p:nvSpPr>
          <p:cNvPr id="12" name="Text 10"/>
          <p:cNvSpPr/>
          <p:nvPr/>
        </p:nvSpPr>
        <p:spPr>
          <a:xfrm>
            <a:off x="804672" y="4041648"/>
            <a:ext cx="1691640" cy="457200"/>
          </a:xfrm>
          <a:prstGeom prst="rect">
            <a:avLst/>
          </a:prstGeom>
          <a:noFill/>
          <a:ln/>
        </p:spPr>
        <p:txBody>
          <a:bodyPr wrap="square" lIns="0" tIns="0" rIns="0" bIns="0" rtlCol="0" anchor="ctr"/>
          <a:lstStyle/>
          <a:p>
            <a:pPr indent="0" marL="0">
              <a:buNone/>
            </a:pPr>
            <a:r>
              <a:rPr lang="en-US" sz="1050" b="1" spc="140" kern="0" dirty="0">
                <a:solidFill>
                  <a:srgbClr val="7B42BC"/>
                </a:solidFill>
                <a:latin typeface="Calibri" pitchFamily="34" charset="0"/>
                <a:ea typeface="Calibri" pitchFamily="34" charset="-122"/>
                <a:cs typeface="Calibri" pitchFamily="34" charset="-120"/>
              </a:rPr>
              <a:t>BLOCK TYPE</a:t>
            </a:r>
            <a:endParaRPr lang="en-US" sz="1050" dirty="0"/>
          </a:p>
        </p:txBody>
      </p:sp>
      <p:sp>
        <p:nvSpPr>
          <p:cNvPr id="13" name="Text 11"/>
          <p:cNvSpPr/>
          <p:nvPr/>
        </p:nvSpPr>
        <p:spPr>
          <a:xfrm>
            <a:off x="2542032" y="4041648"/>
            <a:ext cx="886968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What kind of thing this is. resource, data, variable, output, module, provider, terraform.</a:t>
            </a:r>
            <a:endParaRPr lang="en-US" sz="1200" dirty="0"/>
          </a:p>
        </p:txBody>
      </p:sp>
      <p:sp>
        <p:nvSpPr>
          <p:cNvPr id="14" name="Shape 12"/>
          <p:cNvSpPr/>
          <p:nvPr/>
        </p:nvSpPr>
        <p:spPr>
          <a:xfrm>
            <a:off x="566928" y="4553712"/>
            <a:ext cx="11073384" cy="457200"/>
          </a:xfrm>
          <a:prstGeom prst="roundRect">
            <a:avLst>
              <a:gd name="adj" fmla="val 10000"/>
            </a:avLst>
          </a:prstGeom>
          <a:solidFill>
            <a:srgbClr val="FFFFFF"/>
          </a:solidFill>
          <a:ln w="12700">
            <a:solidFill>
              <a:srgbClr val="E2E8F0"/>
            </a:solidFill>
            <a:prstDash val="solid"/>
          </a:ln>
        </p:spPr>
      </p:sp>
      <p:sp>
        <p:nvSpPr>
          <p:cNvPr id="15" name="Text 13"/>
          <p:cNvSpPr/>
          <p:nvPr/>
        </p:nvSpPr>
        <p:spPr>
          <a:xfrm>
            <a:off x="804672" y="4553712"/>
            <a:ext cx="1691640" cy="457200"/>
          </a:xfrm>
          <a:prstGeom prst="rect">
            <a:avLst/>
          </a:prstGeom>
          <a:noFill/>
          <a:ln/>
        </p:spPr>
        <p:txBody>
          <a:bodyPr wrap="square" lIns="0" tIns="0" rIns="0" bIns="0" rtlCol="0" anchor="ctr"/>
          <a:lstStyle/>
          <a:p>
            <a:pPr indent="0" marL="0">
              <a:buNone/>
            </a:pPr>
            <a:r>
              <a:rPr lang="en-US" sz="1050" b="1" spc="140" kern="0" dirty="0">
                <a:solidFill>
                  <a:srgbClr val="0D9488"/>
                </a:solidFill>
                <a:latin typeface="Calibri" pitchFamily="34" charset="0"/>
                <a:ea typeface="Calibri" pitchFamily="34" charset="-122"/>
                <a:cs typeface="Calibri" pitchFamily="34" charset="-120"/>
              </a:rPr>
              <a:t>LABELS</a:t>
            </a:r>
            <a:endParaRPr lang="en-US" sz="1050" dirty="0"/>
          </a:p>
        </p:txBody>
      </p:sp>
      <p:sp>
        <p:nvSpPr>
          <p:cNvPr id="16" name="Text 14"/>
          <p:cNvSpPr/>
          <p:nvPr/>
        </p:nvSpPr>
        <p:spPr>
          <a:xfrm>
            <a:off x="2542032" y="4553712"/>
            <a:ext cx="886968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For a resource: the provider type first (aws_instance), then a local name you choose (web).</a:t>
            </a:r>
            <a:endParaRPr lang="en-US" sz="1200" dirty="0"/>
          </a:p>
        </p:txBody>
      </p:sp>
      <p:sp>
        <p:nvSpPr>
          <p:cNvPr id="17" name="Shape 15"/>
          <p:cNvSpPr/>
          <p:nvPr/>
        </p:nvSpPr>
        <p:spPr>
          <a:xfrm>
            <a:off x="566928" y="5065776"/>
            <a:ext cx="11073384" cy="457200"/>
          </a:xfrm>
          <a:prstGeom prst="roundRect">
            <a:avLst>
              <a:gd name="adj" fmla="val 10000"/>
            </a:avLst>
          </a:prstGeom>
          <a:solidFill>
            <a:srgbClr val="FFFFFF"/>
          </a:solidFill>
          <a:ln w="12700">
            <a:solidFill>
              <a:srgbClr val="E2E8F0"/>
            </a:solidFill>
            <a:prstDash val="solid"/>
          </a:ln>
        </p:spPr>
      </p:sp>
      <p:sp>
        <p:nvSpPr>
          <p:cNvPr id="18" name="Text 16"/>
          <p:cNvSpPr/>
          <p:nvPr/>
        </p:nvSpPr>
        <p:spPr>
          <a:xfrm>
            <a:off x="804672" y="5065776"/>
            <a:ext cx="1691640" cy="457200"/>
          </a:xfrm>
          <a:prstGeom prst="rect">
            <a:avLst/>
          </a:prstGeom>
          <a:noFill/>
          <a:ln/>
        </p:spPr>
        <p:txBody>
          <a:bodyPr wrap="square" lIns="0" tIns="0" rIns="0" bIns="0" rtlCol="0" anchor="ctr"/>
          <a:lstStyle/>
          <a:p>
            <a:pPr indent="0" marL="0">
              <a:buNone/>
            </a:pPr>
            <a:r>
              <a:rPr lang="en-US" sz="1050" b="1" spc="140" kern="0" dirty="0">
                <a:solidFill>
                  <a:srgbClr val="F97316"/>
                </a:solidFill>
                <a:latin typeface="Calibri" pitchFamily="34" charset="0"/>
                <a:ea typeface="Calibri" pitchFamily="34" charset="-122"/>
                <a:cs typeface="Calibri" pitchFamily="34" charset="-120"/>
              </a:rPr>
              <a:t>ARGUMENTS</a:t>
            </a:r>
            <a:endParaRPr lang="en-US" sz="1050" dirty="0"/>
          </a:p>
        </p:txBody>
      </p:sp>
      <p:sp>
        <p:nvSpPr>
          <p:cNvPr id="19" name="Text 17"/>
          <p:cNvSpPr/>
          <p:nvPr/>
        </p:nvSpPr>
        <p:spPr>
          <a:xfrm>
            <a:off x="2542032" y="5065776"/>
            <a:ext cx="886968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key = value. Strings, numbers, booleans, lists, maps, and references to other resources.</a:t>
            </a:r>
            <a:endParaRPr lang="en-US" sz="1200" dirty="0"/>
          </a:p>
        </p:txBody>
      </p:sp>
      <p:sp>
        <p:nvSpPr>
          <p:cNvPr id="20" name="Shape 18"/>
          <p:cNvSpPr/>
          <p:nvPr/>
        </p:nvSpPr>
        <p:spPr>
          <a:xfrm>
            <a:off x="566928" y="5577840"/>
            <a:ext cx="11073384" cy="457200"/>
          </a:xfrm>
          <a:prstGeom prst="roundRect">
            <a:avLst>
              <a:gd name="adj" fmla="val 10000"/>
            </a:avLst>
          </a:prstGeom>
          <a:solidFill>
            <a:srgbClr val="FFFFFF"/>
          </a:solidFill>
          <a:ln w="12700">
            <a:solidFill>
              <a:srgbClr val="E2E8F0"/>
            </a:solidFill>
            <a:prstDash val="solid"/>
          </a:ln>
        </p:spPr>
      </p:sp>
      <p:sp>
        <p:nvSpPr>
          <p:cNvPr id="21" name="Text 19"/>
          <p:cNvSpPr/>
          <p:nvPr/>
        </p:nvSpPr>
        <p:spPr>
          <a:xfrm>
            <a:off x="804672" y="5577840"/>
            <a:ext cx="1691640" cy="457200"/>
          </a:xfrm>
          <a:prstGeom prst="rect">
            <a:avLst/>
          </a:prstGeom>
          <a:noFill/>
          <a:ln/>
        </p:spPr>
        <p:txBody>
          <a:bodyPr wrap="square" lIns="0" tIns="0" rIns="0" bIns="0" rtlCol="0" anchor="ctr"/>
          <a:lstStyle/>
          <a:p>
            <a:pPr indent="0" marL="0">
              <a:buNone/>
            </a:pPr>
            <a:r>
              <a:rPr lang="en-US" sz="1050" b="1" spc="140" kern="0" dirty="0">
                <a:solidFill>
                  <a:srgbClr val="334155"/>
                </a:solidFill>
                <a:latin typeface="Calibri" pitchFamily="34" charset="0"/>
                <a:ea typeface="Calibri" pitchFamily="34" charset="-122"/>
                <a:cs typeface="Calibri" pitchFamily="34" charset="-120"/>
              </a:rPr>
              <a:t>NESTED BLOCKS</a:t>
            </a:r>
            <a:endParaRPr lang="en-US" sz="1050" dirty="0"/>
          </a:p>
        </p:txBody>
      </p:sp>
      <p:sp>
        <p:nvSpPr>
          <p:cNvPr id="22" name="Text 20"/>
          <p:cNvSpPr/>
          <p:nvPr/>
        </p:nvSpPr>
        <p:spPr>
          <a:xfrm>
            <a:off x="2542032" y="5577840"/>
            <a:ext cx="886968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Some arguments are themselves blocks: tags, ingress, versioning_configuration, root_block_device.</a:t>
            </a:r>
            <a:endParaRPr lang="en-US" sz="1200" dirty="0"/>
          </a:p>
        </p:txBody>
      </p:sp>
      <p:sp>
        <p:nvSpPr>
          <p:cNvPr id="23" name="Shape 21"/>
          <p:cNvSpPr/>
          <p:nvPr/>
        </p:nvSpPr>
        <p:spPr>
          <a:xfrm>
            <a:off x="7470648" y="1371600"/>
            <a:ext cx="4443984" cy="2487168"/>
          </a:xfrm>
          <a:prstGeom prst="roundRect">
            <a:avLst>
              <a:gd name="adj" fmla="val 1838"/>
            </a:avLst>
          </a:prstGeom>
          <a:solidFill>
            <a:srgbClr val="F4EDFB"/>
          </a:solidFill>
          <a:ln w="12700">
            <a:solidFill>
              <a:srgbClr val="DCC6F0"/>
            </a:solidFill>
            <a:prstDash val="solid"/>
          </a:ln>
        </p:spPr>
      </p:sp>
      <p:sp>
        <p:nvSpPr>
          <p:cNvPr id="24" name="Text 22"/>
          <p:cNvSpPr/>
          <p:nvPr/>
        </p:nvSpPr>
        <p:spPr>
          <a:xfrm>
            <a:off x="7726680" y="1536192"/>
            <a:ext cx="3931920" cy="292608"/>
          </a:xfrm>
          <a:prstGeom prst="rect">
            <a:avLst/>
          </a:prstGeom>
          <a:noFill/>
          <a:ln/>
        </p:spPr>
        <p:txBody>
          <a:bodyPr wrap="square" lIns="0" tIns="0" rIns="0" bIns="0" rtlCol="0" anchor="ctr"/>
          <a:lstStyle/>
          <a:p>
            <a:pPr indent="0" marL="0">
              <a:buNone/>
            </a:pPr>
            <a:r>
              <a:rPr lang="en-US" sz="1350" b="1" dirty="0">
                <a:solidFill>
                  <a:srgbClr val="5C2D91"/>
                </a:solidFill>
                <a:latin typeface="Calibri" pitchFamily="34" charset="0"/>
                <a:ea typeface="Calibri" pitchFamily="34" charset="-122"/>
                <a:cs typeface="Calibri" pitchFamily="34" charset="-120"/>
              </a:rPr>
              <a:t>The local name is yours</a:t>
            </a:r>
            <a:endParaRPr lang="en-US" sz="1350" dirty="0"/>
          </a:p>
        </p:txBody>
      </p:sp>
      <p:sp>
        <p:nvSpPr>
          <p:cNvPr id="25" name="Text 23"/>
          <p:cNvSpPr/>
          <p:nvPr/>
        </p:nvSpPr>
        <p:spPr>
          <a:xfrm>
            <a:off x="7726680" y="1865376"/>
            <a:ext cx="3931920" cy="1828800"/>
          </a:xfrm>
          <a:prstGeom prst="rect">
            <a:avLst/>
          </a:prstGeom>
          <a:noFill/>
          <a:ln/>
        </p:spPr>
        <p:txBody>
          <a:bodyPr wrap="square" lIns="0" tIns="0" rIns="0" bIns="0" rtlCol="0" anchor="ctr"/>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“web” never appears anywhere in AWS. It is how you refer to this resource from elsewhere in your config:</a:t>
            </a:r>
            <a:endParaRPr lang="en-US" sz="1150" dirty="0"/>
          </a:p>
          <a:p>
            <a:pPr indent="0" marL="0">
              <a:lnSpc>
                <a:spcPts val="1600"/>
              </a:lnSpc>
              <a:buNone/>
            </a:pPr>
            <a:endParaRPr lang="en-US" sz="1150" dirty="0"/>
          </a:p>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aws_instance.web.id</a:t>
            </a:r>
            <a:endParaRPr lang="en-US" sz="1150" dirty="0"/>
          </a:p>
          <a:p>
            <a:pPr indent="0" marL="0">
              <a:lnSpc>
                <a:spcPts val="1600"/>
              </a:lnSpc>
              <a:buNone/>
            </a:pPr>
            <a:endParaRPr lang="en-US" sz="1150" dirty="0"/>
          </a:p>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Name things for their role, not their type — api, not instance1.</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BLOCK TYPE 1 OF 5</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Providers: the plugin that speaks the API</a:t>
            </a:r>
            <a:endParaRPr lang="en-US" sz="3000" dirty="0"/>
          </a:p>
        </p:txBody>
      </p:sp>
      <p:sp>
        <p:nvSpPr>
          <p:cNvPr id="4" name="Text 2"/>
          <p:cNvSpPr/>
          <p:nvPr/>
        </p:nvSpPr>
        <p:spPr>
          <a:xfrm>
            <a:off x="566928" y="1353312"/>
            <a:ext cx="11073384" cy="548640"/>
          </a:xfrm>
          <a:prstGeom prst="rect">
            <a:avLst/>
          </a:prstGeom>
          <a:noFill/>
          <a:ln/>
        </p:spPr>
        <p:txBody>
          <a:bodyPr wrap="square" lIns="0" tIns="0" rIns="0" bIns="0" rtlCol="0" anchor="ctr"/>
          <a:lstStyle/>
          <a:p>
            <a:pPr indent="0" marL="0">
              <a:lnSpc>
                <a:spcPts val="1900"/>
              </a:lnSpc>
              <a:buNone/>
            </a:pPr>
            <a:r>
              <a:rPr lang="en-US" sz="1350" dirty="0">
                <a:solidFill>
                  <a:srgbClr val="334155"/>
                </a:solidFill>
                <a:latin typeface="Calibri" pitchFamily="34" charset="0"/>
                <a:ea typeface="Calibri" pitchFamily="34" charset="-122"/>
                <a:cs typeface="Calibri" pitchFamily="34" charset="-120"/>
              </a:rPr>
              <a:t>Terraform core knows nothing about AWS. A provider is a downloaded plugin that translates your HCL into API calls for one platform — and there are thousands of them.</a:t>
            </a:r>
            <a:endParaRPr lang="en-US" sz="1350" dirty="0"/>
          </a:p>
        </p:txBody>
      </p:sp>
      <p:sp>
        <p:nvSpPr>
          <p:cNvPr id="5" name="Shape 3"/>
          <p:cNvSpPr/>
          <p:nvPr/>
        </p:nvSpPr>
        <p:spPr>
          <a:xfrm>
            <a:off x="566928" y="2011680"/>
            <a:ext cx="6172200" cy="3063240"/>
          </a:xfrm>
          <a:prstGeom prst="roundRect">
            <a:avLst>
              <a:gd name="adj" fmla="val 1791"/>
            </a:avLst>
          </a:prstGeom>
          <a:solidFill>
            <a:srgbClr val="0F172A"/>
          </a:solidFill>
          <a:ln w="12700">
            <a:solidFill>
              <a:srgbClr val="334155"/>
            </a:solidFill>
            <a:prstDash val="solid"/>
          </a:ln>
        </p:spPr>
      </p:sp>
      <p:sp>
        <p:nvSpPr>
          <p:cNvPr id="6" name="Shape 4"/>
          <p:cNvSpPr/>
          <p:nvPr/>
        </p:nvSpPr>
        <p:spPr>
          <a:xfrm>
            <a:off x="566928" y="2011680"/>
            <a:ext cx="6172200" cy="292608"/>
          </a:xfrm>
          <a:prstGeom prst="rect">
            <a:avLst/>
          </a:prstGeom>
          <a:solidFill>
            <a:srgbClr val="1E293B"/>
          </a:solidFill>
          <a:ln w="12700">
            <a:solidFill>
              <a:srgbClr val="334155"/>
            </a:solidFill>
            <a:prstDash val="solid"/>
          </a:ln>
        </p:spPr>
      </p:sp>
      <p:sp>
        <p:nvSpPr>
          <p:cNvPr id="7" name="Shape 5"/>
          <p:cNvSpPr/>
          <p:nvPr/>
        </p:nvSpPr>
        <p:spPr>
          <a:xfrm>
            <a:off x="685800" y="2107692"/>
            <a:ext cx="100584" cy="100584"/>
          </a:xfrm>
          <a:prstGeom prst="ellipse">
            <a:avLst/>
          </a:prstGeom>
          <a:solidFill>
            <a:srgbClr val="F87171"/>
          </a:solidFill>
          <a:ln w="6350">
            <a:solidFill>
              <a:srgbClr val="F87171"/>
            </a:solidFill>
            <a:prstDash val="solid"/>
          </a:ln>
        </p:spPr>
      </p:sp>
      <p:sp>
        <p:nvSpPr>
          <p:cNvPr id="8" name="Shape 6"/>
          <p:cNvSpPr/>
          <p:nvPr/>
        </p:nvSpPr>
        <p:spPr>
          <a:xfrm>
            <a:off x="859536" y="2107692"/>
            <a:ext cx="100584" cy="100584"/>
          </a:xfrm>
          <a:prstGeom prst="ellipse">
            <a:avLst/>
          </a:prstGeom>
          <a:solidFill>
            <a:srgbClr val="FBBF24"/>
          </a:solidFill>
          <a:ln w="6350">
            <a:solidFill>
              <a:srgbClr val="FBBF24"/>
            </a:solidFill>
            <a:prstDash val="solid"/>
          </a:ln>
        </p:spPr>
      </p:sp>
      <p:sp>
        <p:nvSpPr>
          <p:cNvPr id="9" name="Shape 7"/>
          <p:cNvSpPr/>
          <p:nvPr/>
        </p:nvSpPr>
        <p:spPr>
          <a:xfrm>
            <a:off x="1033272" y="2107692"/>
            <a:ext cx="100584" cy="100584"/>
          </a:xfrm>
          <a:prstGeom prst="ellipse">
            <a:avLst/>
          </a:prstGeom>
          <a:solidFill>
            <a:srgbClr val="34D399"/>
          </a:solidFill>
          <a:ln w="6350">
            <a:solidFill>
              <a:srgbClr val="34D399"/>
            </a:solidFill>
            <a:prstDash val="solid"/>
          </a:ln>
        </p:spPr>
      </p:sp>
      <p:sp>
        <p:nvSpPr>
          <p:cNvPr id="10" name="Text 8"/>
          <p:cNvSpPr/>
          <p:nvPr/>
        </p:nvSpPr>
        <p:spPr>
          <a:xfrm>
            <a:off x="1225296" y="2029968"/>
            <a:ext cx="53949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versions.tf</a:t>
            </a:r>
            <a:endParaRPr lang="en-US" sz="950" dirty="0"/>
          </a:p>
        </p:txBody>
      </p:sp>
      <p:sp>
        <p:nvSpPr>
          <p:cNvPr id="11" name="Text 9"/>
          <p:cNvSpPr/>
          <p:nvPr/>
        </p:nvSpPr>
        <p:spPr>
          <a:xfrm>
            <a:off x="768096" y="2395728"/>
            <a:ext cx="5769864" cy="253288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terraform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required_version = "&gt;= 1.9.0"</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required_providers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aws = {</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source  = "hashicorp/aws"</a:t>
            </a:r>
            <a:endParaRPr lang="en-US" sz="1100" dirty="0"/>
          </a:p>
          <a:p>
            <a:pPr indent="0" marL="0">
              <a:lnSpc>
                <a:spcPts val="1782"/>
              </a:lnSpc>
              <a:buNone/>
            </a:pPr>
            <a:r>
              <a:rPr lang="en-US" sz="1100" dirty="0">
                <a:solidFill>
                  <a:srgbClr val="FBBF24"/>
                </a:solidFill>
                <a:latin typeface="Courier New" pitchFamily="34" charset="0"/>
                <a:ea typeface="Courier New" pitchFamily="34" charset="-122"/>
                <a:cs typeface="Courier New" pitchFamily="34" charset="-120"/>
              </a:rPr>
              <a:t>      version = "~&gt; 5.0"   # any 5.x, never 6.x</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provider "aws"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region = var.region        # ap-south-1</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default_tags { tags = { ManagedBy = "terraform" }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12" name="Shape 10"/>
          <p:cNvSpPr/>
          <p:nvPr/>
        </p:nvSpPr>
        <p:spPr>
          <a:xfrm>
            <a:off x="6949440" y="2011680"/>
            <a:ext cx="4965192" cy="969264"/>
          </a:xfrm>
          <a:prstGeom prst="roundRect">
            <a:avLst>
              <a:gd name="adj" fmla="val 4717"/>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3" name="Shape 11"/>
          <p:cNvSpPr/>
          <p:nvPr/>
        </p:nvSpPr>
        <p:spPr>
          <a:xfrm>
            <a:off x="7168896" y="2267712"/>
            <a:ext cx="457200" cy="457200"/>
          </a:xfrm>
          <a:prstGeom prst="ellipse">
            <a:avLst/>
          </a:prstGeom>
          <a:solidFill>
            <a:srgbClr val="F4EDFB"/>
          </a:solidFill>
          <a:ln w="11430">
            <a:solidFill>
              <a:srgbClr val="7B42BC"/>
            </a:solidFill>
            <a:prstDash val="solid"/>
          </a:ln>
        </p:spPr>
      </p:sp>
      <p:pic>
        <p:nvPicPr>
          <p:cNvPr id="14" name="Image 0" descr="preencoded.png">    </p:cNvPr>
          <p:cNvPicPr>
            <a:picLocks noChangeAspect="1"/>
          </p:cNvPicPr>
          <p:nvPr/>
        </p:nvPicPr>
        <p:blipFill>
          <a:blip r:embed="rId1"/>
          <a:stretch>
            <a:fillRect/>
          </a:stretch>
        </p:blipFill>
        <p:spPr>
          <a:xfrm>
            <a:off x="7278624" y="2377440"/>
            <a:ext cx="237744" cy="237744"/>
          </a:xfrm>
          <a:prstGeom prst="rect">
            <a:avLst/>
          </a:prstGeom>
        </p:spPr>
      </p:pic>
      <p:sp>
        <p:nvSpPr>
          <p:cNvPr id="15" name="Text 12"/>
          <p:cNvSpPr/>
          <p:nvPr/>
        </p:nvSpPr>
        <p:spPr>
          <a:xfrm>
            <a:off x="7772400" y="2139696"/>
            <a:ext cx="39319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init downloads them</a:t>
            </a:r>
            <a:endParaRPr lang="en-US" sz="1250" dirty="0"/>
          </a:p>
        </p:txBody>
      </p:sp>
      <p:sp>
        <p:nvSpPr>
          <p:cNvPr id="16" name="Text 13"/>
          <p:cNvSpPr/>
          <p:nvPr/>
        </p:nvSpPr>
        <p:spPr>
          <a:xfrm>
            <a:off x="7772400" y="2414016"/>
            <a:ext cx="3931920" cy="457200"/>
          </a:xfrm>
          <a:prstGeom prst="rect">
            <a:avLst/>
          </a:prstGeom>
          <a:noFill/>
          <a:ln/>
        </p:spPr>
        <p:txBody>
          <a:bodyPr wrap="square" lIns="0" tIns="0" rIns="0" bIns="0" rtlCol="0" anchor="t"/>
          <a:lstStyle/>
          <a:p>
            <a:pPr indent="0" marL="0">
              <a:lnSpc>
                <a:spcPts val="1300"/>
              </a:lnSpc>
              <a:buNone/>
            </a:pPr>
            <a:r>
              <a:rPr lang="en-US" sz="1000" dirty="0">
                <a:solidFill>
                  <a:srgbClr val="334155"/>
                </a:solidFill>
                <a:latin typeface="Calibri" pitchFamily="34" charset="0"/>
                <a:ea typeface="Calibri" pitchFamily="34" charset="-122"/>
                <a:cs typeface="Calibri" pitchFamily="34" charset="-120"/>
              </a:rPr>
              <a:t>They land in .terraform/ and pin to .terraform.lock.hcl. Commit that lock file.</a:t>
            </a:r>
            <a:endParaRPr lang="en-US" sz="1000" dirty="0"/>
          </a:p>
        </p:txBody>
      </p:sp>
      <p:sp>
        <p:nvSpPr>
          <p:cNvPr id="17" name="Shape 14"/>
          <p:cNvSpPr/>
          <p:nvPr/>
        </p:nvSpPr>
        <p:spPr>
          <a:xfrm>
            <a:off x="6949440" y="3063240"/>
            <a:ext cx="4965192" cy="969264"/>
          </a:xfrm>
          <a:prstGeom prst="roundRect">
            <a:avLst>
              <a:gd name="adj" fmla="val 4717"/>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8" name="Shape 15"/>
          <p:cNvSpPr/>
          <p:nvPr/>
        </p:nvSpPr>
        <p:spPr>
          <a:xfrm>
            <a:off x="7168896" y="3319272"/>
            <a:ext cx="457200" cy="457200"/>
          </a:xfrm>
          <a:prstGeom prst="ellipse">
            <a:avLst/>
          </a:prstGeom>
          <a:solidFill>
            <a:srgbClr val="F4EDFB"/>
          </a:solidFill>
          <a:ln w="11430">
            <a:solidFill>
              <a:srgbClr val="7B42BC"/>
            </a:solidFill>
            <a:prstDash val="solid"/>
          </a:ln>
        </p:spPr>
      </p:sp>
      <p:pic>
        <p:nvPicPr>
          <p:cNvPr id="19" name="Image 1" descr="preencoded.png">    </p:cNvPr>
          <p:cNvPicPr>
            <a:picLocks noChangeAspect="1"/>
          </p:cNvPicPr>
          <p:nvPr/>
        </p:nvPicPr>
        <p:blipFill>
          <a:blip r:embed="rId2"/>
          <a:stretch>
            <a:fillRect/>
          </a:stretch>
        </p:blipFill>
        <p:spPr>
          <a:xfrm>
            <a:off x="7278624" y="3429000"/>
            <a:ext cx="237744" cy="237744"/>
          </a:xfrm>
          <a:prstGeom prst="rect">
            <a:avLst/>
          </a:prstGeom>
        </p:spPr>
      </p:pic>
      <p:sp>
        <p:nvSpPr>
          <p:cNvPr id="20" name="Text 16"/>
          <p:cNvSpPr/>
          <p:nvPr/>
        </p:nvSpPr>
        <p:spPr>
          <a:xfrm>
            <a:off x="7772400" y="3191256"/>
            <a:ext cx="39319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Pin your versions</a:t>
            </a:r>
            <a:endParaRPr lang="en-US" sz="1250" dirty="0"/>
          </a:p>
        </p:txBody>
      </p:sp>
      <p:sp>
        <p:nvSpPr>
          <p:cNvPr id="21" name="Text 17"/>
          <p:cNvSpPr/>
          <p:nvPr/>
        </p:nvSpPr>
        <p:spPr>
          <a:xfrm>
            <a:off x="7772400" y="3465576"/>
            <a:ext cx="3931920" cy="457200"/>
          </a:xfrm>
          <a:prstGeom prst="rect">
            <a:avLst/>
          </a:prstGeom>
          <a:noFill/>
          <a:ln/>
        </p:spPr>
        <p:txBody>
          <a:bodyPr wrap="square" lIns="0" tIns="0" rIns="0" bIns="0" rtlCol="0" anchor="t"/>
          <a:lstStyle/>
          <a:p>
            <a:pPr indent="0" marL="0">
              <a:lnSpc>
                <a:spcPts val="1300"/>
              </a:lnSpc>
              <a:buNone/>
            </a:pPr>
            <a:r>
              <a:rPr lang="en-US" sz="1000" dirty="0">
                <a:solidFill>
                  <a:srgbClr val="334155"/>
                </a:solidFill>
                <a:latin typeface="Calibri" pitchFamily="34" charset="0"/>
                <a:ea typeface="Calibri" pitchFamily="34" charset="-122"/>
                <a:cs typeface="Calibri" pitchFamily="34" charset="-120"/>
              </a:rPr>
              <a:t>~&gt; 5.0 accepts 5.9 but refuses 6.0. Major versions break things.</a:t>
            </a:r>
            <a:endParaRPr lang="en-US" sz="1000" dirty="0"/>
          </a:p>
        </p:txBody>
      </p:sp>
      <p:sp>
        <p:nvSpPr>
          <p:cNvPr id="22" name="Shape 18"/>
          <p:cNvSpPr/>
          <p:nvPr/>
        </p:nvSpPr>
        <p:spPr>
          <a:xfrm>
            <a:off x="6949440" y="4114800"/>
            <a:ext cx="4965192" cy="969264"/>
          </a:xfrm>
          <a:prstGeom prst="roundRect">
            <a:avLst>
              <a:gd name="adj" fmla="val 4717"/>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3" name="Shape 19"/>
          <p:cNvSpPr/>
          <p:nvPr/>
        </p:nvSpPr>
        <p:spPr>
          <a:xfrm>
            <a:off x="7168896" y="4370832"/>
            <a:ext cx="457200" cy="457200"/>
          </a:xfrm>
          <a:prstGeom prst="ellipse">
            <a:avLst/>
          </a:prstGeom>
          <a:solidFill>
            <a:srgbClr val="F4EDFB"/>
          </a:solidFill>
          <a:ln w="11430">
            <a:solidFill>
              <a:srgbClr val="7B42BC"/>
            </a:solidFill>
            <a:prstDash val="solid"/>
          </a:ln>
        </p:spPr>
      </p:sp>
      <p:pic>
        <p:nvPicPr>
          <p:cNvPr id="24" name="Image 2" descr="preencoded.png">    </p:cNvPr>
          <p:cNvPicPr>
            <a:picLocks noChangeAspect="1"/>
          </p:cNvPicPr>
          <p:nvPr/>
        </p:nvPicPr>
        <p:blipFill>
          <a:blip r:embed="rId3"/>
          <a:stretch>
            <a:fillRect/>
          </a:stretch>
        </p:blipFill>
        <p:spPr>
          <a:xfrm>
            <a:off x="7278624" y="4480560"/>
            <a:ext cx="237744" cy="237744"/>
          </a:xfrm>
          <a:prstGeom prst="rect">
            <a:avLst/>
          </a:prstGeom>
        </p:spPr>
      </p:pic>
      <p:sp>
        <p:nvSpPr>
          <p:cNvPr id="25" name="Text 20"/>
          <p:cNvSpPr/>
          <p:nvPr/>
        </p:nvSpPr>
        <p:spPr>
          <a:xfrm>
            <a:off x="7772400" y="4242816"/>
            <a:ext cx="3931920" cy="274320"/>
          </a:xfrm>
          <a:prstGeom prst="rect">
            <a:avLst/>
          </a:prstGeom>
          <a:noFill/>
          <a:ln/>
        </p:spPr>
        <p:txBody>
          <a:bodyPr wrap="square" lIns="0" tIns="0" rIns="0" bIns="0" rtlCol="0" anchor="ctr"/>
          <a:lstStyle/>
          <a:p>
            <a:pPr indent="0" marL="0">
              <a:buNone/>
            </a:pPr>
            <a:r>
              <a:rPr lang="en-US" sz="1250" b="1" dirty="0">
                <a:solidFill>
                  <a:srgbClr val="0F172A"/>
                </a:solidFill>
                <a:latin typeface="Calibri" pitchFamily="34" charset="0"/>
                <a:ea typeface="Calibri" pitchFamily="34" charset="-122"/>
                <a:cs typeface="Calibri" pitchFamily="34" charset="-120"/>
              </a:rPr>
              <a:t>default_tags is free policy</a:t>
            </a:r>
            <a:endParaRPr lang="en-US" sz="1250" dirty="0"/>
          </a:p>
        </p:txBody>
      </p:sp>
      <p:sp>
        <p:nvSpPr>
          <p:cNvPr id="26" name="Text 21"/>
          <p:cNvSpPr/>
          <p:nvPr/>
        </p:nvSpPr>
        <p:spPr>
          <a:xfrm>
            <a:off x="7772400" y="4517136"/>
            <a:ext cx="3931920" cy="457200"/>
          </a:xfrm>
          <a:prstGeom prst="rect">
            <a:avLst/>
          </a:prstGeom>
          <a:noFill/>
          <a:ln/>
        </p:spPr>
        <p:txBody>
          <a:bodyPr wrap="square" lIns="0" tIns="0" rIns="0" bIns="0" rtlCol="0" anchor="t"/>
          <a:lstStyle/>
          <a:p>
            <a:pPr indent="0" marL="0">
              <a:lnSpc>
                <a:spcPts val="1300"/>
              </a:lnSpc>
              <a:buNone/>
            </a:pPr>
            <a:r>
              <a:rPr lang="en-US" sz="1000" dirty="0">
                <a:solidFill>
                  <a:srgbClr val="334155"/>
                </a:solidFill>
                <a:latin typeface="Calibri" pitchFamily="34" charset="0"/>
                <a:ea typeface="Calibri" pitchFamily="34" charset="-122"/>
                <a:cs typeface="Calibri" pitchFamily="34" charset="-120"/>
              </a:rPr>
              <a:t>Every taggable resource this provider makes gets these tags automatically.</a:t>
            </a:r>
            <a:endParaRPr lang="en-US" sz="1000" dirty="0"/>
          </a:p>
        </p:txBody>
      </p:sp>
      <p:sp>
        <p:nvSpPr>
          <p:cNvPr id="27" name="Text 22"/>
          <p:cNvSpPr/>
          <p:nvPr/>
        </p:nvSpPr>
        <p:spPr>
          <a:xfrm>
            <a:off x="566928" y="5285232"/>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Today you will use three providers: aws to build the cloud, kubernetes to deploy into it, and random to generate unique suffixes.</a:t>
            </a:r>
            <a:endParaRPr lang="en-US" sz="1100" dirty="0"/>
          </a:p>
        </p:txBody>
      </p:sp>
      <p:sp>
        <p:nvSpPr>
          <p:cNvPr id="28" name="Shape 23"/>
          <p:cNvSpPr/>
          <p:nvPr/>
        </p:nvSpPr>
        <p:spPr>
          <a:xfrm>
            <a:off x="566928" y="5705856"/>
            <a:ext cx="1302106" cy="310896"/>
          </a:xfrm>
          <a:prstGeom prst="roundRect">
            <a:avLst>
              <a:gd name="adj" fmla="val 47059"/>
            </a:avLst>
          </a:prstGeom>
          <a:solidFill>
            <a:srgbClr val="FFF7ED"/>
          </a:solidFill>
          <a:ln w="10795">
            <a:solidFill>
              <a:srgbClr val="FF9900"/>
            </a:solidFill>
            <a:prstDash val="solid"/>
          </a:ln>
        </p:spPr>
      </p:sp>
      <p:sp>
        <p:nvSpPr>
          <p:cNvPr id="29" name="Text 24"/>
          <p:cNvSpPr/>
          <p:nvPr/>
        </p:nvSpPr>
        <p:spPr>
          <a:xfrm>
            <a:off x="566928" y="5705856"/>
            <a:ext cx="1302106" cy="310896"/>
          </a:xfrm>
          <a:prstGeom prst="rect">
            <a:avLst/>
          </a:prstGeom>
          <a:noFill/>
          <a:ln/>
        </p:spPr>
        <p:txBody>
          <a:bodyPr wrap="square" lIns="0" tIns="0" rIns="0" bIns="0" rtlCol="0" anchor="ctr"/>
          <a:lstStyle/>
          <a:p>
            <a:pPr algn="ctr" indent="0" marL="0">
              <a:buNone/>
            </a:pPr>
            <a:r>
              <a:rPr lang="en-US" sz="1050" dirty="0">
                <a:solidFill>
                  <a:srgbClr val="FF9900"/>
                </a:solidFill>
                <a:latin typeface="Courier New" pitchFamily="34" charset="0"/>
                <a:ea typeface="Courier New" pitchFamily="34" charset="-122"/>
                <a:cs typeface="Courier New" pitchFamily="34" charset="-120"/>
              </a:rPr>
              <a:t>hashicorp/aws</a:t>
            </a:r>
            <a:endParaRPr lang="en-US" sz="1050" dirty="0"/>
          </a:p>
        </p:txBody>
      </p:sp>
      <p:sp>
        <p:nvSpPr>
          <p:cNvPr id="30" name="Shape 25"/>
          <p:cNvSpPr/>
          <p:nvPr/>
        </p:nvSpPr>
        <p:spPr>
          <a:xfrm>
            <a:off x="2033626" y="5705856"/>
            <a:ext cx="1865376" cy="310896"/>
          </a:xfrm>
          <a:prstGeom prst="roundRect">
            <a:avLst>
              <a:gd name="adj" fmla="val 47059"/>
            </a:avLst>
          </a:prstGeom>
          <a:solidFill>
            <a:srgbClr val="EAF1FD"/>
          </a:solidFill>
          <a:ln w="10795">
            <a:solidFill>
              <a:srgbClr val="326CE5"/>
            </a:solidFill>
            <a:prstDash val="solid"/>
          </a:ln>
        </p:spPr>
      </p:sp>
      <p:sp>
        <p:nvSpPr>
          <p:cNvPr id="31" name="Text 26"/>
          <p:cNvSpPr/>
          <p:nvPr/>
        </p:nvSpPr>
        <p:spPr>
          <a:xfrm>
            <a:off x="2033626" y="5705856"/>
            <a:ext cx="1865376" cy="310896"/>
          </a:xfrm>
          <a:prstGeom prst="rect">
            <a:avLst/>
          </a:prstGeom>
          <a:noFill/>
          <a:ln/>
        </p:spPr>
        <p:txBody>
          <a:bodyPr wrap="square" lIns="0" tIns="0" rIns="0" bIns="0" rtlCol="0" anchor="ctr"/>
          <a:lstStyle/>
          <a:p>
            <a:pPr algn="ctr" indent="0" marL="0">
              <a:buNone/>
            </a:pPr>
            <a:r>
              <a:rPr lang="en-US" sz="1050" dirty="0">
                <a:solidFill>
                  <a:srgbClr val="326CE5"/>
                </a:solidFill>
                <a:latin typeface="Courier New" pitchFamily="34" charset="0"/>
                <a:ea typeface="Courier New" pitchFamily="34" charset="-122"/>
                <a:cs typeface="Courier New" pitchFamily="34" charset="-120"/>
              </a:rPr>
              <a:t>hashicorp/kubernetes</a:t>
            </a:r>
            <a:endParaRPr lang="en-US" sz="1050" dirty="0"/>
          </a:p>
        </p:txBody>
      </p:sp>
      <p:sp>
        <p:nvSpPr>
          <p:cNvPr id="32" name="Shape 27"/>
          <p:cNvSpPr/>
          <p:nvPr/>
        </p:nvSpPr>
        <p:spPr>
          <a:xfrm>
            <a:off x="4063594" y="5705856"/>
            <a:ext cx="1543507" cy="310896"/>
          </a:xfrm>
          <a:prstGeom prst="roundRect">
            <a:avLst>
              <a:gd name="adj" fmla="val 47059"/>
            </a:avLst>
          </a:prstGeom>
          <a:solidFill>
            <a:srgbClr val="F4EDFB"/>
          </a:solidFill>
          <a:ln w="10795">
            <a:solidFill>
              <a:srgbClr val="7B42BC"/>
            </a:solidFill>
            <a:prstDash val="solid"/>
          </a:ln>
        </p:spPr>
      </p:sp>
      <p:sp>
        <p:nvSpPr>
          <p:cNvPr id="33" name="Text 28"/>
          <p:cNvSpPr/>
          <p:nvPr/>
        </p:nvSpPr>
        <p:spPr>
          <a:xfrm>
            <a:off x="4063594" y="5705856"/>
            <a:ext cx="1543507" cy="310896"/>
          </a:xfrm>
          <a:prstGeom prst="rect">
            <a:avLst/>
          </a:prstGeom>
          <a:noFill/>
          <a:ln/>
        </p:spPr>
        <p:txBody>
          <a:bodyPr wrap="square" lIns="0" tIns="0" rIns="0" bIns="0" rtlCol="0" anchor="ctr"/>
          <a:lstStyle/>
          <a:p>
            <a:pPr algn="ctr" indent="0" marL="0">
              <a:buNone/>
            </a:pPr>
            <a:r>
              <a:rPr lang="en-US" sz="1050" dirty="0">
                <a:solidFill>
                  <a:srgbClr val="7B42BC"/>
                </a:solidFill>
                <a:latin typeface="Courier New" pitchFamily="34" charset="0"/>
                <a:ea typeface="Courier New" pitchFamily="34" charset="-122"/>
                <a:cs typeface="Courier New" pitchFamily="34" charset="-120"/>
              </a:rPr>
              <a:t>hashicorp/random</a:t>
            </a:r>
            <a:endParaRPr lang="en-US" sz="1050" dirty="0"/>
          </a:p>
        </p:txBody>
      </p:sp>
      <p:sp>
        <p:nvSpPr>
          <p:cNvPr id="34" name="Shape 29"/>
          <p:cNvSpPr/>
          <p:nvPr/>
        </p:nvSpPr>
        <p:spPr>
          <a:xfrm>
            <a:off x="5771693" y="5705856"/>
            <a:ext cx="1221638" cy="310896"/>
          </a:xfrm>
          <a:prstGeom prst="roundRect">
            <a:avLst>
              <a:gd name="adj" fmla="val 47059"/>
            </a:avLst>
          </a:prstGeom>
          <a:solidFill>
            <a:srgbClr val="FFFFFF"/>
          </a:solidFill>
          <a:ln w="10795">
            <a:solidFill>
              <a:srgbClr val="64748B"/>
            </a:solidFill>
            <a:prstDash val="solid"/>
          </a:ln>
        </p:spPr>
      </p:sp>
      <p:sp>
        <p:nvSpPr>
          <p:cNvPr id="35" name="Text 30"/>
          <p:cNvSpPr/>
          <p:nvPr/>
        </p:nvSpPr>
        <p:spPr>
          <a:xfrm>
            <a:off x="5771693" y="5705856"/>
            <a:ext cx="1221638" cy="310896"/>
          </a:xfrm>
          <a:prstGeom prst="rect">
            <a:avLst/>
          </a:prstGeom>
          <a:noFill/>
          <a:ln/>
        </p:spPr>
        <p:txBody>
          <a:bodyPr wrap="square" lIns="0" tIns="0" rIns="0" bIns="0" rtlCol="0" anchor="ctr"/>
          <a:lstStyle/>
          <a:p>
            <a:pPr algn="ctr" indent="0" marL="0">
              <a:buNone/>
            </a:pPr>
            <a:r>
              <a:rPr lang="en-US" sz="1050" dirty="0">
                <a:solidFill>
                  <a:srgbClr val="64748B"/>
                </a:solidFill>
                <a:latin typeface="Courier New" pitchFamily="34" charset="0"/>
                <a:ea typeface="Courier New" pitchFamily="34" charset="-122"/>
                <a:cs typeface="Courier New" pitchFamily="34" charset="-120"/>
              </a:rPr>
              <a:t>+ 4,000 more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BLOCK TYPE 2 OF 5</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Resources: the things you own</a:t>
            </a:r>
            <a:endParaRPr lang="en-US" sz="3000" dirty="0"/>
          </a:p>
        </p:txBody>
      </p:sp>
      <p:sp>
        <p:nvSpPr>
          <p:cNvPr id="4" name="Shape 2"/>
          <p:cNvSpPr/>
          <p:nvPr/>
        </p:nvSpPr>
        <p:spPr>
          <a:xfrm>
            <a:off x="566928" y="1371600"/>
            <a:ext cx="6035040" cy="2286000"/>
          </a:xfrm>
          <a:prstGeom prst="roundRect">
            <a:avLst>
              <a:gd name="adj" fmla="val 2400"/>
            </a:avLst>
          </a:prstGeom>
          <a:solidFill>
            <a:srgbClr val="0F172A"/>
          </a:solidFill>
          <a:ln w="12700">
            <a:solidFill>
              <a:srgbClr val="334155"/>
            </a:solidFill>
            <a:prstDash val="solid"/>
          </a:ln>
        </p:spPr>
      </p:sp>
      <p:sp>
        <p:nvSpPr>
          <p:cNvPr id="5" name="Shape 3"/>
          <p:cNvSpPr/>
          <p:nvPr/>
        </p:nvSpPr>
        <p:spPr>
          <a:xfrm>
            <a:off x="566928" y="1371600"/>
            <a:ext cx="603504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525780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s3.tf</a:t>
            </a:r>
            <a:endParaRPr lang="en-US" sz="950" dirty="0"/>
          </a:p>
        </p:txBody>
      </p:sp>
      <p:sp>
        <p:nvSpPr>
          <p:cNvPr id="10" name="Text 8"/>
          <p:cNvSpPr/>
          <p:nvPr/>
        </p:nvSpPr>
        <p:spPr>
          <a:xfrm>
            <a:off x="768096" y="1755648"/>
            <a:ext cx="5632704" cy="1755648"/>
          </a:xfrm>
          <a:prstGeom prst="rect">
            <a:avLst/>
          </a:prstGeom>
          <a:noFill/>
          <a:ln/>
        </p:spPr>
        <p:txBody>
          <a:bodyPr wrap="square" lIns="0" tIns="0" rIns="0" bIns="0" rtlCol="0" anchor="t"/>
          <a:lstStyle/>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resource "aws_s3_bucket" "data" {</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bucket = "chiya-data-${var.student_name}"</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t>
            </a:r>
            <a:endParaRPr lang="en-US" sz="1150" dirty="0"/>
          </a:p>
          <a:p>
            <a:pPr indent="0" marL="0">
              <a:lnSpc>
                <a:spcPts val="1863"/>
              </a:lnSpc>
              <a:buNone/>
            </a:pP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resource "aws_s3_bucket_versioning" "data" {</a:t>
            </a: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bucket = aws_s3_bucket.data.id</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versioning_configuration {</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status = "Enabled"</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6812280" y="1371600"/>
            <a:ext cx="5102352" cy="2286000"/>
          </a:xfrm>
          <a:prstGeom prst="roundRect">
            <a:avLst>
              <a:gd name="adj" fmla="val 2000"/>
            </a:avLst>
          </a:prstGeom>
          <a:solidFill>
            <a:srgbClr val="FFFFFF"/>
          </a:solidFill>
          <a:ln w="12700">
            <a:solidFill>
              <a:srgbClr val="E2E8F0"/>
            </a:solidFill>
            <a:prstDash val="solid"/>
          </a:ln>
        </p:spPr>
      </p:sp>
      <p:sp>
        <p:nvSpPr>
          <p:cNvPr id="12" name="Text 10"/>
          <p:cNvSpPr/>
          <p:nvPr/>
        </p:nvSpPr>
        <p:spPr>
          <a:xfrm>
            <a:off x="7068312" y="1554480"/>
            <a:ext cx="4572000" cy="310896"/>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 resource is a promise</a:t>
            </a:r>
            <a:endParaRPr lang="en-US" sz="1500" dirty="0"/>
          </a:p>
        </p:txBody>
      </p:sp>
      <p:sp>
        <p:nvSpPr>
          <p:cNvPr id="13" name="Text 11"/>
          <p:cNvSpPr/>
          <p:nvPr/>
        </p:nvSpPr>
        <p:spPr>
          <a:xfrm>
            <a:off x="7068312" y="1901952"/>
            <a:ext cx="4572000" cy="1600200"/>
          </a:xfrm>
          <a:prstGeom prst="rect">
            <a:avLst/>
          </a:prstGeom>
          <a:noFill/>
          <a:ln/>
        </p:spPr>
        <p:txBody>
          <a:bodyPr wrap="square" lIns="0" tIns="0" rIns="0" bIns="0" rtlCol="0" anchor="ctr"/>
          <a:lstStyle/>
          <a:p>
            <a:pPr indent="0" marL="0">
              <a:lnSpc>
                <a:spcPts val="1800"/>
              </a:lnSpc>
              <a:buNone/>
            </a:pPr>
            <a:r>
              <a:rPr lang="en-US" sz="1250" dirty="0">
                <a:solidFill>
                  <a:srgbClr val="334155"/>
                </a:solidFill>
                <a:latin typeface="Calibri" pitchFamily="34" charset="0"/>
                <a:ea typeface="Calibri" pitchFamily="34" charset="-122"/>
                <a:cs typeface="Calibri" pitchFamily="34" charset="-120"/>
              </a:rPr>
              <a:t>“I want exactly one of these to exist, configured this way, and I want Terraform to be responsible for it.”</a:t>
            </a:r>
            <a:endParaRPr lang="en-US" sz="1250" dirty="0"/>
          </a:p>
          <a:p>
            <a:pPr indent="0" marL="0">
              <a:lnSpc>
                <a:spcPts val="1800"/>
              </a:lnSpc>
              <a:buNone/>
            </a:pPr>
            <a:endParaRPr lang="en-US" sz="1250" dirty="0"/>
          </a:p>
          <a:p>
            <a:pPr indent="0" marL="0">
              <a:lnSpc>
                <a:spcPts val="1800"/>
              </a:lnSpc>
              <a:buNone/>
            </a:pPr>
            <a:r>
              <a:rPr lang="en-US" sz="1250" dirty="0">
                <a:solidFill>
                  <a:srgbClr val="334155"/>
                </a:solidFill>
                <a:latin typeface="Calibri" pitchFamily="34" charset="0"/>
                <a:ea typeface="Calibri" pitchFamily="34" charset="-122"/>
                <a:cs typeface="Calibri" pitchFamily="34" charset="-120"/>
              </a:rPr>
              <a:t>That responsibility is the important half. Terraform will create it, update it when you change the file, and destroy it when you delete the block.</a:t>
            </a:r>
            <a:endParaRPr lang="en-US" sz="1250" dirty="0"/>
          </a:p>
        </p:txBody>
      </p:sp>
      <p:sp>
        <p:nvSpPr>
          <p:cNvPr id="14" name="Shape 12"/>
          <p:cNvSpPr/>
          <p:nvPr/>
        </p:nvSpPr>
        <p:spPr>
          <a:xfrm>
            <a:off x="566928" y="3877056"/>
            <a:ext cx="6035040" cy="1965960"/>
          </a:xfrm>
          <a:prstGeom prst="roundRect">
            <a:avLst>
              <a:gd name="adj" fmla="val 2326"/>
            </a:avLst>
          </a:prstGeom>
          <a:solidFill>
            <a:srgbClr val="FFF7ED"/>
          </a:solidFill>
          <a:ln w="12700">
            <a:solidFill>
              <a:srgbClr val="FED7AA"/>
            </a:solidFill>
            <a:prstDash val="solid"/>
          </a:ln>
        </p:spPr>
      </p:sp>
      <p:sp>
        <p:nvSpPr>
          <p:cNvPr id="15" name="Text 13"/>
          <p:cNvSpPr/>
          <p:nvPr/>
        </p:nvSpPr>
        <p:spPr>
          <a:xfrm>
            <a:off x="804672" y="3968496"/>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THE SURPRISE EVERYONE GETS</a:t>
            </a:r>
            <a:endParaRPr lang="en-US" sz="1000" dirty="0"/>
          </a:p>
        </p:txBody>
      </p:sp>
      <p:sp>
        <p:nvSpPr>
          <p:cNvPr id="16" name="Text 14"/>
          <p:cNvSpPr/>
          <p:nvPr/>
        </p:nvSpPr>
        <p:spPr>
          <a:xfrm>
            <a:off x="804672" y="4178808"/>
            <a:ext cx="5559552" cy="15636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AWS features you think of as “settings on a bucket” are often separate resources: versioning, encryption, public-access block, lifecycle rules, and the bucket policy are five more blocks.</a:t>
            </a:r>
            <a:endParaRPr lang="en-US" sz="1300" dirty="0"/>
          </a:p>
          <a:p>
            <a:pPr indent="0" marL="0">
              <a:lnSpc>
                <a:spcPts val="1800"/>
              </a:lnSpc>
              <a:buNone/>
            </a:pPr>
            <a:endParaRPr lang="en-US" sz="1300" dirty="0"/>
          </a:p>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This is not Terraform being awkward. It mirrors how the AWS API is actually shaped — each of those is its own API call.</a:t>
            </a:r>
            <a:endParaRPr lang="en-US" sz="1300" dirty="0"/>
          </a:p>
        </p:txBody>
      </p:sp>
      <p:sp>
        <p:nvSpPr>
          <p:cNvPr id="17" name="Shape 15"/>
          <p:cNvSpPr/>
          <p:nvPr/>
        </p:nvSpPr>
        <p:spPr>
          <a:xfrm>
            <a:off x="6812280" y="3877056"/>
            <a:ext cx="5102352" cy="1965960"/>
          </a:xfrm>
          <a:prstGeom prst="roundRect">
            <a:avLst>
              <a:gd name="adj" fmla="val 2326"/>
            </a:avLst>
          </a:prstGeom>
          <a:solidFill>
            <a:srgbClr val="F0FDFA"/>
          </a:solidFill>
          <a:ln w="12700">
            <a:solidFill>
              <a:srgbClr val="99F6E4"/>
            </a:solidFill>
            <a:prstDash val="solid"/>
          </a:ln>
        </p:spPr>
      </p:sp>
      <p:sp>
        <p:nvSpPr>
          <p:cNvPr id="18" name="Text 16"/>
          <p:cNvSpPr/>
          <p:nvPr/>
        </p:nvSpPr>
        <p:spPr>
          <a:xfrm>
            <a:off x="7050024" y="3968496"/>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HOW TO FIND THE RIGHT BLOCK</a:t>
            </a:r>
            <a:endParaRPr lang="en-US" sz="1000" dirty="0"/>
          </a:p>
        </p:txBody>
      </p:sp>
      <p:sp>
        <p:nvSpPr>
          <p:cNvPr id="19" name="Text 17"/>
          <p:cNvSpPr/>
          <p:nvPr/>
        </p:nvSpPr>
        <p:spPr>
          <a:xfrm>
            <a:off x="7050024" y="4178808"/>
            <a:ext cx="4626864" cy="15636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Do not guess and do not trust an LLM’s memory. Search the provider registry for the AWS resource name, read the Example Usage block, and copy from there.</a:t>
            </a:r>
            <a:endParaRPr lang="en-US" sz="1300" dirty="0"/>
          </a:p>
          <a:p>
            <a:pPr indent="0" marL="0">
              <a:lnSpc>
                <a:spcPts val="1800"/>
              </a:lnSpc>
              <a:buNone/>
            </a:pPr>
            <a:endParaRPr lang="en-US" sz="1300" dirty="0"/>
          </a:p>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registry.terraform.io is the only source of truth for arguments and their current names.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BLOCK TYPE 3 OF 5</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Data sources: read, don’t own</a:t>
            </a:r>
            <a:endParaRPr lang="en-US" sz="3000" dirty="0"/>
          </a:p>
        </p:txBody>
      </p:sp>
      <p:sp>
        <p:nvSpPr>
          <p:cNvPr id="4" name="Text 2"/>
          <p:cNvSpPr/>
          <p:nvPr/>
        </p:nvSpPr>
        <p:spPr>
          <a:xfrm>
            <a:off x="566928" y="1353312"/>
            <a:ext cx="11073384" cy="329184"/>
          </a:xfrm>
          <a:prstGeom prst="rect">
            <a:avLst/>
          </a:prstGeom>
          <a:noFill/>
          <a:ln/>
        </p:spPr>
        <p:txBody>
          <a:bodyPr wrap="square" lIns="0" tIns="0" rIns="0" bIns="0" rtlCol="0" anchor="ctr"/>
          <a:lstStyle/>
          <a:p>
            <a:pPr indent="0" marL="0">
              <a:buNone/>
            </a:pPr>
            <a:r>
              <a:rPr lang="en-US" sz="1350" dirty="0">
                <a:solidFill>
                  <a:srgbClr val="334155"/>
                </a:solidFill>
                <a:latin typeface="Calibri" pitchFamily="34" charset="0"/>
                <a:ea typeface="Calibri" pitchFamily="34" charset="-122"/>
                <a:cs typeface="Calibri" pitchFamily="34" charset="-120"/>
              </a:rPr>
              <a:t>A data block looks up something that already exists. Terraform reads it, uses it, and never manages or deletes it.</a:t>
            </a:r>
            <a:endParaRPr lang="en-US" sz="1350" dirty="0"/>
          </a:p>
        </p:txBody>
      </p:sp>
      <p:sp>
        <p:nvSpPr>
          <p:cNvPr id="5" name="Shape 3"/>
          <p:cNvSpPr/>
          <p:nvPr/>
        </p:nvSpPr>
        <p:spPr>
          <a:xfrm>
            <a:off x="566928" y="1810512"/>
            <a:ext cx="6629400" cy="2377440"/>
          </a:xfrm>
          <a:prstGeom prst="roundRect">
            <a:avLst>
              <a:gd name="adj" fmla="val 2308"/>
            </a:avLst>
          </a:prstGeom>
          <a:solidFill>
            <a:srgbClr val="0F172A"/>
          </a:solidFill>
          <a:ln w="12700">
            <a:solidFill>
              <a:srgbClr val="334155"/>
            </a:solidFill>
            <a:prstDash val="solid"/>
          </a:ln>
        </p:spPr>
      </p:sp>
      <p:sp>
        <p:nvSpPr>
          <p:cNvPr id="6" name="Shape 4"/>
          <p:cNvSpPr/>
          <p:nvPr/>
        </p:nvSpPr>
        <p:spPr>
          <a:xfrm>
            <a:off x="566928" y="1810512"/>
            <a:ext cx="6629400" cy="292608"/>
          </a:xfrm>
          <a:prstGeom prst="rect">
            <a:avLst/>
          </a:prstGeom>
          <a:solidFill>
            <a:srgbClr val="1E293B"/>
          </a:solidFill>
          <a:ln w="12700">
            <a:solidFill>
              <a:srgbClr val="334155"/>
            </a:solidFill>
            <a:prstDash val="solid"/>
          </a:ln>
        </p:spPr>
      </p:sp>
      <p:sp>
        <p:nvSpPr>
          <p:cNvPr id="7" name="Shape 5"/>
          <p:cNvSpPr/>
          <p:nvPr/>
        </p:nvSpPr>
        <p:spPr>
          <a:xfrm>
            <a:off x="685800" y="1906524"/>
            <a:ext cx="100584" cy="100584"/>
          </a:xfrm>
          <a:prstGeom prst="ellipse">
            <a:avLst/>
          </a:prstGeom>
          <a:solidFill>
            <a:srgbClr val="F87171"/>
          </a:solidFill>
          <a:ln w="6350">
            <a:solidFill>
              <a:srgbClr val="F87171"/>
            </a:solidFill>
            <a:prstDash val="solid"/>
          </a:ln>
        </p:spPr>
      </p:sp>
      <p:sp>
        <p:nvSpPr>
          <p:cNvPr id="8" name="Shape 6"/>
          <p:cNvSpPr/>
          <p:nvPr/>
        </p:nvSpPr>
        <p:spPr>
          <a:xfrm>
            <a:off x="859536" y="1906524"/>
            <a:ext cx="100584" cy="100584"/>
          </a:xfrm>
          <a:prstGeom prst="ellipse">
            <a:avLst/>
          </a:prstGeom>
          <a:solidFill>
            <a:srgbClr val="FBBF24"/>
          </a:solidFill>
          <a:ln w="6350">
            <a:solidFill>
              <a:srgbClr val="FBBF24"/>
            </a:solidFill>
            <a:prstDash val="solid"/>
          </a:ln>
        </p:spPr>
      </p:sp>
      <p:sp>
        <p:nvSpPr>
          <p:cNvPr id="9" name="Shape 7"/>
          <p:cNvSpPr/>
          <p:nvPr/>
        </p:nvSpPr>
        <p:spPr>
          <a:xfrm>
            <a:off x="1033272" y="1906524"/>
            <a:ext cx="100584" cy="100584"/>
          </a:xfrm>
          <a:prstGeom prst="ellipse">
            <a:avLst/>
          </a:prstGeom>
          <a:solidFill>
            <a:srgbClr val="34D399"/>
          </a:solidFill>
          <a:ln w="6350">
            <a:solidFill>
              <a:srgbClr val="34D399"/>
            </a:solidFill>
            <a:prstDash val="solid"/>
          </a:ln>
        </p:spPr>
      </p:sp>
      <p:sp>
        <p:nvSpPr>
          <p:cNvPr id="10" name="Text 8"/>
          <p:cNvSpPr/>
          <p:nvPr/>
        </p:nvSpPr>
        <p:spPr>
          <a:xfrm>
            <a:off x="1225296" y="1828800"/>
            <a:ext cx="5852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data.tf</a:t>
            </a:r>
            <a:endParaRPr lang="en-US" sz="950" dirty="0"/>
          </a:p>
        </p:txBody>
      </p:sp>
      <p:sp>
        <p:nvSpPr>
          <p:cNvPr id="11" name="Text 9"/>
          <p:cNvSpPr/>
          <p:nvPr/>
        </p:nvSpPr>
        <p:spPr>
          <a:xfrm>
            <a:off x="768096" y="2194560"/>
            <a:ext cx="6227064" cy="1847088"/>
          </a:xfrm>
          <a:prstGeom prst="rect">
            <a:avLst/>
          </a:prstGeom>
          <a:noFill/>
          <a:ln/>
        </p:spPr>
        <p:txBody>
          <a:bodyPr wrap="square" lIns="0" tIns="0" rIns="0" bIns="0" rtlCol="0" anchor="t"/>
          <a:lstStyle/>
          <a:p>
            <a:pPr indent="0" marL="0">
              <a:lnSpc>
                <a:spcPts val="1782"/>
              </a:lnSpc>
              <a:buNone/>
            </a:pPr>
            <a:r>
              <a:rPr lang="en-US" sz="1100" dirty="0">
                <a:solidFill>
                  <a:srgbClr val="94A3B8"/>
                </a:solidFill>
                <a:latin typeface="Courier New" pitchFamily="34" charset="0"/>
                <a:ea typeface="Courier New" pitchFamily="34" charset="-122"/>
                <a:cs typeface="Courier New" pitchFamily="34" charset="-120"/>
              </a:rPr>
              <a:t># Never hardcode an AMI ID. They differ per region</a:t>
            </a:r>
            <a:endParaRPr lang="en-US" sz="1100" dirty="0"/>
          </a:p>
          <a:p>
            <a:pPr indent="0" marL="0">
              <a:lnSpc>
                <a:spcPts val="1782"/>
              </a:lnSpc>
              <a:buNone/>
            </a:pPr>
            <a:r>
              <a:rPr lang="en-US" sz="1100" dirty="0">
                <a:solidFill>
                  <a:srgbClr val="94A3B8"/>
                </a:solidFill>
                <a:latin typeface="Courier New" pitchFamily="34" charset="0"/>
                <a:ea typeface="Courier New" pitchFamily="34" charset="-122"/>
                <a:cs typeface="Courier New" pitchFamily="34" charset="-120"/>
              </a:rPr>
              <a:t># and go stale every few weeks.</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data "aws_ssm_parameter" "al2023"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name = "/aws/service/ami-amazon-linux-latest/..."</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data "aws_caller_identity" "me"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data "aws_region" "current" {}</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resource "aws_instance" "web" {</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ami = data.aws_ssm_parameter.al2023.value</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12" name="Shape 10"/>
          <p:cNvSpPr/>
          <p:nvPr/>
        </p:nvSpPr>
        <p:spPr>
          <a:xfrm>
            <a:off x="7406640" y="1810512"/>
            <a:ext cx="4507992" cy="1207008"/>
          </a:xfrm>
          <a:prstGeom prst="roundRect">
            <a:avLst>
              <a:gd name="adj" fmla="val 3788"/>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3" name="Shape 11"/>
          <p:cNvSpPr/>
          <p:nvPr/>
        </p:nvSpPr>
        <p:spPr>
          <a:xfrm>
            <a:off x="7644384" y="2048256"/>
            <a:ext cx="512064" cy="512064"/>
          </a:xfrm>
          <a:prstGeom prst="ellipse">
            <a:avLst/>
          </a:prstGeom>
          <a:solidFill>
            <a:srgbClr val="F0FDFA"/>
          </a:solidFill>
          <a:ln w="11430">
            <a:solidFill>
              <a:srgbClr val="0D9488"/>
            </a:solidFill>
            <a:prstDash val="solid"/>
          </a:ln>
        </p:spPr>
      </p:sp>
      <p:pic>
        <p:nvPicPr>
          <p:cNvPr id="14" name="Image 0" descr="preencoded.png">    </p:cNvPr>
          <p:cNvPicPr>
            <a:picLocks noChangeAspect="1"/>
          </p:cNvPicPr>
          <p:nvPr/>
        </p:nvPicPr>
        <p:blipFill>
          <a:blip r:embed="rId1"/>
          <a:stretch>
            <a:fillRect/>
          </a:stretch>
        </p:blipFill>
        <p:spPr>
          <a:xfrm>
            <a:off x="7767828" y="2171700"/>
            <a:ext cx="265176" cy="265176"/>
          </a:xfrm>
          <a:prstGeom prst="rect">
            <a:avLst/>
          </a:prstGeom>
        </p:spPr>
      </p:pic>
      <p:sp>
        <p:nvSpPr>
          <p:cNvPr id="15" name="Text 12"/>
          <p:cNvSpPr/>
          <p:nvPr/>
        </p:nvSpPr>
        <p:spPr>
          <a:xfrm>
            <a:off x="7644384" y="2651760"/>
            <a:ext cx="40325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Look up a moving target</a:t>
            </a:r>
            <a:endParaRPr lang="en-US" sz="1350" dirty="0"/>
          </a:p>
        </p:txBody>
      </p:sp>
      <p:sp>
        <p:nvSpPr>
          <p:cNvPr id="16" name="Text 13"/>
          <p:cNvSpPr/>
          <p:nvPr/>
        </p:nvSpPr>
        <p:spPr>
          <a:xfrm>
            <a:off x="7644384" y="2999232"/>
            <a:ext cx="40325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The latest AMI, the current account ID, the availability zones in this region.</a:t>
            </a:r>
            <a:endParaRPr lang="en-US" sz="1050" dirty="0"/>
          </a:p>
        </p:txBody>
      </p:sp>
      <p:sp>
        <p:nvSpPr>
          <p:cNvPr id="17" name="Shape 14"/>
          <p:cNvSpPr/>
          <p:nvPr/>
        </p:nvSpPr>
        <p:spPr>
          <a:xfrm>
            <a:off x="7406640" y="3108960"/>
            <a:ext cx="4507992" cy="1207008"/>
          </a:xfrm>
          <a:prstGeom prst="roundRect">
            <a:avLst>
              <a:gd name="adj" fmla="val 3788"/>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8" name="Shape 15"/>
          <p:cNvSpPr/>
          <p:nvPr/>
        </p:nvSpPr>
        <p:spPr>
          <a:xfrm>
            <a:off x="7644384" y="3346704"/>
            <a:ext cx="512064" cy="512064"/>
          </a:xfrm>
          <a:prstGeom prst="ellipse">
            <a:avLst/>
          </a:prstGeom>
          <a:solidFill>
            <a:srgbClr val="F0FDFA"/>
          </a:solidFill>
          <a:ln w="11430">
            <a:solidFill>
              <a:srgbClr val="0D9488"/>
            </a:solidFill>
            <a:prstDash val="solid"/>
          </a:ln>
        </p:spPr>
      </p:sp>
      <p:pic>
        <p:nvPicPr>
          <p:cNvPr id="19" name="Image 1" descr="preencoded.png">    </p:cNvPr>
          <p:cNvPicPr>
            <a:picLocks noChangeAspect="1"/>
          </p:cNvPicPr>
          <p:nvPr/>
        </p:nvPicPr>
        <p:blipFill>
          <a:blip r:embed="rId2"/>
          <a:stretch>
            <a:fillRect/>
          </a:stretch>
        </p:blipFill>
        <p:spPr>
          <a:xfrm>
            <a:off x="7767828" y="3470148"/>
            <a:ext cx="265176" cy="265176"/>
          </a:xfrm>
          <a:prstGeom prst="rect">
            <a:avLst/>
          </a:prstGeom>
        </p:spPr>
      </p:pic>
      <p:sp>
        <p:nvSpPr>
          <p:cNvPr id="20" name="Text 16"/>
          <p:cNvSpPr/>
          <p:nvPr/>
        </p:nvSpPr>
        <p:spPr>
          <a:xfrm>
            <a:off x="7644384" y="3950208"/>
            <a:ext cx="40325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Consume someone else’s work</a:t>
            </a:r>
            <a:endParaRPr lang="en-US" sz="1350" dirty="0"/>
          </a:p>
        </p:txBody>
      </p:sp>
      <p:sp>
        <p:nvSpPr>
          <p:cNvPr id="21" name="Text 17"/>
          <p:cNvSpPr/>
          <p:nvPr/>
        </p:nvSpPr>
        <p:spPr>
          <a:xfrm>
            <a:off x="7644384" y="4297680"/>
            <a:ext cx="40325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The networking team owns the VPC. You read it by tag and build inside it.</a:t>
            </a:r>
            <a:endParaRPr lang="en-US" sz="1050" dirty="0"/>
          </a:p>
        </p:txBody>
      </p:sp>
      <p:sp>
        <p:nvSpPr>
          <p:cNvPr id="22" name="Shape 18"/>
          <p:cNvSpPr/>
          <p:nvPr/>
        </p:nvSpPr>
        <p:spPr>
          <a:xfrm>
            <a:off x="7406640" y="4407408"/>
            <a:ext cx="4507992" cy="1207008"/>
          </a:xfrm>
          <a:prstGeom prst="roundRect">
            <a:avLst>
              <a:gd name="adj" fmla="val 3788"/>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3" name="Shape 19"/>
          <p:cNvSpPr/>
          <p:nvPr/>
        </p:nvSpPr>
        <p:spPr>
          <a:xfrm>
            <a:off x="7644384" y="4645152"/>
            <a:ext cx="512064" cy="512064"/>
          </a:xfrm>
          <a:prstGeom prst="ellipse">
            <a:avLst/>
          </a:prstGeom>
          <a:solidFill>
            <a:srgbClr val="F0FDFA"/>
          </a:solidFill>
          <a:ln w="11430">
            <a:solidFill>
              <a:srgbClr val="0D9488"/>
            </a:solidFill>
            <a:prstDash val="solid"/>
          </a:ln>
        </p:spPr>
      </p:sp>
      <p:pic>
        <p:nvPicPr>
          <p:cNvPr id="24" name="Image 2" descr="preencoded.png">    </p:cNvPr>
          <p:cNvPicPr>
            <a:picLocks noChangeAspect="1"/>
          </p:cNvPicPr>
          <p:nvPr/>
        </p:nvPicPr>
        <p:blipFill>
          <a:blip r:embed="rId3"/>
          <a:stretch>
            <a:fillRect/>
          </a:stretch>
        </p:blipFill>
        <p:spPr>
          <a:xfrm>
            <a:off x="7767828" y="4768596"/>
            <a:ext cx="265176" cy="265176"/>
          </a:xfrm>
          <a:prstGeom prst="rect">
            <a:avLst/>
          </a:prstGeom>
        </p:spPr>
      </p:pic>
      <p:sp>
        <p:nvSpPr>
          <p:cNvPr id="25" name="Text 20"/>
          <p:cNvSpPr/>
          <p:nvPr/>
        </p:nvSpPr>
        <p:spPr>
          <a:xfrm>
            <a:off x="7644384" y="5248656"/>
            <a:ext cx="40325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Read a secret at plan time</a:t>
            </a:r>
            <a:endParaRPr lang="en-US" sz="1350" dirty="0"/>
          </a:p>
        </p:txBody>
      </p:sp>
      <p:sp>
        <p:nvSpPr>
          <p:cNvPr id="26" name="Text 21"/>
          <p:cNvSpPr/>
          <p:nvPr/>
        </p:nvSpPr>
        <p:spPr>
          <a:xfrm>
            <a:off x="7644384" y="5596128"/>
            <a:ext cx="40325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Pull a value from Secrets Manager or SSM instead of committing it to the repo.</a:t>
            </a:r>
            <a:endParaRPr lang="en-US" sz="1050" dirty="0"/>
          </a:p>
        </p:txBody>
      </p:sp>
      <p:sp>
        <p:nvSpPr>
          <p:cNvPr id="27" name="Shape 22"/>
          <p:cNvSpPr/>
          <p:nvPr/>
        </p:nvSpPr>
        <p:spPr>
          <a:xfrm>
            <a:off x="566928" y="4407408"/>
            <a:ext cx="6629400" cy="1463040"/>
          </a:xfrm>
          <a:prstGeom prst="roundRect">
            <a:avLst>
              <a:gd name="adj" fmla="val 3125"/>
            </a:avLst>
          </a:prstGeom>
          <a:solidFill>
            <a:srgbClr val="FFF7ED"/>
          </a:solidFill>
          <a:ln w="12700">
            <a:solidFill>
              <a:srgbClr val="FED7AA"/>
            </a:solidFill>
            <a:prstDash val="solid"/>
          </a:ln>
        </p:spPr>
      </p:sp>
      <p:sp>
        <p:nvSpPr>
          <p:cNvPr id="28" name="Text 23"/>
          <p:cNvSpPr/>
          <p:nvPr/>
        </p:nvSpPr>
        <p:spPr>
          <a:xfrm>
            <a:off x="804672" y="4498848"/>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RESOURCE VS DATA — THE TEST</a:t>
            </a:r>
            <a:endParaRPr lang="en-US" sz="1000" dirty="0"/>
          </a:p>
        </p:txBody>
      </p:sp>
      <p:sp>
        <p:nvSpPr>
          <p:cNvPr id="29" name="Text 24"/>
          <p:cNvSpPr/>
          <p:nvPr/>
        </p:nvSpPr>
        <p:spPr>
          <a:xfrm>
            <a:off x="804672" y="4709160"/>
            <a:ext cx="6153912" cy="106070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Would deleting this block delete something in AWS? If yes, it is a resource and you own it. If no, it is a data source and you are only borrowing it.</a:t>
            </a:r>
            <a:endParaRPr lang="en-US" sz="1300" dirty="0"/>
          </a:p>
        </p:txBody>
      </p:sp>
      <p:sp>
        <p:nvSpPr>
          <p:cNvPr id="30" name="Text 25"/>
          <p:cNvSpPr/>
          <p:nvPr/>
        </p:nvSpPr>
        <p:spPr>
          <a:xfrm>
            <a:off x="566928" y="605332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Data sources are also how two separate Terraform projects talk to each other without sharing state.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BLOCK TYPE 4 OF 5</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Variables: the knobs on the outside</a:t>
            </a:r>
            <a:endParaRPr lang="en-US" sz="3000" dirty="0"/>
          </a:p>
        </p:txBody>
      </p:sp>
      <p:sp>
        <p:nvSpPr>
          <p:cNvPr id="4" name="Shape 2"/>
          <p:cNvSpPr/>
          <p:nvPr/>
        </p:nvSpPr>
        <p:spPr>
          <a:xfrm>
            <a:off x="566928" y="1371600"/>
            <a:ext cx="6492240" cy="3063240"/>
          </a:xfrm>
          <a:prstGeom prst="roundRect">
            <a:avLst>
              <a:gd name="adj" fmla="val 1791"/>
            </a:avLst>
          </a:prstGeom>
          <a:solidFill>
            <a:srgbClr val="0F172A"/>
          </a:solidFill>
          <a:ln w="12700">
            <a:solidFill>
              <a:srgbClr val="334155"/>
            </a:solidFill>
            <a:prstDash val="solid"/>
          </a:ln>
        </p:spPr>
      </p:sp>
      <p:sp>
        <p:nvSpPr>
          <p:cNvPr id="5" name="Shape 3"/>
          <p:cNvSpPr/>
          <p:nvPr/>
        </p:nvSpPr>
        <p:spPr>
          <a:xfrm>
            <a:off x="566928" y="1371600"/>
            <a:ext cx="649224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571500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variables.tf</a:t>
            </a:r>
            <a:endParaRPr lang="en-US" sz="950" dirty="0"/>
          </a:p>
        </p:txBody>
      </p:sp>
      <p:sp>
        <p:nvSpPr>
          <p:cNvPr id="10" name="Text 8"/>
          <p:cNvSpPr/>
          <p:nvPr/>
        </p:nvSpPr>
        <p:spPr>
          <a:xfrm>
            <a:off x="768096" y="1755648"/>
            <a:ext cx="6089904" cy="253288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variable "region"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description = "AWS region for all lab resources."</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type        = string</a:t>
            </a:r>
            <a:endParaRPr lang="en-US" sz="1100" dirty="0"/>
          </a:p>
          <a:p>
            <a:pPr indent="0" marL="0">
              <a:lnSpc>
                <a:spcPts val="1782"/>
              </a:lnSpc>
              <a:buNone/>
            </a:pPr>
            <a:r>
              <a:rPr lang="en-US" sz="1100" dirty="0">
                <a:solidFill>
                  <a:srgbClr val="FBBF24"/>
                </a:solidFill>
                <a:latin typeface="Courier New" pitchFamily="34" charset="0"/>
                <a:ea typeface="Courier New" pitchFamily="34" charset="-122"/>
                <a:cs typeface="Courier New" pitchFamily="34" charset="-120"/>
              </a:rPr>
              <a:t>  default     = "ap-south-1"   # Mumbai</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variable "student_name"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type = string</a:t>
            </a:r>
            <a:endParaRPr lang="en-US" sz="1100" dirty="0"/>
          </a:p>
          <a:p>
            <a:pPr indent="0" marL="0">
              <a:lnSpc>
                <a:spcPts val="1782"/>
              </a:lnSpc>
              <a:buNone/>
            </a:pP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validation {</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condition     = can(regex("^[a-z0-9-]{3,20}$", </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var.student_name))</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error_message = "S3 bucket names are DNS names."</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11" name="Text 9"/>
          <p:cNvSpPr/>
          <p:nvPr/>
        </p:nvSpPr>
        <p:spPr>
          <a:xfrm>
            <a:off x="7269480" y="1371600"/>
            <a:ext cx="4645152" cy="274320"/>
          </a:xfrm>
          <a:prstGeom prst="rect">
            <a:avLst/>
          </a:prstGeom>
          <a:noFill/>
          <a:ln/>
        </p:spPr>
        <p:txBody>
          <a:bodyPr wrap="square" lIns="0" tIns="0" rIns="0" bIns="0" rtlCol="0" anchor="ctr"/>
          <a:lstStyle/>
          <a:p>
            <a:pPr indent="0" marL="0">
              <a:buNone/>
            </a:pPr>
            <a:r>
              <a:rPr lang="en-US" sz="1100" b="1" spc="140" kern="0" dirty="0">
                <a:solidFill>
                  <a:srgbClr val="7B42BC"/>
                </a:solidFill>
                <a:latin typeface="Calibri" pitchFamily="34" charset="0"/>
                <a:ea typeface="Calibri" pitchFamily="34" charset="-122"/>
                <a:cs typeface="Calibri" pitchFamily="34" charset="-120"/>
              </a:rPr>
              <a:t>HOW A VALUE GETS IN  —  later wins</a:t>
            </a:r>
            <a:endParaRPr lang="en-US" sz="1100" dirty="0"/>
          </a:p>
        </p:txBody>
      </p:sp>
      <p:sp>
        <p:nvSpPr>
          <p:cNvPr id="12" name="Shape 10"/>
          <p:cNvSpPr/>
          <p:nvPr/>
        </p:nvSpPr>
        <p:spPr>
          <a:xfrm>
            <a:off x="7269480" y="1755648"/>
            <a:ext cx="4645152" cy="530352"/>
          </a:xfrm>
          <a:prstGeom prst="roundRect">
            <a:avLst>
              <a:gd name="adj" fmla="val 8621"/>
            </a:avLst>
          </a:prstGeom>
          <a:solidFill>
            <a:srgbClr val="FFFFFF"/>
          </a:solidFill>
          <a:ln w="12700">
            <a:solidFill>
              <a:srgbClr val="E2E8F0"/>
            </a:solidFill>
            <a:prstDash val="solid"/>
          </a:ln>
        </p:spPr>
      </p:sp>
      <p:sp>
        <p:nvSpPr>
          <p:cNvPr id="13" name="Text 11"/>
          <p:cNvSpPr/>
          <p:nvPr/>
        </p:nvSpPr>
        <p:spPr>
          <a:xfrm>
            <a:off x="7406640" y="1755648"/>
            <a:ext cx="310896" cy="530352"/>
          </a:xfrm>
          <a:prstGeom prst="rect">
            <a:avLst/>
          </a:prstGeom>
          <a:noFill/>
          <a:ln/>
        </p:spPr>
        <p:txBody>
          <a:bodyPr wrap="square" lIns="0" tIns="0" rIns="0" bIns="0" rtlCol="0" anchor="ctr"/>
          <a:lstStyle/>
          <a:p>
            <a:pPr algn="ctr" indent="0" marL="0">
              <a:buNone/>
            </a:pPr>
            <a:r>
              <a:rPr lang="en-US" sz="1300" b="1" dirty="0">
                <a:solidFill>
                  <a:srgbClr val="7B42BC"/>
                </a:solidFill>
                <a:latin typeface="Bookman Old Style" pitchFamily="34" charset="0"/>
                <a:ea typeface="Bookman Old Style" pitchFamily="34" charset="-122"/>
                <a:cs typeface="Bookman Old Style" pitchFamily="34" charset="-120"/>
              </a:rPr>
              <a:t>1</a:t>
            </a:r>
            <a:endParaRPr lang="en-US" sz="1300" dirty="0"/>
          </a:p>
        </p:txBody>
      </p:sp>
      <p:sp>
        <p:nvSpPr>
          <p:cNvPr id="14" name="Text 12"/>
          <p:cNvSpPr/>
          <p:nvPr/>
        </p:nvSpPr>
        <p:spPr>
          <a:xfrm>
            <a:off x="7772400" y="1801368"/>
            <a:ext cx="4023360" cy="256032"/>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default in the block</a:t>
            </a:r>
            <a:endParaRPr lang="en-US" sz="1100" dirty="0"/>
          </a:p>
        </p:txBody>
      </p:sp>
      <p:sp>
        <p:nvSpPr>
          <p:cNvPr id="15" name="Text 13"/>
          <p:cNvSpPr/>
          <p:nvPr/>
        </p:nvSpPr>
        <p:spPr>
          <a:xfrm>
            <a:off x="7772400" y="2020824"/>
            <a:ext cx="402336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the fallback</a:t>
            </a:r>
            <a:endParaRPr lang="en-US" sz="1050" dirty="0"/>
          </a:p>
        </p:txBody>
      </p:sp>
      <p:sp>
        <p:nvSpPr>
          <p:cNvPr id="16" name="Shape 14"/>
          <p:cNvSpPr/>
          <p:nvPr/>
        </p:nvSpPr>
        <p:spPr>
          <a:xfrm>
            <a:off x="7269480" y="2340864"/>
            <a:ext cx="4645152" cy="530352"/>
          </a:xfrm>
          <a:prstGeom prst="roundRect">
            <a:avLst>
              <a:gd name="adj" fmla="val 8621"/>
            </a:avLst>
          </a:prstGeom>
          <a:solidFill>
            <a:srgbClr val="FFFFFF"/>
          </a:solidFill>
          <a:ln w="12700">
            <a:solidFill>
              <a:srgbClr val="E2E8F0"/>
            </a:solidFill>
            <a:prstDash val="solid"/>
          </a:ln>
        </p:spPr>
      </p:sp>
      <p:sp>
        <p:nvSpPr>
          <p:cNvPr id="17" name="Text 15"/>
          <p:cNvSpPr/>
          <p:nvPr/>
        </p:nvSpPr>
        <p:spPr>
          <a:xfrm>
            <a:off x="7406640" y="2340864"/>
            <a:ext cx="310896" cy="530352"/>
          </a:xfrm>
          <a:prstGeom prst="rect">
            <a:avLst/>
          </a:prstGeom>
          <a:noFill/>
          <a:ln/>
        </p:spPr>
        <p:txBody>
          <a:bodyPr wrap="square" lIns="0" tIns="0" rIns="0" bIns="0" rtlCol="0" anchor="ctr"/>
          <a:lstStyle/>
          <a:p>
            <a:pPr algn="ctr" indent="0" marL="0">
              <a:buNone/>
            </a:pPr>
            <a:r>
              <a:rPr lang="en-US" sz="1300" b="1" dirty="0">
                <a:solidFill>
                  <a:srgbClr val="7B42BC"/>
                </a:solidFill>
                <a:latin typeface="Bookman Old Style" pitchFamily="34" charset="0"/>
                <a:ea typeface="Bookman Old Style" pitchFamily="34" charset="-122"/>
                <a:cs typeface="Bookman Old Style" pitchFamily="34" charset="-120"/>
              </a:rPr>
              <a:t>2</a:t>
            </a:r>
            <a:endParaRPr lang="en-US" sz="1300" dirty="0"/>
          </a:p>
        </p:txBody>
      </p:sp>
      <p:sp>
        <p:nvSpPr>
          <p:cNvPr id="18" name="Text 16"/>
          <p:cNvSpPr/>
          <p:nvPr/>
        </p:nvSpPr>
        <p:spPr>
          <a:xfrm>
            <a:off x="7772400" y="2386584"/>
            <a:ext cx="4023360" cy="256032"/>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terraform.tfvars</a:t>
            </a:r>
            <a:endParaRPr lang="en-US" sz="1100" dirty="0"/>
          </a:p>
        </p:txBody>
      </p:sp>
      <p:sp>
        <p:nvSpPr>
          <p:cNvPr id="19" name="Text 17"/>
          <p:cNvSpPr/>
          <p:nvPr/>
        </p:nvSpPr>
        <p:spPr>
          <a:xfrm>
            <a:off x="7772400" y="2606040"/>
            <a:ext cx="402336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your local values, gitignored</a:t>
            </a:r>
            <a:endParaRPr lang="en-US" sz="1050" dirty="0"/>
          </a:p>
        </p:txBody>
      </p:sp>
      <p:sp>
        <p:nvSpPr>
          <p:cNvPr id="20" name="Shape 18"/>
          <p:cNvSpPr/>
          <p:nvPr/>
        </p:nvSpPr>
        <p:spPr>
          <a:xfrm>
            <a:off x="7269480" y="2926080"/>
            <a:ext cx="4645152" cy="530352"/>
          </a:xfrm>
          <a:prstGeom prst="roundRect">
            <a:avLst>
              <a:gd name="adj" fmla="val 8621"/>
            </a:avLst>
          </a:prstGeom>
          <a:solidFill>
            <a:srgbClr val="FFFFFF"/>
          </a:solidFill>
          <a:ln w="12700">
            <a:solidFill>
              <a:srgbClr val="E2E8F0"/>
            </a:solidFill>
            <a:prstDash val="solid"/>
          </a:ln>
        </p:spPr>
      </p:sp>
      <p:sp>
        <p:nvSpPr>
          <p:cNvPr id="21" name="Text 19"/>
          <p:cNvSpPr/>
          <p:nvPr/>
        </p:nvSpPr>
        <p:spPr>
          <a:xfrm>
            <a:off x="7406640" y="2926080"/>
            <a:ext cx="310896" cy="530352"/>
          </a:xfrm>
          <a:prstGeom prst="rect">
            <a:avLst/>
          </a:prstGeom>
          <a:noFill/>
          <a:ln/>
        </p:spPr>
        <p:txBody>
          <a:bodyPr wrap="square" lIns="0" tIns="0" rIns="0" bIns="0" rtlCol="0" anchor="ctr"/>
          <a:lstStyle/>
          <a:p>
            <a:pPr algn="ctr" indent="0" marL="0">
              <a:buNone/>
            </a:pPr>
            <a:r>
              <a:rPr lang="en-US" sz="1300" b="1" dirty="0">
                <a:solidFill>
                  <a:srgbClr val="7B42BC"/>
                </a:solidFill>
                <a:latin typeface="Bookman Old Style" pitchFamily="34" charset="0"/>
                <a:ea typeface="Bookman Old Style" pitchFamily="34" charset="-122"/>
                <a:cs typeface="Bookman Old Style" pitchFamily="34" charset="-120"/>
              </a:rPr>
              <a:t>3</a:t>
            </a:r>
            <a:endParaRPr lang="en-US" sz="1300" dirty="0"/>
          </a:p>
        </p:txBody>
      </p:sp>
      <p:sp>
        <p:nvSpPr>
          <p:cNvPr id="22" name="Text 20"/>
          <p:cNvSpPr/>
          <p:nvPr/>
        </p:nvSpPr>
        <p:spPr>
          <a:xfrm>
            <a:off x="7772400" y="2971800"/>
            <a:ext cx="4023360" cy="256032"/>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-var-file=prod.tfvars</a:t>
            </a:r>
            <a:endParaRPr lang="en-US" sz="1100" dirty="0"/>
          </a:p>
        </p:txBody>
      </p:sp>
      <p:sp>
        <p:nvSpPr>
          <p:cNvPr id="23" name="Text 21"/>
          <p:cNvSpPr/>
          <p:nvPr/>
        </p:nvSpPr>
        <p:spPr>
          <a:xfrm>
            <a:off x="7772400" y="3191256"/>
            <a:ext cx="402336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per-environment values</a:t>
            </a:r>
            <a:endParaRPr lang="en-US" sz="1050" dirty="0"/>
          </a:p>
        </p:txBody>
      </p:sp>
      <p:sp>
        <p:nvSpPr>
          <p:cNvPr id="24" name="Shape 22"/>
          <p:cNvSpPr/>
          <p:nvPr/>
        </p:nvSpPr>
        <p:spPr>
          <a:xfrm>
            <a:off x="7269480" y="3511296"/>
            <a:ext cx="4645152" cy="530352"/>
          </a:xfrm>
          <a:prstGeom prst="roundRect">
            <a:avLst>
              <a:gd name="adj" fmla="val 8621"/>
            </a:avLst>
          </a:prstGeom>
          <a:solidFill>
            <a:srgbClr val="FFFFFF"/>
          </a:solidFill>
          <a:ln w="12700">
            <a:solidFill>
              <a:srgbClr val="E2E8F0"/>
            </a:solidFill>
            <a:prstDash val="solid"/>
          </a:ln>
        </p:spPr>
      </p:sp>
      <p:sp>
        <p:nvSpPr>
          <p:cNvPr id="25" name="Text 23"/>
          <p:cNvSpPr/>
          <p:nvPr/>
        </p:nvSpPr>
        <p:spPr>
          <a:xfrm>
            <a:off x="7406640" y="3511296"/>
            <a:ext cx="310896" cy="530352"/>
          </a:xfrm>
          <a:prstGeom prst="rect">
            <a:avLst/>
          </a:prstGeom>
          <a:noFill/>
          <a:ln/>
        </p:spPr>
        <p:txBody>
          <a:bodyPr wrap="square" lIns="0" tIns="0" rIns="0" bIns="0" rtlCol="0" anchor="ctr"/>
          <a:lstStyle/>
          <a:p>
            <a:pPr algn="ctr" indent="0" marL="0">
              <a:buNone/>
            </a:pPr>
            <a:r>
              <a:rPr lang="en-US" sz="1300" b="1" dirty="0">
                <a:solidFill>
                  <a:srgbClr val="7B42BC"/>
                </a:solidFill>
                <a:latin typeface="Bookman Old Style" pitchFamily="34" charset="0"/>
                <a:ea typeface="Bookman Old Style" pitchFamily="34" charset="-122"/>
                <a:cs typeface="Bookman Old Style" pitchFamily="34" charset="-120"/>
              </a:rPr>
              <a:t>4</a:t>
            </a:r>
            <a:endParaRPr lang="en-US" sz="1300" dirty="0"/>
          </a:p>
        </p:txBody>
      </p:sp>
      <p:sp>
        <p:nvSpPr>
          <p:cNvPr id="26" name="Text 24"/>
          <p:cNvSpPr/>
          <p:nvPr/>
        </p:nvSpPr>
        <p:spPr>
          <a:xfrm>
            <a:off x="7772400" y="3557016"/>
            <a:ext cx="4023360" cy="256032"/>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TF_VAR_region=…</a:t>
            </a:r>
            <a:endParaRPr lang="en-US" sz="1100" dirty="0"/>
          </a:p>
        </p:txBody>
      </p:sp>
      <p:sp>
        <p:nvSpPr>
          <p:cNvPr id="27" name="Text 25"/>
          <p:cNvSpPr/>
          <p:nvPr/>
        </p:nvSpPr>
        <p:spPr>
          <a:xfrm>
            <a:off x="7772400" y="3776472"/>
            <a:ext cx="402336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how CI passes values in</a:t>
            </a:r>
            <a:endParaRPr lang="en-US" sz="1050" dirty="0"/>
          </a:p>
        </p:txBody>
      </p:sp>
      <p:sp>
        <p:nvSpPr>
          <p:cNvPr id="28" name="Shape 26"/>
          <p:cNvSpPr/>
          <p:nvPr/>
        </p:nvSpPr>
        <p:spPr>
          <a:xfrm>
            <a:off x="7269480" y="4096512"/>
            <a:ext cx="4645152" cy="530352"/>
          </a:xfrm>
          <a:prstGeom prst="roundRect">
            <a:avLst>
              <a:gd name="adj" fmla="val 8621"/>
            </a:avLst>
          </a:prstGeom>
          <a:solidFill>
            <a:srgbClr val="F4EDFB"/>
          </a:solidFill>
          <a:ln w="12700">
            <a:solidFill>
              <a:srgbClr val="DCC6F0"/>
            </a:solidFill>
            <a:prstDash val="solid"/>
          </a:ln>
        </p:spPr>
      </p:sp>
      <p:sp>
        <p:nvSpPr>
          <p:cNvPr id="29" name="Text 27"/>
          <p:cNvSpPr/>
          <p:nvPr/>
        </p:nvSpPr>
        <p:spPr>
          <a:xfrm>
            <a:off x="7406640" y="4096512"/>
            <a:ext cx="310896" cy="530352"/>
          </a:xfrm>
          <a:prstGeom prst="rect">
            <a:avLst/>
          </a:prstGeom>
          <a:noFill/>
          <a:ln/>
        </p:spPr>
        <p:txBody>
          <a:bodyPr wrap="square" lIns="0" tIns="0" rIns="0" bIns="0" rtlCol="0" anchor="ctr"/>
          <a:lstStyle/>
          <a:p>
            <a:pPr algn="ctr" indent="0" marL="0">
              <a:buNone/>
            </a:pPr>
            <a:r>
              <a:rPr lang="en-US" sz="1300" b="1" dirty="0">
                <a:solidFill>
                  <a:srgbClr val="7B42BC"/>
                </a:solidFill>
                <a:latin typeface="Bookman Old Style" pitchFamily="34" charset="0"/>
                <a:ea typeface="Bookman Old Style" pitchFamily="34" charset="-122"/>
                <a:cs typeface="Bookman Old Style" pitchFamily="34" charset="-120"/>
              </a:rPr>
              <a:t>5</a:t>
            </a:r>
            <a:endParaRPr lang="en-US" sz="1300" dirty="0"/>
          </a:p>
        </p:txBody>
      </p:sp>
      <p:sp>
        <p:nvSpPr>
          <p:cNvPr id="30" name="Text 28"/>
          <p:cNvSpPr/>
          <p:nvPr/>
        </p:nvSpPr>
        <p:spPr>
          <a:xfrm>
            <a:off x="7772400" y="4142232"/>
            <a:ext cx="4023360" cy="256032"/>
          </a:xfrm>
          <a:prstGeom prst="rect">
            <a:avLst/>
          </a:prstGeom>
          <a:noFill/>
          <a:ln/>
        </p:spPr>
        <p:txBody>
          <a:bodyPr wrap="square" lIns="0" tIns="0" rIns="0" bIns="0" rtlCol="0" anchor="ctr"/>
          <a:lstStyle/>
          <a:p>
            <a:pPr indent="0" marL="0">
              <a:buNone/>
            </a:pPr>
            <a:r>
              <a:rPr lang="en-US" sz="1100" dirty="0">
                <a:solidFill>
                  <a:srgbClr val="0F172A"/>
                </a:solidFill>
                <a:latin typeface="Courier New" pitchFamily="34" charset="0"/>
                <a:ea typeface="Courier New" pitchFamily="34" charset="-122"/>
                <a:cs typeface="Courier New" pitchFamily="34" charset="-120"/>
              </a:rPr>
              <a:t>-var region=…</a:t>
            </a:r>
            <a:endParaRPr lang="en-US" sz="1100" dirty="0"/>
          </a:p>
        </p:txBody>
      </p:sp>
      <p:sp>
        <p:nvSpPr>
          <p:cNvPr id="31" name="Text 29"/>
          <p:cNvSpPr/>
          <p:nvPr/>
        </p:nvSpPr>
        <p:spPr>
          <a:xfrm>
            <a:off x="7772400" y="4361688"/>
            <a:ext cx="4023360" cy="22860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the manual override</a:t>
            </a:r>
            <a:endParaRPr lang="en-US" sz="1050" dirty="0"/>
          </a:p>
        </p:txBody>
      </p:sp>
      <p:sp>
        <p:nvSpPr>
          <p:cNvPr id="32" name="Shape 30"/>
          <p:cNvSpPr/>
          <p:nvPr/>
        </p:nvSpPr>
        <p:spPr>
          <a:xfrm>
            <a:off x="566928" y="4681728"/>
            <a:ext cx="11073384" cy="1207008"/>
          </a:xfrm>
          <a:prstGeom prst="roundRect">
            <a:avLst>
              <a:gd name="adj" fmla="val 3788"/>
            </a:avLst>
          </a:prstGeom>
          <a:solidFill>
            <a:srgbClr val="F0FDFA"/>
          </a:solidFill>
          <a:ln w="12700">
            <a:solidFill>
              <a:srgbClr val="99F6E4"/>
            </a:solidFill>
            <a:prstDash val="solid"/>
          </a:ln>
        </p:spPr>
      </p:sp>
      <p:sp>
        <p:nvSpPr>
          <p:cNvPr id="33" name="Text 31"/>
          <p:cNvSpPr/>
          <p:nvPr/>
        </p:nvSpPr>
        <p:spPr>
          <a:xfrm>
            <a:off x="804672" y="4773168"/>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TWO HABITS THAT PAY FOR THEMSELVES</a:t>
            </a:r>
            <a:endParaRPr lang="en-US" sz="1000" dirty="0"/>
          </a:p>
        </p:txBody>
      </p:sp>
      <p:sp>
        <p:nvSpPr>
          <p:cNvPr id="34" name="Text 32"/>
          <p:cNvSpPr/>
          <p:nvPr/>
        </p:nvSpPr>
        <p:spPr>
          <a:xfrm>
            <a:off x="804672" y="4983480"/>
            <a:ext cx="10597896" cy="80467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Always write a description — it appears in error messages and in generated docs. Always add validation for anything with a format constraint, because a validation error at plan time costs you three seconds, and the same mistake caught by the AWS API costs you a half-applied change to untangle.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BLOCK TYPE 5 OF 5, PLUS A HELPER</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Outputs and locals</a:t>
            </a:r>
            <a:endParaRPr lang="en-US" sz="3000" dirty="0"/>
          </a:p>
        </p:txBody>
      </p:sp>
      <p:sp>
        <p:nvSpPr>
          <p:cNvPr id="4" name="Shape 2"/>
          <p:cNvSpPr/>
          <p:nvPr/>
        </p:nvSpPr>
        <p:spPr>
          <a:xfrm>
            <a:off x="566928" y="1371600"/>
            <a:ext cx="5394960" cy="786384"/>
          </a:xfrm>
          <a:prstGeom prst="roundRect">
            <a:avLst>
              <a:gd name="adj" fmla="val 581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5" name="Shape 3"/>
          <p:cNvSpPr/>
          <p:nvPr/>
        </p:nvSpPr>
        <p:spPr>
          <a:xfrm>
            <a:off x="804672" y="1508760"/>
            <a:ext cx="512064" cy="512064"/>
          </a:xfrm>
          <a:prstGeom prst="ellipse">
            <a:avLst/>
          </a:prstGeom>
          <a:solidFill>
            <a:srgbClr val="F4EDFB"/>
          </a:solidFill>
          <a:ln w="11430">
            <a:solidFill>
              <a:srgbClr val="7B42BC"/>
            </a:solidFill>
            <a:prstDash val="solid"/>
          </a:ln>
        </p:spPr>
      </p:sp>
      <p:pic>
        <p:nvPicPr>
          <p:cNvPr id="6" name="Image 0" descr="preencoded.png">    </p:cNvPr>
          <p:cNvPicPr>
            <a:picLocks noChangeAspect="1"/>
          </p:cNvPicPr>
          <p:nvPr/>
        </p:nvPicPr>
        <p:blipFill>
          <a:blip r:embed="rId1"/>
          <a:stretch>
            <a:fillRect/>
          </a:stretch>
        </p:blipFill>
        <p:spPr>
          <a:xfrm>
            <a:off x="932688" y="1636776"/>
            <a:ext cx="256032" cy="256032"/>
          </a:xfrm>
          <a:prstGeom prst="rect">
            <a:avLst/>
          </a:prstGeom>
        </p:spPr>
      </p:pic>
      <p:sp>
        <p:nvSpPr>
          <p:cNvPr id="7" name="Text 4"/>
          <p:cNvSpPr/>
          <p:nvPr/>
        </p:nvSpPr>
        <p:spPr>
          <a:xfrm>
            <a:off x="1481328" y="1371600"/>
            <a:ext cx="4261104" cy="78638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output  —  values that leave the module</a:t>
            </a:r>
            <a:endParaRPr lang="en-US" sz="1400" dirty="0"/>
          </a:p>
        </p:txBody>
      </p:sp>
      <p:sp>
        <p:nvSpPr>
          <p:cNvPr id="8" name="Shape 5"/>
          <p:cNvSpPr/>
          <p:nvPr/>
        </p:nvSpPr>
        <p:spPr>
          <a:xfrm>
            <a:off x="566928" y="2542032"/>
            <a:ext cx="5394960" cy="1783080"/>
          </a:xfrm>
          <a:prstGeom prst="roundRect">
            <a:avLst>
              <a:gd name="adj" fmla="val 3077"/>
            </a:avLst>
          </a:prstGeom>
          <a:solidFill>
            <a:srgbClr val="0F172A"/>
          </a:solidFill>
          <a:ln w="12700">
            <a:solidFill>
              <a:srgbClr val="334155"/>
            </a:solidFill>
            <a:prstDash val="solid"/>
          </a:ln>
        </p:spPr>
      </p:sp>
      <p:sp>
        <p:nvSpPr>
          <p:cNvPr id="9" name="Shape 6"/>
          <p:cNvSpPr/>
          <p:nvPr/>
        </p:nvSpPr>
        <p:spPr>
          <a:xfrm>
            <a:off x="566928" y="2542032"/>
            <a:ext cx="5394960" cy="292608"/>
          </a:xfrm>
          <a:prstGeom prst="rect">
            <a:avLst/>
          </a:prstGeom>
          <a:solidFill>
            <a:srgbClr val="1E293B"/>
          </a:solidFill>
          <a:ln w="12700">
            <a:solidFill>
              <a:srgbClr val="334155"/>
            </a:solidFill>
            <a:prstDash val="solid"/>
          </a:ln>
        </p:spPr>
      </p:sp>
      <p:sp>
        <p:nvSpPr>
          <p:cNvPr id="10" name="Shape 7"/>
          <p:cNvSpPr/>
          <p:nvPr/>
        </p:nvSpPr>
        <p:spPr>
          <a:xfrm>
            <a:off x="685800" y="2638044"/>
            <a:ext cx="100584" cy="100584"/>
          </a:xfrm>
          <a:prstGeom prst="ellipse">
            <a:avLst/>
          </a:prstGeom>
          <a:solidFill>
            <a:srgbClr val="F87171"/>
          </a:solidFill>
          <a:ln w="6350">
            <a:solidFill>
              <a:srgbClr val="F87171"/>
            </a:solidFill>
            <a:prstDash val="solid"/>
          </a:ln>
        </p:spPr>
      </p:sp>
      <p:sp>
        <p:nvSpPr>
          <p:cNvPr id="11" name="Shape 8"/>
          <p:cNvSpPr/>
          <p:nvPr/>
        </p:nvSpPr>
        <p:spPr>
          <a:xfrm>
            <a:off x="859536" y="2638044"/>
            <a:ext cx="100584" cy="100584"/>
          </a:xfrm>
          <a:prstGeom prst="ellipse">
            <a:avLst/>
          </a:prstGeom>
          <a:solidFill>
            <a:srgbClr val="FBBF24"/>
          </a:solidFill>
          <a:ln w="6350">
            <a:solidFill>
              <a:srgbClr val="FBBF24"/>
            </a:solidFill>
            <a:prstDash val="solid"/>
          </a:ln>
        </p:spPr>
      </p:sp>
      <p:sp>
        <p:nvSpPr>
          <p:cNvPr id="12" name="Shape 9"/>
          <p:cNvSpPr/>
          <p:nvPr/>
        </p:nvSpPr>
        <p:spPr>
          <a:xfrm>
            <a:off x="1033272" y="2638044"/>
            <a:ext cx="100584" cy="100584"/>
          </a:xfrm>
          <a:prstGeom prst="ellipse">
            <a:avLst/>
          </a:prstGeom>
          <a:solidFill>
            <a:srgbClr val="34D399"/>
          </a:solidFill>
          <a:ln w="6350">
            <a:solidFill>
              <a:srgbClr val="34D399"/>
            </a:solidFill>
            <a:prstDash val="solid"/>
          </a:ln>
        </p:spPr>
      </p:sp>
      <p:sp>
        <p:nvSpPr>
          <p:cNvPr id="13" name="Text 10"/>
          <p:cNvSpPr/>
          <p:nvPr/>
        </p:nvSpPr>
        <p:spPr>
          <a:xfrm>
            <a:off x="1225296" y="2560320"/>
            <a:ext cx="461772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outputs.tf</a:t>
            </a:r>
            <a:endParaRPr lang="en-US" sz="950" dirty="0"/>
          </a:p>
        </p:txBody>
      </p:sp>
      <p:sp>
        <p:nvSpPr>
          <p:cNvPr id="14" name="Text 11"/>
          <p:cNvSpPr/>
          <p:nvPr/>
        </p:nvSpPr>
        <p:spPr>
          <a:xfrm>
            <a:off x="768096" y="2926080"/>
            <a:ext cx="4992624" cy="125272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output "cluster_endpoint"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value = aws_eks_cluster.main.endpoint</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output "db_password"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value     = random_password.db.result</a:t>
            </a:r>
            <a:endParaRPr lang="en-US" sz="1100" dirty="0"/>
          </a:p>
          <a:p>
            <a:pPr indent="0" marL="0">
              <a:lnSpc>
                <a:spcPts val="1782"/>
              </a:lnSpc>
              <a:buNone/>
            </a:pPr>
            <a:r>
              <a:rPr lang="en-US" sz="1100" dirty="0">
                <a:solidFill>
                  <a:srgbClr val="FBBF24"/>
                </a:solidFill>
                <a:latin typeface="Courier New" pitchFamily="34" charset="0"/>
                <a:ea typeface="Courier New" pitchFamily="34" charset="-122"/>
                <a:cs typeface="Courier New" pitchFamily="34" charset="-120"/>
              </a:rPr>
              <a:t>  sensitive = true   # hidden from CLI output</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15" name="Text 12"/>
          <p:cNvSpPr/>
          <p:nvPr/>
        </p:nvSpPr>
        <p:spPr>
          <a:xfrm>
            <a:off x="566928" y="4443984"/>
            <a:ext cx="5394960" cy="640080"/>
          </a:xfrm>
          <a:prstGeom prst="rect">
            <a:avLst/>
          </a:prstGeom>
          <a:noFill/>
          <a:ln/>
        </p:spPr>
        <p:txBody>
          <a:bodyPr wrap="square" lIns="0" tIns="0" rIns="0" bIns="0" rtlCol="0" anchor="ctr"/>
          <a:lstStyle/>
          <a:p>
            <a:pPr indent="0" marL="0">
              <a:lnSpc>
                <a:spcPts val="1700"/>
              </a:lnSpc>
              <a:buNone/>
            </a:pPr>
            <a:r>
              <a:rPr lang="en-US" sz="1200" dirty="0">
                <a:solidFill>
                  <a:srgbClr val="334155"/>
                </a:solidFill>
                <a:latin typeface="Calibri" pitchFamily="34" charset="0"/>
                <a:ea typeface="Calibri" pitchFamily="34" charset="-122"/>
                <a:cs typeface="Calibri" pitchFamily="34" charset="-120"/>
              </a:rPr>
              <a:t>Outputs are how a module reports back, how you find the URL you just created, and how CI passes a value to the next job.</a:t>
            </a:r>
            <a:endParaRPr lang="en-US" sz="1200" dirty="0"/>
          </a:p>
        </p:txBody>
      </p:sp>
      <p:sp>
        <p:nvSpPr>
          <p:cNvPr id="16" name="Shape 13"/>
          <p:cNvSpPr/>
          <p:nvPr/>
        </p:nvSpPr>
        <p:spPr>
          <a:xfrm>
            <a:off x="6382512" y="1371600"/>
            <a:ext cx="5532120" cy="786384"/>
          </a:xfrm>
          <a:prstGeom prst="roundRect">
            <a:avLst>
              <a:gd name="adj" fmla="val 5814"/>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7" name="Shape 14"/>
          <p:cNvSpPr/>
          <p:nvPr/>
        </p:nvSpPr>
        <p:spPr>
          <a:xfrm>
            <a:off x="6620256" y="1508760"/>
            <a:ext cx="512064" cy="512064"/>
          </a:xfrm>
          <a:prstGeom prst="ellipse">
            <a:avLst/>
          </a:prstGeom>
          <a:solidFill>
            <a:srgbClr val="F0FDFA"/>
          </a:solidFill>
          <a:ln w="11430">
            <a:solidFill>
              <a:srgbClr val="0D9488"/>
            </a:solidFill>
            <a:prstDash val="solid"/>
          </a:ln>
        </p:spPr>
      </p:sp>
      <p:pic>
        <p:nvPicPr>
          <p:cNvPr id="18" name="Image 1" descr="preencoded.png">    </p:cNvPr>
          <p:cNvPicPr>
            <a:picLocks noChangeAspect="1"/>
          </p:cNvPicPr>
          <p:nvPr/>
        </p:nvPicPr>
        <p:blipFill>
          <a:blip r:embed="rId2"/>
          <a:stretch>
            <a:fillRect/>
          </a:stretch>
        </p:blipFill>
        <p:spPr>
          <a:xfrm>
            <a:off x="6748272" y="1636776"/>
            <a:ext cx="256032" cy="256032"/>
          </a:xfrm>
          <a:prstGeom prst="rect">
            <a:avLst/>
          </a:prstGeom>
        </p:spPr>
      </p:pic>
      <p:sp>
        <p:nvSpPr>
          <p:cNvPr id="19" name="Text 15"/>
          <p:cNvSpPr/>
          <p:nvPr/>
        </p:nvSpPr>
        <p:spPr>
          <a:xfrm>
            <a:off x="7296912" y="1371600"/>
            <a:ext cx="4398264" cy="786384"/>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locals  —  naming a repeated expression</a:t>
            </a:r>
            <a:endParaRPr lang="en-US" sz="1400" dirty="0"/>
          </a:p>
        </p:txBody>
      </p:sp>
      <p:sp>
        <p:nvSpPr>
          <p:cNvPr id="20" name="Shape 16"/>
          <p:cNvSpPr/>
          <p:nvPr/>
        </p:nvSpPr>
        <p:spPr>
          <a:xfrm>
            <a:off x="6382512" y="2542032"/>
            <a:ext cx="5532120" cy="1783080"/>
          </a:xfrm>
          <a:prstGeom prst="roundRect">
            <a:avLst>
              <a:gd name="adj" fmla="val 3077"/>
            </a:avLst>
          </a:prstGeom>
          <a:solidFill>
            <a:srgbClr val="0F172A"/>
          </a:solidFill>
          <a:ln w="12700">
            <a:solidFill>
              <a:srgbClr val="334155"/>
            </a:solidFill>
            <a:prstDash val="solid"/>
          </a:ln>
        </p:spPr>
      </p:sp>
      <p:sp>
        <p:nvSpPr>
          <p:cNvPr id="21" name="Shape 17"/>
          <p:cNvSpPr/>
          <p:nvPr/>
        </p:nvSpPr>
        <p:spPr>
          <a:xfrm>
            <a:off x="6382512" y="2542032"/>
            <a:ext cx="5532120" cy="292608"/>
          </a:xfrm>
          <a:prstGeom prst="rect">
            <a:avLst/>
          </a:prstGeom>
          <a:solidFill>
            <a:srgbClr val="1E293B"/>
          </a:solidFill>
          <a:ln w="12700">
            <a:solidFill>
              <a:srgbClr val="334155"/>
            </a:solidFill>
            <a:prstDash val="solid"/>
          </a:ln>
        </p:spPr>
      </p:sp>
      <p:sp>
        <p:nvSpPr>
          <p:cNvPr id="22" name="Shape 18"/>
          <p:cNvSpPr/>
          <p:nvPr/>
        </p:nvSpPr>
        <p:spPr>
          <a:xfrm>
            <a:off x="6501384" y="2638044"/>
            <a:ext cx="100584" cy="100584"/>
          </a:xfrm>
          <a:prstGeom prst="ellipse">
            <a:avLst/>
          </a:prstGeom>
          <a:solidFill>
            <a:srgbClr val="F87171"/>
          </a:solidFill>
          <a:ln w="6350">
            <a:solidFill>
              <a:srgbClr val="F87171"/>
            </a:solidFill>
            <a:prstDash val="solid"/>
          </a:ln>
        </p:spPr>
      </p:sp>
      <p:sp>
        <p:nvSpPr>
          <p:cNvPr id="23" name="Shape 19"/>
          <p:cNvSpPr/>
          <p:nvPr/>
        </p:nvSpPr>
        <p:spPr>
          <a:xfrm>
            <a:off x="6675120" y="2638044"/>
            <a:ext cx="100584" cy="100584"/>
          </a:xfrm>
          <a:prstGeom prst="ellipse">
            <a:avLst/>
          </a:prstGeom>
          <a:solidFill>
            <a:srgbClr val="FBBF24"/>
          </a:solidFill>
          <a:ln w="6350">
            <a:solidFill>
              <a:srgbClr val="FBBF24"/>
            </a:solidFill>
            <a:prstDash val="solid"/>
          </a:ln>
        </p:spPr>
      </p:sp>
      <p:sp>
        <p:nvSpPr>
          <p:cNvPr id="24" name="Shape 20"/>
          <p:cNvSpPr/>
          <p:nvPr/>
        </p:nvSpPr>
        <p:spPr>
          <a:xfrm>
            <a:off x="6848856" y="2638044"/>
            <a:ext cx="100584" cy="100584"/>
          </a:xfrm>
          <a:prstGeom prst="ellipse">
            <a:avLst/>
          </a:prstGeom>
          <a:solidFill>
            <a:srgbClr val="34D399"/>
          </a:solidFill>
          <a:ln w="6350">
            <a:solidFill>
              <a:srgbClr val="34D399"/>
            </a:solidFill>
            <a:prstDash val="solid"/>
          </a:ln>
        </p:spPr>
      </p:sp>
      <p:sp>
        <p:nvSpPr>
          <p:cNvPr id="25" name="Text 21"/>
          <p:cNvSpPr/>
          <p:nvPr/>
        </p:nvSpPr>
        <p:spPr>
          <a:xfrm>
            <a:off x="7040880" y="2560320"/>
            <a:ext cx="475488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locals.tf</a:t>
            </a:r>
            <a:endParaRPr lang="en-US" sz="950" dirty="0"/>
          </a:p>
        </p:txBody>
      </p:sp>
      <p:sp>
        <p:nvSpPr>
          <p:cNvPr id="26" name="Text 22"/>
          <p:cNvSpPr/>
          <p:nvPr/>
        </p:nvSpPr>
        <p:spPr>
          <a:xfrm>
            <a:off x="6583680" y="2926080"/>
            <a:ext cx="5129784" cy="125272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locals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prefix = "chiya-${var.env}-${var.student_name}"</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common_tags =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Env     = var.env</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Owner   = var.student_name</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27" name="Text 23"/>
          <p:cNvSpPr/>
          <p:nvPr/>
        </p:nvSpPr>
        <p:spPr>
          <a:xfrm>
            <a:off x="6382512" y="4443984"/>
            <a:ext cx="5532120" cy="640080"/>
          </a:xfrm>
          <a:prstGeom prst="rect">
            <a:avLst/>
          </a:prstGeom>
          <a:noFill/>
          <a:ln/>
        </p:spPr>
        <p:txBody>
          <a:bodyPr wrap="square" lIns="0" tIns="0" rIns="0" bIns="0" rtlCol="0" anchor="ctr"/>
          <a:lstStyle/>
          <a:p>
            <a:pPr indent="0" marL="0">
              <a:lnSpc>
                <a:spcPts val="1700"/>
              </a:lnSpc>
              <a:buNone/>
            </a:pPr>
            <a:r>
              <a:rPr lang="en-US" sz="1200" dirty="0">
                <a:solidFill>
                  <a:srgbClr val="334155"/>
                </a:solidFill>
                <a:latin typeface="Calibri" pitchFamily="34" charset="0"/>
                <a:ea typeface="Calibri" pitchFamily="34" charset="-122"/>
                <a:cs typeface="Calibri" pitchFamily="34" charset="-120"/>
              </a:rPr>
              <a:t>A local is computed once and reused. Use it when the same expression appears three times — not as a substitute for a variable.</a:t>
            </a:r>
            <a:endParaRPr lang="en-US" sz="1200" dirty="0"/>
          </a:p>
        </p:txBody>
      </p:sp>
      <p:sp>
        <p:nvSpPr>
          <p:cNvPr id="28" name="Shape 24"/>
          <p:cNvSpPr/>
          <p:nvPr/>
        </p:nvSpPr>
        <p:spPr>
          <a:xfrm>
            <a:off x="566928" y="5138928"/>
            <a:ext cx="11073384" cy="896112"/>
          </a:xfrm>
          <a:prstGeom prst="roundRect">
            <a:avLst>
              <a:gd name="adj" fmla="val 5102"/>
            </a:avLst>
          </a:prstGeom>
          <a:solidFill>
            <a:srgbClr val="FFF7ED"/>
          </a:solidFill>
          <a:ln w="12700">
            <a:solidFill>
              <a:srgbClr val="FED7AA"/>
            </a:solidFill>
            <a:prstDash val="solid"/>
          </a:ln>
        </p:spPr>
      </p:sp>
      <p:sp>
        <p:nvSpPr>
          <p:cNvPr id="29" name="Text 25"/>
          <p:cNvSpPr/>
          <p:nvPr/>
        </p:nvSpPr>
        <p:spPr>
          <a:xfrm>
            <a:off x="804672" y="5230368"/>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SENSITIVE IS NOT SECRET</a:t>
            </a:r>
            <a:endParaRPr lang="en-US" sz="1000" dirty="0"/>
          </a:p>
        </p:txBody>
      </p:sp>
      <p:sp>
        <p:nvSpPr>
          <p:cNvPr id="30" name="Text 26"/>
          <p:cNvSpPr/>
          <p:nvPr/>
        </p:nvSpPr>
        <p:spPr>
          <a:xfrm>
            <a:off x="804672" y="5440680"/>
            <a:ext cx="10597896" cy="493776"/>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sensitive = true only stops the value printing to your terminal. It is still stored in plain text in the state file. We will come back to this — it matters more than anything else on this slide.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REFERENCES AND INTERPOLATION</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How resources wire together</a:t>
            </a:r>
            <a:endParaRPr lang="en-US" sz="3000" dirty="0"/>
          </a:p>
        </p:txBody>
      </p:sp>
      <p:sp>
        <p:nvSpPr>
          <p:cNvPr id="4" name="Shape 2"/>
          <p:cNvSpPr/>
          <p:nvPr/>
        </p:nvSpPr>
        <p:spPr>
          <a:xfrm>
            <a:off x="566928" y="1371600"/>
            <a:ext cx="6766560" cy="2788920"/>
          </a:xfrm>
          <a:prstGeom prst="roundRect">
            <a:avLst>
              <a:gd name="adj" fmla="val 1967"/>
            </a:avLst>
          </a:prstGeom>
          <a:solidFill>
            <a:srgbClr val="0F172A"/>
          </a:solidFill>
          <a:ln w="12700">
            <a:solidFill>
              <a:srgbClr val="334155"/>
            </a:solidFill>
            <a:prstDash val="solid"/>
          </a:ln>
        </p:spPr>
      </p:sp>
      <p:sp>
        <p:nvSpPr>
          <p:cNvPr id="5" name="Shape 3"/>
          <p:cNvSpPr/>
          <p:nvPr/>
        </p:nvSpPr>
        <p:spPr>
          <a:xfrm>
            <a:off x="566928" y="1371600"/>
            <a:ext cx="676656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598932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the reference is the wire</a:t>
            </a:r>
            <a:endParaRPr lang="en-US" sz="950" dirty="0"/>
          </a:p>
        </p:txBody>
      </p:sp>
      <p:sp>
        <p:nvSpPr>
          <p:cNvPr id="10" name="Text 8"/>
          <p:cNvSpPr/>
          <p:nvPr/>
        </p:nvSpPr>
        <p:spPr>
          <a:xfrm>
            <a:off x="768096" y="1755648"/>
            <a:ext cx="6364224" cy="2258568"/>
          </a:xfrm>
          <a:prstGeom prst="rect">
            <a:avLst/>
          </a:prstGeom>
          <a:noFill/>
          <a:ln/>
        </p:spPr>
        <p:txBody>
          <a:bodyPr wrap="square" lIns="0" tIns="0" rIns="0" bIns="0" rtlCol="0" anchor="t"/>
          <a:lstStyle/>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resource "aws_iam_role" "ec2" {</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name               = "web-role-${var.student_name}"</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  assume_role_policy = data.aws_iam_policy_document.trust.json</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t>
            </a:r>
            <a:endParaRPr lang="en-US" sz="1150" dirty="0"/>
          </a:p>
          <a:p>
            <a:pPr indent="0" marL="0">
              <a:lnSpc>
                <a:spcPts val="1863"/>
              </a:lnSpc>
              <a:buNone/>
            </a:pP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resource "aws_iam_instance_profile" "ec2" {</a:t>
            </a:r>
            <a:endParaRPr lang="en-US" sz="1150" dirty="0"/>
          </a:p>
          <a:p>
            <a:pPr indent="0" marL="0">
              <a:lnSpc>
                <a:spcPts val="1863"/>
              </a:lnSpc>
              <a:buNone/>
            </a:pPr>
            <a:r>
              <a:rPr lang="en-US" sz="1150" b="1" dirty="0">
                <a:solidFill>
                  <a:srgbClr val="38BDF8"/>
                </a:solidFill>
                <a:latin typeface="Courier New" pitchFamily="34" charset="0"/>
                <a:ea typeface="Courier New" pitchFamily="34" charset="-122"/>
                <a:cs typeface="Courier New" pitchFamily="34" charset="-120"/>
              </a:rPr>
              <a:t>  role = aws_iam_role.ec2.name</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t>
            </a:r>
            <a:endParaRPr lang="en-US" sz="1150" dirty="0"/>
          </a:p>
          <a:p>
            <a:pPr indent="0" marL="0">
              <a:lnSpc>
                <a:spcPts val="1863"/>
              </a:lnSpc>
              <a:buNone/>
            </a:pP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resource "aws_instance" "web" {</a:t>
            </a:r>
            <a:endParaRPr lang="en-US" sz="1150" dirty="0"/>
          </a:p>
          <a:p>
            <a:pPr indent="0" marL="0">
              <a:lnSpc>
                <a:spcPts val="1863"/>
              </a:lnSpc>
              <a:buNone/>
            </a:pPr>
            <a:r>
              <a:rPr lang="en-US" sz="1150" b="1" dirty="0">
                <a:solidFill>
                  <a:srgbClr val="38BDF8"/>
                </a:solidFill>
                <a:latin typeface="Courier New" pitchFamily="34" charset="0"/>
                <a:ea typeface="Courier New" pitchFamily="34" charset="-122"/>
                <a:cs typeface="Courier New" pitchFamily="34" charset="-120"/>
              </a:rPr>
              <a:t>  iam_instance_profile = aws_iam_instance_profile.ec2.name</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a:t>
            </a:r>
            <a:endParaRPr lang="en-US" sz="1150" dirty="0"/>
          </a:p>
        </p:txBody>
      </p:sp>
      <p:sp>
        <p:nvSpPr>
          <p:cNvPr id="11" name="Shape 9"/>
          <p:cNvSpPr/>
          <p:nvPr/>
        </p:nvSpPr>
        <p:spPr>
          <a:xfrm>
            <a:off x="7543800" y="1371600"/>
            <a:ext cx="4370832" cy="2788920"/>
          </a:xfrm>
          <a:prstGeom prst="roundRect">
            <a:avLst>
              <a:gd name="adj" fmla="val 1639"/>
            </a:avLst>
          </a:prstGeom>
          <a:solidFill>
            <a:srgbClr val="F4EDFB"/>
          </a:solidFill>
          <a:ln w="12700">
            <a:solidFill>
              <a:srgbClr val="DCC6F0"/>
            </a:solidFill>
            <a:prstDash val="solid"/>
          </a:ln>
        </p:spPr>
      </p:sp>
      <p:sp>
        <p:nvSpPr>
          <p:cNvPr id="12" name="Text 10"/>
          <p:cNvSpPr/>
          <p:nvPr/>
        </p:nvSpPr>
        <p:spPr>
          <a:xfrm>
            <a:off x="7799832" y="1536192"/>
            <a:ext cx="3858768" cy="292608"/>
          </a:xfrm>
          <a:prstGeom prst="rect">
            <a:avLst/>
          </a:prstGeom>
          <a:noFill/>
          <a:ln/>
        </p:spPr>
        <p:txBody>
          <a:bodyPr wrap="square" lIns="0" tIns="0" rIns="0" bIns="0" rtlCol="0" anchor="ctr"/>
          <a:lstStyle/>
          <a:p>
            <a:pPr indent="0" marL="0">
              <a:buNone/>
            </a:pPr>
            <a:r>
              <a:rPr lang="en-US" sz="1400" b="1" dirty="0">
                <a:solidFill>
                  <a:srgbClr val="5C2D91"/>
                </a:solidFill>
                <a:latin typeface="Calibri" pitchFamily="34" charset="0"/>
                <a:ea typeface="Calibri" pitchFamily="34" charset="-122"/>
                <a:cs typeface="Calibri" pitchFamily="34" charset="-120"/>
              </a:rPr>
              <a:t>The address format</a:t>
            </a:r>
            <a:endParaRPr lang="en-US" sz="1400" dirty="0"/>
          </a:p>
        </p:txBody>
      </p:sp>
      <p:sp>
        <p:nvSpPr>
          <p:cNvPr id="13" name="Text 11"/>
          <p:cNvSpPr/>
          <p:nvPr/>
        </p:nvSpPr>
        <p:spPr>
          <a:xfrm>
            <a:off x="7799832" y="1865376"/>
            <a:ext cx="3858768" cy="292608"/>
          </a:xfrm>
          <a:prstGeom prst="rect">
            <a:avLst/>
          </a:prstGeom>
          <a:noFill/>
          <a:ln/>
        </p:spPr>
        <p:txBody>
          <a:bodyPr wrap="square" lIns="0" tIns="0" rIns="0" bIns="0" rtlCol="0" anchor="ctr"/>
          <a:lstStyle/>
          <a:p>
            <a:pPr indent="0" marL="0">
              <a:buNone/>
            </a:pPr>
            <a:r>
              <a:rPr lang="en-US" sz="1250" b="1" dirty="0">
                <a:solidFill>
                  <a:srgbClr val="0F172A"/>
                </a:solidFill>
                <a:latin typeface="Courier New" pitchFamily="34" charset="0"/>
                <a:ea typeface="Courier New" pitchFamily="34" charset="-122"/>
                <a:cs typeface="Courier New" pitchFamily="34" charset="-120"/>
              </a:rPr>
              <a:t>&lt;type&gt;.&lt;name&gt;.&lt;attribute&gt;</a:t>
            </a:r>
            <a:endParaRPr lang="en-US" sz="1250" dirty="0"/>
          </a:p>
        </p:txBody>
      </p:sp>
      <p:sp>
        <p:nvSpPr>
          <p:cNvPr id="14" name="Text 12"/>
          <p:cNvSpPr/>
          <p:nvPr/>
        </p:nvSpPr>
        <p:spPr>
          <a:xfrm>
            <a:off x="7799832" y="2231136"/>
            <a:ext cx="3858768" cy="1737360"/>
          </a:xfrm>
          <a:prstGeom prst="rect">
            <a:avLst/>
          </a:prstGeom>
          <a:noFill/>
          <a:ln/>
        </p:spPr>
        <p:txBody>
          <a:bodyPr wrap="square" lIns="0" tIns="0" rIns="0" bIns="0" rtlCol="0" anchor="ctr"/>
          <a:lstStyle/>
          <a:p>
            <a:pPr indent="0" marL="0">
              <a:lnSpc>
                <a:spcPts val="1700"/>
              </a:lnSpc>
              <a:buNone/>
            </a:pPr>
            <a:r>
              <a:rPr lang="en-US" sz="1100" dirty="0">
                <a:solidFill>
                  <a:srgbClr val="334155"/>
                </a:solidFill>
                <a:latin typeface="Courier New" pitchFamily="34" charset="0"/>
                <a:ea typeface="Courier New" pitchFamily="34" charset="-122"/>
                <a:cs typeface="Courier New" pitchFamily="34" charset="-120"/>
              </a:rPr>
              <a:t>aws_iam_role.ec2.name</a:t>
            </a:r>
            <a:endParaRPr lang="en-US" sz="1100" dirty="0"/>
          </a:p>
          <a:p>
            <a:pPr indent="0" marL="0">
              <a:lnSpc>
                <a:spcPts val="1700"/>
              </a:lnSpc>
              <a:buNone/>
            </a:pPr>
            <a:endParaRPr lang="en-US" sz="1100" dirty="0"/>
          </a:p>
          <a:p>
            <a:pPr indent="0" marL="0">
              <a:lnSpc>
                <a:spcPts val="1700"/>
              </a:lnSpc>
              <a:buNone/>
            </a:pPr>
            <a:r>
              <a:rPr lang="en-US" sz="1100" dirty="0">
                <a:solidFill>
                  <a:srgbClr val="334155"/>
                </a:solidFill>
                <a:latin typeface="Courier New" pitchFamily="34" charset="0"/>
                <a:ea typeface="Courier New" pitchFamily="34" charset="-122"/>
                <a:cs typeface="Courier New" pitchFamily="34" charset="-120"/>
              </a:rPr>
              <a:t>data sources get a data. prefix:</a:t>
            </a:r>
            <a:endParaRPr lang="en-US" sz="1100" dirty="0"/>
          </a:p>
          <a:p>
            <a:pPr indent="0" marL="0">
              <a:lnSpc>
                <a:spcPts val="1700"/>
              </a:lnSpc>
              <a:buNone/>
            </a:pPr>
            <a:r>
              <a:rPr lang="en-US" sz="1100" dirty="0">
                <a:solidFill>
                  <a:srgbClr val="334155"/>
                </a:solidFill>
                <a:latin typeface="Courier New" pitchFamily="34" charset="0"/>
                <a:ea typeface="Courier New" pitchFamily="34" charset="-122"/>
                <a:cs typeface="Courier New" pitchFamily="34" charset="-120"/>
              </a:rPr>
              <a:t>data.aws_ami.al2023.id</a:t>
            </a:r>
            <a:endParaRPr lang="en-US" sz="1100" dirty="0"/>
          </a:p>
          <a:p>
            <a:pPr indent="0" marL="0">
              <a:lnSpc>
                <a:spcPts val="1700"/>
              </a:lnSpc>
              <a:buNone/>
            </a:pPr>
            <a:endParaRPr lang="en-US" sz="1100" dirty="0"/>
          </a:p>
          <a:p>
            <a:pPr indent="0" marL="0">
              <a:lnSpc>
                <a:spcPts val="1700"/>
              </a:lnSpc>
              <a:buNone/>
            </a:pPr>
            <a:r>
              <a:rPr lang="en-US" sz="1100" dirty="0">
                <a:solidFill>
                  <a:srgbClr val="334155"/>
                </a:solidFill>
                <a:latin typeface="Courier New" pitchFamily="34" charset="0"/>
                <a:ea typeface="Courier New" pitchFamily="34" charset="-122"/>
                <a:cs typeface="Courier New" pitchFamily="34" charset="-120"/>
              </a:rPr>
              <a:t>variables and locals are flat:</a:t>
            </a:r>
            <a:endParaRPr lang="en-US" sz="1100" dirty="0"/>
          </a:p>
          <a:p>
            <a:pPr indent="0" marL="0">
              <a:lnSpc>
                <a:spcPts val="1700"/>
              </a:lnSpc>
              <a:buNone/>
            </a:pPr>
            <a:r>
              <a:rPr lang="en-US" sz="1100" dirty="0">
                <a:solidFill>
                  <a:srgbClr val="334155"/>
                </a:solidFill>
                <a:latin typeface="Courier New" pitchFamily="34" charset="0"/>
                <a:ea typeface="Courier New" pitchFamily="34" charset="-122"/>
                <a:cs typeface="Courier New" pitchFamily="34" charset="-120"/>
              </a:rPr>
              <a:t>var.region      local.prefix</a:t>
            </a:r>
            <a:endParaRPr lang="en-US" sz="1100" dirty="0"/>
          </a:p>
        </p:txBody>
      </p:sp>
      <p:sp>
        <p:nvSpPr>
          <p:cNvPr id="15" name="Shape 13"/>
          <p:cNvSpPr/>
          <p:nvPr/>
        </p:nvSpPr>
        <p:spPr>
          <a:xfrm>
            <a:off x="566928" y="4370832"/>
            <a:ext cx="11073384" cy="1481328"/>
          </a:xfrm>
          <a:prstGeom prst="roundRect">
            <a:avLst>
              <a:gd name="adj" fmla="val 3086"/>
            </a:avLst>
          </a:prstGeom>
          <a:solidFill>
            <a:srgbClr val="F0FDFA"/>
          </a:solidFill>
          <a:ln w="12700">
            <a:solidFill>
              <a:srgbClr val="99F6E4"/>
            </a:solidFill>
            <a:prstDash val="solid"/>
          </a:ln>
        </p:spPr>
      </p:sp>
      <p:sp>
        <p:nvSpPr>
          <p:cNvPr id="16" name="Text 14"/>
          <p:cNvSpPr/>
          <p:nvPr/>
        </p:nvSpPr>
        <p:spPr>
          <a:xfrm>
            <a:off x="804672" y="4462272"/>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WHY YOU NEVER PASTE AN ID</a:t>
            </a:r>
            <a:endParaRPr lang="en-US" sz="1000" dirty="0"/>
          </a:p>
        </p:txBody>
      </p:sp>
      <p:sp>
        <p:nvSpPr>
          <p:cNvPr id="17" name="Text 15"/>
          <p:cNvSpPr/>
          <p:nvPr/>
        </p:nvSpPr>
        <p:spPr>
          <a:xfrm>
            <a:off x="804672" y="4672584"/>
            <a:ext cx="10597896" cy="107899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Writing role = "web-role-sagyam" as a literal string would work — once. Referencing aws_iam_role.ec2.name does two extra things: Terraform learns that the profile depends on the role and must build it second, and if you ever rename the role, every reference follows automatically. Every hardcoded ID is a dependency Terraform cannot see.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ORDER OF OPERATIONS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Terraform builds a graph, not a script</a:t>
            </a:r>
            <a:endParaRPr lang="en-US" sz="3000" dirty="0"/>
          </a:p>
        </p:txBody>
      </p:sp>
      <p:sp>
        <p:nvSpPr>
          <p:cNvPr id="4" name="Text 2"/>
          <p:cNvSpPr/>
          <p:nvPr/>
        </p:nvSpPr>
        <p:spPr>
          <a:xfrm>
            <a:off x="566928" y="1335024"/>
            <a:ext cx="11073384" cy="548640"/>
          </a:xfrm>
          <a:prstGeom prst="rect">
            <a:avLst/>
          </a:prstGeom>
          <a:noFill/>
          <a:ln/>
        </p:spPr>
        <p:txBody>
          <a:bodyPr wrap="square" lIns="0" tIns="0" rIns="0" bIns="0" rtlCol="0" anchor="ctr"/>
          <a:lstStyle/>
          <a:p>
            <a:pPr indent="0" marL="0">
              <a:lnSpc>
                <a:spcPts val="1900"/>
              </a:lnSpc>
              <a:buNone/>
            </a:pPr>
            <a:r>
              <a:rPr lang="en-US" sz="1350" dirty="0">
                <a:solidFill>
                  <a:srgbClr val="334155"/>
                </a:solidFill>
                <a:latin typeface="Calibri" pitchFamily="34" charset="0"/>
                <a:ea typeface="Calibri" pitchFamily="34" charset="-122"/>
                <a:cs typeface="Calibri" pitchFamily="34" charset="-120"/>
              </a:rPr>
              <a:t>Terraform reads all your files, resolves every reference, and builds a directed graph. Independent branches run in parallel; dependent resources wait. You never write the order.</a:t>
            </a:r>
            <a:endParaRPr lang="en-US" sz="1350" dirty="0"/>
          </a:p>
        </p:txBody>
      </p:sp>
      <p:sp>
        <p:nvSpPr>
          <p:cNvPr id="5" name="Shape 3"/>
          <p:cNvSpPr/>
          <p:nvPr/>
        </p:nvSpPr>
        <p:spPr>
          <a:xfrm>
            <a:off x="566928" y="2011680"/>
            <a:ext cx="6766560" cy="2468880"/>
          </a:xfrm>
          <a:prstGeom prst="roundRect">
            <a:avLst>
              <a:gd name="adj" fmla="val 1852"/>
            </a:avLst>
          </a:prstGeom>
          <a:solidFill>
            <a:srgbClr val="FFFFFF"/>
          </a:solidFill>
          <a:ln w="12700">
            <a:solidFill>
              <a:srgbClr val="E2E8F0"/>
            </a:solidFill>
            <a:prstDash val="solid"/>
          </a:ln>
        </p:spPr>
      </p:sp>
      <p:sp>
        <p:nvSpPr>
          <p:cNvPr id="6" name="Shape 4"/>
          <p:cNvSpPr/>
          <p:nvPr/>
        </p:nvSpPr>
        <p:spPr>
          <a:xfrm>
            <a:off x="886968" y="2322576"/>
            <a:ext cx="1783080" cy="420624"/>
          </a:xfrm>
          <a:prstGeom prst="roundRect">
            <a:avLst>
              <a:gd name="adj" fmla="val 13043"/>
            </a:avLst>
          </a:prstGeom>
          <a:solidFill>
            <a:srgbClr val="F4EDFB"/>
          </a:solidFill>
          <a:ln w="13970">
            <a:solidFill>
              <a:srgbClr val="7B42BC"/>
            </a:solidFill>
            <a:prstDash val="solid"/>
          </a:ln>
        </p:spPr>
      </p:sp>
      <p:sp>
        <p:nvSpPr>
          <p:cNvPr id="7" name="Text 5"/>
          <p:cNvSpPr/>
          <p:nvPr/>
        </p:nvSpPr>
        <p:spPr>
          <a:xfrm>
            <a:off x="886968" y="2322576"/>
            <a:ext cx="1783080" cy="420624"/>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aws_iam_role</a:t>
            </a:r>
            <a:endParaRPr lang="en-US" sz="900" dirty="0"/>
          </a:p>
        </p:txBody>
      </p:sp>
      <p:sp>
        <p:nvSpPr>
          <p:cNvPr id="8" name="Shape 6"/>
          <p:cNvSpPr/>
          <p:nvPr/>
        </p:nvSpPr>
        <p:spPr>
          <a:xfrm>
            <a:off x="886968" y="2944368"/>
            <a:ext cx="1783080" cy="420624"/>
          </a:xfrm>
          <a:prstGeom prst="roundRect">
            <a:avLst>
              <a:gd name="adj" fmla="val 13043"/>
            </a:avLst>
          </a:prstGeom>
          <a:solidFill>
            <a:srgbClr val="F4EDFB"/>
          </a:solidFill>
          <a:ln w="13970">
            <a:solidFill>
              <a:srgbClr val="7B42BC"/>
            </a:solidFill>
            <a:prstDash val="solid"/>
          </a:ln>
        </p:spPr>
      </p:sp>
      <p:sp>
        <p:nvSpPr>
          <p:cNvPr id="9" name="Text 7"/>
          <p:cNvSpPr/>
          <p:nvPr/>
        </p:nvSpPr>
        <p:spPr>
          <a:xfrm>
            <a:off x="886968" y="2944368"/>
            <a:ext cx="1783080" cy="420624"/>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aws_subnet</a:t>
            </a:r>
            <a:endParaRPr lang="en-US" sz="900" dirty="0"/>
          </a:p>
        </p:txBody>
      </p:sp>
      <p:sp>
        <p:nvSpPr>
          <p:cNvPr id="10" name="Shape 8"/>
          <p:cNvSpPr/>
          <p:nvPr/>
        </p:nvSpPr>
        <p:spPr>
          <a:xfrm>
            <a:off x="886968" y="3566160"/>
            <a:ext cx="1783080" cy="420624"/>
          </a:xfrm>
          <a:prstGeom prst="roundRect">
            <a:avLst>
              <a:gd name="adj" fmla="val 13043"/>
            </a:avLst>
          </a:prstGeom>
          <a:solidFill>
            <a:srgbClr val="F0FDFA"/>
          </a:solidFill>
          <a:ln w="13970">
            <a:solidFill>
              <a:srgbClr val="0D9488"/>
            </a:solidFill>
            <a:prstDash val="solid"/>
          </a:ln>
        </p:spPr>
      </p:sp>
      <p:sp>
        <p:nvSpPr>
          <p:cNvPr id="11" name="Text 9"/>
          <p:cNvSpPr/>
          <p:nvPr/>
        </p:nvSpPr>
        <p:spPr>
          <a:xfrm>
            <a:off x="886968" y="3566160"/>
            <a:ext cx="1783080" cy="420624"/>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aws_s3_bucket</a:t>
            </a:r>
            <a:endParaRPr lang="en-US" sz="900" dirty="0"/>
          </a:p>
        </p:txBody>
      </p:sp>
      <p:sp>
        <p:nvSpPr>
          <p:cNvPr id="12" name="Shape 10"/>
          <p:cNvSpPr/>
          <p:nvPr/>
        </p:nvSpPr>
        <p:spPr>
          <a:xfrm>
            <a:off x="3127248" y="2322576"/>
            <a:ext cx="1783080" cy="420624"/>
          </a:xfrm>
          <a:prstGeom prst="roundRect">
            <a:avLst>
              <a:gd name="adj" fmla="val 13043"/>
            </a:avLst>
          </a:prstGeom>
          <a:solidFill>
            <a:srgbClr val="F4EDFB"/>
          </a:solidFill>
          <a:ln w="13970">
            <a:solidFill>
              <a:srgbClr val="7B42BC"/>
            </a:solidFill>
            <a:prstDash val="solid"/>
          </a:ln>
        </p:spPr>
      </p:sp>
      <p:sp>
        <p:nvSpPr>
          <p:cNvPr id="13" name="Text 11"/>
          <p:cNvSpPr/>
          <p:nvPr/>
        </p:nvSpPr>
        <p:spPr>
          <a:xfrm>
            <a:off x="3127248" y="2322576"/>
            <a:ext cx="1783080" cy="420624"/>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aws_iam_instance_profile</a:t>
            </a:r>
            <a:endParaRPr lang="en-US" sz="900" dirty="0"/>
          </a:p>
        </p:txBody>
      </p:sp>
      <p:sp>
        <p:nvSpPr>
          <p:cNvPr id="14" name="Shape 12"/>
          <p:cNvSpPr/>
          <p:nvPr/>
        </p:nvSpPr>
        <p:spPr>
          <a:xfrm>
            <a:off x="3127248" y="2944368"/>
            <a:ext cx="1783080" cy="420624"/>
          </a:xfrm>
          <a:prstGeom prst="roundRect">
            <a:avLst>
              <a:gd name="adj" fmla="val 13043"/>
            </a:avLst>
          </a:prstGeom>
          <a:solidFill>
            <a:srgbClr val="F4EDFB"/>
          </a:solidFill>
          <a:ln w="13970">
            <a:solidFill>
              <a:srgbClr val="7B42BC"/>
            </a:solidFill>
            <a:prstDash val="solid"/>
          </a:ln>
        </p:spPr>
      </p:sp>
      <p:sp>
        <p:nvSpPr>
          <p:cNvPr id="15" name="Text 13"/>
          <p:cNvSpPr/>
          <p:nvPr/>
        </p:nvSpPr>
        <p:spPr>
          <a:xfrm>
            <a:off x="3127248" y="2944368"/>
            <a:ext cx="1783080" cy="420624"/>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aws_security_group</a:t>
            </a:r>
            <a:endParaRPr lang="en-US" sz="900" dirty="0"/>
          </a:p>
        </p:txBody>
      </p:sp>
      <p:sp>
        <p:nvSpPr>
          <p:cNvPr id="16" name="Shape 14"/>
          <p:cNvSpPr/>
          <p:nvPr/>
        </p:nvSpPr>
        <p:spPr>
          <a:xfrm>
            <a:off x="3127248" y="3566160"/>
            <a:ext cx="1783080" cy="420624"/>
          </a:xfrm>
          <a:prstGeom prst="roundRect">
            <a:avLst>
              <a:gd name="adj" fmla="val 13043"/>
            </a:avLst>
          </a:prstGeom>
          <a:solidFill>
            <a:srgbClr val="F0FDFA"/>
          </a:solidFill>
          <a:ln w="13970">
            <a:solidFill>
              <a:srgbClr val="0D9488"/>
            </a:solidFill>
            <a:prstDash val="solid"/>
          </a:ln>
        </p:spPr>
      </p:sp>
      <p:sp>
        <p:nvSpPr>
          <p:cNvPr id="17" name="Text 15"/>
          <p:cNvSpPr/>
          <p:nvPr/>
        </p:nvSpPr>
        <p:spPr>
          <a:xfrm>
            <a:off x="3127248" y="3566160"/>
            <a:ext cx="1783080" cy="420624"/>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aws_s3_bucket_versioning</a:t>
            </a:r>
            <a:endParaRPr lang="en-US" sz="900" dirty="0"/>
          </a:p>
        </p:txBody>
      </p:sp>
      <p:sp>
        <p:nvSpPr>
          <p:cNvPr id="18" name="Shape 16"/>
          <p:cNvSpPr/>
          <p:nvPr/>
        </p:nvSpPr>
        <p:spPr>
          <a:xfrm>
            <a:off x="5367528" y="2322576"/>
            <a:ext cx="1600200" cy="1042416"/>
          </a:xfrm>
          <a:prstGeom prst="roundRect">
            <a:avLst>
              <a:gd name="adj" fmla="val 5263"/>
            </a:avLst>
          </a:prstGeom>
          <a:solidFill>
            <a:srgbClr val="FFF7ED"/>
          </a:solidFill>
          <a:ln w="13970">
            <a:solidFill>
              <a:srgbClr val="F97316"/>
            </a:solidFill>
            <a:prstDash val="solid"/>
          </a:ln>
        </p:spPr>
      </p:sp>
      <p:sp>
        <p:nvSpPr>
          <p:cNvPr id="19" name="Text 17"/>
          <p:cNvSpPr/>
          <p:nvPr/>
        </p:nvSpPr>
        <p:spPr>
          <a:xfrm>
            <a:off x="5367528" y="2322576"/>
            <a:ext cx="1600200" cy="1042416"/>
          </a:xfrm>
          <a:prstGeom prst="rect">
            <a:avLst/>
          </a:prstGeom>
          <a:noFill/>
          <a:ln/>
        </p:spPr>
        <p:txBody>
          <a:bodyPr wrap="square" lIns="0" tIns="0" rIns="0" bIns="0" rtlCol="0" anchor="ctr"/>
          <a:lstStyle/>
          <a:p>
            <a:pPr algn="ctr" indent="0" marL="0">
              <a:buNone/>
            </a:pPr>
            <a:r>
              <a:rPr lang="en-US" sz="900" dirty="0">
                <a:solidFill>
                  <a:srgbClr val="0F172A"/>
                </a:solidFill>
                <a:latin typeface="Courier New" pitchFamily="34" charset="0"/>
                <a:ea typeface="Courier New" pitchFamily="34" charset="-122"/>
                <a:cs typeface="Courier New" pitchFamily="34" charset="-120"/>
              </a:rPr>
              <a:t>aws_instance</a:t>
            </a:r>
            <a:endParaRPr lang="en-US" sz="900" dirty="0"/>
          </a:p>
        </p:txBody>
      </p:sp>
      <p:sp>
        <p:nvSpPr>
          <p:cNvPr id="20" name="Shape 18"/>
          <p:cNvSpPr/>
          <p:nvPr/>
        </p:nvSpPr>
        <p:spPr>
          <a:xfrm>
            <a:off x="2743200" y="2441448"/>
            <a:ext cx="310896" cy="182880"/>
          </a:xfrm>
          <a:prstGeom prst="rightArrow">
            <a:avLst/>
          </a:prstGeom>
          <a:solidFill>
            <a:srgbClr val="94A3B8"/>
          </a:solidFill>
          <a:ln w="12700">
            <a:solidFill>
              <a:srgbClr val="94A3B8"/>
            </a:solidFill>
            <a:prstDash val="solid"/>
          </a:ln>
        </p:spPr>
      </p:sp>
      <p:sp>
        <p:nvSpPr>
          <p:cNvPr id="21" name="Shape 19"/>
          <p:cNvSpPr/>
          <p:nvPr/>
        </p:nvSpPr>
        <p:spPr>
          <a:xfrm>
            <a:off x="2743200" y="3063240"/>
            <a:ext cx="310896" cy="182880"/>
          </a:xfrm>
          <a:prstGeom prst="rightArrow">
            <a:avLst/>
          </a:prstGeom>
          <a:solidFill>
            <a:srgbClr val="94A3B8"/>
          </a:solidFill>
          <a:ln w="12700">
            <a:solidFill>
              <a:srgbClr val="94A3B8"/>
            </a:solidFill>
            <a:prstDash val="solid"/>
          </a:ln>
        </p:spPr>
      </p:sp>
      <p:sp>
        <p:nvSpPr>
          <p:cNvPr id="22" name="Shape 20"/>
          <p:cNvSpPr/>
          <p:nvPr/>
        </p:nvSpPr>
        <p:spPr>
          <a:xfrm>
            <a:off x="2743200" y="3685032"/>
            <a:ext cx="310896" cy="182880"/>
          </a:xfrm>
          <a:prstGeom prst="rightArrow">
            <a:avLst/>
          </a:prstGeom>
          <a:solidFill>
            <a:srgbClr val="94A3B8"/>
          </a:solidFill>
          <a:ln w="12700">
            <a:solidFill>
              <a:srgbClr val="94A3B8"/>
            </a:solidFill>
            <a:prstDash val="solid"/>
          </a:ln>
        </p:spPr>
      </p:sp>
      <p:sp>
        <p:nvSpPr>
          <p:cNvPr id="23" name="Shape 21"/>
          <p:cNvSpPr/>
          <p:nvPr/>
        </p:nvSpPr>
        <p:spPr>
          <a:xfrm>
            <a:off x="4983480" y="2441448"/>
            <a:ext cx="310896" cy="182880"/>
          </a:xfrm>
          <a:prstGeom prst="rightArrow">
            <a:avLst/>
          </a:prstGeom>
          <a:solidFill>
            <a:srgbClr val="94A3B8"/>
          </a:solidFill>
          <a:ln w="12700">
            <a:solidFill>
              <a:srgbClr val="94A3B8"/>
            </a:solidFill>
            <a:prstDash val="solid"/>
          </a:ln>
        </p:spPr>
      </p:sp>
      <p:sp>
        <p:nvSpPr>
          <p:cNvPr id="24" name="Shape 22"/>
          <p:cNvSpPr/>
          <p:nvPr/>
        </p:nvSpPr>
        <p:spPr>
          <a:xfrm>
            <a:off x="4983480" y="3063240"/>
            <a:ext cx="310896" cy="182880"/>
          </a:xfrm>
          <a:prstGeom prst="rightArrow">
            <a:avLst/>
          </a:prstGeom>
          <a:solidFill>
            <a:srgbClr val="94A3B8"/>
          </a:solidFill>
          <a:ln w="12700">
            <a:solidFill>
              <a:srgbClr val="94A3B8"/>
            </a:solidFill>
            <a:prstDash val="solid"/>
          </a:ln>
        </p:spPr>
      </p:sp>
      <p:sp>
        <p:nvSpPr>
          <p:cNvPr id="25" name="Text 23"/>
          <p:cNvSpPr/>
          <p:nvPr/>
        </p:nvSpPr>
        <p:spPr>
          <a:xfrm>
            <a:off x="886968" y="4078224"/>
            <a:ext cx="6126480"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bottom branch has no dependents — it starts at the same instant as the top one</a:t>
            </a:r>
            <a:endParaRPr lang="en-US" sz="1050" dirty="0"/>
          </a:p>
        </p:txBody>
      </p:sp>
      <p:sp>
        <p:nvSpPr>
          <p:cNvPr id="26" name="Shape 24"/>
          <p:cNvSpPr/>
          <p:nvPr/>
        </p:nvSpPr>
        <p:spPr>
          <a:xfrm>
            <a:off x="7543800" y="2011680"/>
            <a:ext cx="4370832" cy="1188720"/>
          </a:xfrm>
          <a:prstGeom prst="roundRect">
            <a:avLst>
              <a:gd name="adj" fmla="val 384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7" name="Shape 25"/>
          <p:cNvSpPr/>
          <p:nvPr/>
        </p:nvSpPr>
        <p:spPr>
          <a:xfrm>
            <a:off x="7781544" y="2249424"/>
            <a:ext cx="512064" cy="512064"/>
          </a:xfrm>
          <a:prstGeom prst="ellipse">
            <a:avLst/>
          </a:prstGeom>
          <a:solidFill>
            <a:srgbClr val="F0FDFA"/>
          </a:solidFill>
          <a:ln w="11430">
            <a:solidFill>
              <a:srgbClr val="0D9488"/>
            </a:solidFill>
            <a:prstDash val="solid"/>
          </a:ln>
        </p:spPr>
      </p:sp>
      <p:pic>
        <p:nvPicPr>
          <p:cNvPr id="28" name="Image 0" descr="preencoded.png">    </p:cNvPr>
          <p:cNvPicPr>
            <a:picLocks noChangeAspect="1"/>
          </p:cNvPicPr>
          <p:nvPr/>
        </p:nvPicPr>
        <p:blipFill>
          <a:blip r:embed="rId1"/>
          <a:stretch>
            <a:fillRect/>
          </a:stretch>
        </p:blipFill>
        <p:spPr>
          <a:xfrm>
            <a:off x="7904988" y="2372868"/>
            <a:ext cx="265176" cy="265176"/>
          </a:xfrm>
          <a:prstGeom prst="rect">
            <a:avLst/>
          </a:prstGeom>
        </p:spPr>
      </p:pic>
      <p:sp>
        <p:nvSpPr>
          <p:cNvPr id="29" name="Text 26"/>
          <p:cNvSpPr/>
          <p:nvPr/>
        </p:nvSpPr>
        <p:spPr>
          <a:xfrm>
            <a:off x="7781544" y="2852928"/>
            <a:ext cx="389534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Implicit — preferred</a:t>
            </a:r>
            <a:endParaRPr lang="en-US" sz="1350" dirty="0"/>
          </a:p>
        </p:txBody>
      </p:sp>
      <p:sp>
        <p:nvSpPr>
          <p:cNvPr id="30" name="Text 27"/>
          <p:cNvSpPr/>
          <p:nvPr/>
        </p:nvSpPr>
        <p:spPr>
          <a:xfrm>
            <a:off x="7781544" y="3200400"/>
            <a:ext cx="3895344" cy="-182880"/>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A reference creates the edge. This is how 95% of your dependencies should be expressed.</a:t>
            </a:r>
            <a:endParaRPr lang="en-US" sz="1050" dirty="0"/>
          </a:p>
        </p:txBody>
      </p:sp>
      <p:sp>
        <p:nvSpPr>
          <p:cNvPr id="31" name="Shape 28"/>
          <p:cNvSpPr/>
          <p:nvPr/>
        </p:nvSpPr>
        <p:spPr>
          <a:xfrm>
            <a:off x="7543800" y="3291840"/>
            <a:ext cx="4370832" cy="1188720"/>
          </a:xfrm>
          <a:prstGeom prst="roundRect">
            <a:avLst>
              <a:gd name="adj" fmla="val 384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32" name="Shape 29"/>
          <p:cNvSpPr/>
          <p:nvPr/>
        </p:nvSpPr>
        <p:spPr>
          <a:xfrm>
            <a:off x="7781544" y="3529584"/>
            <a:ext cx="512064" cy="512064"/>
          </a:xfrm>
          <a:prstGeom prst="ellipse">
            <a:avLst/>
          </a:prstGeom>
          <a:solidFill>
            <a:srgbClr val="FFF7ED"/>
          </a:solidFill>
          <a:ln w="11430">
            <a:solidFill>
              <a:srgbClr val="F97316"/>
            </a:solidFill>
            <a:prstDash val="solid"/>
          </a:ln>
        </p:spPr>
      </p:sp>
      <p:pic>
        <p:nvPicPr>
          <p:cNvPr id="33" name="Image 1" descr="preencoded.png">    </p:cNvPr>
          <p:cNvPicPr>
            <a:picLocks noChangeAspect="1"/>
          </p:cNvPicPr>
          <p:nvPr/>
        </p:nvPicPr>
        <p:blipFill>
          <a:blip r:embed="rId2"/>
          <a:stretch>
            <a:fillRect/>
          </a:stretch>
        </p:blipFill>
        <p:spPr>
          <a:xfrm>
            <a:off x="7904988" y="3653028"/>
            <a:ext cx="265176" cy="265176"/>
          </a:xfrm>
          <a:prstGeom prst="rect">
            <a:avLst/>
          </a:prstGeom>
        </p:spPr>
      </p:pic>
      <p:sp>
        <p:nvSpPr>
          <p:cNvPr id="34" name="Text 30"/>
          <p:cNvSpPr/>
          <p:nvPr/>
        </p:nvSpPr>
        <p:spPr>
          <a:xfrm>
            <a:off x="7781544" y="4133088"/>
            <a:ext cx="389534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depends_on — the escape hatch</a:t>
            </a:r>
            <a:endParaRPr lang="en-US" sz="1350" dirty="0"/>
          </a:p>
        </p:txBody>
      </p:sp>
      <p:sp>
        <p:nvSpPr>
          <p:cNvPr id="35" name="Text 31"/>
          <p:cNvSpPr/>
          <p:nvPr/>
        </p:nvSpPr>
        <p:spPr>
          <a:xfrm>
            <a:off x="7781544" y="4480560"/>
            <a:ext cx="3895344" cy="-182880"/>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For real dependencies with no reference, e.g. an IAM policy that must attach before an instance can boot.</a:t>
            </a:r>
            <a:endParaRPr lang="en-US" sz="1050" dirty="0"/>
          </a:p>
        </p:txBody>
      </p:sp>
      <p:sp>
        <p:nvSpPr>
          <p:cNvPr id="36" name="Shape 32"/>
          <p:cNvSpPr/>
          <p:nvPr/>
        </p:nvSpPr>
        <p:spPr>
          <a:xfrm>
            <a:off x="566928" y="4709160"/>
            <a:ext cx="11073384" cy="1170432"/>
          </a:xfrm>
          <a:prstGeom prst="roundRect">
            <a:avLst>
              <a:gd name="adj" fmla="val 3906"/>
            </a:avLst>
          </a:prstGeom>
          <a:solidFill>
            <a:srgbClr val="F0FDFA"/>
          </a:solidFill>
          <a:ln w="12700">
            <a:solidFill>
              <a:srgbClr val="99F6E4"/>
            </a:solidFill>
            <a:prstDash val="solid"/>
          </a:ln>
        </p:spPr>
      </p:sp>
      <p:sp>
        <p:nvSpPr>
          <p:cNvPr id="37" name="Text 33"/>
          <p:cNvSpPr/>
          <p:nvPr/>
        </p:nvSpPr>
        <p:spPr>
          <a:xfrm>
            <a:off x="804672" y="4800600"/>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TWO THINGS THIS BUYS YOU</a:t>
            </a:r>
            <a:endParaRPr lang="en-US" sz="1000" dirty="0"/>
          </a:p>
        </p:txBody>
      </p:sp>
      <p:sp>
        <p:nvSpPr>
          <p:cNvPr id="38" name="Text 34"/>
          <p:cNvSpPr/>
          <p:nvPr/>
        </p:nvSpPr>
        <p:spPr>
          <a:xfrm>
            <a:off x="804672" y="5010912"/>
            <a:ext cx="10597896" cy="768096"/>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Speed — an apply that would take twenty minutes in sequence finishes in five, because Terraform runs every independent branch at once. And correctness on the way out: terraform destroy walks the same graph backwards, so nothing is deleted while something still depends on 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566928" y="1417320"/>
            <a:ext cx="1828800" cy="1371600"/>
          </a:xfrm>
          <a:prstGeom prst="rect">
            <a:avLst/>
          </a:prstGeom>
          <a:noFill/>
          <a:ln/>
        </p:spPr>
        <p:txBody>
          <a:bodyPr wrap="square" lIns="0" tIns="0" rIns="0" bIns="0" rtlCol="0" anchor="ctr"/>
          <a:lstStyle/>
          <a:p>
            <a:pPr indent="0" marL="0">
              <a:buNone/>
            </a:pPr>
            <a:r>
              <a:rPr lang="en-US" sz="8400" b="1" dirty="0">
                <a:solidFill>
                  <a:srgbClr val="0D9488"/>
                </a:solidFill>
                <a:latin typeface="Bookman Old Style" pitchFamily="34" charset="0"/>
                <a:ea typeface="Bookman Old Style" pitchFamily="34" charset="-122"/>
                <a:cs typeface="Bookman Old Style" pitchFamily="34" charset="-120"/>
              </a:rPr>
              <a:t>04</a:t>
            </a:r>
            <a:endParaRPr lang="en-US" sz="8400" dirty="0"/>
          </a:p>
        </p:txBody>
      </p:sp>
      <p:sp>
        <p:nvSpPr>
          <p:cNvPr id="4" name="Text 1"/>
          <p:cNvSpPr/>
          <p:nvPr/>
        </p:nvSpPr>
        <p:spPr>
          <a:xfrm>
            <a:off x="566928" y="278892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The Loop</a:t>
            </a:r>
            <a:endParaRPr lang="en-US" sz="4000" dirty="0"/>
          </a:p>
        </p:txBody>
      </p:sp>
      <p:sp>
        <p:nvSpPr>
          <p:cNvPr id="5" name="Text 2"/>
          <p:cNvSpPr/>
          <p:nvPr/>
        </p:nvSpPr>
        <p:spPr>
          <a:xfrm>
            <a:off x="566928" y="3767328"/>
            <a:ext cx="7315200" cy="777240"/>
          </a:xfrm>
          <a:prstGeom prst="rect">
            <a:avLst/>
          </a:prstGeom>
          <a:noFill/>
          <a:ln/>
        </p:spPr>
        <p:txBody>
          <a:bodyPr wrap="square" lIns="0" tIns="0" rIns="0" bIns="0" rtlCol="0" anchor="ctr"/>
          <a:lstStyle/>
          <a:p>
            <a:pPr indent="0" marL="0">
              <a:lnSpc>
                <a:spcPts val="2400"/>
              </a:lnSpc>
              <a:buNone/>
            </a:pPr>
            <a:r>
              <a:rPr lang="en-US" sz="1600" dirty="0">
                <a:solidFill>
                  <a:srgbClr val="94A3B8"/>
                </a:solidFill>
                <a:latin typeface="Calibri" pitchFamily="34" charset="0"/>
                <a:ea typeface="Calibri" pitchFamily="34" charset="-122"/>
                <a:cs typeface="Calibri" pitchFamily="34" charset="-120"/>
              </a:rPr>
              <a:t>Four commands, and you will type three of them a hundred times today. The discipline is not in knowing them — it is in reading the plan before you say yes.</a:t>
            </a:r>
            <a:endParaRPr lang="en-US" sz="1600" dirty="0"/>
          </a:p>
        </p:txBody>
      </p:sp>
      <p:sp>
        <p:nvSpPr>
          <p:cNvPr id="6" name="Shape 3"/>
          <p:cNvSpPr/>
          <p:nvPr/>
        </p:nvSpPr>
        <p:spPr>
          <a:xfrm>
            <a:off x="9418320" y="2148840"/>
            <a:ext cx="1874520" cy="1874520"/>
          </a:xfrm>
          <a:prstGeom prst="ellipse">
            <a:avLst/>
          </a:prstGeom>
          <a:solidFill>
            <a:srgbClr val="1E293B"/>
          </a:solidFill>
          <a:ln w="15875">
            <a:solidFill>
              <a:srgbClr val="0D9488"/>
            </a:solidFill>
            <a:prstDash val="solid"/>
          </a:ln>
        </p:spPr>
      </p:sp>
      <p:pic>
        <p:nvPicPr>
          <p:cNvPr id="7" name="Image 0" descr="preencoded.png">    </p:cNvPr>
          <p:cNvPicPr>
            <a:picLocks noChangeAspect="1"/>
          </p:cNvPicPr>
          <p:nvPr/>
        </p:nvPicPr>
        <p:blipFill>
          <a:blip r:embed="rId1"/>
          <a:stretch>
            <a:fillRect/>
          </a:stretch>
        </p:blipFill>
        <p:spPr>
          <a:xfrm>
            <a:off x="9893808" y="2624328"/>
            <a:ext cx="914400" cy="914400"/>
          </a:xfrm>
          <a:prstGeom prst="rect">
            <a:avLst/>
          </a:prstGeom>
        </p:spPr>
      </p:pic>
      <p:sp>
        <p:nvSpPr>
          <p:cNvPr id="8" name="Shape 4"/>
          <p:cNvSpPr/>
          <p:nvPr/>
        </p:nvSpPr>
        <p:spPr>
          <a:xfrm>
            <a:off x="566928" y="4892040"/>
            <a:ext cx="614477" cy="384048"/>
          </a:xfrm>
          <a:prstGeom prst="roundRect">
            <a:avLst>
              <a:gd name="adj" fmla="val 47619"/>
            </a:avLst>
          </a:prstGeom>
          <a:solidFill>
            <a:srgbClr val="1E293B"/>
          </a:solidFill>
          <a:ln w="9525">
            <a:solidFill>
              <a:srgbClr val="334155"/>
            </a:solidFill>
            <a:prstDash val="solid"/>
          </a:ln>
        </p:spPr>
      </p:sp>
      <p:sp>
        <p:nvSpPr>
          <p:cNvPr id="9" name="Text 5"/>
          <p:cNvSpPr/>
          <p:nvPr/>
        </p:nvSpPr>
        <p:spPr>
          <a:xfrm>
            <a:off x="566928" y="4892040"/>
            <a:ext cx="614477"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init</a:t>
            </a:r>
            <a:endParaRPr lang="en-US" sz="1050" dirty="0"/>
          </a:p>
        </p:txBody>
      </p:sp>
      <p:sp>
        <p:nvSpPr>
          <p:cNvPr id="10" name="Shape 6"/>
          <p:cNvSpPr/>
          <p:nvPr/>
        </p:nvSpPr>
        <p:spPr>
          <a:xfrm>
            <a:off x="1327709" y="4892040"/>
            <a:ext cx="614477" cy="384048"/>
          </a:xfrm>
          <a:prstGeom prst="roundRect">
            <a:avLst>
              <a:gd name="adj" fmla="val 47619"/>
            </a:avLst>
          </a:prstGeom>
          <a:solidFill>
            <a:srgbClr val="1E293B"/>
          </a:solidFill>
          <a:ln w="9525">
            <a:solidFill>
              <a:srgbClr val="334155"/>
            </a:solidFill>
            <a:prstDash val="solid"/>
          </a:ln>
        </p:spPr>
      </p:sp>
      <p:sp>
        <p:nvSpPr>
          <p:cNvPr id="11" name="Text 7"/>
          <p:cNvSpPr/>
          <p:nvPr/>
        </p:nvSpPr>
        <p:spPr>
          <a:xfrm>
            <a:off x="1327709" y="4892040"/>
            <a:ext cx="614477"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plan</a:t>
            </a:r>
            <a:endParaRPr lang="en-US" sz="1050" dirty="0"/>
          </a:p>
        </p:txBody>
      </p:sp>
      <p:sp>
        <p:nvSpPr>
          <p:cNvPr id="12" name="Shape 8"/>
          <p:cNvSpPr/>
          <p:nvPr/>
        </p:nvSpPr>
        <p:spPr>
          <a:xfrm>
            <a:off x="2088490" y="4892040"/>
            <a:ext cx="713232" cy="384048"/>
          </a:xfrm>
          <a:prstGeom prst="roundRect">
            <a:avLst>
              <a:gd name="adj" fmla="val 47619"/>
            </a:avLst>
          </a:prstGeom>
          <a:solidFill>
            <a:srgbClr val="1E293B"/>
          </a:solidFill>
          <a:ln w="9525">
            <a:solidFill>
              <a:srgbClr val="334155"/>
            </a:solidFill>
            <a:prstDash val="solid"/>
          </a:ln>
        </p:spPr>
      </p:sp>
      <p:sp>
        <p:nvSpPr>
          <p:cNvPr id="13" name="Text 9"/>
          <p:cNvSpPr/>
          <p:nvPr/>
        </p:nvSpPr>
        <p:spPr>
          <a:xfrm>
            <a:off x="2088490" y="4892040"/>
            <a:ext cx="71323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apply</a:t>
            </a:r>
            <a:endParaRPr lang="en-US" sz="1050" dirty="0"/>
          </a:p>
        </p:txBody>
      </p:sp>
      <p:sp>
        <p:nvSpPr>
          <p:cNvPr id="14" name="Shape 10"/>
          <p:cNvSpPr/>
          <p:nvPr/>
        </p:nvSpPr>
        <p:spPr>
          <a:xfrm>
            <a:off x="2948026" y="4892040"/>
            <a:ext cx="910742" cy="384048"/>
          </a:xfrm>
          <a:prstGeom prst="roundRect">
            <a:avLst>
              <a:gd name="adj" fmla="val 47619"/>
            </a:avLst>
          </a:prstGeom>
          <a:solidFill>
            <a:srgbClr val="1E293B"/>
          </a:solidFill>
          <a:ln w="9525">
            <a:solidFill>
              <a:srgbClr val="334155"/>
            </a:solidFill>
            <a:prstDash val="solid"/>
          </a:ln>
        </p:spPr>
      </p:sp>
      <p:sp>
        <p:nvSpPr>
          <p:cNvPr id="15" name="Text 11"/>
          <p:cNvSpPr/>
          <p:nvPr/>
        </p:nvSpPr>
        <p:spPr>
          <a:xfrm>
            <a:off x="2948026" y="4892040"/>
            <a:ext cx="91074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destroy</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FOUR COMMANDS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The core workflow</a:t>
            </a:r>
            <a:endParaRPr lang="en-US" sz="3000" dirty="0"/>
          </a:p>
        </p:txBody>
      </p:sp>
      <p:sp>
        <p:nvSpPr>
          <p:cNvPr id="4" name="Shape 2"/>
          <p:cNvSpPr/>
          <p:nvPr/>
        </p:nvSpPr>
        <p:spPr>
          <a:xfrm>
            <a:off x="566928" y="1463040"/>
            <a:ext cx="2679192" cy="3200400"/>
          </a:xfrm>
          <a:prstGeom prst="roundRect">
            <a:avLst>
              <a:gd name="adj" fmla="val 1706"/>
            </a:avLst>
          </a:prstGeom>
          <a:solidFill>
            <a:srgbClr val="FFFFFF"/>
          </a:solidFill>
          <a:ln w="15875">
            <a:solidFill>
              <a:srgbClr val="7B42BC"/>
            </a:solidFill>
            <a:prstDash val="solid"/>
          </a:ln>
          <a:effectLst>
            <a:outerShdw sx="100000" sy="100000" kx="0" ky="0" algn="bl" rotWithShape="0" blurRad="101600" dist="12700" dir="5400000">
              <a:srgbClr val="94A3B8">
                <a:alpha val="16000"/>
              </a:srgbClr>
            </a:outerShdw>
          </a:effectLst>
        </p:spPr>
      </p:sp>
      <p:sp>
        <p:nvSpPr>
          <p:cNvPr id="5" name="Shape 3"/>
          <p:cNvSpPr/>
          <p:nvPr/>
        </p:nvSpPr>
        <p:spPr>
          <a:xfrm>
            <a:off x="804672" y="1700784"/>
            <a:ext cx="512064" cy="512064"/>
          </a:xfrm>
          <a:prstGeom prst="ellipse">
            <a:avLst/>
          </a:prstGeom>
          <a:solidFill>
            <a:srgbClr val="7B42BC"/>
          </a:solidFill>
          <a:ln w="12700">
            <a:solidFill>
              <a:srgbClr val="7B42BC"/>
            </a:solidFill>
            <a:prstDash val="solid"/>
          </a:ln>
        </p:spPr>
      </p:sp>
      <p:sp>
        <p:nvSpPr>
          <p:cNvPr id="6" name="Text 4"/>
          <p:cNvSpPr/>
          <p:nvPr/>
        </p:nvSpPr>
        <p:spPr>
          <a:xfrm>
            <a:off x="804672" y="170078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Bookman Old Style" pitchFamily="34" charset="0"/>
                <a:ea typeface="Bookman Old Style" pitchFamily="34" charset="-122"/>
                <a:cs typeface="Bookman Old Style" pitchFamily="34" charset="-120"/>
              </a:rPr>
              <a:t>1</a:t>
            </a:r>
            <a:endParaRPr lang="en-US" sz="1600" dirty="0"/>
          </a:p>
        </p:txBody>
      </p:sp>
      <p:sp>
        <p:nvSpPr>
          <p:cNvPr id="7" name="Text 5"/>
          <p:cNvSpPr/>
          <p:nvPr/>
        </p:nvSpPr>
        <p:spPr>
          <a:xfrm>
            <a:off x="804672" y="2359152"/>
            <a:ext cx="2203704" cy="310896"/>
          </a:xfrm>
          <a:prstGeom prst="rect">
            <a:avLst/>
          </a:prstGeom>
          <a:noFill/>
          <a:ln/>
        </p:spPr>
        <p:txBody>
          <a:bodyPr wrap="square" lIns="0" tIns="0" rIns="0" bIns="0" rtlCol="0" anchor="ctr"/>
          <a:lstStyle/>
          <a:p>
            <a:pPr indent="0" marL="0">
              <a:buNone/>
            </a:pPr>
            <a:r>
              <a:rPr lang="en-US" sz="1350" b="1" dirty="0">
                <a:solidFill>
                  <a:srgbClr val="7B42BC"/>
                </a:solidFill>
                <a:latin typeface="Courier New" pitchFamily="34" charset="0"/>
                <a:ea typeface="Courier New" pitchFamily="34" charset="-122"/>
                <a:cs typeface="Courier New" pitchFamily="34" charset="-120"/>
              </a:rPr>
              <a:t>terraform init</a:t>
            </a:r>
            <a:endParaRPr lang="en-US" sz="1350" dirty="0"/>
          </a:p>
        </p:txBody>
      </p:sp>
      <p:sp>
        <p:nvSpPr>
          <p:cNvPr id="8" name="Text 6"/>
          <p:cNvSpPr/>
          <p:nvPr/>
        </p:nvSpPr>
        <p:spPr>
          <a:xfrm>
            <a:off x="804672" y="268833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Prepare the directory</a:t>
            </a:r>
            <a:endParaRPr lang="en-US" sz="1350" dirty="0"/>
          </a:p>
        </p:txBody>
      </p:sp>
      <p:sp>
        <p:nvSpPr>
          <p:cNvPr id="9" name="Text 7"/>
          <p:cNvSpPr/>
          <p:nvPr/>
        </p:nvSpPr>
        <p:spPr>
          <a:xfrm>
            <a:off x="804672" y="3054096"/>
            <a:ext cx="2203704" cy="1371600"/>
          </a:xfrm>
          <a:prstGeom prst="rect">
            <a:avLst/>
          </a:prstGeom>
          <a:noFill/>
          <a:ln/>
        </p:spPr>
        <p:txBody>
          <a:bodyPr wrap="square" lIns="0" tIns="0" rIns="0" bIns="0" rtlCol="0" anchor="t"/>
          <a:lstStyle/>
          <a:p>
            <a:pPr indent="0" marL="0">
              <a:lnSpc>
                <a:spcPts val="1550"/>
              </a:lnSpc>
              <a:buNone/>
            </a:pPr>
            <a:r>
              <a:rPr lang="en-US" sz="1100" dirty="0">
                <a:solidFill>
                  <a:srgbClr val="334155"/>
                </a:solidFill>
                <a:latin typeface="Calibri" pitchFamily="34" charset="0"/>
                <a:ea typeface="Calibri" pitchFamily="34" charset="-122"/>
                <a:cs typeface="Calibri" pitchFamily="34" charset="-120"/>
              </a:rPr>
              <a:t>Downloads providers, writes the lock file, configures the backend. Run it once per project, and again whenever providers or the backend change.</a:t>
            </a:r>
            <a:endParaRPr lang="en-US" sz="1100" dirty="0"/>
          </a:p>
        </p:txBody>
      </p:sp>
      <p:sp>
        <p:nvSpPr>
          <p:cNvPr id="10" name="Shape 8"/>
          <p:cNvSpPr/>
          <p:nvPr/>
        </p:nvSpPr>
        <p:spPr>
          <a:xfrm>
            <a:off x="3250692" y="1865376"/>
            <a:ext cx="219456" cy="182880"/>
          </a:xfrm>
          <a:prstGeom prst="rightArrow">
            <a:avLst/>
          </a:prstGeom>
          <a:solidFill>
            <a:srgbClr val="94A3B8"/>
          </a:solidFill>
          <a:ln w="12700">
            <a:solidFill>
              <a:srgbClr val="94A3B8"/>
            </a:solidFill>
            <a:prstDash val="solid"/>
          </a:ln>
        </p:spPr>
      </p:sp>
      <p:sp>
        <p:nvSpPr>
          <p:cNvPr id="11" name="Shape 9"/>
          <p:cNvSpPr/>
          <p:nvPr/>
        </p:nvSpPr>
        <p:spPr>
          <a:xfrm>
            <a:off x="3364992" y="1463040"/>
            <a:ext cx="2679192" cy="3200400"/>
          </a:xfrm>
          <a:prstGeom prst="roundRect">
            <a:avLst>
              <a:gd name="adj" fmla="val 1706"/>
            </a:avLst>
          </a:prstGeom>
          <a:solidFill>
            <a:srgbClr val="FFFFFF"/>
          </a:solidFill>
          <a:ln w="15875">
            <a:solidFill>
              <a:srgbClr val="0D9488"/>
            </a:solidFill>
            <a:prstDash val="solid"/>
          </a:ln>
          <a:effectLst>
            <a:outerShdw sx="100000" sy="100000" kx="0" ky="0" algn="bl" rotWithShape="0" blurRad="101600" dist="12700" dir="5400000">
              <a:srgbClr val="94A3B8">
                <a:alpha val="16000"/>
              </a:srgbClr>
            </a:outerShdw>
          </a:effectLst>
        </p:spPr>
      </p:sp>
      <p:sp>
        <p:nvSpPr>
          <p:cNvPr id="12" name="Shape 10"/>
          <p:cNvSpPr/>
          <p:nvPr/>
        </p:nvSpPr>
        <p:spPr>
          <a:xfrm>
            <a:off x="3602736" y="1700784"/>
            <a:ext cx="512064" cy="512064"/>
          </a:xfrm>
          <a:prstGeom prst="ellipse">
            <a:avLst/>
          </a:prstGeom>
          <a:solidFill>
            <a:srgbClr val="0D9488"/>
          </a:solidFill>
          <a:ln w="12700">
            <a:solidFill>
              <a:srgbClr val="0D9488"/>
            </a:solidFill>
            <a:prstDash val="solid"/>
          </a:ln>
        </p:spPr>
      </p:sp>
      <p:sp>
        <p:nvSpPr>
          <p:cNvPr id="13" name="Text 11"/>
          <p:cNvSpPr/>
          <p:nvPr/>
        </p:nvSpPr>
        <p:spPr>
          <a:xfrm>
            <a:off x="3602736" y="170078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Bookman Old Style" pitchFamily="34" charset="0"/>
                <a:ea typeface="Bookman Old Style" pitchFamily="34" charset="-122"/>
                <a:cs typeface="Bookman Old Style" pitchFamily="34" charset="-120"/>
              </a:rPr>
              <a:t>2</a:t>
            </a:r>
            <a:endParaRPr lang="en-US" sz="1600" dirty="0"/>
          </a:p>
        </p:txBody>
      </p:sp>
      <p:sp>
        <p:nvSpPr>
          <p:cNvPr id="14" name="Text 12"/>
          <p:cNvSpPr/>
          <p:nvPr/>
        </p:nvSpPr>
        <p:spPr>
          <a:xfrm>
            <a:off x="3602736" y="2359152"/>
            <a:ext cx="2203704" cy="310896"/>
          </a:xfrm>
          <a:prstGeom prst="rect">
            <a:avLst/>
          </a:prstGeom>
          <a:noFill/>
          <a:ln/>
        </p:spPr>
        <p:txBody>
          <a:bodyPr wrap="square" lIns="0" tIns="0" rIns="0" bIns="0" rtlCol="0" anchor="ctr"/>
          <a:lstStyle/>
          <a:p>
            <a:pPr indent="0" marL="0">
              <a:buNone/>
            </a:pPr>
            <a:r>
              <a:rPr lang="en-US" sz="1350" b="1" dirty="0">
                <a:solidFill>
                  <a:srgbClr val="0D9488"/>
                </a:solidFill>
                <a:latin typeface="Courier New" pitchFamily="34" charset="0"/>
                <a:ea typeface="Courier New" pitchFamily="34" charset="-122"/>
                <a:cs typeface="Courier New" pitchFamily="34" charset="-120"/>
              </a:rPr>
              <a:t>terraform plan</a:t>
            </a:r>
            <a:endParaRPr lang="en-US" sz="1350" dirty="0"/>
          </a:p>
        </p:txBody>
      </p:sp>
      <p:sp>
        <p:nvSpPr>
          <p:cNvPr id="15" name="Text 13"/>
          <p:cNvSpPr/>
          <p:nvPr/>
        </p:nvSpPr>
        <p:spPr>
          <a:xfrm>
            <a:off x="3602736" y="268833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Show me the diff</a:t>
            </a:r>
            <a:endParaRPr lang="en-US" sz="1350" dirty="0"/>
          </a:p>
        </p:txBody>
      </p:sp>
      <p:sp>
        <p:nvSpPr>
          <p:cNvPr id="16" name="Text 14"/>
          <p:cNvSpPr/>
          <p:nvPr/>
        </p:nvSpPr>
        <p:spPr>
          <a:xfrm>
            <a:off x="3602736" y="3054096"/>
            <a:ext cx="2203704" cy="1371600"/>
          </a:xfrm>
          <a:prstGeom prst="rect">
            <a:avLst/>
          </a:prstGeom>
          <a:noFill/>
          <a:ln/>
        </p:spPr>
        <p:txBody>
          <a:bodyPr wrap="square" lIns="0" tIns="0" rIns="0" bIns="0" rtlCol="0" anchor="t"/>
          <a:lstStyle/>
          <a:p>
            <a:pPr indent="0" marL="0">
              <a:lnSpc>
                <a:spcPts val="1550"/>
              </a:lnSpc>
              <a:buNone/>
            </a:pPr>
            <a:r>
              <a:rPr lang="en-US" sz="1100" dirty="0">
                <a:solidFill>
                  <a:srgbClr val="334155"/>
                </a:solidFill>
                <a:latin typeface="Calibri" pitchFamily="34" charset="0"/>
                <a:ea typeface="Calibri" pitchFamily="34" charset="-122"/>
                <a:cs typeface="Calibri" pitchFamily="34" charset="-120"/>
              </a:rPr>
              <a:t>Reads your config, refreshes real state, and prints exactly what it would do. Changes nothing. This is the safest command in the tool.</a:t>
            </a:r>
            <a:endParaRPr lang="en-US" sz="1100" dirty="0"/>
          </a:p>
        </p:txBody>
      </p:sp>
      <p:sp>
        <p:nvSpPr>
          <p:cNvPr id="17" name="Shape 15"/>
          <p:cNvSpPr/>
          <p:nvPr/>
        </p:nvSpPr>
        <p:spPr>
          <a:xfrm>
            <a:off x="6048756" y="1865376"/>
            <a:ext cx="219456" cy="182880"/>
          </a:xfrm>
          <a:prstGeom prst="rightArrow">
            <a:avLst/>
          </a:prstGeom>
          <a:solidFill>
            <a:srgbClr val="94A3B8"/>
          </a:solidFill>
          <a:ln w="12700">
            <a:solidFill>
              <a:srgbClr val="94A3B8"/>
            </a:solidFill>
            <a:prstDash val="solid"/>
          </a:ln>
        </p:spPr>
      </p:sp>
      <p:sp>
        <p:nvSpPr>
          <p:cNvPr id="18" name="Shape 16"/>
          <p:cNvSpPr/>
          <p:nvPr/>
        </p:nvSpPr>
        <p:spPr>
          <a:xfrm>
            <a:off x="6163056" y="1463040"/>
            <a:ext cx="2679192" cy="3200400"/>
          </a:xfrm>
          <a:prstGeom prst="roundRect">
            <a:avLst>
              <a:gd name="adj" fmla="val 1706"/>
            </a:avLst>
          </a:prstGeom>
          <a:solidFill>
            <a:srgbClr val="FFFFFF"/>
          </a:solidFill>
          <a:ln w="15875">
            <a:solidFill>
              <a:srgbClr val="FF9900"/>
            </a:solidFill>
            <a:prstDash val="solid"/>
          </a:ln>
          <a:effectLst>
            <a:outerShdw sx="100000" sy="100000" kx="0" ky="0" algn="bl" rotWithShape="0" blurRad="101600" dist="12700" dir="5400000">
              <a:srgbClr val="94A3B8">
                <a:alpha val="16000"/>
              </a:srgbClr>
            </a:outerShdw>
          </a:effectLst>
        </p:spPr>
      </p:sp>
      <p:sp>
        <p:nvSpPr>
          <p:cNvPr id="19" name="Shape 17"/>
          <p:cNvSpPr/>
          <p:nvPr/>
        </p:nvSpPr>
        <p:spPr>
          <a:xfrm>
            <a:off x="6400800" y="1700784"/>
            <a:ext cx="512064" cy="512064"/>
          </a:xfrm>
          <a:prstGeom prst="ellipse">
            <a:avLst/>
          </a:prstGeom>
          <a:solidFill>
            <a:srgbClr val="FF9900"/>
          </a:solidFill>
          <a:ln w="12700">
            <a:solidFill>
              <a:srgbClr val="FF9900"/>
            </a:solidFill>
            <a:prstDash val="solid"/>
          </a:ln>
        </p:spPr>
      </p:sp>
      <p:sp>
        <p:nvSpPr>
          <p:cNvPr id="20" name="Text 18"/>
          <p:cNvSpPr/>
          <p:nvPr/>
        </p:nvSpPr>
        <p:spPr>
          <a:xfrm>
            <a:off x="6400800" y="170078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Bookman Old Style" pitchFamily="34" charset="0"/>
                <a:ea typeface="Bookman Old Style" pitchFamily="34" charset="-122"/>
                <a:cs typeface="Bookman Old Style" pitchFamily="34" charset="-120"/>
              </a:rPr>
              <a:t>3</a:t>
            </a:r>
            <a:endParaRPr lang="en-US" sz="1600" dirty="0"/>
          </a:p>
        </p:txBody>
      </p:sp>
      <p:sp>
        <p:nvSpPr>
          <p:cNvPr id="21" name="Text 19"/>
          <p:cNvSpPr/>
          <p:nvPr/>
        </p:nvSpPr>
        <p:spPr>
          <a:xfrm>
            <a:off x="6400800" y="2359152"/>
            <a:ext cx="2203704" cy="310896"/>
          </a:xfrm>
          <a:prstGeom prst="rect">
            <a:avLst/>
          </a:prstGeom>
          <a:noFill/>
          <a:ln/>
        </p:spPr>
        <p:txBody>
          <a:bodyPr wrap="square" lIns="0" tIns="0" rIns="0" bIns="0" rtlCol="0" anchor="ctr"/>
          <a:lstStyle/>
          <a:p>
            <a:pPr indent="0" marL="0">
              <a:buNone/>
            </a:pPr>
            <a:r>
              <a:rPr lang="en-US" sz="1350" b="1" dirty="0">
                <a:solidFill>
                  <a:srgbClr val="FF9900"/>
                </a:solidFill>
                <a:latin typeface="Courier New" pitchFamily="34" charset="0"/>
                <a:ea typeface="Courier New" pitchFamily="34" charset="-122"/>
                <a:cs typeface="Courier New" pitchFamily="34" charset="-120"/>
              </a:rPr>
              <a:t>terraform apply</a:t>
            </a:r>
            <a:endParaRPr lang="en-US" sz="1350" dirty="0"/>
          </a:p>
        </p:txBody>
      </p:sp>
      <p:sp>
        <p:nvSpPr>
          <p:cNvPr id="22" name="Text 20"/>
          <p:cNvSpPr/>
          <p:nvPr/>
        </p:nvSpPr>
        <p:spPr>
          <a:xfrm>
            <a:off x="6400800" y="268833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Make it so</a:t>
            </a:r>
            <a:endParaRPr lang="en-US" sz="1350" dirty="0"/>
          </a:p>
        </p:txBody>
      </p:sp>
      <p:sp>
        <p:nvSpPr>
          <p:cNvPr id="23" name="Text 21"/>
          <p:cNvSpPr/>
          <p:nvPr/>
        </p:nvSpPr>
        <p:spPr>
          <a:xfrm>
            <a:off x="6400800" y="3054096"/>
            <a:ext cx="2203704" cy="1371600"/>
          </a:xfrm>
          <a:prstGeom prst="rect">
            <a:avLst/>
          </a:prstGeom>
          <a:noFill/>
          <a:ln/>
        </p:spPr>
        <p:txBody>
          <a:bodyPr wrap="square" lIns="0" tIns="0" rIns="0" bIns="0" rtlCol="0" anchor="t"/>
          <a:lstStyle/>
          <a:p>
            <a:pPr indent="0" marL="0">
              <a:lnSpc>
                <a:spcPts val="1550"/>
              </a:lnSpc>
              <a:buNone/>
            </a:pPr>
            <a:r>
              <a:rPr lang="en-US" sz="1100" dirty="0">
                <a:solidFill>
                  <a:srgbClr val="334155"/>
                </a:solidFill>
                <a:latin typeface="Calibri" pitchFamily="34" charset="0"/>
                <a:ea typeface="Calibri" pitchFamily="34" charset="-122"/>
                <a:cs typeface="Calibri" pitchFamily="34" charset="-120"/>
              </a:rPr>
              <a:t>Re-plans, asks for confirmation, then walks the graph making API calls. This is the only command that costs money.</a:t>
            </a:r>
            <a:endParaRPr lang="en-US" sz="1100" dirty="0"/>
          </a:p>
        </p:txBody>
      </p:sp>
      <p:sp>
        <p:nvSpPr>
          <p:cNvPr id="24" name="Shape 22"/>
          <p:cNvSpPr/>
          <p:nvPr/>
        </p:nvSpPr>
        <p:spPr>
          <a:xfrm>
            <a:off x="8846820" y="1865376"/>
            <a:ext cx="219456" cy="182880"/>
          </a:xfrm>
          <a:prstGeom prst="rightArrow">
            <a:avLst/>
          </a:prstGeom>
          <a:solidFill>
            <a:srgbClr val="94A3B8"/>
          </a:solidFill>
          <a:ln w="12700">
            <a:solidFill>
              <a:srgbClr val="94A3B8"/>
            </a:solidFill>
            <a:prstDash val="solid"/>
          </a:ln>
        </p:spPr>
      </p:sp>
      <p:sp>
        <p:nvSpPr>
          <p:cNvPr id="25" name="Shape 23"/>
          <p:cNvSpPr/>
          <p:nvPr/>
        </p:nvSpPr>
        <p:spPr>
          <a:xfrm>
            <a:off x="8961120" y="1463040"/>
            <a:ext cx="2679192" cy="3200400"/>
          </a:xfrm>
          <a:prstGeom prst="roundRect">
            <a:avLst>
              <a:gd name="adj" fmla="val 1706"/>
            </a:avLst>
          </a:prstGeom>
          <a:solidFill>
            <a:srgbClr val="FFFFFF"/>
          </a:solidFill>
          <a:ln w="15875">
            <a:solidFill>
              <a:srgbClr val="F97316"/>
            </a:solidFill>
            <a:prstDash val="solid"/>
          </a:ln>
          <a:effectLst>
            <a:outerShdw sx="100000" sy="100000" kx="0" ky="0" algn="bl" rotWithShape="0" blurRad="101600" dist="12700" dir="5400000">
              <a:srgbClr val="94A3B8">
                <a:alpha val="16000"/>
              </a:srgbClr>
            </a:outerShdw>
          </a:effectLst>
        </p:spPr>
      </p:sp>
      <p:sp>
        <p:nvSpPr>
          <p:cNvPr id="26" name="Shape 24"/>
          <p:cNvSpPr/>
          <p:nvPr/>
        </p:nvSpPr>
        <p:spPr>
          <a:xfrm>
            <a:off x="9198864" y="1700784"/>
            <a:ext cx="512064" cy="512064"/>
          </a:xfrm>
          <a:prstGeom prst="ellipse">
            <a:avLst/>
          </a:prstGeom>
          <a:solidFill>
            <a:srgbClr val="F97316"/>
          </a:solidFill>
          <a:ln w="12700">
            <a:solidFill>
              <a:srgbClr val="F97316"/>
            </a:solidFill>
            <a:prstDash val="solid"/>
          </a:ln>
        </p:spPr>
      </p:sp>
      <p:sp>
        <p:nvSpPr>
          <p:cNvPr id="27" name="Text 25"/>
          <p:cNvSpPr/>
          <p:nvPr/>
        </p:nvSpPr>
        <p:spPr>
          <a:xfrm>
            <a:off x="9198864" y="1700784"/>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Bookman Old Style" pitchFamily="34" charset="0"/>
                <a:ea typeface="Bookman Old Style" pitchFamily="34" charset="-122"/>
                <a:cs typeface="Bookman Old Style" pitchFamily="34" charset="-120"/>
              </a:rPr>
              <a:t>4</a:t>
            </a:r>
            <a:endParaRPr lang="en-US" sz="1600" dirty="0"/>
          </a:p>
        </p:txBody>
      </p:sp>
      <p:sp>
        <p:nvSpPr>
          <p:cNvPr id="28" name="Text 26"/>
          <p:cNvSpPr/>
          <p:nvPr/>
        </p:nvSpPr>
        <p:spPr>
          <a:xfrm>
            <a:off x="9198864" y="2359152"/>
            <a:ext cx="2203704" cy="310896"/>
          </a:xfrm>
          <a:prstGeom prst="rect">
            <a:avLst/>
          </a:prstGeom>
          <a:noFill/>
          <a:ln/>
        </p:spPr>
        <p:txBody>
          <a:bodyPr wrap="square" lIns="0" tIns="0" rIns="0" bIns="0" rtlCol="0" anchor="ctr"/>
          <a:lstStyle/>
          <a:p>
            <a:pPr indent="0" marL="0">
              <a:buNone/>
            </a:pPr>
            <a:r>
              <a:rPr lang="en-US" sz="1350" b="1" dirty="0">
                <a:solidFill>
                  <a:srgbClr val="F97316"/>
                </a:solidFill>
                <a:latin typeface="Courier New" pitchFamily="34" charset="0"/>
                <a:ea typeface="Courier New" pitchFamily="34" charset="-122"/>
                <a:cs typeface="Courier New" pitchFamily="34" charset="-120"/>
              </a:rPr>
              <a:t>terraform destroy</a:t>
            </a:r>
            <a:endParaRPr lang="en-US" sz="1350" dirty="0"/>
          </a:p>
        </p:txBody>
      </p:sp>
      <p:sp>
        <p:nvSpPr>
          <p:cNvPr id="29" name="Text 27"/>
          <p:cNvSpPr/>
          <p:nvPr/>
        </p:nvSpPr>
        <p:spPr>
          <a:xfrm>
            <a:off x="9198864" y="268833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Take it all down</a:t>
            </a:r>
            <a:endParaRPr lang="en-US" sz="1350" dirty="0"/>
          </a:p>
        </p:txBody>
      </p:sp>
      <p:sp>
        <p:nvSpPr>
          <p:cNvPr id="30" name="Text 28"/>
          <p:cNvSpPr/>
          <p:nvPr/>
        </p:nvSpPr>
        <p:spPr>
          <a:xfrm>
            <a:off x="9198864" y="3054096"/>
            <a:ext cx="2203704" cy="1371600"/>
          </a:xfrm>
          <a:prstGeom prst="rect">
            <a:avLst/>
          </a:prstGeom>
          <a:noFill/>
          <a:ln/>
        </p:spPr>
        <p:txBody>
          <a:bodyPr wrap="square" lIns="0" tIns="0" rIns="0" bIns="0" rtlCol="0" anchor="t"/>
          <a:lstStyle/>
          <a:p>
            <a:pPr indent="0" marL="0">
              <a:lnSpc>
                <a:spcPts val="1550"/>
              </a:lnSpc>
              <a:buNone/>
            </a:pPr>
            <a:r>
              <a:rPr lang="en-US" sz="1100" dirty="0">
                <a:solidFill>
                  <a:srgbClr val="334155"/>
                </a:solidFill>
                <a:latin typeface="Calibri" pitchFamily="34" charset="0"/>
                <a:ea typeface="Calibri" pitchFamily="34" charset="-122"/>
                <a:cs typeface="Calibri" pitchFamily="34" charset="-120"/>
              </a:rPr>
              <a:t>Walks the graph backwards and deletes everything in state. The reason a lab costs cents instead of a month’s rent.</a:t>
            </a:r>
            <a:endParaRPr lang="en-US" sz="1100" dirty="0"/>
          </a:p>
        </p:txBody>
      </p:sp>
      <p:sp>
        <p:nvSpPr>
          <p:cNvPr id="31" name="Shape 29"/>
          <p:cNvSpPr/>
          <p:nvPr/>
        </p:nvSpPr>
        <p:spPr>
          <a:xfrm>
            <a:off x="566928" y="4846320"/>
            <a:ext cx="11073384" cy="1170432"/>
          </a:xfrm>
          <a:prstGeom prst="roundRect">
            <a:avLst>
              <a:gd name="adj" fmla="val 4688"/>
            </a:avLst>
          </a:prstGeom>
          <a:solidFill>
            <a:srgbClr val="0F172A"/>
          </a:solidFill>
          <a:ln w="12700">
            <a:solidFill>
              <a:srgbClr val="334155"/>
            </a:solidFill>
            <a:prstDash val="solid"/>
          </a:ln>
        </p:spPr>
      </p:sp>
      <p:sp>
        <p:nvSpPr>
          <p:cNvPr id="32" name="Shape 30"/>
          <p:cNvSpPr/>
          <p:nvPr/>
        </p:nvSpPr>
        <p:spPr>
          <a:xfrm>
            <a:off x="566928" y="4846320"/>
            <a:ext cx="11073384" cy="292608"/>
          </a:xfrm>
          <a:prstGeom prst="rect">
            <a:avLst/>
          </a:prstGeom>
          <a:solidFill>
            <a:srgbClr val="1E293B"/>
          </a:solidFill>
          <a:ln w="12700">
            <a:solidFill>
              <a:srgbClr val="334155"/>
            </a:solidFill>
            <a:prstDash val="solid"/>
          </a:ln>
        </p:spPr>
      </p:sp>
      <p:sp>
        <p:nvSpPr>
          <p:cNvPr id="33" name="Shape 31"/>
          <p:cNvSpPr/>
          <p:nvPr/>
        </p:nvSpPr>
        <p:spPr>
          <a:xfrm>
            <a:off x="685800" y="4942332"/>
            <a:ext cx="100584" cy="100584"/>
          </a:xfrm>
          <a:prstGeom prst="ellipse">
            <a:avLst/>
          </a:prstGeom>
          <a:solidFill>
            <a:srgbClr val="F87171"/>
          </a:solidFill>
          <a:ln w="6350">
            <a:solidFill>
              <a:srgbClr val="F87171"/>
            </a:solidFill>
            <a:prstDash val="solid"/>
          </a:ln>
        </p:spPr>
      </p:sp>
      <p:sp>
        <p:nvSpPr>
          <p:cNvPr id="34" name="Shape 32"/>
          <p:cNvSpPr/>
          <p:nvPr/>
        </p:nvSpPr>
        <p:spPr>
          <a:xfrm>
            <a:off x="859536" y="4942332"/>
            <a:ext cx="100584" cy="100584"/>
          </a:xfrm>
          <a:prstGeom prst="ellipse">
            <a:avLst/>
          </a:prstGeom>
          <a:solidFill>
            <a:srgbClr val="FBBF24"/>
          </a:solidFill>
          <a:ln w="6350">
            <a:solidFill>
              <a:srgbClr val="FBBF24"/>
            </a:solidFill>
            <a:prstDash val="solid"/>
          </a:ln>
        </p:spPr>
      </p:sp>
      <p:sp>
        <p:nvSpPr>
          <p:cNvPr id="35" name="Shape 33"/>
          <p:cNvSpPr/>
          <p:nvPr/>
        </p:nvSpPr>
        <p:spPr>
          <a:xfrm>
            <a:off x="1033272" y="4942332"/>
            <a:ext cx="100584" cy="100584"/>
          </a:xfrm>
          <a:prstGeom prst="ellipse">
            <a:avLst/>
          </a:prstGeom>
          <a:solidFill>
            <a:srgbClr val="34D399"/>
          </a:solidFill>
          <a:ln w="6350">
            <a:solidFill>
              <a:srgbClr val="34D399"/>
            </a:solidFill>
            <a:prstDash val="solid"/>
          </a:ln>
        </p:spPr>
      </p:sp>
      <p:sp>
        <p:nvSpPr>
          <p:cNvPr id="36" name="Text 34"/>
          <p:cNvSpPr/>
          <p:nvPr/>
        </p:nvSpPr>
        <p:spPr>
          <a:xfrm>
            <a:off x="1225296" y="4864608"/>
            <a:ext cx="10296144"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a whole session</a:t>
            </a:r>
            <a:endParaRPr lang="en-US" sz="950" dirty="0"/>
          </a:p>
        </p:txBody>
      </p:sp>
      <p:sp>
        <p:nvSpPr>
          <p:cNvPr id="37" name="Text 35"/>
          <p:cNvSpPr/>
          <p:nvPr/>
        </p:nvSpPr>
        <p:spPr>
          <a:xfrm>
            <a:off x="768096" y="5230368"/>
            <a:ext cx="10671048" cy="640080"/>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init      # once per project</a:t>
            </a: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plan      # every single time, and actually read it</a:t>
            </a: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apply     # type yes only after reading the plan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THE FOUR SYMBOLS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Reading a plan</a:t>
            </a:r>
            <a:endParaRPr lang="en-US" sz="3000" dirty="0"/>
          </a:p>
        </p:txBody>
      </p:sp>
      <p:sp>
        <p:nvSpPr>
          <p:cNvPr id="4" name="Shape 2"/>
          <p:cNvSpPr/>
          <p:nvPr/>
        </p:nvSpPr>
        <p:spPr>
          <a:xfrm>
            <a:off x="566928" y="1371600"/>
            <a:ext cx="6903720" cy="3154680"/>
          </a:xfrm>
          <a:prstGeom prst="roundRect">
            <a:avLst>
              <a:gd name="adj" fmla="val 1739"/>
            </a:avLst>
          </a:prstGeom>
          <a:solidFill>
            <a:srgbClr val="0F172A"/>
          </a:solidFill>
          <a:ln w="12700">
            <a:solidFill>
              <a:srgbClr val="334155"/>
            </a:solidFill>
            <a:prstDash val="solid"/>
          </a:ln>
        </p:spPr>
      </p:sp>
      <p:sp>
        <p:nvSpPr>
          <p:cNvPr id="5" name="Shape 3"/>
          <p:cNvSpPr/>
          <p:nvPr/>
        </p:nvSpPr>
        <p:spPr>
          <a:xfrm>
            <a:off x="566928" y="1371600"/>
            <a:ext cx="690372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612648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terraform plan</a:t>
            </a:r>
            <a:endParaRPr lang="en-US" sz="950" dirty="0"/>
          </a:p>
        </p:txBody>
      </p:sp>
      <p:sp>
        <p:nvSpPr>
          <p:cNvPr id="10" name="Text 8"/>
          <p:cNvSpPr/>
          <p:nvPr/>
        </p:nvSpPr>
        <p:spPr>
          <a:xfrm>
            <a:off x="768096" y="1755648"/>
            <a:ext cx="6501384" cy="262432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Terraform will perform the following actions:</a:t>
            </a:r>
            <a:endParaRPr lang="en-US" sz="1100" dirty="0"/>
          </a:p>
          <a:p>
            <a:pPr indent="0" marL="0">
              <a:lnSpc>
                <a:spcPts val="1782"/>
              </a:lnSpc>
              <a:buNone/>
            </a:pP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 aws_s3_bucket.data will be created</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 resource "aws_s3_bucket" "data" {</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 bucket = "chiya-data-sagyam"</a:t>
            </a:r>
            <a:endParaRPr lang="en-US" sz="1100" dirty="0"/>
          </a:p>
          <a:p>
            <a:pPr indent="0" marL="0">
              <a:lnSpc>
                <a:spcPts val="1782"/>
              </a:lnSpc>
              <a:buNone/>
            </a:pPr>
            <a:r>
              <a:rPr lang="en-US" sz="1100" dirty="0">
                <a:solidFill>
                  <a:srgbClr val="94A3B8"/>
                </a:solidFill>
                <a:latin typeface="Courier New" pitchFamily="34" charset="0"/>
                <a:ea typeface="Courier New" pitchFamily="34" charset="-122"/>
                <a:cs typeface="Courier New" pitchFamily="34" charset="-120"/>
              </a:rPr>
              <a:t>      + arn    = (known after apply)</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a:t>
            </a:r>
            <a:endParaRPr lang="en-US" sz="1100" dirty="0"/>
          </a:p>
          <a:p>
            <a:pPr indent="0" marL="0">
              <a:lnSpc>
                <a:spcPts val="1782"/>
              </a:lnSpc>
              <a:buNone/>
            </a:pPr>
            <a:endParaRPr lang="en-US" sz="1100" dirty="0"/>
          </a:p>
          <a:p>
            <a:pPr indent="0" marL="0">
              <a:lnSpc>
                <a:spcPts val="1782"/>
              </a:lnSpc>
              <a:buNone/>
            </a:pPr>
            <a:r>
              <a:rPr lang="en-US" sz="1100" dirty="0">
                <a:solidFill>
                  <a:srgbClr val="F87171"/>
                </a:solidFill>
                <a:latin typeface="Courier New" pitchFamily="34" charset="0"/>
                <a:ea typeface="Courier New" pitchFamily="34" charset="-122"/>
                <a:cs typeface="Courier New" pitchFamily="34" charset="-120"/>
              </a:rPr>
              <a:t>  # aws_instance.web must be replaced</a:t>
            </a:r>
            <a:endParaRPr lang="en-US" sz="1100" dirty="0"/>
          </a:p>
          <a:p>
            <a:pPr indent="0" marL="0">
              <a:lnSpc>
                <a:spcPts val="1782"/>
              </a:lnSpc>
              <a:buNone/>
            </a:pPr>
            <a:r>
              <a:rPr lang="en-US" sz="1100" dirty="0">
                <a:solidFill>
                  <a:srgbClr val="F87171"/>
                </a:solidFill>
                <a:latin typeface="Courier New" pitchFamily="34" charset="0"/>
                <a:ea typeface="Courier New" pitchFamily="34" charset="-122"/>
                <a:cs typeface="Courier New" pitchFamily="34" charset="-120"/>
              </a:rPr>
              <a:t>-/+ resource "aws_instance" "web" {</a:t>
            </a:r>
            <a:endParaRPr lang="en-US" sz="1100" dirty="0"/>
          </a:p>
          <a:p>
            <a:pPr indent="0" marL="0">
              <a:lnSpc>
                <a:spcPts val="1782"/>
              </a:lnSpc>
              <a:buNone/>
            </a:pPr>
            <a:r>
              <a:rPr lang="en-US" sz="1100" dirty="0">
                <a:solidFill>
                  <a:srgbClr val="FBBF24"/>
                </a:solidFill>
                <a:latin typeface="Courier New" pitchFamily="34" charset="0"/>
                <a:ea typeface="Courier New" pitchFamily="34" charset="-122"/>
                <a:cs typeface="Courier New" pitchFamily="34" charset="-120"/>
              </a:rPr>
              <a:t>      ~ ami = "ami-0abc" -&gt; "ami-0def"</a:t>
            </a:r>
            <a:endParaRPr lang="en-US" sz="1100" dirty="0"/>
          </a:p>
          <a:p>
            <a:pPr indent="0" marL="0">
              <a:lnSpc>
                <a:spcPts val="1782"/>
              </a:lnSpc>
              <a:buNone/>
            </a:pPr>
            <a:r>
              <a:rPr lang="en-US" sz="1100" b="1" dirty="0">
                <a:solidFill>
                  <a:srgbClr val="FBBF24"/>
                </a:solidFill>
                <a:latin typeface="Courier New" pitchFamily="34" charset="0"/>
                <a:ea typeface="Courier New" pitchFamily="34" charset="-122"/>
                <a:cs typeface="Courier New" pitchFamily="34" charset="-120"/>
              </a:rPr>
              <a:t>        # forces replacement</a:t>
            </a:r>
            <a:endParaRPr lang="en-US" sz="1100" dirty="0"/>
          </a:p>
          <a:p>
            <a:pPr indent="0" marL="0">
              <a:lnSpc>
                <a:spcPts val="1782"/>
              </a:lnSpc>
              <a:buNone/>
            </a:pPr>
            <a:r>
              <a:rPr lang="en-US" sz="1100" dirty="0">
                <a:solidFill>
                  <a:srgbClr val="F87171"/>
                </a:solidFill>
                <a:latin typeface="Courier New" pitchFamily="34" charset="0"/>
                <a:ea typeface="Courier New" pitchFamily="34" charset="-122"/>
                <a:cs typeface="Courier New" pitchFamily="34" charset="-120"/>
              </a:rPr>
              <a:t>    }</a:t>
            </a:r>
            <a:endParaRPr lang="en-US" sz="1100" dirty="0"/>
          </a:p>
          <a:p>
            <a:pPr indent="0" marL="0">
              <a:lnSpc>
                <a:spcPts val="1782"/>
              </a:lnSpc>
              <a:buNone/>
            </a:pPr>
            <a:endParaRPr lang="en-US" sz="1100" dirty="0"/>
          </a:p>
          <a:p>
            <a:pPr indent="0" marL="0">
              <a:lnSpc>
                <a:spcPts val="1782"/>
              </a:lnSpc>
              <a:buNone/>
            </a:pPr>
            <a:r>
              <a:rPr lang="en-US" sz="1100" b="1" dirty="0">
                <a:solidFill>
                  <a:srgbClr val="FFFFFF"/>
                </a:solidFill>
                <a:latin typeface="Courier New" pitchFamily="34" charset="0"/>
                <a:ea typeface="Courier New" pitchFamily="34" charset="-122"/>
                <a:cs typeface="Courier New" pitchFamily="34" charset="-120"/>
              </a:rPr>
              <a:t>Plan: 2 to add, 0 to change, 1 to destroy.</a:t>
            </a:r>
            <a:endParaRPr lang="en-US" sz="1100" dirty="0"/>
          </a:p>
        </p:txBody>
      </p:sp>
      <p:sp>
        <p:nvSpPr>
          <p:cNvPr id="11" name="Shape 9"/>
          <p:cNvSpPr/>
          <p:nvPr/>
        </p:nvSpPr>
        <p:spPr>
          <a:xfrm>
            <a:off x="7680960" y="1371600"/>
            <a:ext cx="4233672" cy="731520"/>
          </a:xfrm>
          <a:prstGeom prst="roundRect">
            <a:avLst>
              <a:gd name="adj" fmla="val 6250"/>
            </a:avLst>
          </a:prstGeom>
          <a:solidFill>
            <a:srgbClr val="FFFFFF"/>
          </a:solidFill>
          <a:ln w="12700">
            <a:solidFill>
              <a:srgbClr val="E2E8F0"/>
            </a:solidFill>
            <a:prstDash val="solid"/>
          </a:ln>
        </p:spPr>
      </p:sp>
      <p:sp>
        <p:nvSpPr>
          <p:cNvPr id="12" name="Shape 10"/>
          <p:cNvSpPr/>
          <p:nvPr/>
        </p:nvSpPr>
        <p:spPr>
          <a:xfrm>
            <a:off x="7827264" y="1517904"/>
            <a:ext cx="603504" cy="438912"/>
          </a:xfrm>
          <a:prstGeom prst="roundRect">
            <a:avLst>
              <a:gd name="adj" fmla="val 12500"/>
            </a:avLst>
          </a:prstGeom>
          <a:solidFill>
            <a:srgbClr val="0F172A"/>
          </a:solidFill>
          <a:ln w="12700">
            <a:solidFill>
              <a:srgbClr val="334155"/>
            </a:solidFill>
            <a:prstDash val="solid"/>
          </a:ln>
        </p:spPr>
      </p:sp>
      <p:sp>
        <p:nvSpPr>
          <p:cNvPr id="13" name="Text 11"/>
          <p:cNvSpPr/>
          <p:nvPr/>
        </p:nvSpPr>
        <p:spPr>
          <a:xfrm>
            <a:off x="7827264" y="1517904"/>
            <a:ext cx="603504" cy="438912"/>
          </a:xfrm>
          <a:prstGeom prst="rect">
            <a:avLst/>
          </a:prstGeom>
          <a:noFill/>
          <a:ln/>
        </p:spPr>
        <p:txBody>
          <a:bodyPr wrap="square" lIns="0" tIns="0" rIns="0" bIns="0" rtlCol="0" anchor="ctr"/>
          <a:lstStyle/>
          <a:p>
            <a:pPr algn="ctr" indent="0" marL="0">
              <a:buNone/>
            </a:pPr>
            <a:r>
              <a:rPr lang="en-US" sz="1400" b="1" dirty="0">
                <a:solidFill>
                  <a:srgbClr val="0D9488"/>
                </a:solidFill>
                <a:latin typeface="Courier New" pitchFamily="34" charset="0"/>
                <a:ea typeface="Courier New" pitchFamily="34" charset="-122"/>
                <a:cs typeface="Courier New" pitchFamily="34" charset="-120"/>
              </a:rPr>
              <a:t>+</a:t>
            </a:r>
            <a:endParaRPr lang="en-US" sz="1400" dirty="0"/>
          </a:p>
        </p:txBody>
      </p:sp>
      <p:sp>
        <p:nvSpPr>
          <p:cNvPr id="14" name="Text 12"/>
          <p:cNvSpPr/>
          <p:nvPr/>
        </p:nvSpPr>
        <p:spPr>
          <a:xfrm>
            <a:off x="8558784" y="1481328"/>
            <a:ext cx="3200400" cy="2560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create</a:t>
            </a:r>
            <a:endParaRPr lang="en-US" sz="1300" dirty="0"/>
          </a:p>
        </p:txBody>
      </p:sp>
      <p:sp>
        <p:nvSpPr>
          <p:cNvPr id="15" name="Text 13"/>
          <p:cNvSpPr/>
          <p:nvPr/>
        </p:nvSpPr>
        <p:spPr>
          <a:xfrm>
            <a:off x="8558784" y="1719072"/>
            <a:ext cx="3200400" cy="27432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New resource. Safe.</a:t>
            </a:r>
            <a:endParaRPr lang="en-US" sz="1050" dirty="0"/>
          </a:p>
        </p:txBody>
      </p:sp>
      <p:sp>
        <p:nvSpPr>
          <p:cNvPr id="16" name="Shape 14"/>
          <p:cNvSpPr/>
          <p:nvPr/>
        </p:nvSpPr>
        <p:spPr>
          <a:xfrm>
            <a:off x="7680960" y="2176272"/>
            <a:ext cx="4233672" cy="731520"/>
          </a:xfrm>
          <a:prstGeom prst="roundRect">
            <a:avLst>
              <a:gd name="adj" fmla="val 6250"/>
            </a:avLst>
          </a:prstGeom>
          <a:solidFill>
            <a:srgbClr val="FFFFFF"/>
          </a:solidFill>
          <a:ln w="12700">
            <a:solidFill>
              <a:srgbClr val="E2E8F0"/>
            </a:solidFill>
            <a:prstDash val="solid"/>
          </a:ln>
        </p:spPr>
      </p:sp>
      <p:sp>
        <p:nvSpPr>
          <p:cNvPr id="17" name="Shape 15"/>
          <p:cNvSpPr/>
          <p:nvPr/>
        </p:nvSpPr>
        <p:spPr>
          <a:xfrm>
            <a:off x="7827264" y="2322576"/>
            <a:ext cx="603504" cy="438912"/>
          </a:xfrm>
          <a:prstGeom prst="roundRect">
            <a:avLst>
              <a:gd name="adj" fmla="val 12500"/>
            </a:avLst>
          </a:prstGeom>
          <a:solidFill>
            <a:srgbClr val="0F172A"/>
          </a:solidFill>
          <a:ln w="12700">
            <a:solidFill>
              <a:srgbClr val="334155"/>
            </a:solidFill>
            <a:prstDash val="solid"/>
          </a:ln>
        </p:spPr>
      </p:sp>
      <p:sp>
        <p:nvSpPr>
          <p:cNvPr id="18" name="Text 16"/>
          <p:cNvSpPr/>
          <p:nvPr/>
        </p:nvSpPr>
        <p:spPr>
          <a:xfrm>
            <a:off x="7827264" y="2322576"/>
            <a:ext cx="603504" cy="438912"/>
          </a:xfrm>
          <a:prstGeom prst="rect">
            <a:avLst/>
          </a:prstGeom>
          <a:noFill/>
          <a:ln/>
        </p:spPr>
        <p:txBody>
          <a:bodyPr wrap="square" lIns="0" tIns="0" rIns="0" bIns="0" rtlCol="0" anchor="ctr"/>
          <a:lstStyle/>
          <a:p>
            <a:pPr algn="ctr" indent="0" marL="0">
              <a:buNone/>
            </a:pPr>
            <a:r>
              <a:rPr lang="en-US" sz="1400" b="1" dirty="0">
                <a:solidFill>
                  <a:srgbClr val="38BDF8"/>
                </a:solidFill>
                <a:latin typeface="Courier New" pitchFamily="34" charset="0"/>
                <a:ea typeface="Courier New" pitchFamily="34" charset="-122"/>
                <a:cs typeface="Courier New" pitchFamily="34" charset="-120"/>
              </a:rPr>
              <a:t>~</a:t>
            </a:r>
            <a:endParaRPr lang="en-US" sz="1400" dirty="0"/>
          </a:p>
        </p:txBody>
      </p:sp>
      <p:sp>
        <p:nvSpPr>
          <p:cNvPr id="19" name="Text 17"/>
          <p:cNvSpPr/>
          <p:nvPr/>
        </p:nvSpPr>
        <p:spPr>
          <a:xfrm>
            <a:off x="8558784" y="2286000"/>
            <a:ext cx="3200400" cy="2560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update in place</a:t>
            </a:r>
            <a:endParaRPr lang="en-US" sz="1300" dirty="0"/>
          </a:p>
        </p:txBody>
      </p:sp>
      <p:sp>
        <p:nvSpPr>
          <p:cNvPr id="20" name="Text 18"/>
          <p:cNvSpPr/>
          <p:nvPr/>
        </p:nvSpPr>
        <p:spPr>
          <a:xfrm>
            <a:off x="8558784" y="2523744"/>
            <a:ext cx="3200400" cy="27432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Changed without rebuilding. Usually safe.</a:t>
            </a:r>
            <a:endParaRPr lang="en-US" sz="1050" dirty="0"/>
          </a:p>
        </p:txBody>
      </p:sp>
      <p:sp>
        <p:nvSpPr>
          <p:cNvPr id="21" name="Shape 19"/>
          <p:cNvSpPr/>
          <p:nvPr/>
        </p:nvSpPr>
        <p:spPr>
          <a:xfrm>
            <a:off x="7680960" y="2980944"/>
            <a:ext cx="4233672" cy="731520"/>
          </a:xfrm>
          <a:prstGeom prst="roundRect">
            <a:avLst>
              <a:gd name="adj" fmla="val 6250"/>
            </a:avLst>
          </a:prstGeom>
          <a:solidFill>
            <a:srgbClr val="FFFFFF"/>
          </a:solidFill>
          <a:ln w="12700">
            <a:solidFill>
              <a:srgbClr val="E2E8F0"/>
            </a:solidFill>
            <a:prstDash val="solid"/>
          </a:ln>
        </p:spPr>
      </p:sp>
      <p:sp>
        <p:nvSpPr>
          <p:cNvPr id="22" name="Shape 20"/>
          <p:cNvSpPr/>
          <p:nvPr/>
        </p:nvSpPr>
        <p:spPr>
          <a:xfrm>
            <a:off x="7827264" y="3127248"/>
            <a:ext cx="603504" cy="438912"/>
          </a:xfrm>
          <a:prstGeom prst="roundRect">
            <a:avLst>
              <a:gd name="adj" fmla="val 12500"/>
            </a:avLst>
          </a:prstGeom>
          <a:solidFill>
            <a:srgbClr val="0F172A"/>
          </a:solidFill>
          <a:ln w="12700">
            <a:solidFill>
              <a:srgbClr val="334155"/>
            </a:solidFill>
            <a:prstDash val="solid"/>
          </a:ln>
        </p:spPr>
      </p:sp>
      <p:sp>
        <p:nvSpPr>
          <p:cNvPr id="23" name="Text 21"/>
          <p:cNvSpPr/>
          <p:nvPr/>
        </p:nvSpPr>
        <p:spPr>
          <a:xfrm>
            <a:off x="7827264" y="3127248"/>
            <a:ext cx="603504" cy="438912"/>
          </a:xfrm>
          <a:prstGeom prst="rect">
            <a:avLst/>
          </a:prstGeom>
          <a:noFill/>
          <a:ln/>
        </p:spPr>
        <p:txBody>
          <a:bodyPr wrap="square" lIns="0" tIns="0" rIns="0" bIns="0" rtlCol="0" anchor="ctr"/>
          <a:lstStyle/>
          <a:p>
            <a:pPr algn="ctr" indent="0" marL="0">
              <a:buNone/>
            </a:pPr>
            <a:r>
              <a:rPr lang="en-US" sz="1400" b="1" dirty="0">
                <a:solidFill>
                  <a:srgbClr val="F97316"/>
                </a:solidFill>
                <a:latin typeface="Courier New" pitchFamily="34" charset="0"/>
                <a:ea typeface="Courier New" pitchFamily="34" charset="-122"/>
                <a:cs typeface="Courier New" pitchFamily="34" charset="-120"/>
              </a:rPr>
              <a:t>-/+</a:t>
            </a:r>
            <a:endParaRPr lang="en-US" sz="1400" dirty="0"/>
          </a:p>
        </p:txBody>
      </p:sp>
      <p:sp>
        <p:nvSpPr>
          <p:cNvPr id="24" name="Text 22"/>
          <p:cNvSpPr/>
          <p:nvPr/>
        </p:nvSpPr>
        <p:spPr>
          <a:xfrm>
            <a:off x="8558784" y="3090672"/>
            <a:ext cx="3200400" cy="2560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destroy and recreate</a:t>
            </a:r>
            <a:endParaRPr lang="en-US" sz="1300" dirty="0"/>
          </a:p>
        </p:txBody>
      </p:sp>
      <p:sp>
        <p:nvSpPr>
          <p:cNvPr id="25" name="Text 23"/>
          <p:cNvSpPr/>
          <p:nvPr/>
        </p:nvSpPr>
        <p:spPr>
          <a:xfrm>
            <a:off x="8558784" y="3328416"/>
            <a:ext cx="3200400" cy="27432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The old one dies. Read this line every time.</a:t>
            </a:r>
            <a:endParaRPr lang="en-US" sz="1050" dirty="0"/>
          </a:p>
        </p:txBody>
      </p:sp>
      <p:sp>
        <p:nvSpPr>
          <p:cNvPr id="26" name="Shape 24"/>
          <p:cNvSpPr/>
          <p:nvPr/>
        </p:nvSpPr>
        <p:spPr>
          <a:xfrm>
            <a:off x="7680960" y="3785616"/>
            <a:ext cx="4233672" cy="731520"/>
          </a:xfrm>
          <a:prstGeom prst="roundRect">
            <a:avLst>
              <a:gd name="adj" fmla="val 6250"/>
            </a:avLst>
          </a:prstGeom>
          <a:solidFill>
            <a:srgbClr val="FFFFFF"/>
          </a:solidFill>
          <a:ln w="12700">
            <a:solidFill>
              <a:srgbClr val="E2E8F0"/>
            </a:solidFill>
            <a:prstDash val="solid"/>
          </a:ln>
        </p:spPr>
      </p:sp>
      <p:sp>
        <p:nvSpPr>
          <p:cNvPr id="27" name="Shape 25"/>
          <p:cNvSpPr/>
          <p:nvPr/>
        </p:nvSpPr>
        <p:spPr>
          <a:xfrm>
            <a:off x="7827264" y="3931920"/>
            <a:ext cx="603504" cy="438912"/>
          </a:xfrm>
          <a:prstGeom prst="roundRect">
            <a:avLst>
              <a:gd name="adj" fmla="val 12500"/>
            </a:avLst>
          </a:prstGeom>
          <a:solidFill>
            <a:srgbClr val="0F172A"/>
          </a:solidFill>
          <a:ln w="12700">
            <a:solidFill>
              <a:srgbClr val="334155"/>
            </a:solidFill>
            <a:prstDash val="solid"/>
          </a:ln>
        </p:spPr>
      </p:sp>
      <p:sp>
        <p:nvSpPr>
          <p:cNvPr id="28" name="Text 26"/>
          <p:cNvSpPr/>
          <p:nvPr/>
        </p:nvSpPr>
        <p:spPr>
          <a:xfrm>
            <a:off x="7827264" y="3931920"/>
            <a:ext cx="603504" cy="438912"/>
          </a:xfrm>
          <a:prstGeom prst="rect">
            <a:avLst/>
          </a:prstGeom>
          <a:noFill/>
          <a:ln/>
        </p:spPr>
        <p:txBody>
          <a:bodyPr wrap="square" lIns="0" tIns="0" rIns="0" bIns="0" rtlCol="0" anchor="ctr"/>
          <a:lstStyle/>
          <a:p>
            <a:pPr algn="ctr" indent="0" marL="0">
              <a:buNone/>
            </a:pPr>
            <a:r>
              <a:rPr lang="en-US" sz="1400" b="1" dirty="0">
                <a:solidFill>
                  <a:srgbClr val="F87171"/>
                </a:solidFill>
                <a:latin typeface="Courier New" pitchFamily="34" charset="0"/>
                <a:ea typeface="Courier New" pitchFamily="34" charset="-122"/>
                <a:cs typeface="Courier New" pitchFamily="34" charset="-120"/>
              </a:rPr>
              <a:t>-</a:t>
            </a:r>
            <a:endParaRPr lang="en-US" sz="1400" dirty="0"/>
          </a:p>
        </p:txBody>
      </p:sp>
      <p:sp>
        <p:nvSpPr>
          <p:cNvPr id="29" name="Text 27"/>
          <p:cNvSpPr/>
          <p:nvPr/>
        </p:nvSpPr>
        <p:spPr>
          <a:xfrm>
            <a:off x="8558784" y="3895344"/>
            <a:ext cx="3200400" cy="256032"/>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destroy</a:t>
            </a:r>
            <a:endParaRPr lang="en-US" sz="1300" dirty="0"/>
          </a:p>
        </p:txBody>
      </p:sp>
      <p:sp>
        <p:nvSpPr>
          <p:cNvPr id="30" name="Text 28"/>
          <p:cNvSpPr/>
          <p:nvPr/>
        </p:nvSpPr>
        <p:spPr>
          <a:xfrm>
            <a:off x="8558784" y="4133088"/>
            <a:ext cx="3200400" cy="274320"/>
          </a:xfrm>
          <a:prstGeom prst="rect">
            <a:avLst/>
          </a:prstGeom>
          <a:noFill/>
          <a:ln/>
        </p:spPr>
        <p:txBody>
          <a:bodyPr wrap="square" lIns="0" tIns="0" rIns="0" bIns="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It goes away. Data goes with it.</a:t>
            </a:r>
            <a:endParaRPr lang="en-US" sz="1050" dirty="0"/>
          </a:p>
        </p:txBody>
      </p:sp>
      <p:sp>
        <p:nvSpPr>
          <p:cNvPr id="31" name="Shape 29"/>
          <p:cNvSpPr/>
          <p:nvPr/>
        </p:nvSpPr>
        <p:spPr>
          <a:xfrm>
            <a:off x="7680960" y="4663440"/>
            <a:ext cx="4233672" cy="1234440"/>
          </a:xfrm>
          <a:prstGeom prst="roundRect">
            <a:avLst>
              <a:gd name="adj" fmla="val 3704"/>
            </a:avLst>
          </a:prstGeom>
          <a:solidFill>
            <a:srgbClr val="FFF7ED"/>
          </a:solidFill>
          <a:ln w="12700">
            <a:solidFill>
              <a:srgbClr val="FED7AA"/>
            </a:solidFill>
            <a:prstDash val="solid"/>
          </a:ln>
        </p:spPr>
      </p:sp>
      <p:sp>
        <p:nvSpPr>
          <p:cNvPr id="32" name="Text 30"/>
          <p:cNvSpPr/>
          <p:nvPr/>
        </p:nvSpPr>
        <p:spPr>
          <a:xfrm>
            <a:off x="7918704" y="4754880"/>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THE LINE THAT RUINS AFTERNOONS</a:t>
            </a:r>
            <a:endParaRPr lang="en-US" sz="1000" dirty="0"/>
          </a:p>
        </p:txBody>
      </p:sp>
      <p:sp>
        <p:nvSpPr>
          <p:cNvPr id="33" name="Text 31"/>
          <p:cNvSpPr/>
          <p:nvPr/>
        </p:nvSpPr>
        <p:spPr>
          <a:xfrm>
            <a:off x="7918704" y="4965192"/>
            <a:ext cx="3758184" cy="83210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 forces replacement</a:t>
            </a:r>
            <a:endParaRPr lang="en-US" sz="1300" dirty="0"/>
          </a:p>
          <a:p>
            <a:pPr indent="0" marL="0">
              <a:lnSpc>
                <a:spcPts val="1800"/>
              </a:lnSpc>
              <a:buNone/>
            </a:pPr>
            <a:endParaRPr lang="en-US" sz="1300" dirty="0"/>
          </a:p>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Some arguments cannot be changed in place. Editing one silently means delete-and-rebuild.</a:t>
            </a:r>
            <a:endParaRPr lang="en-US" sz="1300" dirty="0"/>
          </a:p>
        </p:txBody>
      </p:sp>
      <p:sp>
        <p:nvSpPr>
          <p:cNvPr id="34" name="Shape 32"/>
          <p:cNvSpPr/>
          <p:nvPr/>
        </p:nvSpPr>
        <p:spPr>
          <a:xfrm>
            <a:off x="566928" y="4663440"/>
            <a:ext cx="6903720" cy="1234440"/>
          </a:xfrm>
          <a:prstGeom prst="roundRect">
            <a:avLst>
              <a:gd name="adj" fmla="val 3704"/>
            </a:avLst>
          </a:prstGeom>
          <a:solidFill>
            <a:srgbClr val="F0FDFA"/>
          </a:solidFill>
          <a:ln w="12700">
            <a:solidFill>
              <a:srgbClr val="99F6E4"/>
            </a:solidFill>
            <a:prstDash val="solid"/>
          </a:ln>
        </p:spPr>
      </p:sp>
      <p:sp>
        <p:nvSpPr>
          <p:cNvPr id="35" name="Text 33"/>
          <p:cNvSpPr/>
          <p:nvPr/>
        </p:nvSpPr>
        <p:spPr>
          <a:xfrm>
            <a:off x="804672" y="4754880"/>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BUILD THE HABIT NOW</a:t>
            </a:r>
            <a:endParaRPr lang="en-US" sz="1000" dirty="0"/>
          </a:p>
        </p:txBody>
      </p:sp>
      <p:sp>
        <p:nvSpPr>
          <p:cNvPr id="36" name="Text 34"/>
          <p:cNvSpPr/>
          <p:nvPr/>
        </p:nvSpPr>
        <p:spPr>
          <a:xfrm>
            <a:off x="804672" y="4965192"/>
            <a:ext cx="6428232" cy="83210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Read the summary line first: added / changed / destroyed. If the destroyed count is not what you expected, stop and find out why before typing yes. “(known after apply)” is normal — Terraform genuinely cannot know an ARN before AWS assigns it.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HYGIENE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The commands around the loop</a:t>
            </a:r>
            <a:endParaRPr lang="en-US" sz="3000" dirty="0"/>
          </a:p>
        </p:txBody>
      </p:sp>
      <p:sp>
        <p:nvSpPr>
          <p:cNvPr id="4" name="Shape 2"/>
          <p:cNvSpPr/>
          <p:nvPr/>
        </p:nvSpPr>
        <p:spPr>
          <a:xfrm>
            <a:off x="566928" y="1389888"/>
            <a:ext cx="11073384" cy="384048"/>
          </a:xfrm>
          <a:prstGeom prst="rect">
            <a:avLst/>
          </a:prstGeom>
          <a:solidFill>
            <a:srgbClr val="0F172A"/>
          </a:solidFill>
          <a:ln w="6350">
            <a:solidFill>
              <a:srgbClr val="0F172A"/>
            </a:solidFill>
            <a:prstDash val="solid"/>
          </a:ln>
        </p:spPr>
      </p:sp>
      <p:sp>
        <p:nvSpPr>
          <p:cNvPr id="5" name="Text 3"/>
          <p:cNvSpPr/>
          <p:nvPr/>
        </p:nvSpPr>
        <p:spPr>
          <a:xfrm>
            <a:off x="713232" y="1389888"/>
            <a:ext cx="279806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COMMAND</a:t>
            </a:r>
            <a:endParaRPr lang="en-US" sz="1100" dirty="0"/>
          </a:p>
        </p:txBody>
      </p:sp>
      <p:sp>
        <p:nvSpPr>
          <p:cNvPr id="6" name="Text 4"/>
          <p:cNvSpPr/>
          <p:nvPr/>
        </p:nvSpPr>
        <p:spPr>
          <a:xfrm>
            <a:off x="3730752" y="1389888"/>
            <a:ext cx="407822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7" name="Text 5"/>
          <p:cNvSpPr/>
          <p:nvPr/>
        </p:nvSpPr>
        <p:spPr>
          <a:xfrm>
            <a:off x="8028432" y="1389888"/>
            <a:ext cx="3538728"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WHEN YOU RUN IT</a:t>
            </a:r>
            <a:endParaRPr lang="en-US" sz="1100" dirty="0"/>
          </a:p>
        </p:txBody>
      </p:sp>
      <p:sp>
        <p:nvSpPr>
          <p:cNvPr id="8" name="Shape 6"/>
          <p:cNvSpPr/>
          <p:nvPr/>
        </p:nvSpPr>
        <p:spPr>
          <a:xfrm>
            <a:off x="566928" y="1773936"/>
            <a:ext cx="11073384" cy="402336"/>
          </a:xfrm>
          <a:prstGeom prst="rect">
            <a:avLst/>
          </a:prstGeom>
          <a:solidFill>
            <a:srgbClr val="EFF3F8"/>
          </a:solidFill>
          <a:ln w="9525">
            <a:solidFill>
              <a:srgbClr val="E2E8F0"/>
            </a:solidFill>
            <a:prstDash val="solid"/>
          </a:ln>
        </p:spPr>
      </p:sp>
      <p:sp>
        <p:nvSpPr>
          <p:cNvPr id="9" name="Text 7"/>
          <p:cNvSpPr/>
          <p:nvPr/>
        </p:nvSpPr>
        <p:spPr>
          <a:xfrm>
            <a:off x="713232" y="1773936"/>
            <a:ext cx="27980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terraform fmt</a:t>
            </a:r>
            <a:endParaRPr lang="en-US" sz="1100" dirty="0"/>
          </a:p>
        </p:txBody>
      </p:sp>
      <p:sp>
        <p:nvSpPr>
          <p:cNvPr id="10" name="Text 8"/>
          <p:cNvSpPr/>
          <p:nvPr/>
        </p:nvSpPr>
        <p:spPr>
          <a:xfrm>
            <a:off x="3730752" y="1773936"/>
            <a:ext cx="407822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Rewrites your files to canonical style</a:t>
            </a:r>
            <a:endParaRPr lang="en-US" sz="1150" dirty="0"/>
          </a:p>
        </p:txBody>
      </p:sp>
      <p:sp>
        <p:nvSpPr>
          <p:cNvPr id="11" name="Text 9"/>
          <p:cNvSpPr/>
          <p:nvPr/>
        </p:nvSpPr>
        <p:spPr>
          <a:xfrm>
            <a:off x="8028432" y="1773936"/>
            <a:ext cx="353872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Before every commit. Add it to pre-commit</a:t>
            </a:r>
            <a:endParaRPr lang="en-US" sz="1150" dirty="0"/>
          </a:p>
        </p:txBody>
      </p:sp>
      <p:sp>
        <p:nvSpPr>
          <p:cNvPr id="12" name="Shape 10"/>
          <p:cNvSpPr/>
          <p:nvPr/>
        </p:nvSpPr>
        <p:spPr>
          <a:xfrm>
            <a:off x="566928" y="2176272"/>
            <a:ext cx="11073384" cy="402336"/>
          </a:xfrm>
          <a:prstGeom prst="rect">
            <a:avLst/>
          </a:prstGeom>
          <a:solidFill>
            <a:srgbClr val="FFFFFF"/>
          </a:solidFill>
          <a:ln w="9525">
            <a:solidFill>
              <a:srgbClr val="E2E8F0"/>
            </a:solidFill>
            <a:prstDash val="solid"/>
          </a:ln>
        </p:spPr>
      </p:sp>
      <p:sp>
        <p:nvSpPr>
          <p:cNvPr id="13" name="Text 11"/>
          <p:cNvSpPr/>
          <p:nvPr/>
        </p:nvSpPr>
        <p:spPr>
          <a:xfrm>
            <a:off x="713232" y="2176272"/>
            <a:ext cx="27980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terraform validate</a:t>
            </a:r>
            <a:endParaRPr lang="en-US" sz="1100" dirty="0"/>
          </a:p>
        </p:txBody>
      </p:sp>
      <p:sp>
        <p:nvSpPr>
          <p:cNvPr id="14" name="Text 12"/>
          <p:cNvSpPr/>
          <p:nvPr/>
        </p:nvSpPr>
        <p:spPr>
          <a:xfrm>
            <a:off x="3730752" y="2176272"/>
            <a:ext cx="407822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Checks syntax and internal consistency</a:t>
            </a:r>
            <a:endParaRPr lang="en-US" sz="1150" dirty="0"/>
          </a:p>
        </p:txBody>
      </p:sp>
      <p:sp>
        <p:nvSpPr>
          <p:cNvPr id="15" name="Text 13"/>
          <p:cNvSpPr/>
          <p:nvPr/>
        </p:nvSpPr>
        <p:spPr>
          <a:xfrm>
            <a:off x="8028432" y="2176272"/>
            <a:ext cx="353872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In CI, before plan. No AWS access needed</a:t>
            </a:r>
            <a:endParaRPr lang="en-US" sz="1150" dirty="0"/>
          </a:p>
        </p:txBody>
      </p:sp>
      <p:sp>
        <p:nvSpPr>
          <p:cNvPr id="16" name="Shape 14"/>
          <p:cNvSpPr/>
          <p:nvPr/>
        </p:nvSpPr>
        <p:spPr>
          <a:xfrm>
            <a:off x="566928" y="2578608"/>
            <a:ext cx="11073384" cy="402336"/>
          </a:xfrm>
          <a:prstGeom prst="rect">
            <a:avLst/>
          </a:prstGeom>
          <a:solidFill>
            <a:srgbClr val="EFF3F8"/>
          </a:solidFill>
          <a:ln w="9525">
            <a:solidFill>
              <a:srgbClr val="E2E8F0"/>
            </a:solidFill>
            <a:prstDash val="solid"/>
          </a:ln>
        </p:spPr>
      </p:sp>
      <p:sp>
        <p:nvSpPr>
          <p:cNvPr id="17" name="Text 15"/>
          <p:cNvSpPr/>
          <p:nvPr/>
        </p:nvSpPr>
        <p:spPr>
          <a:xfrm>
            <a:off x="713232" y="2578608"/>
            <a:ext cx="27980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terraform show</a:t>
            </a:r>
            <a:endParaRPr lang="en-US" sz="1100" dirty="0"/>
          </a:p>
        </p:txBody>
      </p:sp>
      <p:sp>
        <p:nvSpPr>
          <p:cNvPr id="18" name="Text 16"/>
          <p:cNvSpPr/>
          <p:nvPr/>
        </p:nvSpPr>
        <p:spPr>
          <a:xfrm>
            <a:off x="3730752" y="2578608"/>
            <a:ext cx="407822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Prints the current state, human-readable</a:t>
            </a:r>
            <a:endParaRPr lang="en-US" sz="1150" dirty="0"/>
          </a:p>
        </p:txBody>
      </p:sp>
      <p:sp>
        <p:nvSpPr>
          <p:cNvPr id="19" name="Text 17"/>
          <p:cNvSpPr/>
          <p:nvPr/>
        </p:nvSpPr>
        <p:spPr>
          <a:xfrm>
            <a:off x="8028432" y="2578608"/>
            <a:ext cx="353872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When you want to see what you own</a:t>
            </a:r>
            <a:endParaRPr lang="en-US" sz="1150" dirty="0"/>
          </a:p>
        </p:txBody>
      </p:sp>
      <p:sp>
        <p:nvSpPr>
          <p:cNvPr id="20" name="Shape 18"/>
          <p:cNvSpPr/>
          <p:nvPr/>
        </p:nvSpPr>
        <p:spPr>
          <a:xfrm>
            <a:off x="566928" y="2980944"/>
            <a:ext cx="11073384" cy="402336"/>
          </a:xfrm>
          <a:prstGeom prst="rect">
            <a:avLst/>
          </a:prstGeom>
          <a:solidFill>
            <a:srgbClr val="FFFFFF"/>
          </a:solidFill>
          <a:ln w="9525">
            <a:solidFill>
              <a:srgbClr val="E2E8F0"/>
            </a:solidFill>
            <a:prstDash val="solid"/>
          </a:ln>
        </p:spPr>
      </p:sp>
      <p:sp>
        <p:nvSpPr>
          <p:cNvPr id="21" name="Text 19"/>
          <p:cNvSpPr/>
          <p:nvPr/>
        </p:nvSpPr>
        <p:spPr>
          <a:xfrm>
            <a:off x="713232" y="2980944"/>
            <a:ext cx="27980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terraform output</a:t>
            </a:r>
            <a:endParaRPr lang="en-US" sz="1100" dirty="0"/>
          </a:p>
        </p:txBody>
      </p:sp>
      <p:sp>
        <p:nvSpPr>
          <p:cNvPr id="22" name="Text 20"/>
          <p:cNvSpPr/>
          <p:nvPr/>
        </p:nvSpPr>
        <p:spPr>
          <a:xfrm>
            <a:off x="3730752" y="2980944"/>
            <a:ext cx="407822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Prints the output values</a:t>
            </a:r>
            <a:endParaRPr lang="en-US" sz="1150" dirty="0"/>
          </a:p>
        </p:txBody>
      </p:sp>
      <p:sp>
        <p:nvSpPr>
          <p:cNvPr id="23" name="Text 21"/>
          <p:cNvSpPr/>
          <p:nvPr/>
        </p:nvSpPr>
        <p:spPr>
          <a:xfrm>
            <a:off x="8028432" y="2980944"/>
            <a:ext cx="353872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To grab a URL or an ARN for the next lab</a:t>
            </a:r>
            <a:endParaRPr lang="en-US" sz="1150" dirty="0"/>
          </a:p>
        </p:txBody>
      </p:sp>
      <p:sp>
        <p:nvSpPr>
          <p:cNvPr id="24" name="Shape 22"/>
          <p:cNvSpPr/>
          <p:nvPr/>
        </p:nvSpPr>
        <p:spPr>
          <a:xfrm>
            <a:off x="566928" y="3383280"/>
            <a:ext cx="11073384" cy="402336"/>
          </a:xfrm>
          <a:prstGeom prst="rect">
            <a:avLst/>
          </a:prstGeom>
          <a:solidFill>
            <a:srgbClr val="EFF3F8"/>
          </a:solidFill>
          <a:ln w="9525">
            <a:solidFill>
              <a:srgbClr val="E2E8F0"/>
            </a:solidFill>
            <a:prstDash val="solid"/>
          </a:ln>
        </p:spPr>
      </p:sp>
      <p:sp>
        <p:nvSpPr>
          <p:cNvPr id="25" name="Text 23"/>
          <p:cNvSpPr/>
          <p:nvPr/>
        </p:nvSpPr>
        <p:spPr>
          <a:xfrm>
            <a:off x="713232" y="3383280"/>
            <a:ext cx="27980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terraform state list</a:t>
            </a:r>
            <a:endParaRPr lang="en-US" sz="1100" dirty="0"/>
          </a:p>
        </p:txBody>
      </p:sp>
      <p:sp>
        <p:nvSpPr>
          <p:cNvPr id="26" name="Text 24"/>
          <p:cNvSpPr/>
          <p:nvPr/>
        </p:nvSpPr>
        <p:spPr>
          <a:xfrm>
            <a:off x="3730752" y="3383280"/>
            <a:ext cx="407822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Lists every resource address in state</a:t>
            </a:r>
            <a:endParaRPr lang="en-US" sz="1150" dirty="0"/>
          </a:p>
        </p:txBody>
      </p:sp>
      <p:sp>
        <p:nvSpPr>
          <p:cNvPr id="27" name="Text 25"/>
          <p:cNvSpPr/>
          <p:nvPr/>
        </p:nvSpPr>
        <p:spPr>
          <a:xfrm>
            <a:off x="8028432" y="3383280"/>
            <a:ext cx="353872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When you have lost track of what exists</a:t>
            </a:r>
            <a:endParaRPr lang="en-US" sz="1150" dirty="0"/>
          </a:p>
        </p:txBody>
      </p:sp>
      <p:sp>
        <p:nvSpPr>
          <p:cNvPr id="28" name="Shape 26"/>
          <p:cNvSpPr/>
          <p:nvPr/>
        </p:nvSpPr>
        <p:spPr>
          <a:xfrm>
            <a:off x="566928" y="3785616"/>
            <a:ext cx="11073384" cy="402336"/>
          </a:xfrm>
          <a:prstGeom prst="rect">
            <a:avLst/>
          </a:prstGeom>
          <a:solidFill>
            <a:srgbClr val="FFFFFF"/>
          </a:solidFill>
          <a:ln w="9525">
            <a:solidFill>
              <a:srgbClr val="E2E8F0"/>
            </a:solidFill>
            <a:prstDash val="solid"/>
          </a:ln>
        </p:spPr>
      </p:sp>
      <p:sp>
        <p:nvSpPr>
          <p:cNvPr id="29" name="Text 27"/>
          <p:cNvSpPr/>
          <p:nvPr/>
        </p:nvSpPr>
        <p:spPr>
          <a:xfrm>
            <a:off x="713232" y="3785616"/>
            <a:ext cx="27980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terraform console</a:t>
            </a:r>
            <a:endParaRPr lang="en-US" sz="1100" dirty="0"/>
          </a:p>
        </p:txBody>
      </p:sp>
      <p:sp>
        <p:nvSpPr>
          <p:cNvPr id="30" name="Text 28"/>
          <p:cNvSpPr/>
          <p:nvPr/>
        </p:nvSpPr>
        <p:spPr>
          <a:xfrm>
            <a:off x="3730752" y="3785616"/>
            <a:ext cx="407822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 REPL for evaluating expressions</a:t>
            </a:r>
            <a:endParaRPr lang="en-US" sz="1150" dirty="0"/>
          </a:p>
        </p:txBody>
      </p:sp>
      <p:sp>
        <p:nvSpPr>
          <p:cNvPr id="31" name="Text 29"/>
          <p:cNvSpPr/>
          <p:nvPr/>
        </p:nvSpPr>
        <p:spPr>
          <a:xfrm>
            <a:off x="8028432" y="3785616"/>
            <a:ext cx="353872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When an interpolation is not doing what you meant</a:t>
            </a:r>
            <a:endParaRPr lang="en-US" sz="1150" dirty="0"/>
          </a:p>
        </p:txBody>
      </p:sp>
      <p:sp>
        <p:nvSpPr>
          <p:cNvPr id="32" name="Shape 30"/>
          <p:cNvSpPr/>
          <p:nvPr/>
        </p:nvSpPr>
        <p:spPr>
          <a:xfrm>
            <a:off x="566928" y="4343400"/>
            <a:ext cx="6903720" cy="1554480"/>
          </a:xfrm>
          <a:prstGeom prst="roundRect">
            <a:avLst>
              <a:gd name="adj" fmla="val 3529"/>
            </a:avLst>
          </a:prstGeom>
          <a:solidFill>
            <a:srgbClr val="0F172A"/>
          </a:solidFill>
          <a:ln w="12700">
            <a:solidFill>
              <a:srgbClr val="334155"/>
            </a:solidFill>
            <a:prstDash val="solid"/>
          </a:ln>
        </p:spPr>
      </p:sp>
      <p:sp>
        <p:nvSpPr>
          <p:cNvPr id="33" name="Shape 31"/>
          <p:cNvSpPr/>
          <p:nvPr/>
        </p:nvSpPr>
        <p:spPr>
          <a:xfrm>
            <a:off x="566928" y="4343400"/>
            <a:ext cx="6903720" cy="292608"/>
          </a:xfrm>
          <a:prstGeom prst="rect">
            <a:avLst/>
          </a:prstGeom>
          <a:solidFill>
            <a:srgbClr val="1E293B"/>
          </a:solidFill>
          <a:ln w="12700">
            <a:solidFill>
              <a:srgbClr val="334155"/>
            </a:solidFill>
            <a:prstDash val="solid"/>
          </a:ln>
        </p:spPr>
      </p:sp>
      <p:sp>
        <p:nvSpPr>
          <p:cNvPr id="34" name="Shape 32"/>
          <p:cNvSpPr/>
          <p:nvPr/>
        </p:nvSpPr>
        <p:spPr>
          <a:xfrm>
            <a:off x="685800" y="4439412"/>
            <a:ext cx="100584" cy="100584"/>
          </a:xfrm>
          <a:prstGeom prst="ellipse">
            <a:avLst/>
          </a:prstGeom>
          <a:solidFill>
            <a:srgbClr val="F87171"/>
          </a:solidFill>
          <a:ln w="6350">
            <a:solidFill>
              <a:srgbClr val="F87171"/>
            </a:solidFill>
            <a:prstDash val="solid"/>
          </a:ln>
        </p:spPr>
      </p:sp>
      <p:sp>
        <p:nvSpPr>
          <p:cNvPr id="35" name="Shape 33"/>
          <p:cNvSpPr/>
          <p:nvPr/>
        </p:nvSpPr>
        <p:spPr>
          <a:xfrm>
            <a:off x="859536" y="4439412"/>
            <a:ext cx="100584" cy="100584"/>
          </a:xfrm>
          <a:prstGeom prst="ellipse">
            <a:avLst/>
          </a:prstGeom>
          <a:solidFill>
            <a:srgbClr val="FBBF24"/>
          </a:solidFill>
          <a:ln w="6350">
            <a:solidFill>
              <a:srgbClr val="FBBF24"/>
            </a:solidFill>
            <a:prstDash val="solid"/>
          </a:ln>
        </p:spPr>
      </p:sp>
      <p:sp>
        <p:nvSpPr>
          <p:cNvPr id="36" name="Shape 34"/>
          <p:cNvSpPr/>
          <p:nvPr/>
        </p:nvSpPr>
        <p:spPr>
          <a:xfrm>
            <a:off x="1033272" y="4439412"/>
            <a:ext cx="100584" cy="100584"/>
          </a:xfrm>
          <a:prstGeom prst="ellipse">
            <a:avLst/>
          </a:prstGeom>
          <a:solidFill>
            <a:srgbClr val="34D399"/>
          </a:solidFill>
          <a:ln w="6350">
            <a:solidFill>
              <a:srgbClr val="34D399"/>
            </a:solidFill>
            <a:prstDash val="solid"/>
          </a:ln>
        </p:spPr>
      </p:sp>
      <p:sp>
        <p:nvSpPr>
          <p:cNvPr id="37" name="Text 35"/>
          <p:cNvSpPr/>
          <p:nvPr/>
        </p:nvSpPr>
        <p:spPr>
          <a:xfrm>
            <a:off x="1225296" y="4361688"/>
            <a:ext cx="612648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the pre-commit habit</a:t>
            </a:r>
            <a:endParaRPr lang="en-US" sz="950" dirty="0"/>
          </a:p>
        </p:txBody>
      </p:sp>
      <p:sp>
        <p:nvSpPr>
          <p:cNvPr id="38" name="Text 36"/>
          <p:cNvSpPr/>
          <p:nvPr/>
        </p:nvSpPr>
        <p:spPr>
          <a:xfrm>
            <a:off x="768096" y="4727448"/>
            <a:ext cx="6501384" cy="102412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fmt -recursive &amp;&amp; terraform validate</a:t>
            </a:r>
            <a:endParaRPr lang="en-US" sz="1150" dirty="0"/>
          </a:p>
          <a:p>
            <a:pPr indent="0" marL="0">
              <a:lnSpc>
                <a:spcPts val="1863"/>
              </a:lnSpc>
              <a:buNone/>
            </a:pPr>
            <a:r>
              <a:rPr lang="en-US" sz="1150" dirty="0">
                <a:solidFill>
                  <a:srgbClr val="FBBF24"/>
                </a:solidFill>
                <a:latin typeface="Courier New" pitchFamily="34" charset="0"/>
                <a:ea typeface="Courier New" pitchFamily="34" charset="-122"/>
                <a:cs typeface="Courier New" pitchFamily="34" charset="-120"/>
              </a:rPr>
              <a:t>main.tf</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Success! The configuration is valid.</a:t>
            </a:r>
            <a:endParaRPr lang="en-US" sz="1150" dirty="0"/>
          </a:p>
        </p:txBody>
      </p:sp>
      <p:sp>
        <p:nvSpPr>
          <p:cNvPr id="39" name="Shape 37"/>
          <p:cNvSpPr/>
          <p:nvPr/>
        </p:nvSpPr>
        <p:spPr>
          <a:xfrm>
            <a:off x="7680960" y="4343400"/>
            <a:ext cx="4233672" cy="1554480"/>
          </a:xfrm>
          <a:prstGeom prst="roundRect">
            <a:avLst>
              <a:gd name="adj" fmla="val 294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40" name="Shape 38"/>
          <p:cNvSpPr/>
          <p:nvPr/>
        </p:nvSpPr>
        <p:spPr>
          <a:xfrm>
            <a:off x="7918704" y="4581144"/>
            <a:ext cx="512064" cy="512064"/>
          </a:xfrm>
          <a:prstGeom prst="ellipse">
            <a:avLst/>
          </a:prstGeom>
          <a:solidFill>
            <a:srgbClr val="F0FDFA"/>
          </a:solidFill>
          <a:ln w="11430">
            <a:solidFill>
              <a:srgbClr val="0D9488"/>
            </a:solidFill>
            <a:prstDash val="solid"/>
          </a:ln>
        </p:spPr>
      </p:sp>
      <p:pic>
        <p:nvPicPr>
          <p:cNvPr id="41" name="Image 0" descr="preencoded.png">    </p:cNvPr>
          <p:cNvPicPr>
            <a:picLocks noChangeAspect="1"/>
          </p:cNvPicPr>
          <p:nvPr/>
        </p:nvPicPr>
        <p:blipFill>
          <a:blip r:embed="rId1"/>
          <a:stretch>
            <a:fillRect/>
          </a:stretch>
        </p:blipFill>
        <p:spPr>
          <a:xfrm>
            <a:off x="8042148" y="4704588"/>
            <a:ext cx="265176" cy="265176"/>
          </a:xfrm>
          <a:prstGeom prst="rect">
            <a:avLst/>
          </a:prstGeom>
        </p:spPr>
      </p:pic>
      <p:sp>
        <p:nvSpPr>
          <p:cNvPr id="42" name="Text 39"/>
          <p:cNvSpPr/>
          <p:nvPr/>
        </p:nvSpPr>
        <p:spPr>
          <a:xfrm>
            <a:off x="7918704" y="5184648"/>
            <a:ext cx="375818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Why fmt is not bikeshedding</a:t>
            </a:r>
            <a:endParaRPr lang="en-US" sz="1350" dirty="0"/>
          </a:p>
        </p:txBody>
      </p:sp>
      <p:sp>
        <p:nvSpPr>
          <p:cNvPr id="43" name="Text 40"/>
          <p:cNvSpPr/>
          <p:nvPr/>
        </p:nvSpPr>
        <p:spPr>
          <a:xfrm>
            <a:off x="7918704" y="5532120"/>
            <a:ext cx="3758184" cy="18288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Canonical formatting means a pull-request diff shows only real changes, not somebody’s indentation preference. It is the cheapest code-review improvement you will ever make.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326CE5"/>
                </a:solidFill>
                <a:latin typeface="Calibri" pitchFamily="34" charset="0"/>
                <a:ea typeface="Calibri" pitchFamily="34" charset="-122"/>
                <a:cs typeface="Calibri" pitchFamily="34" charset="-120"/>
              </a:rPr>
              <a:t>RECONCILIATION — YOU HAVE SEEN THIS BEFORE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Desired state, actual state, and the diff between them</a:t>
            </a:r>
            <a:endParaRPr lang="en-US" sz="3000" dirty="0"/>
          </a:p>
        </p:txBody>
      </p:sp>
      <p:sp>
        <p:nvSpPr>
          <p:cNvPr id="4" name="Shape 2"/>
          <p:cNvSpPr/>
          <p:nvPr/>
        </p:nvSpPr>
        <p:spPr>
          <a:xfrm>
            <a:off x="566928" y="1463040"/>
            <a:ext cx="3291840" cy="1691640"/>
          </a:xfrm>
          <a:prstGeom prst="roundRect">
            <a:avLst>
              <a:gd name="adj" fmla="val 2703"/>
            </a:avLst>
          </a:prstGeom>
          <a:solidFill>
            <a:srgbClr val="F4EDFB"/>
          </a:solidFill>
          <a:ln w="15875">
            <a:solidFill>
              <a:srgbClr val="7B42BC"/>
            </a:solidFill>
            <a:prstDash val="solid"/>
          </a:ln>
        </p:spPr>
      </p:sp>
      <p:sp>
        <p:nvSpPr>
          <p:cNvPr id="5" name="Text 3"/>
          <p:cNvSpPr/>
          <p:nvPr/>
        </p:nvSpPr>
        <p:spPr>
          <a:xfrm>
            <a:off x="786384" y="1645920"/>
            <a:ext cx="2852928"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Desired state</a:t>
            </a:r>
            <a:endParaRPr lang="en-US" sz="1400" dirty="0"/>
          </a:p>
        </p:txBody>
      </p:sp>
      <p:sp>
        <p:nvSpPr>
          <p:cNvPr id="6" name="Text 4"/>
          <p:cNvSpPr/>
          <p:nvPr/>
        </p:nvSpPr>
        <p:spPr>
          <a:xfrm>
            <a:off x="786384" y="1993392"/>
            <a:ext cx="2852928" cy="9601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Your .tf files. What you say you want. Lives in git, reviewed by humans.</a:t>
            </a:r>
            <a:endParaRPr lang="en-US" sz="1150" dirty="0"/>
          </a:p>
        </p:txBody>
      </p:sp>
      <p:sp>
        <p:nvSpPr>
          <p:cNvPr id="7" name="Shape 5"/>
          <p:cNvSpPr/>
          <p:nvPr/>
        </p:nvSpPr>
        <p:spPr>
          <a:xfrm>
            <a:off x="4443984" y="1463040"/>
            <a:ext cx="3291840" cy="1691640"/>
          </a:xfrm>
          <a:prstGeom prst="roundRect">
            <a:avLst>
              <a:gd name="adj" fmla="val 2703"/>
            </a:avLst>
          </a:prstGeom>
          <a:solidFill>
            <a:srgbClr val="FFF7ED"/>
          </a:solidFill>
          <a:ln w="15875">
            <a:solidFill>
              <a:srgbClr val="F97316"/>
            </a:solidFill>
            <a:prstDash val="solid"/>
          </a:ln>
        </p:spPr>
      </p:sp>
      <p:sp>
        <p:nvSpPr>
          <p:cNvPr id="8" name="Text 6"/>
          <p:cNvSpPr/>
          <p:nvPr/>
        </p:nvSpPr>
        <p:spPr>
          <a:xfrm>
            <a:off x="4663440" y="1645920"/>
            <a:ext cx="2852928"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Actual state</a:t>
            </a:r>
            <a:endParaRPr lang="en-US" sz="1400" dirty="0"/>
          </a:p>
        </p:txBody>
      </p:sp>
      <p:sp>
        <p:nvSpPr>
          <p:cNvPr id="9" name="Text 7"/>
          <p:cNvSpPr/>
          <p:nvPr/>
        </p:nvSpPr>
        <p:spPr>
          <a:xfrm>
            <a:off x="4663440" y="1993392"/>
            <a:ext cx="2852928" cy="9601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What is really running in AWS right now, whatever anyone did to it.</a:t>
            </a:r>
            <a:endParaRPr lang="en-US" sz="1150" dirty="0"/>
          </a:p>
        </p:txBody>
      </p:sp>
      <p:sp>
        <p:nvSpPr>
          <p:cNvPr id="10" name="Shape 8"/>
          <p:cNvSpPr/>
          <p:nvPr/>
        </p:nvSpPr>
        <p:spPr>
          <a:xfrm>
            <a:off x="8339328" y="1463040"/>
            <a:ext cx="3575304" cy="1691640"/>
          </a:xfrm>
          <a:prstGeom prst="roundRect">
            <a:avLst>
              <a:gd name="adj" fmla="val 2703"/>
            </a:avLst>
          </a:prstGeom>
          <a:solidFill>
            <a:srgbClr val="F0FDFA"/>
          </a:solidFill>
          <a:ln w="15875">
            <a:solidFill>
              <a:srgbClr val="0D9488"/>
            </a:solidFill>
            <a:prstDash val="solid"/>
          </a:ln>
        </p:spPr>
      </p:sp>
      <p:sp>
        <p:nvSpPr>
          <p:cNvPr id="11" name="Text 9"/>
          <p:cNvSpPr/>
          <p:nvPr/>
        </p:nvSpPr>
        <p:spPr>
          <a:xfrm>
            <a:off x="8558784" y="1645920"/>
            <a:ext cx="3136392"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plan</a:t>
            </a:r>
            <a:endParaRPr lang="en-US" sz="1400" dirty="0"/>
          </a:p>
        </p:txBody>
      </p:sp>
      <p:sp>
        <p:nvSpPr>
          <p:cNvPr id="12" name="Text 10"/>
          <p:cNvSpPr/>
          <p:nvPr/>
        </p:nvSpPr>
        <p:spPr>
          <a:xfrm>
            <a:off x="8558784" y="1993392"/>
            <a:ext cx="3136392" cy="960120"/>
          </a:xfrm>
          <a:prstGeom prst="rect">
            <a:avLst/>
          </a:prstGeom>
          <a:noFill/>
          <a:ln/>
        </p:spPr>
        <p:txBody>
          <a:bodyPr wrap="square" lIns="0" tIns="0" rIns="0" bIns="0" rtlCol="0" anchor="t"/>
          <a:lstStyle/>
          <a:p>
            <a:pPr indent="0" marL="0">
              <a:lnSpc>
                <a:spcPts val="1600"/>
              </a:lnSpc>
              <a:buNone/>
            </a:pPr>
            <a:r>
              <a:rPr lang="en-US" sz="1150" dirty="0">
                <a:solidFill>
                  <a:srgbClr val="334155"/>
                </a:solidFill>
                <a:latin typeface="Calibri" pitchFamily="34" charset="0"/>
                <a:ea typeface="Calibri" pitchFamily="34" charset="-122"/>
                <a:cs typeface="Calibri" pitchFamily="34" charset="-120"/>
              </a:rPr>
              <a:t>The diff between the two, plus the set of API calls that would close it.</a:t>
            </a:r>
            <a:endParaRPr lang="en-US" sz="1150" dirty="0"/>
          </a:p>
        </p:txBody>
      </p:sp>
      <p:sp>
        <p:nvSpPr>
          <p:cNvPr id="13" name="Shape 11"/>
          <p:cNvSpPr/>
          <p:nvPr/>
        </p:nvSpPr>
        <p:spPr>
          <a:xfrm>
            <a:off x="3913632" y="2212848"/>
            <a:ext cx="457200" cy="182880"/>
          </a:xfrm>
          <a:prstGeom prst="rightArrow">
            <a:avLst/>
          </a:prstGeom>
          <a:solidFill>
            <a:srgbClr val="94A3B8"/>
          </a:solidFill>
          <a:ln w="12700">
            <a:solidFill>
              <a:srgbClr val="94A3B8"/>
            </a:solidFill>
            <a:prstDash val="solid"/>
          </a:ln>
        </p:spPr>
      </p:sp>
      <p:sp>
        <p:nvSpPr>
          <p:cNvPr id="14" name="Shape 12"/>
          <p:cNvSpPr/>
          <p:nvPr/>
        </p:nvSpPr>
        <p:spPr>
          <a:xfrm>
            <a:off x="7808976" y="2212848"/>
            <a:ext cx="457200" cy="182880"/>
          </a:xfrm>
          <a:prstGeom prst="rightArrow">
            <a:avLst/>
          </a:prstGeom>
          <a:solidFill>
            <a:srgbClr val="94A3B8"/>
          </a:solidFill>
          <a:ln w="12700">
            <a:solidFill>
              <a:srgbClr val="94A3B8"/>
            </a:solidFill>
            <a:prstDash val="solid"/>
          </a:ln>
        </p:spPr>
      </p:sp>
      <p:sp>
        <p:nvSpPr>
          <p:cNvPr id="15" name="Shape 13"/>
          <p:cNvSpPr/>
          <p:nvPr/>
        </p:nvSpPr>
        <p:spPr>
          <a:xfrm>
            <a:off x="566928" y="3401568"/>
            <a:ext cx="11073384" cy="1463040"/>
          </a:xfrm>
          <a:prstGeom prst="roundRect">
            <a:avLst>
              <a:gd name="adj" fmla="val 3125"/>
            </a:avLst>
          </a:prstGeom>
          <a:solidFill>
            <a:srgbClr val="FFFFFF"/>
          </a:solidFill>
          <a:ln w="15875">
            <a:solidFill>
              <a:srgbClr val="326CE5"/>
            </a:solidFill>
            <a:prstDash val="solid"/>
          </a:ln>
        </p:spPr>
      </p:sp>
      <p:sp>
        <p:nvSpPr>
          <p:cNvPr id="16" name="Shape 14"/>
          <p:cNvSpPr/>
          <p:nvPr/>
        </p:nvSpPr>
        <p:spPr>
          <a:xfrm>
            <a:off x="841248" y="3703320"/>
            <a:ext cx="603504" cy="603504"/>
          </a:xfrm>
          <a:prstGeom prst="ellipse">
            <a:avLst/>
          </a:prstGeom>
          <a:solidFill>
            <a:srgbClr val="EAF1FD"/>
          </a:solidFill>
          <a:ln w="12700">
            <a:solidFill>
              <a:srgbClr val="326CE5"/>
            </a:solidFill>
            <a:prstDash val="solid"/>
          </a:ln>
        </p:spPr>
      </p:sp>
      <p:pic>
        <p:nvPicPr>
          <p:cNvPr id="17" name="Image 0" descr="preencoded.png">    </p:cNvPr>
          <p:cNvPicPr>
            <a:picLocks noChangeAspect="1"/>
          </p:cNvPicPr>
          <p:nvPr/>
        </p:nvPicPr>
        <p:blipFill>
          <a:blip r:embed="rId1"/>
          <a:stretch>
            <a:fillRect/>
          </a:stretch>
        </p:blipFill>
        <p:spPr>
          <a:xfrm>
            <a:off x="987552" y="3849624"/>
            <a:ext cx="310896" cy="310896"/>
          </a:xfrm>
          <a:prstGeom prst="rect">
            <a:avLst/>
          </a:prstGeom>
        </p:spPr>
      </p:pic>
      <p:sp>
        <p:nvSpPr>
          <p:cNvPr id="18" name="Text 15"/>
          <p:cNvSpPr/>
          <p:nvPr/>
        </p:nvSpPr>
        <p:spPr>
          <a:xfrm>
            <a:off x="1609344" y="3639312"/>
            <a:ext cx="10058400" cy="329184"/>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This is the Kubernetes reconciliation loop</a:t>
            </a:r>
            <a:endParaRPr lang="en-US" sz="1500" dirty="0"/>
          </a:p>
        </p:txBody>
      </p:sp>
      <p:sp>
        <p:nvSpPr>
          <p:cNvPr id="19" name="Text 16"/>
          <p:cNvSpPr/>
          <p:nvPr/>
        </p:nvSpPr>
        <p:spPr>
          <a:xfrm>
            <a:off x="1609344" y="3968496"/>
            <a:ext cx="10058400" cy="786384"/>
          </a:xfrm>
          <a:prstGeom prst="rect">
            <a:avLst/>
          </a:prstGeom>
          <a:noFill/>
          <a:ln/>
        </p:spPr>
        <p:txBody>
          <a:bodyPr wrap="square" lIns="0" tIns="0" rIns="0" bIns="0" rtlCol="0" anchor="ctr"/>
          <a:lstStyle/>
          <a:p>
            <a:pPr indent="0" marL="0">
              <a:lnSpc>
                <a:spcPts val="1800"/>
              </a:lnSpc>
              <a:buNone/>
            </a:pPr>
            <a:r>
              <a:rPr lang="en-US" sz="1250" dirty="0">
                <a:solidFill>
                  <a:srgbClr val="334155"/>
                </a:solidFill>
                <a:latin typeface="Calibri" pitchFamily="34" charset="0"/>
                <a:ea typeface="Calibri" pitchFamily="34" charset="-122"/>
                <a:cs typeface="Calibri" pitchFamily="34" charset="-120"/>
              </a:rPr>
              <a:t>A Deployment declares three replicas; a controller watches, notices two, and starts one. Terraform is the same idea with the loop taken out: it reconciles once, when you run apply, and then stops. That single difference explains almost everything about how the two tools behave.</a:t>
            </a:r>
            <a:endParaRPr lang="en-US" sz="1250" dirty="0"/>
          </a:p>
        </p:txBody>
      </p:sp>
      <p:sp>
        <p:nvSpPr>
          <p:cNvPr id="20" name="Shape 17"/>
          <p:cNvSpPr/>
          <p:nvPr/>
        </p:nvSpPr>
        <p:spPr>
          <a:xfrm>
            <a:off x="566928" y="5029200"/>
            <a:ext cx="5394960" cy="914400"/>
          </a:xfrm>
          <a:prstGeom prst="roundRect">
            <a:avLst>
              <a:gd name="adj" fmla="val 5000"/>
            </a:avLst>
          </a:prstGeom>
          <a:solidFill>
            <a:srgbClr val="FFF7ED"/>
          </a:solidFill>
          <a:ln w="12700">
            <a:solidFill>
              <a:srgbClr val="FED7AA"/>
            </a:solidFill>
            <a:prstDash val="solid"/>
          </a:ln>
        </p:spPr>
      </p:sp>
      <p:sp>
        <p:nvSpPr>
          <p:cNvPr id="21" name="Text 18"/>
          <p:cNvSpPr/>
          <p:nvPr/>
        </p:nvSpPr>
        <p:spPr>
          <a:xfrm>
            <a:off x="804672" y="5120640"/>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SO NOBODY IS WATCHING</a:t>
            </a:r>
            <a:endParaRPr lang="en-US" sz="1000" dirty="0"/>
          </a:p>
        </p:txBody>
      </p:sp>
      <p:sp>
        <p:nvSpPr>
          <p:cNvPr id="22" name="Text 19"/>
          <p:cNvSpPr/>
          <p:nvPr/>
        </p:nvSpPr>
        <p:spPr>
          <a:xfrm>
            <a:off x="804672" y="5330952"/>
            <a:ext cx="4919472" cy="51206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If someone changes a security group in the console, Terraform does not notice or care until the next time a human runs plan.</a:t>
            </a:r>
            <a:endParaRPr lang="en-US" sz="1300" dirty="0"/>
          </a:p>
        </p:txBody>
      </p:sp>
      <p:sp>
        <p:nvSpPr>
          <p:cNvPr id="23" name="Shape 20"/>
          <p:cNvSpPr/>
          <p:nvPr/>
        </p:nvSpPr>
        <p:spPr>
          <a:xfrm>
            <a:off x="6382512" y="5029200"/>
            <a:ext cx="5532120" cy="914400"/>
          </a:xfrm>
          <a:prstGeom prst="roundRect">
            <a:avLst>
              <a:gd name="adj" fmla="val 5000"/>
            </a:avLst>
          </a:prstGeom>
          <a:solidFill>
            <a:srgbClr val="F0FDFA"/>
          </a:solidFill>
          <a:ln w="12700">
            <a:solidFill>
              <a:srgbClr val="99F6E4"/>
            </a:solidFill>
            <a:prstDash val="solid"/>
          </a:ln>
        </p:spPr>
      </p:sp>
      <p:sp>
        <p:nvSpPr>
          <p:cNvPr id="24" name="Text 21"/>
          <p:cNvSpPr/>
          <p:nvPr/>
        </p:nvSpPr>
        <p:spPr>
          <a:xfrm>
            <a:off x="6620256" y="5120640"/>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WHICH IS WHY TEAMS AUTOMATE IT</a:t>
            </a:r>
            <a:endParaRPr lang="en-US" sz="1000" dirty="0"/>
          </a:p>
        </p:txBody>
      </p:sp>
      <p:sp>
        <p:nvSpPr>
          <p:cNvPr id="25" name="Text 22"/>
          <p:cNvSpPr/>
          <p:nvPr/>
        </p:nvSpPr>
        <p:spPr>
          <a:xfrm>
            <a:off x="6620256" y="5330952"/>
            <a:ext cx="5056632" cy="51206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Run plan on a schedule and alert on any non-empty diff. Now drift is a notification instead of an archaeology project.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566928" y="1417320"/>
            <a:ext cx="1828800" cy="1371600"/>
          </a:xfrm>
          <a:prstGeom prst="rect">
            <a:avLst/>
          </a:prstGeom>
          <a:noFill/>
          <a:ln/>
        </p:spPr>
        <p:txBody>
          <a:bodyPr wrap="square" lIns="0" tIns="0" rIns="0" bIns="0" rtlCol="0" anchor="ctr"/>
          <a:lstStyle/>
          <a:p>
            <a:pPr indent="0" marL="0">
              <a:buNone/>
            </a:pPr>
            <a:r>
              <a:rPr lang="en-US" sz="8400" b="1" dirty="0">
                <a:solidFill>
                  <a:srgbClr val="F97316"/>
                </a:solidFill>
                <a:latin typeface="Bookman Old Style" pitchFamily="34" charset="0"/>
                <a:ea typeface="Bookman Old Style" pitchFamily="34" charset="-122"/>
                <a:cs typeface="Bookman Old Style" pitchFamily="34" charset="-120"/>
              </a:rPr>
              <a:t>05</a:t>
            </a:r>
            <a:endParaRPr lang="en-US" sz="8400" dirty="0"/>
          </a:p>
        </p:txBody>
      </p:sp>
      <p:sp>
        <p:nvSpPr>
          <p:cNvPr id="4" name="Text 1"/>
          <p:cNvSpPr/>
          <p:nvPr/>
        </p:nvSpPr>
        <p:spPr>
          <a:xfrm>
            <a:off x="566928" y="278892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State Is the Whole Ballgame</a:t>
            </a:r>
            <a:endParaRPr lang="en-US" sz="4000" dirty="0"/>
          </a:p>
        </p:txBody>
      </p:sp>
      <p:sp>
        <p:nvSpPr>
          <p:cNvPr id="5" name="Text 2"/>
          <p:cNvSpPr/>
          <p:nvPr/>
        </p:nvSpPr>
        <p:spPr>
          <a:xfrm>
            <a:off x="566928" y="3767328"/>
            <a:ext cx="7315200" cy="777240"/>
          </a:xfrm>
          <a:prstGeom prst="rect">
            <a:avLst/>
          </a:prstGeom>
          <a:noFill/>
          <a:ln/>
        </p:spPr>
        <p:txBody>
          <a:bodyPr wrap="square" lIns="0" tIns="0" rIns="0" bIns="0" rtlCol="0" anchor="ctr"/>
          <a:lstStyle/>
          <a:p>
            <a:pPr indent="0" marL="0">
              <a:lnSpc>
                <a:spcPts val="2400"/>
              </a:lnSpc>
              <a:buNone/>
            </a:pPr>
            <a:r>
              <a:rPr lang="en-US" sz="1600" dirty="0">
                <a:solidFill>
                  <a:srgbClr val="94A3B8"/>
                </a:solidFill>
                <a:latin typeface="Calibri" pitchFamily="34" charset="0"/>
                <a:ea typeface="Calibri" pitchFamily="34" charset="-122"/>
                <a:cs typeface="Calibri" pitchFamily="34" charset="-120"/>
              </a:rPr>
              <a:t>Everything else in Terraform is syntax you can look up. State is the concept that decides whether you have a good week or a bad one.</a:t>
            </a:r>
            <a:endParaRPr lang="en-US" sz="1600" dirty="0"/>
          </a:p>
        </p:txBody>
      </p:sp>
      <p:sp>
        <p:nvSpPr>
          <p:cNvPr id="6" name="Shape 3"/>
          <p:cNvSpPr/>
          <p:nvPr/>
        </p:nvSpPr>
        <p:spPr>
          <a:xfrm>
            <a:off x="9418320" y="2148840"/>
            <a:ext cx="1874520" cy="1874520"/>
          </a:xfrm>
          <a:prstGeom prst="ellipse">
            <a:avLst/>
          </a:prstGeom>
          <a:solidFill>
            <a:srgbClr val="1E293B"/>
          </a:solidFill>
          <a:ln w="15875">
            <a:solidFill>
              <a:srgbClr val="F97316"/>
            </a:solidFill>
            <a:prstDash val="solid"/>
          </a:ln>
        </p:spPr>
      </p:sp>
      <p:pic>
        <p:nvPicPr>
          <p:cNvPr id="7" name="Image 0" descr="preencoded.png">    </p:cNvPr>
          <p:cNvPicPr>
            <a:picLocks noChangeAspect="1"/>
          </p:cNvPicPr>
          <p:nvPr/>
        </p:nvPicPr>
        <p:blipFill>
          <a:blip r:embed="rId1"/>
          <a:stretch>
            <a:fillRect/>
          </a:stretch>
        </p:blipFill>
        <p:spPr>
          <a:xfrm>
            <a:off x="9893808" y="2624328"/>
            <a:ext cx="914400" cy="914400"/>
          </a:xfrm>
          <a:prstGeom prst="rect">
            <a:avLst/>
          </a:prstGeom>
        </p:spPr>
      </p:pic>
      <p:sp>
        <p:nvSpPr>
          <p:cNvPr id="8" name="Shape 4"/>
          <p:cNvSpPr/>
          <p:nvPr/>
        </p:nvSpPr>
        <p:spPr>
          <a:xfrm>
            <a:off x="566928" y="4892040"/>
            <a:ext cx="1898294" cy="384048"/>
          </a:xfrm>
          <a:prstGeom prst="roundRect">
            <a:avLst>
              <a:gd name="adj" fmla="val 47619"/>
            </a:avLst>
          </a:prstGeom>
          <a:solidFill>
            <a:srgbClr val="1E293B"/>
          </a:solidFill>
          <a:ln w="9525">
            <a:solidFill>
              <a:srgbClr val="334155"/>
            </a:solidFill>
            <a:prstDash val="solid"/>
          </a:ln>
        </p:spPr>
      </p:sp>
      <p:sp>
        <p:nvSpPr>
          <p:cNvPr id="9" name="Text 5"/>
          <p:cNvSpPr/>
          <p:nvPr/>
        </p:nvSpPr>
        <p:spPr>
          <a:xfrm>
            <a:off x="566928" y="4892040"/>
            <a:ext cx="1898294"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terraform.tfstate</a:t>
            </a:r>
            <a:endParaRPr lang="en-US" sz="1050" dirty="0"/>
          </a:p>
        </p:txBody>
      </p:sp>
      <p:sp>
        <p:nvSpPr>
          <p:cNvPr id="10" name="Shape 6"/>
          <p:cNvSpPr/>
          <p:nvPr/>
        </p:nvSpPr>
        <p:spPr>
          <a:xfrm>
            <a:off x="2611526" y="4892040"/>
            <a:ext cx="713232" cy="384048"/>
          </a:xfrm>
          <a:prstGeom prst="roundRect">
            <a:avLst>
              <a:gd name="adj" fmla="val 47619"/>
            </a:avLst>
          </a:prstGeom>
          <a:solidFill>
            <a:srgbClr val="1E293B"/>
          </a:solidFill>
          <a:ln w="9525">
            <a:solidFill>
              <a:srgbClr val="334155"/>
            </a:solidFill>
            <a:prstDash val="solid"/>
          </a:ln>
        </p:spPr>
      </p:sp>
      <p:sp>
        <p:nvSpPr>
          <p:cNvPr id="11" name="Text 7"/>
          <p:cNvSpPr/>
          <p:nvPr/>
        </p:nvSpPr>
        <p:spPr>
          <a:xfrm>
            <a:off x="2611526" y="4892040"/>
            <a:ext cx="71323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drift</a:t>
            </a:r>
            <a:endParaRPr lang="en-US" sz="1050" dirty="0"/>
          </a:p>
        </p:txBody>
      </p:sp>
      <p:sp>
        <p:nvSpPr>
          <p:cNvPr id="12" name="Shape 8"/>
          <p:cNvSpPr/>
          <p:nvPr/>
        </p:nvSpPr>
        <p:spPr>
          <a:xfrm>
            <a:off x="3471062" y="4892040"/>
            <a:ext cx="1009498" cy="384048"/>
          </a:xfrm>
          <a:prstGeom prst="roundRect">
            <a:avLst>
              <a:gd name="adj" fmla="val 47619"/>
            </a:avLst>
          </a:prstGeom>
          <a:solidFill>
            <a:srgbClr val="1E293B"/>
          </a:solidFill>
          <a:ln w="9525">
            <a:solidFill>
              <a:srgbClr val="334155"/>
            </a:solidFill>
            <a:prstDash val="solid"/>
          </a:ln>
        </p:spPr>
      </p:sp>
      <p:sp>
        <p:nvSpPr>
          <p:cNvPr id="13" name="Text 9"/>
          <p:cNvSpPr/>
          <p:nvPr/>
        </p:nvSpPr>
        <p:spPr>
          <a:xfrm>
            <a:off x="3471062" y="4892040"/>
            <a:ext cx="100949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backends</a:t>
            </a:r>
            <a:endParaRPr lang="en-US" sz="1050" dirty="0"/>
          </a:p>
        </p:txBody>
      </p:sp>
      <p:sp>
        <p:nvSpPr>
          <p:cNvPr id="14" name="Shape 10"/>
          <p:cNvSpPr/>
          <p:nvPr/>
        </p:nvSpPr>
        <p:spPr>
          <a:xfrm>
            <a:off x="4626864" y="4892040"/>
            <a:ext cx="910742" cy="384048"/>
          </a:xfrm>
          <a:prstGeom prst="roundRect">
            <a:avLst>
              <a:gd name="adj" fmla="val 47619"/>
            </a:avLst>
          </a:prstGeom>
          <a:solidFill>
            <a:srgbClr val="1E293B"/>
          </a:solidFill>
          <a:ln w="9525">
            <a:solidFill>
              <a:srgbClr val="334155"/>
            </a:solidFill>
            <a:prstDash val="solid"/>
          </a:ln>
        </p:spPr>
      </p:sp>
      <p:sp>
        <p:nvSpPr>
          <p:cNvPr id="15" name="Text 11"/>
          <p:cNvSpPr/>
          <p:nvPr/>
        </p:nvSpPr>
        <p:spPr>
          <a:xfrm>
            <a:off x="4626864" y="4892040"/>
            <a:ext cx="91074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locking</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THE MAPPING NOBODY TELLS YOU ABOUT</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What state actually is</a:t>
            </a:r>
            <a:endParaRPr lang="en-US" sz="3000" dirty="0"/>
          </a:p>
        </p:txBody>
      </p:sp>
      <p:sp>
        <p:nvSpPr>
          <p:cNvPr id="4" name="Text 2"/>
          <p:cNvSpPr/>
          <p:nvPr/>
        </p:nvSpPr>
        <p:spPr>
          <a:xfrm>
            <a:off x="566928" y="1335024"/>
            <a:ext cx="11073384" cy="603504"/>
          </a:xfrm>
          <a:prstGeom prst="rect">
            <a:avLst/>
          </a:prstGeom>
          <a:noFill/>
          <a:ln/>
        </p:spPr>
        <p:txBody>
          <a:bodyPr wrap="square" lIns="0" tIns="0" rIns="0" bIns="0" rtlCol="0" anchor="ctr"/>
          <a:lstStyle/>
          <a:p>
            <a:pPr indent="0" marL="0">
              <a:lnSpc>
                <a:spcPts val="2000"/>
              </a:lnSpc>
              <a:buNone/>
            </a:pPr>
            <a:r>
              <a:rPr lang="en-US" sz="1350" dirty="0">
                <a:solidFill>
                  <a:srgbClr val="334155"/>
                </a:solidFill>
                <a:latin typeface="Calibri" pitchFamily="34" charset="0"/>
                <a:ea typeface="Calibri" pitchFamily="34" charset="-122"/>
                <a:cs typeface="Calibri" pitchFamily="34" charset="-120"/>
              </a:rPr>
              <a:t>Your config says “a bucket named chiya-data-sagyam.” AWS says “resource arn:aws:s3:::chiya-data-sagyam.” State is the file that remembers those are the same thing — and that Terraform is the one responsible for it.</a:t>
            </a:r>
            <a:endParaRPr lang="en-US" sz="1350" dirty="0"/>
          </a:p>
        </p:txBody>
      </p:sp>
      <p:sp>
        <p:nvSpPr>
          <p:cNvPr id="5" name="Shape 3"/>
          <p:cNvSpPr/>
          <p:nvPr/>
        </p:nvSpPr>
        <p:spPr>
          <a:xfrm>
            <a:off x="566928" y="2048256"/>
            <a:ext cx="6492240" cy="2651760"/>
          </a:xfrm>
          <a:prstGeom prst="roundRect">
            <a:avLst>
              <a:gd name="adj" fmla="val 2069"/>
            </a:avLst>
          </a:prstGeom>
          <a:solidFill>
            <a:srgbClr val="0F172A"/>
          </a:solidFill>
          <a:ln w="12700">
            <a:solidFill>
              <a:srgbClr val="334155"/>
            </a:solidFill>
            <a:prstDash val="solid"/>
          </a:ln>
        </p:spPr>
      </p:sp>
      <p:sp>
        <p:nvSpPr>
          <p:cNvPr id="6" name="Shape 4"/>
          <p:cNvSpPr/>
          <p:nvPr/>
        </p:nvSpPr>
        <p:spPr>
          <a:xfrm>
            <a:off x="566928" y="2048256"/>
            <a:ext cx="6492240" cy="292608"/>
          </a:xfrm>
          <a:prstGeom prst="rect">
            <a:avLst/>
          </a:prstGeom>
          <a:solidFill>
            <a:srgbClr val="1E293B"/>
          </a:solidFill>
          <a:ln w="12700">
            <a:solidFill>
              <a:srgbClr val="334155"/>
            </a:solidFill>
            <a:prstDash val="solid"/>
          </a:ln>
        </p:spPr>
      </p:sp>
      <p:sp>
        <p:nvSpPr>
          <p:cNvPr id="7" name="Shape 5"/>
          <p:cNvSpPr/>
          <p:nvPr/>
        </p:nvSpPr>
        <p:spPr>
          <a:xfrm>
            <a:off x="685800" y="2144268"/>
            <a:ext cx="100584" cy="100584"/>
          </a:xfrm>
          <a:prstGeom prst="ellipse">
            <a:avLst/>
          </a:prstGeom>
          <a:solidFill>
            <a:srgbClr val="F87171"/>
          </a:solidFill>
          <a:ln w="6350">
            <a:solidFill>
              <a:srgbClr val="F87171"/>
            </a:solidFill>
            <a:prstDash val="solid"/>
          </a:ln>
        </p:spPr>
      </p:sp>
      <p:sp>
        <p:nvSpPr>
          <p:cNvPr id="8" name="Shape 6"/>
          <p:cNvSpPr/>
          <p:nvPr/>
        </p:nvSpPr>
        <p:spPr>
          <a:xfrm>
            <a:off x="859536" y="2144268"/>
            <a:ext cx="100584" cy="100584"/>
          </a:xfrm>
          <a:prstGeom prst="ellipse">
            <a:avLst/>
          </a:prstGeom>
          <a:solidFill>
            <a:srgbClr val="FBBF24"/>
          </a:solidFill>
          <a:ln w="6350">
            <a:solidFill>
              <a:srgbClr val="FBBF24"/>
            </a:solidFill>
            <a:prstDash val="solid"/>
          </a:ln>
        </p:spPr>
      </p:sp>
      <p:sp>
        <p:nvSpPr>
          <p:cNvPr id="9" name="Shape 7"/>
          <p:cNvSpPr/>
          <p:nvPr/>
        </p:nvSpPr>
        <p:spPr>
          <a:xfrm>
            <a:off x="1033272" y="2144268"/>
            <a:ext cx="100584" cy="100584"/>
          </a:xfrm>
          <a:prstGeom prst="ellipse">
            <a:avLst/>
          </a:prstGeom>
          <a:solidFill>
            <a:srgbClr val="34D399"/>
          </a:solidFill>
          <a:ln w="6350">
            <a:solidFill>
              <a:srgbClr val="34D399"/>
            </a:solidFill>
            <a:prstDash val="solid"/>
          </a:ln>
        </p:spPr>
      </p:sp>
      <p:sp>
        <p:nvSpPr>
          <p:cNvPr id="10" name="Text 8"/>
          <p:cNvSpPr/>
          <p:nvPr/>
        </p:nvSpPr>
        <p:spPr>
          <a:xfrm>
            <a:off x="1225296" y="2066544"/>
            <a:ext cx="571500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terraform.tfstate  (JSON, abridged)</a:t>
            </a:r>
            <a:endParaRPr lang="en-US" sz="950" dirty="0"/>
          </a:p>
        </p:txBody>
      </p:sp>
      <p:sp>
        <p:nvSpPr>
          <p:cNvPr id="11" name="Text 9"/>
          <p:cNvSpPr/>
          <p:nvPr/>
        </p:nvSpPr>
        <p:spPr>
          <a:xfrm>
            <a:off x="768096" y="2432304"/>
            <a:ext cx="6089904" cy="2121408"/>
          </a:xfrm>
          <a:prstGeom prst="rect">
            <a:avLst/>
          </a:prstGeom>
          <a:noFill/>
          <a:ln/>
        </p:spPr>
        <p:txBody>
          <a:bodyPr wrap="square" lIns="0" tIns="0" rIns="0" bIns="0" rtlCol="0" anchor="t"/>
          <a:lstStyle/>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"resources": [{</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"type": "aws_s3_bucket",</a:t>
            </a:r>
            <a:endParaRPr lang="en-US" sz="1050" dirty="0"/>
          </a:p>
          <a:p>
            <a:pPr indent="0" marL="0">
              <a:lnSpc>
                <a:spcPts val="1701"/>
              </a:lnSpc>
              <a:buNone/>
            </a:pPr>
            <a:r>
              <a:rPr lang="en-US" sz="1050" dirty="0">
                <a:solidFill>
                  <a:srgbClr val="38BDF8"/>
                </a:solidFill>
                <a:latin typeface="Courier New" pitchFamily="34" charset="0"/>
                <a:ea typeface="Courier New" pitchFamily="34" charset="-122"/>
                <a:cs typeface="Courier New" pitchFamily="34" charset="-120"/>
              </a:rPr>
              <a:t>    "name": "data",              &lt;- your local name</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"instances": [{</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"attributes": {</a:t>
            </a:r>
            <a:endParaRPr lang="en-US" sz="1050" dirty="0"/>
          </a:p>
          <a:p>
            <a:pPr indent="0" marL="0">
              <a:lnSpc>
                <a:spcPts val="1701"/>
              </a:lnSpc>
              <a:buNone/>
            </a:pPr>
            <a:r>
              <a:rPr lang="en-US" sz="1050" dirty="0">
                <a:solidFill>
                  <a:srgbClr val="34D399"/>
                </a:solidFill>
                <a:latin typeface="Courier New" pitchFamily="34" charset="0"/>
                <a:ea typeface="Courier New" pitchFamily="34" charset="-122"/>
                <a:cs typeface="Courier New" pitchFamily="34" charset="-120"/>
              </a:rPr>
              <a:t>        "id":  "chiya-data-sagyam",   &lt;- the real one</a:t>
            </a:r>
            <a:endParaRPr lang="en-US" sz="1050" dirty="0"/>
          </a:p>
          <a:p>
            <a:pPr indent="0" marL="0">
              <a:lnSpc>
                <a:spcPts val="1701"/>
              </a:lnSpc>
              <a:buNone/>
            </a:pPr>
            <a:r>
              <a:rPr lang="en-US" sz="1050" dirty="0">
                <a:solidFill>
                  <a:srgbClr val="34D399"/>
                </a:solidFill>
                <a:latin typeface="Courier New" pitchFamily="34" charset="0"/>
                <a:ea typeface="Courier New" pitchFamily="34" charset="-122"/>
                <a:cs typeface="Courier New" pitchFamily="34" charset="-120"/>
              </a:rPr>
              <a:t>        "arn": "arn:aws:s3:::chiya-data-sagyam",</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"region": "ap-south-1"</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a:t>
            </a:r>
            <a:endParaRPr lang="en-US" sz="1050" dirty="0"/>
          </a:p>
        </p:txBody>
      </p:sp>
      <p:sp>
        <p:nvSpPr>
          <p:cNvPr id="12" name="Shape 10"/>
          <p:cNvSpPr/>
          <p:nvPr/>
        </p:nvSpPr>
        <p:spPr>
          <a:xfrm>
            <a:off x="7269480" y="2048256"/>
            <a:ext cx="4645152" cy="1298448"/>
          </a:xfrm>
          <a:prstGeom prst="roundRect">
            <a:avLst>
              <a:gd name="adj" fmla="val 352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3" name="Shape 11"/>
          <p:cNvSpPr/>
          <p:nvPr/>
        </p:nvSpPr>
        <p:spPr>
          <a:xfrm>
            <a:off x="7507224" y="2286000"/>
            <a:ext cx="512064" cy="512064"/>
          </a:xfrm>
          <a:prstGeom prst="ellipse">
            <a:avLst/>
          </a:prstGeom>
          <a:solidFill>
            <a:srgbClr val="F4EDFB"/>
          </a:solidFill>
          <a:ln w="11430">
            <a:solidFill>
              <a:srgbClr val="7B42BC"/>
            </a:solidFill>
            <a:prstDash val="solid"/>
          </a:ln>
        </p:spPr>
      </p:sp>
      <p:pic>
        <p:nvPicPr>
          <p:cNvPr id="14" name="Image 0" descr="preencoded.png">    </p:cNvPr>
          <p:cNvPicPr>
            <a:picLocks noChangeAspect="1"/>
          </p:cNvPicPr>
          <p:nvPr/>
        </p:nvPicPr>
        <p:blipFill>
          <a:blip r:embed="rId1"/>
          <a:stretch>
            <a:fillRect/>
          </a:stretch>
        </p:blipFill>
        <p:spPr>
          <a:xfrm>
            <a:off x="7630668" y="2409444"/>
            <a:ext cx="265176" cy="265176"/>
          </a:xfrm>
          <a:prstGeom prst="rect">
            <a:avLst/>
          </a:prstGeom>
        </p:spPr>
      </p:pic>
      <p:sp>
        <p:nvSpPr>
          <p:cNvPr id="15" name="Text 12"/>
          <p:cNvSpPr/>
          <p:nvPr/>
        </p:nvSpPr>
        <p:spPr>
          <a:xfrm>
            <a:off x="7507224" y="2889504"/>
            <a:ext cx="416966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To know what it owns</a:t>
            </a:r>
            <a:endParaRPr lang="en-US" sz="1350" dirty="0"/>
          </a:p>
        </p:txBody>
      </p:sp>
      <p:sp>
        <p:nvSpPr>
          <p:cNvPr id="16" name="Text 13"/>
          <p:cNvSpPr/>
          <p:nvPr/>
        </p:nvSpPr>
        <p:spPr>
          <a:xfrm>
            <a:off x="7507224" y="3236976"/>
            <a:ext cx="4169664" cy="-7315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Without state, Terraform cannot tell a resource it created from one that was always there.</a:t>
            </a:r>
            <a:endParaRPr lang="en-US" sz="1050" dirty="0"/>
          </a:p>
        </p:txBody>
      </p:sp>
      <p:sp>
        <p:nvSpPr>
          <p:cNvPr id="17" name="Shape 14"/>
          <p:cNvSpPr/>
          <p:nvPr/>
        </p:nvSpPr>
        <p:spPr>
          <a:xfrm>
            <a:off x="7269480" y="3438144"/>
            <a:ext cx="4645152" cy="1298448"/>
          </a:xfrm>
          <a:prstGeom prst="roundRect">
            <a:avLst>
              <a:gd name="adj" fmla="val 352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8" name="Shape 15"/>
          <p:cNvSpPr/>
          <p:nvPr/>
        </p:nvSpPr>
        <p:spPr>
          <a:xfrm>
            <a:off x="7507224" y="3675888"/>
            <a:ext cx="512064" cy="512064"/>
          </a:xfrm>
          <a:prstGeom prst="ellipse">
            <a:avLst/>
          </a:prstGeom>
          <a:solidFill>
            <a:srgbClr val="F4EDFB"/>
          </a:solidFill>
          <a:ln w="11430">
            <a:solidFill>
              <a:srgbClr val="7B42BC"/>
            </a:solidFill>
            <a:prstDash val="solid"/>
          </a:ln>
        </p:spPr>
      </p:sp>
      <p:pic>
        <p:nvPicPr>
          <p:cNvPr id="19" name="Image 1" descr="preencoded.png">    </p:cNvPr>
          <p:cNvPicPr>
            <a:picLocks noChangeAspect="1"/>
          </p:cNvPicPr>
          <p:nvPr/>
        </p:nvPicPr>
        <p:blipFill>
          <a:blip r:embed="rId2"/>
          <a:stretch>
            <a:fillRect/>
          </a:stretch>
        </p:blipFill>
        <p:spPr>
          <a:xfrm>
            <a:off x="7630668" y="3799332"/>
            <a:ext cx="265176" cy="265176"/>
          </a:xfrm>
          <a:prstGeom prst="rect">
            <a:avLst/>
          </a:prstGeom>
        </p:spPr>
      </p:pic>
      <p:sp>
        <p:nvSpPr>
          <p:cNvPr id="20" name="Text 16"/>
          <p:cNvSpPr/>
          <p:nvPr/>
        </p:nvSpPr>
        <p:spPr>
          <a:xfrm>
            <a:off x="7507224" y="4279392"/>
            <a:ext cx="416966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To compute the diff</a:t>
            </a:r>
            <a:endParaRPr lang="en-US" sz="1350" dirty="0"/>
          </a:p>
        </p:txBody>
      </p:sp>
      <p:sp>
        <p:nvSpPr>
          <p:cNvPr id="21" name="Text 17"/>
          <p:cNvSpPr/>
          <p:nvPr/>
        </p:nvSpPr>
        <p:spPr>
          <a:xfrm>
            <a:off x="7507224" y="4626864"/>
            <a:ext cx="4169664" cy="-7315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plan compares config against state, then refreshes state against reality.</a:t>
            </a:r>
            <a:endParaRPr lang="en-US" sz="1050" dirty="0"/>
          </a:p>
        </p:txBody>
      </p:sp>
      <p:sp>
        <p:nvSpPr>
          <p:cNvPr id="22" name="Shape 18"/>
          <p:cNvSpPr/>
          <p:nvPr/>
        </p:nvSpPr>
        <p:spPr>
          <a:xfrm>
            <a:off x="7269480" y="4828032"/>
            <a:ext cx="4645152" cy="1298448"/>
          </a:xfrm>
          <a:prstGeom prst="roundRect">
            <a:avLst>
              <a:gd name="adj" fmla="val 352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3" name="Shape 19"/>
          <p:cNvSpPr/>
          <p:nvPr/>
        </p:nvSpPr>
        <p:spPr>
          <a:xfrm>
            <a:off x="7507224" y="5065776"/>
            <a:ext cx="512064" cy="512064"/>
          </a:xfrm>
          <a:prstGeom prst="ellipse">
            <a:avLst/>
          </a:prstGeom>
          <a:solidFill>
            <a:srgbClr val="F4EDFB"/>
          </a:solidFill>
          <a:ln w="11430">
            <a:solidFill>
              <a:srgbClr val="7B42BC"/>
            </a:solidFill>
            <a:prstDash val="solid"/>
          </a:ln>
        </p:spPr>
      </p:sp>
      <p:pic>
        <p:nvPicPr>
          <p:cNvPr id="24" name="Image 2" descr="preencoded.png">    </p:cNvPr>
          <p:cNvPicPr>
            <a:picLocks noChangeAspect="1"/>
          </p:cNvPicPr>
          <p:nvPr/>
        </p:nvPicPr>
        <p:blipFill>
          <a:blip r:embed="rId3"/>
          <a:stretch>
            <a:fillRect/>
          </a:stretch>
        </p:blipFill>
        <p:spPr>
          <a:xfrm>
            <a:off x="7630668" y="5189220"/>
            <a:ext cx="265176" cy="265176"/>
          </a:xfrm>
          <a:prstGeom prst="rect">
            <a:avLst/>
          </a:prstGeom>
        </p:spPr>
      </p:pic>
      <p:sp>
        <p:nvSpPr>
          <p:cNvPr id="25" name="Text 20"/>
          <p:cNvSpPr/>
          <p:nvPr/>
        </p:nvSpPr>
        <p:spPr>
          <a:xfrm>
            <a:off x="7507224" y="5669280"/>
            <a:ext cx="416966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To remember the graph</a:t>
            </a:r>
            <a:endParaRPr lang="en-US" sz="1350" dirty="0"/>
          </a:p>
        </p:txBody>
      </p:sp>
      <p:sp>
        <p:nvSpPr>
          <p:cNvPr id="26" name="Text 21"/>
          <p:cNvSpPr/>
          <p:nvPr/>
        </p:nvSpPr>
        <p:spPr>
          <a:xfrm>
            <a:off x="7507224" y="6016752"/>
            <a:ext cx="4169664" cy="-7315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Dependencies are recorded, so destroy can run in the correct reverse order.</a:t>
            </a:r>
            <a:endParaRPr lang="en-US" sz="1050" dirty="0"/>
          </a:p>
        </p:txBody>
      </p:sp>
      <p:sp>
        <p:nvSpPr>
          <p:cNvPr id="27" name="Text 22"/>
          <p:cNvSpPr/>
          <p:nvPr/>
        </p:nvSpPr>
        <p:spPr>
          <a:xfrm>
            <a:off x="566928" y="495604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State is why deleting a block from your .tf file deletes the resource, rather than simply forgetting about it.</a:t>
            </a:r>
            <a:endParaRPr lang="en-US" sz="1100" dirty="0"/>
          </a:p>
        </p:txBody>
      </p:sp>
      <p:sp>
        <p:nvSpPr>
          <p:cNvPr id="28" name="Shape 23"/>
          <p:cNvSpPr/>
          <p:nvPr/>
        </p:nvSpPr>
        <p:spPr>
          <a:xfrm>
            <a:off x="566928" y="5285232"/>
            <a:ext cx="6492240" cy="658368"/>
          </a:xfrm>
          <a:prstGeom prst="roundRect">
            <a:avLst>
              <a:gd name="adj" fmla="val 6944"/>
            </a:avLst>
          </a:prstGeom>
          <a:solidFill>
            <a:srgbClr val="FFF7ED"/>
          </a:solidFill>
          <a:ln w="12700">
            <a:solidFill>
              <a:srgbClr val="FED7AA"/>
            </a:solidFill>
            <a:prstDash val="solid"/>
          </a:ln>
        </p:spPr>
      </p:sp>
      <p:sp>
        <p:nvSpPr>
          <p:cNvPr id="29" name="Text 24"/>
          <p:cNvSpPr/>
          <p:nvPr/>
        </p:nvSpPr>
        <p:spPr>
          <a:xfrm>
            <a:off x="804672" y="5376672"/>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NOTE THE ATTRIBUTES</a:t>
            </a:r>
            <a:endParaRPr lang="en-US" sz="1000" dirty="0"/>
          </a:p>
        </p:txBody>
      </p:sp>
      <p:sp>
        <p:nvSpPr>
          <p:cNvPr id="30" name="Text 25"/>
          <p:cNvSpPr/>
          <p:nvPr/>
        </p:nvSpPr>
        <p:spPr>
          <a:xfrm>
            <a:off x="804672" y="5586984"/>
            <a:ext cx="6016752" cy="25603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State stores every attribute of every resource — including the ones you marked sensitive.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IN ORDER OF HOW MUCH THEY WILL HURT YOU</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Three rules of state</a:t>
            </a:r>
            <a:endParaRPr lang="en-US" sz="3000" dirty="0"/>
          </a:p>
        </p:txBody>
      </p:sp>
      <p:sp>
        <p:nvSpPr>
          <p:cNvPr id="4" name="Shape 2"/>
          <p:cNvSpPr/>
          <p:nvPr/>
        </p:nvSpPr>
        <p:spPr>
          <a:xfrm>
            <a:off x="566928" y="1444752"/>
            <a:ext cx="11073384" cy="1417320"/>
          </a:xfrm>
          <a:prstGeom prst="roundRect">
            <a:avLst>
              <a:gd name="adj" fmla="val 3226"/>
            </a:avLst>
          </a:prstGeom>
          <a:solidFill>
            <a:srgbClr val="FFFFFF"/>
          </a:solidFill>
          <a:ln w="15875">
            <a:solidFill>
              <a:srgbClr val="7B42BC"/>
            </a:solidFill>
            <a:prstDash val="solid"/>
          </a:ln>
          <a:effectLst>
            <a:outerShdw sx="100000" sy="100000" kx="0" ky="0" algn="bl" rotWithShape="0" blurRad="101600" dist="12700" dir="5400000">
              <a:srgbClr val="94A3B8">
                <a:alpha val="15000"/>
              </a:srgbClr>
            </a:outerShdw>
          </a:effectLst>
        </p:spPr>
      </p:sp>
      <p:sp>
        <p:nvSpPr>
          <p:cNvPr id="5" name="Shape 3"/>
          <p:cNvSpPr/>
          <p:nvPr/>
        </p:nvSpPr>
        <p:spPr>
          <a:xfrm>
            <a:off x="841248" y="1847088"/>
            <a:ext cx="603504" cy="603504"/>
          </a:xfrm>
          <a:prstGeom prst="ellipse">
            <a:avLst/>
          </a:prstGeom>
          <a:solidFill>
            <a:srgbClr val="7B42BC"/>
          </a:solidFill>
          <a:ln w="12700">
            <a:solidFill>
              <a:srgbClr val="7B42BC"/>
            </a:solidFill>
            <a:prstDash val="solid"/>
          </a:ln>
        </p:spPr>
      </p:sp>
      <p:sp>
        <p:nvSpPr>
          <p:cNvPr id="6" name="Text 4"/>
          <p:cNvSpPr/>
          <p:nvPr/>
        </p:nvSpPr>
        <p:spPr>
          <a:xfrm>
            <a:off x="841248" y="184708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7" name="Text 5"/>
          <p:cNvSpPr/>
          <p:nvPr/>
        </p:nvSpPr>
        <p:spPr>
          <a:xfrm>
            <a:off x="1627632" y="1664208"/>
            <a:ext cx="978408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State is the truth about what Terraform owns — not about what exists</a:t>
            </a:r>
            <a:endParaRPr lang="en-US" sz="1500" dirty="0"/>
          </a:p>
        </p:txBody>
      </p:sp>
      <p:sp>
        <p:nvSpPr>
          <p:cNvPr id="8" name="Text 6"/>
          <p:cNvSpPr/>
          <p:nvPr/>
        </p:nvSpPr>
        <p:spPr>
          <a:xfrm>
            <a:off x="1627632" y="2029968"/>
            <a:ext cx="9784080" cy="713232"/>
          </a:xfrm>
          <a:prstGeom prst="rect">
            <a:avLst/>
          </a:prstGeom>
          <a:noFill/>
          <a:ln/>
        </p:spPr>
        <p:txBody>
          <a:bodyPr wrap="square" lIns="0" tIns="0" rIns="0" bIns="0" rtlCol="0" anchor="t"/>
          <a:lstStyle/>
          <a:p>
            <a:pPr indent="0" marL="0">
              <a:lnSpc>
                <a:spcPts val="1700"/>
              </a:lnSpc>
              <a:buNone/>
            </a:pPr>
            <a:r>
              <a:rPr lang="en-US" sz="1200" dirty="0">
                <a:solidFill>
                  <a:srgbClr val="334155"/>
                </a:solidFill>
                <a:latin typeface="Calibri" pitchFamily="34" charset="0"/>
                <a:ea typeface="Calibri" pitchFamily="34" charset="-122"/>
                <a:cs typeface="Calibri" pitchFamily="34" charset="-120"/>
              </a:rPr>
              <a:t>Delete a bucket in the console and Terraform still believes it exists, until the next refresh. Create one by hand and Terraform will never touch it. Ownership is recorded in the file, not inferred from AWS.</a:t>
            </a:r>
            <a:endParaRPr lang="en-US" sz="1200" dirty="0"/>
          </a:p>
        </p:txBody>
      </p:sp>
      <p:sp>
        <p:nvSpPr>
          <p:cNvPr id="9" name="Shape 7"/>
          <p:cNvSpPr/>
          <p:nvPr/>
        </p:nvSpPr>
        <p:spPr>
          <a:xfrm>
            <a:off x="566928" y="2980944"/>
            <a:ext cx="11073384" cy="1417320"/>
          </a:xfrm>
          <a:prstGeom prst="roundRect">
            <a:avLst>
              <a:gd name="adj" fmla="val 3226"/>
            </a:avLst>
          </a:prstGeom>
          <a:solidFill>
            <a:srgbClr val="FFFFFF"/>
          </a:solidFill>
          <a:ln w="15875">
            <a:solidFill>
              <a:srgbClr val="F97316"/>
            </a:solidFill>
            <a:prstDash val="solid"/>
          </a:ln>
          <a:effectLst>
            <a:outerShdw sx="100000" sy="100000" kx="0" ky="0" algn="bl" rotWithShape="0" blurRad="101600" dist="12700" dir="5400000">
              <a:srgbClr val="94A3B8">
                <a:alpha val="15000"/>
              </a:srgbClr>
            </a:outerShdw>
          </a:effectLst>
        </p:spPr>
      </p:sp>
      <p:sp>
        <p:nvSpPr>
          <p:cNvPr id="10" name="Shape 8"/>
          <p:cNvSpPr/>
          <p:nvPr/>
        </p:nvSpPr>
        <p:spPr>
          <a:xfrm>
            <a:off x="841248" y="3383280"/>
            <a:ext cx="603504" cy="603504"/>
          </a:xfrm>
          <a:prstGeom prst="ellipse">
            <a:avLst/>
          </a:prstGeom>
          <a:solidFill>
            <a:srgbClr val="F97316"/>
          </a:solidFill>
          <a:ln w="12700">
            <a:solidFill>
              <a:srgbClr val="F97316"/>
            </a:solidFill>
            <a:prstDash val="solid"/>
          </a:ln>
        </p:spPr>
      </p:sp>
      <p:sp>
        <p:nvSpPr>
          <p:cNvPr id="11" name="Text 9"/>
          <p:cNvSpPr/>
          <p:nvPr/>
        </p:nvSpPr>
        <p:spPr>
          <a:xfrm>
            <a:off x="841248" y="3383280"/>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27632" y="3200400"/>
            <a:ext cx="978408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State contains secrets, in plain text, always</a:t>
            </a:r>
            <a:endParaRPr lang="en-US" sz="1500" dirty="0"/>
          </a:p>
        </p:txBody>
      </p:sp>
      <p:sp>
        <p:nvSpPr>
          <p:cNvPr id="13" name="Text 11"/>
          <p:cNvSpPr/>
          <p:nvPr/>
        </p:nvSpPr>
        <p:spPr>
          <a:xfrm>
            <a:off x="1627632" y="3566160"/>
            <a:ext cx="9784080" cy="713232"/>
          </a:xfrm>
          <a:prstGeom prst="rect">
            <a:avLst/>
          </a:prstGeom>
          <a:noFill/>
          <a:ln/>
        </p:spPr>
        <p:txBody>
          <a:bodyPr wrap="square" lIns="0" tIns="0" rIns="0" bIns="0" rtlCol="0" anchor="t"/>
          <a:lstStyle/>
          <a:p>
            <a:pPr indent="0" marL="0">
              <a:lnSpc>
                <a:spcPts val="1700"/>
              </a:lnSpc>
              <a:buNone/>
            </a:pPr>
            <a:r>
              <a:rPr lang="en-US" sz="1200" dirty="0">
                <a:solidFill>
                  <a:srgbClr val="334155"/>
                </a:solidFill>
                <a:latin typeface="Calibri" pitchFamily="34" charset="0"/>
                <a:ea typeface="Calibri" pitchFamily="34" charset="-122"/>
                <a:cs typeface="Calibri" pitchFamily="34" charset="-120"/>
              </a:rPr>
              <a:t>Database passwords, private keys, generated tokens. sensitive = true hides them from your terminal, not from the file. Never commit state to git. Encrypt it at rest and restrict who can read the bucket.</a:t>
            </a:r>
            <a:endParaRPr lang="en-US" sz="1200" dirty="0"/>
          </a:p>
        </p:txBody>
      </p:sp>
      <p:sp>
        <p:nvSpPr>
          <p:cNvPr id="14" name="Shape 12"/>
          <p:cNvSpPr/>
          <p:nvPr/>
        </p:nvSpPr>
        <p:spPr>
          <a:xfrm>
            <a:off x="566928" y="4517136"/>
            <a:ext cx="11073384" cy="1417320"/>
          </a:xfrm>
          <a:prstGeom prst="roundRect">
            <a:avLst>
              <a:gd name="adj" fmla="val 3226"/>
            </a:avLst>
          </a:prstGeom>
          <a:solidFill>
            <a:srgbClr val="FFFFFF"/>
          </a:solidFill>
          <a:ln w="15875">
            <a:solidFill>
              <a:srgbClr val="F87171"/>
            </a:solidFill>
            <a:prstDash val="solid"/>
          </a:ln>
          <a:effectLst>
            <a:outerShdw sx="100000" sy="100000" kx="0" ky="0" algn="bl" rotWithShape="0" blurRad="101600" dist="12700" dir="5400000">
              <a:srgbClr val="94A3B8">
                <a:alpha val="15000"/>
              </a:srgbClr>
            </a:outerShdw>
          </a:effectLst>
        </p:spPr>
      </p:sp>
      <p:sp>
        <p:nvSpPr>
          <p:cNvPr id="15" name="Shape 13"/>
          <p:cNvSpPr/>
          <p:nvPr/>
        </p:nvSpPr>
        <p:spPr>
          <a:xfrm>
            <a:off x="841248" y="4919472"/>
            <a:ext cx="603504" cy="603504"/>
          </a:xfrm>
          <a:prstGeom prst="ellipse">
            <a:avLst/>
          </a:prstGeom>
          <a:solidFill>
            <a:srgbClr val="F87171"/>
          </a:solidFill>
          <a:ln w="12700">
            <a:solidFill>
              <a:srgbClr val="F87171"/>
            </a:solidFill>
            <a:prstDash val="solid"/>
          </a:ln>
        </p:spPr>
      </p:sp>
      <p:sp>
        <p:nvSpPr>
          <p:cNvPr id="16" name="Text 14"/>
          <p:cNvSpPr/>
          <p:nvPr/>
        </p:nvSpPr>
        <p:spPr>
          <a:xfrm>
            <a:off x="841248" y="4919472"/>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17" name="Text 15"/>
          <p:cNvSpPr/>
          <p:nvPr/>
        </p:nvSpPr>
        <p:spPr>
          <a:xfrm>
            <a:off x="1627632" y="4736592"/>
            <a:ext cx="9784080" cy="36576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Two people applying against one state at the same time will corrupt it</a:t>
            </a:r>
            <a:endParaRPr lang="en-US" sz="1500" dirty="0"/>
          </a:p>
        </p:txBody>
      </p:sp>
      <p:sp>
        <p:nvSpPr>
          <p:cNvPr id="18" name="Text 16"/>
          <p:cNvSpPr/>
          <p:nvPr/>
        </p:nvSpPr>
        <p:spPr>
          <a:xfrm>
            <a:off x="1627632" y="5102352"/>
            <a:ext cx="9784080" cy="713232"/>
          </a:xfrm>
          <a:prstGeom prst="rect">
            <a:avLst/>
          </a:prstGeom>
          <a:noFill/>
          <a:ln/>
        </p:spPr>
        <p:txBody>
          <a:bodyPr wrap="square" lIns="0" tIns="0" rIns="0" bIns="0" rtlCol="0" anchor="t"/>
          <a:lstStyle/>
          <a:p>
            <a:pPr indent="0" marL="0">
              <a:lnSpc>
                <a:spcPts val="1700"/>
              </a:lnSpc>
              <a:buNone/>
            </a:pPr>
            <a:r>
              <a:rPr lang="en-US" sz="1200" dirty="0">
                <a:solidFill>
                  <a:srgbClr val="334155"/>
                </a:solidFill>
                <a:latin typeface="Calibri" pitchFamily="34" charset="0"/>
                <a:ea typeface="Calibri" pitchFamily="34" charset="-122"/>
                <a:cs typeface="Calibri" pitchFamily="34" charset="-120"/>
              </a:rPr>
              <a:t>Both read the same starting point, both write their result, and one silently overwrites the other. This is the problem locking exists to solve, and it is why local state does not survive a team.</a:t>
            </a:r>
            <a:endParaRPr lang="en-US" sz="1200" dirty="0"/>
          </a:p>
        </p:txBody>
      </p:sp>
      <p:sp>
        <p:nvSpPr>
          <p:cNvPr id="19" name="Text 17"/>
          <p:cNvSpPr/>
          <p:nvPr/>
        </p:nvSpPr>
        <p:spPr>
          <a:xfrm>
            <a:off x="566928" y="6144768"/>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If you remember one slide from this module, make it this one.</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AND HOW PLAN CATCHES IT</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Drift: when reality walks away</a:t>
            </a:r>
            <a:endParaRPr lang="en-US" sz="3000" dirty="0"/>
          </a:p>
        </p:txBody>
      </p:sp>
      <p:sp>
        <p:nvSpPr>
          <p:cNvPr id="4" name="Text 2"/>
          <p:cNvSpPr/>
          <p:nvPr/>
        </p:nvSpPr>
        <p:spPr>
          <a:xfrm>
            <a:off x="566928" y="1335024"/>
            <a:ext cx="11073384" cy="548640"/>
          </a:xfrm>
          <a:prstGeom prst="rect">
            <a:avLst/>
          </a:prstGeom>
          <a:noFill/>
          <a:ln/>
        </p:spPr>
        <p:txBody>
          <a:bodyPr wrap="square" lIns="0" tIns="0" rIns="0" bIns="0" rtlCol="0" anchor="ctr"/>
          <a:lstStyle/>
          <a:p>
            <a:pPr indent="0" marL="0">
              <a:lnSpc>
                <a:spcPts val="1900"/>
              </a:lnSpc>
              <a:buNone/>
            </a:pPr>
            <a:r>
              <a:rPr lang="en-US" sz="1350" dirty="0">
                <a:solidFill>
                  <a:srgbClr val="334155"/>
                </a:solidFill>
                <a:latin typeface="Calibri" pitchFamily="34" charset="0"/>
                <a:ea typeface="Calibri" pitchFamily="34" charset="-122"/>
                <a:cs typeface="Calibri" pitchFamily="34" charset="-120"/>
              </a:rPr>
              <a:t>Drift is any difference between what your config describes and what actually exists. Somebody clicked something. An autoscaler changed a value. A service was upgraded underneath you.</a:t>
            </a:r>
            <a:endParaRPr lang="en-US" sz="1350" dirty="0"/>
          </a:p>
        </p:txBody>
      </p:sp>
      <p:sp>
        <p:nvSpPr>
          <p:cNvPr id="5" name="Shape 3"/>
          <p:cNvSpPr/>
          <p:nvPr/>
        </p:nvSpPr>
        <p:spPr>
          <a:xfrm>
            <a:off x="566928" y="1993392"/>
            <a:ext cx="11073384" cy="2743200"/>
          </a:xfrm>
          <a:prstGeom prst="roundRect">
            <a:avLst>
              <a:gd name="adj" fmla="val 2000"/>
            </a:avLst>
          </a:prstGeom>
          <a:solidFill>
            <a:srgbClr val="0F172A"/>
          </a:solidFill>
          <a:ln w="12700">
            <a:solidFill>
              <a:srgbClr val="334155"/>
            </a:solidFill>
            <a:prstDash val="solid"/>
          </a:ln>
        </p:spPr>
      </p:sp>
      <p:sp>
        <p:nvSpPr>
          <p:cNvPr id="6" name="Shape 4"/>
          <p:cNvSpPr/>
          <p:nvPr/>
        </p:nvSpPr>
        <p:spPr>
          <a:xfrm>
            <a:off x="566928" y="1993392"/>
            <a:ext cx="11073384" cy="292608"/>
          </a:xfrm>
          <a:prstGeom prst="rect">
            <a:avLst/>
          </a:prstGeom>
          <a:solidFill>
            <a:srgbClr val="1E293B"/>
          </a:solidFill>
          <a:ln w="12700">
            <a:solidFill>
              <a:srgbClr val="334155"/>
            </a:solidFill>
            <a:prstDash val="solid"/>
          </a:ln>
        </p:spPr>
      </p:sp>
      <p:sp>
        <p:nvSpPr>
          <p:cNvPr id="7" name="Shape 5"/>
          <p:cNvSpPr/>
          <p:nvPr/>
        </p:nvSpPr>
        <p:spPr>
          <a:xfrm>
            <a:off x="685800" y="2089404"/>
            <a:ext cx="100584" cy="100584"/>
          </a:xfrm>
          <a:prstGeom prst="ellipse">
            <a:avLst/>
          </a:prstGeom>
          <a:solidFill>
            <a:srgbClr val="F87171"/>
          </a:solidFill>
          <a:ln w="6350">
            <a:solidFill>
              <a:srgbClr val="F87171"/>
            </a:solidFill>
            <a:prstDash val="solid"/>
          </a:ln>
        </p:spPr>
      </p:sp>
      <p:sp>
        <p:nvSpPr>
          <p:cNvPr id="8" name="Shape 6"/>
          <p:cNvSpPr/>
          <p:nvPr/>
        </p:nvSpPr>
        <p:spPr>
          <a:xfrm>
            <a:off x="859536" y="2089404"/>
            <a:ext cx="100584" cy="100584"/>
          </a:xfrm>
          <a:prstGeom prst="ellipse">
            <a:avLst/>
          </a:prstGeom>
          <a:solidFill>
            <a:srgbClr val="FBBF24"/>
          </a:solidFill>
          <a:ln w="6350">
            <a:solidFill>
              <a:srgbClr val="FBBF24"/>
            </a:solidFill>
            <a:prstDash val="solid"/>
          </a:ln>
        </p:spPr>
      </p:sp>
      <p:sp>
        <p:nvSpPr>
          <p:cNvPr id="9" name="Shape 7"/>
          <p:cNvSpPr/>
          <p:nvPr/>
        </p:nvSpPr>
        <p:spPr>
          <a:xfrm>
            <a:off x="1033272" y="2089404"/>
            <a:ext cx="100584" cy="100584"/>
          </a:xfrm>
          <a:prstGeom prst="ellipse">
            <a:avLst/>
          </a:prstGeom>
          <a:solidFill>
            <a:srgbClr val="34D399"/>
          </a:solidFill>
          <a:ln w="6350">
            <a:solidFill>
              <a:srgbClr val="34D399"/>
            </a:solidFill>
            <a:prstDash val="solid"/>
          </a:ln>
        </p:spPr>
      </p:sp>
      <p:sp>
        <p:nvSpPr>
          <p:cNvPr id="10" name="Text 8"/>
          <p:cNvSpPr/>
          <p:nvPr/>
        </p:nvSpPr>
        <p:spPr>
          <a:xfrm>
            <a:off x="1225296" y="2011680"/>
            <a:ext cx="10296144"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you will do exactly this in lab 01</a:t>
            </a:r>
            <a:endParaRPr lang="en-US" sz="950" dirty="0"/>
          </a:p>
        </p:txBody>
      </p:sp>
      <p:sp>
        <p:nvSpPr>
          <p:cNvPr id="11" name="Text 9"/>
          <p:cNvSpPr/>
          <p:nvPr/>
        </p:nvSpPr>
        <p:spPr>
          <a:xfrm>
            <a:off x="768096" y="2377440"/>
            <a:ext cx="10671048" cy="221284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aws s3 rm s3://chiya-data-sagyam/hello.txt      # change AWS behind Terraform's back</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delete: s3://chiya-data-sagyam/hello.txt</a:t>
            </a:r>
            <a:endParaRPr lang="en-US" sz="1150" dirty="0"/>
          </a:p>
          <a:p>
            <a:pPr indent="0" marL="0">
              <a:lnSpc>
                <a:spcPts val="1863"/>
              </a:lnSpc>
              <a:buNone/>
            </a:pP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plan</a:t>
            </a:r>
            <a:endParaRPr lang="en-US" sz="1150" dirty="0"/>
          </a:p>
          <a:p>
            <a:pPr indent="0" marL="0">
              <a:lnSpc>
                <a:spcPts val="1863"/>
              </a:lnSpc>
              <a:buNone/>
            </a:pPr>
            <a:r>
              <a:rPr lang="en-US" sz="1150" b="1" dirty="0">
                <a:solidFill>
                  <a:srgbClr val="FBBF24"/>
                </a:solidFill>
                <a:latin typeface="Courier New" pitchFamily="34" charset="0"/>
                <a:ea typeface="Courier New" pitchFamily="34" charset="-122"/>
                <a:cs typeface="Courier New" pitchFamily="34" charset="-120"/>
              </a:rPr>
              <a:t>Note: Objects have changed outside of Terraform</a:t>
            </a:r>
            <a:endParaRPr lang="en-US" sz="1150" dirty="0"/>
          </a:p>
          <a:p>
            <a:pPr indent="0" marL="0">
              <a:lnSpc>
                <a:spcPts val="1863"/>
              </a:lnSpc>
              <a:buNone/>
            </a:pPr>
            <a:endParaRPr lang="en-US" sz="1150" dirty="0"/>
          </a:p>
          <a:p>
            <a:pPr indent="0" marL="0">
              <a:lnSpc>
                <a:spcPts val="1863"/>
              </a:lnSpc>
              <a:buNone/>
            </a:pPr>
            <a:r>
              <a:rPr lang="en-US" sz="1150" dirty="0">
                <a:solidFill>
                  <a:srgbClr val="F87171"/>
                </a:solidFill>
                <a:latin typeface="Courier New" pitchFamily="34" charset="0"/>
                <a:ea typeface="Courier New" pitchFamily="34" charset="-122"/>
                <a:cs typeface="Courier New" pitchFamily="34" charset="-120"/>
              </a:rPr>
              <a:t>  # aws_s3_object.hello has been deleted</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 resource "aws_s3_object" "hello" {   # will be re-created</a:t>
            </a:r>
            <a:endParaRPr lang="en-US" sz="1150" dirty="0"/>
          </a:p>
          <a:p>
            <a:pPr indent="0" marL="0">
              <a:lnSpc>
                <a:spcPts val="1863"/>
              </a:lnSpc>
              <a:buNone/>
            </a:pPr>
            <a:endParaRPr lang="en-US" sz="1150" dirty="0"/>
          </a:p>
          <a:p>
            <a:pPr indent="0" marL="0">
              <a:lnSpc>
                <a:spcPts val="1863"/>
              </a:lnSpc>
              <a:buNone/>
            </a:pPr>
            <a:r>
              <a:rPr lang="en-US" sz="1150" b="1" dirty="0">
                <a:solidFill>
                  <a:srgbClr val="FFFFFF"/>
                </a:solidFill>
                <a:latin typeface="Courier New" pitchFamily="34" charset="0"/>
                <a:ea typeface="Courier New" pitchFamily="34" charset="-122"/>
                <a:cs typeface="Courier New" pitchFamily="34" charset="-120"/>
              </a:rPr>
              <a:t>Plan: 1 to add, 0 to change, 0 to destroy.</a:t>
            </a:r>
            <a:endParaRPr lang="en-US" sz="1150" dirty="0"/>
          </a:p>
        </p:txBody>
      </p:sp>
      <p:sp>
        <p:nvSpPr>
          <p:cNvPr id="12" name="Shape 10"/>
          <p:cNvSpPr/>
          <p:nvPr/>
        </p:nvSpPr>
        <p:spPr>
          <a:xfrm>
            <a:off x="566928" y="4956048"/>
            <a:ext cx="11073384" cy="1005840"/>
          </a:xfrm>
          <a:prstGeom prst="roundRect">
            <a:avLst>
              <a:gd name="adj" fmla="val 4545"/>
            </a:avLst>
          </a:prstGeom>
          <a:solidFill>
            <a:srgbClr val="F0FDFA"/>
          </a:solidFill>
          <a:ln w="12700">
            <a:solidFill>
              <a:srgbClr val="99F6E4"/>
            </a:solidFill>
            <a:prstDash val="solid"/>
          </a:ln>
        </p:spPr>
      </p:sp>
      <p:sp>
        <p:nvSpPr>
          <p:cNvPr id="13" name="Text 11"/>
          <p:cNvSpPr/>
          <p:nvPr/>
        </p:nvSpPr>
        <p:spPr>
          <a:xfrm>
            <a:off x="804672" y="5047488"/>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WHY THIS IS THE WHOLE POINT</a:t>
            </a:r>
            <a:endParaRPr lang="en-US" sz="1000" dirty="0"/>
          </a:p>
        </p:txBody>
      </p:sp>
      <p:sp>
        <p:nvSpPr>
          <p:cNvPr id="14" name="Text 12"/>
          <p:cNvSpPr/>
          <p:nvPr/>
        </p:nvSpPr>
        <p:spPr>
          <a:xfrm>
            <a:off x="804672" y="5257800"/>
            <a:ext cx="10597896" cy="60350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Your config is the desired state; AWS holds the actual state; plan is the diff and apply is the correction. Drift is not an error condition — it is the normal condition, and reconciliation is how you keep answering it.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WHY BACKENDS EXIST</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Local state fails the moment there are two of you</a:t>
            </a:r>
            <a:endParaRPr lang="en-US" sz="3000" dirty="0"/>
          </a:p>
        </p:txBody>
      </p:sp>
      <p:sp>
        <p:nvSpPr>
          <p:cNvPr id="4" name="Shape 2"/>
          <p:cNvSpPr/>
          <p:nvPr/>
        </p:nvSpPr>
        <p:spPr>
          <a:xfrm>
            <a:off x="566928" y="1417320"/>
            <a:ext cx="5394960" cy="2423160"/>
          </a:xfrm>
          <a:prstGeom prst="roundRect">
            <a:avLst>
              <a:gd name="adj" fmla="val 1887"/>
            </a:avLst>
          </a:prstGeom>
          <a:solidFill>
            <a:srgbClr val="FFFFFF"/>
          </a:solidFill>
          <a:ln w="12700">
            <a:solidFill>
              <a:srgbClr val="E2E8F0"/>
            </a:solidFill>
            <a:prstDash val="solid"/>
          </a:ln>
        </p:spPr>
      </p:sp>
      <p:sp>
        <p:nvSpPr>
          <p:cNvPr id="5" name="Text 3"/>
          <p:cNvSpPr/>
          <p:nvPr/>
        </p:nvSpPr>
        <p:spPr>
          <a:xfrm>
            <a:off x="841248" y="1591056"/>
            <a:ext cx="4846320" cy="292608"/>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Your laptop</a:t>
            </a:r>
            <a:endParaRPr lang="en-US" sz="1400" dirty="0"/>
          </a:p>
        </p:txBody>
      </p:sp>
      <p:sp>
        <p:nvSpPr>
          <p:cNvPr id="6" name="Text 4"/>
          <p:cNvSpPr/>
          <p:nvPr/>
        </p:nvSpPr>
        <p:spPr>
          <a:xfrm>
            <a:off x="841248" y="1920240"/>
            <a:ext cx="4846320" cy="1737360"/>
          </a:xfrm>
          <a:prstGeom prst="rect">
            <a:avLst/>
          </a:prstGeom>
          <a:noFill/>
          <a:ln/>
        </p:spPr>
        <p:txBody>
          <a:bodyPr wrap="square" lIns="0" tIns="0" rIns="0" bIns="0" rtlCol="0" anchor="ctr"/>
          <a:lstStyle/>
          <a:p>
            <a:pPr indent="0" marL="0">
              <a:lnSpc>
                <a:spcPts val="1800"/>
              </a:lnSpc>
              <a:buNone/>
            </a:pPr>
            <a:r>
              <a:rPr lang="en-US" sz="1250" dirty="0">
                <a:solidFill>
                  <a:srgbClr val="334155"/>
                </a:solidFill>
                <a:latin typeface="Calibri" pitchFamily="34" charset="0"/>
                <a:ea typeface="Calibri" pitchFamily="34" charset="-122"/>
                <a:cs typeface="Calibri" pitchFamily="34" charset="-120"/>
              </a:rPr>
              <a:t>terraform.tfstate sits in the working directory. It works perfectly — for exactly one person on exactly one machine.</a:t>
            </a:r>
            <a:endParaRPr lang="en-US" sz="1250" dirty="0"/>
          </a:p>
          <a:p>
            <a:pPr indent="0" marL="0">
              <a:lnSpc>
                <a:spcPts val="1800"/>
              </a:lnSpc>
              <a:buNone/>
            </a:pPr>
            <a:endParaRPr lang="en-US" sz="1250" dirty="0"/>
          </a:p>
          <a:p>
            <a:pPr indent="0" marL="0">
              <a:lnSpc>
                <a:spcPts val="1800"/>
              </a:lnSpc>
              <a:buNone/>
            </a:pPr>
            <a:r>
              <a:rPr lang="en-US" sz="1250" dirty="0">
                <a:solidFill>
                  <a:srgbClr val="334155"/>
                </a:solidFill>
                <a:latin typeface="Calibri" pitchFamily="34" charset="0"/>
                <a:ea typeface="Calibri" pitchFamily="34" charset="-122"/>
                <a:cs typeface="Calibri" pitchFamily="34" charset="-120"/>
              </a:rPr>
              <a:t>Your colleague clones the repo, runs plan, sees an empty state, and Terraform proposes creating everything a second time.</a:t>
            </a:r>
            <a:endParaRPr lang="en-US" sz="1250" dirty="0"/>
          </a:p>
        </p:txBody>
      </p:sp>
      <p:sp>
        <p:nvSpPr>
          <p:cNvPr id="7" name="Shape 5"/>
          <p:cNvSpPr/>
          <p:nvPr/>
        </p:nvSpPr>
        <p:spPr>
          <a:xfrm>
            <a:off x="6382512" y="1417320"/>
            <a:ext cx="5532120" cy="2423160"/>
          </a:xfrm>
          <a:prstGeom prst="roundRect">
            <a:avLst>
              <a:gd name="adj" fmla="val 2264"/>
            </a:avLst>
          </a:prstGeom>
          <a:solidFill>
            <a:srgbClr val="0F172A"/>
          </a:solidFill>
          <a:ln w="12700">
            <a:solidFill>
              <a:srgbClr val="334155"/>
            </a:solidFill>
            <a:prstDash val="solid"/>
          </a:ln>
        </p:spPr>
      </p:sp>
      <p:sp>
        <p:nvSpPr>
          <p:cNvPr id="8" name="Shape 6"/>
          <p:cNvSpPr/>
          <p:nvPr/>
        </p:nvSpPr>
        <p:spPr>
          <a:xfrm>
            <a:off x="6382512" y="1417320"/>
            <a:ext cx="5532120" cy="292608"/>
          </a:xfrm>
          <a:prstGeom prst="rect">
            <a:avLst/>
          </a:prstGeom>
          <a:solidFill>
            <a:srgbClr val="1E293B"/>
          </a:solidFill>
          <a:ln w="12700">
            <a:solidFill>
              <a:srgbClr val="334155"/>
            </a:solidFill>
            <a:prstDash val="solid"/>
          </a:ln>
        </p:spPr>
      </p:sp>
      <p:sp>
        <p:nvSpPr>
          <p:cNvPr id="9" name="Shape 7"/>
          <p:cNvSpPr/>
          <p:nvPr/>
        </p:nvSpPr>
        <p:spPr>
          <a:xfrm>
            <a:off x="6501384" y="1513332"/>
            <a:ext cx="100584" cy="100584"/>
          </a:xfrm>
          <a:prstGeom prst="ellipse">
            <a:avLst/>
          </a:prstGeom>
          <a:solidFill>
            <a:srgbClr val="F87171"/>
          </a:solidFill>
          <a:ln w="6350">
            <a:solidFill>
              <a:srgbClr val="F87171"/>
            </a:solidFill>
            <a:prstDash val="solid"/>
          </a:ln>
        </p:spPr>
      </p:sp>
      <p:sp>
        <p:nvSpPr>
          <p:cNvPr id="10" name="Shape 8"/>
          <p:cNvSpPr/>
          <p:nvPr/>
        </p:nvSpPr>
        <p:spPr>
          <a:xfrm>
            <a:off x="6675120" y="1513332"/>
            <a:ext cx="100584" cy="100584"/>
          </a:xfrm>
          <a:prstGeom prst="ellipse">
            <a:avLst/>
          </a:prstGeom>
          <a:solidFill>
            <a:srgbClr val="FBBF24"/>
          </a:solidFill>
          <a:ln w="6350">
            <a:solidFill>
              <a:srgbClr val="FBBF24"/>
            </a:solidFill>
            <a:prstDash val="solid"/>
          </a:ln>
        </p:spPr>
      </p:sp>
      <p:sp>
        <p:nvSpPr>
          <p:cNvPr id="11" name="Shape 9"/>
          <p:cNvSpPr/>
          <p:nvPr/>
        </p:nvSpPr>
        <p:spPr>
          <a:xfrm>
            <a:off x="6848856" y="1513332"/>
            <a:ext cx="100584" cy="100584"/>
          </a:xfrm>
          <a:prstGeom prst="ellipse">
            <a:avLst/>
          </a:prstGeom>
          <a:solidFill>
            <a:srgbClr val="34D399"/>
          </a:solidFill>
          <a:ln w="6350">
            <a:solidFill>
              <a:srgbClr val="34D399"/>
            </a:solidFill>
            <a:prstDash val="solid"/>
          </a:ln>
        </p:spPr>
      </p:sp>
      <p:sp>
        <p:nvSpPr>
          <p:cNvPr id="12" name="Text 10"/>
          <p:cNvSpPr/>
          <p:nvPr/>
        </p:nvSpPr>
        <p:spPr>
          <a:xfrm>
            <a:off x="7040880" y="1435608"/>
            <a:ext cx="475488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the collision</a:t>
            </a:r>
            <a:endParaRPr lang="en-US" sz="950" dirty="0"/>
          </a:p>
        </p:txBody>
      </p:sp>
      <p:sp>
        <p:nvSpPr>
          <p:cNvPr id="13" name="Text 11"/>
          <p:cNvSpPr/>
          <p:nvPr/>
        </p:nvSpPr>
        <p:spPr>
          <a:xfrm>
            <a:off x="6583680" y="1801368"/>
            <a:ext cx="5129784" cy="189280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[sita]   terraform apply   # reads state v7</a:t>
            </a:r>
            <a:endParaRPr lang="en-US" sz="1150" dirty="0"/>
          </a:p>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[bikash] terraform apply   # reads state v7 too</a:t>
            </a:r>
            <a:endParaRPr lang="en-US" sz="1150" dirty="0"/>
          </a:p>
          <a:p>
            <a:pPr indent="0" marL="0">
              <a:lnSpc>
                <a:spcPts val="1863"/>
              </a:lnSpc>
              <a:buNone/>
            </a:pP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[sita]   writes state v8   (adds a subnet)</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[bikash] writes state v8   (adds a role)</a:t>
            </a:r>
            <a:endParaRPr lang="en-US" sz="1150" dirty="0"/>
          </a:p>
          <a:p>
            <a:pPr indent="0" marL="0">
              <a:lnSpc>
                <a:spcPts val="1863"/>
              </a:lnSpc>
              <a:buNone/>
            </a:pPr>
            <a:endParaRPr lang="en-US" sz="1150" dirty="0"/>
          </a:p>
          <a:p>
            <a:pPr indent="0" marL="0">
              <a:lnSpc>
                <a:spcPts val="1863"/>
              </a:lnSpc>
              <a:buNone/>
            </a:pPr>
            <a:r>
              <a:rPr lang="en-US" sz="1150" dirty="0">
                <a:solidFill>
                  <a:srgbClr val="94A3B8"/>
                </a:solidFill>
                <a:latin typeface="Courier New" pitchFamily="34" charset="0"/>
                <a:ea typeface="Courier New" pitchFamily="34" charset="-122"/>
                <a:cs typeface="Courier New" pitchFamily="34" charset="-120"/>
              </a:rPr>
              <a:t># sita's subnet is now orphaned:</a:t>
            </a:r>
            <a:endParaRPr lang="en-US" sz="1150" dirty="0"/>
          </a:p>
          <a:p>
            <a:pPr indent="0" marL="0">
              <a:lnSpc>
                <a:spcPts val="1863"/>
              </a:lnSpc>
              <a:buNone/>
            </a:pPr>
            <a:r>
              <a:rPr lang="en-US" sz="1150" dirty="0">
                <a:solidFill>
                  <a:srgbClr val="F87171"/>
                </a:solidFill>
                <a:latin typeface="Courier New" pitchFamily="34" charset="0"/>
                <a:ea typeface="Courier New" pitchFamily="34" charset="-122"/>
                <a:cs typeface="Courier New" pitchFamily="34" charset="-120"/>
              </a:rPr>
              <a:t># it exists in AWS, not in state. Nobody owns it.</a:t>
            </a:r>
            <a:endParaRPr lang="en-US" sz="1150" dirty="0"/>
          </a:p>
        </p:txBody>
      </p:sp>
      <p:sp>
        <p:nvSpPr>
          <p:cNvPr id="14" name="Shape 12"/>
          <p:cNvSpPr/>
          <p:nvPr/>
        </p:nvSpPr>
        <p:spPr>
          <a:xfrm>
            <a:off x="566928" y="4041648"/>
            <a:ext cx="2679192" cy="1536192"/>
          </a:xfrm>
          <a:prstGeom prst="roundRect">
            <a:avLst>
              <a:gd name="adj" fmla="val 297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5" name="Shape 13"/>
          <p:cNvSpPr/>
          <p:nvPr/>
        </p:nvSpPr>
        <p:spPr>
          <a:xfrm>
            <a:off x="804672" y="4279392"/>
            <a:ext cx="512064" cy="512064"/>
          </a:xfrm>
          <a:prstGeom prst="ellipse">
            <a:avLst/>
          </a:prstGeom>
          <a:solidFill>
            <a:srgbClr val="F0FDFA"/>
          </a:solidFill>
          <a:ln w="11430">
            <a:solidFill>
              <a:srgbClr val="0D9488"/>
            </a:solidFill>
            <a:prstDash val="solid"/>
          </a:ln>
        </p:spPr>
      </p:sp>
      <p:pic>
        <p:nvPicPr>
          <p:cNvPr id="16" name="Image 0" descr="preencoded.png">    </p:cNvPr>
          <p:cNvPicPr>
            <a:picLocks noChangeAspect="1"/>
          </p:cNvPicPr>
          <p:nvPr/>
        </p:nvPicPr>
        <p:blipFill>
          <a:blip r:embed="rId1"/>
          <a:stretch>
            <a:fillRect/>
          </a:stretch>
        </p:blipFill>
        <p:spPr>
          <a:xfrm>
            <a:off x="928116" y="4402836"/>
            <a:ext cx="265176" cy="265176"/>
          </a:xfrm>
          <a:prstGeom prst="rect">
            <a:avLst/>
          </a:prstGeom>
        </p:spPr>
      </p:pic>
      <p:sp>
        <p:nvSpPr>
          <p:cNvPr id="17" name="Text 14"/>
          <p:cNvSpPr/>
          <p:nvPr/>
        </p:nvSpPr>
        <p:spPr>
          <a:xfrm>
            <a:off x="804672" y="488289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Shared</a:t>
            </a:r>
            <a:endParaRPr lang="en-US" sz="1350" dirty="0"/>
          </a:p>
        </p:txBody>
      </p:sp>
      <p:sp>
        <p:nvSpPr>
          <p:cNvPr id="18" name="Text 15"/>
          <p:cNvSpPr/>
          <p:nvPr/>
        </p:nvSpPr>
        <p:spPr>
          <a:xfrm>
            <a:off x="804672" y="5230368"/>
            <a:ext cx="22037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State lives in S3, not on a laptop. Everyone reads the same file.</a:t>
            </a:r>
            <a:endParaRPr lang="en-US" sz="1050" dirty="0"/>
          </a:p>
        </p:txBody>
      </p:sp>
      <p:sp>
        <p:nvSpPr>
          <p:cNvPr id="19" name="Shape 16"/>
          <p:cNvSpPr/>
          <p:nvPr/>
        </p:nvSpPr>
        <p:spPr>
          <a:xfrm>
            <a:off x="3364992" y="4041648"/>
            <a:ext cx="2679192" cy="1536192"/>
          </a:xfrm>
          <a:prstGeom prst="roundRect">
            <a:avLst>
              <a:gd name="adj" fmla="val 297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0" name="Shape 17"/>
          <p:cNvSpPr/>
          <p:nvPr/>
        </p:nvSpPr>
        <p:spPr>
          <a:xfrm>
            <a:off x="3602736" y="4279392"/>
            <a:ext cx="512064" cy="512064"/>
          </a:xfrm>
          <a:prstGeom prst="ellipse">
            <a:avLst/>
          </a:prstGeom>
          <a:solidFill>
            <a:srgbClr val="F0FDFA"/>
          </a:solidFill>
          <a:ln w="11430">
            <a:solidFill>
              <a:srgbClr val="0D9488"/>
            </a:solidFill>
            <a:prstDash val="solid"/>
          </a:ln>
        </p:spPr>
      </p:sp>
      <p:pic>
        <p:nvPicPr>
          <p:cNvPr id="21" name="Image 1" descr="preencoded.png">    </p:cNvPr>
          <p:cNvPicPr>
            <a:picLocks noChangeAspect="1"/>
          </p:cNvPicPr>
          <p:nvPr/>
        </p:nvPicPr>
        <p:blipFill>
          <a:blip r:embed="rId2"/>
          <a:stretch>
            <a:fillRect/>
          </a:stretch>
        </p:blipFill>
        <p:spPr>
          <a:xfrm>
            <a:off x="3726180" y="4402836"/>
            <a:ext cx="265176" cy="265176"/>
          </a:xfrm>
          <a:prstGeom prst="rect">
            <a:avLst/>
          </a:prstGeom>
        </p:spPr>
      </p:pic>
      <p:sp>
        <p:nvSpPr>
          <p:cNvPr id="22" name="Text 18"/>
          <p:cNvSpPr/>
          <p:nvPr/>
        </p:nvSpPr>
        <p:spPr>
          <a:xfrm>
            <a:off x="3602736" y="488289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Locked</a:t>
            </a:r>
            <a:endParaRPr lang="en-US" sz="1350" dirty="0"/>
          </a:p>
        </p:txBody>
      </p:sp>
      <p:sp>
        <p:nvSpPr>
          <p:cNvPr id="23" name="Text 19"/>
          <p:cNvSpPr/>
          <p:nvPr/>
        </p:nvSpPr>
        <p:spPr>
          <a:xfrm>
            <a:off x="3602736" y="5230368"/>
            <a:ext cx="22037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One apply at a time. The second person waits instead of colliding.</a:t>
            </a:r>
            <a:endParaRPr lang="en-US" sz="1050" dirty="0"/>
          </a:p>
        </p:txBody>
      </p:sp>
      <p:sp>
        <p:nvSpPr>
          <p:cNvPr id="24" name="Shape 20"/>
          <p:cNvSpPr/>
          <p:nvPr/>
        </p:nvSpPr>
        <p:spPr>
          <a:xfrm>
            <a:off x="6163056" y="4041648"/>
            <a:ext cx="2679192" cy="1536192"/>
          </a:xfrm>
          <a:prstGeom prst="roundRect">
            <a:avLst>
              <a:gd name="adj" fmla="val 297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5" name="Shape 21"/>
          <p:cNvSpPr/>
          <p:nvPr/>
        </p:nvSpPr>
        <p:spPr>
          <a:xfrm>
            <a:off x="6400800" y="4279392"/>
            <a:ext cx="512064" cy="512064"/>
          </a:xfrm>
          <a:prstGeom prst="ellipse">
            <a:avLst/>
          </a:prstGeom>
          <a:solidFill>
            <a:srgbClr val="F0FDFA"/>
          </a:solidFill>
          <a:ln w="11430">
            <a:solidFill>
              <a:srgbClr val="0D9488"/>
            </a:solidFill>
            <a:prstDash val="solid"/>
          </a:ln>
        </p:spPr>
      </p:sp>
      <p:pic>
        <p:nvPicPr>
          <p:cNvPr id="26" name="Image 2" descr="preencoded.png">    </p:cNvPr>
          <p:cNvPicPr>
            <a:picLocks noChangeAspect="1"/>
          </p:cNvPicPr>
          <p:nvPr/>
        </p:nvPicPr>
        <p:blipFill>
          <a:blip r:embed="rId3"/>
          <a:stretch>
            <a:fillRect/>
          </a:stretch>
        </p:blipFill>
        <p:spPr>
          <a:xfrm>
            <a:off x="6524244" y="4402836"/>
            <a:ext cx="265176" cy="265176"/>
          </a:xfrm>
          <a:prstGeom prst="rect">
            <a:avLst/>
          </a:prstGeom>
        </p:spPr>
      </p:pic>
      <p:sp>
        <p:nvSpPr>
          <p:cNvPr id="27" name="Text 22"/>
          <p:cNvSpPr/>
          <p:nvPr/>
        </p:nvSpPr>
        <p:spPr>
          <a:xfrm>
            <a:off x="6400800" y="488289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Encrypted</a:t>
            </a:r>
            <a:endParaRPr lang="en-US" sz="1350" dirty="0"/>
          </a:p>
        </p:txBody>
      </p:sp>
      <p:sp>
        <p:nvSpPr>
          <p:cNvPr id="28" name="Text 23"/>
          <p:cNvSpPr/>
          <p:nvPr/>
        </p:nvSpPr>
        <p:spPr>
          <a:xfrm>
            <a:off x="6400800" y="5230368"/>
            <a:ext cx="22037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At rest by default, with bucket policies controlling who can read it.</a:t>
            </a:r>
            <a:endParaRPr lang="en-US" sz="1050" dirty="0"/>
          </a:p>
        </p:txBody>
      </p:sp>
      <p:sp>
        <p:nvSpPr>
          <p:cNvPr id="29" name="Shape 24"/>
          <p:cNvSpPr/>
          <p:nvPr/>
        </p:nvSpPr>
        <p:spPr>
          <a:xfrm>
            <a:off x="8961120" y="4041648"/>
            <a:ext cx="2679192" cy="1536192"/>
          </a:xfrm>
          <a:prstGeom prst="roundRect">
            <a:avLst>
              <a:gd name="adj" fmla="val 297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30" name="Shape 25"/>
          <p:cNvSpPr/>
          <p:nvPr/>
        </p:nvSpPr>
        <p:spPr>
          <a:xfrm>
            <a:off x="9198864" y="4279392"/>
            <a:ext cx="512064" cy="512064"/>
          </a:xfrm>
          <a:prstGeom prst="ellipse">
            <a:avLst/>
          </a:prstGeom>
          <a:solidFill>
            <a:srgbClr val="F0FDFA"/>
          </a:solidFill>
          <a:ln w="11430">
            <a:solidFill>
              <a:srgbClr val="0D9488"/>
            </a:solidFill>
            <a:prstDash val="solid"/>
          </a:ln>
        </p:spPr>
      </p:sp>
      <p:pic>
        <p:nvPicPr>
          <p:cNvPr id="31" name="Image 3" descr="preencoded.png">    </p:cNvPr>
          <p:cNvPicPr>
            <a:picLocks noChangeAspect="1"/>
          </p:cNvPicPr>
          <p:nvPr/>
        </p:nvPicPr>
        <p:blipFill>
          <a:blip r:embed="rId4"/>
          <a:stretch>
            <a:fillRect/>
          </a:stretch>
        </p:blipFill>
        <p:spPr>
          <a:xfrm>
            <a:off x="9322308" y="4402836"/>
            <a:ext cx="265176" cy="265176"/>
          </a:xfrm>
          <a:prstGeom prst="rect">
            <a:avLst/>
          </a:prstGeom>
        </p:spPr>
      </p:pic>
      <p:sp>
        <p:nvSpPr>
          <p:cNvPr id="32" name="Text 26"/>
          <p:cNvSpPr/>
          <p:nvPr/>
        </p:nvSpPr>
        <p:spPr>
          <a:xfrm>
            <a:off x="9198864" y="4882896"/>
            <a:ext cx="220370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Versioned</a:t>
            </a:r>
            <a:endParaRPr lang="en-US" sz="1350" dirty="0"/>
          </a:p>
        </p:txBody>
      </p:sp>
      <p:sp>
        <p:nvSpPr>
          <p:cNvPr id="33" name="Text 27"/>
          <p:cNvSpPr/>
          <p:nvPr/>
        </p:nvSpPr>
        <p:spPr>
          <a:xfrm>
            <a:off x="9198864" y="5230368"/>
            <a:ext cx="2203704" cy="16459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Bucket versioning gives you a rollback if state is ever damaged.</a:t>
            </a:r>
            <a:endParaRPr lang="en-US" sz="1050" dirty="0"/>
          </a:p>
        </p:txBody>
      </p:sp>
      <p:sp>
        <p:nvSpPr>
          <p:cNvPr id="34" name="Text 28"/>
          <p:cNvSpPr/>
          <p:nvPr/>
        </p:nvSpPr>
        <p:spPr>
          <a:xfrm>
            <a:off x="566928" y="5760720"/>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A remote backend is not an advanced feature. It is the first thing you set up on any project with more than one contributor.</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F9900"/>
                </a:solidFill>
                <a:latin typeface="Calibri" pitchFamily="34" charset="0"/>
                <a:ea typeface="Calibri" pitchFamily="34" charset="-122"/>
                <a:cs typeface="Calibri" pitchFamily="34" charset="-120"/>
              </a:rPr>
              <a:t>REMOTE STATE IN PRACTICE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The S3 backend, and its chicken-and-egg</a:t>
            </a:r>
            <a:endParaRPr lang="en-US" sz="3000" dirty="0"/>
          </a:p>
        </p:txBody>
      </p:sp>
      <p:sp>
        <p:nvSpPr>
          <p:cNvPr id="4" name="Shape 2"/>
          <p:cNvSpPr/>
          <p:nvPr/>
        </p:nvSpPr>
        <p:spPr>
          <a:xfrm>
            <a:off x="566928" y="1371600"/>
            <a:ext cx="6309360" cy="2331720"/>
          </a:xfrm>
          <a:prstGeom prst="roundRect">
            <a:avLst>
              <a:gd name="adj" fmla="val 2353"/>
            </a:avLst>
          </a:prstGeom>
          <a:solidFill>
            <a:srgbClr val="0F172A"/>
          </a:solidFill>
          <a:ln w="12700">
            <a:solidFill>
              <a:srgbClr val="334155"/>
            </a:solidFill>
            <a:prstDash val="solid"/>
          </a:ln>
        </p:spPr>
      </p:sp>
      <p:sp>
        <p:nvSpPr>
          <p:cNvPr id="5" name="Shape 3"/>
          <p:cNvSpPr/>
          <p:nvPr/>
        </p:nvSpPr>
        <p:spPr>
          <a:xfrm>
            <a:off x="566928" y="1371600"/>
            <a:ext cx="630936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553212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backend.tf</a:t>
            </a:r>
            <a:endParaRPr lang="en-US" sz="950" dirty="0"/>
          </a:p>
        </p:txBody>
      </p:sp>
      <p:sp>
        <p:nvSpPr>
          <p:cNvPr id="10" name="Text 8"/>
          <p:cNvSpPr/>
          <p:nvPr/>
        </p:nvSpPr>
        <p:spPr>
          <a:xfrm>
            <a:off x="768096" y="1755648"/>
            <a:ext cx="5907024" cy="180136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terraform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backend "s3"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bucket       = "tf-state-sagyam-a91c"</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key          = "lab01-s3/terraform.tfstate"</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region       = "ap-south-1"</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encrypt      = true</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use_lockfile = true   # native S3 locking, TF 1.11+</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11" name="Shape 9"/>
          <p:cNvSpPr/>
          <p:nvPr/>
        </p:nvSpPr>
        <p:spPr>
          <a:xfrm>
            <a:off x="566928" y="3840480"/>
            <a:ext cx="6309360" cy="1417320"/>
          </a:xfrm>
          <a:prstGeom prst="roundRect">
            <a:avLst>
              <a:gd name="adj" fmla="val 3871"/>
            </a:avLst>
          </a:prstGeom>
          <a:solidFill>
            <a:srgbClr val="0F172A"/>
          </a:solidFill>
          <a:ln w="12700">
            <a:solidFill>
              <a:srgbClr val="334155"/>
            </a:solidFill>
            <a:prstDash val="solid"/>
          </a:ln>
        </p:spPr>
      </p:sp>
      <p:sp>
        <p:nvSpPr>
          <p:cNvPr id="12" name="Shape 10"/>
          <p:cNvSpPr/>
          <p:nvPr/>
        </p:nvSpPr>
        <p:spPr>
          <a:xfrm>
            <a:off x="566928" y="3840480"/>
            <a:ext cx="6309360" cy="292608"/>
          </a:xfrm>
          <a:prstGeom prst="rect">
            <a:avLst/>
          </a:prstGeom>
          <a:solidFill>
            <a:srgbClr val="1E293B"/>
          </a:solidFill>
          <a:ln w="12700">
            <a:solidFill>
              <a:srgbClr val="334155"/>
            </a:solidFill>
            <a:prstDash val="solid"/>
          </a:ln>
        </p:spPr>
      </p:sp>
      <p:sp>
        <p:nvSpPr>
          <p:cNvPr id="13" name="Shape 11"/>
          <p:cNvSpPr/>
          <p:nvPr/>
        </p:nvSpPr>
        <p:spPr>
          <a:xfrm>
            <a:off x="685800" y="3936492"/>
            <a:ext cx="100584" cy="100584"/>
          </a:xfrm>
          <a:prstGeom prst="ellipse">
            <a:avLst/>
          </a:prstGeom>
          <a:solidFill>
            <a:srgbClr val="F87171"/>
          </a:solidFill>
          <a:ln w="6350">
            <a:solidFill>
              <a:srgbClr val="F87171"/>
            </a:solidFill>
            <a:prstDash val="solid"/>
          </a:ln>
        </p:spPr>
      </p:sp>
      <p:sp>
        <p:nvSpPr>
          <p:cNvPr id="14" name="Shape 12"/>
          <p:cNvSpPr/>
          <p:nvPr/>
        </p:nvSpPr>
        <p:spPr>
          <a:xfrm>
            <a:off x="859536" y="3936492"/>
            <a:ext cx="100584" cy="100584"/>
          </a:xfrm>
          <a:prstGeom prst="ellipse">
            <a:avLst/>
          </a:prstGeom>
          <a:solidFill>
            <a:srgbClr val="FBBF24"/>
          </a:solidFill>
          <a:ln w="6350">
            <a:solidFill>
              <a:srgbClr val="FBBF24"/>
            </a:solidFill>
            <a:prstDash val="solid"/>
          </a:ln>
        </p:spPr>
      </p:sp>
      <p:sp>
        <p:nvSpPr>
          <p:cNvPr id="15" name="Shape 13"/>
          <p:cNvSpPr/>
          <p:nvPr/>
        </p:nvSpPr>
        <p:spPr>
          <a:xfrm>
            <a:off x="1033272" y="3936492"/>
            <a:ext cx="100584" cy="100584"/>
          </a:xfrm>
          <a:prstGeom prst="ellipse">
            <a:avLst/>
          </a:prstGeom>
          <a:solidFill>
            <a:srgbClr val="34D399"/>
          </a:solidFill>
          <a:ln w="6350">
            <a:solidFill>
              <a:srgbClr val="34D399"/>
            </a:solidFill>
            <a:prstDash val="solid"/>
          </a:ln>
        </p:spPr>
      </p:sp>
      <p:sp>
        <p:nvSpPr>
          <p:cNvPr id="16" name="Text 14"/>
          <p:cNvSpPr/>
          <p:nvPr/>
        </p:nvSpPr>
        <p:spPr>
          <a:xfrm>
            <a:off x="1225296" y="3858768"/>
            <a:ext cx="553212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migrating existing state</a:t>
            </a:r>
            <a:endParaRPr lang="en-US" sz="950" dirty="0"/>
          </a:p>
        </p:txBody>
      </p:sp>
      <p:sp>
        <p:nvSpPr>
          <p:cNvPr id="17" name="Text 15"/>
          <p:cNvSpPr/>
          <p:nvPr/>
        </p:nvSpPr>
        <p:spPr>
          <a:xfrm>
            <a:off x="768096" y="4224528"/>
            <a:ext cx="5907024" cy="886968"/>
          </a:xfrm>
          <a:prstGeom prst="rect">
            <a:avLst/>
          </a:prstGeom>
          <a:noFill/>
          <a:ln/>
        </p:spPr>
        <p:txBody>
          <a:bodyPr wrap="square" lIns="0" tIns="0" rIns="0" bIns="0" rtlCol="0" anchor="t"/>
          <a:lstStyle/>
          <a:p>
            <a:pPr indent="0" marL="0">
              <a:lnSpc>
                <a:spcPts val="1863"/>
              </a:lnSpc>
              <a:buNone/>
            </a:pPr>
            <a:r>
              <a:rPr lang="en-US" sz="1150" dirty="0">
                <a:solidFill>
                  <a:srgbClr val="38BDF8"/>
                </a:solidFill>
                <a:latin typeface="Courier New" pitchFamily="34" charset="0"/>
                <a:ea typeface="Courier New" pitchFamily="34" charset="-122"/>
                <a:cs typeface="Courier New" pitchFamily="34" charset="-120"/>
              </a:rPr>
              <a:t>$ terraform init -migrate-state</a:t>
            </a:r>
            <a:endParaRPr lang="en-US" sz="1150" dirty="0"/>
          </a:p>
          <a:p>
            <a:pPr indent="0" marL="0">
              <a:lnSpc>
                <a:spcPts val="1863"/>
              </a:lnSpc>
              <a:buNone/>
            </a:pPr>
            <a:r>
              <a:rPr lang="en-US" sz="1150" dirty="0">
                <a:solidFill>
                  <a:srgbClr val="F8FAFC"/>
                </a:solidFill>
                <a:latin typeface="Courier New" pitchFamily="34" charset="0"/>
                <a:ea typeface="Courier New" pitchFamily="34" charset="-122"/>
                <a:cs typeface="Courier New" pitchFamily="34" charset="-120"/>
              </a:rPr>
              <a:t>Do you want to copy existing state to the new backend?</a:t>
            </a:r>
            <a:endParaRPr lang="en-US" sz="1150" dirty="0"/>
          </a:p>
          <a:p>
            <a:pPr indent="0" marL="0">
              <a:lnSpc>
                <a:spcPts val="1863"/>
              </a:lnSpc>
              <a:buNone/>
            </a:pPr>
            <a:r>
              <a:rPr lang="en-US" sz="1150" dirty="0">
                <a:solidFill>
                  <a:srgbClr val="34D399"/>
                </a:solidFill>
                <a:latin typeface="Courier New" pitchFamily="34" charset="0"/>
                <a:ea typeface="Courier New" pitchFamily="34" charset="-122"/>
                <a:cs typeface="Courier New" pitchFamily="34" charset="-120"/>
              </a:rPr>
              <a:t>  yes</a:t>
            </a:r>
            <a:endParaRPr lang="en-US" sz="1150" dirty="0"/>
          </a:p>
          <a:p>
            <a:pPr indent="0" marL="0">
              <a:lnSpc>
                <a:spcPts val="1863"/>
              </a:lnSpc>
              <a:buNone/>
            </a:pPr>
            <a:r>
              <a:rPr lang="en-US" sz="1150" b="1" dirty="0">
                <a:solidFill>
                  <a:srgbClr val="34D399"/>
                </a:solidFill>
                <a:latin typeface="Courier New" pitchFamily="34" charset="0"/>
                <a:ea typeface="Courier New" pitchFamily="34" charset="-122"/>
                <a:cs typeface="Courier New" pitchFamily="34" charset="-120"/>
              </a:rPr>
              <a:t>Successfully configured the backend "s3"!</a:t>
            </a:r>
            <a:endParaRPr lang="en-US" sz="1150" dirty="0"/>
          </a:p>
        </p:txBody>
      </p:sp>
      <p:sp>
        <p:nvSpPr>
          <p:cNvPr id="18" name="Shape 16"/>
          <p:cNvSpPr/>
          <p:nvPr/>
        </p:nvSpPr>
        <p:spPr>
          <a:xfrm>
            <a:off x="7086600" y="1371600"/>
            <a:ext cx="4828032" cy="2331720"/>
          </a:xfrm>
          <a:prstGeom prst="roundRect">
            <a:avLst>
              <a:gd name="adj" fmla="val 1961"/>
            </a:avLst>
          </a:prstGeom>
          <a:solidFill>
            <a:srgbClr val="FFF7ED"/>
          </a:solidFill>
          <a:ln w="12700">
            <a:solidFill>
              <a:srgbClr val="FED7AA"/>
            </a:solidFill>
            <a:prstDash val="solid"/>
          </a:ln>
        </p:spPr>
      </p:sp>
      <p:sp>
        <p:nvSpPr>
          <p:cNvPr id="19" name="Text 17"/>
          <p:cNvSpPr/>
          <p:nvPr/>
        </p:nvSpPr>
        <p:spPr>
          <a:xfrm>
            <a:off x="7324344" y="1463040"/>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WHY var.bucket DOES NOT WORK HERE</a:t>
            </a:r>
            <a:endParaRPr lang="en-US" sz="1000" dirty="0"/>
          </a:p>
        </p:txBody>
      </p:sp>
      <p:sp>
        <p:nvSpPr>
          <p:cNvPr id="20" name="Text 18"/>
          <p:cNvSpPr/>
          <p:nvPr/>
        </p:nvSpPr>
        <p:spPr>
          <a:xfrm>
            <a:off x="7324344" y="1673352"/>
            <a:ext cx="4352544" cy="192938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The backend block is read before Terraform evaluates variables, locals or anything else — it has to know where state lives before it can load state.</a:t>
            </a:r>
            <a:endParaRPr lang="en-US" sz="1300" dirty="0"/>
          </a:p>
          <a:p>
            <a:pPr indent="0" marL="0">
              <a:lnSpc>
                <a:spcPts val="1800"/>
              </a:lnSpc>
              <a:buNone/>
            </a:pPr>
            <a:endParaRPr lang="en-US" sz="1300" dirty="0"/>
          </a:p>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This trips up literally everyone, exactly once. The professional workaround is partial configuration:</a:t>
            </a:r>
            <a:endParaRPr lang="en-US" sz="1300" dirty="0"/>
          </a:p>
          <a:p>
            <a:pPr indent="0" marL="0">
              <a:lnSpc>
                <a:spcPts val="1800"/>
              </a:lnSpc>
              <a:buNone/>
            </a:pPr>
            <a:endParaRPr lang="en-US" sz="1300" dirty="0"/>
          </a:p>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terraform init \</a:t>
            </a:r>
            <a:endParaRPr lang="en-US" sz="1300" dirty="0"/>
          </a:p>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  -backend-config="bucket=…"</a:t>
            </a:r>
            <a:endParaRPr lang="en-US" sz="1300" dirty="0"/>
          </a:p>
        </p:txBody>
      </p:sp>
      <p:sp>
        <p:nvSpPr>
          <p:cNvPr id="21" name="Shape 19"/>
          <p:cNvSpPr/>
          <p:nvPr/>
        </p:nvSpPr>
        <p:spPr>
          <a:xfrm>
            <a:off x="7086600" y="3840480"/>
            <a:ext cx="4828032" cy="1417320"/>
          </a:xfrm>
          <a:prstGeom prst="roundRect">
            <a:avLst>
              <a:gd name="adj" fmla="val 322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2" name="Shape 20"/>
          <p:cNvSpPr/>
          <p:nvPr/>
        </p:nvSpPr>
        <p:spPr>
          <a:xfrm>
            <a:off x="7324344" y="4078224"/>
            <a:ext cx="512064" cy="512064"/>
          </a:xfrm>
          <a:prstGeom prst="ellipse">
            <a:avLst/>
          </a:prstGeom>
          <a:solidFill>
            <a:srgbClr val="F0FDFA"/>
          </a:solidFill>
          <a:ln w="11430">
            <a:solidFill>
              <a:srgbClr val="0D9488"/>
            </a:solidFill>
            <a:prstDash val="solid"/>
          </a:ln>
        </p:spPr>
      </p:sp>
      <p:pic>
        <p:nvPicPr>
          <p:cNvPr id="23" name="Image 0" descr="preencoded.png">    </p:cNvPr>
          <p:cNvPicPr>
            <a:picLocks noChangeAspect="1"/>
          </p:cNvPicPr>
          <p:nvPr/>
        </p:nvPicPr>
        <p:blipFill>
          <a:blip r:embed="rId1"/>
          <a:stretch>
            <a:fillRect/>
          </a:stretch>
        </p:blipFill>
        <p:spPr>
          <a:xfrm>
            <a:off x="7447788" y="4201668"/>
            <a:ext cx="265176" cy="265176"/>
          </a:xfrm>
          <a:prstGeom prst="rect">
            <a:avLst/>
          </a:prstGeom>
        </p:spPr>
      </p:pic>
      <p:sp>
        <p:nvSpPr>
          <p:cNvPr id="24" name="Text 21"/>
          <p:cNvSpPr/>
          <p:nvPr/>
        </p:nvSpPr>
        <p:spPr>
          <a:xfrm>
            <a:off x="7324344" y="4681728"/>
            <a:ext cx="435254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use_lockfile replaced a whole table</a:t>
            </a:r>
            <a:endParaRPr lang="en-US" sz="1350" dirty="0"/>
          </a:p>
        </p:txBody>
      </p:sp>
      <p:sp>
        <p:nvSpPr>
          <p:cNvPr id="25" name="Text 22"/>
          <p:cNvSpPr/>
          <p:nvPr/>
        </p:nvSpPr>
        <p:spPr>
          <a:xfrm>
            <a:off x="7324344" y="5029200"/>
            <a:ext cx="4352544" cy="45720"/>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Locking used to require provisioning a DynamoDB table. Since 1.11 S3 handles it natively with a .tflock object beside your state.</a:t>
            </a:r>
            <a:endParaRPr lang="en-US" sz="1050" dirty="0"/>
          </a:p>
        </p:txBody>
      </p:sp>
      <p:sp>
        <p:nvSpPr>
          <p:cNvPr id="26" name="Text 23"/>
          <p:cNvSpPr/>
          <p:nvPr/>
        </p:nvSpPr>
        <p:spPr>
          <a:xfrm>
            <a:off x="566928" y="5486400"/>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The key is a path inside the bucket. One bucket holds state for many projects — give each its own key.</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STATE SURGERY</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When state and reality disagree</a:t>
            </a:r>
            <a:endParaRPr lang="en-US" sz="3000" dirty="0"/>
          </a:p>
        </p:txBody>
      </p:sp>
      <p:sp>
        <p:nvSpPr>
          <p:cNvPr id="4" name="Shape 2"/>
          <p:cNvSpPr/>
          <p:nvPr/>
        </p:nvSpPr>
        <p:spPr>
          <a:xfrm>
            <a:off x="566928" y="1389888"/>
            <a:ext cx="11073384" cy="384048"/>
          </a:xfrm>
          <a:prstGeom prst="rect">
            <a:avLst/>
          </a:prstGeom>
          <a:solidFill>
            <a:srgbClr val="0F172A"/>
          </a:solidFill>
          <a:ln w="6350">
            <a:solidFill>
              <a:srgbClr val="0F172A"/>
            </a:solidFill>
            <a:prstDash val="solid"/>
          </a:ln>
        </p:spPr>
      </p:sp>
      <p:sp>
        <p:nvSpPr>
          <p:cNvPr id="5" name="Text 3"/>
          <p:cNvSpPr/>
          <p:nvPr/>
        </p:nvSpPr>
        <p:spPr>
          <a:xfrm>
            <a:off x="713232" y="1389888"/>
            <a:ext cx="302666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COMMAND</a:t>
            </a:r>
            <a:endParaRPr lang="en-US" sz="1100" dirty="0"/>
          </a:p>
        </p:txBody>
      </p:sp>
      <p:sp>
        <p:nvSpPr>
          <p:cNvPr id="6" name="Text 4"/>
          <p:cNvSpPr/>
          <p:nvPr/>
        </p:nvSpPr>
        <p:spPr>
          <a:xfrm>
            <a:off x="3959352" y="1389888"/>
            <a:ext cx="403250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WHAT IT DOES</a:t>
            </a:r>
            <a:endParaRPr lang="en-US" sz="1100" dirty="0"/>
          </a:p>
        </p:txBody>
      </p:sp>
      <p:sp>
        <p:nvSpPr>
          <p:cNvPr id="7" name="Text 5"/>
          <p:cNvSpPr/>
          <p:nvPr/>
        </p:nvSpPr>
        <p:spPr>
          <a:xfrm>
            <a:off x="8211312" y="1389888"/>
            <a:ext cx="3355848"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THE SITUATION</a:t>
            </a:r>
            <a:endParaRPr lang="en-US" sz="1100" dirty="0"/>
          </a:p>
        </p:txBody>
      </p:sp>
      <p:sp>
        <p:nvSpPr>
          <p:cNvPr id="8" name="Shape 6"/>
          <p:cNvSpPr/>
          <p:nvPr/>
        </p:nvSpPr>
        <p:spPr>
          <a:xfrm>
            <a:off x="566928" y="1773936"/>
            <a:ext cx="11073384" cy="402336"/>
          </a:xfrm>
          <a:prstGeom prst="rect">
            <a:avLst/>
          </a:prstGeom>
          <a:solidFill>
            <a:srgbClr val="EFF3F8"/>
          </a:solidFill>
          <a:ln w="9525">
            <a:solidFill>
              <a:srgbClr val="E2E8F0"/>
            </a:solidFill>
            <a:prstDash val="solid"/>
          </a:ln>
        </p:spPr>
      </p:sp>
      <p:sp>
        <p:nvSpPr>
          <p:cNvPr id="9" name="Text 7"/>
          <p:cNvSpPr/>
          <p:nvPr/>
        </p:nvSpPr>
        <p:spPr>
          <a:xfrm>
            <a:off x="713232" y="1773936"/>
            <a:ext cx="30266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state list</a:t>
            </a:r>
            <a:endParaRPr lang="en-US" sz="1100" dirty="0"/>
          </a:p>
        </p:txBody>
      </p:sp>
      <p:sp>
        <p:nvSpPr>
          <p:cNvPr id="10" name="Text 8"/>
          <p:cNvSpPr/>
          <p:nvPr/>
        </p:nvSpPr>
        <p:spPr>
          <a:xfrm>
            <a:off x="3959352" y="1773936"/>
            <a:ext cx="403250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Every resource address Terraform owns</a:t>
            </a:r>
            <a:endParaRPr lang="en-US" sz="1150" dirty="0"/>
          </a:p>
        </p:txBody>
      </p:sp>
      <p:sp>
        <p:nvSpPr>
          <p:cNvPr id="11" name="Text 9"/>
          <p:cNvSpPr/>
          <p:nvPr/>
        </p:nvSpPr>
        <p:spPr>
          <a:xfrm>
            <a:off x="8211312" y="1773936"/>
            <a:ext cx="335584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“What do I actually have?”</a:t>
            </a:r>
            <a:endParaRPr lang="en-US" sz="1150" dirty="0"/>
          </a:p>
        </p:txBody>
      </p:sp>
      <p:sp>
        <p:nvSpPr>
          <p:cNvPr id="12" name="Shape 10"/>
          <p:cNvSpPr/>
          <p:nvPr/>
        </p:nvSpPr>
        <p:spPr>
          <a:xfrm>
            <a:off x="566928" y="2176272"/>
            <a:ext cx="11073384" cy="402336"/>
          </a:xfrm>
          <a:prstGeom prst="rect">
            <a:avLst/>
          </a:prstGeom>
          <a:solidFill>
            <a:srgbClr val="FFFFFF"/>
          </a:solidFill>
          <a:ln w="9525">
            <a:solidFill>
              <a:srgbClr val="E2E8F0"/>
            </a:solidFill>
            <a:prstDash val="solid"/>
          </a:ln>
        </p:spPr>
      </p:sp>
      <p:sp>
        <p:nvSpPr>
          <p:cNvPr id="13" name="Text 11"/>
          <p:cNvSpPr/>
          <p:nvPr/>
        </p:nvSpPr>
        <p:spPr>
          <a:xfrm>
            <a:off x="713232" y="2176272"/>
            <a:ext cx="30266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state show ADDR</a:t>
            </a:r>
            <a:endParaRPr lang="en-US" sz="1100" dirty="0"/>
          </a:p>
        </p:txBody>
      </p:sp>
      <p:sp>
        <p:nvSpPr>
          <p:cNvPr id="14" name="Text 12"/>
          <p:cNvSpPr/>
          <p:nvPr/>
        </p:nvSpPr>
        <p:spPr>
          <a:xfrm>
            <a:off x="3959352" y="2176272"/>
            <a:ext cx="403250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Every recorded attribute of one resource</a:t>
            </a:r>
            <a:endParaRPr lang="en-US" sz="1150" dirty="0"/>
          </a:p>
        </p:txBody>
      </p:sp>
      <p:sp>
        <p:nvSpPr>
          <p:cNvPr id="15" name="Text 13"/>
          <p:cNvSpPr/>
          <p:nvPr/>
        </p:nvSpPr>
        <p:spPr>
          <a:xfrm>
            <a:off x="8211312" y="2176272"/>
            <a:ext cx="335584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“What does it think the ID is?”</a:t>
            </a:r>
            <a:endParaRPr lang="en-US" sz="1150" dirty="0"/>
          </a:p>
        </p:txBody>
      </p:sp>
      <p:sp>
        <p:nvSpPr>
          <p:cNvPr id="16" name="Shape 14"/>
          <p:cNvSpPr/>
          <p:nvPr/>
        </p:nvSpPr>
        <p:spPr>
          <a:xfrm>
            <a:off x="566928" y="2578608"/>
            <a:ext cx="11073384" cy="402336"/>
          </a:xfrm>
          <a:prstGeom prst="rect">
            <a:avLst/>
          </a:prstGeom>
          <a:solidFill>
            <a:srgbClr val="EFF3F8"/>
          </a:solidFill>
          <a:ln w="9525">
            <a:solidFill>
              <a:srgbClr val="E2E8F0"/>
            </a:solidFill>
            <a:prstDash val="solid"/>
          </a:ln>
        </p:spPr>
      </p:sp>
      <p:sp>
        <p:nvSpPr>
          <p:cNvPr id="17" name="Text 15"/>
          <p:cNvSpPr/>
          <p:nvPr/>
        </p:nvSpPr>
        <p:spPr>
          <a:xfrm>
            <a:off x="713232" y="2578608"/>
            <a:ext cx="30266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state mv OLD NEW</a:t>
            </a:r>
            <a:endParaRPr lang="en-US" sz="1100" dirty="0"/>
          </a:p>
        </p:txBody>
      </p:sp>
      <p:sp>
        <p:nvSpPr>
          <p:cNvPr id="18" name="Text 16"/>
          <p:cNvSpPr/>
          <p:nvPr/>
        </p:nvSpPr>
        <p:spPr>
          <a:xfrm>
            <a:off x="3959352" y="2578608"/>
            <a:ext cx="403250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Renames an address without touching AWS</a:t>
            </a:r>
            <a:endParaRPr lang="en-US" sz="1150" dirty="0"/>
          </a:p>
        </p:txBody>
      </p:sp>
      <p:sp>
        <p:nvSpPr>
          <p:cNvPr id="19" name="Text 17"/>
          <p:cNvSpPr/>
          <p:nvPr/>
        </p:nvSpPr>
        <p:spPr>
          <a:xfrm>
            <a:off x="8211312" y="2578608"/>
            <a:ext cx="335584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You renamed a block and don’t want a rebuild</a:t>
            </a:r>
            <a:endParaRPr lang="en-US" sz="1150" dirty="0"/>
          </a:p>
        </p:txBody>
      </p:sp>
      <p:sp>
        <p:nvSpPr>
          <p:cNvPr id="20" name="Shape 18"/>
          <p:cNvSpPr/>
          <p:nvPr/>
        </p:nvSpPr>
        <p:spPr>
          <a:xfrm>
            <a:off x="566928" y="2980944"/>
            <a:ext cx="11073384" cy="402336"/>
          </a:xfrm>
          <a:prstGeom prst="rect">
            <a:avLst/>
          </a:prstGeom>
          <a:solidFill>
            <a:srgbClr val="FFFFFF"/>
          </a:solidFill>
          <a:ln w="9525">
            <a:solidFill>
              <a:srgbClr val="E2E8F0"/>
            </a:solidFill>
            <a:prstDash val="solid"/>
          </a:ln>
        </p:spPr>
      </p:sp>
      <p:sp>
        <p:nvSpPr>
          <p:cNvPr id="21" name="Text 19"/>
          <p:cNvSpPr/>
          <p:nvPr/>
        </p:nvSpPr>
        <p:spPr>
          <a:xfrm>
            <a:off x="713232" y="2980944"/>
            <a:ext cx="30266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state rm ADDR</a:t>
            </a:r>
            <a:endParaRPr lang="en-US" sz="1100" dirty="0"/>
          </a:p>
        </p:txBody>
      </p:sp>
      <p:sp>
        <p:nvSpPr>
          <p:cNvPr id="22" name="Text 20"/>
          <p:cNvSpPr/>
          <p:nvPr/>
        </p:nvSpPr>
        <p:spPr>
          <a:xfrm>
            <a:off x="3959352" y="2980944"/>
            <a:ext cx="403250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Forgets a resource; leaves it alive in AWS</a:t>
            </a:r>
            <a:endParaRPr lang="en-US" sz="1150" dirty="0"/>
          </a:p>
        </p:txBody>
      </p:sp>
      <p:sp>
        <p:nvSpPr>
          <p:cNvPr id="23" name="Text 21"/>
          <p:cNvSpPr/>
          <p:nvPr/>
        </p:nvSpPr>
        <p:spPr>
          <a:xfrm>
            <a:off x="8211312" y="2980944"/>
            <a:ext cx="335584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Handing ownership to another project</a:t>
            </a:r>
            <a:endParaRPr lang="en-US" sz="1150" dirty="0"/>
          </a:p>
        </p:txBody>
      </p:sp>
      <p:sp>
        <p:nvSpPr>
          <p:cNvPr id="24" name="Shape 22"/>
          <p:cNvSpPr/>
          <p:nvPr/>
        </p:nvSpPr>
        <p:spPr>
          <a:xfrm>
            <a:off x="566928" y="3383280"/>
            <a:ext cx="11073384" cy="402336"/>
          </a:xfrm>
          <a:prstGeom prst="rect">
            <a:avLst/>
          </a:prstGeom>
          <a:solidFill>
            <a:srgbClr val="EFF3F8"/>
          </a:solidFill>
          <a:ln w="9525">
            <a:solidFill>
              <a:srgbClr val="E2E8F0"/>
            </a:solidFill>
            <a:prstDash val="solid"/>
          </a:ln>
        </p:spPr>
      </p:sp>
      <p:sp>
        <p:nvSpPr>
          <p:cNvPr id="25" name="Text 23"/>
          <p:cNvSpPr/>
          <p:nvPr/>
        </p:nvSpPr>
        <p:spPr>
          <a:xfrm>
            <a:off x="713232" y="3383280"/>
            <a:ext cx="30266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import ADDR ID</a:t>
            </a:r>
            <a:endParaRPr lang="en-US" sz="1100" dirty="0"/>
          </a:p>
        </p:txBody>
      </p:sp>
      <p:sp>
        <p:nvSpPr>
          <p:cNvPr id="26" name="Text 24"/>
          <p:cNvSpPr/>
          <p:nvPr/>
        </p:nvSpPr>
        <p:spPr>
          <a:xfrm>
            <a:off x="3959352" y="3383280"/>
            <a:ext cx="403250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Adopts an existing AWS resource into state</a:t>
            </a:r>
            <a:endParaRPr lang="en-US" sz="1150" dirty="0"/>
          </a:p>
        </p:txBody>
      </p:sp>
      <p:sp>
        <p:nvSpPr>
          <p:cNvPr id="27" name="Text 25"/>
          <p:cNvSpPr/>
          <p:nvPr/>
        </p:nvSpPr>
        <p:spPr>
          <a:xfrm>
            <a:off x="8211312" y="3383280"/>
            <a:ext cx="335584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Bringing click-built infrastructure under control</a:t>
            </a:r>
            <a:endParaRPr lang="en-US" sz="1150" dirty="0"/>
          </a:p>
        </p:txBody>
      </p:sp>
      <p:sp>
        <p:nvSpPr>
          <p:cNvPr id="28" name="Shape 26"/>
          <p:cNvSpPr/>
          <p:nvPr/>
        </p:nvSpPr>
        <p:spPr>
          <a:xfrm>
            <a:off x="566928" y="3785616"/>
            <a:ext cx="11073384" cy="402336"/>
          </a:xfrm>
          <a:prstGeom prst="rect">
            <a:avLst/>
          </a:prstGeom>
          <a:solidFill>
            <a:srgbClr val="FFFFFF"/>
          </a:solidFill>
          <a:ln w="9525">
            <a:solidFill>
              <a:srgbClr val="E2E8F0"/>
            </a:solidFill>
            <a:prstDash val="solid"/>
          </a:ln>
        </p:spPr>
      </p:sp>
      <p:sp>
        <p:nvSpPr>
          <p:cNvPr id="29" name="Text 27"/>
          <p:cNvSpPr/>
          <p:nvPr/>
        </p:nvSpPr>
        <p:spPr>
          <a:xfrm>
            <a:off x="713232" y="3785616"/>
            <a:ext cx="3026664" cy="402336"/>
          </a:xfrm>
          <a:prstGeom prst="rect">
            <a:avLst/>
          </a:prstGeom>
          <a:noFill/>
          <a:ln/>
        </p:spPr>
        <p:txBody>
          <a:bodyPr wrap="square" lIns="0" tIns="0" rIns="0" bIns="0" rtlCol="0" anchor="ctr"/>
          <a:lstStyle/>
          <a:p>
            <a:pPr indent="0" marL="0">
              <a:buNone/>
            </a:pPr>
            <a:r>
              <a:rPr lang="en-US" sz="1100" b="1" dirty="0">
                <a:solidFill>
                  <a:srgbClr val="0F172A"/>
                </a:solidFill>
                <a:latin typeface="Courier New" pitchFamily="34" charset="0"/>
                <a:ea typeface="Courier New" pitchFamily="34" charset="-122"/>
                <a:cs typeface="Courier New" pitchFamily="34" charset="-120"/>
              </a:rPr>
              <a:t>taint / -replace</a:t>
            </a:r>
            <a:endParaRPr lang="en-US" sz="1100" dirty="0"/>
          </a:p>
        </p:txBody>
      </p:sp>
      <p:sp>
        <p:nvSpPr>
          <p:cNvPr id="30" name="Text 28"/>
          <p:cNvSpPr/>
          <p:nvPr/>
        </p:nvSpPr>
        <p:spPr>
          <a:xfrm>
            <a:off x="3959352" y="3785616"/>
            <a:ext cx="4032504"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Marks a resource for destroy-and-recreate</a:t>
            </a:r>
            <a:endParaRPr lang="en-US" sz="1150" dirty="0"/>
          </a:p>
        </p:txBody>
      </p:sp>
      <p:sp>
        <p:nvSpPr>
          <p:cNvPr id="31" name="Text 29"/>
          <p:cNvSpPr/>
          <p:nvPr/>
        </p:nvSpPr>
        <p:spPr>
          <a:xfrm>
            <a:off x="8211312" y="3785616"/>
            <a:ext cx="3355848" cy="402336"/>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It exists but it is broken</a:t>
            </a:r>
            <a:endParaRPr lang="en-US" sz="1150" dirty="0"/>
          </a:p>
        </p:txBody>
      </p:sp>
      <p:sp>
        <p:nvSpPr>
          <p:cNvPr id="32" name="Shape 30"/>
          <p:cNvSpPr/>
          <p:nvPr/>
        </p:nvSpPr>
        <p:spPr>
          <a:xfrm>
            <a:off x="566928" y="4864608"/>
            <a:ext cx="5394960" cy="1051560"/>
          </a:xfrm>
          <a:prstGeom prst="roundRect">
            <a:avLst>
              <a:gd name="adj" fmla="val 4348"/>
            </a:avLst>
          </a:prstGeom>
          <a:solidFill>
            <a:srgbClr val="FFF7ED"/>
          </a:solidFill>
          <a:ln w="12700">
            <a:solidFill>
              <a:srgbClr val="FED7AA"/>
            </a:solidFill>
            <a:prstDash val="solid"/>
          </a:ln>
        </p:spPr>
      </p:sp>
      <p:sp>
        <p:nvSpPr>
          <p:cNvPr id="33" name="Text 31"/>
          <p:cNvSpPr/>
          <p:nvPr/>
        </p:nvSpPr>
        <p:spPr>
          <a:xfrm>
            <a:off x="804672" y="4956048"/>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NEVER HAND-EDIT THE FILE</a:t>
            </a:r>
            <a:endParaRPr lang="en-US" sz="1000" dirty="0"/>
          </a:p>
        </p:txBody>
      </p:sp>
      <p:sp>
        <p:nvSpPr>
          <p:cNvPr id="34" name="Text 32"/>
          <p:cNvSpPr/>
          <p:nvPr/>
        </p:nvSpPr>
        <p:spPr>
          <a:xfrm>
            <a:off x="804672" y="5166360"/>
            <a:ext cx="4919472" cy="6492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It is JSON and it looks editable. Editing it desynchronises the serial number and can corrupt state for everyone. Always go through the state commands.</a:t>
            </a:r>
            <a:endParaRPr lang="en-US" sz="1300" dirty="0"/>
          </a:p>
        </p:txBody>
      </p:sp>
      <p:sp>
        <p:nvSpPr>
          <p:cNvPr id="35" name="Shape 33"/>
          <p:cNvSpPr/>
          <p:nvPr/>
        </p:nvSpPr>
        <p:spPr>
          <a:xfrm>
            <a:off x="6382512" y="4864608"/>
            <a:ext cx="5532120" cy="1051560"/>
          </a:xfrm>
          <a:prstGeom prst="roundRect">
            <a:avLst>
              <a:gd name="adj" fmla="val 4348"/>
            </a:avLst>
          </a:prstGeom>
          <a:solidFill>
            <a:srgbClr val="F0FDFA"/>
          </a:solidFill>
          <a:ln w="12700">
            <a:solidFill>
              <a:srgbClr val="99F6E4"/>
            </a:solidFill>
            <a:prstDash val="solid"/>
          </a:ln>
        </p:spPr>
      </p:sp>
      <p:sp>
        <p:nvSpPr>
          <p:cNvPr id="36" name="Text 34"/>
          <p:cNvSpPr/>
          <p:nvPr/>
        </p:nvSpPr>
        <p:spPr>
          <a:xfrm>
            <a:off x="6620256" y="4956048"/>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IMPORT IS THE MIGRATION PATH</a:t>
            </a:r>
            <a:endParaRPr lang="en-US" sz="1000" dirty="0"/>
          </a:p>
        </p:txBody>
      </p:sp>
      <p:sp>
        <p:nvSpPr>
          <p:cNvPr id="37" name="Text 35"/>
          <p:cNvSpPr/>
          <p:nvPr/>
        </p:nvSpPr>
        <p:spPr>
          <a:xfrm>
            <a:off x="6620256" y="5166360"/>
            <a:ext cx="5056632" cy="6492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You will rarely start from an empty account. import (or an import block, since 1.5) is how you take an existing click-built estate and bring it under Terraform one resource at a time.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F172A"/>
        </a:solidFill>
      </p:bgPr>
    </p:bg>
    <p:spTree>
      <p:nvGrpSpPr>
        <p:cNvPr id="1" name=""/>
        <p:cNvGrpSpPr/>
        <p:nvPr/>
      </p:nvGrpSpPr>
      <p:grpSpPr>
        <a:xfrm>
          <a:off x="0" y="0"/>
          <a:ext cx="0" cy="0"/>
          <a:chOff x="0" y="0"/>
          <a:chExt cx="0" cy="0"/>
        </a:xfrm>
      </p:grpSpPr>
      <p:sp>
        <p:nvSpPr>
          <p:cNvPr id="3" name="Text 0"/>
          <p:cNvSpPr/>
          <p:nvPr/>
        </p:nvSpPr>
        <p:spPr>
          <a:xfrm>
            <a:off x="566928" y="1417320"/>
            <a:ext cx="1828800" cy="1371600"/>
          </a:xfrm>
          <a:prstGeom prst="rect">
            <a:avLst/>
          </a:prstGeom>
          <a:noFill/>
          <a:ln/>
        </p:spPr>
        <p:txBody>
          <a:bodyPr wrap="square" lIns="0" tIns="0" rIns="0" bIns="0" rtlCol="0" anchor="ctr"/>
          <a:lstStyle/>
          <a:p>
            <a:pPr indent="0" marL="0">
              <a:buNone/>
            </a:pPr>
            <a:r>
              <a:rPr lang="en-US" sz="8400" b="1" dirty="0">
                <a:solidFill>
                  <a:srgbClr val="7B42BC"/>
                </a:solidFill>
                <a:latin typeface="Bookman Old Style" pitchFamily="34" charset="0"/>
                <a:ea typeface="Bookman Old Style" pitchFamily="34" charset="-122"/>
                <a:cs typeface="Bookman Old Style" pitchFamily="34" charset="-120"/>
              </a:rPr>
              <a:t>06</a:t>
            </a:r>
            <a:endParaRPr lang="en-US" sz="8400" dirty="0"/>
          </a:p>
        </p:txBody>
      </p:sp>
      <p:sp>
        <p:nvSpPr>
          <p:cNvPr id="4" name="Text 1"/>
          <p:cNvSpPr/>
          <p:nvPr/>
        </p:nvSpPr>
        <p:spPr>
          <a:xfrm>
            <a:off x="566928" y="2788920"/>
            <a:ext cx="7863840" cy="914400"/>
          </a:xfrm>
          <a:prstGeom prst="rect">
            <a:avLst/>
          </a:prstGeom>
          <a:noFill/>
          <a:ln/>
        </p:spPr>
        <p:txBody>
          <a:bodyPr wrap="square" lIns="0" tIns="0" rIns="0" bIns="0" rtlCol="0" anchor="ctr"/>
          <a:lstStyle/>
          <a:p>
            <a:pPr indent="0" marL="0">
              <a:buNone/>
            </a:pPr>
            <a:r>
              <a:rPr lang="en-US" sz="4000" b="1" dirty="0">
                <a:solidFill>
                  <a:srgbClr val="FFFFFF"/>
                </a:solidFill>
                <a:latin typeface="Bookman Old Style" pitchFamily="34" charset="0"/>
                <a:ea typeface="Bookman Old Style" pitchFamily="34" charset="-122"/>
                <a:cs typeface="Bookman Old Style" pitchFamily="34" charset="-120"/>
              </a:rPr>
              <a:t>Beyond One File</a:t>
            </a:r>
            <a:endParaRPr lang="en-US" sz="4000" dirty="0"/>
          </a:p>
        </p:txBody>
      </p:sp>
      <p:sp>
        <p:nvSpPr>
          <p:cNvPr id="5" name="Text 2"/>
          <p:cNvSpPr/>
          <p:nvPr/>
        </p:nvSpPr>
        <p:spPr>
          <a:xfrm>
            <a:off x="566928" y="3767328"/>
            <a:ext cx="7315200" cy="777240"/>
          </a:xfrm>
          <a:prstGeom prst="rect">
            <a:avLst/>
          </a:prstGeom>
          <a:noFill/>
          <a:ln/>
        </p:spPr>
        <p:txBody>
          <a:bodyPr wrap="square" lIns="0" tIns="0" rIns="0" bIns="0" rtlCol="0" anchor="ctr"/>
          <a:lstStyle/>
          <a:p>
            <a:pPr indent="0" marL="0">
              <a:lnSpc>
                <a:spcPts val="2400"/>
              </a:lnSpc>
              <a:buNone/>
            </a:pPr>
            <a:r>
              <a:rPr lang="en-US" sz="1600" dirty="0">
                <a:solidFill>
                  <a:srgbClr val="94A3B8"/>
                </a:solidFill>
                <a:latin typeface="Calibri" pitchFamily="34" charset="0"/>
                <a:ea typeface="Calibri" pitchFamily="34" charset="-122"/>
                <a:cs typeface="Calibri" pitchFamily="34" charset="-120"/>
              </a:rPr>
              <a:t>Everything so far fits in a single directory. Real projects have environments, teams and pipelines — here is the shape they take.</a:t>
            </a:r>
            <a:endParaRPr lang="en-US" sz="1600" dirty="0"/>
          </a:p>
        </p:txBody>
      </p:sp>
      <p:sp>
        <p:nvSpPr>
          <p:cNvPr id="6" name="Shape 3"/>
          <p:cNvSpPr/>
          <p:nvPr/>
        </p:nvSpPr>
        <p:spPr>
          <a:xfrm>
            <a:off x="9418320" y="2148840"/>
            <a:ext cx="1874520" cy="1874520"/>
          </a:xfrm>
          <a:prstGeom prst="ellipse">
            <a:avLst/>
          </a:prstGeom>
          <a:solidFill>
            <a:srgbClr val="1E293B"/>
          </a:solidFill>
          <a:ln w="15875">
            <a:solidFill>
              <a:srgbClr val="7B42BC"/>
            </a:solidFill>
            <a:prstDash val="solid"/>
          </a:ln>
        </p:spPr>
      </p:sp>
      <p:pic>
        <p:nvPicPr>
          <p:cNvPr id="7" name="Image 0" descr="preencoded.png">    </p:cNvPr>
          <p:cNvPicPr>
            <a:picLocks noChangeAspect="1"/>
          </p:cNvPicPr>
          <p:nvPr/>
        </p:nvPicPr>
        <p:blipFill>
          <a:blip r:embed="rId1"/>
          <a:stretch>
            <a:fillRect/>
          </a:stretch>
        </p:blipFill>
        <p:spPr>
          <a:xfrm>
            <a:off x="9893808" y="2624328"/>
            <a:ext cx="914400" cy="914400"/>
          </a:xfrm>
          <a:prstGeom prst="rect">
            <a:avLst/>
          </a:prstGeom>
        </p:spPr>
      </p:pic>
      <p:sp>
        <p:nvSpPr>
          <p:cNvPr id="8" name="Shape 4"/>
          <p:cNvSpPr/>
          <p:nvPr/>
        </p:nvSpPr>
        <p:spPr>
          <a:xfrm>
            <a:off x="566928" y="4892040"/>
            <a:ext cx="910742" cy="384048"/>
          </a:xfrm>
          <a:prstGeom prst="roundRect">
            <a:avLst>
              <a:gd name="adj" fmla="val 47619"/>
            </a:avLst>
          </a:prstGeom>
          <a:solidFill>
            <a:srgbClr val="1E293B"/>
          </a:solidFill>
          <a:ln w="9525">
            <a:solidFill>
              <a:srgbClr val="334155"/>
            </a:solidFill>
            <a:prstDash val="solid"/>
          </a:ln>
        </p:spPr>
      </p:sp>
      <p:sp>
        <p:nvSpPr>
          <p:cNvPr id="9" name="Text 5"/>
          <p:cNvSpPr/>
          <p:nvPr/>
        </p:nvSpPr>
        <p:spPr>
          <a:xfrm>
            <a:off x="566928" y="4892040"/>
            <a:ext cx="91074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modules</a:t>
            </a:r>
            <a:endParaRPr lang="en-US" sz="1050" dirty="0"/>
          </a:p>
        </p:txBody>
      </p:sp>
      <p:sp>
        <p:nvSpPr>
          <p:cNvPr id="10" name="Shape 6"/>
          <p:cNvSpPr/>
          <p:nvPr/>
        </p:nvSpPr>
        <p:spPr>
          <a:xfrm>
            <a:off x="1623974" y="4892040"/>
            <a:ext cx="1404518" cy="384048"/>
          </a:xfrm>
          <a:prstGeom prst="roundRect">
            <a:avLst>
              <a:gd name="adj" fmla="val 47619"/>
            </a:avLst>
          </a:prstGeom>
          <a:solidFill>
            <a:srgbClr val="1E293B"/>
          </a:solidFill>
          <a:ln w="9525">
            <a:solidFill>
              <a:srgbClr val="334155"/>
            </a:solidFill>
            <a:prstDash val="solid"/>
          </a:ln>
        </p:spPr>
      </p:sp>
      <p:sp>
        <p:nvSpPr>
          <p:cNvPr id="11" name="Text 7"/>
          <p:cNvSpPr/>
          <p:nvPr/>
        </p:nvSpPr>
        <p:spPr>
          <a:xfrm>
            <a:off x="1623974" y="4892040"/>
            <a:ext cx="140451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environments</a:t>
            </a:r>
            <a:endParaRPr lang="en-US" sz="1050" dirty="0"/>
          </a:p>
        </p:txBody>
      </p:sp>
      <p:sp>
        <p:nvSpPr>
          <p:cNvPr id="12" name="Shape 8"/>
          <p:cNvSpPr/>
          <p:nvPr/>
        </p:nvSpPr>
        <p:spPr>
          <a:xfrm>
            <a:off x="3174797" y="4892040"/>
            <a:ext cx="1207008" cy="384048"/>
          </a:xfrm>
          <a:prstGeom prst="roundRect">
            <a:avLst>
              <a:gd name="adj" fmla="val 47619"/>
            </a:avLst>
          </a:prstGeom>
          <a:solidFill>
            <a:srgbClr val="1E293B"/>
          </a:solidFill>
          <a:ln w="9525">
            <a:solidFill>
              <a:srgbClr val="334155"/>
            </a:solidFill>
            <a:prstDash val="solid"/>
          </a:ln>
        </p:spPr>
      </p:sp>
      <p:sp>
        <p:nvSpPr>
          <p:cNvPr id="13" name="Text 9"/>
          <p:cNvSpPr/>
          <p:nvPr/>
        </p:nvSpPr>
        <p:spPr>
          <a:xfrm>
            <a:off x="3174797" y="4892040"/>
            <a:ext cx="1207008"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kubernetes</a:t>
            </a:r>
            <a:endParaRPr lang="en-US" sz="1050" dirty="0"/>
          </a:p>
        </p:txBody>
      </p:sp>
      <p:sp>
        <p:nvSpPr>
          <p:cNvPr id="14" name="Shape 10"/>
          <p:cNvSpPr/>
          <p:nvPr/>
        </p:nvSpPr>
        <p:spPr>
          <a:xfrm>
            <a:off x="4528109" y="4892040"/>
            <a:ext cx="713232" cy="384048"/>
          </a:xfrm>
          <a:prstGeom prst="roundRect">
            <a:avLst>
              <a:gd name="adj" fmla="val 47619"/>
            </a:avLst>
          </a:prstGeom>
          <a:solidFill>
            <a:srgbClr val="1E293B"/>
          </a:solidFill>
          <a:ln w="9525">
            <a:solidFill>
              <a:srgbClr val="334155"/>
            </a:solidFill>
            <a:prstDash val="solid"/>
          </a:ln>
        </p:spPr>
      </p:sp>
      <p:sp>
        <p:nvSpPr>
          <p:cNvPr id="15" name="Text 11"/>
          <p:cNvSpPr/>
          <p:nvPr/>
        </p:nvSpPr>
        <p:spPr>
          <a:xfrm>
            <a:off x="4528109" y="4892040"/>
            <a:ext cx="713232" cy="384048"/>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ci/cd</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REUSE</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Modules: a function call for infrastructure</a:t>
            </a:r>
            <a:endParaRPr lang="en-US" sz="3000" dirty="0"/>
          </a:p>
        </p:txBody>
      </p:sp>
      <p:sp>
        <p:nvSpPr>
          <p:cNvPr id="4" name="Text 2"/>
          <p:cNvSpPr/>
          <p:nvPr/>
        </p:nvSpPr>
        <p:spPr>
          <a:xfrm>
            <a:off x="566928" y="1335024"/>
            <a:ext cx="11073384" cy="548640"/>
          </a:xfrm>
          <a:prstGeom prst="rect">
            <a:avLst/>
          </a:prstGeom>
          <a:noFill/>
          <a:ln/>
        </p:spPr>
        <p:txBody>
          <a:bodyPr wrap="square" lIns="0" tIns="0" rIns="0" bIns="0" rtlCol="0" anchor="ctr"/>
          <a:lstStyle/>
          <a:p>
            <a:pPr indent="0" marL="0">
              <a:lnSpc>
                <a:spcPts val="1900"/>
              </a:lnSpc>
              <a:buNone/>
            </a:pPr>
            <a:r>
              <a:rPr lang="en-US" sz="1350" dirty="0">
                <a:solidFill>
                  <a:srgbClr val="334155"/>
                </a:solidFill>
                <a:latin typeface="Calibri" pitchFamily="34" charset="0"/>
                <a:ea typeface="Calibri" pitchFamily="34" charset="-122"/>
                <a:cs typeface="Calibri" pitchFamily="34" charset="-120"/>
              </a:rPr>
              <a:t>A module is just a directory of .tf files. Variables are its parameters, outputs are its return values, and calling it twice gives you two copies with different arguments.</a:t>
            </a:r>
            <a:endParaRPr lang="en-US" sz="1350" dirty="0"/>
          </a:p>
        </p:txBody>
      </p:sp>
      <p:sp>
        <p:nvSpPr>
          <p:cNvPr id="5" name="Shape 3"/>
          <p:cNvSpPr/>
          <p:nvPr/>
        </p:nvSpPr>
        <p:spPr>
          <a:xfrm>
            <a:off x="566928" y="1993392"/>
            <a:ext cx="6492240" cy="2606040"/>
          </a:xfrm>
          <a:prstGeom prst="roundRect">
            <a:avLst>
              <a:gd name="adj" fmla="val 2105"/>
            </a:avLst>
          </a:prstGeom>
          <a:solidFill>
            <a:srgbClr val="0F172A"/>
          </a:solidFill>
          <a:ln w="12700">
            <a:solidFill>
              <a:srgbClr val="334155"/>
            </a:solidFill>
            <a:prstDash val="solid"/>
          </a:ln>
        </p:spPr>
      </p:sp>
      <p:sp>
        <p:nvSpPr>
          <p:cNvPr id="6" name="Shape 4"/>
          <p:cNvSpPr/>
          <p:nvPr/>
        </p:nvSpPr>
        <p:spPr>
          <a:xfrm>
            <a:off x="566928" y="1993392"/>
            <a:ext cx="6492240" cy="292608"/>
          </a:xfrm>
          <a:prstGeom prst="rect">
            <a:avLst/>
          </a:prstGeom>
          <a:solidFill>
            <a:srgbClr val="1E293B"/>
          </a:solidFill>
          <a:ln w="12700">
            <a:solidFill>
              <a:srgbClr val="334155"/>
            </a:solidFill>
            <a:prstDash val="solid"/>
          </a:ln>
        </p:spPr>
      </p:sp>
      <p:sp>
        <p:nvSpPr>
          <p:cNvPr id="7" name="Shape 5"/>
          <p:cNvSpPr/>
          <p:nvPr/>
        </p:nvSpPr>
        <p:spPr>
          <a:xfrm>
            <a:off x="685800" y="2089404"/>
            <a:ext cx="100584" cy="100584"/>
          </a:xfrm>
          <a:prstGeom prst="ellipse">
            <a:avLst/>
          </a:prstGeom>
          <a:solidFill>
            <a:srgbClr val="F87171"/>
          </a:solidFill>
          <a:ln w="6350">
            <a:solidFill>
              <a:srgbClr val="F87171"/>
            </a:solidFill>
            <a:prstDash val="solid"/>
          </a:ln>
        </p:spPr>
      </p:sp>
      <p:sp>
        <p:nvSpPr>
          <p:cNvPr id="8" name="Shape 6"/>
          <p:cNvSpPr/>
          <p:nvPr/>
        </p:nvSpPr>
        <p:spPr>
          <a:xfrm>
            <a:off x="859536" y="2089404"/>
            <a:ext cx="100584" cy="100584"/>
          </a:xfrm>
          <a:prstGeom prst="ellipse">
            <a:avLst/>
          </a:prstGeom>
          <a:solidFill>
            <a:srgbClr val="FBBF24"/>
          </a:solidFill>
          <a:ln w="6350">
            <a:solidFill>
              <a:srgbClr val="FBBF24"/>
            </a:solidFill>
            <a:prstDash val="solid"/>
          </a:ln>
        </p:spPr>
      </p:sp>
      <p:sp>
        <p:nvSpPr>
          <p:cNvPr id="9" name="Shape 7"/>
          <p:cNvSpPr/>
          <p:nvPr/>
        </p:nvSpPr>
        <p:spPr>
          <a:xfrm>
            <a:off x="1033272" y="2089404"/>
            <a:ext cx="100584" cy="100584"/>
          </a:xfrm>
          <a:prstGeom prst="ellipse">
            <a:avLst/>
          </a:prstGeom>
          <a:solidFill>
            <a:srgbClr val="34D399"/>
          </a:solidFill>
          <a:ln w="6350">
            <a:solidFill>
              <a:srgbClr val="34D399"/>
            </a:solidFill>
            <a:prstDash val="solid"/>
          </a:ln>
        </p:spPr>
      </p:sp>
      <p:sp>
        <p:nvSpPr>
          <p:cNvPr id="10" name="Text 8"/>
          <p:cNvSpPr/>
          <p:nvPr/>
        </p:nvSpPr>
        <p:spPr>
          <a:xfrm>
            <a:off x="1225296" y="2011680"/>
            <a:ext cx="571500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calling a module</a:t>
            </a:r>
            <a:endParaRPr lang="en-US" sz="950" dirty="0"/>
          </a:p>
        </p:txBody>
      </p:sp>
      <p:sp>
        <p:nvSpPr>
          <p:cNvPr id="11" name="Text 9"/>
          <p:cNvSpPr/>
          <p:nvPr/>
        </p:nvSpPr>
        <p:spPr>
          <a:xfrm>
            <a:off x="768096" y="2377440"/>
            <a:ext cx="6089904" cy="2075688"/>
          </a:xfrm>
          <a:prstGeom prst="rect">
            <a:avLst/>
          </a:prstGeom>
          <a:noFill/>
          <a:ln/>
        </p:spPr>
        <p:txBody>
          <a:bodyPr wrap="square" lIns="0" tIns="0" rIns="0" bIns="0" rtlCol="0" anchor="t"/>
          <a:lstStyle/>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module "vpc" {</a:t>
            </a:r>
            <a:endParaRPr lang="en-US" sz="1100" dirty="0"/>
          </a:p>
          <a:p>
            <a:pPr indent="0" marL="0">
              <a:lnSpc>
                <a:spcPts val="1782"/>
              </a:lnSpc>
              <a:buNone/>
            </a:pPr>
            <a:r>
              <a:rPr lang="en-US" sz="1100" dirty="0">
                <a:solidFill>
                  <a:srgbClr val="34D399"/>
                </a:solidFill>
                <a:latin typeface="Courier New" pitchFamily="34" charset="0"/>
                <a:ea typeface="Courier New" pitchFamily="34" charset="-122"/>
                <a:cs typeface="Courier New" pitchFamily="34" charset="-120"/>
              </a:rPr>
              <a:t>  source  = "terraform-aws-modules/vpc/aws"</a:t>
            </a:r>
            <a:endParaRPr lang="en-US" sz="1100" dirty="0"/>
          </a:p>
          <a:p>
            <a:pPr indent="0" marL="0">
              <a:lnSpc>
                <a:spcPts val="1782"/>
              </a:lnSpc>
              <a:buNone/>
            </a:pPr>
            <a:r>
              <a:rPr lang="en-US" sz="1100" dirty="0">
                <a:solidFill>
                  <a:srgbClr val="FBBF24"/>
                </a:solidFill>
                <a:latin typeface="Courier New" pitchFamily="34" charset="0"/>
                <a:ea typeface="Courier New" pitchFamily="34" charset="-122"/>
                <a:cs typeface="Courier New" pitchFamily="34" charset="-120"/>
              </a:rPr>
              <a:t>  version = "~&gt; 5.0"          # pin registry modules too</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name = "chiya-${var.env}"</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cidr = "10.0.0.0/16"</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a:p>
            <a:pPr indent="0" marL="0">
              <a:lnSpc>
                <a:spcPts val="1782"/>
              </a:lnSpc>
              <a:buNone/>
            </a:pP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resource "aws_eks_cluster" "main"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vpc_config {</a:t>
            </a:r>
            <a:endParaRPr lang="en-US" sz="1100" dirty="0"/>
          </a:p>
          <a:p>
            <a:pPr indent="0" marL="0">
              <a:lnSpc>
                <a:spcPts val="1782"/>
              </a:lnSpc>
              <a:buNone/>
            </a:pPr>
            <a:r>
              <a:rPr lang="en-US" sz="1100" dirty="0">
                <a:solidFill>
                  <a:srgbClr val="38BDF8"/>
                </a:solidFill>
                <a:latin typeface="Courier New" pitchFamily="34" charset="0"/>
                <a:ea typeface="Courier New" pitchFamily="34" charset="-122"/>
                <a:cs typeface="Courier New" pitchFamily="34" charset="-120"/>
              </a:rPr>
              <a:t>    subnet_ids = module.vpc.private_subnets   # its output</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  }</a:t>
            </a:r>
            <a:endParaRPr lang="en-US" sz="1100" dirty="0"/>
          </a:p>
          <a:p>
            <a:pPr indent="0" marL="0">
              <a:lnSpc>
                <a:spcPts val="1782"/>
              </a:lnSpc>
              <a:buNone/>
            </a:pPr>
            <a:r>
              <a:rPr lang="en-US" sz="1100" dirty="0">
                <a:solidFill>
                  <a:srgbClr val="F8FAFC"/>
                </a:solidFill>
                <a:latin typeface="Courier New" pitchFamily="34" charset="0"/>
                <a:ea typeface="Courier New" pitchFamily="34" charset="-122"/>
                <a:cs typeface="Courier New" pitchFamily="34" charset="-120"/>
              </a:rPr>
              <a:t>}</a:t>
            </a:r>
            <a:endParaRPr lang="en-US" sz="1100" dirty="0"/>
          </a:p>
        </p:txBody>
      </p:sp>
      <p:sp>
        <p:nvSpPr>
          <p:cNvPr id="12" name="Shape 10"/>
          <p:cNvSpPr/>
          <p:nvPr/>
        </p:nvSpPr>
        <p:spPr>
          <a:xfrm>
            <a:off x="7269480" y="1993392"/>
            <a:ext cx="4645152" cy="1298448"/>
          </a:xfrm>
          <a:prstGeom prst="roundRect">
            <a:avLst>
              <a:gd name="adj" fmla="val 352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3" name="Shape 11"/>
          <p:cNvSpPr/>
          <p:nvPr/>
        </p:nvSpPr>
        <p:spPr>
          <a:xfrm>
            <a:off x="7507224" y="2231136"/>
            <a:ext cx="512064" cy="512064"/>
          </a:xfrm>
          <a:prstGeom prst="ellipse">
            <a:avLst/>
          </a:prstGeom>
          <a:solidFill>
            <a:srgbClr val="F4EDFB"/>
          </a:solidFill>
          <a:ln w="11430">
            <a:solidFill>
              <a:srgbClr val="7B42BC"/>
            </a:solidFill>
            <a:prstDash val="solid"/>
          </a:ln>
        </p:spPr>
      </p:sp>
      <p:pic>
        <p:nvPicPr>
          <p:cNvPr id="14" name="Image 0" descr="preencoded.png">    </p:cNvPr>
          <p:cNvPicPr>
            <a:picLocks noChangeAspect="1"/>
          </p:cNvPicPr>
          <p:nvPr/>
        </p:nvPicPr>
        <p:blipFill>
          <a:blip r:embed="rId1"/>
          <a:stretch>
            <a:fillRect/>
          </a:stretch>
        </p:blipFill>
        <p:spPr>
          <a:xfrm>
            <a:off x="7630668" y="2354580"/>
            <a:ext cx="265176" cy="265176"/>
          </a:xfrm>
          <a:prstGeom prst="rect">
            <a:avLst/>
          </a:prstGeom>
        </p:spPr>
      </p:pic>
      <p:sp>
        <p:nvSpPr>
          <p:cNvPr id="15" name="Text 12"/>
          <p:cNvSpPr/>
          <p:nvPr/>
        </p:nvSpPr>
        <p:spPr>
          <a:xfrm>
            <a:off x="7507224" y="2834640"/>
            <a:ext cx="416966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The root module</a:t>
            </a:r>
            <a:endParaRPr lang="en-US" sz="1350" dirty="0"/>
          </a:p>
        </p:txBody>
      </p:sp>
      <p:sp>
        <p:nvSpPr>
          <p:cNvPr id="16" name="Text 13"/>
          <p:cNvSpPr/>
          <p:nvPr/>
        </p:nvSpPr>
        <p:spPr>
          <a:xfrm>
            <a:off x="7507224" y="3182112"/>
            <a:ext cx="4169664" cy="-7315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The directory you run terraform in is already a module. You have been writing one all along.</a:t>
            </a:r>
            <a:endParaRPr lang="en-US" sz="1050" dirty="0"/>
          </a:p>
        </p:txBody>
      </p:sp>
      <p:sp>
        <p:nvSpPr>
          <p:cNvPr id="17" name="Shape 14"/>
          <p:cNvSpPr/>
          <p:nvPr/>
        </p:nvSpPr>
        <p:spPr>
          <a:xfrm>
            <a:off x="7269480" y="3383280"/>
            <a:ext cx="4645152" cy="1298448"/>
          </a:xfrm>
          <a:prstGeom prst="roundRect">
            <a:avLst>
              <a:gd name="adj" fmla="val 352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8" name="Shape 15"/>
          <p:cNvSpPr/>
          <p:nvPr/>
        </p:nvSpPr>
        <p:spPr>
          <a:xfrm>
            <a:off x="7507224" y="3621024"/>
            <a:ext cx="512064" cy="512064"/>
          </a:xfrm>
          <a:prstGeom prst="ellipse">
            <a:avLst/>
          </a:prstGeom>
          <a:solidFill>
            <a:srgbClr val="F4EDFB"/>
          </a:solidFill>
          <a:ln w="11430">
            <a:solidFill>
              <a:srgbClr val="7B42BC"/>
            </a:solidFill>
            <a:prstDash val="solid"/>
          </a:ln>
        </p:spPr>
      </p:sp>
      <p:pic>
        <p:nvPicPr>
          <p:cNvPr id="19" name="Image 1" descr="preencoded.png">    </p:cNvPr>
          <p:cNvPicPr>
            <a:picLocks noChangeAspect="1"/>
          </p:cNvPicPr>
          <p:nvPr/>
        </p:nvPicPr>
        <p:blipFill>
          <a:blip r:embed="rId2"/>
          <a:stretch>
            <a:fillRect/>
          </a:stretch>
        </p:blipFill>
        <p:spPr>
          <a:xfrm>
            <a:off x="7630668" y="3744468"/>
            <a:ext cx="265176" cy="265176"/>
          </a:xfrm>
          <a:prstGeom prst="rect">
            <a:avLst/>
          </a:prstGeom>
        </p:spPr>
      </p:pic>
      <p:sp>
        <p:nvSpPr>
          <p:cNvPr id="20" name="Text 16"/>
          <p:cNvSpPr/>
          <p:nvPr/>
        </p:nvSpPr>
        <p:spPr>
          <a:xfrm>
            <a:off x="7507224" y="4224528"/>
            <a:ext cx="416966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Local modules</a:t>
            </a:r>
            <a:endParaRPr lang="en-US" sz="1350" dirty="0"/>
          </a:p>
        </p:txBody>
      </p:sp>
      <p:sp>
        <p:nvSpPr>
          <p:cNvPr id="21" name="Text 17"/>
          <p:cNvSpPr/>
          <p:nvPr/>
        </p:nvSpPr>
        <p:spPr>
          <a:xfrm>
            <a:off x="7507224" y="4572000"/>
            <a:ext cx="4169664" cy="-7315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source = "./modules/network" — start here. Extract a module when you have copied the same block twice.</a:t>
            </a:r>
            <a:endParaRPr lang="en-US" sz="1050" dirty="0"/>
          </a:p>
        </p:txBody>
      </p:sp>
      <p:sp>
        <p:nvSpPr>
          <p:cNvPr id="22" name="Shape 18"/>
          <p:cNvSpPr/>
          <p:nvPr/>
        </p:nvSpPr>
        <p:spPr>
          <a:xfrm>
            <a:off x="7269480" y="4773168"/>
            <a:ext cx="4645152" cy="1298448"/>
          </a:xfrm>
          <a:prstGeom prst="roundRect">
            <a:avLst>
              <a:gd name="adj" fmla="val 3521"/>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3" name="Shape 19"/>
          <p:cNvSpPr/>
          <p:nvPr/>
        </p:nvSpPr>
        <p:spPr>
          <a:xfrm>
            <a:off x="7507224" y="5010912"/>
            <a:ext cx="512064" cy="512064"/>
          </a:xfrm>
          <a:prstGeom prst="ellipse">
            <a:avLst/>
          </a:prstGeom>
          <a:solidFill>
            <a:srgbClr val="F4EDFB"/>
          </a:solidFill>
          <a:ln w="11430">
            <a:solidFill>
              <a:srgbClr val="7B42BC"/>
            </a:solidFill>
            <a:prstDash val="solid"/>
          </a:ln>
        </p:spPr>
      </p:sp>
      <p:pic>
        <p:nvPicPr>
          <p:cNvPr id="24" name="Image 2" descr="preencoded.png">    </p:cNvPr>
          <p:cNvPicPr>
            <a:picLocks noChangeAspect="1"/>
          </p:cNvPicPr>
          <p:nvPr/>
        </p:nvPicPr>
        <p:blipFill>
          <a:blip r:embed="rId3"/>
          <a:stretch>
            <a:fillRect/>
          </a:stretch>
        </p:blipFill>
        <p:spPr>
          <a:xfrm>
            <a:off x="7630668" y="5134356"/>
            <a:ext cx="265176" cy="265176"/>
          </a:xfrm>
          <a:prstGeom prst="rect">
            <a:avLst/>
          </a:prstGeom>
        </p:spPr>
      </p:pic>
      <p:sp>
        <p:nvSpPr>
          <p:cNvPr id="25" name="Text 20"/>
          <p:cNvSpPr/>
          <p:nvPr/>
        </p:nvSpPr>
        <p:spPr>
          <a:xfrm>
            <a:off x="7507224" y="5614416"/>
            <a:ext cx="416966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The public registry</a:t>
            </a:r>
            <a:endParaRPr lang="en-US" sz="1350" dirty="0"/>
          </a:p>
        </p:txBody>
      </p:sp>
      <p:sp>
        <p:nvSpPr>
          <p:cNvPr id="26" name="Text 21"/>
          <p:cNvSpPr/>
          <p:nvPr/>
        </p:nvSpPr>
        <p:spPr>
          <a:xfrm>
            <a:off x="7507224" y="5961888"/>
            <a:ext cx="4169664" cy="-73152"/>
          </a:xfrm>
          <a:prstGeom prst="rect">
            <a:avLst/>
          </a:prstGeom>
          <a:noFill/>
          <a:ln/>
        </p:spPr>
        <p:txBody>
          <a:bodyPr wrap="square" lIns="0" tIns="0" rIns="0" bIns="0" rtlCol="0" anchor="t"/>
          <a:lstStyle/>
          <a:p>
            <a:pPr indent="0" marL="0">
              <a:lnSpc>
                <a:spcPts val="1470"/>
              </a:lnSpc>
              <a:buNone/>
            </a:pPr>
            <a:r>
              <a:rPr lang="en-US" sz="1050" dirty="0">
                <a:solidFill>
                  <a:srgbClr val="334155"/>
                </a:solidFill>
                <a:latin typeface="Calibri" pitchFamily="34" charset="0"/>
                <a:ea typeface="Calibri" pitchFamily="34" charset="-122"/>
                <a:cs typeface="Calibri" pitchFamily="34" charset="-120"/>
              </a:rPr>
              <a:t>The community VPC and EKS modules encode years of hard-won defaults. Read them before writing your own.</a:t>
            </a:r>
            <a:endParaRPr lang="en-US" sz="1050" dirty="0"/>
          </a:p>
        </p:txBody>
      </p:sp>
      <p:sp>
        <p:nvSpPr>
          <p:cNvPr id="27" name="Shape 22"/>
          <p:cNvSpPr/>
          <p:nvPr/>
        </p:nvSpPr>
        <p:spPr>
          <a:xfrm>
            <a:off x="566928" y="4828032"/>
            <a:ext cx="5394960" cy="1097280"/>
          </a:xfrm>
          <a:prstGeom prst="roundRect">
            <a:avLst>
              <a:gd name="adj" fmla="val 4167"/>
            </a:avLst>
          </a:prstGeom>
          <a:solidFill>
            <a:srgbClr val="FFF7ED"/>
          </a:solidFill>
          <a:ln w="12700">
            <a:solidFill>
              <a:srgbClr val="FED7AA"/>
            </a:solidFill>
            <a:prstDash val="solid"/>
          </a:ln>
        </p:spPr>
      </p:sp>
      <p:sp>
        <p:nvSpPr>
          <p:cNvPr id="28" name="Text 23"/>
          <p:cNvSpPr/>
          <p:nvPr/>
        </p:nvSpPr>
        <p:spPr>
          <a:xfrm>
            <a:off x="804672" y="4919472"/>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DON’T MODULARISE TOO EARLY</a:t>
            </a:r>
            <a:endParaRPr lang="en-US" sz="1000" dirty="0"/>
          </a:p>
        </p:txBody>
      </p:sp>
      <p:sp>
        <p:nvSpPr>
          <p:cNvPr id="29" name="Text 24"/>
          <p:cNvSpPr/>
          <p:nvPr/>
        </p:nvSpPr>
        <p:spPr>
          <a:xfrm>
            <a:off x="804672" y="5129784"/>
            <a:ext cx="4919472" cy="69494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A module written before you have two real callers is a guess about the future, and it usually guesses wrong. Duplication is cheaper than the wrong abstraction.</a:t>
            </a:r>
            <a:endParaRPr lang="en-US" sz="1300" dirty="0"/>
          </a:p>
        </p:txBody>
      </p:sp>
      <p:sp>
        <p:nvSpPr>
          <p:cNvPr id="30" name="Shape 25"/>
          <p:cNvSpPr/>
          <p:nvPr/>
        </p:nvSpPr>
        <p:spPr>
          <a:xfrm>
            <a:off x="6382512" y="4828032"/>
            <a:ext cx="5532120" cy="1097280"/>
          </a:xfrm>
          <a:prstGeom prst="roundRect">
            <a:avLst>
              <a:gd name="adj" fmla="val 4167"/>
            </a:avLst>
          </a:prstGeom>
          <a:solidFill>
            <a:srgbClr val="F0FDFA"/>
          </a:solidFill>
          <a:ln w="12700">
            <a:solidFill>
              <a:srgbClr val="99F6E4"/>
            </a:solidFill>
            <a:prstDash val="solid"/>
          </a:ln>
        </p:spPr>
      </p:sp>
      <p:sp>
        <p:nvSpPr>
          <p:cNvPr id="31" name="Text 26"/>
          <p:cNvSpPr/>
          <p:nvPr/>
        </p:nvSpPr>
        <p:spPr>
          <a:xfrm>
            <a:off x="6620256" y="4919472"/>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A GOOD MODULE HAS A JOB</a:t>
            </a:r>
            <a:endParaRPr lang="en-US" sz="1000" dirty="0"/>
          </a:p>
        </p:txBody>
      </p:sp>
      <p:sp>
        <p:nvSpPr>
          <p:cNvPr id="32" name="Text 27"/>
          <p:cNvSpPr/>
          <p:nvPr/>
        </p:nvSpPr>
        <p:spPr>
          <a:xfrm>
            <a:off x="6620256" y="5129784"/>
            <a:ext cx="5056632" cy="69494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“A VPC with public and private subnets across three AZs” is a module. “Our infrastructure” is not — that is a root configuration wearing a module’s clothes.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LAYOUT</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One config, many environments</a:t>
            </a:r>
            <a:endParaRPr lang="en-US" sz="3000" dirty="0"/>
          </a:p>
        </p:txBody>
      </p:sp>
      <p:sp>
        <p:nvSpPr>
          <p:cNvPr id="4" name="Shape 2"/>
          <p:cNvSpPr/>
          <p:nvPr/>
        </p:nvSpPr>
        <p:spPr>
          <a:xfrm>
            <a:off x="566928" y="1371600"/>
            <a:ext cx="5486400" cy="3108960"/>
          </a:xfrm>
          <a:prstGeom prst="roundRect">
            <a:avLst>
              <a:gd name="adj" fmla="val 1765"/>
            </a:avLst>
          </a:prstGeom>
          <a:solidFill>
            <a:srgbClr val="0F172A"/>
          </a:solidFill>
          <a:ln w="12700">
            <a:solidFill>
              <a:srgbClr val="334155"/>
            </a:solidFill>
            <a:prstDash val="solid"/>
          </a:ln>
        </p:spPr>
      </p:sp>
      <p:sp>
        <p:nvSpPr>
          <p:cNvPr id="5" name="Shape 3"/>
          <p:cNvSpPr/>
          <p:nvPr/>
        </p:nvSpPr>
        <p:spPr>
          <a:xfrm>
            <a:off x="566928" y="1371600"/>
            <a:ext cx="5486400" cy="292608"/>
          </a:xfrm>
          <a:prstGeom prst="rect">
            <a:avLst/>
          </a:prstGeom>
          <a:solidFill>
            <a:srgbClr val="1E293B"/>
          </a:solidFill>
          <a:ln w="12700">
            <a:solidFill>
              <a:srgbClr val="334155"/>
            </a:solidFill>
            <a:prstDash val="solid"/>
          </a:ln>
        </p:spPr>
      </p:sp>
      <p:sp>
        <p:nvSpPr>
          <p:cNvPr id="6" name="Shape 4"/>
          <p:cNvSpPr/>
          <p:nvPr/>
        </p:nvSpPr>
        <p:spPr>
          <a:xfrm>
            <a:off x="685800" y="1467612"/>
            <a:ext cx="100584" cy="100584"/>
          </a:xfrm>
          <a:prstGeom prst="ellipse">
            <a:avLst/>
          </a:prstGeom>
          <a:solidFill>
            <a:srgbClr val="F87171"/>
          </a:solidFill>
          <a:ln w="6350">
            <a:solidFill>
              <a:srgbClr val="F87171"/>
            </a:solidFill>
            <a:prstDash val="solid"/>
          </a:ln>
        </p:spPr>
      </p:sp>
      <p:sp>
        <p:nvSpPr>
          <p:cNvPr id="7" name="Shape 5"/>
          <p:cNvSpPr/>
          <p:nvPr/>
        </p:nvSpPr>
        <p:spPr>
          <a:xfrm>
            <a:off x="859536" y="1467612"/>
            <a:ext cx="100584" cy="100584"/>
          </a:xfrm>
          <a:prstGeom prst="ellipse">
            <a:avLst/>
          </a:prstGeom>
          <a:solidFill>
            <a:srgbClr val="FBBF24"/>
          </a:solidFill>
          <a:ln w="6350">
            <a:solidFill>
              <a:srgbClr val="FBBF24"/>
            </a:solidFill>
            <a:prstDash val="solid"/>
          </a:ln>
        </p:spPr>
      </p:sp>
      <p:sp>
        <p:nvSpPr>
          <p:cNvPr id="8" name="Shape 6"/>
          <p:cNvSpPr/>
          <p:nvPr/>
        </p:nvSpPr>
        <p:spPr>
          <a:xfrm>
            <a:off x="1033272" y="1467612"/>
            <a:ext cx="100584" cy="100584"/>
          </a:xfrm>
          <a:prstGeom prst="ellipse">
            <a:avLst/>
          </a:prstGeom>
          <a:solidFill>
            <a:srgbClr val="34D399"/>
          </a:solidFill>
          <a:ln w="6350">
            <a:solidFill>
              <a:srgbClr val="34D399"/>
            </a:solidFill>
            <a:prstDash val="solid"/>
          </a:ln>
        </p:spPr>
      </p:sp>
      <p:sp>
        <p:nvSpPr>
          <p:cNvPr id="9" name="Text 7"/>
          <p:cNvSpPr/>
          <p:nvPr/>
        </p:nvSpPr>
        <p:spPr>
          <a:xfrm>
            <a:off x="1225296" y="1389888"/>
            <a:ext cx="470916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directory per environment  (recommended)</a:t>
            </a:r>
            <a:endParaRPr lang="en-US" sz="950" dirty="0"/>
          </a:p>
        </p:txBody>
      </p:sp>
      <p:sp>
        <p:nvSpPr>
          <p:cNvPr id="10" name="Text 8"/>
          <p:cNvSpPr/>
          <p:nvPr/>
        </p:nvSpPr>
        <p:spPr>
          <a:xfrm>
            <a:off x="768096" y="1755648"/>
            <a:ext cx="5084064" cy="2578608"/>
          </a:xfrm>
          <a:prstGeom prst="rect">
            <a:avLst/>
          </a:prstGeom>
          <a:noFill/>
          <a:ln/>
        </p:spPr>
        <p:txBody>
          <a:bodyPr wrap="square" lIns="0" tIns="0" rIns="0" bIns="0" rtlCol="0" anchor="t"/>
          <a:lstStyle/>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infra/</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modules/</a:t>
            </a:r>
            <a:endParaRPr lang="en-US" sz="1050" dirty="0"/>
          </a:p>
          <a:p>
            <a:pPr indent="0" marL="0">
              <a:lnSpc>
                <a:spcPts val="1701"/>
              </a:lnSpc>
              <a:buNone/>
            </a:pPr>
            <a:r>
              <a:rPr lang="en-US" sz="1050" dirty="0">
                <a:solidFill>
                  <a:srgbClr val="DCC6F0"/>
                </a:solidFill>
                <a:latin typeface="Courier New" pitchFamily="34" charset="0"/>
                <a:ea typeface="Courier New" pitchFamily="34" charset="-122"/>
                <a:cs typeface="Courier New" pitchFamily="34" charset="-120"/>
              </a:rPr>
              <a:t>│   ├── network/</a:t>
            </a:r>
            <a:endParaRPr lang="en-US" sz="1050" dirty="0"/>
          </a:p>
          <a:p>
            <a:pPr indent="0" marL="0">
              <a:lnSpc>
                <a:spcPts val="1701"/>
              </a:lnSpc>
              <a:buNone/>
            </a:pPr>
            <a:r>
              <a:rPr lang="en-US" sz="1050" dirty="0">
                <a:solidFill>
                  <a:srgbClr val="DCC6F0"/>
                </a:solidFill>
                <a:latin typeface="Courier New" pitchFamily="34" charset="0"/>
                <a:ea typeface="Courier New" pitchFamily="34" charset="-122"/>
                <a:cs typeface="Courier New" pitchFamily="34" charset="-120"/>
              </a:rPr>
              <a:t>│   └── cluster/</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dev/</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 main.tf         # calls the modules</a:t>
            </a:r>
            <a:endParaRPr lang="en-US" sz="1050" dirty="0"/>
          </a:p>
          <a:p>
            <a:pPr indent="0" marL="0">
              <a:lnSpc>
                <a:spcPts val="1701"/>
              </a:lnSpc>
              <a:buNone/>
            </a:pPr>
            <a:r>
              <a:rPr lang="en-US" sz="1050" dirty="0">
                <a:solidFill>
                  <a:srgbClr val="34D399"/>
                </a:solidFill>
                <a:latin typeface="Courier New" pitchFamily="34" charset="0"/>
                <a:ea typeface="Courier New" pitchFamily="34" charset="-122"/>
                <a:cs typeface="Courier New" pitchFamily="34" charset="-120"/>
              </a:rPr>
              <a:t>│   ├── backend.tf      # key = dev/terraform.tfstate</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 terraform.tfvars</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prod/</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 main.tf</a:t>
            </a:r>
            <a:endParaRPr lang="en-US" sz="1050" dirty="0"/>
          </a:p>
          <a:p>
            <a:pPr indent="0" marL="0">
              <a:lnSpc>
                <a:spcPts val="1701"/>
              </a:lnSpc>
              <a:buNone/>
            </a:pPr>
            <a:r>
              <a:rPr lang="en-US" sz="1050" dirty="0">
                <a:solidFill>
                  <a:srgbClr val="34D399"/>
                </a:solidFill>
                <a:latin typeface="Courier New" pitchFamily="34" charset="0"/>
                <a:ea typeface="Courier New" pitchFamily="34" charset="-122"/>
                <a:cs typeface="Courier New" pitchFamily="34" charset="-120"/>
              </a:rPr>
              <a:t>    ├── backend.tf      # key = prod/terraform.tfstate</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 terraform.tfvars</a:t>
            </a:r>
            <a:endParaRPr lang="en-US" sz="1050" dirty="0"/>
          </a:p>
        </p:txBody>
      </p:sp>
      <p:sp>
        <p:nvSpPr>
          <p:cNvPr id="11" name="Shape 9"/>
          <p:cNvSpPr/>
          <p:nvPr/>
        </p:nvSpPr>
        <p:spPr>
          <a:xfrm>
            <a:off x="6263640" y="1371600"/>
            <a:ext cx="5650992" cy="1481328"/>
          </a:xfrm>
          <a:prstGeom prst="roundRect">
            <a:avLst>
              <a:gd name="adj" fmla="val 3086"/>
            </a:avLst>
          </a:prstGeom>
          <a:solidFill>
            <a:srgbClr val="FFFFFF"/>
          </a:solidFill>
          <a:ln w="12700">
            <a:solidFill>
              <a:srgbClr val="E2E8F0"/>
            </a:solidFill>
            <a:prstDash val="solid"/>
          </a:ln>
          <a:effectLst>
            <a:outerShdw sx="100000" sy="100000" kx="0" ky="0" algn="bl" rotWithShape="0" blurRad="101600" dist="12700" dir="5400000">
              <a:srgbClr val="94A3B8">
                <a:alpha val="18000"/>
              </a:srgbClr>
            </a:outerShdw>
          </a:effectLst>
        </p:spPr>
      </p:sp>
      <p:sp>
        <p:nvSpPr>
          <p:cNvPr id="12" name="Shape 10"/>
          <p:cNvSpPr/>
          <p:nvPr/>
        </p:nvSpPr>
        <p:spPr>
          <a:xfrm>
            <a:off x="6501384" y="1609344"/>
            <a:ext cx="566928" cy="566928"/>
          </a:xfrm>
          <a:prstGeom prst="ellipse">
            <a:avLst/>
          </a:prstGeom>
          <a:solidFill>
            <a:srgbClr val="F0FDFA"/>
          </a:solidFill>
          <a:ln w="11430">
            <a:solidFill>
              <a:srgbClr val="0D9488"/>
            </a:solidFill>
            <a:prstDash val="solid"/>
          </a:ln>
        </p:spPr>
      </p:sp>
      <p:pic>
        <p:nvPicPr>
          <p:cNvPr id="13" name="Image 0" descr="preencoded.png">    </p:cNvPr>
          <p:cNvPicPr>
            <a:picLocks noChangeAspect="1"/>
          </p:cNvPicPr>
          <p:nvPr/>
        </p:nvPicPr>
        <p:blipFill>
          <a:blip r:embed="rId1"/>
          <a:stretch>
            <a:fillRect/>
          </a:stretch>
        </p:blipFill>
        <p:spPr>
          <a:xfrm>
            <a:off x="6638544" y="1746504"/>
            <a:ext cx="292608" cy="292608"/>
          </a:xfrm>
          <a:prstGeom prst="rect">
            <a:avLst/>
          </a:prstGeom>
        </p:spPr>
      </p:pic>
      <p:sp>
        <p:nvSpPr>
          <p:cNvPr id="14" name="Text 11"/>
          <p:cNvSpPr/>
          <p:nvPr/>
        </p:nvSpPr>
        <p:spPr>
          <a:xfrm>
            <a:off x="7196328" y="1645920"/>
            <a:ext cx="4498848"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Separate directories, separate state</a:t>
            </a:r>
            <a:endParaRPr lang="en-US" sz="1450" dirty="0"/>
          </a:p>
        </p:txBody>
      </p:sp>
      <p:sp>
        <p:nvSpPr>
          <p:cNvPr id="15" name="Text 12"/>
          <p:cNvSpPr/>
          <p:nvPr/>
        </p:nvSpPr>
        <p:spPr>
          <a:xfrm>
            <a:off x="6519672" y="2286000"/>
            <a:ext cx="5138928" cy="384048"/>
          </a:xfrm>
          <a:prstGeom prst="rect">
            <a:avLst/>
          </a:prstGeom>
          <a:noFill/>
          <a:ln/>
        </p:spPr>
        <p:txBody>
          <a:bodyPr wrap="square" lIns="0" tIns="0" rIns="0" bIns="0" rtlCol="0" anchor="t"/>
          <a:lstStyle/>
          <a:p>
            <a:pPr indent="0" marL="0">
              <a:lnSpc>
                <a:spcPts val="1633"/>
              </a:lnSpc>
              <a:buNone/>
            </a:pPr>
            <a:r>
              <a:rPr lang="en-US" sz="1150" dirty="0">
                <a:solidFill>
                  <a:srgbClr val="334155"/>
                </a:solidFill>
                <a:latin typeface="Calibri" pitchFamily="34" charset="0"/>
                <a:ea typeface="Calibri" pitchFamily="34" charset="-122"/>
                <a:cs typeface="Calibri" pitchFamily="34" charset="-120"/>
              </a:rPr>
              <a:t>Prod has its own state file, its own backend key, and its own IAM credentials. A mistake in dev cannot reach it.</a:t>
            </a:r>
            <a:endParaRPr lang="en-US" sz="1150" dirty="0"/>
          </a:p>
        </p:txBody>
      </p:sp>
      <p:sp>
        <p:nvSpPr>
          <p:cNvPr id="16" name="Shape 13"/>
          <p:cNvSpPr/>
          <p:nvPr/>
        </p:nvSpPr>
        <p:spPr>
          <a:xfrm>
            <a:off x="6263640" y="2999232"/>
            <a:ext cx="5650992" cy="1481328"/>
          </a:xfrm>
          <a:prstGeom prst="roundRect">
            <a:avLst>
              <a:gd name="adj" fmla="val 3086"/>
            </a:avLst>
          </a:prstGeom>
          <a:solidFill>
            <a:srgbClr val="FFFFFF"/>
          </a:solidFill>
          <a:ln w="12700">
            <a:solidFill>
              <a:srgbClr val="E2E8F0"/>
            </a:solidFill>
            <a:prstDash val="solid"/>
          </a:ln>
          <a:effectLst>
            <a:outerShdw sx="100000" sy="100000" kx="0" ky="0" algn="bl" rotWithShape="0" blurRad="101600" dist="12700" dir="5400000">
              <a:srgbClr val="94A3B8">
                <a:alpha val="18000"/>
              </a:srgbClr>
            </a:outerShdw>
          </a:effectLst>
        </p:spPr>
      </p:sp>
      <p:sp>
        <p:nvSpPr>
          <p:cNvPr id="17" name="Shape 14"/>
          <p:cNvSpPr/>
          <p:nvPr/>
        </p:nvSpPr>
        <p:spPr>
          <a:xfrm>
            <a:off x="6501384" y="3236976"/>
            <a:ext cx="566928" cy="566928"/>
          </a:xfrm>
          <a:prstGeom prst="ellipse">
            <a:avLst/>
          </a:prstGeom>
          <a:solidFill>
            <a:srgbClr val="FFF7ED"/>
          </a:solidFill>
          <a:ln w="11430">
            <a:solidFill>
              <a:srgbClr val="F97316"/>
            </a:solidFill>
            <a:prstDash val="solid"/>
          </a:ln>
        </p:spPr>
      </p:sp>
      <p:pic>
        <p:nvPicPr>
          <p:cNvPr id="18" name="Image 1" descr="preencoded.png">    </p:cNvPr>
          <p:cNvPicPr>
            <a:picLocks noChangeAspect="1"/>
          </p:cNvPicPr>
          <p:nvPr/>
        </p:nvPicPr>
        <p:blipFill>
          <a:blip r:embed="rId2"/>
          <a:stretch>
            <a:fillRect/>
          </a:stretch>
        </p:blipFill>
        <p:spPr>
          <a:xfrm>
            <a:off x="6638544" y="3374136"/>
            <a:ext cx="292608" cy="292608"/>
          </a:xfrm>
          <a:prstGeom prst="rect">
            <a:avLst/>
          </a:prstGeom>
        </p:spPr>
      </p:pic>
      <p:sp>
        <p:nvSpPr>
          <p:cNvPr id="19" name="Text 15"/>
          <p:cNvSpPr/>
          <p:nvPr/>
        </p:nvSpPr>
        <p:spPr>
          <a:xfrm>
            <a:off x="7196328" y="3273552"/>
            <a:ext cx="4498848" cy="347472"/>
          </a:xfrm>
          <a:prstGeom prst="rect">
            <a:avLst/>
          </a:prstGeom>
          <a:noFill/>
          <a:ln/>
        </p:spPr>
        <p:txBody>
          <a:bodyPr wrap="square" lIns="0" tIns="0" rIns="0" bIns="0" rtlCol="0" anchor="ctr"/>
          <a:lstStyle/>
          <a:p>
            <a:pPr indent="0" marL="0">
              <a:buNone/>
            </a:pPr>
            <a:r>
              <a:rPr lang="en-US" sz="1450" b="1" dirty="0">
                <a:solidFill>
                  <a:srgbClr val="0F172A"/>
                </a:solidFill>
                <a:latin typeface="Calibri" pitchFamily="34" charset="0"/>
                <a:ea typeface="Calibri" pitchFamily="34" charset="-122"/>
                <a:cs typeface="Calibri" pitchFamily="34" charset="-120"/>
              </a:rPr>
              <a:t>Workspaces: use with care</a:t>
            </a:r>
            <a:endParaRPr lang="en-US" sz="1450" dirty="0"/>
          </a:p>
        </p:txBody>
      </p:sp>
      <p:sp>
        <p:nvSpPr>
          <p:cNvPr id="20" name="Text 16"/>
          <p:cNvSpPr/>
          <p:nvPr/>
        </p:nvSpPr>
        <p:spPr>
          <a:xfrm>
            <a:off x="6519672" y="3913632"/>
            <a:ext cx="5138928" cy="384048"/>
          </a:xfrm>
          <a:prstGeom prst="rect">
            <a:avLst/>
          </a:prstGeom>
          <a:noFill/>
          <a:ln/>
        </p:spPr>
        <p:txBody>
          <a:bodyPr wrap="square" lIns="0" tIns="0" rIns="0" bIns="0" rtlCol="0" anchor="t"/>
          <a:lstStyle/>
          <a:p>
            <a:pPr indent="0" marL="0">
              <a:lnSpc>
                <a:spcPts val="1633"/>
              </a:lnSpc>
              <a:buNone/>
            </a:pPr>
            <a:r>
              <a:rPr lang="en-US" sz="1150" dirty="0">
                <a:solidFill>
                  <a:srgbClr val="334155"/>
                </a:solidFill>
                <a:latin typeface="Calibri" pitchFamily="34" charset="0"/>
                <a:ea typeface="Calibri" pitchFamily="34" charset="-122"/>
                <a:cs typeface="Calibri" pitchFamily="34" charset="-120"/>
              </a:rPr>
              <a:t>terraform workspace gives one config several states. Fine for short-lived feature stacks; a poor fit for dev-vs-prod, because one wrong command applies prod config from your laptop.</a:t>
            </a:r>
            <a:endParaRPr lang="en-US" sz="1150" dirty="0"/>
          </a:p>
        </p:txBody>
      </p:sp>
      <p:sp>
        <p:nvSpPr>
          <p:cNvPr id="21" name="Shape 17"/>
          <p:cNvSpPr/>
          <p:nvPr/>
        </p:nvSpPr>
        <p:spPr>
          <a:xfrm>
            <a:off x="566928" y="4709160"/>
            <a:ext cx="11073384" cy="1188720"/>
          </a:xfrm>
          <a:prstGeom prst="roundRect">
            <a:avLst>
              <a:gd name="adj" fmla="val 3846"/>
            </a:avLst>
          </a:prstGeom>
          <a:solidFill>
            <a:srgbClr val="F0FDFA"/>
          </a:solidFill>
          <a:ln w="12700">
            <a:solidFill>
              <a:srgbClr val="99F6E4"/>
            </a:solidFill>
            <a:prstDash val="solid"/>
          </a:ln>
        </p:spPr>
      </p:sp>
      <p:sp>
        <p:nvSpPr>
          <p:cNvPr id="22" name="Text 18"/>
          <p:cNvSpPr/>
          <p:nvPr/>
        </p:nvSpPr>
        <p:spPr>
          <a:xfrm>
            <a:off x="804672" y="4800600"/>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THE RULE THAT MATTERS MORE THAN THE LAYOUT</a:t>
            </a:r>
            <a:endParaRPr lang="en-US" sz="1000" dirty="0"/>
          </a:p>
        </p:txBody>
      </p:sp>
      <p:sp>
        <p:nvSpPr>
          <p:cNvPr id="23" name="Text 19"/>
          <p:cNvSpPr/>
          <p:nvPr/>
        </p:nvSpPr>
        <p:spPr>
          <a:xfrm>
            <a:off x="804672" y="5010912"/>
            <a:ext cx="10597896" cy="78638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Blast radius. Split state along the lines you want failures to stop at — by environment first, then by lifecycle. Networking that changes twice a year does not belong in the same state file as an application that ships twice a day.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326CE5"/>
                </a:solidFill>
                <a:latin typeface="Calibri" pitchFamily="34" charset="0"/>
                <a:ea typeface="Calibri" pitchFamily="34" charset="-122"/>
                <a:cs typeface="Calibri" pitchFamily="34" charset="-120"/>
              </a:rPr>
              <a:t>TWO PROVIDERS, ONE APPLY</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Terraform meets Kubernetes</a:t>
            </a:r>
            <a:endParaRPr lang="en-US" sz="3000" dirty="0"/>
          </a:p>
        </p:txBody>
      </p:sp>
      <p:sp>
        <p:nvSpPr>
          <p:cNvPr id="4" name="Text 2"/>
          <p:cNvSpPr/>
          <p:nvPr/>
        </p:nvSpPr>
        <p:spPr>
          <a:xfrm>
            <a:off x="566928" y="1335024"/>
            <a:ext cx="11073384" cy="530352"/>
          </a:xfrm>
          <a:prstGeom prst="rect">
            <a:avLst/>
          </a:prstGeom>
          <a:noFill/>
          <a:ln/>
        </p:spPr>
        <p:txBody>
          <a:bodyPr wrap="square" lIns="0" tIns="0" rIns="0" bIns="0" rtlCol="0" anchor="ctr"/>
          <a:lstStyle/>
          <a:p>
            <a:pPr indent="0" marL="0">
              <a:lnSpc>
                <a:spcPts val="1900"/>
              </a:lnSpc>
              <a:buNone/>
            </a:pPr>
            <a:r>
              <a:rPr lang="en-US" sz="1350" dirty="0">
                <a:solidFill>
                  <a:srgbClr val="334155"/>
                </a:solidFill>
                <a:latin typeface="Calibri" pitchFamily="34" charset="0"/>
                <a:ea typeface="Calibri" pitchFamily="34" charset="-122"/>
                <a:cs typeface="Calibri" pitchFamily="34" charset="-120"/>
              </a:rPr>
              <a:t>The aws provider builds the cluster. The kubernetes provider deploys into it. Both in the same configuration — which creates a subtle ordering problem.</a:t>
            </a:r>
            <a:endParaRPr lang="en-US" sz="1350" dirty="0"/>
          </a:p>
        </p:txBody>
      </p:sp>
      <p:sp>
        <p:nvSpPr>
          <p:cNvPr id="5" name="Shape 3"/>
          <p:cNvSpPr/>
          <p:nvPr/>
        </p:nvSpPr>
        <p:spPr>
          <a:xfrm>
            <a:off x="566928" y="1956816"/>
            <a:ext cx="6492240" cy="2468880"/>
          </a:xfrm>
          <a:prstGeom prst="roundRect">
            <a:avLst>
              <a:gd name="adj" fmla="val 2222"/>
            </a:avLst>
          </a:prstGeom>
          <a:solidFill>
            <a:srgbClr val="0F172A"/>
          </a:solidFill>
          <a:ln w="12700">
            <a:solidFill>
              <a:srgbClr val="334155"/>
            </a:solidFill>
            <a:prstDash val="solid"/>
          </a:ln>
        </p:spPr>
      </p:sp>
      <p:sp>
        <p:nvSpPr>
          <p:cNvPr id="6" name="Shape 4"/>
          <p:cNvSpPr/>
          <p:nvPr/>
        </p:nvSpPr>
        <p:spPr>
          <a:xfrm>
            <a:off x="566928" y="1956816"/>
            <a:ext cx="6492240" cy="292608"/>
          </a:xfrm>
          <a:prstGeom prst="rect">
            <a:avLst/>
          </a:prstGeom>
          <a:solidFill>
            <a:srgbClr val="1E293B"/>
          </a:solidFill>
          <a:ln w="12700">
            <a:solidFill>
              <a:srgbClr val="334155"/>
            </a:solidFill>
            <a:prstDash val="solid"/>
          </a:ln>
        </p:spPr>
      </p:sp>
      <p:sp>
        <p:nvSpPr>
          <p:cNvPr id="7" name="Shape 5"/>
          <p:cNvSpPr/>
          <p:nvPr/>
        </p:nvSpPr>
        <p:spPr>
          <a:xfrm>
            <a:off x="685800" y="2052828"/>
            <a:ext cx="100584" cy="100584"/>
          </a:xfrm>
          <a:prstGeom prst="ellipse">
            <a:avLst/>
          </a:prstGeom>
          <a:solidFill>
            <a:srgbClr val="F87171"/>
          </a:solidFill>
          <a:ln w="6350">
            <a:solidFill>
              <a:srgbClr val="F87171"/>
            </a:solidFill>
            <a:prstDash val="solid"/>
          </a:ln>
        </p:spPr>
      </p:sp>
      <p:sp>
        <p:nvSpPr>
          <p:cNvPr id="8" name="Shape 6"/>
          <p:cNvSpPr/>
          <p:nvPr/>
        </p:nvSpPr>
        <p:spPr>
          <a:xfrm>
            <a:off x="859536" y="2052828"/>
            <a:ext cx="100584" cy="100584"/>
          </a:xfrm>
          <a:prstGeom prst="ellipse">
            <a:avLst/>
          </a:prstGeom>
          <a:solidFill>
            <a:srgbClr val="FBBF24"/>
          </a:solidFill>
          <a:ln w="6350">
            <a:solidFill>
              <a:srgbClr val="FBBF24"/>
            </a:solidFill>
            <a:prstDash val="solid"/>
          </a:ln>
        </p:spPr>
      </p:sp>
      <p:sp>
        <p:nvSpPr>
          <p:cNvPr id="9" name="Shape 7"/>
          <p:cNvSpPr/>
          <p:nvPr/>
        </p:nvSpPr>
        <p:spPr>
          <a:xfrm>
            <a:off x="1033272" y="2052828"/>
            <a:ext cx="100584" cy="100584"/>
          </a:xfrm>
          <a:prstGeom prst="ellipse">
            <a:avLst/>
          </a:prstGeom>
          <a:solidFill>
            <a:srgbClr val="34D399"/>
          </a:solidFill>
          <a:ln w="6350">
            <a:solidFill>
              <a:srgbClr val="34D399"/>
            </a:solidFill>
            <a:prstDash val="solid"/>
          </a:ln>
        </p:spPr>
      </p:sp>
      <p:sp>
        <p:nvSpPr>
          <p:cNvPr id="10" name="Text 8"/>
          <p:cNvSpPr/>
          <p:nvPr/>
        </p:nvSpPr>
        <p:spPr>
          <a:xfrm>
            <a:off x="1225296" y="1975104"/>
            <a:ext cx="571500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wiring one provider to another’s output</a:t>
            </a:r>
            <a:endParaRPr lang="en-US" sz="950" dirty="0"/>
          </a:p>
        </p:txBody>
      </p:sp>
      <p:sp>
        <p:nvSpPr>
          <p:cNvPr id="11" name="Text 9"/>
          <p:cNvSpPr/>
          <p:nvPr/>
        </p:nvSpPr>
        <p:spPr>
          <a:xfrm>
            <a:off x="768096" y="2340864"/>
            <a:ext cx="6089904" cy="1938528"/>
          </a:xfrm>
          <a:prstGeom prst="rect">
            <a:avLst/>
          </a:prstGeom>
          <a:noFill/>
          <a:ln/>
        </p:spPr>
        <p:txBody>
          <a:bodyPr wrap="square" lIns="0" tIns="0" rIns="0" bIns="0" rtlCol="0" anchor="t"/>
          <a:lstStyle/>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provider "kubernetes" {</a:t>
            </a:r>
            <a:endParaRPr lang="en-US" sz="1050" dirty="0"/>
          </a:p>
          <a:p>
            <a:pPr indent="0" marL="0">
              <a:lnSpc>
                <a:spcPts val="1701"/>
              </a:lnSpc>
              <a:buNone/>
            </a:pPr>
            <a:r>
              <a:rPr lang="en-US" sz="1050" dirty="0">
                <a:solidFill>
                  <a:srgbClr val="38BDF8"/>
                </a:solidFill>
                <a:latin typeface="Courier New" pitchFamily="34" charset="0"/>
                <a:ea typeface="Courier New" pitchFamily="34" charset="-122"/>
                <a:cs typeface="Courier New" pitchFamily="34" charset="-120"/>
              </a:rPr>
              <a:t>  host = aws_eks_cluster.main.endpoint</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cluster_ca_certificate = base64decode(</a:t>
            </a:r>
            <a:endParaRPr lang="en-US" sz="1050" dirty="0"/>
          </a:p>
          <a:p>
            <a:pPr indent="0" marL="0">
              <a:lnSpc>
                <a:spcPts val="1701"/>
              </a:lnSpc>
              <a:buNone/>
            </a:pPr>
            <a:r>
              <a:rPr lang="en-US" sz="1050" dirty="0">
                <a:solidFill>
                  <a:srgbClr val="38BDF8"/>
                </a:solidFill>
                <a:latin typeface="Courier New" pitchFamily="34" charset="0"/>
                <a:ea typeface="Courier New" pitchFamily="34" charset="-122"/>
                <a:cs typeface="Courier New" pitchFamily="34" charset="-120"/>
              </a:rPr>
              <a:t>    aws_eks_cluster.main.certificate_authority[0].data)</a:t>
            </a:r>
            <a:endParaRPr lang="en-US" sz="1050" dirty="0"/>
          </a:p>
          <a:p>
            <a:pPr indent="0" marL="0">
              <a:lnSpc>
                <a:spcPts val="1701"/>
              </a:lnSpc>
              <a:buNone/>
            </a:pPr>
            <a:endParaRPr lang="en-US" sz="1050" dirty="0"/>
          </a:p>
          <a:p>
            <a:pPr indent="0" marL="0">
              <a:lnSpc>
                <a:spcPts val="1701"/>
              </a:lnSpc>
              <a:buNone/>
            </a:pPr>
            <a:r>
              <a:rPr lang="en-US" sz="1050" dirty="0">
                <a:solidFill>
                  <a:srgbClr val="94A3B8"/>
                </a:solidFill>
                <a:latin typeface="Courier New" pitchFamily="34" charset="0"/>
                <a:ea typeface="Courier New" pitchFamily="34" charset="-122"/>
                <a:cs typeface="Courier New" pitchFamily="34" charset="-120"/>
              </a:rPr>
              <a:t>  exec {                      # short-lived token</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api_version = "client.authentication.k8s.io/v1beta1"</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command     = "aws"</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args = ["eks", "get-token", "--cluster-name",</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aws_eks_cluster.main.name]</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a:t>
            </a:r>
            <a:endParaRPr lang="en-US" sz="1050" dirty="0"/>
          </a:p>
        </p:txBody>
      </p:sp>
      <p:sp>
        <p:nvSpPr>
          <p:cNvPr id="12" name="Shape 10"/>
          <p:cNvSpPr/>
          <p:nvPr/>
        </p:nvSpPr>
        <p:spPr>
          <a:xfrm>
            <a:off x="7269480" y="1956816"/>
            <a:ext cx="4645152" cy="1508760"/>
          </a:xfrm>
          <a:prstGeom prst="roundRect">
            <a:avLst>
              <a:gd name="adj" fmla="val 3030"/>
            </a:avLst>
          </a:prstGeom>
          <a:solidFill>
            <a:srgbClr val="FFF7ED"/>
          </a:solidFill>
          <a:ln w="12700">
            <a:solidFill>
              <a:srgbClr val="FED7AA"/>
            </a:solidFill>
            <a:prstDash val="solid"/>
          </a:ln>
        </p:spPr>
      </p:sp>
      <p:sp>
        <p:nvSpPr>
          <p:cNvPr id="13" name="Text 11"/>
          <p:cNvSpPr/>
          <p:nvPr/>
        </p:nvSpPr>
        <p:spPr>
          <a:xfrm>
            <a:off x="7507224" y="2048256"/>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THE CHICKEN AND EGG</a:t>
            </a:r>
            <a:endParaRPr lang="en-US" sz="1000" dirty="0"/>
          </a:p>
        </p:txBody>
      </p:sp>
      <p:sp>
        <p:nvSpPr>
          <p:cNvPr id="14" name="Text 12"/>
          <p:cNvSpPr/>
          <p:nvPr/>
        </p:nvSpPr>
        <p:spPr>
          <a:xfrm>
            <a:off x="7507224" y="2258568"/>
            <a:ext cx="4169664" cy="11064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Provider configuration is evaluated early. If the cluster does not exist yet, there is no endpoint to point at — and the error message will not say so clearly.</a:t>
            </a:r>
            <a:endParaRPr lang="en-US" sz="1300" dirty="0"/>
          </a:p>
        </p:txBody>
      </p:sp>
      <p:sp>
        <p:nvSpPr>
          <p:cNvPr id="15" name="Shape 13"/>
          <p:cNvSpPr/>
          <p:nvPr/>
        </p:nvSpPr>
        <p:spPr>
          <a:xfrm>
            <a:off x="7269480" y="3602736"/>
            <a:ext cx="4645152" cy="822960"/>
          </a:xfrm>
          <a:prstGeom prst="roundRect">
            <a:avLst>
              <a:gd name="adj" fmla="val 5556"/>
            </a:avLst>
          </a:prstGeom>
          <a:solidFill>
            <a:srgbClr val="F0FDFA"/>
          </a:solidFill>
          <a:ln w="12700">
            <a:solidFill>
              <a:srgbClr val="99F6E4"/>
            </a:solidFill>
            <a:prstDash val="solid"/>
          </a:ln>
        </p:spPr>
      </p:sp>
      <p:sp>
        <p:nvSpPr>
          <p:cNvPr id="16" name="Text 14"/>
          <p:cNvSpPr/>
          <p:nvPr/>
        </p:nvSpPr>
        <p:spPr>
          <a:xfrm>
            <a:off x="7507224" y="3694176"/>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THE FIX</a:t>
            </a:r>
            <a:endParaRPr lang="en-US" sz="1000" dirty="0"/>
          </a:p>
        </p:txBody>
      </p:sp>
      <p:sp>
        <p:nvSpPr>
          <p:cNvPr id="17" name="Text 15"/>
          <p:cNvSpPr/>
          <p:nvPr/>
        </p:nvSpPr>
        <p:spPr>
          <a:xfrm>
            <a:off x="7507224" y="3904488"/>
            <a:ext cx="4169664" cy="4206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Split it: apply the cluster, then apply the workloads from a second configuration.</a:t>
            </a:r>
            <a:endParaRPr lang="en-US" sz="1300" dirty="0"/>
          </a:p>
        </p:txBody>
      </p:sp>
      <p:sp>
        <p:nvSpPr>
          <p:cNvPr id="18" name="Shape 16"/>
          <p:cNvSpPr/>
          <p:nvPr/>
        </p:nvSpPr>
        <p:spPr>
          <a:xfrm>
            <a:off x="566928" y="4626864"/>
            <a:ext cx="11073384" cy="1280160"/>
          </a:xfrm>
          <a:prstGeom prst="roundRect">
            <a:avLst>
              <a:gd name="adj" fmla="val 3571"/>
            </a:avLst>
          </a:prstGeom>
          <a:solidFill>
            <a:srgbClr val="FFFFFF"/>
          </a:solidFill>
          <a:ln w="12700">
            <a:solidFill>
              <a:srgbClr val="E2E8F0"/>
            </a:solidFill>
            <a:prstDash val="solid"/>
          </a:ln>
        </p:spPr>
      </p:sp>
      <p:sp>
        <p:nvSpPr>
          <p:cNvPr id="19" name="Text 17"/>
          <p:cNvSpPr/>
          <p:nvPr/>
        </p:nvSpPr>
        <p:spPr>
          <a:xfrm>
            <a:off x="841248" y="4754880"/>
            <a:ext cx="10515600"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Should you deploy applications with Terraform at all?</a:t>
            </a:r>
            <a:endParaRPr lang="en-US" sz="1400" dirty="0"/>
          </a:p>
        </p:txBody>
      </p:sp>
      <p:sp>
        <p:nvSpPr>
          <p:cNvPr id="20" name="Text 18"/>
          <p:cNvSpPr/>
          <p:nvPr/>
        </p:nvSpPr>
        <p:spPr>
          <a:xfrm>
            <a:off x="841248" y="5084064"/>
            <a:ext cx="10515600" cy="749808"/>
          </a:xfrm>
          <a:prstGeom prst="rect">
            <a:avLst/>
          </a:prstGeom>
          <a:noFill/>
          <a:ln/>
        </p:spPr>
        <p:txBody>
          <a:bodyPr wrap="square" lIns="0" tIns="0" rIns="0" bIns="0" rtlCol="0" anchor="ctr"/>
          <a:lstStyle/>
          <a:p>
            <a:pPr indent="0" marL="0">
              <a:lnSpc>
                <a:spcPts val="1700"/>
              </a:lnSpc>
              <a:buNone/>
            </a:pPr>
            <a:r>
              <a:rPr lang="en-US" sz="1200" dirty="0">
                <a:solidFill>
                  <a:srgbClr val="334155"/>
                </a:solidFill>
                <a:latin typeface="Calibri" pitchFamily="34" charset="0"/>
                <a:ea typeface="Calibri" pitchFamily="34" charset="-122"/>
                <a:cs typeface="Calibri" pitchFamily="34" charset="-120"/>
              </a:rPr>
              <a:t>For cluster-level plumbing that must exist before anything else — namespaces, the ingress controller, cluster roles — yes. For your actual application, usually no: Helm and a GitOps controller like Argo CD deploy far more often than infrastructure changes, and they reconcile continuously. Draw the line at “things the cluster needs” versus “things that run on the cluster.”</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WHERE IT ACTUALLY RUNS IN A REAL TEAM</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Terraform in a pipeline</a:t>
            </a:r>
            <a:endParaRPr lang="en-US" sz="3000" dirty="0"/>
          </a:p>
        </p:txBody>
      </p:sp>
      <p:sp>
        <p:nvSpPr>
          <p:cNvPr id="4" name="Shape 2"/>
          <p:cNvSpPr/>
          <p:nvPr/>
        </p:nvSpPr>
        <p:spPr>
          <a:xfrm>
            <a:off x="566928" y="1463040"/>
            <a:ext cx="2084832"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5000"/>
              </a:srgbClr>
            </a:outerShdw>
          </a:effectLst>
        </p:spPr>
      </p:sp>
      <p:sp>
        <p:nvSpPr>
          <p:cNvPr id="5" name="Shape 3"/>
          <p:cNvSpPr/>
          <p:nvPr/>
        </p:nvSpPr>
        <p:spPr>
          <a:xfrm>
            <a:off x="786384" y="1664208"/>
            <a:ext cx="475488" cy="475488"/>
          </a:xfrm>
          <a:prstGeom prst="ellipse">
            <a:avLst/>
          </a:prstGeom>
          <a:solidFill>
            <a:srgbClr val="0D9488"/>
          </a:solidFill>
          <a:ln w="12700">
            <a:solidFill>
              <a:srgbClr val="0D9488"/>
            </a:solidFill>
            <a:prstDash val="solid"/>
          </a:ln>
        </p:spPr>
      </p:sp>
      <p:sp>
        <p:nvSpPr>
          <p:cNvPr id="6" name="Text 4"/>
          <p:cNvSpPr/>
          <p:nvPr/>
        </p:nvSpPr>
        <p:spPr>
          <a:xfrm>
            <a:off x="786384"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1</a:t>
            </a:r>
            <a:endParaRPr lang="en-US" sz="1700" dirty="0"/>
          </a:p>
        </p:txBody>
      </p:sp>
      <p:sp>
        <p:nvSpPr>
          <p:cNvPr id="7" name="Text 5"/>
          <p:cNvSpPr/>
          <p:nvPr/>
        </p:nvSpPr>
        <p:spPr>
          <a:xfrm>
            <a:off x="786384" y="2231136"/>
            <a:ext cx="164592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Open a PR</a:t>
            </a:r>
            <a:endParaRPr lang="en-US" sz="1300" dirty="0"/>
          </a:p>
        </p:txBody>
      </p:sp>
      <p:sp>
        <p:nvSpPr>
          <p:cNvPr id="8" name="Text 6"/>
          <p:cNvSpPr/>
          <p:nvPr/>
        </p:nvSpPr>
        <p:spPr>
          <a:xfrm>
            <a:off x="786384" y="2542032"/>
            <a:ext cx="1645920" cy="548640"/>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Config change lands on a branch.</a:t>
            </a:r>
            <a:endParaRPr lang="en-US" sz="1050" dirty="0"/>
          </a:p>
        </p:txBody>
      </p:sp>
      <p:sp>
        <p:nvSpPr>
          <p:cNvPr id="9" name="Shape 7"/>
          <p:cNvSpPr/>
          <p:nvPr/>
        </p:nvSpPr>
        <p:spPr>
          <a:xfrm>
            <a:off x="2660904" y="1847088"/>
            <a:ext cx="155448" cy="182880"/>
          </a:xfrm>
          <a:prstGeom prst="rightArrow">
            <a:avLst/>
          </a:prstGeom>
          <a:solidFill>
            <a:srgbClr val="94A3B8"/>
          </a:solidFill>
          <a:ln w="12700">
            <a:solidFill>
              <a:srgbClr val="94A3B8"/>
            </a:solidFill>
            <a:prstDash val="solid"/>
          </a:ln>
        </p:spPr>
      </p:sp>
      <p:sp>
        <p:nvSpPr>
          <p:cNvPr id="10" name="Shape 8"/>
          <p:cNvSpPr/>
          <p:nvPr/>
        </p:nvSpPr>
        <p:spPr>
          <a:xfrm>
            <a:off x="2825496" y="1463040"/>
            <a:ext cx="2084832"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5000"/>
              </a:srgbClr>
            </a:outerShdw>
          </a:effectLst>
        </p:spPr>
      </p:sp>
      <p:sp>
        <p:nvSpPr>
          <p:cNvPr id="11" name="Shape 9"/>
          <p:cNvSpPr/>
          <p:nvPr/>
        </p:nvSpPr>
        <p:spPr>
          <a:xfrm>
            <a:off x="3044952" y="1664208"/>
            <a:ext cx="475488" cy="475488"/>
          </a:xfrm>
          <a:prstGeom prst="ellipse">
            <a:avLst/>
          </a:prstGeom>
          <a:solidFill>
            <a:srgbClr val="0D9488"/>
          </a:solidFill>
          <a:ln w="12700">
            <a:solidFill>
              <a:srgbClr val="0D9488"/>
            </a:solidFill>
            <a:prstDash val="solid"/>
          </a:ln>
        </p:spPr>
      </p:sp>
      <p:sp>
        <p:nvSpPr>
          <p:cNvPr id="12" name="Text 10"/>
          <p:cNvSpPr/>
          <p:nvPr/>
        </p:nvSpPr>
        <p:spPr>
          <a:xfrm>
            <a:off x="3044952"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2</a:t>
            </a:r>
            <a:endParaRPr lang="en-US" sz="1700" dirty="0"/>
          </a:p>
        </p:txBody>
      </p:sp>
      <p:sp>
        <p:nvSpPr>
          <p:cNvPr id="13" name="Text 11"/>
          <p:cNvSpPr/>
          <p:nvPr/>
        </p:nvSpPr>
        <p:spPr>
          <a:xfrm>
            <a:off x="3044952" y="2231136"/>
            <a:ext cx="164592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fmt + validate</a:t>
            </a:r>
            <a:endParaRPr lang="en-US" sz="1300" dirty="0"/>
          </a:p>
        </p:txBody>
      </p:sp>
      <p:sp>
        <p:nvSpPr>
          <p:cNvPr id="14" name="Text 12"/>
          <p:cNvSpPr/>
          <p:nvPr/>
        </p:nvSpPr>
        <p:spPr>
          <a:xfrm>
            <a:off x="3044952" y="2542032"/>
            <a:ext cx="1645920" cy="548640"/>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Fast checks. No credentials needed.</a:t>
            </a:r>
            <a:endParaRPr lang="en-US" sz="1050" dirty="0"/>
          </a:p>
        </p:txBody>
      </p:sp>
      <p:sp>
        <p:nvSpPr>
          <p:cNvPr id="15" name="Shape 13"/>
          <p:cNvSpPr/>
          <p:nvPr/>
        </p:nvSpPr>
        <p:spPr>
          <a:xfrm>
            <a:off x="4919472" y="1847088"/>
            <a:ext cx="155448" cy="182880"/>
          </a:xfrm>
          <a:prstGeom prst="rightArrow">
            <a:avLst/>
          </a:prstGeom>
          <a:solidFill>
            <a:srgbClr val="94A3B8"/>
          </a:solidFill>
          <a:ln w="12700">
            <a:solidFill>
              <a:srgbClr val="94A3B8"/>
            </a:solidFill>
            <a:prstDash val="solid"/>
          </a:ln>
        </p:spPr>
      </p:sp>
      <p:sp>
        <p:nvSpPr>
          <p:cNvPr id="16" name="Shape 14"/>
          <p:cNvSpPr/>
          <p:nvPr/>
        </p:nvSpPr>
        <p:spPr>
          <a:xfrm>
            <a:off x="5084064" y="1463040"/>
            <a:ext cx="2084832"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5000"/>
              </a:srgbClr>
            </a:outerShdw>
          </a:effectLst>
        </p:spPr>
      </p:sp>
      <p:sp>
        <p:nvSpPr>
          <p:cNvPr id="17" name="Shape 15"/>
          <p:cNvSpPr/>
          <p:nvPr/>
        </p:nvSpPr>
        <p:spPr>
          <a:xfrm>
            <a:off x="5303520" y="1664208"/>
            <a:ext cx="475488" cy="475488"/>
          </a:xfrm>
          <a:prstGeom prst="ellipse">
            <a:avLst/>
          </a:prstGeom>
          <a:solidFill>
            <a:srgbClr val="0D9488"/>
          </a:solidFill>
          <a:ln w="12700">
            <a:solidFill>
              <a:srgbClr val="0D9488"/>
            </a:solidFill>
            <a:prstDash val="solid"/>
          </a:ln>
        </p:spPr>
      </p:sp>
      <p:sp>
        <p:nvSpPr>
          <p:cNvPr id="18" name="Text 16"/>
          <p:cNvSpPr/>
          <p:nvPr/>
        </p:nvSpPr>
        <p:spPr>
          <a:xfrm>
            <a:off x="5303520"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3</a:t>
            </a:r>
            <a:endParaRPr lang="en-US" sz="1700" dirty="0"/>
          </a:p>
        </p:txBody>
      </p:sp>
      <p:sp>
        <p:nvSpPr>
          <p:cNvPr id="19" name="Text 17"/>
          <p:cNvSpPr/>
          <p:nvPr/>
        </p:nvSpPr>
        <p:spPr>
          <a:xfrm>
            <a:off x="5303520" y="2231136"/>
            <a:ext cx="164592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plan</a:t>
            </a:r>
            <a:endParaRPr lang="en-US" sz="1300" dirty="0"/>
          </a:p>
        </p:txBody>
      </p:sp>
      <p:sp>
        <p:nvSpPr>
          <p:cNvPr id="20" name="Text 18"/>
          <p:cNvSpPr/>
          <p:nvPr/>
        </p:nvSpPr>
        <p:spPr>
          <a:xfrm>
            <a:off x="5303520" y="2542032"/>
            <a:ext cx="1645920" cy="548640"/>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Posted as a PR comment for review.</a:t>
            </a:r>
            <a:endParaRPr lang="en-US" sz="1050" dirty="0"/>
          </a:p>
        </p:txBody>
      </p:sp>
      <p:sp>
        <p:nvSpPr>
          <p:cNvPr id="21" name="Shape 19"/>
          <p:cNvSpPr/>
          <p:nvPr/>
        </p:nvSpPr>
        <p:spPr>
          <a:xfrm>
            <a:off x="7178040" y="1847088"/>
            <a:ext cx="155448" cy="182880"/>
          </a:xfrm>
          <a:prstGeom prst="rightArrow">
            <a:avLst/>
          </a:prstGeom>
          <a:solidFill>
            <a:srgbClr val="94A3B8"/>
          </a:solidFill>
          <a:ln w="12700">
            <a:solidFill>
              <a:srgbClr val="94A3B8"/>
            </a:solidFill>
            <a:prstDash val="solid"/>
          </a:ln>
        </p:spPr>
      </p:sp>
      <p:sp>
        <p:nvSpPr>
          <p:cNvPr id="22" name="Shape 20"/>
          <p:cNvSpPr/>
          <p:nvPr/>
        </p:nvSpPr>
        <p:spPr>
          <a:xfrm>
            <a:off x="7342632" y="1463040"/>
            <a:ext cx="2084832"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5000"/>
              </a:srgbClr>
            </a:outerShdw>
          </a:effectLst>
        </p:spPr>
      </p:sp>
      <p:sp>
        <p:nvSpPr>
          <p:cNvPr id="23" name="Shape 21"/>
          <p:cNvSpPr/>
          <p:nvPr/>
        </p:nvSpPr>
        <p:spPr>
          <a:xfrm>
            <a:off x="7562088" y="1664208"/>
            <a:ext cx="475488" cy="475488"/>
          </a:xfrm>
          <a:prstGeom prst="ellipse">
            <a:avLst/>
          </a:prstGeom>
          <a:solidFill>
            <a:srgbClr val="0D9488"/>
          </a:solidFill>
          <a:ln w="12700">
            <a:solidFill>
              <a:srgbClr val="0D9488"/>
            </a:solidFill>
            <a:prstDash val="solid"/>
          </a:ln>
        </p:spPr>
      </p:sp>
      <p:sp>
        <p:nvSpPr>
          <p:cNvPr id="24" name="Text 22"/>
          <p:cNvSpPr/>
          <p:nvPr/>
        </p:nvSpPr>
        <p:spPr>
          <a:xfrm>
            <a:off x="7562088"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4</a:t>
            </a:r>
            <a:endParaRPr lang="en-US" sz="1700" dirty="0"/>
          </a:p>
        </p:txBody>
      </p:sp>
      <p:sp>
        <p:nvSpPr>
          <p:cNvPr id="25" name="Text 23"/>
          <p:cNvSpPr/>
          <p:nvPr/>
        </p:nvSpPr>
        <p:spPr>
          <a:xfrm>
            <a:off x="7562088" y="2231136"/>
            <a:ext cx="164592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Human approves</a:t>
            </a:r>
            <a:endParaRPr lang="en-US" sz="1300" dirty="0"/>
          </a:p>
        </p:txBody>
      </p:sp>
      <p:sp>
        <p:nvSpPr>
          <p:cNvPr id="26" name="Text 24"/>
          <p:cNvSpPr/>
          <p:nvPr/>
        </p:nvSpPr>
        <p:spPr>
          <a:xfrm>
            <a:off x="7562088" y="2542032"/>
            <a:ext cx="1645920" cy="548640"/>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The plan is the diff being reviewed.</a:t>
            </a:r>
            <a:endParaRPr lang="en-US" sz="1050" dirty="0"/>
          </a:p>
        </p:txBody>
      </p:sp>
      <p:sp>
        <p:nvSpPr>
          <p:cNvPr id="27" name="Shape 25"/>
          <p:cNvSpPr/>
          <p:nvPr/>
        </p:nvSpPr>
        <p:spPr>
          <a:xfrm>
            <a:off x="9436608" y="1847088"/>
            <a:ext cx="155448" cy="182880"/>
          </a:xfrm>
          <a:prstGeom prst="rightArrow">
            <a:avLst/>
          </a:prstGeom>
          <a:solidFill>
            <a:srgbClr val="94A3B8"/>
          </a:solidFill>
          <a:ln w="12700">
            <a:solidFill>
              <a:srgbClr val="94A3B8"/>
            </a:solidFill>
            <a:prstDash val="solid"/>
          </a:ln>
        </p:spPr>
      </p:sp>
      <p:sp>
        <p:nvSpPr>
          <p:cNvPr id="28" name="Shape 26"/>
          <p:cNvSpPr/>
          <p:nvPr/>
        </p:nvSpPr>
        <p:spPr>
          <a:xfrm>
            <a:off x="9601200" y="1463040"/>
            <a:ext cx="2084832" cy="1783080"/>
          </a:xfrm>
          <a:prstGeom prst="roundRect">
            <a:avLst>
              <a:gd name="adj" fmla="val 2564"/>
            </a:avLst>
          </a:prstGeom>
          <a:solidFill>
            <a:srgbClr val="FFFFFF"/>
          </a:solidFill>
          <a:ln w="12700">
            <a:solidFill>
              <a:srgbClr val="E2E8F0"/>
            </a:solidFill>
            <a:prstDash val="solid"/>
          </a:ln>
          <a:effectLst>
            <a:outerShdw sx="100000" sy="100000" kx="0" ky="0" algn="bl" rotWithShape="0" blurRad="101600" dist="12700" dir="5400000">
              <a:srgbClr val="94A3B8">
                <a:alpha val="15000"/>
              </a:srgbClr>
            </a:outerShdw>
          </a:effectLst>
        </p:spPr>
      </p:sp>
      <p:sp>
        <p:nvSpPr>
          <p:cNvPr id="29" name="Shape 27"/>
          <p:cNvSpPr/>
          <p:nvPr/>
        </p:nvSpPr>
        <p:spPr>
          <a:xfrm>
            <a:off x="9820656" y="1664208"/>
            <a:ext cx="475488" cy="475488"/>
          </a:xfrm>
          <a:prstGeom prst="ellipse">
            <a:avLst/>
          </a:prstGeom>
          <a:solidFill>
            <a:srgbClr val="FF9900"/>
          </a:solidFill>
          <a:ln w="12700">
            <a:solidFill>
              <a:srgbClr val="FF9900"/>
            </a:solidFill>
            <a:prstDash val="solid"/>
          </a:ln>
        </p:spPr>
      </p:sp>
      <p:sp>
        <p:nvSpPr>
          <p:cNvPr id="30" name="Text 28"/>
          <p:cNvSpPr/>
          <p:nvPr/>
        </p:nvSpPr>
        <p:spPr>
          <a:xfrm>
            <a:off x="9820656" y="1664208"/>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Bookman Old Style" pitchFamily="34" charset="0"/>
                <a:ea typeface="Bookman Old Style" pitchFamily="34" charset="-122"/>
                <a:cs typeface="Bookman Old Style" pitchFamily="34" charset="-120"/>
              </a:rPr>
              <a:t>5</a:t>
            </a:r>
            <a:endParaRPr lang="en-US" sz="1700" dirty="0"/>
          </a:p>
        </p:txBody>
      </p:sp>
      <p:sp>
        <p:nvSpPr>
          <p:cNvPr id="31" name="Text 29"/>
          <p:cNvSpPr/>
          <p:nvPr/>
        </p:nvSpPr>
        <p:spPr>
          <a:xfrm>
            <a:off x="9820656" y="2231136"/>
            <a:ext cx="1645920" cy="292608"/>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apply on merge</a:t>
            </a:r>
            <a:endParaRPr lang="en-US" sz="1300" dirty="0"/>
          </a:p>
        </p:txBody>
      </p:sp>
      <p:sp>
        <p:nvSpPr>
          <p:cNvPr id="32" name="Text 30"/>
          <p:cNvSpPr/>
          <p:nvPr/>
        </p:nvSpPr>
        <p:spPr>
          <a:xfrm>
            <a:off x="9820656" y="2542032"/>
            <a:ext cx="1645920" cy="548640"/>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Only from main. Only from CI.</a:t>
            </a:r>
            <a:endParaRPr lang="en-US" sz="1050" dirty="0"/>
          </a:p>
        </p:txBody>
      </p:sp>
      <p:sp>
        <p:nvSpPr>
          <p:cNvPr id="33" name="Shape 31"/>
          <p:cNvSpPr/>
          <p:nvPr/>
        </p:nvSpPr>
        <p:spPr>
          <a:xfrm>
            <a:off x="566928" y="3456432"/>
            <a:ext cx="6766560" cy="1965960"/>
          </a:xfrm>
          <a:prstGeom prst="roundRect">
            <a:avLst>
              <a:gd name="adj" fmla="val 2791"/>
            </a:avLst>
          </a:prstGeom>
          <a:solidFill>
            <a:srgbClr val="0F172A"/>
          </a:solidFill>
          <a:ln w="12700">
            <a:solidFill>
              <a:srgbClr val="334155"/>
            </a:solidFill>
            <a:prstDash val="solid"/>
          </a:ln>
        </p:spPr>
      </p:sp>
      <p:sp>
        <p:nvSpPr>
          <p:cNvPr id="34" name="Shape 32"/>
          <p:cNvSpPr/>
          <p:nvPr/>
        </p:nvSpPr>
        <p:spPr>
          <a:xfrm>
            <a:off x="566928" y="3456432"/>
            <a:ext cx="6766560" cy="292608"/>
          </a:xfrm>
          <a:prstGeom prst="rect">
            <a:avLst/>
          </a:prstGeom>
          <a:solidFill>
            <a:srgbClr val="1E293B"/>
          </a:solidFill>
          <a:ln w="12700">
            <a:solidFill>
              <a:srgbClr val="334155"/>
            </a:solidFill>
            <a:prstDash val="solid"/>
          </a:ln>
        </p:spPr>
      </p:sp>
      <p:sp>
        <p:nvSpPr>
          <p:cNvPr id="35" name="Shape 33"/>
          <p:cNvSpPr/>
          <p:nvPr/>
        </p:nvSpPr>
        <p:spPr>
          <a:xfrm>
            <a:off x="685800" y="3552444"/>
            <a:ext cx="100584" cy="100584"/>
          </a:xfrm>
          <a:prstGeom prst="ellipse">
            <a:avLst/>
          </a:prstGeom>
          <a:solidFill>
            <a:srgbClr val="F87171"/>
          </a:solidFill>
          <a:ln w="6350">
            <a:solidFill>
              <a:srgbClr val="F87171"/>
            </a:solidFill>
            <a:prstDash val="solid"/>
          </a:ln>
        </p:spPr>
      </p:sp>
      <p:sp>
        <p:nvSpPr>
          <p:cNvPr id="36" name="Shape 34"/>
          <p:cNvSpPr/>
          <p:nvPr/>
        </p:nvSpPr>
        <p:spPr>
          <a:xfrm>
            <a:off x="859536" y="3552444"/>
            <a:ext cx="100584" cy="100584"/>
          </a:xfrm>
          <a:prstGeom prst="ellipse">
            <a:avLst/>
          </a:prstGeom>
          <a:solidFill>
            <a:srgbClr val="FBBF24"/>
          </a:solidFill>
          <a:ln w="6350">
            <a:solidFill>
              <a:srgbClr val="FBBF24"/>
            </a:solidFill>
            <a:prstDash val="solid"/>
          </a:ln>
        </p:spPr>
      </p:sp>
      <p:sp>
        <p:nvSpPr>
          <p:cNvPr id="37" name="Shape 35"/>
          <p:cNvSpPr/>
          <p:nvPr/>
        </p:nvSpPr>
        <p:spPr>
          <a:xfrm>
            <a:off x="1033272" y="3552444"/>
            <a:ext cx="100584" cy="100584"/>
          </a:xfrm>
          <a:prstGeom prst="ellipse">
            <a:avLst/>
          </a:prstGeom>
          <a:solidFill>
            <a:srgbClr val="34D399"/>
          </a:solidFill>
          <a:ln w="6350">
            <a:solidFill>
              <a:srgbClr val="34D399"/>
            </a:solidFill>
            <a:prstDash val="solid"/>
          </a:ln>
        </p:spPr>
      </p:sp>
      <p:sp>
        <p:nvSpPr>
          <p:cNvPr id="38" name="Text 36"/>
          <p:cNvSpPr/>
          <p:nvPr/>
        </p:nvSpPr>
        <p:spPr>
          <a:xfrm>
            <a:off x="1225296" y="3474720"/>
            <a:ext cx="5989320" cy="256032"/>
          </a:xfrm>
          <a:prstGeom prst="rect">
            <a:avLst/>
          </a:prstGeom>
          <a:noFill/>
          <a:ln/>
        </p:spPr>
        <p:txBody>
          <a:bodyPr wrap="square" lIns="0" tIns="0" rIns="0" bIns="0" rtlCol="0" anchor="ctr"/>
          <a:lstStyle/>
          <a:p>
            <a:pPr indent="0" marL="0">
              <a:buNone/>
            </a:pPr>
            <a:r>
              <a:rPr lang="en-US" sz="950" dirty="0">
                <a:solidFill>
                  <a:srgbClr val="94A3B8"/>
                </a:solidFill>
                <a:latin typeface="Courier New" pitchFamily="34" charset="0"/>
                <a:ea typeface="Courier New" pitchFamily="34" charset="-122"/>
                <a:cs typeface="Courier New" pitchFamily="34" charset="-120"/>
              </a:rPr>
              <a:t>.github/workflows/terraform.yml</a:t>
            </a:r>
            <a:endParaRPr lang="en-US" sz="950" dirty="0"/>
          </a:p>
        </p:txBody>
      </p:sp>
      <p:sp>
        <p:nvSpPr>
          <p:cNvPr id="39" name="Text 37"/>
          <p:cNvSpPr/>
          <p:nvPr/>
        </p:nvSpPr>
        <p:spPr>
          <a:xfrm>
            <a:off x="768096" y="3840480"/>
            <a:ext cx="6364224" cy="1435608"/>
          </a:xfrm>
          <a:prstGeom prst="rect">
            <a:avLst/>
          </a:prstGeom>
          <a:noFill/>
          <a:ln/>
        </p:spPr>
        <p:txBody>
          <a:bodyPr wrap="square" lIns="0" tIns="0" rIns="0" bIns="0" rtlCol="0" anchor="t"/>
          <a:lstStyle/>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permissions:</a:t>
            </a:r>
            <a:endParaRPr lang="en-US" sz="1050" dirty="0"/>
          </a:p>
          <a:p>
            <a:pPr indent="0" marL="0">
              <a:lnSpc>
                <a:spcPts val="1701"/>
              </a:lnSpc>
              <a:buNone/>
            </a:pPr>
            <a:r>
              <a:rPr lang="en-US" sz="1050" dirty="0">
                <a:solidFill>
                  <a:srgbClr val="34D399"/>
                </a:solidFill>
                <a:latin typeface="Courier New" pitchFamily="34" charset="0"/>
                <a:ea typeface="Courier New" pitchFamily="34" charset="-122"/>
                <a:cs typeface="Courier New" pitchFamily="34" charset="-120"/>
              </a:rPr>
              <a:t>  id-token: write        # OIDC — no stored AWS keys</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contents: read</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pull-requests: write   # to post the plan</a:t>
            </a:r>
            <a:endParaRPr lang="en-US" sz="1050" dirty="0"/>
          </a:p>
          <a:p>
            <a:pPr indent="0" marL="0">
              <a:lnSpc>
                <a:spcPts val="1701"/>
              </a:lnSpc>
              <a:buNone/>
            </a:pPr>
            <a:endParaRPr lang="en-US" sz="1050" dirty="0"/>
          </a:p>
          <a:p>
            <a:pPr indent="0" marL="0">
              <a:lnSpc>
                <a:spcPts val="1701"/>
              </a:lnSpc>
              <a:buNone/>
            </a:pPr>
            <a:r>
              <a:rPr lang="en-US" sz="1050" dirty="0">
                <a:solidFill>
                  <a:srgbClr val="38BDF8"/>
                </a:solidFill>
                <a:latin typeface="Courier New" pitchFamily="34" charset="0"/>
                <a:ea typeface="Courier New" pitchFamily="34" charset="-122"/>
                <a:cs typeface="Courier New" pitchFamily="34" charset="-120"/>
              </a:rPr>
              <a:t>- uses: aws-actions/configure-aws-credentials@v4</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with:</a:t>
            </a:r>
            <a:endParaRPr lang="en-US" sz="1050" dirty="0"/>
          </a:p>
          <a:p>
            <a:pPr indent="0" marL="0">
              <a:lnSpc>
                <a:spcPts val="1701"/>
              </a:lnSpc>
              <a:buNone/>
            </a:pPr>
            <a:r>
              <a:rPr lang="en-US" sz="1050" dirty="0">
                <a:solidFill>
                  <a:srgbClr val="F8FAFC"/>
                </a:solidFill>
                <a:latin typeface="Courier New" pitchFamily="34" charset="0"/>
                <a:ea typeface="Courier New" pitchFamily="34" charset="-122"/>
                <a:cs typeface="Courier New" pitchFamily="34" charset="-120"/>
              </a:rPr>
              <a:t>    role-to-assume: ${{ secrets.TF_ROLE_ARN }}</a:t>
            </a:r>
            <a:endParaRPr lang="en-US" sz="1050" dirty="0"/>
          </a:p>
        </p:txBody>
      </p:sp>
      <p:sp>
        <p:nvSpPr>
          <p:cNvPr id="40" name="Shape 38"/>
          <p:cNvSpPr/>
          <p:nvPr/>
        </p:nvSpPr>
        <p:spPr>
          <a:xfrm>
            <a:off x="7543800" y="3456432"/>
            <a:ext cx="4370832" cy="1965960"/>
          </a:xfrm>
          <a:prstGeom prst="roundRect">
            <a:avLst>
              <a:gd name="adj" fmla="val 232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41" name="Shape 39"/>
          <p:cNvSpPr/>
          <p:nvPr/>
        </p:nvSpPr>
        <p:spPr>
          <a:xfrm>
            <a:off x="7781544" y="3694176"/>
            <a:ext cx="512064" cy="512064"/>
          </a:xfrm>
          <a:prstGeom prst="ellipse">
            <a:avLst/>
          </a:prstGeom>
          <a:solidFill>
            <a:srgbClr val="F0FDFA"/>
          </a:solidFill>
          <a:ln w="11430">
            <a:solidFill>
              <a:srgbClr val="0D9488"/>
            </a:solidFill>
            <a:prstDash val="solid"/>
          </a:ln>
        </p:spPr>
      </p:sp>
      <p:pic>
        <p:nvPicPr>
          <p:cNvPr id="42" name="Image 0" descr="preencoded.png">    </p:cNvPr>
          <p:cNvPicPr>
            <a:picLocks noChangeAspect="1"/>
          </p:cNvPicPr>
          <p:nvPr/>
        </p:nvPicPr>
        <p:blipFill>
          <a:blip r:embed="rId1"/>
          <a:stretch>
            <a:fillRect/>
          </a:stretch>
        </p:blipFill>
        <p:spPr>
          <a:xfrm>
            <a:off x="7904988" y="3817620"/>
            <a:ext cx="265176" cy="265176"/>
          </a:xfrm>
          <a:prstGeom prst="rect">
            <a:avLst/>
          </a:prstGeom>
        </p:spPr>
      </p:pic>
      <p:sp>
        <p:nvSpPr>
          <p:cNvPr id="43" name="Text 40"/>
          <p:cNvSpPr/>
          <p:nvPr/>
        </p:nvSpPr>
        <p:spPr>
          <a:xfrm>
            <a:off x="7781544" y="4297680"/>
            <a:ext cx="3895344"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The same OIDC trick, again</a:t>
            </a:r>
            <a:endParaRPr lang="en-US" sz="1350" dirty="0"/>
          </a:p>
        </p:txBody>
      </p:sp>
      <p:sp>
        <p:nvSpPr>
          <p:cNvPr id="44" name="Text 41"/>
          <p:cNvSpPr/>
          <p:nvPr/>
        </p:nvSpPr>
        <p:spPr>
          <a:xfrm>
            <a:off x="7781544" y="4645152"/>
            <a:ext cx="3895344" cy="59436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GitHub Actions assumes an IAM role using a short-lived token from an OIDC trust relationship. No AWS access keys stored anywhere — exactly the pattern from the CI/CD module, now applied to infrastructure.</a:t>
            </a:r>
            <a:endParaRPr lang="en-US" sz="1100" dirty="0"/>
          </a:p>
        </p:txBody>
      </p:sp>
      <p:sp>
        <p:nvSpPr>
          <p:cNvPr id="45" name="Text 42"/>
          <p:cNvSpPr/>
          <p:nvPr/>
        </p:nvSpPr>
        <p:spPr>
          <a:xfrm>
            <a:off x="566928" y="5614416"/>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Nobody applies from a laptop in a mature team. The laptop is for plan; the pipeline is for apply.</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97316"/>
                </a:solidFill>
                <a:latin typeface="Calibri" pitchFamily="34" charset="0"/>
                <a:ea typeface="Calibri" pitchFamily="34" charset="-122"/>
                <a:cs typeface="Calibri" pitchFamily="34" charset="-120"/>
              </a:rPr>
              <a:t>LEARN THESE FROM A SLIDE, NOT FROM AN INCIDENT</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Eight things that will bite you</a:t>
            </a:r>
            <a:endParaRPr lang="en-US" sz="3000" dirty="0"/>
          </a:p>
        </p:txBody>
      </p:sp>
      <p:sp>
        <p:nvSpPr>
          <p:cNvPr id="4" name="Shape 2"/>
          <p:cNvSpPr/>
          <p:nvPr/>
        </p:nvSpPr>
        <p:spPr>
          <a:xfrm>
            <a:off x="566928" y="1371600"/>
            <a:ext cx="5394960" cy="1005840"/>
          </a:xfrm>
          <a:prstGeom prst="roundRect">
            <a:avLst>
              <a:gd name="adj" fmla="val 4545"/>
            </a:avLst>
          </a:prstGeom>
          <a:solidFill>
            <a:srgbClr val="FFFFFF"/>
          </a:solidFill>
          <a:ln w="12700">
            <a:solidFill>
              <a:srgbClr val="E2E8F0"/>
            </a:solidFill>
            <a:prstDash val="solid"/>
          </a:ln>
        </p:spPr>
      </p:sp>
      <p:sp>
        <p:nvSpPr>
          <p:cNvPr id="5" name="Shape 3"/>
          <p:cNvSpPr/>
          <p:nvPr/>
        </p:nvSpPr>
        <p:spPr>
          <a:xfrm>
            <a:off x="786384" y="1645920"/>
            <a:ext cx="457200" cy="457200"/>
          </a:xfrm>
          <a:prstGeom prst="ellipse">
            <a:avLst/>
          </a:prstGeom>
          <a:solidFill>
            <a:srgbClr val="FFF7ED"/>
          </a:solidFill>
          <a:ln w="11430">
            <a:solidFill>
              <a:srgbClr val="F97316"/>
            </a:solidFill>
            <a:prstDash val="solid"/>
          </a:ln>
        </p:spPr>
      </p:sp>
      <p:sp>
        <p:nvSpPr>
          <p:cNvPr id="6" name="Text 4"/>
          <p:cNvSpPr/>
          <p:nvPr/>
        </p:nvSpPr>
        <p:spPr>
          <a:xfrm>
            <a:off x="786384" y="1645920"/>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1</a:t>
            </a:r>
            <a:endParaRPr lang="en-US" sz="1300" dirty="0"/>
          </a:p>
        </p:txBody>
      </p:sp>
      <p:sp>
        <p:nvSpPr>
          <p:cNvPr id="7" name="Text 5"/>
          <p:cNvSpPr/>
          <p:nvPr/>
        </p:nvSpPr>
        <p:spPr>
          <a:xfrm>
            <a:off x="1389888" y="1517904"/>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Committing terraform.tfstate</a:t>
            </a:r>
            <a:endParaRPr lang="en-US" sz="1300" dirty="0"/>
          </a:p>
        </p:txBody>
      </p:sp>
      <p:sp>
        <p:nvSpPr>
          <p:cNvPr id="8" name="Text 6"/>
          <p:cNvSpPr/>
          <p:nvPr/>
        </p:nvSpPr>
        <p:spPr>
          <a:xfrm>
            <a:off x="1389888" y="1828800"/>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Secrets in git history. Add *.tfstate to .gitignore on day one.</a:t>
            </a:r>
            <a:endParaRPr lang="en-US" sz="1050" dirty="0"/>
          </a:p>
        </p:txBody>
      </p:sp>
      <p:sp>
        <p:nvSpPr>
          <p:cNvPr id="9" name="Shape 7"/>
          <p:cNvSpPr/>
          <p:nvPr/>
        </p:nvSpPr>
        <p:spPr>
          <a:xfrm>
            <a:off x="6245352" y="1371600"/>
            <a:ext cx="5394960" cy="1005840"/>
          </a:xfrm>
          <a:prstGeom prst="roundRect">
            <a:avLst>
              <a:gd name="adj" fmla="val 4545"/>
            </a:avLst>
          </a:prstGeom>
          <a:solidFill>
            <a:srgbClr val="FFFFFF"/>
          </a:solidFill>
          <a:ln w="12700">
            <a:solidFill>
              <a:srgbClr val="E2E8F0"/>
            </a:solidFill>
            <a:prstDash val="solid"/>
          </a:ln>
        </p:spPr>
      </p:sp>
      <p:sp>
        <p:nvSpPr>
          <p:cNvPr id="10" name="Shape 8"/>
          <p:cNvSpPr/>
          <p:nvPr/>
        </p:nvSpPr>
        <p:spPr>
          <a:xfrm>
            <a:off x="6464808" y="1645920"/>
            <a:ext cx="457200" cy="457200"/>
          </a:xfrm>
          <a:prstGeom prst="ellipse">
            <a:avLst/>
          </a:prstGeom>
          <a:solidFill>
            <a:srgbClr val="FFF7ED"/>
          </a:solidFill>
          <a:ln w="11430">
            <a:solidFill>
              <a:srgbClr val="F97316"/>
            </a:solidFill>
            <a:prstDash val="solid"/>
          </a:ln>
        </p:spPr>
      </p:sp>
      <p:sp>
        <p:nvSpPr>
          <p:cNvPr id="11" name="Text 9"/>
          <p:cNvSpPr/>
          <p:nvPr/>
        </p:nvSpPr>
        <p:spPr>
          <a:xfrm>
            <a:off x="6464808" y="1645920"/>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2</a:t>
            </a:r>
            <a:endParaRPr lang="en-US" sz="1300" dirty="0"/>
          </a:p>
        </p:txBody>
      </p:sp>
      <p:sp>
        <p:nvSpPr>
          <p:cNvPr id="12" name="Text 10"/>
          <p:cNvSpPr/>
          <p:nvPr/>
        </p:nvSpPr>
        <p:spPr>
          <a:xfrm>
            <a:off x="7068312" y="1517904"/>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Not reading the plan</a:t>
            </a:r>
            <a:endParaRPr lang="en-US" sz="1300" dirty="0"/>
          </a:p>
        </p:txBody>
      </p:sp>
      <p:sp>
        <p:nvSpPr>
          <p:cNvPr id="13" name="Text 11"/>
          <p:cNvSpPr/>
          <p:nvPr/>
        </p:nvSpPr>
        <p:spPr>
          <a:xfrm>
            <a:off x="7068312" y="1828800"/>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Every serious Terraform incident starts with someone typing yes too fast.</a:t>
            </a:r>
            <a:endParaRPr lang="en-US" sz="1050" dirty="0"/>
          </a:p>
        </p:txBody>
      </p:sp>
      <p:sp>
        <p:nvSpPr>
          <p:cNvPr id="14" name="Shape 12"/>
          <p:cNvSpPr/>
          <p:nvPr/>
        </p:nvSpPr>
        <p:spPr>
          <a:xfrm>
            <a:off x="566928" y="2523744"/>
            <a:ext cx="5394960" cy="1005840"/>
          </a:xfrm>
          <a:prstGeom prst="roundRect">
            <a:avLst>
              <a:gd name="adj" fmla="val 4545"/>
            </a:avLst>
          </a:prstGeom>
          <a:solidFill>
            <a:srgbClr val="FFFFFF"/>
          </a:solidFill>
          <a:ln w="12700">
            <a:solidFill>
              <a:srgbClr val="E2E8F0"/>
            </a:solidFill>
            <a:prstDash val="solid"/>
          </a:ln>
        </p:spPr>
      </p:sp>
      <p:sp>
        <p:nvSpPr>
          <p:cNvPr id="15" name="Shape 13"/>
          <p:cNvSpPr/>
          <p:nvPr/>
        </p:nvSpPr>
        <p:spPr>
          <a:xfrm>
            <a:off x="786384" y="2798064"/>
            <a:ext cx="457200" cy="457200"/>
          </a:xfrm>
          <a:prstGeom prst="ellipse">
            <a:avLst/>
          </a:prstGeom>
          <a:solidFill>
            <a:srgbClr val="FFF7ED"/>
          </a:solidFill>
          <a:ln w="11430">
            <a:solidFill>
              <a:srgbClr val="F97316"/>
            </a:solidFill>
            <a:prstDash val="solid"/>
          </a:ln>
        </p:spPr>
      </p:sp>
      <p:sp>
        <p:nvSpPr>
          <p:cNvPr id="16" name="Text 14"/>
          <p:cNvSpPr/>
          <p:nvPr/>
        </p:nvSpPr>
        <p:spPr>
          <a:xfrm>
            <a:off x="786384" y="2798064"/>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3</a:t>
            </a:r>
            <a:endParaRPr lang="en-US" sz="1300" dirty="0"/>
          </a:p>
        </p:txBody>
      </p:sp>
      <p:sp>
        <p:nvSpPr>
          <p:cNvPr id="17" name="Text 15"/>
          <p:cNvSpPr/>
          <p:nvPr/>
        </p:nvSpPr>
        <p:spPr>
          <a:xfrm>
            <a:off x="1389888" y="2670048"/>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Unpinned provider versions</a:t>
            </a:r>
            <a:endParaRPr lang="en-US" sz="1300" dirty="0"/>
          </a:p>
        </p:txBody>
      </p:sp>
      <p:sp>
        <p:nvSpPr>
          <p:cNvPr id="18" name="Text 16"/>
          <p:cNvSpPr/>
          <p:nvPr/>
        </p:nvSpPr>
        <p:spPr>
          <a:xfrm>
            <a:off x="1389888" y="2980944"/>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A colleague’s init pulls a new major version and the plan fills with surprises.</a:t>
            </a:r>
            <a:endParaRPr lang="en-US" sz="1050" dirty="0"/>
          </a:p>
        </p:txBody>
      </p:sp>
      <p:sp>
        <p:nvSpPr>
          <p:cNvPr id="19" name="Shape 17"/>
          <p:cNvSpPr/>
          <p:nvPr/>
        </p:nvSpPr>
        <p:spPr>
          <a:xfrm>
            <a:off x="6245352" y="2523744"/>
            <a:ext cx="5394960" cy="1005840"/>
          </a:xfrm>
          <a:prstGeom prst="roundRect">
            <a:avLst>
              <a:gd name="adj" fmla="val 4545"/>
            </a:avLst>
          </a:prstGeom>
          <a:solidFill>
            <a:srgbClr val="FFFFFF"/>
          </a:solidFill>
          <a:ln w="12700">
            <a:solidFill>
              <a:srgbClr val="E2E8F0"/>
            </a:solidFill>
            <a:prstDash val="solid"/>
          </a:ln>
        </p:spPr>
      </p:sp>
      <p:sp>
        <p:nvSpPr>
          <p:cNvPr id="20" name="Shape 18"/>
          <p:cNvSpPr/>
          <p:nvPr/>
        </p:nvSpPr>
        <p:spPr>
          <a:xfrm>
            <a:off x="6464808" y="2798064"/>
            <a:ext cx="457200" cy="457200"/>
          </a:xfrm>
          <a:prstGeom prst="ellipse">
            <a:avLst/>
          </a:prstGeom>
          <a:solidFill>
            <a:srgbClr val="FFF7ED"/>
          </a:solidFill>
          <a:ln w="11430">
            <a:solidFill>
              <a:srgbClr val="F97316"/>
            </a:solidFill>
            <a:prstDash val="solid"/>
          </a:ln>
        </p:spPr>
      </p:sp>
      <p:sp>
        <p:nvSpPr>
          <p:cNvPr id="21" name="Text 19"/>
          <p:cNvSpPr/>
          <p:nvPr/>
        </p:nvSpPr>
        <p:spPr>
          <a:xfrm>
            <a:off x="6464808" y="2798064"/>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4</a:t>
            </a:r>
            <a:endParaRPr lang="en-US" sz="1300" dirty="0"/>
          </a:p>
        </p:txBody>
      </p:sp>
      <p:sp>
        <p:nvSpPr>
          <p:cNvPr id="22" name="Text 20"/>
          <p:cNvSpPr/>
          <p:nvPr/>
        </p:nvSpPr>
        <p:spPr>
          <a:xfrm>
            <a:off x="7068312" y="2670048"/>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Hardcoding IDs and ARNs</a:t>
            </a:r>
            <a:endParaRPr lang="en-US" sz="1300" dirty="0"/>
          </a:p>
        </p:txBody>
      </p:sp>
      <p:sp>
        <p:nvSpPr>
          <p:cNvPr id="23" name="Text 21"/>
          <p:cNvSpPr/>
          <p:nvPr/>
        </p:nvSpPr>
        <p:spPr>
          <a:xfrm>
            <a:off x="7068312" y="2980944"/>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Removes the dependency edge. Terraform builds things in the wrong order.</a:t>
            </a:r>
            <a:endParaRPr lang="en-US" sz="1050" dirty="0"/>
          </a:p>
        </p:txBody>
      </p:sp>
      <p:sp>
        <p:nvSpPr>
          <p:cNvPr id="24" name="Shape 22"/>
          <p:cNvSpPr/>
          <p:nvPr/>
        </p:nvSpPr>
        <p:spPr>
          <a:xfrm>
            <a:off x="566928" y="3675888"/>
            <a:ext cx="5394960" cy="1005840"/>
          </a:xfrm>
          <a:prstGeom prst="roundRect">
            <a:avLst>
              <a:gd name="adj" fmla="val 4545"/>
            </a:avLst>
          </a:prstGeom>
          <a:solidFill>
            <a:srgbClr val="FFFFFF"/>
          </a:solidFill>
          <a:ln w="12700">
            <a:solidFill>
              <a:srgbClr val="E2E8F0"/>
            </a:solidFill>
            <a:prstDash val="solid"/>
          </a:ln>
        </p:spPr>
      </p:sp>
      <p:sp>
        <p:nvSpPr>
          <p:cNvPr id="25" name="Shape 23"/>
          <p:cNvSpPr/>
          <p:nvPr/>
        </p:nvSpPr>
        <p:spPr>
          <a:xfrm>
            <a:off x="786384" y="3950208"/>
            <a:ext cx="457200" cy="457200"/>
          </a:xfrm>
          <a:prstGeom prst="ellipse">
            <a:avLst/>
          </a:prstGeom>
          <a:solidFill>
            <a:srgbClr val="FFF7ED"/>
          </a:solidFill>
          <a:ln w="11430">
            <a:solidFill>
              <a:srgbClr val="F97316"/>
            </a:solidFill>
            <a:prstDash val="solid"/>
          </a:ln>
        </p:spPr>
      </p:sp>
      <p:sp>
        <p:nvSpPr>
          <p:cNvPr id="26" name="Text 24"/>
          <p:cNvSpPr/>
          <p:nvPr/>
        </p:nvSpPr>
        <p:spPr>
          <a:xfrm>
            <a:off x="786384" y="3950208"/>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5</a:t>
            </a:r>
            <a:endParaRPr lang="en-US" sz="1300" dirty="0"/>
          </a:p>
        </p:txBody>
      </p:sp>
      <p:sp>
        <p:nvSpPr>
          <p:cNvPr id="27" name="Text 25"/>
          <p:cNvSpPr/>
          <p:nvPr/>
        </p:nvSpPr>
        <p:spPr>
          <a:xfrm>
            <a:off x="1389888" y="3822192"/>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Editing state by hand</a:t>
            </a:r>
            <a:endParaRPr lang="en-US" sz="1300" dirty="0"/>
          </a:p>
        </p:txBody>
      </p:sp>
      <p:sp>
        <p:nvSpPr>
          <p:cNvPr id="28" name="Text 26"/>
          <p:cNvSpPr/>
          <p:nvPr/>
        </p:nvSpPr>
        <p:spPr>
          <a:xfrm>
            <a:off x="1389888" y="4133088"/>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It is JSON, it looks safe, it is not. Use the state commands.</a:t>
            </a:r>
            <a:endParaRPr lang="en-US" sz="1050" dirty="0"/>
          </a:p>
        </p:txBody>
      </p:sp>
      <p:sp>
        <p:nvSpPr>
          <p:cNvPr id="29" name="Shape 27"/>
          <p:cNvSpPr/>
          <p:nvPr/>
        </p:nvSpPr>
        <p:spPr>
          <a:xfrm>
            <a:off x="6245352" y="3675888"/>
            <a:ext cx="5394960" cy="1005840"/>
          </a:xfrm>
          <a:prstGeom prst="roundRect">
            <a:avLst>
              <a:gd name="adj" fmla="val 4545"/>
            </a:avLst>
          </a:prstGeom>
          <a:solidFill>
            <a:srgbClr val="FFFFFF"/>
          </a:solidFill>
          <a:ln w="12700">
            <a:solidFill>
              <a:srgbClr val="E2E8F0"/>
            </a:solidFill>
            <a:prstDash val="solid"/>
          </a:ln>
        </p:spPr>
      </p:sp>
      <p:sp>
        <p:nvSpPr>
          <p:cNvPr id="30" name="Shape 28"/>
          <p:cNvSpPr/>
          <p:nvPr/>
        </p:nvSpPr>
        <p:spPr>
          <a:xfrm>
            <a:off x="6464808" y="3950208"/>
            <a:ext cx="457200" cy="457200"/>
          </a:xfrm>
          <a:prstGeom prst="ellipse">
            <a:avLst/>
          </a:prstGeom>
          <a:solidFill>
            <a:srgbClr val="FFF7ED"/>
          </a:solidFill>
          <a:ln w="11430">
            <a:solidFill>
              <a:srgbClr val="F97316"/>
            </a:solidFill>
            <a:prstDash val="solid"/>
          </a:ln>
        </p:spPr>
      </p:sp>
      <p:sp>
        <p:nvSpPr>
          <p:cNvPr id="31" name="Text 29"/>
          <p:cNvSpPr/>
          <p:nvPr/>
        </p:nvSpPr>
        <p:spPr>
          <a:xfrm>
            <a:off x="6464808" y="3950208"/>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6</a:t>
            </a:r>
            <a:endParaRPr lang="en-US" sz="1300" dirty="0"/>
          </a:p>
        </p:txBody>
      </p:sp>
      <p:sp>
        <p:nvSpPr>
          <p:cNvPr id="32" name="Text 30"/>
          <p:cNvSpPr/>
          <p:nvPr/>
        </p:nvSpPr>
        <p:spPr>
          <a:xfrm>
            <a:off x="7068312" y="3822192"/>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Clicking in the console “just once”</a:t>
            </a:r>
            <a:endParaRPr lang="en-US" sz="1300" dirty="0"/>
          </a:p>
        </p:txBody>
      </p:sp>
      <p:sp>
        <p:nvSpPr>
          <p:cNvPr id="33" name="Text 31"/>
          <p:cNvSpPr/>
          <p:nvPr/>
        </p:nvSpPr>
        <p:spPr>
          <a:xfrm>
            <a:off x="7068312" y="4133088"/>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That change is now drift, and apply will silently revert it.</a:t>
            </a:r>
            <a:endParaRPr lang="en-US" sz="1050" dirty="0"/>
          </a:p>
        </p:txBody>
      </p:sp>
      <p:sp>
        <p:nvSpPr>
          <p:cNvPr id="34" name="Shape 32"/>
          <p:cNvSpPr/>
          <p:nvPr/>
        </p:nvSpPr>
        <p:spPr>
          <a:xfrm>
            <a:off x="566928" y="4828032"/>
            <a:ext cx="5394960" cy="1005840"/>
          </a:xfrm>
          <a:prstGeom prst="roundRect">
            <a:avLst>
              <a:gd name="adj" fmla="val 4545"/>
            </a:avLst>
          </a:prstGeom>
          <a:solidFill>
            <a:srgbClr val="FFFFFF"/>
          </a:solidFill>
          <a:ln w="12700">
            <a:solidFill>
              <a:srgbClr val="E2E8F0"/>
            </a:solidFill>
            <a:prstDash val="solid"/>
          </a:ln>
        </p:spPr>
      </p:sp>
      <p:sp>
        <p:nvSpPr>
          <p:cNvPr id="35" name="Shape 33"/>
          <p:cNvSpPr/>
          <p:nvPr/>
        </p:nvSpPr>
        <p:spPr>
          <a:xfrm>
            <a:off x="786384" y="5102352"/>
            <a:ext cx="457200" cy="457200"/>
          </a:xfrm>
          <a:prstGeom prst="ellipse">
            <a:avLst/>
          </a:prstGeom>
          <a:solidFill>
            <a:srgbClr val="FFF7ED"/>
          </a:solidFill>
          <a:ln w="11430">
            <a:solidFill>
              <a:srgbClr val="F97316"/>
            </a:solidFill>
            <a:prstDash val="solid"/>
          </a:ln>
        </p:spPr>
      </p:sp>
      <p:sp>
        <p:nvSpPr>
          <p:cNvPr id="36" name="Text 34"/>
          <p:cNvSpPr/>
          <p:nvPr/>
        </p:nvSpPr>
        <p:spPr>
          <a:xfrm>
            <a:off x="786384" y="5102352"/>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7</a:t>
            </a:r>
            <a:endParaRPr lang="en-US" sz="1300" dirty="0"/>
          </a:p>
        </p:txBody>
      </p:sp>
      <p:sp>
        <p:nvSpPr>
          <p:cNvPr id="37" name="Text 35"/>
          <p:cNvSpPr/>
          <p:nvPr/>
        </p:nvSpPr>
        <p:spPr>
          <a:xfrm>
            <a:off x="1389888" y="4974336"/>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Building one enormous state file</a:t>
            </a:r>
            <a:endParaRPr lang="en-US" sz="1300" dirty="0"/>
          </a:p>
        </p:txBody>
      </p:sp>
      <p:sp>
        <p:nvSpPr>
          <p:cNvPr id="38" name="Text 36"/>
          <p:cNvSpPr/>
          <p:nvPr/>
        </p:nvSpPr>
        <p:spPr>
          <a:xfrm>
            <a:off x="1389888" y="5285232"/>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Slow plans, huge blast radius, and eventually nobody wants to touch it.</a:t>
            </a:r>
            <a:endParaRPr lang="en-US" sz="1050" dirty="0"/>
          </a:p>
        </p:txBody>
      </p:sp>
      <p:sp>
        <p:nvSpPr>
          <p:cNvPr id="39" name="Shape 37"/>
          <p:cNvSpPr/>
          <p:nvPr/>
        </p:nvSpPr>
        <p:spPr>
          <a:xfrm>
            <a:off x="6245352" y="4828032"/>
            <a:ext cx="5394960" cy="1005840"/>
          </a:xfrm>
          <a:prstGeom prst="roundRect">
            <a:avLst>
              <a:gd name="adj" fmla="val 4545"/>
            </a:avLst>
          </a:prstGeom>
          <a:solidFill>
            <a:srgbClr val="FFFFFF"/>
          </a:solidFill>
          <a:ln w="12700">
            <a:solidFill>
              <a:srgbClr val="E2E8F0"/>
            </a:solidFill>
            <a:prstDash val="solid"/>
          </a:ln>
        </p:spPr>
      </p:sp>
      <p:sp>
        <p:nvSpPr>
          <p:cNvPr id="40" name="Shape 38"/>
          <p:cNvSpPr/>
          <p:nvPr/>
        </p:nvSpPr>
        <p:spPr>
          <a:xfrm>
            <a:off x="6464808" y="5102352"/>
            <a:ext cx="457200" cy="457200"/>
          </a:xfrm>
          <a:prstGeom prst="ellipse">
            <a:avLst/>
          </a:prstGeom>
          <a:solidFill>
            <a:srgbClr val="FFF7ED"/>
          </a:solidFill>
          <a:ln w="11430">
            <a:solidFill>
              <a:srgbClr val="F97316"/>
            </a:solidFill>
            <a:prstDash val="solid"/>
          </a:ln>
        </p:spPr>
      </p:sp>
      <p:sp>
        <p:nvSpPr>
          <p:cNvPr id="41" name="Text 39"/>
          <p:cNvSpPr/>
          <p:nvPr/>
        </p:nvSpPr>
        <p:spPr>
          <a:xfrm>
            <a:off x="6464808" y="5102352"/>
            <a:ext cx="457200" cy="457200"/>
          </a:xfrm>
          <a:prstGeom prst="rect">
            <a:avLst/>
          </a:prstGeom>
          <a:noFill/>
          <a:ln/>
        </p:spPr>
        <p:txBody>
          <a:bodyPr wrap="square" lIns="0" tIns="0" rIns="0" bIns="0" rtlCol="0" anchor="ctr"/>
          <a:lstStyle/>
          <a:p>
            <a:pPr algn="ctr" indent="0" marL="0">
              <a:buNone/>
            </a:pPr>
            <a:r>
              <a:rPr lang="en-US" sz="1300" b="1" dirty="0">
                <a:solidFill>
                  <a:srgbClr val="C2410C"/>
                </a:solidFill>
                <a:latin typeface="Bookman Old Style" pitchFamily="34" charset="0"/>
                <a:ea typeface="Bookman Old Style" pitchFamily="34" charset="-122"/>
                <a:cs typeface="Bookman Old Style" pitchFamily="34" charset="-120"/>
              </a:rPr>
              <a:t>8</a:t>
            </a:r>
            <a:endParaRPr lang="en-US" sz="1300" dirty="0"/>
          </a:p>
        </p:txBody>
      </p:sp>
      <p:sp>
        <p:nvSpPr>
          <p:cNvPr id="42" name="Text 40"/>
          <p:cNvSpPr/>
          <p:nvPr/>
        </p:nvSpPr>
        <p:spPr>
          <a:xfrm>
            <a:off x="7068312" y="4974336"/>
            <a:ext cx="4352544" cy="310896"/>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Forgetting to destroy</a:t>
            </a:r>
            <a:endParaRPr lang="en-US" sz="1300" dirty="0"/>
          </a:p>
        </p:txBody>
      </p:sp>
      <p:sp>
        <p:nvSpPr>
          <p:cNvPr id="43" name="Text 41"/>
          <p:cNvSpPr/>
          <p:nvPr/>
        </p:nvSpPr>
        <p:spPr>
          <a:xfrm>
            <a:off x="7068312" y="5285232"/>
            <a:ext cx="4352544" cy="438912"/>
          </a:xfrm>
          <a:prstGeom prst="rect">
            <a:avLst/>
          </a:prstGeom>
          <a:noFill/>
          <a:ln/>
        </p:spPr>
        <p:txBody>
          <a:bodyPr wrap="square" lIns="0" tIns="0" rIns="0" bIns="0" rtlCol="0" anchor="t"/>
          <a:lstStyle/>
          <a:p>
            <a:pPr indent="0" marL="0">
              <a:lnSpc>
                <a:spcPts val="1400"/>
              </a:lnSpc>
              <a:buNone/>
            </a:pPr>
            <a:r>
              <a:rPr lang="en-US" sz="1050" dirty="0">
                <a:solidFill>
                  <a:srgbClr val="334155"/>
                </a:solidFill>
                <a:latin typeface="Calibri" pitchFamily="34" charset="0"/>
                <a:ea typeface="Calibri" pitchFamily="34" charset="-122"/>
                <a:cs typeface="Calibri" pitchFamily="34" charset="-120"/>
              </a:rPr>
              <a:t>An idle EKS control plane bills all month. Teardown is part of the lab.</a:t>
            </a:r>
            <a:endParaRPr lang="en-US" sz="1050" dirty="0"/>
          </a:p>
        </p:txBody>
      </p:sp>
      <p:sp>
        <p:nvSpPr>
          <p:cNvPr id="44" name="Text 42"/>
          <p:cNvSpPr/>
          <p:nvPr/>
        </p:nvSpPr>
        <p:spPr>
          <a:xfrm>
            <a:off x="566928" y="6035040"/>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Six of these eight are habits, not knowledge. Build the habits today while the stakes are ten cents.</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0D9488"/>
                </a:solidFill>
                <a:latin typeface="Calibri" pitchFamily="34" charset="0"/>
                <a:ea typeface="Calibri" pitchFamily="34" charset="-122"/>
                <a:cs typeface="Calibri" pitchFamily="34" charset="-120"/>
              </a:rPr>
              <a:t>SECURITY AND POLICY</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Guardrails worth adding early</a:t>
            </a:r>
            <a:endParaRPr lang="en-US" sz="3000" dirty="0"/>
          </a:p>
        </p:txBody>
      </p:sp>
      <p:sp>
        <p:nvSpPr>
          <p:cNvPr id="4" name="Shape 2"/>
          <p:cNvSpPr/>
          <p:nvPr/>
        </p:nvSpPr>
        <p:spPr>
          <a:xfrm>
            <a:off x="566928" y="1417320"/>
            <a:ext cx="5394960" cy="1965960"/>
          </a:xfrm>
          <a:prstGeom prst="roundRect">
            <a:avLst>
              <a:gd name="adj" fmla="val 232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5" name="Shape 3"/>
          <p:cNvSpPr/>
          <p:nvPr/>
        </p:nvSpPr>
        <p:spPr>
          <a:xfrm>
            <a:off x="804672" y="1655064"/>
            <a:ext cx="512064" cy="512064"/>
          </a:xfrm>
          <a:prstGeom prst="ellipse">
            <a:avLst/>
          </a:prstGeom>
          <a:solidFill>
            <a:srgbClr val="F0FDFA"/>
          </a:solidFill>
          <a:ln w="11430">
            <a:solidFill>
              <a:srgbClr val="0D9488"/>
            </a:solidFill>
            <a:prstDash val="solid"/>
          </a:ln>
        </p:spPr>
      </p:sp>
      <p:pic>
        <p:nvPicPr>
          <p:cNvPr id="6" name="Image 0" descr="preencoded.png">    </p:cNvPr>
          <p:cNvPicPr>
            <a:picLocks noChangeAspect="1"/>
          </p:cNvPicPr>
          <p:nvPr/>
        </p:nvPicPr>
        <p:blipFill>
          <a:blip r:embed="rId1"/>
          <a:stretch>
            <a:fillRect/>
          </a:stretch>
        </p:blipFill>
        <p:spPr>
          <a:xfrm>
            <a:off x="928116" y="1778508"/>
            <a:ext cx="265176" cy="265176"/>
          </a:xfrm>
          <a:prstGeom prst="rect">
            <a:avLst/>
          </a:prstGeom>
        </p:spPr>
      </p:pic>
      <p:sp>
        <p:nvSpPr>
          <p:cNvPr id="7" name="Text 4"/>
          <p:cNvSpPr/>
          <p:nvPr/>
        </p:nvSpPr>
        <p:spPr>
          <a:xfrm>
            <a:off x="804672" y="2258568"/>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Treat state as a credential</a:t>
            </a:r>
            <a:endParaRPr lang="en-US" sz="1350" dirty="0"/>
          </a:p>
        </p:txBody>
      </p:sp>
      <p:sp>
        <p:nvSpPr>
          <p:cNvPr id="8" name="Text 5"/>
          <p:cNvSpPr/>
          <p:nvPr/>
        </p:nvSpPr>
        <p:spPr>
          <a:xfrm>
            <a:off x="804672" y="2606040"/>
            <a:ext cx="4919472" cy="59436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Encrypted bucket, versioning on, a bucket policy that names exactly who can read it, and access logging. Anyone who can read state can read every secret you ever generated.</a:t>
            </a:r>
            <a:endParaRPr lang="en-US" sz="1100" dirty="0"/>
          </a:p>
        </p:txBody>
      </p:sp>
      <p:sp>
        <p:nvSpPr>
          <p:cNvPr id="9" name="Shape 6"/>
          <p:cNvSpPr/>
          <p:nvPr/>
        </p:nvSpPr>
        <p:spPr>
          <a:xfrm>
            <a:off x="6245352" y="1417320"/>
            <a:ext cx="5394960" cy="1965960"/>
          </a:xfrm>
          <a:prstGeom prst="roundRect">
            <a:avLst>
              <a:gd name="adj" fmla="val 232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0" name="Shape 7"/>
          <p:cNvSpPr/>
          <p:nvPr/>
        </p:nvSpPr>
        <p:spPr>
          <a:xfrm>
            <a:off x="6483096" y="1655064"/>
            <a:ext cx="512064" cy="512064"/>
          </a:xfrm>
          <a:prstGeom prst="ellipse">
            <a:avLst/>
          </a:prstGeom>
          <a:solidFill>
            <a:srgbClr val="F0FDFA"/>
          </a:solidFill>
          <a:ln w="11430">
            <a:solidFill>
              <a:srgbClr val="0D9488"/>
            </a:solidFill>
            <a:prstDash val="solid"/>
          </a:ln>
        </p:spPr>
      </p:sp>
      <p:pic>
        <p:nvPicPr>
          <p:cNvPr id="11" name="Image 1" descr="preencoded.png">    </p:cNvPr>
          <p:cNvPicPr>
            <a:picLocks noChangeAspect="1"/>
          </p:cNvPicPr>
          <p:nvPr/>
        </p:nvPicPr>
        <p:blipFill>
          <a:blip r:embed="rId2"/>
          <a:stretch>
            <a:fillRect/>
          </a:stretch>
        </p:blipFill>
        <p:spPr>
          <a:xfrm>
            <a:off x="6606540" y="1778508"/>
            <a:ext cx="265176" cy="265176"/>
          </a:xfrm>
          <a:prstGeom prst="rect">
            <a:avLst/>
          </a:prstGeom>
        </p:spPr>
      </p:pic>
      <p:sp>
        <p:nvSpPr>
          <p:cNvPr id="12" name="Text 8"/>
          <p:cNvSpPr/>
          <p:nvPr/>
        </p:nvSpPr>
        <p:spPr>
          <a:xfrm>
            <a:off x="6483096" y="2258568"/>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Keep secrets out of the config</a:t>
            </a:r>
            <a:endParaRPr lang="en-US" sz="1350" dirty="0"/>
          </a:p>
        </p:txBody>
      </p:sp>
      <p:sp>
        <p:nvSpPr>
          <p:cNvPr id="13" name="Text 9"/>
          <p:cNvSpPr/>
          <p:nvPr/>
        </p:nvSpPr>
        <p:spPr>
          <a:xfrm>
            <a:off x="6483096" y="2606040"/>
            <a:ext cx="4919472" cy="59436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Pull them at plan time from Secrets Manager or SSM. Better still, have Terraform generate them and never let a human see the value at all.</a:t>
            </a:r>
            <a:endParaRPr lang="en-US" sz="1100" dirty="0"/>
          </a:p>
        </p:txBody>
      </p:sp>
      <p:sp>
        <p:nvSpPr>
          <p:cNvPr id="14" name="Shape 10"/>
          <p:cNvSpPr/>
          <p:nvPr/>
        </p:nvSpPr>
        <p:spPr>
          <a:xfrm>
            <a:off x="566928" y="3621024"/>
            <a:ext cx="5394960" cy="1965960"/>
          </a:xfrm>
          <a:prstGeom prst="roundRect">
            <a:avLst>
              <a:gd name="adj" fmla="val 232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5" name="Shape 11"/>
          <p:cNvSpPr/>
          <p:nvPr/>
        </p:nvSpPr>
        <p:spPr>
          <a:xfrm>
            <a:off x="804672" y="3858768"/>
            <a:ext cx="512064" cy="512064"/>
          </a:xfrm>
          <a:prstGeom prst="ellipse">
            <a:avLst/>
          </a:prstGeom>
          <a:solidFill>
            <a:srgbClr val="F0FDFA"/>
          </a:solidFill>
          <a:ln w="11430">
            <a:solidFill>
              <a:srgbClr val="0D9488"/>
            </a:solidFill>
            <a:prstDash val="solid"/>
          </a:ln>
        </p:spPr>
      </p:sp>
      <p:pic>
        <p:nvPicPr>
          <p:cNvPr id="16" name="Image 2" descr="preencoded.png">    </p:cNvPr>
          <p:cNvPicPr>
            <a:picLocks noChangeAspect="1"/>
          </p:cNvPicPr>
          <p:nvPr/>
        </p:nvPicPr>
        <p:blipFill>
          <a:blip r:embed="rId3"/>
          <a:stretch>
            <a:fillRect/>
          </a:stretch>
        </p:blipFill>
        <p:spPr>
          <a:xfrm>
            <a:off x="928116" y="3982212"/>
            <a:ext cx="265176" cy="265176"/>
          </a:xfrm>
          <a:prstGeom prst="rect">
            <a:avLst/>
          </a:prstGeom>
        </p:spPr>
      </p:pic>
      <p:sp>
        <p:nvSpPr>
          <p:cNvPr id="17" name="Text 12"/>
          <p:cNvSpPr/>
          <p:nvPr/>
        </p:nvSpPr>
        <p:spPr>
          <a:xfrm>
            <a:off x="804672" y="4462272"/>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Scan before you apply</a:t>
            </a:r>
            <a:endParaRPr lang="en-US" sz="1350" dirty="0"/>
          </a:p>
        </p:txBody>
      </p:sp>
      <p:sp>
        <p:nvSpPr>
          <p:cNvPr id="18" name="Text 13"/>
          <p:cNvSpPr/>
          <p:nvPr/>
        </p:nvSpPr>
        <p:spPr>
          <a:xfrm>
            <a:off x="804672" y="4809744"/>
            <a:ext cx="4919472" cy="59436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tfsec, Checkov and Trivy read your HCL and flag public buckets, open security groups and unencrypted volumes. Same Trivy you used on container images.</a:t>
            </a:r>
            <a:endParaRPr lang="en-US" sz="1100" dirty="0"/>
          </a:p>
        </p:txBody>
      </p:sp>
      <p:sp>
        <p:nvSpPr>
          <p:cNvPr id="19" name="Shape 14"/>
          <p:cNvSpPr/>
          <p:nvPr/>
        </p:nvSpPr>
        <p:spPr>
          <a:xfrm>
            <a:off x="6245352" y="3621024"/>
            <a:ext cx="5394960" cy="1965960"/>
          </a:xfrm>
          <a:prstGeom prst="roundRect">
            <a:avLst>
              <a:gd name="adj" fmla="val 2326"/>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0" name="Shape 15"/>
          <p:cNvSpPr/>
          <p:nvPr/>
        </p:nvSpPr>
        <p:spPr>
          <a:xfrm>
            <a:off x="6483096" y="3858768"/>
            <a:ext cx="512064" cy="512064"/>
          </a:xfrm>
          <a:prstGeom prst="ellipse">
            <a:avLst/>
          </a:prstGeom>
          <a:solidFill>
            <a:srgbClr val="F0FDFA"/>
          </a:solidFill>
          <a:ln w="11430">
            <a:solidFill>
              <a:srgbClr val="0D9488"/>
            </a:solidFill>
            <a:prstDash val="solid"/>
          </a:ln>
        </p:spPr>
      </p:sp>
      <p:pic>
        <p:nvPicPr>
          <p:cNvPr id="21" name="Image 3" descr="preencoded.png">    </p:cNvPr>
          <p:cNvPicPr>
            <a:picLocks noChangeAspect="1"/>
          </p:cNvPicPr>
          <p:nvPr/>
        </p:nvPicPr>
        <p:blipFill>
          <a:blip r:embed="rId4"/>
          <a:stretch>
            <a:fillRect/>
          </a:stretch>
        </p:blipFill>
        <p:spPr>
          <a:xfrm>
            <a:off x="6606540" y="3982212"/>
            <a:ext cx="265176" cy="265176"/>
          </a:xfrm>
          <a:prstGeom prst="rect">
            <a:avLst/>
          </a:prstGeom>
        </p:spPr>
      </p:pic>
      <p:sp>
        <p:nvSpPr>
          <p:cNvPr id="22" name="Text 16"/>
          <p:cNvSpPr/>
          <p:nvPr/>
        </p:nvSpPr>
        <p:spPr>
          <a:xfrm>
            <a:off x="6483096" y="4462272"/>
            <a:ext cx="4919472"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Encode policy as code</a:t>
            </a:r>
            <a:endParaRPr lang="en-US" sz="1350" dirty="0"/>
          </a:p>
        </p:txBody>
      </p:sp>
      <p:sp>
        <p:nvSpPr>
          <p:cNvPr id="23" name="Text 17"/>
          <p:cNvSpPr/>
          <p:nvPr/>
        </p:nvSpPr>
        <p:spPr>
          <a:xfrm>
            <a:off x="6483096" y="4809744"/>
            <a:ext cx="4919472" cy="59436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OPA or Sentinel can reject a plan that violates a rule — no untagged resources, no instance larger than an agreed size, no public ingress on port 22.</a:t>
            </a:r>
            <a:endParaRPr lang="en-US" sz="1100" dirty="0"/>
          </a:p>
        </p:txBody>
      </p:sp>
      <p:sp>
        <p:nvSpPr>
          <p:cNvPr id="24" name="Shape 18"/>
          <p:cNvSpPr/>
          <p:nvPr/>
        </p:nvSpPr>
        <p:spPr>
          <a:xfrm>
            <a:off x="566928" y="5632704"/>
            <a:ext cx="11073384" cy="749808"/>
          </a:xfrm>
          <a:prstGeom prst="roundRect">
            <a:avLst>
              <a:gd name="adj" fmla="val 6098"/>
            </a:avLst>
          </a:prstGeom>
          <a:solidFill>
            <a:srgbClr val="F0FDFA"/>
          </a:solidFill>
          <a:ln w="12700">
            <a:solidFill>
              <a:srgbClr val="99F6E4"/>
            </a:solidFill>
            <a:prstDash val="solid"/>
          </a:ln>
        </p:spPr>
      </p:sp>
      <p:sp>
        <p:nvSpPr>
          <p:cNvPr id="25" name="Text 19"/>
          <p:cNvSpPr/>
          <p:nvPr/>
        </p:nvSpPr>
        <p:spPr>
          <a:xfrm>
            <a:off x="804672" y="5724144"/>
            <a:ext cx="2194560" cy="219456"/>
          </a:xfrm>
          <a:prstGeom prst="rect">
            <a:avLst/>
          </a:prstGeom>
          <a:noFill/>
          <a:ln/>
        </p:spPr>
        <p:txBody>
          <a:bodyPr wrap="square" lIns="0" tIns="0" rIns="0" bIns="0" rtlCol="0" anchor="ctr"/>
          <a:lstStyle/>
          <a:p>
            <a:pPr indent="0" marL="0">
              <a:buNone/>
            </a:pPr>
            <a:r>
              <a:rPr lang="en-US" sz="1000" b="1" spc="160" kern="0" dirty="0">
                <a:solidFill>
                  <a:srgbClr val="0F766E"/>
                </a:solidFill>
                <a:latin typeface="Calibri" pitchFamily="34" charset="0"/>
                <a:ea typeface="Calibri" pitchFamily="34" charset="-122"/>
                <a:cs typeface="Calibri" pitchFamily="34" charset="-120"/>
              </a:rPr>
              <a:t>THE PRINCIPLE</a:t>
            </a:r>
            <a:endParaRPr lang="en-US" sz="1000" dirty="0"/>
          </a:p>
        </p:txBody>
      </p:sp>
      <p:sp>
        <p:nvSpPr>
          <p:cNvPr id="26" name="Text 20"/>
          <p:cNvSpPr/>
          <p:nvPr/>
        </p:nvSpPr>
        <p:spPr>
          <a:xfrm>
            <a:off x="804672" y="5934456"/>
            <a:ext cx="10597896" cy="347472"/>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The cheapest place to catch an infrastructure mistake is in a pull request. The most expensive is in an incident review.</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FF9900"/>
                </a:solidFill>
                <a:latin typeface="Calibri" pitchFamily="34" charset="0"/>
                <a:ea typeface="Calibri" pitchFamily="34" charset="-122"/>
                <a:cs typeface="Calibri" pitchFamily="34" charset="-120"/>
              </a:rPr>
              <a:t>THE NEXT THREE HOURS</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What you are about to build</a:t>
            </a:r>
            <a:endParaRPr lang="en-US" sz="3000" dirty="0"/>
          </a:p>
        </p:txBody>
      </p:sp>
      <p:sp>
        <p:nvSpPr>
          <p:cNvPr id="4" name="Shape 2"/>
          <p:cNvSpPr/>
          <p:nvPr/>
        </p:nvSpPr>
        <p:spPr>
          <a:xfrm>
            <a:off x="566928" y="1371600"/>
            <a:ext cx="11073384" cy="384048"/>
          </a:xfrm>
          <a:prstGeom prst="rect">
            <a:avLst/>
          </a:prstGeom>
          <a:solidFill>
            <a:srgbClr val="0F172A"/>
          </a:solidFill>
          <a:ln w="6350">
            <a:solidFill>
              <a:srgbClr val="0F172A"/>
            </a:solidFill>
            <a:prstDash val="solid"/>
          </a:ln>
        </p:spPr>
      </p:sp>
      <p:sp>
        <p:nvSpPr>
          <p:cNvPr id="5" name="Text 3"/>
          <p:cNvSpPr/>
          <p:nvPr/>
        </p:nvSpPr>
        <p:spPr>
          <a:xfrm>
            <a:off x="713232" y="1371600"/>
            <a:ext cx="438912"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a:t>
            </a:r>
            <a:endParaRPr lang="en-US" sz="1100" dirty="0"/>
          </a:p>
        </p:txBody>
      </p:sp>
      <p:sp>
        <p:nvSpPr>
          <p:cNvPr id="6" name="Text 4"/>
          <p:cNvSpPr/>
          <p:nvPr/>
        </p:nvSpPr>
        <p:spPr>
          <a:xfrm>
            <a:off x="1371600" y="1371600"/>
            <a:ext cx="261518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LAB</a:t>
            </a:r>
            <a:endParaRPr lang="en-US" sz="1100" dirty="0"/>
          </a:p>
        </p:txBody>
      </p:sp>
      <p:sp>
        <p:nvSpPr>
          <p:cNvPr id="7" name="Text 5"/>
          <p:cNvSpPr/>
          <p:nvPr/>
        </p:nvSpPr>
        <p:spPr>
          <a:xfrm>
            <a:off x="4206240" y="1371600"/>
            <a:ext cx="649224"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TIME</a:t>
            </a:r>
            <a:endParaRPr lang="en-US" sz="1100" dirty="0"/>
          </a:p>
        </p:txBody>
      </p:sp>
      <p:sp>
        <p:nvSpPr>
          <p:cNvPr id="8" name="Text 6"/>
          <p:cNvSpPr/>
          <p:nvPr/>
        </p:nvSpPr>
        <p:spPr>
          <a:xfrm>
            <a:off x="5074920" y="1371600"/>
            <a:ext cx="6492240" cy="384048"/>
          </a:xfrm>
          <a:prstGeom prst="rect">
            <a:avLst/>
          </a:prstGeom>
          <a:noFill/>
          <a:ln/>
        </p:spPr>
        <p:txBody>
          <a:bodyPr wrap="square" lIns="0" tIns="0" rIns="0" bIns="0"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THE IDEA YOU TAKE AWAY</a:t>
            </a:r>
            <a:endParaRPr lang="en-US" sz="1100" dirty="0"/>
          </a:p>
        </p:txBody>
      </p:sp>
      <p:sp>
        <p:nvSpPr>
          <p:cNvPr id="9" name="Shape 7"/>
          <p:cNvSpPr/>
          <p:nvPr/>
        </p:nvSpPr>
        <p:spPr>
          <a:xfrm>
            <a:off x="566928" y="1755648"/>
            <a:ext cx="11073384" cy="384048"/>
          </a:xfrm>
          <a:prstGeom prst="rect">
            <a:avLst/>
          </a:prstGeom>
          <a:solidFill>
            <a:srgbClr val="EFF3F8"/>
          </a:solidFill>
          <a:ln w="9525">
            <a:solidFill>
              <a:srgbClr val="E2E8F0"/>
            </a:solidFill>
            <a:prstDash val="solid"/>
          </a:ln>
        </p:spPr>
      </p:sp>
      <p:sp>
        <p:nvSpPr>
          <p:cNvPr id="10" name="Text 8"/>
          <p:cNvSpPr/>
          <p:nvPr/>
        </p:nvSpPr>
        <p:spPr>
          <a:xfrm>
            <a:off x="713232" y="1755648"/>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00</a:t>
            </a:r>
            <a:endParaRPr lang="en-US" sz="1150" dirty="0"/>
          </a:p>
        </p:txBody>
      </p:sp>
      <p:sp>
        <p:nvSpPr>
          <p:cNvPr id="11" name="Text 9"/>
          <p:cNvSpPr/>
          <p:nvPr/>
        </p:nvSpPr>
        <p:spPr>
          <a:xfrm>
            <a:off x="1371600" y="1755648"/>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Setup</a:t>
            </a:r>
            <a:endParaRPr lang="en-US" sz="1150" dirty="0"/>
          </a:p>
        </p:txBody>
      </p:sp>
      <p:sp>
        <p:nvSpPr>
          <p:cNvPr id="12" name="Text 10"/>
          <p:cNvSpPr/>
          <p:nvPr/>
        </p:nvSpPr>
        <p:spPr>
          <a:xfrm>
            <a:off x="4206240" y="1755648"/>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15m</a:t>
            </a:r>
            <a:endParaRPr lang="en-US" sz="1150" dirty="0"/>
          </a:p>
        </p:txBody>
      </p:sp>
      <p:sp>
        <p:nvSpPr>
          <p:cNvPr id="13" name="Text 11"/>
          <p:cNvSpPr/>
          <p:nvPr/>
        </p:nvSpPr>
        <p:spPr>
          <a:xfrm>
            <a:off x="5074920" y="1755648"/>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Tooling, credentials, and how to work today</a:t>
            </a:r>
            <a:endParaRPr lang="en-US" sz="1150" dirty="0"/>
          </a:p>
        </p:txBody>
      </p:sp>
      <p:sp>
        <p:nvSpPr>
          <p:cNvPr id="14" name="Shape 12"/>
          <p:cNvSpPr/>
          <p:nvPr/>
        </p:nvSpPr>
        <p:spPr>
          <a:xfrm>
            <a:off x="566928" y="2139696"/>
            <a:ext cx="11073384" cy="384048"/>
          </a:xfrm>
          <a:prstGeom prst="rect">
            <a:avLst/>
          </a:prstGeom>
          <a:solidFill>
            <a:srgbClr val="FFFFFF"/>
          </a:solidFill>
          <a:ln w="9525">
            <a:solidFill>
              <a:srgbClr val="E2E8F0"/>
            </a:solidFill>
            <a:prstDash val="solid"/>
          </a:ln>
        </p:spPr>
      </p:sp>
      <p:sp>
        <p:nvSpPr>
          <p:cNvPr id="15" name="Text 13"/>
          <p:cNvSpPr/>
          <p:nvPr/>
        </p:nvSpPr>
        <p:spPr>
          <a:xfrm>
            <a:off x="713232" y="2139696"/>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01</a:t>
            </a:r>
            <a:endParaRPr lang="en-US" sz="1150" dirty="0"/>
          </a:p>
        </p:txBody>
      </p:sp>
      <p:sp>
        <p:nvSpPr>
          <p:cNvPr id="16" name="Text 14"/>
          <p:cNvSpPr/>
          <p:nvPr/>
        </p:nvSpPr>
        <p:spPr>
          <a:xfrm>
            <a:off x="1371600" y="2139696"/>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S3 and remote state</a:t>
            </a:r>
            <a:endParaRPr lang="en-US" sz="1150" dirty="0"/>
          </a:p>
        </p:txBody>
      </p:sp>
      <p:sp>
        <p:nvSpPr>
          <p:cNvPr id="17" name="Text 15"/>
          <p:cNvSpPr/>
          <p:nvPr/>
        </p:nvSpPr>
        <p:spPr>
          <a:xfrm>
            <a:off x="4206240" y="2139696"/>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25m</a:t>
            </a:r>
            <a:endParaRPr lang="en-US" sz="1150" dirty="0"/>
          </a:p>
        </p:txBody>
      </p:sp>
      <p:sp>
        <p:nvSpPr>
          <p:cNvPr id="18" name="Text 16"/>
          <p:cNvSpPr/>
          <p:nvPr/>
        </p:nvSpPr>
        <p:spPr>
          <a:xfrm>
            <a:off x="5074920" y="2139696"/>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State is the whole ballgame — including the migration</a:t>
            </a:r>
            <a:endParaRPr lang="en-US" sz="1150" dirty="0"/>
          </a:p>
        </p:txBody>
      </p:sp>
      <p:sp>
        <p:nvSpPr>
          <p:cNvPr id="19" name="Shape 17"/>
          <p:cNvSpPr/>
          <p:nvPr/>
        </p:nvSpPr>
        <p:spPr>
          <a:xfrm>
            <a:off x="566928" y="2523744"/>
            <a:ext cx="11073384" cy="384048"/>
          </a:xfrm>
          <a:prstGeom prst="rect">
            <a:avLst/>
          </a:prstGeom>
          <a:solidFill>
            <a:srgbClr val="EFF3F8"/>
          </a:solidFill>
          <a:ln w="9525">
            <a:solidFill>
              <a:srgbClr val="E2E8F0"/>
            </a:solidFill>
            <a:prstDash val="solid"/>
          </a:ln>
        </p:spPr>
      </p:sp>
      <p:sp>
        <p:nvSpPr>
          <p:cNvPr id="20" name="Text 18"/>
          <p:cNvSpPr/>
          <p:nvPr/>
        </p:nvSpPr>
        <p:spPr>
          <a:xfrm>
            <a:off x="713232" y="2523744"/>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02</a:t>
            </a:r>
            <a:endParaRPr lang="en-US" sz="1150" dirty="0"/>
          </a:p>
        </p:txBody>
      </p:sp>
      <p:sp>
        <p:nvSpPr>
          <p:cNvPr id="21" name="Text 19"/>
          <p:cNvSpPr/>
          <p:nvPr/>
        </p:nvSpPr>
        <p:spPr>
          <a:xfrm>
            <a:off x="1371600" y="2523744"/>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IAM</a:t>
            </a:r>
            <a:endParaRPr lang="en-US" sz="1150" dirty="0"/>
          </a:p>
        </p:txBody>
      </p:sp>
      <p:sp>
        <p:nvSpPr>
          <p:cNvPr id="22" name="Text 20"/>
          <p:cNvSpPr/>
          <p:nvPr/>
        </p:nvSpPr>
        <p:spPr>
          <a:xfrm>
            <a:off x="4206240" y="2523744"/>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25m</a:t>
            </a:r>
            <a:endParaRPr lang="en-US" sz="1150" dirty="0"/>
          </a:p>
        </p:txBody>
      </p:sp>
      <p:sp>
        <p:nvSpPr>
          <p:cNvPr id="23" name="Text 21"/>
          <p:cNvSpPr/>
          <p:nvPr/>
        </p:nvSpPr>
        <p:spPr>
          <a:xfrm>
            <a:off x="5074920" y="2523744"/>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Trust policy versus permission policy</a:t>
            </a:r>
            <a:endParaRPr lang="en-US" sz="1150" dirty="0"/>
          </a:p>
        </p:txBody>
      </p:sp>
      <p:sp>
        <p:nvSpPr>
          <p:cNvPr id="24" name="Shape 22"/>
          <p:cNvSpPr/>
          <p:nvPr/>
        </p:nvSpPr>
        <p:spPr>
          <a:xfrm>
            <a:off x="566928" y="2907792"/>
            <a:ext cx="11073384" cy="384048"/>
          </a:xfrm>
          <a:prstGeom prst="rect">
            <a:avLst/>
          </a:prstGeom>
          <a:solidFill>
            <a:srgbClr val="FFFFFF"/>
          </a:solidFill>
          <a:ln w="9525">
            <a:solidFill>
              <a:srgbClr val="E2E8F0"/>
            </a:solidFill>
            <a:prstDash val="solid"/>
          </a:ln>
        </p:spPr>
      </p:sp>
      <p:sp>
        <p:nvSpPr>
          <p:cNvPr id="25" name="Text 23"/>
          <p:cNvSpPr/>
          <p:nvPr/>
        </p:nvSpPr>
        <p:spPr>
          <a:xfrm>
            <a:off x="713232" y="2907792"/>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03</a:t>
            </a:r>
            <a:endParaRPr lang="en-US" sz="1150" dirty="0"/>
          </a:p>
        </p:txBody>
      </p:sp>
      <p:sp>
        <p:nvSpPr>
          <p:cNvPr id="26" name="Text 24"/>
          <p:cNvSpPr/>
          <p:nvPr/>
        </p:nvSpPr>
        <p:spPr>
          <a:xfrm>
            <a:off x="1371600" y="2907792"/>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EC2 and EBS</a:t>
            </a:r>
            <a:endParaRPr lang="en-US" sz="1150" dirty="0"/>
          </a:p>
        </p:txBody>
      </p:sp>
      <p:sp>
        <p:nvSpPr>
          <p:cNvPr id="27" name="Text 25"/>
          <p:cNvSpPr/>
          <p:nvPr/>
        </p:nvSpPr>
        <p:spPr>
          <a:xfrm>
            <a:off x="4206240" y="2907792"/>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30m</a:t>
            </a:r>
            <a:endParaRPr lang="en-US" sz="1150" dirty="0"/>
          </a:p>
        </p:txBody>
      </p:sp>
      <p:sp>
        <p:nvSpPr>
          <p:cNvPr id="28" name="Text 26"/>
          <p:cNvSpPr/>
          <p:nvPr/>
        </p:nvSpPr>
        <p:spPr>
          <a:xfrm>
            <a:off x="5074920" y="2907792"/>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Data sources, lifecycle rules, user_data</a:t>
            </a:r>
            <a:endParaRPr lang="en-US" sz="1150" dirty="0"/>
          </a:p>
        </p:txBody>
      </p:sp>
      <p:sp>
        <p:nvSpPr>
          <p:cNvPr id="29" name="Shape 27"/>
          <p:cNvSpPr/>
          <p:nvPr/>
        </p:nvSpPr>
        <p:spPr>
          <a:xfrm>
            <a:off x="566928" y="3291840"/>
            <a:ext cx="11073384" cy="384048"/>
          </a:xfrm>
          <a:prstGeom prst="rect">
            <a:avLst/>
          </a:prstGeom>
          <a:solidFill>
            <a:srgbClr val="EFF3F8"/>
          </a:solidFill>
          <a:ln w="9525">
            <a:solidFill>
              <a:srgbClr val="E2E8F0"/>
            </a:solidFill>
            <a:prstDash val="solid"/>
          </a:ln>
        </p:spPr>
      </p:sp>
      <p:sp>
        <p:nvSpPr>
          <p:cNvPr id="30" name="Text 28"/>
          <p:cNvSpPr/>
          <p:nvPr/>
        </p:nvSpPr>
        <p:spPr>
          <a:xfrm>
            <a:off x="713232" y="3291840"/>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04</a:t>
            </a:r>
            <a:endParaRPr lang="en-US" sz="1150" dirty="0"/>
          </a:p>
        </p:txBody>
      </p:sp>
      <p:sp>
        <p:nvSpPr>
          <p:cNvPr id="31" name="Text 29"/>
          <p:cNvSpPr/>
          <p:nvPr/>
        </p:nvSpPr>
        <p:spPr>
          <a:xfrm>
            <a:off x="1371600" y="3291840"/>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ECR</a:t>
            </a:r>
            <a:endParaRPr lang="en-US" sz="1150" dirty="0"/>
          </a:p>
        </p:txBody>
      </p:sp>
      <p:sp>
        <p:nvSpPr>
          <p:cNvPr id="32" name="Text 30"/>
          <p:cNvSpPr/>
          <p:nvPr/>
        </p:nvSpPr>
        <p:spPr>
          <a:xfrm>
            <a:off x="4206240" y="3291840"/>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15m</a:t>
            </a:r>
            <a:endParaRPr lang="en-US" sz="1150" dirty="0"/>
          </a:p>
        </p:txBody>
      </p:sp>
      <p:sp>
        <p:nvSpPr>
          <p:cNvPr id="33" name="Text 31"/>
          <p:cNvSpPr/>
          <p:nvPr/>
        </p:nvSpPr>
        <p:spPr>
          <a:xfrm>
            <a:off x="5074920" y="3291840"/>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Immutable tags and lifecycle policies</a:t>
            </a:r>
            <a:endParaRPr lang="en-US" sz="1150" dirty="0"/>
          </a:p>
        </p:txBody>
      </p:sp>
      <p:sp>
        <p:nvSpPr>
          <p:cNvPr id="34" name="Shape 32"/>
          <p:cNvSpPr/>
          <p:nvPr/>
        </p:nvSpPr>
        <p:spPr>
          <a:xfrm>
            <a:off x="566928" y="3675888"/>
            <a:ext cx="11073384" cy="384048"/>
          </a:xfrm>
          <a:prstGeom prst="rect">
            <a:avLst/>
          </a:prstGeom>
          <a:solidFill>
            <a:srgbClr val="FFFFFF"/>
          </a:solidFill>
          <a:ln w="9525">
            <a:solidFill>
              <a:srgbClr val="E2E8F0"/>
            </a:solidFill>
            <a:prstDash val="solid"/>
          </a:ln>
        </p:spPr>
      </p:sp>
      <p:sp>
        <p:nvSpPr>
          <p:cNvPr id="35" name="Text 33"/>
          <p:cNvSpPr/>
          <p:nvPr/>
        </p:nvSpPr>
        <p:spPr>
          <a:xfrm>
            <a:off x="713232" y="3675888"/>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05</a:t>
            </a:r>
            <a:endParaRPr lang="en-US" sz="1150" dirty="0"/>
          </a:p>
        </p:txBody>
      </p:sp>
      <p:sp>
        <p:nvSpPr>
          <p:cNvPr id="36" name="Text 34"/>
          <p:cNvSpPr/>
          <p:nvPr/>
        </p:nvSpPr>
        <p:spPr>
          <a:xfrm>
            <a:off x="1371600" y="3675888"/>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EKS</a:t>
            </a:r>
            <a:endParaRPr lang="en-US" sz="1150" dirty="0"/>
          </a:p>
        </p:txBody>
      </p:sp>
      <p:sp>
        <p:nvSpPr>
          <p:cNvPr id="37" name="Text 35"/>
          <p:cNvSpPr/>
          <p:nvPr/>
        </p:nvSpPr>
        <p:spPr>
          <a:xfrm>
            <a:off x="4206240" y="3675888"/>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45m</a:t>
            </a:r>
            <a:endParaRPr lang="en-US" sz="1150" dirty="0"/>
          </a:p>
        </p:txBody>
      </p:sp>
      <p:sp>
        <p:nvSpPr>
          <p:cNvPr id="38" name="Text 36"/>
          <p:cNvSpPr/>
          <p:nvPr/>
        </p:nvSpPr>
        <p:spPr>
          <a:xfrm>
            <a:off x="5074920" y="3675888"/>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A cluster is really just five resource types</a:t>
            </a:r>
            <a:endParaRPr lang="en-US" sz="1150" dirty="0"/>
          </a:p>
        </p:txBody>
      </p:sp>
      <p:sp>
        <p:nvSpPr>
          <p:cNvPr id="39" name="Shape 37"/>
          <p:cNvSpPr/>
          <p:nvPr/>
        </p:nvSpPr>
        <p:spPr>
          <a:xfrm>
            <a:off x="566928" y="4059936"/>
            <a:ext cx="11073384" cy="384048"/>
          </a:xfrm>
          <a:prstGeom prst="rect">
            <a:avLst/>
          </a:prstGeom>
          <a:solidFill>
            <a:srgbClr val="EFF3F8"/>
          </a:solidFill>
          <a:ln w="9525">
            <a:solidFill>
              <a:srgbClr val="E2E8F0"/>
            </a:solidFill>
            <a:prstDash val="solid"/>
          </a:ln>
        </p:spPr>
      </p:sp>
      <p:sp>
        <p:nvSpPr>
          <p:cNvPr id="40" name="Text 38"/>
          <p:cNvSpPr/>
          <p:nvPr/>
        </p:nvSpPr>
        <p:spPr>
          <a:xfrm>
            <a:off x="713232" y="4059936"/>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06</a:t>
            </a:r>
            <a:endParaRPr lang="en-US" sz="1150" dirty="0"/>
          </a:p>
        </p:txBody>
      </p:sp>
      <p:sp>
        <p:nvSpPr>
          <p:cNvPr id="41" name="Text 39"/>
          <p:cNvSpPr/>
          <p:nvPr/>
        </p:nvSpPr>
        <p:spPr>
          <a:xfrm>
            <a:off x="1371600" y="4059936"/>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Kubernetes</a:t>
            </a:r>
            <a:endParaRPr lang="en-US" sz="1150" dirty="0"/>
          </a:p>
        </p:txBody>
      </p:sp>
      <p:sp>
        <p:nvSpPr>
          <p:cNvPr id="42" name="Text 40"/>
          <p:cNvSpPr/>
          <p:nvPr/>
        </p:nvSpPr>
        <p:spPr>
          <a:xfrm>
            <a:off x="4206240" y="4059936"/>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25m</a:t>
            </a:r>
            <a:endParaRPr lang="en-US" sz="1150" dirty="0"/>
          </a:p>
        </p:txBody>
      </p:sp>
      <p:sp>
        <p:nvSpPr>
          <p:cNvPr id="43" name="Text 41"/>
          <p:cNvSpPr/>
          <p:nvPr/>
        </p:nvSpPr>
        <p:spPr>
          <a:xfrm>
            <a:off x="5074920" y="4059936"/>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The provider chicken-and-egg, resolved</a:t>
            </a:r>
            <a:endParaRPr lang="en-US" sz="1150" dirty="0"/>
          </a:p>
        </p:txBody>
      </p:sp>
      <p:sp>
        <p:nvSpPr>
          <p:cNvPr id="44" name="Shape 42"/>
          <p:cNvSpPr/>
          <p:nvPr/>
        </p:nvSpPr>
        <p:spPr>
          <a:xfrm>
            <a:off x="566928" y="4443984"/>
            <a:ext cx="11073384" cy="384048"/>
          </a:xfrm>
          <a:prstGeom prst="rect">
            <a:avLst/>
          </a:prstGeom>
          <a:solidFill>
            <a:srgbClr val="FFFFFF"/>
          </a:solidFill>
          <a:ln w="9525">
            <a:solidFill>
              <a:srgbClr val="E2E8F0"/>
            </a:solidFill>
            <a:prstDash val="solid"/>
          </a:ln>
        </p:spPr>
      </p:sp>
      <p:sp>
        <p:nvSpPr>
          <p:cNvPr id="45" name="Text 43"/>
          <p:cNvSpPr/>
          <p:nvPr/>
        </p:nvSpPr>
        <p:spPr>
          <a:xfrm>
            <a:off x="713232" y="4443984"/>
            <a:ext cx="438912" cy="384048"/>
          </a:xfrm>
          <a:prstGeom prst="rect">
            <a:avLst/>
          </a:prstGeom>
          <a:noFill/>
          <a:ln/>
        </p:spPr>
        <p:txBody>
          <a:bodyPr wrap="square" lIns="0" tIns="0" rIns="0" bIns="0" rtlCol="0" anchor="ctr"/>
          <a:lstStyle/>
          <a:p>
            <a:pPr indent="0" marL="0">
              <a:buNone/>
            </a:pPr>
            <a:r>
              <a:rPr lang="en-US" sz="1150" b="1" dirty="0">
                <a:solidFill>
                  <a:srgbClr val="0F172A"/>
                </a:solidFill>
                <a:latin typeface="Calibri" pitchFamily="34" charset="0"/>
                <a:ea typeface="Calibri" pitchFamily="34" charset="-122"/>
                <a:cs typeface="Calibri" pitchFamily="34" charset="-120"/>
              </a:rPr>
              <a:t>07</a:t>
            </a:r>
            <a:endParaRPr lang="en-US" sz="1150" dirty="0"/>
          </a:p>
        </p:txBody>
      </p:sp>
      <p:sp>
        <p:nvSpPr>
          <p:cNvPr id="46" name="Text 44"/>
          <p:cNvSpPr/>
          <p:nvPr/>
        </p:nvSpPr>
        <p:spPr>
          <a:xfrm>
            <a:off x="1371600" y="4443984"/>
            <a:ext cx="261518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Teardown</a:t>
            </a:r>
            <a:endParaRPr lang="en-US" sz="1150" dirty="0"/>
          </a:p>
        </p:txBody>
      </p:sp>
      <p:sp>
        <p:nvSpPr>
          <p:cNvPr id="47" name="Text 45"/>
          <p:cNvSpPr/>
          <p:nvPr/>
        </p:nvSpPr>
        <p:spPr>
          <a:xfrm>
            <a:off x="4206240" y="4443984"/>
            <a:ext cx="649224"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15m</a:t>
            </a:r>
            <a:endParaRPr lang="en-US" sz="1150" dirty="0"/>
          </a:p>
        </p:txBody>
      </p:sp>
      <p:sp>
        <p:nvSpPr>
          <p:cNvPr id="48" name="Text 46"/>
          <p:cNvSpPr/>
          <p:nvPr/>
        </p:nvSpPr>
        <p:spPr>
          <a:xfrm>
            <a:off x="5074920" y="4443984"/>
            <a:ext cx="6492240" cy="384048"/>
          </a:xfrm>
          <a:prstGeom prst="rect">
            <a:avLst/>
          </a:prstGeom>
          <a:noFill/>
          <a:ln/>
        </p:spPr>
        <p:txBody>
          <a:bodyPr wrap="square" lIns="0" tIns="0" rIns="0" bIns="0" rtlCol="0" anchor="ctr"/>
          <a:lstStyle/>
          <a:p>
            <a:pPr indent="0" marL="0">
              <a:buNone/>
            </a:pPr>
            <a:r>
              <a:rPr lang="en-US" sz="1150" dirty="0">
                <a:solidFill>
                  <a:srgbClr val="334155"/>
                </a:solidFill>
                <a:latin typeface="Calibri" pitchFamily="34" charset="0"/>
                <a:ea typeface="Calibri" pitchFamily="34" charset="-122"/>
                <a:cs typeface="Calibri" pitchFamily="34" charset="-120"/>
              </a:rPr>
              <a:t>Destroy order, and hunting for orphans</a:t>
            </a:r>
            <a:endParaRPr lang="en-US" sz="1150" dirty="0"/>
          </a:p>
        </p:txBody>
      </p:sp>
      <p:sp>
        <p:nvSpPr>
          <p:cNvPr id="49" name="Shape 47"/>
          <p:cNvSpPr/>
          <p:nvPr/>
        </p:nvSpPr>
        <p:spPr>
          <a:xfrm>
            <a:off x="566928" y="4937760"/>
            <a:ext cx="1704442" cy="310896"/>
          </a:xfrm>
          <a:prstGeom prst="roundRect">
            <a:avLst>
              <a:gd name="adj" fmla="val 47059"/>
            </a:avLst>
          </a:prstGeom>
          <a:solidFill>
            <a:srgbClr val="FFF7ED"/>
          </a:solidFill>
          <a:ln w="10795">
            <a:solidFill>
              <a:srgbClr val="FF9900"/>
            </a:solidFill>
            <a:prstDash val="solid"/>
          </a:ln>
        </p:spPr>
      </p:sp>
      <p:sp>
        <p:nvSpPr>
          <p:cNvPr id="50" name="Text 48"/>
          <p:cNvSpPr/>
          <p:nvPr/>
        </p:nvSpPr>
        <p:spPr>
          <a:xfrm>
            <a:off x="566928" y="4937760"/>
            <a:ext cx="1704442" cy="310896"/>
          </a:xfrm>
          <a:prstGeom prst="rect">
            <a:avLst/>
          </a:prstGeom>
          <a:noFill/>
          <a:ln/>
        </p:spPr>
        <p:txBody>
          <a:bodyPr wrap="square" lIns="0" tIns="0" rIns="0" bIns="0" rtlCol="0" anchor="ctr"/>
          <a:lstStyle/>
          <a:p>
            <a:pPr algn="ctr" indent="0" marL="0">
              <a:buNone/>
            </a:pPr>
            <a:r>
              <a:rPr lang="en-US" sz="1050" dirty="0">
                <a:solidFill>
                  <a:srgbClr val="FF9900"/>
                </a:solidFill>
                <a:latin typeface="Courier New" pitchFamily="34" charset="0"/>
                <a:ea typeface="Courier New" pitchFamily="34" charset="-122"/>
                <a:cs typeface="Courier New" pitchFamily="34" charset="-120"/>
              </a:rPr>
              <a:t>region: ap-south-1</a:t>
            </a:r>
            <a:endParaRPr lang="en-US" sz="1050" dirty="0"/>
          </a:p>
        </p:txBody>
      </p:sp>
      <p:sp>
        <p:nvSpPr>
          <p:cNvPr id="51" name="Shape 49"/>
          <p:cNvSpPr/>
          <p:nvPr/>
        </p:nvSpPr>
        <p:spPr>
          <a:xfrm>
            <a:off x="2454250" y="4937760"/>
            <a:ext cx="1543507" cy="310896"/>
          </a:xfrm>
          <a:prstGeom prst="roundRect">
            <a:avLst>
              <a:gd name="adj" fmla="val 47059"/>
            </a:avLst>
          </a:prstGeom>
          <a:solidFill>
            <a:srgbClr val="F4EDFB"/>
          </a:solidFill>
          <a:ln w="10795">
            <a:solidFill>
              <a:srgbClr val="7B42BC"/>
            </a:solidFill>
            <a:prstDash val="solid"/>
          </a:ln>
        </p:spPr>
      </p:sp>
      <p:sp>
        <p:nvSpPr>
          <p:cNvPr id="52" name="Text 50"/>
          <p:cNvSpPr/>
          <p:nvPr/>
        </p:nvSpPr>
        <p:spPr>
          <a:xfrm>
            <a:off x="2454250" y="4937760"/>
            <a:ext cx="1543507" cy="310896"/>
          </a:xfrm>
          <a:prstGeom prst="rect">
            <a:avLst/>
          </a:prstGeom>
          <a:noFill/>
          <a:ln/>
        </p:spPr>
        <p:txBody>
          <a:bodyPr wrap="square" lIns="0" tIns="0" rIns="0" bIns="0" rtlCol="0" anchor="ctr"/>
          <a:lstStyle/>
          <a:p>
            <a:pPr algn="ctr" indent="0" marL="0">
              <a:buNone/>
            </a:pPr>
            <a:r>
              <a:rPr lang="en-US" sz="1050" dirty="0">
                <a:solidFill>
                  <a:srgbClr val="7B42BC"/>
                </a:solidFill>
                <a:latin typeface="Courier New" pitchFamily="34" charset="0"/>
                <a:ea typeface="Courier New" pitchFamily="34" charset="-122"/>
                <a:cs typeface="Courier New" pitchFamily="34" charset="-120"/>
              </a:rPr>
              <a:t>terraform &gt;= 1.9</a:t>
            </a:r>
            <a:endParaRPr lang="en-US" sz="1050" dirty="0"/>
          </a:p>
        </p:txBody>
      </p:sp>
      <p:sp>
        <p:nvSpPr>
          <p:cNvPr id="53" name="Shape 51"/>
          <p:cNvSpPr/>
          <p:nvPr/>
        </p:nvSpPr>
        <p:spPr>
          <a:xfrm>
            <a:off x="4180637" y="4937760"/>
            <a:ext cx="1784909" cy="310896"/>
          </a:xfrm>
          <a:prstGeom prst="roundRect">
            <a:avLst>
              <a:gd name="adj" fmla="val 47059"/>
            </a:avLst>
          </a:prstGeom>
          <a:solidFill>
            <a:srgbClr val="F4EDFB"/>
          </a:solidFill>
          <a:ln w="10795">
            <a:solidFill>
              <a:srgbClr val="7B42BC"/>
            </a:solidFill>
            <a:prstDash val="solid"/>
          </a:ln>
        </p:spPr>
      </p:sp>
      <p:sp>
        <p:nvSpPr>
          <p:cNvPr id="54" name="Text 52"/>
          <p:cNvSpPr/>
          <p:nvPr/>
        </p:nvSpPr>
        <p:spPr>
          <a:xfrm>
            <a:off x="4180637" y="4937760"/>
            <a:ext cx="1784909" cy="310896"/>
          </a:xfrm>
          <a:prstGeom prst="rect">
            <a:avLst/>
          </a:prstGeom>
          <a:noFill/>
          <a:ln/>
        </p:spPr>
        <p:txBody>
          <a:bodyPr wrap="square" lIns="0" tIns="0" rIns="0" bIns="0" rtlCol="0" anchor="ctr"/>
          <a:lstStyle/>
          <a:p>
            <a:pPr algn="ctr" indent="0" marL="0">
              <a:buNone/>
            </a:pPr>
            <a:r>
              <a:rPr lang="en-US" sz="1050" dirty="0">
                <a:solidFill>
                  <a:srgbClr val="7B42BC"/>
                </a:solidFill>
                <a:latin typeface="Courier New" pitchFamily="34" charset="0"/>
                <a:ea typeface="Courier New" pitchFamily="34" charset="-122"/>
                <a:cs typeface="Courier New" pitchFamily="34" charset="-120"/>
              </a:rPr>
              <a:t>aws provider ~&gt; 5.0</a:t>
            </a:r>
            <a:endParaRPr lang="en-US" sz="1050" dirty="0"/>
          </a:p>
        </p:txBody>
      </p:sp>
      <p:sp>
        <p:nvSpPr>
          <p:cNvPr id="55" name="Shape 53"/>
          <p:cNvSpPr/>
          <p:nvPr/>
        </p:nvSpPr>
        <p:spPr>
          <a:xfrm>
            <a:off x="6148426" y="4937760"/>
            <a:ext cx="2106778" cy="310896"/>
          </a:xfrm>
          <a:prstGeom prst="roundRect">
            <a:avLst>
              <a:gd name="adj" fmla="val 47059"/>
            </a:avLst>
          </a:prstGeom>
          <a:solidFill>
            <a:srgbClr val="F0FDFA"/>
          </a:solidFill>
          <a:ln w="10795">
            <a:solidFill>
              <a:srgbClr val="0D9488"/>
            </a:solidFill>
            <a:prstDash val="solid"/>
          </a:ln>
        </p:spPr>
      </p:sp>
      <p:sp>
        <p:nvSpPr>
          <p:cNvPr id="56" name="Text 54"/>
          <p:cNvSpPr/>
          <p:nvPr/>
        </p:nvSpPr>
        <p:spPr>
          <a:xfrm>
            <a:off x="6148426" y="4937760"/>
            <a:ext cx="2106778" cy="310896"/>
          </a:xfrm>
          <a:prstGeom prst="rect">
            <a:avLst/>
          </a:prstGeom>
          <a:noFill/>
          <a:ln/>
        </p:spPr>
        <p:txBody>
          <a:bodyPr wrap="square" lIns="0" tIns="0" rIns="0" bIns="0" rtlCol="0" anchor="ctr"/>
          <a:lstStyle/>
          <a:p>
            <a:pPr algn="ctr" indent="0" marL="0">
              <a:buNone/>
            </a:pPr>
            <a:r>
              <a:rPr lang="en-US" sz="1050" dirty="0">
                <a:solidFill>
                  <a:srgbClr val="0D9488"/>
                </a:solidFill>
                <a:latin typeface="Courier New" pitchFamily="34" charset="0"/>
                <a:ea typeface="Courier New" pitchFamily="34" charset="-122"/>
                <a:cs typeface="Courier New" pitchFamily="34" charset="-120"/>
              </a:rPr>
              <a:t>cost: about $0.30–$0.80</a:t>
            </a:r>
            <a:endParaRPr lang="en-US" sz="1050" dirty="0"/>
          </a:p>
        </p:txBody>
      </p:sp>
      <p:sp>
        <p:nvSpPr>
          <p:cNvPr id="57" name="Shape 55"/>
          <p:cNvSpPr/>
          <p:nvPr/>
        </p:nvSpPr>
        <p:spPr>
          <a:xfrm>
            <a:off x="566928" y="5431536"/>
            <a:ext cx="11073384" cy="822960"/>
          </a:xfrm>
          <a:prstGeom prst="roundRect">
            <a:avLst>
              <a:gd name="adj" fmla="val 5556"/>
            </a:avLst>
          </a:prstGeom>
          <a:solidFill>
            <a:srgbClr val="FFF7ED"/>
          </a:solidFill>
          <a:ln w="12700">
            <a:solidFill>
              <a:srgbClr val="FED7AA"/>
            </a:solidFill>
            <a:prstDash val="solid"/>
          </a:ln>
        </p:spPr>
      </p:sp>
      <p:sp>
        <p:nvSpPr>
          <p:cNvPr id="58" name="Text 56"/>
          <p:cNvSpPr/>
          <p:nvPr/>
        </p:nvSpPr>
        <p:spPr>
          <a:xfrm>
            <a:off x="804672" y="5522976"/>
            <a:ext cx="2194560" cy="219456"/>
          </a:xfrm>
          <a:prstGeom prst="rect">
            <a:avLst/>
          </a:prstGeom>
          <a:noFill/>
          <a:ln/>
        </p:spPr>
        <p:txBody>
          <a:bodyPr wrap="square" lIns="0" tIns="0" rIns="0" bIns="0" rtlCol="0" anchor="ctr"/>
          <a:lstStyle/>
          <a:p>
            <a:pPr indent="0" marL="0">
              <a:buNone/>
            </a:pPr>
            <a:r>
              <a:rPr lang="en-US" sz="1000" b="1" spc="160" kern="0" dirty="0">
                <a:solidFill>
                  <a:srgbClr val="C2410C"/>
                </a:solidFill>
                <a:latin typeface="Calibri" pitchFamily="34" charset="0"/>
                <a:ea typeface="Calibri" pitchFamily="34" charset="-122"/>
                <a:cs typeface="Calibri" pitchFamily="34" charset="-120"/>
              </a:rPr>
              <a:t>TWO RULES FOR TODAY</a:t>
            </a:r>
            <a:endParaRPr lang="en-US" sz="1000" dirty="0"/>
          </a:p>
        </p:txBody>
      </p:sp>
      <p:sp>
        <p:nvSpPr>
          <p:cNvPr id="59" name="Text 57"/>
          <p:cNvSpPr/>
          <p:nvPr/>
        </p:nvSpPr>
        <p:spPr>
          <a:xfrm>
            <a:off x="804672" y="5733288"/>
            <a:ext cx="10597896" cy="420624"/>
          </a:xfrm>
          <a:prstGeom prst="rect">
            <a:avLst/>
          </a:prstGeom>
          <a:noFill/>
          <a:ln/>
        </p:spPr>
        <p:txBody>
          <a:bodyPr wrap="square" lIns="0" tIns="0" rIns="0" bIns="0" rtlCol="0" anchor="t"/>
          <a:lstStyle/>
          <a:p>
            <a:pPr indent="0" marL="0">
              <a:lnSpc>
                <a:spcPts val="1800"/>
              </a:lnSpc>
              <a:buNone/>
            </a:pPr>
            <a:r>
              <a:rPr lang="en-US" sz="1300" dirty="0">
                <a:solidFill>
                  <a:srgbClr val="334155"/>
                </a:solidFill>
                <a:latin typeface="Calibri" pitchFamily="34" charset="0"/>
                <a:ea typeface="Calibri" pitchFamily="34" charset="-122"/>
                <a:cs typeface="Calibri" pitchFamily="34" charset="-120"/>
              </a:rPr>
              <a:t>Everything gets your name in it, because you are sharing an account and S3 bucket names are globally unique. And nobody leaves before lab 07 finishes — an EKS control plane you forgot about bills every hour of every day.</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66928" y="384048"/>
            <a:ext cx="11057839" cy="237744"/>
          </a:xfrm>
          <a:prstGeom prst="rect">
            <a:avLst/>
          </a:prstGeom>
          <a:noFill/>
          <a:ln/>
        </p:spPr>
        <p:txBody>
          <a:bodyPr wrap="square" lIns="0" tIns="0" rIns="0" bIns="0" rtlCol="0" anchor="ctr"/>
          <a:lstStyle/>
          <a:p>
            <a:pPr indent="0" marL="0">
              <a:buNone/>
            </a:pPr>
            <a:r>
              <a:rPr lang="en-US" sz="1150" b="1" spc="220" kern="0" dirty="0">
                <a:solidFill>
                  <a:srgbClr val="7B42BC"/>
                </a:solidFill>
                <a:latin typeface="Calibri" pitchFamily="34" charset="0"/>
                <a:ea typeface="Calibri" pitchFamily="34" charset="-122"/>
                <a:cs typeface="Calibri" pitchFamily="34" charset="-120"/>
              </a:rPr>
              <a:t>RECAP</a:t>
            </a:r>
            <a:endParaRPr lang="en-US" sz="1150" dirty="0"/>
          </a:p>
        </p:txBody>
      </p:sp>
      <p:sp>
        <p:nvSpPr>
          <p:cNvPr id="3" name="Text 1"/>
          <p:cNvSpPr/>
          <p:nvPr/>
        </p:nvSpPr>
        <p:spPr>
          <a:xfrm>
            <a:off x="566928" y="640080"/>
            <a:ext cx="11057839" cy="658368"/>
          </a:xfrm>
          <a:prstGeom prst="rect">
            <a:avLst/>
          </a:prstGeom>
          <a:noFill/>
          <a:ln/>
        </p:spPr>
        <p:txBody>
          <a:bodyPr wrap="square" lIns="0" tIns="0" rIns="0" bIns="0" rtlCol="0" anchor="t"/>
          <a:lstStyle/>
          <a:p>
            <a:pPr indent="0" marL="0">
              <a:buNone/>
            </a:pPr>
            <a:r>
              <a:rPr lang="en-US" sz="3000" b="1" dirty="0">
                <a:solidFill>
                  <a:srgbClr val="0F172A"/>
                </a:solidFill>
                <a:latin typeface="Bookman Old Style" pitchFamily="34" charset="0"/>
                <a:ea typeface="Bookman Old Style" pitchFamily="34" charset="-122"/>
                <a:cs typeface="Bookman Old Style" pitchFamily="34" charset="-120"/>
              </a:rPr>
              <a:t>The five things that matter</a:t>
            </a:r>
            <a:endParaRPr lang="en-US" sz="3000" dirty="0"/>
          </a:p>
        </p:txBody>
      </p:sp>
      <p:sp>
        <p:nvSpPr>
          <p:cNvPr id="4" name="Shape 2"/>
          <p:cNvSpPr/>
          <p:nvPr/>
        </p:nvSpPr>
        <p:spPr>
          <a:xfrm>
            <a:off x="566928" y="1481328"/>
            <a:ext cx="3529584" cy="1874520"/>
          </a:xfrm>
          <a:prstGeom prst="roundRect">
            <a:avLst>
              <a:gd name="adj" fmla="val 2439"/>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5" name="Shape 3"/>
          <p:cNvSpPr/>
          <p:nvPr/>
        </p:nvSpPr>
        <p:spPr>
          <a:xfrm>
            <a:off x="804672" y="1719072"/>
            <a:ext cx="512064" cy="512064"/>
          </a:xfrm>
          <a:prstGeom prst="ellipse">
            <a:avLst/>
          </a:prstGeom>
          <a:solidFill>
            <a:srgbClr val="F4EDFB"/>
          </a:solidFill>
          <a:ln w="11430">
            <a:solidFill>
              <a:srgbClr val="7B42BC"/>
            </a:solidFill>
            <a:prstDash val="solid"/>
          </a:ln>
        </p:spPr>
      </p:sp>
      <p:pic>
        <p:nvPicPr>
          <p:cNvPr id="6" name="Image 0" descr="preencoded.png">    </p:cNvPr>
          <p:cNvPicPr>
            <a:picLocks noChangeAspect="1"/>
          </p:cNvPicPr>
          <p:nvPr/>
        </p:nvPicPr>
        <p:blipFill>
          <a:blip r:embed="rId1"/>
          <a:stretch>
            <a:fillRect/>
          </a:stretch>
        </p:blipFill>
        <p:spPr>
          <a:xfrm>
            <a:off x="928116" y="1842516"/>
            <a:ext cx="265176" cy="265176"/>
          </a:xfrm>
          <a:prstGeom prst="rect">
            <a:avLst/>
          </a:prstGeom>
        </p:spPr>
      </p:pic>
      <p:sp>
        <p:nvSpPr>
          <p:cNvPr id="7" name="Text 4"/>
          <p:cNvSpPr/>
          <p:nvPr/>
        </p:nvSpPr>
        <p:spPr>
          <a:xfrm>
            <a:off x="804672" y="2322576"/>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Declarative, not imperative</a:t>
            </a:r>
            <a:endParaRPr lang="en-US" sz="1350" dirty="0"/>
          </a:p>
        </p:txBody>
      </p:sp>
      <p:sp>
        <p:nvSpPr>
          <p:cNvPr id="8" name="Text 5"/>
          <p:cNvSpPr/>
          <p:nvPr/>
        </p:nvSpPr>
        <p:spPr>
          <a:xfrm>
            <a:off x="804672" y="2670048"/>
            <a:ext cx="3054096" cy="50292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Describe the destination. Let the tool work out the route.</a:t>
            </a:r>
            <a:endParaRPr lang="en-US" sz="1100" dirty="0"/>
          </a:p>
        </p:txBody>
      </p:sp>
      <p:sp>
        <p:nvSpPr>
          <p:cNvPr id="9" name="Shape 6"/>
          <p:cNvSpPr/>
          <p:nvPr/>
        </p:nvSpPr>
        <p:spPr>
          <a:xfrm>
            <a:off x="4352544" y="1481328"/>
            <a:ext cx="3529584" cy="1874520"/>
          </a:xfrm>
          <a:prstGeom prst="roundRect">
            <a:avLst>
              <a:gd name="adj" fmla="val 2439"/>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0" name="Shape 7"/>
          <p:cNvSpPr/>
          <p:nvPr/>
        </p:nvSpPr>
        <p:spPr>
          <a:xfrm>
            <a:off x="4590288" y="1719072"/>
            <a:ext cx="512064" cy="512064"/>
          </a:xfrm>
          <a:prstGeom prst="ellipse">
            <a:avLst/>
          </a:prstGeom>
          <a:solidFill>
            <a:srgbClr val="F4EDFB"/>
          </a:solidFill>
          <a:ln w="11430">
            <a:solidFill>
              <a:srgbClr val="7B42BC"/>
            </a:solidFill>
            <a:prstDash val="solid"/>
          </a:ln>
        </p:spPr>
      </p:sp>
      <p:pic>
        <p:nvPicPr>
          <p:cNvPr id="11" name="Image 1" descr="preencoded.png">    </p:cNvPr>
          <p:cNvPicPr>
            <a:picLocks noChangeAspect="1"/>
          </p:cNvPicPr>
          <p:nvPr/>
        </p:nvPicPr>
        <p:blipFill>
          <a:blip r:embed="rId2"/>
          <a:stretch>
            <a:fillRect/>
          </a:stretch>
        </p:blipFill>
        <p:spPr>
          <a:xfrm>
            <a:off x="4713732" y="1842516"/>
            <a:ext cx="265176" cy="265176"/>
          </a:xfrm>
          <a:prstGeom prst="rect">
            <a:avLst/>
          </a:prstGeom>
        </p:spPr>
      </p:pic>
      <p:sp>
        <p:nvSpPr>
          <p:cNvPr id="12" name="Text 8"/>
          <p:cNvSpPr/>
          <p:nvPr/>
        </p:nvSpPr>
        <p:spPr>
          <a:xfrm>
            <a:off x="4590288" y="2322576"/>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State is the whole ballgame</a:t>
            </a:r>
            <a:endParaRPr lang="en-US" sz="1350" dirty="0"/>
          </a:p>
        </p:txBody>
      </p:sp>
      <p:sp>
        <p:nvSpPr>
          <p:cNvPr id="13" name="Text 9"/>
          <p:cNvSpPr/>
          <p:nvPr/>
        </p:nvSpPr>
        <p:spPr>
          <a:xfrm>
            <a:off x="4590288" y="2670048"/>
            <a:ext cx="3054096" cy="50292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It maps your names to real IDs, it holds secrets, and it must be shared and locked.</a:t>
            </a:r>
            <a:endParaRPr lang="en-US" sz="1100" dirty="0"/>
          </a:p>
        </p:txBody>
      </p:sp>
      <p:sp>
        <p:nvSpPr>
          <p:cNvPr id="14" name="Shape 10"/>
          <p:cNvSpPr/>
          <p:nvPr/>
        </p:nvSpPr>
        <p:spPr>
          <a:xfrm>
            <a:off x="8138160" y="1481328"/>
            <a:ext cx="3529584" cy="1874520"/>
          </a:xfrm>
          <a:prstGeom prst="roundRect">
            <a:avLst>
              <a:gd name="adj" fmla="val 2439"/>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15" name="Shape 11"/>
          <p:cNvSpPr/>
          <p:nvPr/>
        </p:nvSpPr>
        <p:spPr>
          <a:xfrm>
            <a:off x="8375904" y="1719072"/>
            <a:ext cx="512064" cy="512064"/>
          </a:xfrm>
          <a:prstGeom prst="ellipse">
            <a:avLst/>
          </a:prstGeom>
          <a:solidFill>
            <a:srgbClr val="F4EDFB"/>
          </a:solidFill>
          <a:ln w="11430">
            <a:solidFill>
              <a:srgbClr val="7B42BC"/>
            </a:solidFill>
            <a:prstDash val="solid"/>
          </a:ln>
        </p:spPr>
      </p:sp>
      <p:pic>
        <p:nvPicPr>
          <p:cNvPr id="16" name="Image 2" descr="preencoded.png">    </p:cNvPr>
          <p:cNvPicPr>
            <a:picLocks noChangeAspect="1"/>
          </p:cNvPicPr>
          <p:nvPr/>
        </p:nvPicPr>
        <p:blipFill>
          <a:blip r:embed="rId3"/>
          <a:stretch>
            <a:fillRect/>
          </a:stretch>
        </p:blipFill>
        <p:spPr>
          <a:xfrm>
            <a:off x="8499348" y="1842516"/>
            <a:ext cx="265176" cy="265176"/>
          </a:xfrm>
          <a:prstGeom prst="rect">
            <a:avLst/>
          </a:prstGeom>
        </p:spPr>
      </p:pic>
      <p:sp>
        <p:nvSpPr>
          <p:cNvPr id="17" name="Text 12"/>
          <p:cNvSpPr/>
          <p:nvPr/>
        </p:nvSpPr>
        <p:spPr>
          <a:xfrm>
            <a:off x="8375904" y="2322576"/>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Read the plan, every time</a:t>
            </a:r>
            <a:endParaRPr lang="en-US" sz="1350" dirty="0"/>
          </a:p>
        </p:txBody>
      </p:sp>
      <p:sp>
        <p:nvSpPr>
          <p:cNvPr id="18" name="Text 13"/>
          <p:cNvSpPr/>
          <p:nvPr/>
        </p:nvSpPr>
        <p:spPr>
          <a:xfrm>
            <a:off x="8375904" y="2670048"/>
            <a:ext cx="3054096" cy="50292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The summary line first. Then look for anything being destroyed.</a:t>
            </a:r>
            <a:endParaRPr lang="en-US" sz="1100" dirty="0"/>
          </a:p>
        </p:txBody>
      </p:sp>
      <p:sp>
        <p:nvSpPr>
          <p:cNvPr id="19" name="Shape 14"/>
          <p:cNvSpPr/>
          <p:nvPr/>
        </p:nvSpPr>
        <p:spPr>
          <a:xfrm>
            <a:off x="566928" y="3566160"/>
            <a:ext cx="3529584" cy="1874520"/>
          </a:xfrm>
          <a:prstGeom prst="roundRect">
            <a:avLst>
              <a:gd name="adj" fmla="val 2439"/>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0" name="Shape 15"/>
          <p:cNvSpPr/>
          <p:nvPr/>
        </p:nvSpPr>
        <p:spPr>
          <a:xfrm>
            <a:off x="804672" y="3803904"/>
            <a:ext cx="512064" cy="512064"/>
          </a:xfrm>
          <a:prstGeom prst="ellipse">
            <a:avLst/>
          </a:prstGeom>
          <a:solidFill>
            <a:srgbClr val="F4EDFB"/>
          </a:solidFill>
          <a:ln w="11430">
            <a:solidFill>
              <a:srgbClr val="7B42BC"/>
            </a:solidFill>
            <a:prstDash val="solid"/>
          </a:ln>
        </p:spPr>
      </p:sp>
      <p:pic>
        <p:nvPicPr>
          <p:cNvPr id="21" name="Image 3" descr="preencoded.png">    </p:cNvPr>
          <p:cNvPicPr>
            <a:picLocks noChangeAspect="1"/>
          </p:cNvPicPr>
          <p:nvPr/>
        </p:nvPicPr>
        <p:blipFill>
          <a:blip r:embed="rId4"/>
          <a:stretch>
            <a:fillRect/>
          </a:stretch>
        </p:blipFill>
        <p:spPr>
          <a:xfrm>
            <a:off x="928116" y="3927348"/>
            <a:ext cx="265176" cy="265176"/>
          </a:xfrm>
          <a:prstGeom prst="rect">
            <a:avLst/>
          </a:prstGeom>
        </p:spPr>
      </p:pic>
      <p:sp>
        <p:nvSpPr>
          <p:cNvPr id="22" name="Text 16"/>
          <p:cNvSpPr/>
          <p:nvPr/>
        </p:nvSpPr>
        <p:spPr>
          <a:xfrm>
            <a:off x="804672" y="4407408"/>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References build the graph</a:t>
            </a:r>
            <a:endParaRPr lang="en-US" sz="1350" dirty="0"/>
          </a:p>
        </p:txBody>
      </p:sp>
      <p:sp>
        <p:nvSpPr>
          <p:cNvPr id="23" name="Text 17"/>
          <p:cNvSpPr/>
          <p:nvPr/>
        </p:nvSpPr>
        <p:spPr>
          <a:xfrm>
            <a:off x="804672" y="4754880"/>
            <a:ext cx="3054096" cy="50292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Never paste an ID. A reference is both a value and a dependency.</a:t>
            </a:r>
            <a:endParaRPr lang="en-US" sz="1100" dirty="0"/>
          </a:p>
        </p:txBody>
      </p:sp>
      <p:sp>
        <p:nvSpPr>
          <p:cNvPr id="24" name="Shape 18"/>
          <p:cNvSpPr/>
          <p:nvPr/>
        </p:nvSpPr>
        <p:spPr>
          <a:xfrm>
            <a:off x="4352544" y="3566160"/>
            <a:ext cx="3529584" cy="1874520"/>
          </a:xfrm>
          <a:prstGeom prst="roundRect">
            <a:avLst>
              <a:gd name="adj" fmla="val 2439"/>
            </a:avLst>
          </a:prstGeom>
          <a:solidFill>
            <a:srgbClr val="FFFFFF"/>
          </a:solidFill>
          <a:ln w="12700">
            <a:solidFill>
              <a:srgbClr val="E2E8F0"/>
            </a:solidFill>
            <a:prstDash val="solid"/>
          </a:ln>
          <a:effectLst>
            <a:outerShdw sx="100000" sy="100000" kx="0" ky="0" algn="bl" rotWithShape="0" blurRad="101600" dist="12700" dir="5400000">
              <a:srgbClr val="94A3B8">
                <a:alpha val="16000"/>
              </a:srgbClr>
            </a:outerShdw>
          </a:effectLst>
        </p:spPr>
      </p:sp>
      <p:sp>
        <p:nvSpPr>
          <p:cNvPr id="25" name="Shape 19"/>
          <p:cNvSpPr/>
          <p:nvPr/>
        </p:nvSpPr>
        <p:spPr>
          <a:xfrm>
            <a:off x="4590288" y="3803904"/>
            <a:ext cx="512064" cy="512064"/>
          </a:xfrm>
          <a:prstGeom prst="ellipse">
            <a:avLst/>
          </a:prstGeom>
          <a:solidFill>
            <a:srgbClr val="F4EDFB"/>
          </a:solidFill>
          <a:ln w="11430">
            <a:solidFill>
              <a:srgbClr val="7B42BC"/>
            </a:solidFill>
            <a:prstDash val="solid"/>
          </a:ln>
        </p:spPr>
      </p:sp>
      <p:pic>
        <p:nvPicPr>
          <p:cNvPr id="26" name="Image 4" descr="preencoded.png">    </p:cNvPr>
          <p:cNvPicPr>
            <a:picLocks noChangeAspect="1"/>
          </p:cNvPicPr>
          <p:nvPr/>
        </p:nvPicPr>
        <p:blipFill>
          <a:blip r:embed="rId5"/>
          <a:stretch>
            <a:fillRect/>
          </a:stretch>
        </p:blipFill>
        <p:spPr>
          <a:xfrm>
            <a:off x="4713732" y="3927348"/>
            <a:ext cx="265176" cy="265176"/>
          </a:xfrm>
          <a:prstGeom prst="rect">
            <a:avLst/>
          </a:prstGeom>
        </p:spPr>
      </p:pic>
      <p:sp>
        <p:nvSpPr>
          <p:cNvPr id="27" name="Text 20"/>
          <p:cNvSpPr/>
          <p:nvPr/>
        </p:nvSpPr>
        <p:spPr>
          <a:xfrm>
            <a:off x="4590288" y="4407408"/>
            <a:ext cx="3054096" cy="310896"/>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Drift is normal</a:t>
            </a:r>
            <a:endParaRPr lang="en-US" sz="1350" dirty="0"/>
          </a:p>
        </p:txBody>
      </p:sp>
      <p:sp>
        <p:nvSpPr>
          <p:cNvPr id="28" name="Text 21"/>
          <p:cNvSpPr/>
          <p:nvPr/>
        </p:nvSpPr>
        <p:spPr>
          <a:xfrm>
            <a:off x="4590288" y="4754880"/>
            <a:ext cx="3054096" cy="502920"/>
          </a:xfrm>
          <a:prstGeom prst="rect">
            <a:avLst/>
          </a:prstGeom>
          <a:noFill/>
          <a:ln/>
        </p:spPr>
        <p:txBody>
          <a:bodyPr wrap="square" lIns="0" tIns="0" rIns="0" bIns="0" rtlCol="0" anchor="t"/>
          <a:lstStyle/>
          <a:p>
            <a:pPr indent="0" marL="0">
              <a:lnSpc>
                <a:spcPts val="1540"/>
              </a:lnSpc>
              <a:buNone/>
            </a:pPr>
            <a:r>
              <a:rPr lang="en-US" sz="1100" dirty="0">
                <a:solidFill>
                  <a:srgbClr val="334155"/>
                </a:solidFill>
                <a:latin typeface="Calibri" pitchFamily="34" charset="0"/>
                <a:ea typeface="Calibri" pitchFamily="34" charset="-122"/>
                <a:cs typeface="Calibri" pitchFamily="34" charset="-120"/>
              </a:rPr>
              <a:t>Reality moves. Reconciliation is the answer, and it runs on demand.</a:t>
            </a:r>
            <a:endParaRPr lang="en-US" sz="1100" dirty="0"/>
          </a:p>
        </p:txBody>
      </p:sp>
      <p:sp>
        <p:nvSpPr>
          <p:cNvPr id="29" name="Shape 22"/>
          <p:cNvSpPr/>
          <p:nvPr/>
        </p:nvSpPr>
        <p:spPr>
          <a:xfrm>
            <a:off x="8138160" y="3566160"/>
            <a:ext cx="3529584" cy="1874520"/>
          </a:xfrm>
          <a:prstGeom prst="roundRect">
            <a:avLst>
              <a:gd name="adj" fmla="val 2439"/>
            </a:avLst>
          </a:prstGeom>
          <a:solidFill>
            <a:srgbClr val="0F172A"/>
          </a:solidFill>
          <a:ln w="15875">
            <a:solidFill>
              <a:srgbClr val="7B42BC"/>
            </a:solidFill>
            <a:prstDash val="solid"/>
          </a:ln>
        </p:spPr>
      </p:sp>
      <p:sp>
        <p:nvSpPr>
          <p:cNvPr id="30" name="Text 23"/>
          <p:cNvSpPr/>
          <p:nvPr/>
        </p:nvSpPr>
        <p:spPr>
          <a:xfrm>
            <a:off x="8375904" y="3767328"/>
            <a:ext cx="3054096" cy="3108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Where this goes next</a:t>
            </a:r>
            <a:endParaRPr lang="en-US" sz="1350" dirty="0"/>
          </a:p>
        </p:txBody>
      </p:sp>
      <p:sp>
        <p:nvSpPr>
          <p:cNvPr id="31" name="Text 24"/>
          <p:cNvSpPr/>
          <p:nvPr/>
        </p:nvSpPr>
        <p:spPr>
          <a:xfrm>
            <a:off x="8375904" y="4114800"/>
            <a:ext cx="3054096" cy="1188720"/>
          </a:xfrm>
          <a:prstGeom prst="rect">
            <a:avLst/>
          </a:prstGeom>
          <a:noFill/>
          <a:ln/>
        </p:spPr>
        <p:txBody>
          <a:bodyPr wrap="square" lIns="0" tIns="0" rIns="0" bIns="0" rtlCol="0" anchor="ctr"/>
          <a:lstStyle/>
          <a:p>
            <a:pPr indent="0" marL="0">
              <a:lnSpc>
                <a:spcPts val="1600"/>
              </a:lnSpc>
              <a:buNone/>
            </a:pPr>
            <a:r>
              <a:rPr lang="en-US" sz="1100" dirty="0">
                <a:solidFill>
                  <a:srgbClr val="94A3B8"/>
                </a:solidFill>
                <a:latin typeface="Calibri" pitchFamily="34" charset="0"/>
                <a:ea typeface="Calibri" pitchFamily="34" charset="-122"/>
                <a:cs typeface="Calibri" pitchFamily="34" charset="-120"/>
              </a:rPr>
              <a:t>Terraform in CI with OIDC. Policy scanning in the pipeline. GitOps for the workloads. Importing infrastructure that already exists.</a:t>
            </a:r>
            <a:endParaRPr lang="en-US" sz="1100" dirty="0"/>
          </a:p>
        </p:txBody>
      </p:sp>
      <p:sp>
        <p:nvSpPr>
          <p:cNvPr id="32" name="Text 25"/>
          <p:cNvSpPr/>
          <p:nvPr/>
        </p:nvSpPr>
        <p:spPr>
          <a:xfrm>
            <a:off x="566928" y="5669280"/>
            <a:ext cx="11057839" cy="310896"/>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Everything here transfers to OpenTofu, Pulumi and CDK. You learned a discipline, not a binary.</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869680" y="2103120"/>
            <a:ext cx="2377440" cy="2377440"/>
          </a:xfrm>
          <a:prstGeom prst="ellipse">
            <a:avLst/>
          </a:prstGeom>
          <a:solidFill>
            <a:srgbClr val="1E293B"/>
          </a:solidFill>
          <a:ln w="19050">
            <a:solidFill>
              <a:srgbClr val="7B42BC"/>
            </a:solidFill>
            <a:prstDash val="solid"/>
          </a:ln>
        </p:spPr>
      </p:sp>
      <p:pic>
        <p:nvPicPr>
          <p:cNvPr id="3" name="Image 0" descr="preencoded.png">    </p:cNvPr>
          <p:cNvPicPr>
            <a:picLocks noChangeAspect="1"/>
          </p:cNvPicPr>
          <p:nvPr/>
        </p:nvPicPr>
        <p:blipFill>
          <a:blip r:embed="rId1"/>
          <a:stretch>
            <a:fillRect/>
          </a:stretch>
        </p:blipFill>
        <p:spPr>
          <a:xfrm>
            <a:off x="9710928" y="2944368"/>
            <a:ext cx="694944" cy="694944"/>
          </a:xfrm>
          <a:prstGeom prst="rect">
            <a:avLst/>
          </a:prstGeom>
        </p:spPr>
      </p:pic>
      <p:sp>
        <p:nvSpPr>
          <p:cNvPr id="4" name="Text 1"/>
          <p:cNvSpPr/>
          <p:nvPr/>
        </p:nvSpPr>
        <p:spPr>
          <a:xfrm>
            <a:off x="566928" y="2377440"/>
            <a:ext cx="7863840" cy="822960"/>
          </a:xfrm>
          <a:prstGeom prst="rect">
            <a:avLst/>
          </a:prstGeom>
          <a:noFill/>
          <a:ln/>
        </p:spPr>
        <p:txBody>
          <a:bodyPr wrap="square" lIns="0" tIns="0" rIns="0" bIns="0" rtlCol="0" anchor="ctr"/>
          <a:lstStyle/>
          <a:p>
            <a:pPr indent="0" marL="0">
              <a:buNone/>
            </a:pPr>
            <a:r>
              <a:rPr lang="en-US" sz="3800" b="1" dirty="0">
                <a:solidFill>
                  <a:srgbClr val="FFFFFF"/>
                </a:solidFill>
                <a:latin typeface="Bookman Old Style" pitchFamily="34" charset="0"/>
                <a:ea typeface="Bookman Old Style" pitchFamily="34" charset="-122"/>
                <a:cs typeface="Bookman Old Style" pitchFamily="34" charset="-120"/>
              </a:rPr>
              <a:t>Questions — then keyboards</a:t>
            </a:r>
            <a:endParaRPr lang="en-US" sz="3800" dirty="0"/>
          </a:p>
        </p:txBody>
      </p:sp>
      <p:sp>
        <p:nvSpPr>
          <p:cNvPr id="5" name="Text 2"/>
          <p:cNvSpPr/>
          <p:nvPr/>
        </p:nvSpPr>
        <p:spPr>
          <a:xfrm>
            <a:off x="566928" y="3310128"/>
            <a:ext cx="7498080" cy="822960"/>
          </a:xfrm>
          <a:prstGeom prst="rect">
            <a:avLst/>
          </a:prstGeom>
          <a:noFill/>
          <a:ln/>
        </p:spPr>
        <p:txBody>
          <a:bodyPr wrap="square" lIns="0" tIns="0" rIns="0" bIns="0" rtlCol="0" anchor="ctr"/>
          <a:lstStyle/>
          <a:p>
            <a:pPr indent="0" marL="0">
              <a:lnSpc>
                <a:spcPts val="2300"/>
              </a:lnSpc>
              <a:buNone/>
            </a:pPr>
            <a:r>
              <a:rPr lang="en-US" sz="1500" dirty="0">
                <a:solidFill>
                  <a:srgbClr val="94A3B8"/>
                </a:solidFill>
                <a:latin typeface="Calibri" pitchFamily="34" charset="0"/>
                <a:ea typeface="Calibri" pitchFamily="34" charset="-122"/>
                <a:cs typeface="Calibri" pitchFamily="34" charset="-120"/>
              </a:rPr>
              <a:t>Take ten minutes. Come back with terraform version printing 1.9 or newer, aws sts get-caller-identity succeeding, and kubectl on your PATH.</a:t>
            </a:r>
            <a:endParaRPr lang="en-US" sz="1500" dirty="0"/>
          </a:p>
        </p:txBody>
      </p:sp>
      <p:sp>
        <p:nvSpPr>
          <p:cNvPr id="6" name="Shape 3"/>
          <p:cNvSpPr/>
          <p:nvPr/>
        </p:nvSpPr>
        <p:spPr>
          <a:xfrm>
            <a:off x="566928" y="4315968"/>
            <a:ext cx="1623974" cy="310896"/>
          </a:xfrm>
          <a:prstGeom prst="roundRect">
            <a:avLst>
              <a:gd name="adj" fmla="val 47059"/>
            </a:avLst>
          </a:prstGeom>
          <a:solidFill>
            <a:srgbClr val="1E293B"/>
          </a:solidFill>
          <a:ln w="10795">
            <a:solidFill>
              <a:srgbClr val="334155"/>
            </a:solidFill>
            <a:prstDash val="solid"/>
          </a:ln>
        </p:spPr>
      </p:sp>
      <p:sp>
        <p:nvSpPr>
          <p:cNvPr id="7" name="Text 4"/>
          <p:cNvSpPr/>
          <p:nvPr/>
        </p:nvSpPr>
        <p:spPr>
          <a:xfrm>
            <a:off x="566928" y="4315968"/>
            <a:ext cx="1623974"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terraform version</a:t>
            </a:r>
            <a:endParaRPr lang="en-US" sz="1050" dirty="0"/>
          </a:p>
        </p:txBody>
      </p:sp>
      <p:sp>
        <p:nvSpPr>
          <p:cNvPr id="8" name="Shape 5"/>
          <p:cNvSpPr/>
          <p:nvPr/>
        </p:nvSpPr>
        <p:spPr>
          <a:xfrm>
            <a:off x="2355494" y="4315968"/>
            <a:ext cx="2428646" cy="310896"/>
          </a:xfrm>
          <a:prstGeom prst="roundRect">
            <a:avLst>
              <a:gd name="adj" fmla="val 47059"/>
            </a:avLst>
          </a:prstGeom>
          <a:solidFill>
            <a:srgbClr val="1E293B"/>
          </a:solidFill>
          <a:ln w="10795">
            <a:solidFill>
              <a:srgbClr val="334155"/>
            </a:solidFill>
            <a:prstDash val="solid"/>
          </a:ln>
        </p:spPr>
      </p:sp>
      <p:sp>
        <p:nvSpPr>
          <p:cNvPr id="9" name="Text 6"/>
          <p:cNvSpPr/>
          <p:nvPr/>
        </p:nvSpPr>
        <p:spPr>
          <a:xfrm>
            <a:off x="2355494" y="4315968"/>
            <a:ext cx="2428646"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aws sts get-caller-identity</a:t>
            </a:r>
            <a:endParaRPr lang="en-US" sz="1050" dirty="0"/>
          </a:p>
        </p:txBody>
      </p:sp>
      <p:sp>
        <p:nvSpPr>
          <p:cNvPr id="10" name="Shape 7"/>
          <p:cNvSpPr/>
          <p:nvPr/>
        </p:nvSpPr>
        <p:spPr>
          <a:xfrm>
            <a:off x="4948733" y="4315968"/>
            <a:ext cx="2187245" cy="310896"/>
          </a:xfrm>
          <a:prstGeom prst="roundRect">
            <a:avLst>
              <a:gd name="adj" fmla="val 47059"/>
            </a:avLst>
          </a:prstGeom>
          <a:solidFill>
            <a:srgbClr val="1E293B"/>
          </a:solidFill>
          <a:ln w="10795">
            <a:solidFill>
              <a:srgbClr val="334155"/>
            </a:solidFill>
            <a:prstDash val="solid"/>
          </a:ln>
        </p:spPr>
      </p:sp>
      <p:sp>
        <p:nvSpPr>
          <p:cNvPr id="11" name="Text 8"/>
          <p:cNvSpPr/>
          <p:nvPr/>
        </p:nvSpPr>
        <p:spPr>
          <a:xfrm>
            <a:off x="4948733" y="4315968"/>
            <a:ext cx="2187245" cy="310896"/>
          </a:xfrm>
          <a:prstGeom prst="rect">
            <a:avLst/>
          </a:prstGeom>
          <a:noFill/>
          <a:ln/>
        </p:spPr>
        <p:txBody>
          <a:bodyPr wrap="square" lIns="0" tIns="0" rIns="0" bIns="0" rtlCol="0" anchor="ctr"/>
          <a:lstStyle/>
          <a:p>
            <a:pPr algn="ctr" indent="0" marL="0">
              <a:buNone/>
            </a:pPr>
            <a:r>
              <a:rPr lang="en-US" sz="1050" dirty="0">
                <a:solidFill>
                  <a:srgbClr val="99F6E4"/>
                </a:solidFill>
                <a:latin typeface="Courier New" pitchFamily="34" charset="0"/>
                <a:ea typeface="Courier New" pitchFamily="34" charset="-122"/>
                <a:cs typeface="Courier New" pitchFamily="34" charset="-120"/>
              </a:rPr>
              <a:t>kubectl version --client</a:t>
            </a:r>
            <a:endParaRPr lang="en-US" sz="1050" dirty="0"/>
          </a:p>
        </p:txBody>
      </p:sp>
      <p:sp>
        <p:nvSpPr>
          <p:cNvPr id="12" name="Text 9"/>
          <p:cNvSpPr/>
          <p:nvPr/>
        </p:nvSpPr>
        <p:spPr>
          <a:xfrm>
            <a:off x="566928" y="5120640"/>
            <a:ext cx="7680960" cy="310896"/>
          </a:xfrm>
          <a:prstGeom prst="rect">
            <a:avLst/>
          </a:prstGeom>
          <a:noFill/>
          <a:ln/>
        </p:spPr>
        <p:txBody>
          <a:bodyPr wrap="square" lIns="0" tIns="0" rIns="0" bIns="0" rtlCol="0" anchor="ctr"/>
          <a:lstStyle/>
          <a:p>
            <a:pPr indent="0" marL="0">
              <a:buNone/>
            </a:pPr>
            <a:r>
              <a:rPr lang="en-US" sz="1200" dirty="0">
                <a:solidFill>
                  <a:srgbClr val="64748B"/>
                </a:solidFill>
                <a:latin typeface="Courier New" pitchFamily="34" charset="0"/>
                <a:ea typeface="Courier New" pitchFamily="34" charset="-122"/>
                <a:cs typeface="Courier New" pitchFamily="34" charset="-120"/>
              </a:rPr>
              <a:t>Lab 00 — Setup  ·  labs/00-setup.md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DevOps Bootcamp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Infrastructure as Code with Terraform</dc:title>
  <dc:subject>Module 07 — IaC and Terraform on AWS and Kubernetes</dc:subject>
  <dc:creator>Sagyam Thapa</dc:creator>
  <cp:lastModifiedBy>Sagyam Thapa</cp:lastModifiedBy>
  <cp:revision>1</cp:revision>
  <dcterms:created xsi:type="dcterms:W3CDTF">2026-08-02T06:27:15Z</dcterms:created>
  <dcterms:modified xsi:type="dcterms:W3CDTF">2026-08-02T06:27:15Z</dcterms:modified>
</cp:coreProperties>
</file>