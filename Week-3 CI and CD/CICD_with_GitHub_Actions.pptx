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module. Frame CI/CD as the answer to a specific pain they will recognize: the fear and manual toil around integrating and shipping code. Remind them this builds directly on the Linux and Docker weeks — GitHub Actions runners are Linux boxes, and Day 3 onward we build and push Docker images. The five chips (push → build → test → package → deploy) are the spine of the whole week; point at them and say every slide is one of these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The point of the monorepo + path filters is that a fix in Day 2 never triggers Day 3's Docker build — no wasted runner minutes, no confusing red X's on unrelated work. Days 1-2 are pure CI. Day 3 folds in the Docker skills from last module. Days 4-5 introduce CD. Day 6 is the ShortLink capstone that ties every stage together. Tell them today's deck is the concept map for all six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Reinforce the problem-first pedagogy they are used to: pain → the idea that fixes it → the options. Do not define CI yet. Ask the room first: what goes wrong when a team of ten pushes code to the same project all week without automation? Collect answers, then move to the next slide which names the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core of the module. Let the terminal land — everyone who has shipped code recognises this Friday-evening panic. Draw the line explicitly: the problem is not bad developers, it is the absence of an automated, repeatable process. Manual integration is late and rare; manual testing gets skipped under pressure; manual deploys live in one person's head. Every one of those is about to get a machine to do it, the same way,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CI cleanly now that they feel the pain. The word 'continuous' is the whole point — integration happens constantly, not once a week. Emphasise the machine: CI removes the human decision about whether to run the tests. The takeaway strip is the litmus test you want them to remember. Preview that GitHub Actions is the tool we use to run that automatic build-and-test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confused pair of terms in DevOps. Nail it: delivery keeps a human gate before production; deployment removes it. Both automate everything up to that gate. Most real teams do continuous delivery — that is exactly what we build on Day 5 with an environment approval. Continuous deployment is the same pipeline with the manual gate deleted, and you only earn that by trusting your tests completely. Reassure them we are not asking them to auto-ship to prod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map for the whole week — point back to it every day. Left three stages are CI, right two are CD. The critical rule: stages are ordered and fail-fast. If the build fails, tests never run; if tests fail, nothing gets packaged or deployed. That is the safety property that lets you automate deployment at all. On Day 3 the Package stage becomes 'docker build'; on Day 5 Deploy becomes a real environment. Everything else stays the same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concept to tool. The pitch: they already have GitHub, so the CI server is free and requires zero infrastructure to stand up. Workflows are YAML files committed to the repo, which means the pipeline is versioned and reviewed like any other code. Next slides break down why that matters, then the vocabulary, then real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Jenkins so they understand the shift, without trashing Jenkins — it is still everywhere. The headline is zero infrastructure and config-as-code: the workflow file is reviewed in the same PR as the code change it affects, so the pipeline can never silently drift from the project. Mention free minutes on public repos since their student projects will be public. The Marketplace is why they rarely write shell from scratch — someone already published the setup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indentation is deliberate: each row is nested one level deeper, mirroring how the YAML indents. Read it top-down as a sentence: an event triggers a workflow, which contains jobs, each running on its own runner, made of steps, and a step can be a reusable action. The two things beginners conflate are jobs and steps — stress that jobs get separate VMs and run in parallel by default, while steps share one VM and run in sequence. Checkout is the action they will use in literally every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Rosetta stone — spend real time here. Read it aloud top to bottom mapping each key to the vocabulary slide. Two beginner traps to call out: 'uses' pulls a prebuilt action from the Marketplace (checkout, setup-node), while 'run' executes a raw shell command on the runner. And checkout is not automatic — without actions/checkout the runner is an empty VM that has never seen your code. 'npm ci' not 'npm install' because ci is reproducible from the lockfile. This is essentially their Day 1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events to pipeline stages so the choice is not arbitrary. pull_request is the one that makes CI valuable — combined with a branch protection rule, a red check literally blocks the merge, which is the whole enforcement mechanism. Tags are how deploys usually start: cutting v1.2.0 fires the release workflow. workflow_dispatch gives them the manual button that pairs beautifully with a delivery approval gate on Day 5. Do not over-trigger — combined with path filters from the roadmap, this keeps runner minutes sane in their shared monorepo.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concrete Day 2 artifact. Point out the shape they will reuse forever: checkout, setup toolchain, install deps, then the checks. Order matters for speed — lint is seconds, tests are minutes, so lint goes first and fail-fast skips the expensive step. Tie the right panel back to slide 12: because this runs on pull_request and the repo has branch protection, the red X is not advisory — it physically blocks the merge button. That enforcement is the entire value of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Matrix is the first 'wow' feature. Emphasise it is pure fan-out: you write the steps once and Actions multiplies them across every combination in parallel, each in its own runner. The ${{ matrix.x }} expression syntax is their first taste of Actions context variables — flag that curly-brace syntax now because secrets use the same shape next. Practical note for their projects: matrices consume minutes fast, so keep the axes small in class. Real use: proving a library works across supported runtime versions.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is a correctness issue, not a nicety: a slow pipeline gets bypassed, and a bypassed pipeline enforces nothing. The mechanism to teach is caching keyed on the lockfile hash — the cache is reused until dependencies change, then rebuilt automatically. Show both the explicit actions/cache and the one-line cache option in setup-node; tell them to prefer the built-in. Foreshadow Day 3: Docker layer caching via the gha cache is the same idea applied to image layers. Keep the orange takeaway as the memorable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the Docker module pays off — they already know how to write a Dockerfile, now it runs in CI. Three things to land: GITHUB_TOKEN is auto-provided and scoped to the repo, so pushing to GHCR needs zero secret setup (great for class). Tagging by github.sha instead of latest gives real traceability — you can always point at the exact commit an image came from. And type=gha layer caching connects straight back to the previous slide. The deeper principle: the artifact that passed tests is byte-for-byte the artifact you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secrets and environments. Secrets — never in the file, always ${{ secrets.X }}, and Actions auto-masks the value in logs so it prints as ***. Warn them masking is not a licence to be careless: an echo can still leak a transformed value. Environments are the bridge to CD: they scope secrets (staging vs prod get different keys) and, crucially, add required-reviewer gates. That reviewer gate is literally the human button that turns continuous deployment into continuous delivery — which is what they will wire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deploy is not special infrastructure, it is a job with two gates. 'needs: test' is a hard dependency — the deploy job is literally not scheduled until test succeeds, so the fail-fast property from slide 7 now protects production. 'environment: staging' does double duty: it scopes the deploy secrets AND, because staging has a required reviewer configured, pauses for a human approval. Delete that reviewer and you have continuous deployment; keep it and you have delivery. Everything they learned this week converges in these fifteen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habits that separate a toy pipeline from one a team trusts. Path filters is the one that makes their monorepo work at all — reconnect to the roadmap. Pinning actions is a supply-chain safety point: @main can change under you, a version tag cannot. Least-privilege permissions is easy to skip and important — the default token is broad. The rest reinforce earlier slides. Tell them to treat this slide as a checklist when they review each other's Day 6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them the destination so the week has a felt shape. ShortLink is the multi-service app from the Docker module — React front end, Node/Go/Python services, Postgres and Redis — so nothing here is new tech, only new wiring. Trace the six boxes as one commit's journey: push fires CI, CI produces a tested image, integration proves the services talk, a human approves, and it deploys. Every box maps to a slide they just saw. That is the payoff of the whole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durable lesson, mirroring how the DevOps landscape deck closed: when a new CI tool appears in five years, they will not relearn everything — they will ask which pipeline stage it automates and slot it in. The three-part refrain (integration is late, testing gets skipped, deploys live in someone's head) is the whole module in one breath. End by pointing at the homework: Day 1 is deliberately tiny — a hello-world workflow — so everyone gets a green check on the board and feels the loop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8000"/>
          </a:blip>
          <a:stretch>
            <a:fillRect/>
          </a:stretch>
        </p:blipFill>
        <p:spPr>
          <a:xfrm>
            <a:off x="8503920" y="640080"/>
            <a:ext cx="3291840" cy="3291840"/>
          </a:xfrm>
          <a:prstGeom prst="rect">
            <a:avLst/>
          </a:prstGeom>
        </p:spPr>
      </p:pic>
      <p:sp>
        <p:nvSpPr>
          <p:cNvPr id="3" name="Text 0"/>
          <p:cNvSpPr/>
          <p:nvPr/>
        </p:nvSpPr>
        <p:spPr>
          <a:xfrm>
            <a:off x="822960" y="1600200"/>
            <a:ext cx="8229600" cy="365760"/>
          </a:xfrm>
          <a:prstGeom prst="rect">
            <a:avLst/>
          </a:prstGeom>
          <a:noFill/>
          <a:ln/>
        </p:spPr>
        <p:txBody>
          <a:bodyPr wrap="square" lIns="0" tIns="0" rIns="0" bIns="0" rtlCol="0" anchor="ctr"/>
          <a:lstStyle/>
          <a:p>
            <a:pPr indent="0" marL="0">
              <a:buNone/>
            </a:pPr>
            <a:r>
              <a:rPr lang="en-US" sz="1400" b="1" spc="300" kern="0" dirty="0">
                <a:solidFill>
                  <a:srgbClr val="F97316"/>
                </a:solidFill>
                <a:latin typeface="Calibri" pitchFamily="34" charset="0"/>
                <a:ea typeface="Calibri" pitchFamily="34" charset="-122"/>
                <a:cs typeface="Calibri" pitchFamily="34" charset="-120"/>
              </a:rPr>
              <a:t>DEVOPS BOOTCAMP  ·  CI/CD MODULE</a:t>
            </a:r>
            <a:endParaRPr lang="en-US" sz="1400" dirty="0"/>
          </a:p>
        </p:txBody>
      </p:sp>
      <p:sp>
        <p:nvSpPr>
          <p:cNvPr id="4" name="Text 1"/>
          <p:cNvSpPr/>
          <p:nvPr/>
        </p:nvSpPr>
        <p:spPr>
          <a:xfrm>
            <a:off x="786384" y="2011680"/>
            <a:ext cx="10058400" cy="1371600"/>
          </a:xfrm>
          <a:prstGeom prst="rect">
            <a:avLst/>
          </a:prstGeom>
          <a:noFill/>
          <a:ln/>
        </p:spPr>
        <p:txBody>
          <a:bodyPr wrap="square" lIns="0" tIns="0" rIns="0" bIns="0" rtlCol="0" anchor="ctr"/>
          <a:lstStyle/>
          <a:p>
            <a:pPr indent="0" marL="0">
              <a:buNone/>
            </a:pPr>
            <a:r>
              <a:rPr lang="en-US" sz="5200" b="1" dirty="0">
                <a:solidFill>
                  <a:srgbClr val="FFFFFF"/>
                </a:solidFill>
                <a:latin typeface="Bookman Old Style" pitchFamily="34" charset="0"/>
                <a:ea typeface="Bookman Old Style" pitchFamily="34" charset="-122"/>
                <a:cs typeface="Bookman Old Style" pitchFamily="34" charset="-120"/>
              </a:rPr>
              <a:t>CI/CD with GitHub Actions</a:t>
            </a:r>
            <a:endParaRPr lang="en-US" sz="5200" dirty="0"/>
          </a:p>
        </p:txBody>
      </p:sp>
      <p:sp>
        <p:nvSpPr>
          <p:cNvPr id="5" name="Text 2"/>
          <p:cNvSpPr/>
          <p:nvPr/>
        </p:nvSpPr>
        <p:spPr>
          <a:xfrm>
            <a:off x="822960" y="3429000"/>
            <a:ext cx="9509760" cy="822960"/>
          </a:xfrm>
          <a:prstGeom prst="rect">
            <a:avLst/>
          </a:prstGeom>
          <a:noFill/>
          <a:ln/>
        </p:spPr>
        <p:txBody>
          <a:bodyPr wrap="square" lIns="0" tIns="0" rIns="0" bIns="0" rtlCol="0" anchor="ctr"/>
          <a:lstStyle/>
          <a:p>
            <a:pPr indent="0" marL="0">
              <a:lnSpc>
                <a:spcPct val="112000"/>
              </a:lnSpc>
              <a:buNone/>
            </a:pPr>
            <a:r>
              <a:rPr lang="en-US" sz="1700" dirty="0">
                <a:solidFill>
                  <a:srgbClr val="CBD5E1"/>
                </a:solidFill>
                <a:latin typeface="Calibri" pitchFamily="34" charset="0"/>
                <a:ea typeface="Calibri" pitchFamily="34" charset="-122"/>
                <a:cs typeface="Calibri" pitchFamily="34" charset="-120"/>
              </a:rPr>
              <a:t>From “works on my machine” to shipping on every push — automated builds, tests, and deploys, all living inside your repo.</a:t>
            </a:r>
            <a:endParaRPr lang="en-US" sz="1700" dirty="0"/>
          </a:p>
        </p:txBody>
      </p:sp>
      <p:sp>
        <p:nvSpPr>
          <p:cNvPr id="6" name="Shape 3"/>
          <p:cNvSpPr/>
          <p:nvPr/>
        </p:nvSpPr>
        <p:spPr>
          <a:xfrm>
            <a:off x="822960" y="4526280"/>
            <a:ext cx="651053" cy="384048"/>
          </a:xfrm>
          <a:prstGeom prst="roundRect">
            <a:avLst>
              <a:gd name="adj" fmla="val 50000"/>
            </a:avLst>
          </a:prstGeom>
          <a:solidFill>
            <a:srgbClr val="12303A"/>
          </a:solidFill>
          <a:ln w="12700">
            <a:solidFill>
              <a:srgbClr val="0F766E"/>
            </a:solidFill>
            <a:prstDash val="solid"/>
          </a:ln>
        </p:spPr>
      </p:sp>
      <p:sp>
        <p:nvSpPr>
          <p:cNvPr id="7" name="Text 4"/>
          <p:cNvSpPr/>
          <p:nvPr/>
        </p:nvSpPr>
        <p:spPr>
          <a:xfrm>
            <a:off x="822960" y="4526280"/>
            <a:ext cx="651053" cy="384048"/>
          </a:xfrm>
          <a:prstGeom prst="rect">
            <a:avLst/>
          </a:prstGeom>
          <a:noFill/>
          <a:ln/>
        </p:spPr>
        <p:txBody>
          <a:bodyPr wrap="square" lIns="0" tIns="0" rIns="0" bIns="0" rtlCol="0" anchor="ctr"/>
          <a:lstStyle/>
          <a:p>
            <a:pPr algn="ctr" indent="0" marL="0">
              <a:buNone/>
            </a:pPr>
            <a:r>
              <a:rPr lang="en-US" sz="1150" dirty="0">
                <a:solidFill>
                  <a:srgbClr val="99F6E4"/>
                </a:solidFill>
                <a:latin typeface="Courier New" pitchFamily="34" charset="0"/>
                <a:ea typeface="Courier New" pitchFamily="34" charset="-122"/>
                <a:cs typeface="Courier New" pitchFamily="34" charset="-120"/>
              </a:rPr>
              <a:t>push</a:t>
            </a:r>
            <a:endParaRPr lang="en-US" sz="1150" dirty="0"/>
          </a:p>
        </p:txBody>
      </p:sp>
      <p:sp>
        <p:nvSpPr>
          <p:cNvPr id="8" name="Shape 5"/>
          <p:cNvSpPr/>
          <p:nvPr/>
        </p:nvSpPr>
        <p:spPr>
          <a:xfrm>
            <a:off x="1638605" y="4526280"/>
            <a:ext cx="740664" cy="384048"/>
          </a:xfrm>
          <a:prstGeom prst="roundRect">
            <a:avLst>
              <a:gd name="adj" fmla="val 50000"/>
            </a:avLst>
          </a:prstGeom>
          <a:solidFill>
            <a:srgbClr val="12303A"/>
          </a:solidFill>
          <a:ln w="12700">
            <a:solidFill>
              <a:srgbClr val="0F766E"/>
            </a:solidFill>
            <a:prstDash val="solid"/>
          </a:ln>
        </p:spPr>
      </p:sp>
      <p:sp>
        <p:nvSpPr>
          <p:cNvPr id="9" name="Text 6"/>
          <p:cNvSpPr/>
          <p:nvPr/>
        </p:nvSpPr>
        <p:spPr>
          <a:xfrm>
            <a:off x="1638605" y="4526280"/>
            <a:ext cx="740664" cy="384048"/>
          </a:xfrm>
          <a:prstGeom prst="rect">
            <a:avLst/>
          </a:prstGeom>
          <a:noFill/>
          <a:ln/>
        </p:spPr>
        <p:txBody>
          <a:bodyPr wrap="square" lIns="0" tIns="0" rIns="0" bIns="0" rtlCol="0" anchor="ctr"/>
          <a:lstStyle/>
          <a:p>
            <a:pPr algn="ctr" indent="0" marL="0">
              <a:buNone/>
            </a:pPr>
            <a:r>
              <a:rPr lang="en-US" sz="1150" dirty="0">
                <a:solidFill>
                  <a:srgbClr val="99F6E4"/>
                </a:solidFill>
                <a:latin typeface="Courier New" pitchFamily="34" charset="0"/>
                <a:ea typeface="Courier New" pitchFamily="34" charset="-122"/>
                <a:cs typeface="Courier New" pitchFamily="34" charset="-120"/>
              </a:rPr>
              <a:t>build</a:t>
            </a:r>
            <a:endParaRPr lang="en-US" sz="1150" dirty="0"/>
          </a:p>
        </p:txBody>
      </p:sp>
      <p:sp>
        <p:nvSpPr>
          <p:cNvPr id="10" name="Shape 7"/>
          <p:cNvSpPr/>
          <p:nvPr/>
        </p:nvSpPr>
        <p:spPr>
          <a:xfrm>
            <a:off x="2543861" y="4526280"/>
            <a:ext cx="651053" cy="384048"/>
          </a:xfrm>
          <a:prstGeom prst="roundRect">
            <a:avLst>
              <a:gd name="adj" fmla="val 50000"/>
            </a:avLst>
          </a:prstGeom>
          <a:solidFill>
            <a:srgbClr val="12303A"/>
          </a:solidFill>
          <a:ln w="12700">
            <a:solidFill>
              <a:srgbClr val="0F766E"/>
            </a:solidFill>
            <a:prstDash val="solid"/>
          </a:ln>
        </p:spPr>
      </p:sp>
      <p:sp>
        <p:nvSpPr>
          <p:cNvPr id="11" name="Text 8"/>
          <p:cNvSpPr/>
          <p:nvPr/>
        </p:nvSpPr>
        <p:spPr>
          <a:xfrm>
            <a:off x="2543861" y="4526280"/>
            <a:ext cx="651053" cy="384048"/>
          </a:xfrm>
          <a:prstGeom prst="rect">
            <a:avLst/>
          </a:prstGeom>
          <a:noFill/>
          <a:ln/>
        </p:spPr>
        <p:txBody>
          <a:bodyPr wrap="square" lIns="0" tIns="0" rIns="0" bIns="0" rtlCol="0" anchor="ctr"/>
          <a:lstStyle/>
          <a:p>
            <a:pPr algn="ctr" indent="0" marL="0">
              <a:buNone/>
            </a:pPr>
            <a:r>
              <a:rPr lang="en-US" sz="1150" dirty="0">
                <a:solidFill>
                  <a:srgbClr val="99F6E4"/>
                </a:solidFill>
                <a:latin typeface="Courier New" pitchFamily="34" charset="0"/>
                <a:ea typeface="Courier New" pitchFamily="34" charset="-122"/>
                <a:cs typeface="Courier New" pitchFamily="34" charset="-120"/>
              </a:rPr>
              <a:t>test</a:t>
            </a:r>
            <a:endParaRPr lang="en-US" sz="1150" dirty="0"/>
          </a:p>
        </p:txBody>
      </p:sp>
      <p:sp>
        <p:nvSpPr>
          <p:cNvPr id="12" name="Shape 9"/>
          <p:cNvSpPr/>
          <p:nvPr/>
        </p:nvSpPr>
        <p:spPr>
          <a:xfrm>
            <a:off x="3359506" y="4526280"/>
            <a:ext cx="919886" cy="384048"/>
          </a:xfrm>
          <a:prstGeom prst="roundRect">
            <a:avLst>
              <a:gd name="adj" fmla="val 50000"/>
            </a:avLst>
          </a:prstGeom>
          <a:solidFill>
            <a:srgbClr val="12303A"/>
          </a:solidFill>
          <a:ln w="12700">
            <a:solidFill>
              <a:srgbClr val="0F766E"/>
            </a:solidFill>
            <a:prstDash val="solid"/>
          </a:ln>
        </p:spPr>
      </p:sp>
      <p:sp>
        <p:nvSpPr>
          <p:cNvPr id="13" name="Text 10"/>
          <p:cNvSpPr/>
          <p:nvPr/>
        </p:nvSpPr>
        <p:spPr>
          <a:xfrm>
            <a:off x="3359506" y="4526280"/>
            <a:ext cx="919886" cy="384048"/>
          </a:xfrm>
          <a:prstGeom prst="rect">
            <a:avLst/>
          </a:prstGeom>
          <a:noFill/>
          <a:ln/>
        </p:spPr>
        <p:txBody>
          <a:bodyPr wrap="square" lIns="0" tIns="0" rIns="0" bIns="0" rtlCol="0" anchor="ctr"/>
          <a:lstStyle/>
          <a:p>
            <a:pPr algn="ctr" indent="0" marL="0">
              <a:buNone/>
            </a:pPr>
            <a:r>
              <a:rPr lang="en-US" sz="1150" dirty="0">
                <a:solidFill>
                  <a:srgbClr val="99F6E4"/>
                </a:solidFill>
                <a:latin typeface="Courier New" pitchFamily="34" charset="0"/>
                <a:ea typeface="Courier New" pitchFamily="34" charset="-122"/>
                <a:cs typeface="Courier New" pitchFamily="34" charset="-120"/>
              </a:rPr>
              <a:t>package</a:t>
            </a:r>
            <a:endParaRPr lang="en-US" sz="1150" dirty="0"/>
          </a:p>
        </p:txBody>
      </p:sp>
      <p:sp>
        <p:nvSpPr>
          <p:cNvPr id="14" name="Shape 11"/>
          <p:cNvSpPr/>
          <p:nvPr/>
        </p:nvSpPr>
        <p:spPr>
          <a:xfrm>
            <a:off x="4443984" y="4526280"/>
            <a:ext cx="830275" cy="384048"/>
          </a:xfrm>
          <a:prstGeom prst="roundRect">
            <a:avLst>
              <a:gd name="adj" fmla="val 50000"/>
            </a:avLst>
          </a:prstGeom>
          <a:solidFill>
            <a:srgbClr val="12303A"/>
          </a:solidFill>
          <a:ln w="12700">
            <a:solidFill>
              <a:srgbClr val="0F766E"/>
            </a:solidFill>
            <a:prstDash val="solid"/>
          </a:ln>
        </p:spPr>
      </p:sp>
      <p:sp>
        <p:nvSpPr>
          <p:cNvPr id="15" name="Text 12"/>
          <p:cNvSpPr/>
          <p:nvPr/>
        </p:nvSpPr>
        <p:spPr>
          <a:xfrm>
            <a:off x="4443984" y="4526280"/>
            <a:ext cx="830275" cy="384048"/>
          </a:xfrm>
          <a:prstGeom prst="rect">
            <a:avLst/>
          </a:prstGeom>
          <a:noFill/>
          <a:ln/>
        </p:spPr>
        <p:txBody>
          <a:bodyPr wrap="square" lIns="0" tIns="0" rIns="0" bIns="0" rtlCol="0" anchor="ctr"/>
          <a:lstStyle/>
          <a:p>
            <a:pPr algn="ctr" indent="0" marL="0">
              <a:buNone/>
            </a:pPr>
            <a:r>
              <a:rPr lang="en-US" sz="1150" dirty="0">
                <a:solidFill>
                  <a:srgbClr val="99F6E4"/>
                </a:solidFill>
                <a:latin typeface="Courier New" pitchFamily="34" charset="0"/>
                <a:ea typeface="Courier New" pitchFamily="34" charset="-122"/>
                <a:cs typeface="Courier New" pitchFamily="34" charset="-120"/>
              </a:rPr>
              <a:t>deploy</a:t>
            </a:r>
            <a:endParaRPr lang="en-US" sz="1150" dirty="0"/>
          </a:p>
        </p:txBody>
      </p:sp>
      <p:sp>
        <p:nvSpPr>
          <p:cNvPr id="16" name="Shape 13"/>
          <p:cNvSpPr/>
          <p:nvPr/>
        </p:nvSpPr>
        <p:spPr>
          <a:xfrm>
            <a:off x="822960" y="5532120"/>
            <a:ext cx="10515600" cy="0"/>
          </a:xfrm>
          <a:prstGeom prst="line">
            <a:avLst/>
          </a:prstGeom>
          <a:noFill/>
          <a:ln w="12700">
            <a:solidFill>
              <a:srgbClr val="334155"/>
            </a:solidFill>
            <a:prstDash val="solid"/>
          </a:ln>
        </p:spPr>
      </p:sp>
      <p:sp>
        <p:nvSpPr>
          <p:cNvPr id="17" name="Text 14"/>
          <p:cNvSpPr/>
          <p:nvPr/>
        </p:nvSpPr>
        <p:spPr>
          <a:xfrm>
            <a:off x="822960" y="5669280"/>
            <a:ext cx="10515600" cy="365760"/>
          </a:xfrm>
          <a:prstGeom prst="rect">
            <a:avLst/>
          </a:prstGeom>
          <a:noFill/>
          <a:ln/>
        </p:spPr>
        <p:txBody>
          <a:bodyPr wrap="square" lIns="0" tIns="0" rIns="0" bIns="0" rtlCol="0" anchor="ctr"/>
          <a:lstStyle/>
          <a:p>
            <a:pPr indent="0" marL="0">
              <a:buNone/>
            </a:pPr>
            <a:r>
              <a:rPr lang="en-US" sz="1250" b="1" dirty="0">
                <a:solidFill>
                  <a:srgbClr val="94A3B8"/>
                </a:solidFill>
                <a:latin typeface="Courier New" pitchFamily="34" charset="0"/>
                <a:ea typeface="Courier New" pitchFamily="34" charset="-122"/>
                <a:cs typeface="Courier New" pitchFamily="34" charset="-120"/>
              </a:rPr>
              <a:t>Prerequisites: </a:t>
            </a:r>
            <a:pPr indent="0" marL="0">
              <a:buNone/>
            </a:pPr>
            <a:r>
              <a:rPr lang="en-US" sz="1250" dirty="0">
                <a:solidFill>
                  <a:srgbClr val="94A3B8"/>
                </a:solidFill>
                <a:latin typeface="Courier New" pitchFamily="34" charset="0"/>
                <a:ea typeface="Courier New" pitchFamily="34" charset="-122"/>
                <a:cs typeface="Courier New" pitchFamily="34" charset="-120"/>
              </a:rPr>
              <a:t>you already know Linux commands and Docker. We build on both.</a:t>
            </a:r>
            <a:endParaRPr lang="en-US" sz="1250" dirty="0"/>
          </a:p>
        </p:txBody>
      </p:sp>
      <p:sp>
        <p:nvSpPr>
          <p:cNvPr id="19" name="Text 15"/>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CI/CD with GitHub Actions</a:t>
            </a:r>
            <a:endParaRPr lang="en-US" sz="950" dirty="0"/>
          </a:p>
        </p:txBody>
      </p:sp>
      <p:sp>
        <p:nvSpPr>
          <p:cNvPr id="20" name="Text 16"/>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475569"/>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WEEK AHEAD</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Six days, one repository</a:t>
            </a:r>
            <a:endParaRPr lang="en-US" sz="3000" dirty="0"/>
          </a:p>
        </p:txBody>
      </p:sp>
      <p:sp>
        <p:nvSpPr>
          <p:cNvPr id="4" name="Text 2"/>
          <p:cNvSpPr/>
          <p:nvPr/>
        </p:nvSpPr>
        <p:spPr>
          <a:xfrm>
            <a:off x="640080" y="1298448"/>
            <a:ext cx="10972800" cy="548640"/>
          </a:xfrm>
          <a:prstGeom prst="rect">
            <a:avLst/>
          </a:prstGeom>
          <a:noFill/>
          <a:ln/>
        </p:spPr>
        <p:txBody>
          <a:bodyPr wrap="square" lIns="0" tIns="0" rIns="0" bIns="0" rtlCol="0" anchor="ctr"/>
          <a:lstStyle/>
          <a:p>
            <a:pPr indent="0" marL="0">
              <a:lnSpc>
                <a:spcPct val="108000"/>
              </a:lnSpc>
              <a:buNone/>
            </a:pPr>
            <a:r>
              <a:rPr lang="en-US" sz="1400" dirty="0">
                <a:solidFill>
                  <a:srgbClr val="64748B"/>
                </a:solidFill>
                <a:latin typeface="Calibri" pitchFamily="34" charset="0"/>
                <a:ea typeface="Calibri" pitchFamily="34" charset="-122"/>
                <a:cs typeface="Calibri" pitchFamily="34" charset="-120"/>
              </a:rPr>
              <a:t>Everything lives in a single path-scoped monorepo — you clone once and grow it. Each day adds a folder and a workflow that only runs when its own folder changes.</a:t>
            </a:r>
            <a:endParaRPr lang="en-US" sz="1400" dirty="0"/>
          </a:p>
        </p:txBody>
      </p:sp>
      <p:sp>
        <p:nvSpPr>
          <p:cNvPr id="5" name="Shape 3"/>
          <p:cNvSpPr/>
          <p:nvPr/>
        </p:nvSpPr>
        <p:spPr>
          <a:xfrm>
            <a:off x="640080" y="2011680"/>
            <a:ext cx="3529584"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6" name="Shape 4"/>
          <p:cNvSpPr/>
          <p:nvPr/>
        </p:nvSpPr>
        <p:spPr>
          <a:xfrm>
            <a:off x="877824" y="2249424"/>
            <a:ext cx="512064" cy="512064"/>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14984" y="2386584"/>
            <a:ext cx="237744" cy="237744"/>
          </a:xfrm>
          <a:prstGeom prst="rect">
            <a:avLst/>
          </a:prstGeom>
        </p:spPr>
      </p:pic>
      <p:sp>
        <p:nvSpPr>
          <p:cNvPr id="8" name="Text 5"/>
          <p:cNvSpPr/>
          <p:nvPr/>
        </p:nvSpPr>
        <p:spPr>
          <a:xfrm>
            <a:off x="1517904" y="2231136"/>
            <a:ext cx="2523744" cy="219456"/>
          </a:xfrm>
          <a:prstGeom prst="rect">
            <a:avLst/>
          </a:prstGeom>
          <a:noFill/>
          <a:ln/>
        </p:spPr>
        <p:txBody>
          <a:bodyPr wrap="square" lIns="0" tIns="0" rIns="0" bIns="0" rtlCol="0" anchor="ctr"/>
          <a:lstStyle/>
          <a:p>
            <a:pPr indent="0" marL="0">
              <a:buNone/>
            </a:pPr>
            <a:r>
              <a:rPr lang="en-US" sz="1050" b="1" spc="200" kern="0" dirty="0">
                <a:solidFill>
                  <a:srgbClr val="0D9488"/>
                </a:solidFill>
                <a:latin typeface="Calibri" pitchFamily="34" charset="0"/>
                <a:ea typeface="Calibri" pitchFamily="34" charset="-122"/>
                <a:cs typeface="Calibri" pitchFamily="34" charset="-120"/>
              </a:rPr>
              <a:t>DAY 1</a:t>
            </a:r>
            <a:endParaRPr lang="en-US" sz="1050" dirty="0"/>
          </a:p>
        </p:txBody>
      </p:sp>
      <p:sp>
        <p:nvSpPr>
          <p:cNvPr id="9" name="Text 6"/>
          <p:cNvSpPr/>
          <p:nvPr/>
        </p:nvSpPr>
        <p:spPr>
          <a:xfrm>
            <a:off x="1517904" y="2441448"/>
            <a:ext cx="2523744" cy="310896"/>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First workflow</a:t>
            </a:r>
            <a:endParaRPr lang="en-US" sz="1500" dirty="0"/>
          </a:p>
        </p:txBody>
      </p:sp>
      <p:sp>
        <p:nvSpPr>
          <p:cNvPr id="10" name="Text 7"/>
          <p:cNvSpPr/>
          <p:nvPr/>
        </p:nvSpPr>
        <p:spPr>
          <a:xfrm>
            <a:off x="896112" y="2907792"/>
            <a:ext cx="3035808" cy="566928"/>
          </a:xfrm>
          <a:prstGeom prst="rect">
            <a:avLst/>
          </a:prstGeom>
          <a:noFill/>
          <a:ln/>
        </p:spPr>
        <p:txBody>
          <a:bodyPr wrap="square" lIns="0" tIns="0" rIns="0" bIns="0" rtlCol="0" anchor="t"/>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Events, jobs, steps, runners. A hello-world pipeline that runs on push.</a:t>
            </a:r>
            <a:endParaRPr lang="en-US" sz="1150" dirty="0"/>
          </a:p>
        </p:txBody>
      </p:sp>
      <p:sp>
        <p:nvSpPr>
          <p:cNvPr id="11" name="Shape 8"/>
          <p:cNvSpPr/>
          <p:nvPr/>
        </p:nvSpPr>
        <p:spPr>
          <a:xfrm>
            <a:off x="4425696" y="2011680"/>
            <a:ext cx="3529584"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2" name="Shape 9"/>
          <p:cNvSpPr/>
          <p:nvPr/>
        </p:nvSpPr>
        <p:spPr>
          <a:xfrm>
            <a:off x="4663440" y="2249424"/>
            <a:ext cx="512064" cy="512064"/>
          </a:xfrm>
          <a:prstGeom prst="ellipse">
            <a:avLst/>
          </a:prstGeom>
          <a:solidFill>
            <a:srgbClr val="F97316"/>
          </a:solidFill>
          <a:ln/>
        </p:spPr>
      </p:sp>
      <p:pic>
        <p:nvPicPr>
          <p:cNvPr id="13" name="Image 1" descr="preencoded.png">    </p:cNvPr>
          <p:cNvPicPr>
            <a:picLocks noChangeAspect="1"/>
          </p:cNvPicPr>
          <p:nvPr/>
        </p:nvPicPr>
        <p:blipFill>
          <a:blip r:embed="rId2"/>
          <a:stretch>
            <a:fillRect/>
          </a:stretch>
        </p:blipFill>
        <p:spPr>
          <a:xfrm>
            <a:off x="4800600" y="2386584"/>
            <a:ext cx="237744" cy="237744"/>
          </a:xfrm>
          <a:prstGeom prst="rect">
            <a:avLst/>
          </a:prstGeom>
        </p:spPr>
      </p:pic>
      <p:sp>
        <p:nvSpPr>
          <p:cNvPr id="14" name="Text 10"/>
          <p:cNvSpPr/>
          <p:nvPr/>
        </p:nvSpPr>
        <p:spPr>
          <a:xfrm>
            <a:off x="5303520" y="2231136"/>
            <a:ext cx="2523744" cy="219456"/>
          </a:xfrm>
          <a:prstGeom prst="rect">
            <a:avLst/>
          </a:prstGeom>
          <a:noFill/>
          <a:ln/>
        </p:spPr>
        <p:txBody>
          <a:bodyPr wrap="square" lIns="0" tIns="0" rIns="0" bIns="0" rtlCol="0" anchor="ctr"/>
          <a:lstStyle/>
          <a:p>
            <a:pPr indent="0" marL="0">
              <a:buNone/>
            </a:pPr>
            <a:r>
              <a:rPr lang="en-US" sz="1050" b="1" spc="200" kern="0" dirty="0">
                <a:solidFill>
                  <a:srgbClr val="F97316"/>
                </a:solidFill>
                <a:latin typeface="Calibri" pitchFamily="34" charset="0"/>
                <a:ea typeface="Calibri" pitchFamily="34" charset="-122"/>
                <a:cs typeface="Calibri" pitchFamily="34" charset="-120"/>
              </a:rPr>
              <a:t>DAY 2</a:t>
            </a:r>
            <a:endParaRPr lang="en-US" sz="1050" dirty="0"/>
          </a:p>
        </p:txBody>
      </p:sp>
      <p:sp>
        <p:nvSpPr>
          <p:cNvPr id="15" name="Text 11"/>
          <p:cNvSpPr/>
          <p:nvPr/>
        </p:nvSpPr>
        <p:spPr>
          <a:xfrm>
            <a:off x="5303520" y="2441448"/>
            <a:ext cx="2523744" cy="310896"/>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CI for real</a:t>
            </a:r>
            <a:endParaRPr lang="en-US" sz="1500" dirty="0"/>
          </a:p>
        </p:txBody>
      </p:sp>
      <p:sp>
        <p:nvSpPr>
          <p:cNvPr id="16" name="Text 12"/>
          <p:cNvSpPr/>
          <p:nvPr/>
        </p:nvSpPr>
        <p:spPr>
          <a:xfrm>
            <a:off x="4681728" y="2907792"/>
            <a:ext cx="3035808" cy="566928"/>
          </a:xfrm>
          <a:prstGeom prst="rect">
            <a:avLst/>
          </a:prstGeom>
          <a:noFill/>
          <a:ln/>
        </p:spPr>
        <p:txBody>
          <a:bodyPr wrap="square" lIns="0" tIns="0" rIns="0" bIns="0" rtlCol="0" anchor="t"/>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Build, test and lint a Node app on every pull request. Red X blocks merge.</a:t>
            </a:r>
            <a:endParaRPr lang="en-US" sz="1150" dirty="0"/>
          </a:p>
        </p:txBody>
      </p:sp>
      <p:sp>
        <p:nvSpPr>
          <p:cNvPr id="17" name="Shape 13"/>
          <p:cNvSpPr/>
          <p:nvPr/>
        </p:nvSpPr>
        <p:spPr>
          <a:xfrm>
            <a:off x="8211312" y="2011680"/>
            <a:ext cx="3529584"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8" name="Shape 14"/>
          <p:cNvSpPr/>
          <p:nvPr/>
        </p:nvSpPr>
        <p:spPr>
          <a:xfrm>
            <a:off x="8449056" y="2249424"/>
            <a:ext cx="512064" cy="512064"/>
          </a:xfrm>
          <a:prstGeom prst="ellipse">
            <a:avLst/>
          </a:prstGeom>
          <a:solidFill>
            <a:srgbClr val="2496ED"/>
          </a:solidFill>
          <a:ln/>
        </p:spPr>
      </p:sp>
      <p:pic>
        <p:nvPicPr>
          <p:cNvPr id="19" name="Image 2" descr="preencoded.png">    </p:cNvPr>
          <p:cNvPicPr>
            <a:picLocks noChangeAspect="1"/>
          </p:cNvPicPr>
          <p:nvPr/>
        </p:nvPicPr>
        <p:blipFill>
          <a:blip r:embed="rId3"/>
          <a:stretch>
            <a:fillRect/>
          </a:stretch>
        </p:blipFill>
        <p:spPr>
          <a:xfrm>
            <a:off x="8586216" y="2386584"/>
            <a:ext cx="237744" cy="237744"/>
          </a:xfrm>
          <a:prstGeom prst="rect">
            <a:avLst/>
          </a:prstGeom>
        </p:spPr>
      </p:pic>
      <p:sp>
        <p:nvSpPr>
          <p:cNvPr id="20" name="Text 15"/>
          <p:cNvSpPr/>
          <p:nvPr/>
        </p:nvSpPr>
        <p:spPr>
          <a:xfrm>
            <a:off x="9089136" y="2231136"/>
            <a:ext cx="2523744" cy="219456"/>
          </a:xfrm>
          <a:prstGeom prst="rect">
            <a:avLst/>
          </a:prstGeom>
          <a:noFill/>
          <a:ln/>
        </p:spPr>
        <p:txBody>
          <a:bodyPr wrap="square" lIns="0" tIns="0" rIns="0" bIns="0" rtlCol="0" anchor="ctr"/>
          <a:lstStyle/>
          <a:p>
            <a:pPr indent="0" marL="0">
              <a:buNone/>
            </a:pPr>
            <a:r>
              <a:rPr lang="en-US" sz="1050" b="1" spc="200" kern="0" dirty="0">
                <a:solidFill>
                  <a:srgbClr val="2496ED"/>
                </a:solidFill>
                <a:latin typeface="Calibri" pitchFamily="34" charset="0"/>
                <a:ea typeface="Calibri" pitchFamily="34" charset="-122"/>
                <a:cs typeface="Calibri" pitchFamily="34" charset="-120"/>
              </a:rPr>
              <a:t>DAY 3</a:t>
            </a:r>
            <a:endParaRPr lang="en-US" sz="1050" dirty="0"/>
          </a:p>
        </p:txBody>
      </p:sp>
      <p:sp>
        <p:nvSpPr>
          <p:cNvPr id="21" name="Text 16"/>
          <p:cNvSpPr/>
          <p:nvPr/>
        </p:nvSpPr>
        <p:spPr>
          <a:xfrm>
            <a:off x="9089136" y="2441448"/>
            <a:ext cx="2523744" cy="310896"/>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Docker builds</a:t>
            </a:r>
            <a:endParaRPr lang="en-US" sz="1500" dirty="0"/>
          </a:p>
        </p:txBody>
      </p:sp>
      <p:sp>
        <p:nvSpPr>
          <p:cNvPr id="22" name="Text 17"/>
          <p:cNvSpPr/>
          <p:nvPr/>
        </p:nvSpPr>
        <p:spPr>
          <a:xfrm>
            <a:off x="8467344" y="2907792"/>
            <a:ext cx="3035808" cy="566928"/>
          </a:xfrm>
          <a:prstGeom prst="rect">
            <a:avLst/>
          </a:prstGeom>
          <a:noFill/>
          <a:ln/>
        </p:spPr>
        <p:txBody>
          <a:bodyPr wrap="square" lIns="0" tIns="0" rIns="0" bIns="0" rtlCol="0" anchor="t"/>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Build an image in CI, run the container, push to GHCR.</a:t>
            </a:r>
            <a:endParaRPr lang="en-US" sz="1150" dirty="0"/>
          </a:p>
        </p:txBody>
      </p:sp>
      <p:sp>
        <p:nvSpPr>
          <p:cNvPr id="23" name="Shape 18"/>
          <p:cNvSpPr/>
          <p:nvPr/>
        </p:nvSpPr>
        <p:spPr>
          <a:xfrm>
            <a:off x="640080" y="3803904"/>
            <a:ext cx="3529584"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4" name="Shape 19"/>
          <p:cNvSpPr/>
          <p:nvPr/>
        </p:nvSpPr>
        <p:spPr>
          <a:xfrm>
            <a:off x="877824" y="4041648"/>
            <a:ext cx="512064" cy="512064"/>
          </a:xfrm>
          <a:prstGeom prst="ellipse">
            <a:avLst/>
          </a:prstGeom>
          <a:solidFill>
            <a:srgbClr val="0D9488"/>
          </a:solidFill>
          <a:ln/>
        </p:spPr>
      </p:sp>
      <p:pic>
        <p:nvPicPr>
          <p:cNvPr id="25" name="Image 3" descr="preencoded.png">    </p:cNvPr>
          <p:cNvPicPr>
            <a:picLocks noChangeAspect="1"/>
          </p:cNvPicPr>
          <p:nvPr/>
        </p:nvPicPr>
        <p:blipFill>
          <a:blip r:embed="rId4"/>
          <a:stretch>
            <a:fillRect/>
          </a:stretch>
        </p:blipFill>
        <p:spPr>
          <a:xfrm>
            <a:off x="1014984" y="4178808"/>
            <a:ext cx="237744" cy="237744"/>
          </a:xfrm>
          <a:prstGeom prst="rect">
            <a:avLst/>
          </a:prstGeom>
        </p:spPr>
      </p:pic>
      <p:sp>
        <p:nvSpPr>
          <p:cNvPr id="26" name="Text 20"/>
          <p:cNvSpPr/>
          <p:nvPr/>
        </p:nvSpPr>
        <p:spPr>
          <a:xfrm>
            <a:off x="1517904" y="4023360"/>
            <a:ext cx="2523744" cy="219456"/>
          </a:xfrm>
          <a:prstGeom prst="rect">
            <a:avLst/>
          </a:prstGeom>
          <a:noFill/>
          <a:ln/>
        </p:spPr>
        <p:txBody>
          <a:bodyPr wrap="square" lIns="0" tIns="0" rIns="0" bIns="0" rtlCol="0" anchor="ctr"/>
          <a:lstStyle/>
          <a:p>
            <a:pPr indent="0" marL="0">
              <a:buNone/>
            </a:pPr>
            <a:r>
              <a:rPr lang="en-US" sz="1050" b="1" spc="200" kern="0" dirty="0">
                <a:solidFill>
                  <a:srgbClr val="0D9488"/>
                </a:solidFill>
                <a:latin typeface="Calibri" pitchFamily="34" charset="0"/>
                <a:ea typeface="Calibri" pitchFamily="34" charset="-122"/>
                <a:cs typeface="Calibri" pitchFamily="34" charset="-120"/>
              </a:rPr>
              <a:t>DAY 4</a:t>
            </a:r>
            <a:endParaRPr lang="en-US" sz="1050" dirty="0"/>
          </a:p>
        </p:txBody>
      </p:sp>
      <p:sp>
        <p:nvSpPr>
          <p:cNvPr id="27" name="Text 21"/>
          <p:cNvSpPr/>
          <p:nvPr/>
        </p:nvSpPr>
        <p:spPr>
          <a:xfrm>
            <a:off x="1517904" y="4233672"/>
            <a:ext cx="2523744" cy="310896"/>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Integration</a:t>
            </a:r>
            <a:endParaRPr lang="en-US" sz="1500" dirty="0"/>
          </a:p>
        </p:txBody>
      </p:sp>
      <p:sp>
        <p:nvSpPr>
          <p:cNvPr id="28" name="Text 22"/>
          <p:cNvSpPr/>
          <p:nvPr/>
        </p:nvSpPr>
        <p:spPr>
          <a:xfrm>
            <a:off x="896112" y="4700016"/>
            <a:ext cx="3035808" cy="566928"/>
          </a:xfrm>
          <a:prstGeom prst="rect">
            <a:avLst/>
          </a:prstGeom>
          <a:noFill/>
          <a:ln/>
        </p:spPr>
        <p:txBody>
          <a:bodyPr wrap="square" lIns="0" tIns="0" rIns="0" bIns="0" rtlCol="0" anchor="t"/>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Compose up a multi-service stack and test it end to end.</a:t>
            </a:r>
            <a:endParaRPr lang="en-US" sz="1150" dirty="0"/>
          </a:p>
        </p:txBody>
      </p:sp>
      <p:sp>
        <p:nvSpPr>
          <p:cNvPr id="29" name="Shape 23"/>
          <p:cNvSpPr/>
          <p:nvPr/>
        </p:nvSpPr>
        <p:spPr>
          <a:xfrm>
            <a:off x="4425696" y="3803904"/>
            <a:ext cx="3529584"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30" name="Shape 24"/>
          <p:cNvSpPr/>
          <p:nvPr/>
        </p:nvSpPr>
        <p:spPr>
          <a:xfrm>
            <a:off x="4663440" y="4041648"/>
            <a:ext cx="512064" cy="512064"/>
          </a:xfrm>
          <a:prstGeom prst="ellipse">
            <a:avLst/>
          </a:prstGeom>
          <a:solidFill>
            <a:srgbClr val="F97316"/>
          </a:solidFill>
          <a:ln/>
        </p:spPr>
      </p:sp>
      <p:pic>
        <p:nvPicPr>
          <p:cNvPr id="31" name="Image 4" descr="preencoded.png">    </p:cNvPr>
          <p:cNvPicPr>
            <a:picLocks noChangeAspect="1"/>
          </p:cNvPicPr>
          <p:nvPr/>
        </p:nvPicPr>
        <p:blipFill>
          <a:blip r:embed="rId5"/>
          <a:stretch>
            <a:fillRect/>
          </a:stretch>
        </p:blipFill>
        <p:spPr>
          <a:xfrm>
            <a:off x="4800600" y="4178808"/>
            <a:ext cx="237744" cy="237744"/>
          </a:xfrm>
          <a:prstGeom prst="rect">
            <a:avLst/>
          </a:prstGeom>
        </p:spPr>
      </p:pic>
      <p:sp>
        <p:nvSpPr>
          <p:cNvPr id="32" name="Text 25"/>
          <p:cNvSpPr/>
          <p:nvPr/>
        </p:nvSpPr>
        <p:spPr>
          <a:xfrm>
            <a:off x="5303520" y="4023360"/>
            <a:ext cx="2523744" cy="219456"/>
          </a:xfrm>
          <a:prstGeom prst="rect">
            <a:avLst/>
          </a:prstGeom>
          <a:noFill/>
          <a:ln/>
        </p:spPr>
        <p:txBody>
          <a:bodyPr wrap="square" lIns="0" tIns="0" rIns="0" bIns="0" rtlCol="0" anchor="ctr"/>
          <a:lstStyle/>
          <a:p>
            <a:pPr indent="0" marL="0">
              <a:buNone/>
            </a:pPr>
            <a:r>
              <a:rPr lang="en-US" sz="1050" b="1" spc="200" kern="0" dirty="0">
                <a:solidFill>
                  <a:srgbClr val="F97316"/>
                </a:solidFill>
                <a:latin typeface="Calibri" pitchFamily="34" charset="0"/>
                <a:ea typeface="Calibri" pitchFamily="34" charset="-122"/>
                <a:cs typeface="Calibri" pitchFamily="34" charset="-120"/>
              </a:rPr>
              <a:t>DAY 5</a:t>
            </a:r>
            <a:endParaRPr lang="en-US" sz="1050" dirty="0"/>
          </a:p>
        </p:txBody>
      </p:sp>
      <p:sp>
        <p:nvSpPr>
          <p:cNvPr id="33" name="Text 26"/>
          <p:cNvSpPr/>
          <p:nvPr/>
        </p:nvSpPr>
        <p:spPr>
          <a:xfrm>
            <a:off x="5303520" y="4233672"/>
            <a:ext cx="2523744" cy="310896"/>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Deploy (CD)</a:t>
            </a:r>
            <a:endParaRPr lang="en-US" sz="1500" dirty="0"/>
          </a:p>
        </p:txBody>
      </p:sp>
      <p:sp>
        <p:nvSpPr>
          <p:cNvPr id="34" name="Text 27"/>
          <p:cNvSpPr/>
          <p:nvPr/>
        </p:nvSpPr>
        <p:spPr>
          <a:xfrm>
            <a:off x="4681728" y="4700016"/>
            <a:ext cx="3035808" cy="566928"/>
          </a:xfrm>
          <a:prstGeom prst="rect">
            <a:avLst/>
          </a:prstGeom>
          <a:noFill/>
          <a:ln/>
        </p:spPr>
        <p:txBody>
          <a:bodyPr wrap="square" lIns="0" tIns="0" rIns="0" bIns="0" rtlCol="0" anchor="t"/>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Environments, secrets and an approval gate to a staging target.</a:t>
            </a:r>
            <a:endParaRPr lang="en-US" sz="1150" dirty="0"/>
          </a:p>
        </p:txBody>
      </p:sp>
      <p:sp>
        <p:nvSpPr>
          <p:cNvPr id="35" name="Shape 28"/>
          <p:cNvSpPr/>
          <p:nvPr/>
        </p:nvSpPr>
        <p:spPr>
          <a:xfrm>
            <a:off x="8211312" y="3803904"/>
            <a:ext cx="3529584" cy="1554480"/>
          </a:xfrm>
          <a:prstGeom prst="roundRect">
            <a:avLst>
              <a:gd name="adj" fmla="val 4706"/>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36" name="Shape 29"/>
          <p:cNvSpPr/>
          <p:nvPr/>
        </p:nvSpPr>
        <p:spPr>
          <a:xfrm>
            <a:off x="8449056" y="4041648"/>
            <a:ext cx="512064" cy="512064"/>
          </a:xfrm>
          <a:prstGeom prst="ellipse">
            <a:avLst/>
          </a:prstGeom>
          <a:solidFill>
            <a:srgbClr val="0F766E"/>
          </a:solidFill>
          <a:ln/>
        </p:spPr>
      </p:sp>
      <p:pic>
        <p:nvPicPr>
          <p:cNvPr id="37" name="Image 5" descr="preencoded.png">    </p:cNvPr>
          <p:cNvPicPr>
            <a:picLocks noChangeAspect="1"/>
          </p:cNvPicPr>
          <p:nvPr/>
        </p:nvPicPr>
        <p:blipFill>
          <a:blip r:embed="rId6"/>
          <a:stretch>
            <a:fillRect/>
          </a:stretch>
        </p:blipFill>
        <p:spPr>
          <a:xfrm>
            <a:off x="8586216" y="4178808"/>
            <a:ext cx="237744" cy="237744"/>
          </a:xfrm>
          <a:prstGeom prst="rect">
            <a:avLst/>
          </a:prstGeom>
        </p:spPr>
      </p:pic>
      <p:sp>
        <p:nvSpPr>
          <p:cNvPr id="38" name="Text 30"/>
          <p:cNvSpPr/>
          <p:nvPr/>
        </p:nvSpPr>
        <p:spPr>
          <a:xfrm>
            <a:off x="9089136" y="4023360"/>
            <a:ext cx="2523744" cy="219456"/>
          </a:xfrm>
          <a:prstGeom prst="rect">
            <a:avLst/>
          </a:prstGeom>
          <a:noFill/>
          <a:ln/>
        </p:spPr>
        <p:txBody>
          <a:bodyPr wrap="square" lIns="0" tIns="0" rIns="0" bIns="0" rtlCol="0" anchor="ctr"/>
          <a:lstStyle/>
          <a:p>
            <a:pPr indent="0" marL="0">
              <a:buNone/>
            </a:pPr>
            <a:r>
              <a:rPr lang="en-US" sz="1050" b="1" spc="200" kern="0" dirty="0">
                <a:solidFill>
                  <a:srgbClr val="0F766E"/>
                </a:solidFill>
                <a:latin typeface="Calibri" pitchFamily="34" charset="0"/>
                <a:ea typeface="Calibri" pitchFamily="34" charset="-122"/>
                <a:cs typeface="Calibri" pitchFamily="34" charset="-120"/>
              </a:rPr>
              <a:t>DAY 6</a:t>
            </a:r>
            <a:endParaRPr lang="en-US" sz="1050" dirty="0"/>
          </a:p>
        </p:txBody>
      </p:sp>
      <p:sp>
        <p:nvSpPr>
          <p:cNvPr id="39" name="Text 31"/>
          <p:cNvSpPr/>
          <p:nvPr/>
        </p:nvSpPr>
        <p:spPr>
          <a:xfrm>
            <a:off x="9089136" y="4233672"/>
            <a:ext cx="2523744" cy="310896"/>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Capstone</a:t>
            </a:r>
            <a:endParaRPr lang="en-US" sz="1500" dirty="0"/>
          </a:p>
        </p:txBody>
      </p:sp>
      <p:sp>
        <p:nvSpPr>
          <p:cNvPr id="40" name="Text 32"/>
          <p:cNvSpPr/>
          <p:nvPr/>
        </p:nvSpPr>
        <p:spPr>
          <a:xfrm>
            <a:off x="8467344" y="4700016"/>
            <a:ext cx="3035808" cy="566928"/>
          </a:xfrm>
          <a:prstGeom prst="rect">
            <a:avLst/>
          </a:prstGeom>
          <a:noFill/>
          <a:ln/>
        </p:spPr>
        <p:txBody>
          <a:bodyPr wrap="square" lIns="0" tIns="0" rIns="0" bIns="0" rtlCol="0" anchor="t"/>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Wire the full pipeline for ShortLink — build, test, image, deploy.</a:t>
            </a:r>
            <a:endParaRPr lang="en-US" sz="1150" dirty="0"/>
          </a:p>
        </p:txBody>
      </p:sp>
      <p:sp>
        <p:nvSpPr>
          <p:cNvPr id="42" name="Text 33"/>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43" name="Text 34"/>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2331720"/>
            <a:ext cx="5486400" cy="365760"/>
          </a:xfrm>
          <a:prstGeom prst="rect">
            <a:avLst/>
          </a:prstGeom>
          <a:noFill/>
          <a:ln/>
        </p:spPr>
        <p:txBody>
          <a:bodyPr wrap="square" lIns="0" tIns="0" rIns="0" bIns="0" rtlCol="0" anchor="ctr"/>
          <a:lstStyle/>
          <a:p>
            <a:pPr indent="0" marL="0">
              <a:buNone/>
            </a:pPr>
            <a:r>
              <a:rPr lang="en-US" sz="1400" b="1" spc="400" kern="0" dirty="0">
                <a:solidFill>
                  <a:srgbClr val="F97316"/>
                </a:solidFill>
                <a:latin typeface="Calibri" pitchFamily="34" charset="0"/>
                <a:ea typeface="Calibri" pitchFamily="34" charset="-122"/>
                <a:cs typeface="Calibri" pitchFamily="34" charset="-120"/>
              </a:rPr>
              <a:t>PART ONE</a:t>
            </a:r>
            <a:endParaRPr lang="en-US" sz="1400" dirty="0"/>
          </a:p>
        </p:txBody>
      </p:sp>
      <p:sp>
        <p:nvSpPr>
          <p:cNvPr id="3" name="Text 1"/>
          <p:cNvSpPr/>
          <p:nvPr/>
        </p:nvSpPr>
        <p:spPr>
          <a:xfrm>
            <a:off x="786384" y="2724912"/>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Why CI/CD exists</a:t>
            </a:r>
            <a:endParaRPr lang="en-US" sz="4400" dirty="0"/>
          </a:p>
        </p:txBody>
      </p:sp>
      <p:sp>
        <p:nvSpPr>
          <p:cNvPr id="4" name="Text 2"/>
          <p:cNvSpPr/>
          <p:nvPr/>
        </p:nvSpPr>
        <p:spPr>
          <a:xfrm>
            <a:off x="822960" y="3703320"/>
            <a:ext cx="8686800" cy="640080"/>
          </a:xfrm>
          <a:prstGeom prst="rect">
            <a:avLst/>
          </a:prstGeom>
          <a:noFill/>
          <a:ln/>
        </p:spPr>
        <p:txBody>
          <a:bodyPr wrap="square" lIns="0" tIns="0" rIns="0" bIns="0" rtlCol="0" anchor="ctr"/>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Start with the pain. Every tool this week is an answer to a specific failure — name the failure first.</a:t>
            </a:r>
            <a:endParaRPr lang="en-US" sz="1600" dirty="0"/>
          </a:p>
        </p:txBody>
      </p:sp>
      <p:sp>
        <p:nvSpPr>
          <p:cNvPr id="5" name="Shape 3"/>
          <p:cNvSpPr/>
          <p:nvPr/>
        </p:nvSpPr>
        <p:spPr>
          <a:xfrm>
            <a:off x="10058400" y="2286000"/>
            <a:ext cx="1371600" cy="1371600"/>
          </a:xfrm>
          <a:prstGeom prst="ellipse">
            <a:avLst/>
          </a:prstGeom>
          <a:solidFill>
            <a:srgbClr val="F97316"/>
          </a:solidFill>
          <a:ln/>
          <a:effectLst>
            <a:outerShdw sx="100000" sy="100000" kx="0" ky="0" algn="bl" rotWithShape="0" blurRad="152400" dist="63500" dir="5400000">
              <a:srgbClr val="0F172A">
                <a:alpha val="30000"/>
              </a:srgbClr>
            </a:outerShdw>
          </a:effectLst>
        </p:spPr>
      </p:sp>
      <p:pic>
        <p:nvPicPr>
          <p:cNvPr id="6" name="Image 0" descr="preencoded.png">    </p:cNvPr>
          <p:cNvPicPr>
            <a:picLocks noChangeAspect="1"/>
          </p:cNvPicPr>
          <p:nvPr/>
        </p:nvPicPr>
        <p:blipFill>
          <a:blip r:embed="rId1"/>
          <a:stretch>
            <a:fillRect/>
          </a:stretch>
        </p:blipFill>
        <p:spPr>
          <a:xfrm>
            <a:off x="10442448" y="2670048"/>
            <a:ext cx="603504" cy="603504"/>
          </a:xfrm>
          <a:prstGeom prst="rect">
            <a:avLst/>
          </a:prstGeom>
        </p:spPr>
      </p:pic>
      <p:sp>
        <p:nvSpPr>
          <p:cNvPr id="7" name="Text 4"/>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CI/CD with GitHub Actions</a:t>
            </a:r>
            <a:endParaRPr lang="en-US" sz="950" dirty="0"/>
          </a:p>
        </p:txBody>
      </p:sp>
      <p:sp>
        <p:nvSpPr>
          <p:cNvPr id="8" name="Text 5"/>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475569"/>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F97316"/>
                </a:solidFill>
                <a:latin typeface="Calibri" pitchFamily="34" charset="0"/>
                <a:ea typeface="Calibri" pitchFamily="34" charset="-122"/>
                <a:cs typeface="Calibri" pitchFamily="34" charset="-120"/>
              </a:rPr>
              <a:t>THE PAIN</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“It worked on my machine”</a:t>
            </a:r>
            <a:endParaRPr lang="en-US" sz="3000" dirty="0"/>
          </a:p>
        </p:txBody>
      </p:sp>
      <p:sp>
        <p:nvSpPr>
          <p:cNvPr id="4" name="Text 2"/>
          <p:cNvSpPr/>
          <p:nvPr/>
        </p:nvSpPr>
        <p:spPr>
          <a:xfrm>
            <a:off x="640080" y="1316736"/>
            <a:ext cx="5760720" cy="1188720"/>
          </a:xfrm>
          <a:prstGeom prst="rect">
            <a:avLst/>
          </a:prstGeom>
          <a:noFill/>
          <a:ln/>
        </p:spPr>
        <p:txBody>
          <a:bodyPr wrap="square" lIns="0" tIns="0" rIns="0" bIns="0" rtlCol="0" anchor="ctr"/>
          <a:lstStyle/>
          <a:p>
            <a:pPr indent="0" marL="0">
              <a:lnSpc>
                <a:spcPct val="114000"/>
              </a:lnSpc>
              <a:buNone/>
            </a:pPr>
            <a:r>
              <a:rPr lang="en-US" sz="1450" dirty="0">
                <a:solidFill>
                  <a:srgbClr val="1E293B"/>
                </a:solidFill>
                <a:latin typeface="Calibri" pitchFamily="34" charset="0"/>
                <a:ea typeface="Calibri" pitchFamily="34" charset="-122"/>
                <a:cs typeface="Calibri" pitchFamily="34" charset="-120"/>
              </a:rPr>
              <a:t>Ten people branch off on Monday and merge on Friday. Nobody integrated in between. Now the branches conflict, half the tests were never run, and the build breaks — on deploy day.</a:t>
            </a:r>
            <a:endParaRPr lang="en-US" sz="1450" dirty="0"/>
          </a:p>
        </p:txBody>
      </p:sp>
      <p:sp>
        <p:nvSpPr>
          <p:cNvPr id="5" name="Shape 3"/>
          <p:cNvSpPr/>
          <p:nvPr/>
        </p:nvSpPr>
        <p:spPr>
          <a:xfrm>
            <a:off x="685800" y="2825496"/>
            <a:ext cx="201168" cy="201168"/>
          </a:xfrm>
          <a:prstGeom prst="ellipse">
            <a:avLst/>
          </a:prstGeom>
          <a:solidFill>
            <a:srgbClr val="FFF7ED"/>
          </a:solidFill>
          <a:ln w="12700">
            <a:solidFill>
              <a:srgbClr val="FED7AA"/>
            </a:solidFill>
            <a:prstDash val="solid"/>
          </a:ln>
        </p:spPr>
      </p:sp>
      <p:pic>
        <p:nvPicPr>
          <p:cNvPr id="6" name="Image 0" descr="preencoded.png">    </p:cNvPr>
          <p:cNvPicPr>
            <a:picLocks noChangeAspect="1"/>
          </p:cNvPicPr>
          <p:nvPr/>
        </p:nvPicPr>
        <p:blipFill>
          <a:blip r:embed="rId1"/>
          <a:stretch>
            <a:fillRect/>
          </a:stretch>
        </p:blipFill>
        <p:spPr>
          <a:xfrm>
            <a:off x="726948" y="2866644"/>
            <a:ext cx="118872" cy="118872"/>
          </a:xfrm>
          <a:prstGeom prst="rect">
            <a:avLst/>
          </a:prstGeom>
        </p:spPr>
      </p:pic>
      <p:sp>
        <p:nvSpPr>
          <p:cNvPr id="7" name="Text 4"/>
          <p:cNvSpPr/>
          <p:nvPr/>
        </p:nvSpPr>
        <p:spPr>
          <a:xfrm>
            <a:off x="1024128" y="2734056"/>
            <a:ext cx="539496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Merges pile up all week — “integration hell” on Friday</a:t>
            </a:r>
            <a:endParaRPr lang="en-US" sz="1300" dirty="0"/>
          </a:p>
        </p:txBody>
      </p:sp>
      <p:sp>
        <p:nvSpPr>
          <p:cNvPr id="8" name="Shape 5"/>
          <p:cNvSpPr/>
          <p:nvPr/>
        </p:nvSpPr>
        <p:spPr>
          <a:xfrm>
            <a:off x="685800" y="3374136"/>
            <a:ext cx="201168" cy="201168"/>
          </a:xfrm>
          <a:prstGeom prst="ellipse">
            <a:avLst/>
          </a:prstGeom>
          <a:solidFill>
            <a:srgbClr val="FFF7ED"/>
          </a:solidFill>
          <a:ln w="12700">
            <a:solidFill>
              <a:srgbClr val="FED7AA"/>
            </a:solidFill>
            <a:prstDash val="solid"/>
          </a:ln>
        </p:spPr>
      </p:sp>
      <p:pic>
        <p:nvPicPr>
          <p:cNvPr id="9" name="Image 1" descr="preencoded.png">    </p:cNvPr>
          <p:cNvPicPr>
            <a:picLocks noChangeAspect="1"/>
          </p:cNvPicPr>
          <p:nvPr/>
        </p:nvPicPr>
        <p:blipFill>
          <a:blip r:embed="rId2"/>
          <a:stretch>
            <a:fillRect/>
          </a:stretch>
        </p:blipFill>
        <p:spPr>
          <a:xfrm>
            <a:off x="726948" y="3415284"/>
            <a:ext cx="118872" cy="118872"/>
          </a:xfrm>
          <a:prstGeom prst="rect">
            <a:avLst/>
          </a:prstGeom>
        </p:spPr>
      </p:pic>
      <p:sp>
        <p:nvSpPr>
          <p:cNvPr id="10" name="Text 6"/>
          <p:cNvSpPr/>
          <p:nvPr/>
        </p:nvSpPr>
        <p:spPr>
          <a:xfrm>
            <a:off x="1024128" y="3282696"/>
            <a:ext cx="539496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Tests run manually, if at all — so they get skipped</a:t>
            </a:r>
            <a:endParaRPr lang="en-US" sz="1300" dirty="0"/>
          </a:p>
        </p:txBody>
      </p:sp>
      <p:sp>
        <p:nvSpPr>
          <p:cNvPr id="11" name="Shape 7"/>
          <p:cNvSpPr/>
          <p:nvPr/>
        </p:nvSpPr>
        <p:spPr>
          <a:xfrm>
            <a:off x="685800" y="3922776"/>
            <a:ext cx="201168" cy="201168"/>
          </a:xfrm>
          <a:prstGeom prst="ellipse">
            <a:avLst/>
          </a:prstGeom>
          <a:solidFill>
            <a:srgbClr val="FFF7ED"/>
          </a:solidFill>
          <a:ln w="12700">
            <a:solidFill>
              <a:srgbClr val="FED7AA"/>
            </a:solidFill>
            <a:prstDash val="solid"/>
          </a:ln>
        </p:spPr>
      </p:sp>
      <p:pic>
        <p:nvPicPr>
          <p:cNvPr id="12" name="Image 2" descr="preencoded.png">    </p:cNvPr>
          <p:cNvPicPr>
            <a:picLocks noChangeAspect="1"/>
          </p:cNvPicPr>
          <p:nvPr/>
        </p:nvPicPr>
        <p:blipFill>
          <a:blip r:embed="rId3"/>
          <a:stretch>
            <a:fillRect/>
          </a:stretch>
        </p:blipFill>
        <p:spPr>
          <a:xfrm>
            <a:off x="726948" y="3963924"/>
            <a:ext cx="118872" cy="118872"/>
          </a:xfrm>
          <a:prstGeom prst="rect">
            <a:avLst/>
          </a:prstGeom>
        </p:spPr>
      </p:pic>
      <p:sp>
        <p:nvSpPr>
          <p:cNvPr id="13" name="Text 8"/>
          <p:cNvSpPr/>
          <p:nvPr/>
        </p:nvSpPr>
        <p:spPr>
          <a:xfrm>
            <a:off x="1024128" y="3831336"/>
            <a:ext cx="539496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The person who deploys is the only one who knows the steps</a:t>
            </a:r>
            <a:endParaRPr lang="en-US" sz="1300" dirty="0"/>
          </a:p>
        </p:txBody>
      </p:sp>
      <p:sp>
        <p:nvSpPr>
          <p:cNvPr id="14" name="Shape 9"/>
          <p:cNvSpPr/>
          <p:nvPr/>
        </p:nvSpPr>
        <p:spPr>
          <a:xfrm>
            <a:off x="685800" y="4471416"/>
            <a:ext cx="201168" cy="201168"/>
          </a:xfrm>
          <a:prstGeom prst="ellipse">
            <a:avLst/>
          </a:prstGeom>
          <a:solidFill>
            <a:srgbClr val="FFF7ED"/>
          </a:solidFill>
          <a:ln w="12700">
            <a:solidFill>
              <a:srgbClr val="FED7AA"/>
            </a:solidFill>
            <a:prstDash val="solid"/>
          </a:ln>
        </p:spPr>
      </p:sp>
      <p:pic>
        <p:nvPicPr>
          <p:cNvPr id="15" name="Image 3" descr="preencoded.png">    </p:cNvPr>
          <p:cNvPicPr>
            <a:picLocks noChangeAspect="1"/>
          </p:cNvPicPr>
          <p:nvPr/>
        </p:nvPicPr>
        <p:blipFill>
          <a:blip r:embed="rId4"/>
          <a:stretch>
            <a:fillRect/>
          </a:stretch>
        </p:blipFill>
        <p:spPr>
          <a:xfrm>
            <a:off x="726948" y="4512564"/>
            <a:ext cx="118872" cy="118872"/>
          </a:xfrm>
          <a:prstGeom prst="rect">
            <a:avLst/>
          </a:prstGeom>
        </p:spPr>
      </p:pic>
      <p:sp>
        <p:nvSpPr>
          <p:cNvPr id="16" name="Text 10"/>
          <p:cNvSpPr/>
          <p:nvPr/>
        </p:nvSpPr>
        <p:spPr>
          <a:xfrm>
            <a:off x="1024128" y="4379976"/>
            <a:ext cx="539496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 broken main is discovered by users, not by the team</a:t>
            </a:r>
            <a:endParaRPr lang="en-US" sz="1300" dirty="0"/>
          </a:p>
        </p:txBody>
      </p:sp>
      <p:sp>
        <p:nvSpPr>
          <p:cNvPr id="17" name="Shape 11"/>
          <p:cNvSpPr/>
          <p:nvPr/>
        </p:nvSpPr>
        <p:spPr>
          <a:xfrm>
            <a:off x="6720840" y="1371600"/>
            <a:ext cx="4828032" cy="4617720"/>
          </a:xfrm>
          <a:prstGeom prst="roundRect">
            <a:avLst>
              <a:gd name="adj" fmla="val 1584"/>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18" name="Shape 12"/>
          <p:cNvSpPr/>
          <p:nvPr/>
        </p:nvSpPr>
        <p:spPr>
          <a:xfrm>
            <a:off x="6976872" y="1591056"/>
            <a:ext cx="109728" cy="109728"/>
          </a:xfrm>
          <a:prstGeom prst="ellipse">
            <a:avLst/>
          </a:prstGeom>
          <a:solidFill>
            <a:srgbClr val="EF4444"/>
          </a:solidFill>
          <a:ln/>
        </p:spPr>
      </p:sp>
      <p:sp>
        <p:nvSpPr>
          <p:cNvPr id="19" name="Shape 13"/>
          <p:cNvSpPr/>
          <p:nvPr/>
        </p:nvSpPr>
        <p:spPr>
          <a:xfrm>
            <a:off x="7196328" y="1591056"/>
            <a:ext cx="109728" cy="109728"/>
          </a:xfrm>
          <a:prstGeom prst="ellipse">
            <a:avLst/>
          </a:prstGeom>
          <a:solidFill>
            <a:srgbClr val="F59E0B"/>
          </a:solidFill>
          <a:ln/>
        </p:spPr>
      </p:sp>
      <p:sp>
        <p:nvSpPr>
          <p:cNvPr id="20" name="Shape 14"/>
          <p:cNvSpPr/>
          <p:nvPr/>
        </p:nvSpPr>
        <p:spPr>
          <a:xfrm>
            <a:off x="7415784" y="1591056"/>
            <a:ext cx="109728" cy="109728"/>
          </a:xfrm>
          <a:prstGeom prst="ellipse">
            <a:avLst/>
          </a:prstGeom>
          <a:solidFill>
            <a:srgbClr val="22C55E"/>
          </a:solidFill>
          <a:ln/>
        </p:spPr>
      </p:sp>
      <p:sp>
        <p:nvSpPr>
          <p:cNvPr id="21" name="Text 15"/>
          <p:cNvSpPr/>
          <p:nvPr/>
        </p:nvSpPr>
        <p:spPr>
          <a:xfrm>
            <a:off x="7726680" y="1481328"/>
            <a:ext cx="3639312"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friday-4:55pm.sh</a:t>
            </a:r>
            <a:endParaRPr lang="en-US" sz="1050" dirty="0"/>
          </a:p>
        </p:txBody>
      </p:sp>
      <p:sp>
        <p:nvSpPr>
          <p:cNvPr id="22" name="Shape 16"/>
          <p:cNvSpPr/>
          <p:nvPr/>
        </p:nvSpPr>
        <p:spPr>
          <a:xfrm>
            <a:off x="6720840" y="1847088"/>
            <a:ext cx="4828032" cy="0"/>
          </a:xfrm>
          <a:prstGeom prst="line">
            <a:avLst/>
          </a:prstGeom>
          <a:noFill/>
          <a:ln w="12700">
            <a:solidFill>
              <a:srgbClr val="334155"/>
            </a:solidFill>
            <a:prstDash val="solid"/>
          </a:ln>
        </p:spPr>
      </p:sp>
      <p:sp>
        <p:nvSpPr>
          <p:cNvPr id="23" name="Text 17"/>
          <p:cNvSpPr/>
          <p:nvPr/>
        </p:nvSpPr>
        <p:spPr>
          <a:xfrm>
            <a:off x="7013448" y="1956816"/>
            <a:ext cx="4261104" cy="3886200"/>
          </a:xfrm>
          <a:prstGeom prst="rect">
            <a:avLst/>
          </a:prstGeom>
          <a:noFill/>
          <a:ln/>
        </p:spPr>
        <p:txBody>
          <a:bodyPr wrap="square" lIns="0" tIns="0" rIns="0" bIns="0" rtlCol="0" anchor="t"/>
          <a:lstStyle/>
          <a:p>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FFFFFF"/>
                </a:solidFill>
                <a:latin typeface="Courier New" pitchFamily="34" charset="0"/>
                <a:ea typeface="Courier New" pitchFamily="34" charset="-122"/>
                <a:cs typeface="Courier New" pitchFamily="34" charset="-120"/>
              </a:rPr>
              <a:t>git merge feature-branch
</a:t>
            </a:r>
            <a:pPr indent="0" marL="0">
              <a:lnSpc>
                <a:spcPct val="120000"/>
              </a:lnSpc>
              <a:buNone/>
            </a:pPr>
            <a:r>
              <a:rPr lang="en-US" sz="1150" dirty="0">
                <a:solidFill>
                  <a:srgbClr val="F97316"/>
                </a:solidFill>
                <a:latin typeface="Courier New" pitchFamily="34" charset="0"/>
                <a:ea typeface="Courier New" pitchFamily="34" charset="-122"/>
                <a:cs typeface="Courier New" pitchFamily="34" charset="-120"/>
              </a:rPr>
              <a:t>CONFLICT (content): Merge conflict in app.js
</a:t>
            </a:r>
            <a:pPr indent="0" marL="0">
              <a:lnSpc>
                <a:spcPct val="120000"/>
              </a:lnSpc>
              <a:buNone/>
            </a:pPr>
            <a:r>
              <a:rPr lang="en-US" sz="1150" dirty="0">
                <a:solidFill>
                  <a:srgbClr val="94A3B8"/>
                </a:solidFill>
                <a:latin typeface="Courier New" pitchFamily="34" charset="0"/>
                <a:ea typeface="Courier New" pitchFamily="34" charset="-122"/>
                <a:cs typeface="Courier New" pitchFamily="34" charset="-120"/>
              </a:rPr>
              <a:t>Automatic merge failed; fix conflicts.
</a:t>
            </a:r>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94A3B8"/>
                </a:solidFill>
                <a:latin typeface="Courier New" pitchFamily="34" charset="0"/>
                <a:ea typeface="Courier New" pitchFamily="34" charset="-122"/>
                <a:cs typeface="Courier New" pitchFamily="34" charset="-120"/>
              </a:rPr>
              <a:t># did anyone run the tests?
</a:t>
            </a:r>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FFFFFF"/>
                </a:solidFill>
                <a:latin typeface="Courier New" pitchFamily="34" charset="0"/>
                <a:ea typeface="Courier New" pitchFamily="34" charset="-122"/>
                <a:cs typeface="Courier New" pitchFamily="34" charset="-120"/>
              </a:rPr>
              <a:t>npm test
</a:t>
            </a:r>
            <a:pPr indent="0" marL="0">
              <a:lnSpc>
                <a:spcPct val="120000"/>
              </a:lnSpc>
              <a:buNone/>
            </a:pPr>
            <a:r>
              <a:rPr lang="en-US" sz="1150" dirty="0">
                <a:solidFill>
                  <a:srgbClr val="FFFFFF"/>
                </a:solidFill>
                <a:latin typeface="Courier New" pitchFamily="34" charset="0"/>
                <a:ea typeface="Courier New" pitchFamily="34" charset="-122"/>
                <a:cs typeface="Courier New" pitchFamily="34" charset="-120"/>
              </a:rPr>
              <a:t>Tests:  </a:t>
            </a:r>
            <a:pPr indent="0" marL="0">
              <a:lnSpc>
                <a:spcPct val="120000"/>
              </a:lnSpc>
              <a:buNone/>
            </a:pPr>
            <a:r>
              <a:rPr lang="en-US" sz="1150" dirty="0">
                <a:solidFill>
                  <a:srgbClr val="F97316"/>
                </a:solidFill>
                <a:latin typeface="Courier New" pitchFamily="34" charset="0"/>
                <a:ea typeface="Courier New" pitchFamily="34" charset="-122"/>
                <a:cs typeface="Courier New" pitchFamily="34" charset="-120"/>
              </a:rPr>
              <a:t>7 failed</a:t>
            </a:r>
            <a:pPr indent="0" marL="0">
              <a:lnSpc>
                <a:spcPct val="120000"/>
              </a:lnSpc>
              <a:buNone/>
            </a:pPr>
            <a:r>
              <a:rPr lang="en-US" sz="1150" dirty="0">
                <a:solidFill>
                  <a:srgbClr val="FFFFFF"/>
                </a:solidFill>
                <a:latin typeface="Courier New" pitchFamily="34" charset="0"/>
                <a:ea typeface="Courier New" pitchFamily="34" charset="-122"/>
                <a:cs typeface="Courier New" pitchFamily="34" charset="-120"/>
              </a:rPr>
              <a:t>, 24 passed
</a:t>
            </a:r>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94A3B8"/>
                </a:solidFill>
                <a:latin typeface="Courier New" pitchFamily="34" charset="0"/>
                <a:ea typeface="Courier New" pitchFamily="34" charset="-122"/>
                <a:cs typeface="Courier New" pitchFamily="34" charset="-120"/>
              </a:rPr>
              <a:t># ship it anyway, it's late
</a:t>
            </a:r>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FFFFFF"/>
                </a:solidFill>
                <a:latin typeface="Courier New" pitchFamily="34" charset="0"/>
                <a:ea typeface="Courier New" pitchFamily="34" charset="-122"/>
                <a:cs typeface="Courier New" pitchFamily="34" charset="-120"/>
              </a:rPr>
              <a:t>scp -r ./dist prod:/var/www
</a:t>
            </a:r>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FFFFFF"/>
                </a:solidFill>
                <a:latin typeface="Courier New" pitchFamily="34" charset="0"/>
                <a:ea typeface="Courier New" pitchFamily="34" charset="-122"/>
                <a:cs typeface="Courier New" pitchFamily="34" charset="-120"/>
              </a:rPr>
              <a:t>ssh prod 'systemctl restart app'
</a:t>
            </a:r>
            <a:pPr indent="0" marL="0">
              <a:lnSpc>
                <a:spcPct val="120000"/>
              </a:lnSpc>
              <a:buNone/>
            </a:pPr>
            <a:r>
              <a:rPr lang="en-US" sz="1150" dirty="0">
                <a:solidFill>
                  <a:srgbClr val="F97316"/>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F97316"/>
                </a:solidFill>
                <a:latin typeface="Courier New" pitchFamily="34" charset="0"/>
                <a:ea typeface="Courier New" pitchFamily="34" charset="-122"/>
                <a:cs typeface="Courier New" pitchFamily="34" charset="-120"/>
              </a:rPr>
              <a:t>app.service: failed (exit 1)
</a:t>
            </a:r>
            <a:pPr indent="0" marL="0">
              <a:lnSpc>
                <a:spcPct val="120000"/>
              </a:lnSpc>
              <a:buNone/>
            </a:pPr>
            <a:r>
              <a:rPr lang="en-US" sz="1150" dirty="0">
                <a:solidFill>
                  <a:srgbClr val="34D399"/>
                </a:solidFill>
                <a:latin typeface="Courier New" pitchFamily="34" charset="0"/>
                <a:ea typeface="Courier New" pitchFamily="34" charset="-122"/>
                <a:cs typeface="Courier New" pitchFamily="34" charset="-120"/>
              </a:rPr>
              <a:t>$ </a:t>
            </a:r>
            <a:pPr indent="0" marL="0">
              <a:lnSpc>
                <a:spcPct val="120000"/>
              </a:lnSpc>
              <a:buNone/>
            </a:pPr>
            <a:r>
              <a:rPr lang="en-US" sz="1150" dirty="0">
                <a:solidFill>
                  <a:srgbClr val="94A3B8"/>
                </a:solidFill>
                <a:latin typeface="Courier New" pitchFamily="34" charset="0"/>
                <a:ea typeface="Courier New" pitchFamily="34" charset="-122"/>
                <a:cs typeface="Courier New" pitchFamily="34" charset="-120"/>
              </a:rPr>
              <a:t># now what was step 3 again?
</a:t>
            </a:r>
            <a:endParaRPr lang="en-US" sz="1150" dirty="0"/>
          </a:p>
        </p:txBody>
      </p:sp>
      <p:sp>
        <p:nvSpPr>
          <p:cNvPr id="25" name="Text 18"/>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6" name="Text 19"/>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IDEA</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Continuous Integration</a:t>
            </a:r>
            <a:endParaRPr lang="en-US" sz="3000" dirty="0"/>
          </a:p>
        </p:txBody>
      </p:sp>
      <p:sp>
        <p:nvSpPr>
          <p:cNvPr id="4" name="Text 2"/>
          <p:cNvSpPr/>
          <p:nvPr/>
        </p:nvSpPr>
        <p:spPr>
          <a:xfrm>
            <a:off x="640080" y="1316736"/>
            <a:ext cx="10972800" cy="822960"/>
          </a:xfrm>
          <a:prstGeom prst="rect">
            <a:avLst/>
          </a:prstGeom>
          <a:noFill/>
          <a:ln/>
        </p:spPr>
        <p:txBody>
          <a:bodyPr wrap="square" lIns="0" tIns="0" rIns="0" bIns="0" rtlCol="0" anchor="ctr"/>
          <a:lstStyle/>
          <a:p>
            <a:pPr indent="0" marL="0">
              <a:lnSpc>
                <a:spcPct val="114000"/>
              </a:lnSpc>
              <a:buNone/>
            </a:pPr>
            <a:r>
              <a:rPr lang="en-US" sz="1500" dirty="0">
                <a:solidFill>
                  <a:srgbClr val="1E293B"/>
                </a:solidFill>
                <a:latin typeface="Calibri" pitchFamily="34" charset="0"/>
                <a:ea typeface="Calibri" pitchFamily="34" charset="-122"/>
                <a:cs typeface="Calibri" pitchFamily="34" charset="-120"/>
              </a:rPr>
              <a:t>Every push merges into a shared branch and is automatically built and tested — many times a day, by a machine, the same way every time. Break something and you know in minutes, not on Friday.</a:t>
            </a:r>
            <a:endParaRPr lang="en-US" sz="1500" dirty="0"/>
          </a:p>
        </p:txBody>
      </p:sp>
      <p:sp>
        <p:nvSpPr>
          <p:cNvPr id="5" name="Shape 3"/>
          <p:cNvSpPr/>
          <p:nvPr/>
        </p:nvSpPr>
        <p:spPr>
          <a:xfrm>
            <a:off x="640080" y="2331720"/>
            <a:ext cx="3566160" cy="2377440"/>
          </a:xfrm>
          <a:prstGeom prst="roundRect">
            <a:avLst>
              <a:gd name="adj" fmla="val 3077"/>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6" name="Shape 4"/>
          <p:cNvSpPr/>
          <p:nvPr/>
        </p:nvSpPr>
        <p:spPr>
          <a:xfrm>
            <a:off x="877824" y="2569464"/>
            <a:ext cx="457200" cy="457200"/>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992124" y="2683764"/>
            <a:ext cx="228600" cy="228600"/>
          </a:xfrm>
          <a:prstGeom prst="rect">
            <a:avLst/>
          </a:prstGeom>
        </p:spPr>
      </p:pic>
      <p:sp>
        <p:nvSpPr>
          <p:cNvPr id="8" name="Text 5"/>
          <p:cNvSpPr/>
          <p:nvPr/>
        </p:nvSpPr>
        <p:spPr>
          <a:xfrm>
            <a:off x="1463040" y="2551176"/>
            <a:ext cx="2560320" cy="457200"/>
          </a:xfrm>
          <a:prstGeom prst="rect">
            <a:avLst/>
          </a:prstGeom>
          <a:noFill/>
          <a:ln/>
        </p:spPr>
        <p:txBody>
          <a:bodyPr wrap="square" lIns="0" tIns="0" rIns="0" bIns="0" rtlCol="0" anchor="ctr"/>
          <a:lstStyle/>
          <a:p>
            <a:pPr indent="0" marL="0">
              <a:buNone/>
            </a:pPr>
            <a:r>
              <a:rPr lang="en-US" sz="1450" b="1" dirty="0">
                <a:solidFill>
                  <a:srgbClr val="0F172A"/>
                </a:solidFill>
                <a:latin typeface="Bookman Old Style" pitchFamily="34" charset="0"/>
                <a:ea typeface="Bookman Old Style" pitchFamily="34" charset="-122"/>
                <a:cs typeface="Bookman Old Style" pitchFamily="34" charset="-120"/>
              </a:rPr>
              <a:t>Integrate often</a:t>
            </a:r>
            <a:endParaRPr lang="en-US" sz="1450" dirty="0"/>
          </a:p>
        </p:txBody>
      </p:sp>
      <p:sp>
        <p:nvSpPr>
          <p:cNvPr id="9" name="Text 6"/>
          <p:cNvSpPr/>
          <p:nvPr/>
        </p:nvSpPr>
        <p:spPr>
          <a:xfrm>
            <a:off x="896112" y="3118104"/>
            <a:ext cx="3072384" cy="1444752"/>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Small changes merged daily keep conflicts tiny and reviewable — not a Friday pile-up.</a:t>
            </a:r>
            <a:endParaRPr lang="en-US" sz="1200" dirty="0"/>
          </a:p>
        </p:txBody>
      </p:sp>
      <p:sp>
        <p:nvSpPr>
          <p:cNvPr id="10" name="Shape 7"/>
          <p:cNvSpPr/>
          <p:nvPr/>
        </p:nvSpPr>
        <p:spPr>
          <a:xfrm>
            <a:off x="4462272" y="2331720"/>
            <a:ext cx="3566160" cy="2377440"/>
          </a:xfrm>
          <a:prstGeom prst="roundRect">
            <a:avLst>
              <a:gd name="adj" fmla="val 3077"/>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1" name="Shape 8"/>
          <p:cNvSpPr/>
          <p:nvPr/>
        </p:nvSpPr>
        <p:spPr>
          <a:xfrm>
            <a:off x="4700016" y="2569464"/>
            <a:ext cx="457200" cy="457200"/>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4814316" y="2683764"/>
            <a:ext cx="228600" cy="228600"/>
          </a:xfrm>
          <a:prstGeom prst="rect">
            <a:avLst/>
          </a:prstGeom>
        </p:spPr>
      </p:pic>
      <p:sp>
        <p:nvSpPr>
          <p:cNvPr id="13" name="Text 9"/>
          <p:cNvSpPr/>
          <p:nvPr/>
        </p:nvSpPr>
        <p:spPr>
          <a:xfrm>
            <a:off x="5285232" y="2551176"/>
            <a:ext cx="2560320" cy="457200"/>
          </a:xfrm>
          <a:prstGeom prst="rect">
            <a:avLst/>
          </a:prstGeom>
          <a:noFill/>
          <a:ln/>
        </p:spPr>
        <p:txBody>
          <a:bodyPr wrap="square" lIns="0" tIns="0" rIns="0" bIns="0" rtlCol="0" anchor="ctr"/>
          <a:lstStyle/>
          <a:p>
            <a:pPr indent="0" marL="0">
              <a:buNone/>
            </a:pPr>
            <a:r>
              <a:rPr lang="en-US" sz="1450" b="1" dirty="0">
                <a:solidFill>
                  <a:srgbClr val="0F172A"/>
                </a:solidFill>
                <a:latin typeface="Bookman Old Style" pitchFamily="34" charset="0"/>
                <a:ea typeface="Bookman Old Style" pitchFamily="34" charset="-122"/>
                <a:cs typeface="Bookman Old Style" pitchFamily="34" charset="-120"/>
              </a:rPr>
              <a:t>Test automatically</a:t>
            </a:r>
            <a:endParaRPr lang="en-US" sz="1450" dirty="0"/>
          </a:p>
        </p:txBody>
      </p:sp>
      <p:sp>
        <p:nvSpPr>
          <p:cNvPr id="14" name="Text 10"/>
          <p:cNvSpPr/>
          <p:nvPr/>
        </p:nvSpPr>
        <p:spPr>
          <a:xfrm>
            <a:off x="4718304" y="3118104"/>
            <a:ext cx="3072384" cy="1444752"/>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The same build-and-test job runs on every push. No human decides whether to run it.</a:t>
            </a:r>
            <a:endParaRPr lang="en-US" sz="1200" dirty="0"/>
          </a:p>
        </p:txBody>
      </p:sp>
      <p:sp>
        <p:nvSpPr>
          <p:cNvPr id="15" name="Shape 11"/>
          <p:cNvSpPr/>
          <p:nvPr/>
        </p:nvSpPr>
        <p:spPr>
          <a:xfrm>
            <a:off x="8284464" y="2331720"/>
            <a:ext cx="3566160" cy="2377440"/>
          </a:xfrm>
          <a:prstGeom prst="roundRect">
            <a:avLst>
              <a:gd name="adj" fmla="val 3077"/>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6" name="Shape 12"/>
          <p:cNvSpPr/>
          <p:nvPr/>
        </p:nvSpPr>
        <p:spPr>
          <a:xfrm>
            <a:off x="8522208" y="2569464"/>
            <a:ext cx="457200" cy="457200"/>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8636508" y="2683764"/>
            <a:ext cx="228600" cy="228600"/>
          </a:xfrm>
          <a:prstGeom prst="rect">
            <a:avLst/>
          </a:prstGeom>
        </p:spPr>
      </p:pic>
      <p:sp>
        <p:nvSpPr>
          <p:cNvPr id="18" name="Text 13"/>
          <p:cNvSpPr/>
          <p:nvPr/>
        </p:nvSpPr>
        <p:spPr>
          <a:xfrm>
            <a:off x="9107424" y="2551176"/>
            <a:ext cx="2560320" cy="457200"/>
          </a:xfrm>
          <a:prstGeom prst="rect">
            <a:avLst/>
          </a:prstGeom>
          <a:noFill/>
          <a:ln/>
        </p:spPr>
        <p:txBody>
          <a:bodyPr wrap="square" lIns="0" tIns="0" rIns="0" bIns="0" rtlCol="0" anchor="ctr"/>
          <a:lstStyle/>
          <a:p>
            <a:pPr indent="0" marL="0">
              <a:buNone/>
            </a:pPr>
            <a:r>
              <a:rPr lang="en-US" sz="1450" b="1" dirty="0">
                <a:solidFill>
                  <a:srgbClr val="0F172A"/>
                </a:solidFill>
                <a:latin typeface="Bookman Old Style" pitchFamily="34" charset="0"/>
                <a:ea typeface="Bookman Old Style" pitchFamily="34" charset="-122"/>
                <a:cs typeface="Bookman Old Style" pitchFamily="34" charset="-120"/>
              </a:rPr>
              <a:t>Fast feedback</a:t>
            </a:r>
            <a:endParaRPr lang="en-US" sz="1450" dirty="0"/>
          </a:p>
        </p:txBody>
      </p:sp>
      <p:sp>
        <p:nvSpPr>
          <p:cNvPr id="19" name="Text 14"/>
          <p:cNvSpPr/>
          <p:nvPr/>
        </p:nvSpPr>
        <p:spPr>
          <a:xfrm>
            <a:off x="8540496" y="3118104"/>
            <a:ext cx="3072384" cy="1444752"/>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A red check appears on the commit within minutes, so the author fixes it while it is fresh.</a:t>
            </a:r>
            <a:endParaRPr lang="en-US" sz="1200" dirty="0"/>
          </a:p>
        </p:txBody>
      </p:sp>
      <p:sp>
        <p:nvSpPr>
          <p:cNvPr id="20" name="Shape 15"/>
          <p:cNvSpPr/>
          <p:nvPr/>
        </p:nvSpPr>
        <p:spPr>
          <a:xfrm>
            <a:off x="640080" y="5029200"/>
            <a:ext cx="10908792" cy="868680"/>
          </a:xfrm>
          <a:prstGeom prst="roundRect">
            <a:avLst>
              <a:gd name="adj" fmla="val 10526"/>
            </a:avLst>
          </a:prstGeom>
          <a:solidFill>
            <a:srgbClr val="F0FDFA"/>
          </a:solidFill>
          <a:ln w="12700">
            <a:solidFill>
              <a:srgbClr val="99F6E4"/>
            </a:solidFill>
            <a:prstDash val="solid"/>
          </a:ln>
        </p:spPr>
      </p:sp>
      <p:sp>
        <p:nvSpPr>
          <p:cNvPr id="21" name="Text 16"/>
          <p:cNvSpPr/>
          <p:nvPr/>
        </p:nvSpPr>
        <p:spPr>
          <a:xfrm>
            <a:off x="914400" y="5029200"/>
            <a:ext cx="10424160" cy="868680"/>
          </a:xfrm>
          <a:prstGeom prst="rect">
            <a:avLst/>
          </a:prstGeom>
          <a:noFill/>
          <a:ln/>
        </p:spPr>
        <p:txBody>
          <a:bodyPr wrap="square" lIns="0" tIns="0" rIns="0" bIns="0" rtlCol="0" anchor="ctr"/>
          <a:lstStyle/>
          <a:p>
            <a:pPr indent="0" marL="0">
              <a:lnSpc>
                <a:spcPct val="105000"/>
              </a:lnSpc>
              <a:buNone/>
            </a:pPr>
            <a:r>
              <a:rPr lang="en-US" sz="1450" b="1" dirty="0">
                <a:solidFill>
                  <a:srgbClr val="0F766E"/>
                </a:solidFill>
                <a:latin typeface="Calibri" pitchFamily="34" charset="0"/>
                <a:ea typeface="Calibri" pitchFamily="34" charset="-122"/>
                <a:cs typeface="Calibri" pitchFamily="34" charset="-120"/>
              </a:rPr>
              <a:t>The test: </a:t>
            </a:r>
            <a:pPr indent="0" marL="0">
              <a:lnSpc>
                <a:spcPct val="105000"/>
              </a:lnSpc>
              <a:buNone/>
            </a:pPr>
            <a:r>
              <a:rPr lang="en-US" sz="1450" dirty="0">
                <a:solidFill>
                  <a:srgbClr val="1E293B"/>
                </a:solidFill>
                <a:latin typeface="Calibri" pitchFamily="34" charset="0"/>
                <a:ea typeface="Calibri" pitchFamily="34" charset="-122"/>
                <a:cs typeface="Calibri" pitchFamily="34" charset="-120"/>
              </a:rPr>
              <a:t>if merging your branch could break the build and no machine would catch it, you are not doing CI yet.</a:t>
            </a:r>
            <a:endParaRPr lang="en-US" sz="1450" dirty="0"/>
          </a:p>
        </p:txBody>
      </p:sp>
      <p:sp>
        <p:nvSpPr>
          <p:cNvPr id="23" name="Text 17"/>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4" name="Text 18"/>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IDEA, CONTINUED</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Delivery vs. Deployment</a:t>
            </a:r>
            <a:endParaRPr lang="en-US" sz="3000" dirty="0"/>
          </a:p>
        </p:txBody>
      </p:sp>
      <p:sp>
        <p:nvSpPr>
          <p:cNvPr id="4" name="Text 2"/>
          <p:cNvSpPr/>
          <p:nvPr/>
        </p:nvSpPr>
        <p:spPr>
          <a:xfrm>
            <a:off x="640080" y="1316736"/>
            <a:ext cx="10972800" cy="45720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Both start the same way: a green CI build produces a deployable artifact. The difference is the last step — who presses the button.</a:t>
            </a:r>
            <a:endParaRPr lang="en-US" sz="1450" dirty="0"/>
          </a:p>
        </p:txBody>
      </p:sp>
      <p:sp>
        <p:nvSpPr>
          <p:cNvPr id="5" name="Shape 3"/>
          <p:cNvSpPr/>
          <p:nvPr/>
        </p:nvSpPr>
        <p:spPr>
          <a:xfrm>
            <a:off x="640080" y="1965960"/>
            <a:ext cx="5394960" cy="2880360"/>
          </a:xfrm>
          <a:prstGeom prst="roundRect">
            <a:avLst>
              <a:gd name="adj" fmla="val 2857"/>
            </a:avLst>
          </a:prstGeom>
          <a:solidFill>
            <a:srgbClr val="F0FDFA"/>
          </a:solidFill>
          <a:ln w="12700">
            <a:solidFill>
              <a:srgbClr val="99F6E4"/>
            </a:solidFill>
            <a:prstDash val="solid"/>
          </a:ln>
          <a:effectLst>
            <a:outerShdw sx="100000" sy="100000" kx="0" ky="0" algn="bl" rotWithShape="0" blurRad="88900" dist="38100" dir="5400000">
              <a:srgbClr val="0F172A">
                <a:alpha val="10000"/>
              </a:srgbClr>
            </a:outerShdw>
          </a:effectLst>
        </p:spPr>
      </p:sp>
      <p:sp>
        <p:nvSpPr>
          <p:cNvPr id="6" name="Shape 4"/>
          <p:cNvSpPr/>
          <p:nvPr/>
        </p:nvSpPr>
        <p:spPr>
          <a:xfrm>
            <a:off x="896112" y="2221992"/>
            <a:ext cx="566928" cy="566928"/>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1037844" y="2363724"/>
            <a:ext cx="283464" cy="283464"/>
          </a:xfrm>
          <a:prstGeom prst="rect">
            <a:avLst/>
          </a:prstGeom>
        </p:spPr>
      </p:pic>
      <p:sp>
        <p:nvSpPr>
          <p:cNvPr id="8" name="Text 5"/>
          <p:cNvSpPr/>
          <p:nvPr/>
        </p:nvSpPr>
        <p:spPr>
          <a:xfrm>
            <a:off x="1609344" y="2240280"/>
            <a:ext cx="4224528" cy="237744"/>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THE D IS DELIVERY</a:t>
            </a:r>
            <a:endParaRPr lang="en-US" sz="1100" dirty="0"/>
          </a:p>
        </p:txBody>
      </p:sp>
      <p:sp>
        <p:nvSpPr>
          <p:cNvPr id="9" name="Text 6"/>
          <p:cNvSpPr/>
          <p:nvPr/>
        </p:nvSpPr>
        <p:spPr>
          <a:xfrm>
            <a:off x="1609344" y="2459736"/>
            <a:ext cx="422452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Continuous Delivery</a:t>
            </a:r>
            <a:endParaRPr lang="en-US" sz="1550" dirty="0"/>
          </a:p>
        </p:txBody>
      </p:sp>
      <p:sp>
        <p:nvSpPr>
          <p:cNvPr id="10" name="Text 7"/>
          <p:cNvSpPr/>
          <p:nvPr/>
        </p:nvSpPr>
        <p:spPr>
          <a:xfrm>
            <a:off x="914400" y="3008376"/>
            <a:ext cx="4846320" cy="167335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Every green build is automatically packaged and pushed to staging, ready to go. Promoting to production is one manual click — a human gate. You could ship any commit; you choose when.</a:t>
            </a:r>
            <a:endParaRPr lang="en-US" sz="1250" dirty="0"/>
          </a:p>
          <a:p>
            <a:pPr indent="0" marL="0">
              <a:lnSpc>
                <a:spcPct val="105000"/>
              </a:lnSpc>
              <a:buNone/>
            </a:pPr>
            <a:endParaRPr lang="en-US" sz="1250" dirty="0"/>
          </a:p>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Safe default for most teams and where we start on Day 5.</a:t>
            </a:r>
            <a:endParaRPr lang="en-US" sz="1250" dirty="0"/>
          </a:p>
        </p:txBody>
      </p:sp>
      <p:sp>
        <p:nvSpPr>
          <p:cNvPr id="11" name="Shape 8"/>
          <p:cNvSpPr/>
          <p:nvPr/>
        </p:nvSpPr>
        <p:spPr>
          <a:xfrm>
            <a:off x="6144768" y="1965960"/>
            <a:ext cx="5394960" cy="2880360"/>
          </a:xfrm>
          <a:prstGeom prst="roundRect">
            <a:avLst>
              <a:gd name="adj" fmla="val 2857"/>
            </a:avLst>
          </a:prstGeom>
          <a:solidFill>
            <a:srgbClr val="FFF7ED"/>
          </a:solidFill>
          <a:ln w="12700">
            <a:solidFill>
              <a:srgbClr val="FED7AA"/>
            </a:solidFill>
            <a:prstDash val="solid"/>
          </a:ln>
          <a:effectLst>
            <a:outerShdw sx="100000" sy="100000" kx="0" ky="0" algn="bl" rotWithShape="0" blurRad="88900" dist="38100" dir="5400000">
              <a:srgbClr val="0F172A">
                <a:alpha val="10000"/>
              </a:srgbClr>
            </a:outerShdw>
          </a:effectLst>
        </p:spPr>
      </p:sp>
      <p:sp>
        <p:nvSpPr>
          <p:cNvPr id="12" name="Shape 9"/>
          <p:cNvSpPr/>
          <p:nvPr/>
        </p:nvSpPr>
        <p:spPr>
          <a:xfrm>
            <a:off x="6400800" y="2221992"/>
            <a:ext cx="566928" cy="566928"/>
          </a:xfrm>
          <a:prstGeom prst="ellipse">
            <a:avLst/>
          </a:prstGeom>
          <a:solidFill>
            <a:srgbClr val="F97316"/>
          </a:solidFill>
          <a:ln/>
        </p:spPr>
      </p:sp>
      <p:pic>
        <p:nvPicPr>
          <p:cNvPr id="13" name="Image 1" descr="preencoded.png">    </p:cNvPr>
          <p:cNvPicPr>
            <a:picLocks noChangeAspect="1"/>
          </p:cNvPicPr>
          <p:nvPr/>
        </p:nvPicPr>
        <p:blipFill>
          <a:blip r:embed="rId2"/>
          <a:stretch>
            <a:fillRect/>
          </a:stretch>
        </p:blipFill>
        <p:spPr>
          <a:xfrm>
            <a:off x="6542532" y="2363724"/>
            <a:ext cx="283464" cy="283464"/>
          </a:xfrm>
          <a:prstGeom prst="rect">
            <a:avLst/>
          </a:prstGeom>
        </p:spPr>
      </p:pic>
      <p:sp>
        <p:nvSpPr>
          <p:cNvPr id="14" name="Text 10"/>
          <p:cNvSpPr/>
          <p:nvPr/>
        </p:nvSpPr>
        <p:spPr>
          <a:xfrm>
            <a:off x="7114032" y="2240280"/>
            <a:ext cx="4224528" cy="237744"/>
          </a:xfrm>
          <a:prstGeom prst="rect">
            <a:avLst/>
          </a:prstGeom>
          <a:noFill/>
          <a:ln/>
        </p:spPr>
        <p:txBody>
          <a:bodyPr wrap="square" lIns="0" tIns="0" rIns="0" bIns="0" rtlCol="0" anchor="ctr"/>
          <a:lstStyle/>
          <a:p>
            <a:pPr indent="0" marL="0">
              <a:buNone/>
            </a:pPr>
            <a:r>
              <a:rPr lang="en-US" sz="1100" b="1" spc="200" kern="0" dirty="0">
                <a:solidFill>
                  <a:srgbClr val="C2410C"/>
                </a:solidFill>
                <a:latin typeface="Calibri" pitchFamily="34" charset="0"/>
                <a:ea typeface="Calibri" pitchFamily="34" charset="-122"/>
                <a:cs typeface="Calibri" pitchFamily="34" charset="-120"/>
              </a:rPr>
              <a:t>THE D IS DEPLOYMENT</a:t>
            </a:r>
            <a:endParaRPr lang="en-US" sz="1100" dirty="0"/>
          </a:p>
        </p:txBody>
      </p:sp>
      <p:sp>
        <p:nvSpPr>
          <p:cNvPr id="15" name="Text 11"/>
          <p:cNvSpPr/>
          <p:nvPr/>
        </p:nvSpPr>
        <p:spPr>
          <a:xfrm>
            <a:off x="7114032" y="2459736"/>
            <a:ext cx="422452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Continuous Deployment</a:t>
            </a:r>
            <a:endParaRPr lang="en-US" sz="1550" dirty="0"/>
          </a:p>
        </p:txBody>
      </p:sp>
      <p:sp>
        <p:nvSpPr>
          <p:cNvPr id="16" name="Text 12"/>
          <p:cNvSpPr/>
          <p:nvPr/>
        </p:nvSpPr>
        <p:spPr>
          <a:xfrm>
            <a:off x="6419088" y="3008376"/>
            <a:ext cx="4846320" cy="167335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No human gate. Every commit that passes CI goes all the way to production automatically. Requires deep trust in your test suite and fast rollback.</a:t>
            </a:r>
            <a:endParaRPr lang="en-US" sz="1250" dirty="0"/>
          </a:p>
          <a:p>
            <a:pPr indent="0" marL="0">
              <a:lnSpc>
                <a:spcPct val="105000"/>
              </a:lnSpc>
              <a:buNone/>
            </a:pPr>
            <a:endParaRPr lang="en-US" sz="1250" dirty="0"/>
          </a:p>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Powerful, but earn it — you need the automated confidence first.</a:t>
            </a:r>
            <a:endParaRPr lang="en-US" sz="1250" dirty="0"/>
          </a:p>
        </p:txBody>
      </p:sp>
      <p:sp>
        <p:nvSpPr>
          <p:cNvPr id="17" name="Text 13"/>
          <p:cNvSpPr/>
          <p:nvPr/>
        </p:nvSpPr>
        <p:spPr>
          <a:xfrm>
            <a:off x="640080" y="5166360"/>
            <a:ext cx="10972800" cy="457200"/>
          </a:xfrm>
          <a:prstGeom prst="rect">
            <a:avLst/>
          </a:prstGeom>
          <a:noFill/>
          <a:ln/>
        </p:spPr>
        <p:txBody>
          <a:bodyPr wrap="square" lIns="0" tIns="0" rIns="0" bIns="0" rtlCol="0" anchor="ctr"/>
          <a:lstStyle/>
          <a:p>
            <a:pPr indent="0" marL="0">
              <a:buNone/>
            </a:pPr>
            <a:r>
              <a:rPr lang="en-US" sz="1400" b="1" dirty="0">
                <a:solidFill>
                  <a:srgbClr val="64748B"/>
                </a:solidFill>
                <a:latin typeface="Calibri" pitchFamily="34" charset="0"/>
                <a:ea typeface="Calibri" pitchFamily="34" charset="-122"/>
                <a:cs typeface="Calibri" pitchFamily="34" charset="-120"/>
              </a:rPr>
              <a:t>Shared foundation:  </a:t>
            </a:r>
            <a:pPr indent="0" marL="0">
              <a:buNone/>
            </a:pPr>
            <a:r>
              <a:rPr lang="en-US" sz="1400" dirty="0">
                <a:solidFill>
                  <a:srgbClr val="1E293B"/>
                </a:solidFill>
                <a:latin typeface="Courier New" pitchFamily="34" charset="0"/>
                <a:ea typeface="Courier New" pitchFamily="34" charset="-122"/>
                <a:cs typeface="Courier New" pitchFamily="34" charset="-120"/>
              </a:rPr>
              <a:t>commit </a:t>
            </a:r>
            <a:pPr indent="0" marL="0">
              <a:buNone/>
            </a:pPr>
            <a:r>
              <a:rPr lang="en-US" sz="1400" dirty="0">
                <a:solidFill>
                  <a:srgbClr val="94A3B8"/>
                </a:solidFill>
                <a:latin typeface="Courier New" pitchFamily="34" charset="0"/>
                <a:ea typeface="Courier New" pitchFamily="34" charset="-122"/>
                <a:cs typeface="Courier New" pitchFamily="34" charset="-120"/>
              </a:rPr>
              <a:t>→ </a:t>
            </a:r>
            <a:pPr indent="0" marL="0">
              <a:buNone/>
            </a:pPr>
            <a:r>
              <a:rPr lang="en-US" sz="1400" dirty="0">
                <a:solidFill>
                  <a:srgbClr val="1E293B"/>
                </a:solidFill>
                <a:latin typeface="Courier New" pitchFamily="34" charset="0"/>
                <a:ea typeface="Courier New" pitchFamily="34" charset="-122"/>
                <a:cs typeface="Courier New" pitchFamily="34" charset="-120"/>
              </a:rPr>
              <a:t>build </a:t>
            </a:r>
            <a:pPr indent="0" marL="0">
              <a:buNone/>
            </a:pPr>
            <a:r>
              <a:rPr lang="en-US" sz="1400" dirty="0">
                <a:solidFill>
                  <a:srgbClr val="94A3B8"/>
                </a:solidFill>
                <a:latin typeface="Courier New" pitchFamily="34" charset="0"/>
                <a:ea typeface="Courier New" pitchFamily="34" charset="-122"/>
                <a:cs typeface="Courier New" pitchFamily="34" charset="-120"/>
              </a:rPr>
              <a:t>→ </a:t>
            </a:r>
            <a:pPr indent="0" marL="0">
              <a:buNone/>
            </a:pPr>
            <a:r>
              <a:rPr lang="en-US" sz="1400" dirty="0">
                <a:solidFill>
                  <a:srgbClr val="1E293B"/>
                </a:solidFill>
                <a:latin typeface="Courier New" pitchFamily="34" charset="0"/>
                <a:ea typeface="Courier New" pitchFamily="34" charset="-122"/>
                <a:cs typeface="Courier New" pitchFamily="34" charset="-120"/>
              </a:rPr>
              <a:t>test </a:t>
            </a:r>
            <a:pPr indent="0" marL="0">
              <a:buNone/>
            </a:pPr>
            <a:r>
              <a:rPr lang="en-US" sz="1400" dirty="0">
                <a:solidFill>
                  <a:srgbClr val="94A3B8"/>
                </a:solidFill>
                <a:latin typeface="Courier New" pitchFamily="34" charset="0"/>
                <a:ea typeface="Courier New" pitchFamily="34" charset="-122"/>
                <a:cs typeface="Courier New" pitchFamily="34" charset="-120"/>
              </a:rPr>
              <a:t>→ </a:t>
            </a:r>
            <a:pPr indent="0" marL="0">
              <a:buNone/>
            </a:pPr>
            <a:r>
              <a:rPr lang="en-US" sz="1400" dirty="0">
                <a:solidFill>
                  <a:srgbClr val="1E293B"/>
                </a:solidFill>
                <a:latin typeface="Courier New" pitchFamily="34" charset="0"/>
                <a:ea typeface="Courier New" pitchFamily="34" charset="-122"/>
                <a:cs typeface="Courier New" pitchFamily="34" charset="-120"/>
              </a:rPr>
              <a:t>package </a:t>
            </a:r>
            <a:pPr indent="0" marL="0">
              <a:buNone/>
            </a:pPr>
            <a:r>
              <a:rPr lang="en-US" sz="1400" dirty="0">
                <a:solidFill>
                  <a:srgbClr val="94A3B8"/>
                </a:solidFill>
                <a:latin typeface="Courier New" pitchFamily="34" charset="0"/>
                <a:ea typeface="Courier New" pitchFamily="34" charset="-122"/>
                <a:cs typeface="Courier New" pitchFamily="34" charset="-120"/>
              </a:rPr>
              <a:t>→ </a:t>
            </a:r>
            <a:pPr indent="0" marL="0">
              <a:buNone/>
            </a:pPr>
            <a:r>
              <a:rPr lang="en-US" sz="1400" dirty="0">
                <a:solidFill>
                  <a:srgbClr val="1E293B"/>
                </a:solidFill>
                <a:latin typeface="Courier New" pitchFamily="34" charset="0"/>
                <a:ea typeface="Courier New" pitchFamily="34" charset="-122"/>
                <a:cs typeface="Courier New" pitchFamily="34" charset="-120"/>
              </a:rPr>
              <a:t>release.  </a:t>
            </a:r>
            <a:pPr indent="0" marL="0">
              <a:buNone/>
            </a:pPr>
            <a:r>
              <a:rPr lang="en-US" sz="1400" b="1" dirty="0">
                <a:solidFill>
                  <a:srgbClr val="C2410C"/>
                </a:solidFill>
                <a:latin typeface="Calibri" pitchFamily="34" charset="0"/>
                <a:ea typeface="Calibri" pitchFamily="34" charset="-122"/>
                <a:cs typeface="Calibri" pitchFamily="34" charset="-120"/>
              </a:rPr>
              <a:t>Only the final arrow differs.</a:t>
            </a:r>
            <a:endParaRPr lang="en-US" sz="1400" dirty="0"/>
          </a:p>
        </p:txBody>
      </p:sp>
      <p:sp>
        <p:nvSpPr>
          <p:cNvPr id="19" name="Text 14"/>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0" name="Text 15"/>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MENTAL MODEL</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Anatomy of a pipeline</a:t>
            </a:r>
            <a:endParaRPr lang="en-US" sz="3000" dirty="0"/>
          </a:p>
        </p:txBody>
      </p:sp>
      <p:sp>
        <p:nvSpPr>
          <p:cNvPr id="4" name="Text 2"/>
          <p:cNvSpPr/>
          <p:nvPr/>
        </p:nvSpPr>
        <p:spPr>
          <a:xfrm>
            <a:off x="640080" y="1316736"/>
            <a:ext cx="10972800" cy="45720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A pipeline is just stages that run in order. Each stage must pass before the next begins — the first failure stops the line.</a:t>
            </a:r>
            <a:endParaRPr lang="en-US" sz="1450" dirty="0"/>
          </a:p>
        </p:txBody>
      </p:sp>
      <p:sp>
        <p:nvSpPr>
          <p:cNvPr id="5" name="Shape 3"/>
          <p:cNvSpPr/>
          <p:nvPr/>
        </p:nvSpPr>
        <p:spPr>
          <a:xfrm>
            <a:off x="641452" y="2331720"/>
            <a:ext cx="1874520" cy="1965960"/>
          </a:xfrm>
          <a:prstGeom prst="roundRect">
            <a:avLst>
              <a:gd name="adj" fmla="val 4878"/>
            </a:avLst>
          </a:prstGeom>
          <a:solidFill>
            <a:srgbClr val="FFFFFF"/>
          </a:solidFill>
          <a:ln w="12700">
            <a:solidFill>
              <a:srgbClr val="E2E8F0"/>
            </a:solidFill>
            <a:prstDash val="solid"/>
          </a:ln>
          <a:effectLst>
            <a:outerShdw sx="100000" sy="100000" kx="0" ky="0" algn="bl" rotWithShape="0" blurRad="88900" dist="38100" dir="5400000">
              <a:srgbClr val="0F172A">
                <a:alpha val="10000"/>
              </a:srgbClr>
            </a:outerShdw>
          </a:effectLst>
        </p:spPr>
      </p:sp>
      <p:sp>
        <p:nvSpPr>
          <p:cNvPr id="6" name="Shape 4"/>
          <p:cNvSpPr/>
          <p:nvPr/>
        </p:nvSpPr>
        <p:spPr>
          <a:xfrm>
            <a:off x="1194664" y="2642616"/>
            <a:ext cx="768096" cy="768096"/>
          </a:xfrm>
          <a:prstGeom prst="ellipse">
            <a:avLst/>
          </a:prstGeom>
          <a:solidFill>
            <a:srgbClr val="334155"/>
          </a:solidFill>
          <a:ln/>
        </p:spPr>
      </p:sp>
      <p:pic>
        <p:nvPicPr>
          <p:cNvPr id="7" name="Image 0" descr="preencoded.png">    </p:cNvPr>
          <p:cNvPicPr>
            <a:picLocks noChangeAspect="1"/>
          </p:cNvPicPr>
          <p:nvPr/>
        </p:nvPicPr>
        <p:blipFill>
          <a:blip r:embed="rId1"/>
          <a:stretch>
            <a:fillRect/>
          </a:stretch>
        </p:blipFill>
        <p:spPr>
          <a:xfrm>
            <a:off x="1395832" y="2843784"/>
            <a:ext cx="365760" cy="365760"/>
          </a:xfrm>
          <a:prstGeom prst="rect">
            <a:avLst/>
          </a:prstGeom>
        </p:spPr>
      </p:pic>
      <p:sp>
        <p:nvSpPr>
          <p:cNvPr id="8" name="Text 5"/>
          <p:cNvSpPr/>
          <p:nvPr/>
        </p:nvSpPr>
        <p:spPr>
          <a:xfrm>
            <a:off x="641452" y="3502152"/>
            <a:ext cx="1874520" cy="329184"/>
          </a:xfrm>
          <a:prstGeom prst="rect">
            <a:avLst/>
          </a:prstGeom>
          <a:noFill/>
          <a:ln/>
        </p:spPr>
        <p:txBody>
          <a:bodyPr wrap="square" lIns="0" tIns="0" rIns="0" bIns="0" rtlCol="0" anchor="ctr"/>
          <a:lstStyle/>
          <a:p>
            <a:pPr algn="ctr" indent="0" marL="0">
              <a:buNone/>
            </a:pPr>
            <a:r>
              <a:rPr lang="en-US" sz="1650" b="1" dirty="0">
                <a:solidFill>
                  <a:srgbClr val="0F172A"/>
                </a:solidFill>
                <a:latin typeface="Bookman Old Style" pitchFamily="34" charset="0"/>
                <a:ea typeface="Bookman Old Style" pitchFamily="34" charset="-122"/>
                <a:cs typeface="Bookman Old Style" pitchFamily="34" charset="-120"/>
              </a:rPr>
              <a:t>Commit</a:t>
            </a:r>
            <a:endParaRPr lang="en-US" sz="1650" dirty="0"/>
          </a:p>
        </p:txBody>
      </p:sp>
      <p:sp>
        <p:nvSpPr>
          <p:cNvPr id="9" name="Text 6"/>
          <p:cNvSpPr/>
          <p:nvPr/>
        </p:nvSpPr>
        <p:spPr>
          <a:xfrm>
            <a:off x="641452" y="3849624"/>
            <a:ext cx="1874520" cy="292608"/>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push / PR</a:t>
            </a:r>
            <a:endParaRPr lang="en-US" sz="1100" dirty="0"/>
          </a:p>
        </p:txBody>
      </p:sp>
      <p:pic>
        <p:nvPicPr>
          <p:cNvPr id="10" name="Image 1" descr="preencoded.png">    </p:cNvPr>
          <p:cNvPicPr>
            <a:picLocks noChangeAspect="1"/>
          </p:cNvPicPr>
          <p:nvPr/>
        </p:nvPicPr>
        <p:blipFill>
          <a:blip r:embed="rId2"/>
          <a:stretch>
            <a:fillRect/>
          </a:stretch>
        </p:blipFill>
        <p:spPr>
          <a:xfrm>
            <a:off x="2579980" y="3186684"/>
            <a:ext cx="256032" cy="256032"/>
          </a:xfrm>
          <a:prstGeom prst="rect">
            <a:avLst/>
          </a:prstGeom>
        </p:spPr>
      </p:pic>
      <p:sp>
        <p:nvSpPr>
          <p:cNvPr id="11" name="Shape 7"/>
          <p:cNvSpPr/>
          <p:nvPr/>
        </p:nvSpPr>
        <p:spPr>
          <a:xfrm>
            <a:off x="2900020" y="2331720"/>
            <a:ext cx="1874520" cy="1965960"/>
          </a:xfrm>
          <a:prstGeom prst="roundRect">
            <a:avLst>
              <a:gd name="adj" fmla="val 4878"/>
            </a:avLst>
          </a:prstGeom>
          <a:solidFill>
            <a:srgbClr val="FFFFFF"/>
          </a:solidFill>
          <a:ln w="12700">
            <a:solidFill>
              <a:srgbClr val="E2E8F0"/>
            </a:solidFill>
            <a:prstDash val="solid"/>
          </a:ln>
          <a:effectLst>
            <a:outerShdw sx="100000" sy="100000" kx="0" ky="0" algn="bl" rotWithShape="0" blurRad="88900" dist="38100" dir="5400000">
              <a:srgbClr val="0F172A">
                <a:alpha val="10000"/>
              </a:srgbClr>
            </a:outerShdw>
          </a:effectLst>
        </p:spPr>
      </p:sp>
      <p:sp>
        <p:nvSpPr>
          <p:cNvPr id="12" name="Shape 8"/>
          <p:cNvSpPr/>
          <p:nvPr/>
        </p:nvSpPr>
        <p:spPr>
          <a:xfrm>
            <a:off x="3453232" y="2642616"/>
            <a:ext cx="768096" cy="768096"/>
          </a:xfrm>
          <a:prstGeom prst="ellipse">
            <a:avLst/>
          </a:prstGeom>
          <a:solidFill>
            <a:srgbClr val="0D9488"/>
          </a:solidFill>
          <a:ln/>
        </p:spPr>
      </p:sp>
      <p:pic>
        <p:nvPicPr>
          <p:cNvPr id="13" name="Image 2" descr="preencoded.png">    </p:cNvPr>
          <p:cNvPicPr>
            <a:picLocks noChangeAspect="1"/>
          </p:cNvPicPr>
          <p:nvPr/>
        </p:nvPicPr>
        <p:blipFill>
          <a:blip r:embed="rId3"/>
          <a:stretch>
            <a:fillRect/>
          </a:stretch>
        </p:blipFill>
        <p:spPr>
          <a:xfrm>
            <a:off x="3654400" y="2843784"/>
            <a:ext cx="365760" cy="365760"/>
          </a:xfrm>
          <a:prstGeom prst="rect">
            <a:avLst/>
          </a:prstGeom>
        </p:spPr>
      </p:pic>
      <p:sp>
        <p:nvSpPr>
          <p:cNvPr id="14" name="Text 9"/>
          <p:cNvSpPr/>
          <p:nvPr/>
        </p:nvSpPr>
        <p:spPr>
          <a:xfrm>
            <a:off x="2900020" y="3502152"/>
            <a:ext cx="1874520" cy="329184"/>
          </a:xfrm>
          <a:prstGeom prst="rect">
            <a:avLst/>
          </a:prstGeom>
          <a:noFill/>
          <a:ln/>
        </p:spPr>
        <p:txBody>
          <a:bodyPr wrap="square" lIns="0" tIns="0" rIns="0" bIns="0" rtlCol="0" anchor="ctr"/>
          <a:lstStyle/>
          <a:p>
            <a:pPr algn="ctr" indent="0" marL="0">
              <a:buNone/>
            </a:pPr>
            <a:r>
              <a:rPr lang="en-US" sz="1650" b="1" dirty="0">
                <a:solidFill>
                  <a:srgbClr val="0F172A"/>
                </a:solidFill>
                <a:latin typeface="Bookman Old Style" pitchFamily="34" charset="0"/>
                <a:ea typeface="Bookman Old Style" pitchFamily="34" charset="-122"/>
                <a:cs typeface="Bookman Old Style" pitchFamily="34" charset="-120"/>
              </a:rPr>
              <a:t>Build</a:t>
            </a:r>
            <a:endParaRPr lang="en-US" sz="1650" dirty="0"/>
          </a:p>
        </p:txBody>
      </p:sp>
      <p:sp>
        <p:nvSpPr>
          <p:cNvPr id="15" name="Text 10"/>
          <p:cNvSpPr/>
          <p:nvPr/>
        </p:nvSpPr>
        <p:spPr>
          <a:xfrm>
            <a:off x="2900020" y="3849624"/>
            <a:ext cx="1874520" cy="292608"/>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compile, install</a:t>
            </a:r>
            <a:endParaRPr lang="en-US" sz="1100" dirty="0"/>
          </a:p>
        </p:txBody>
      </p:sp>
      <p:pic>
        <p:nvPicPr>
          <p:cNvPr id="16" name="Image 3" descr="preencoded.png">    </p:cNvPr>
          <p:cNvPicPr>
            <a:picLocks noChangeAspect="1"/>
          </p:cNvPicPr>
          <p:nvPr/>
        </p:nvPicPr>
        <p:blipFill>
          <a:blip r:embed="rId4"/>
          <a:stretch>
            <a:fillRect/>
          </a:stretch>
        </p:blipFill>
        <p:spPr>
          <a:xfrm>
            <a:off x="4838548" y="3186684"/>
            <a:ext cx="256032" cy="256032"/>
          </a:xfrm>
          <a:prstGeom prst="rect">
            <a:avLst/>
          </a:prstGeom>
        </p:spPr>
      </p:pic>
      <p:sp>
        <p:nvSpPr>
          <p:cNvPr id="17" name="Shape 11"/>
          <p:cNvSpPr/>
          <p:nvPr/>
        </p:nvSpPr>
        <p:spPr>
          <a:xfrm>
            <a:off x="5158588" y="2331720"/>
            <a:ext cx="1874520" cy="1965960"/>
          </a:xfrm>
          <a:prstGeom prst="roundRect">
            <a:avLst>
              <a:gd name="adj" fmla="val 4878"/>
            </a:avLst>
          </a:prstGeom>
          <a:solidFill>
            <a:srgbClr val="FFFFFF"/>
          </a:solidFill>
          <a:ln w="12700">
            <a:solidFill>
              <a:srgbClr val="E2E8F0"/>
            </a:solidFill>
            <a:prstDash val="solid"/>
          </a:ln>
          <a:effectLst>
            <a:outerShdw sx="100000" sy="100000" kx="0" ky="0" algn="bl" rotWithShape="0" blurRad="88900" dist="38100" dir="5400000">
              <a:srgbClr val="0F172A">
                <a:alpha val="10000"/>
              </a:srgbClr>
            </a:outerShdw>
          </a:effectLst>
        </p:spPr>
      </p:sp>
      <p:sp>
        <p:nvSpPr>
          <p:cNvPr id="18" name="Shape 12"/>
          <p:cNvSpPr/>
          <p:nvPr/>
        </p:nvSpPr>
        <p:spPr>
          <a:xfrm>
            <a:off x="5711800" y="2642616"/>
            <a:ext cx="768096" cy="768096"/>
          </a:xfrm>
          <a:prstGeom prst="ellipse">
            <a:avLst/>
          </a:prstGeom>
          <a:solidFill>
            <a:srgbClr val="0D9488"/>
          </a:solidFill>
          <a:ln/>
        </p:spPr>
      </p:sp>
      <p:pic>
        <p:nvPicPr>
          <p:cNvPr id="19" name="Image 4" descr="preencoded.png">    </p:cNvPr>
          <p:cNvPicPr>
            <a:picLocks noChangeAspect="1"/>
          </p:cNvPicPr>
          <p:nvPr/>
        </p:nvPicPr>
        <p:blipFill>
          <a:blip r:embed="rId5"/>
          <a:stretch>
            <a:fillRect/>
          </a:stretch>
        </p:blipFill>
        <p:spPr>
          <a:xfrm>
            <a:off x="5912968" y="2843784"/>
            <a:ext cx="365760" cy="365760"/>
          </a:xfrm>
          <a:prstGeom prst="rect">
            <a:avLst/>
          </a:prstGeom>
        </p:spPr>
      </p:pic>
      <p:sp>
        <p:nvSpPr>
          <p:cNvPr id="20" name="Text 13"/>
          <p:cNvSpPr/>
          <p:nvPr/>
        </p:nvSpPr>
        <p:spPr>
          <a:xfrm>
            <a:off x="5158588" y="3502152"/>
            <a:ext cx="1874520" cy="329184"/>
          </a:xfrm>
          <a:prstGeom prst="rect">
            <a:avLst/>
          </a:prstGeom>
          <a:noFill/>
          <a:ln/>
        </p:spPr>
        <p:txBody>
          <a:bodyPr wrap="square" lIns="0" tIns="0" rIns="0" bIns="0" rtlCol="0" anchor="ctr"/>
          <a:lstStyle/>
          <a:p>
            <a:pPr algn="ctr" indent="0" marL="0">
              <a:buNone/>
            </a:pPr>
            <a:r>
              <a:rPr lang="en-US" sz="1650" b="1" dirty="0">
                <a:solidFill>
                  <a:srgbClr val="0F172A"/>
                </a:solidFill>
                <a:latin typeface="Bookman Old Style" pitchFamily="34" charset="0"/>
                <a:ea typeface="Bookman Old Style" pitchFamily="34" charset="-122"/>
                <a:cs typeface="Bookman Old Style" pitchFamily="34" charset="-120"/>
              </a:rPr>
              <a:t>Test</a:t>
            </a:r>
            <a:endParaRPr lang="en-US" sz="1650" dirty="0"/>
          </a:p>
        </p:txBody>
      </p:sp>
      <p:sp>
        <p:nvSpPr>
          <p:cNvPr id="21" name="Text 14"/>
          <p:cNvSpPr/>
          <p:nvPr/>
        </p:nvSpPr>
        <p:spPr>
          <a:xfrm>
            <a:off x="5158588" y="3849624"/>
            <a:ext cx="1874520" cy="292608"/>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unit + lint</a:t>
            </a:r>
            <a:endParaRPr lang="en-US" sz="1100" dirty="0"/>
          </a:p>
        </p:txBody>
      </p:sp>
      <p:pic>
        <p:nvPicPr>
          <p:cNvPr id="22" name="Image 5" descr="preencoded.png">    </p:cNvPr>
          <p:cNvPicPr>
            <a:picLocks noChangeAspect="1"/>
          </p:cNvPicPr>
          <p:nvPr/>
        </p:nvPicPr>
        <p:blipFill>
          <a:blip r:embed="rId6"/>
          <a:stretch>
            <a:fillRect/>
          </a:stretch>
        </p:blipFill>
        <p:spPr>
          <a:xfrm>
            <a:off x="7097116" y="3186684"/>
            <a:ext cx="256032" cy="256032"/>
          </a:xfrm>
          <a:prstGeom prst="rect">
            <a:avLst/>
          </a:prstGeom>
        </p:spPr>
      </p:pic>
      <p:sp>
        <p:nvSpPr>
          <p:cNvPr id="23" name="Shape 15"/>
          <p:cNvSpPr/>
          <p:nvPr/>
        </p:nvSpPr>
        <p:spPr>
          <a:xfrm>
            <a:off x="7417156" y="2331720"/>
            <a:ext cx="1874520" cy="1965960"/>
          </a:xfrm>
          <a:prstGeom prst="roundRect">
            <a:avLst>
              <a:gd name="adj" fmla="val 4878"/>
            </a:avLst>
          </a:prstGeom>
          <a:solidFill>
            <a:srgbClr val="FFFFFF"/>
          </a:solidFill>
          <a:ln w="12700">
            <a:solidFill>
              <a:srgbClr val="E2E8F0"/>
            </a:solidFill>
            <a:prstDash val="solid"/>
          </a:ln>
          <a:effectLst>
            <a:outerShdw sx="100000" sy="100000" kx="0" ky="0" algn="bl" rotWithShape="0" blurRad="88900" dist="38100" dir="5400000">
              <a:srgbClr val="0F172A">
                <a:alpha val="10000"/>
              </a:srgbClr>
            </a:outerShdw>
          </a:effectLst>
        </p:spPr>
      </p:sp>
      <p:sp>
        <p:nvSpPr>
          <p:cNvPr id="24" name="Shape 16"/>
          <p:cNvSpPr/>
          <p:nvPr/>
        </p:nvSpPr>
        <p:spPr>
          <a:xfrm>
            <a:off x="7970368" y="2642616"/>
            <a:ext cx="768096" cy="768096"/>
          </a:xfrm>
          <a:prstGeom prst="ellipse">
            <a:avLst/>
          </a:prstGeom>
          <a:solidFill>
            <a:srgbClr val="2496ED"/>
          </a:solidFill>
          <a:ln/>
        </p:spPr>
      </p:sp>
      <p:pic>
        <p:nvPicPr>
          <p:cNvPr id="25" name="Image 6" descr="preencoded.png">    </p:cNvPr>
          <p:cNvPicPr>
            <a:picLocks noChangeAspect="1"/>
          </p:cNvPicPr>
          <p:nvPr/>
        </p:nvPicPr>
        <p:blipFill>
          <a:blip r:embed="rId7"/>
          <a:stretch>
            <a:fillRect/>
          </a:stretch>
        </p:blipFill>
        <p:spPr>
          <a:xfrm>
            <a:off x="8171536" y="2843784"/>
            <a:ext cx="365760" cy="365760"/>
          </a:xfrm>
          <a:prstGeom prst="rect">
            <a:avLst/>
          </a:prstGeom>
        </p:spPr>
      </p:pic>
      <p:sp>
        <p:nvSpPr>
          <p:cNvPr id="26" name="Text 17"/>
          <p:cNvSpPr/>
          <p:nvPr/>
        </p:nvSpPr>
        <p:spPr>
          <a:xfrm>
            <a:off x="7417156" y="3502152"/>
            <a:ext cx="1874520" cy="329184"/>
          </a:xfrm>
          <a:prstGeom prst="rect">
            <a:avLst/>
          </a:prstGeom>
          <a:noFill/>
          <a:ln/>
        </p:spPr>
        <p:txBody>
          <a:bodyPr wrap="square" lIns="0" tIns="0" rIns="0" bIns="0" rtlCol="0" anchor="ctr"/>
          <a:lstStyle/>
          <a:p>
            <a:pPr algn="ctr" indent="0" marL="0">
              <a:buNone/>
            </a:pPr>
            <a:r>
              <a:rPr lang="en-US" sz="1650" b="1" dirty="0">
                <a:solidFill>
                  <a:srgbClr val="0F172A"/>
                </a:solidFill>
                <a:latin typeface="Bookman Old Style" pitchFamily="34" charset="0"/>
                <a:ea typeface="Bookman Old Style" pitchFamily="34" charset="-122"/>
                <a:cs typeface="Bookman Old Style" pitchFamily="34" charset="-120"/>
              </a:rPr>
              <a:t>Package</a:t>
            </a:r>
            <a:endParaRPr lang="en-US" sz="1650" dirty="0"/>
          </a:p>
        </p:txBody>
      </p:sp>
      <p:sp>
        <p:nvSpPr>
          <p:cNvPr id="27" name="Text 18"/>
          <p:cNvSpPr/>
          <p:nvPr/>
        </p:nvSpPr>
        <p:spPr>
          <a:xfrm>
            <a:off x="7417156" y="3849624"/>
            <a:ext cx="1874520" cy="292608"/>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build image</a:t>
            </a:r>
            <a:endParaRPr lang="en-US" sz="1100" dirty="0"/>
          </a:p>
        </p:txBody>
      </p:sp>
      <p:pic>
        <p:nvPicPr>
          <p:cNvPr id="28" name="Image 7" descr="preencoded.png">    </p:cNvPr>
          <p:cNvPicPr>
            <a:picLocks noChangeAspect="1"/>
          </p:cNvPicPr>
          <p:nvPr/>
        </p:nvPicPr>
        <p:blipFill>
          <a:blip r:embed="rId8"/>
          <a:stretch>
            <a:fillRect/>
          </a:stretch>
        </p:blipFill>
        <p:spPr>
          <a:xfrm>
            <a:off x="9355684" y="3186684"/>
            <a:ext cx="256032" cy="256032"/>
          </a:xfrm>
          <a:prstGeom prst="rect">
            <a:avLst/>
          </a:prstGeom>
        </p:spPr>
      </p:pic>
      <p:sp>
        <p:nvSpPr>
          <p:cNvPr id="29" name="Shape 19"/>
          <p:cNvSpPr/>
          <p:nvPr/>
        </p:nvSpPr>
        <p:spPr>
          <a:xfrm>
            <a:off x="9675724" y="2331720"/>
            <a:ext cx="1874520" cy="1965960"/>
          </a:xfrm>
          <a:prstGeom prst="roundRect">
            <a:avLst>
              <a:gd name="adj" fmla="val 4878"/>
            </a:avLst>
          </a:prstGeom>
          <a:solidFill>
            <a:srgbClr val="FFFFFF"/>
          </a:solidFill>
          <a:ln w="12700">
            <a:solidFill>
              <a:srgbClr val="E2E8F0"/>
            </a:solidFill>
            <a:prstDash val="solid"/>
          </a:ln>
          <a:effectLst>
            <a:outerShdw sx="100000" sy="100000" kx="0" ky="0" algn="bl" rotWithShape="0" blurRad="88900" dist="38100" dir="5400000">
              <a:srgbClr val="0F172A">
                <a:alpha val="10000"/>
              </a:srgbClr>
            </a:outerShdw>
          </a:effectLst>
        </p:spPr>
      </p:sp>
      <p:sp>
        <p:nvSpPr>
          <p:cNvPr id="30" name="Shape 20"/>
          <p:cNvSpPr/>
          <p:nvPr/>
        </p:nvSpPr>
        <p:spPr>
          <a:xfrm>
            <a:off x="10228936" y="2642616"/>
            <a:ext cx="768096" cy="768096"/>
          </a:xfrm>
          <a:prstGeom prst="ellipse">
            <a:avLst/>
          </a:prstGeom>
          <a:solidFill>
            <a:srgbClr val="F97316"/>
          </a:solidFill>
          <a:ln/>
        </p:spPr>
      </p:sp>
      <p:pic>
        <p:nvPicPr>
          <p:cNvPr id="31" name="Image 8" descr="preencoded.png">    </p:cNvPr>
          <p:cNvPicPr>
            <a:picLocks noChangeAspect="1"/>
          </p:cNvPicPr>
          <p:nvPr/>
        </p:nvPicPr>
        <p:blipFill>
          <a:blip r:embed="rId9"/>
          <a:stretch>
            <a:fillRect/>
          </a:stretch>
        </p:blipFill>
        <p:spPr>
          <a:xfrm>
            <a:off x="10430104" y="2843784"/>
            <a:ext cx="365760" cy="365760"/>
          </a:xfrm>
          <a:prstGeom prst="rect">
            <a:avLst/>
          </a:prstGeom>
        </p:spPr>
      </p:pic>
      <p:sp>
        <p:nvSpPr>
          <p:cNvPr id="32" name="Text 21"/>
          <p:cNvSpPr/>
          <p:nvPr/>
        </p:nvSpPr>
        <p:spPr>
          <a:xfrm>
            <a:off x="9675724" y="3502152"/>
            <a:ext cx="1874520" cy="329184"/>
          </a:xfrm>
          <a:prstGeom prst="rect">
            <a:avLst/>
          </a:prstGeom>
          <a:noFill/>
          <a:ln/>
        </p:spPr>
        <p:txBody>
          <a:bodyPr wrap="square" lIns="0" tIns="0" rIns="0" bIns="0" rtlCol="0" anchor="ctr"/>
          <a:lstStyle/>
          <a:p>
            <a:pPr algn="ctr" indent="0" marL="0">
              <a:buNone/>
            </a:pPr>
            <a:r>
              <a:rPr lang="en-US" sz="1650" b="1" dirty="0">
                <a:solidFill>
                  <a:srgbClr val="0F172A"/>
                </a:solidFill>
                <a:latin typeface="Bookman Old Style" pitchFamily="34" charset="0"/>
                <a:ea typeface="Bookman Old Style" pitchFamily="34" charset="-122"/>
                <a:cs typeface="Bookman Old Style" pitchFamily="34" charset="-120"/>
              </a:rPr>
              <a:t>Deploy</a:t>
            </a:r>
            <a:endParaRPr lang="en-US" sz="1650" dirty="0"/>
          </a:p>
        </p:txBody>
      </p:sp>
      <p:sp>
        <p:nvSpPr>
          <p:cNvPr id="33" name="Text 22"/>
          <p:cNvSpPr/>
          <p:nvPr/>
        </p:nvSpPr>
        <p:spPr>
          <a:xfrm>
            <a:off x="9675724" y="3849624"/>
            <a:ext cx="1874520" cy="292608"/>
          </a:xfrm>
          <a:prstGeom prst="rect">
            <a:avLst/>
          </a:prstGeom>
          <a:noFill/>
          <a:ln/>
        </p:spPr>
        <p:txBody>
          <a:bodyPr wrap="square" lIns="0" tIns="0" rIns="0" bIns="0" rtlCol="0" anchor="ctr"/>
          <a:lstStyle/>
          <a:p>
            <a:pPr algn="ctr" indent="0" marL="0">
              <a:buNone/>
            </a:pPr>
            <a:r>
              <a:rPr lang="en-US" sz="1100" dirty="0">
                <a:solidFill>
                  <a:srgbClr val="64748B"/>
                </a:solidFill>
                <a:latin typeface="Courier New" pitchFamily="34" charset="0"/>
                <a:ea typeface="Courier New" pitchFamily="34" charset="-122"/>
                <a:cs typeface="Courier New" pitchFamily="34" charset="-120"/>
              </a:rPr>
              <a:t>to environment</a:t>
            </a:r>
            <a:endParaRPr lang="en-US" sz="1100" dirty="0"/>
          </a:p>
        </p:txBody>
      </p:sp>
      <p:sp>
        <p:nvSpPr>
          <p:cNvPr id="34" name="Shape 23"/>
          <p:cNvSpPr/>
          <p:nvPr/>
        </p:nvSpPr>
        <p:spPr>
          <a:xfrm>
            <a:off x="641452" y="4828032"/>
            <a:ext cx="6381643" cy="914400"/>
          </a:xfrm>
          <a:prstGeom prst="roundRect">
            <a:avLst>
              <a:gd name="adj" fmla="val 9000"/>
            </a:avLst>
          </a:prstGeom>
          <a:solidFill>
            <a:srgbClr val="F0FDFA"/>
          </a:solidFill>
          <a:ln w="12700">
            <a:solidFill>
              <a:srgbClr val="99F6E4"/>
            </a:solidFill>
            <a:prstDash val="solid"/>
          </a:ln>
        </p:spPr>
      </p:sp>
      <p:sp>
        <p:nvSpPr>
          <p:cNvPr id="35" name="Text 24"/>
          <p:cNvSpPr/>
          <p:nvPr/>
        </p:nvSpPr>
        <p:spPr>
          <a:xfrm>
            <a:off x="870052" y="4828032"/>
            <a:ext cx="6015883" cy="91440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Continuous Integration  </a:t>
            </a:r>
            <a:pPr indent="0" marL="0">
              <a:buNone/>
            </a:pPr>
            <a:r>
              <a:rPr lang="en-US" sz="1300" dirty="0">
                <a:solidFill>
                  <a:srgbClr val="1E293B"/>
                </a:solidFill>
                <a:latin typeface="Calibri" pitchFamily="34" charset="0"/>
                <a:ea typeface="Calibri" pitchFamily="34" charset="-122"/>
                <a:cs typeface="Calibri" pitchFamily="34" charset="-120"/>
              </a:rPr>
              <a:t>— build + test on every change</a:t>
            </a:r>
            <a:endParaRPr lang="en-US" sz="1300" dirty="0"/>
          </a:p>
        </p:txBody>
      </p:sp>
      <p:sp>
        <p:nvSpPr>
          <p:cNvPr id="36" name="Shape 25"/>
          <p:cNvSpPr/>
          <p:nvPr/>
        </p:nvSpPr>
        <p:spPr>
          <a:xfrm>
            <a:off x="7186727" y="4828032"/>
            <a:ext cx="4363517" cy="914400"/>
          </a:xfrm>
          <a:prstGeom prst="roundRect">
            <a:avLst>
              <a:gd name="adj" fmla="val 9000"/>
            </a:avLst>
          </a:prstGeom>
          <a:solidFill>
            <a:srgbClr val="FFF7ED"/>
          </a:solidFill>
          <a:ln w="12700">
            <a:solidFill>
              <a:srgbClr val="FED7AA"/>
            </a:solidFill>
            <a:prstDash val="solid"/>
          </a:ln>
        </p:spPr>
      </p:sp>
      <p:sp>
        <p:nvSpPr>
          <p:cNvPr id="37" name="Text 26"/>
          <p:cNvSpPr/>
          <p:nvPr/>
        </p:nvSpPr>
        <p:spPr>
          <a:xfrm>
            <a:off x="7415327" y="4828032"/>
            <a:ext cx="3997757" cy="914400"/>
          </a:xfrm>
          <a:prstGeom prst="rect">
            <a:avLst/>
          </a:prstGeom>
          <a:noFill/>
          <a:ln/>
        </p:spPr>
        <p:txBody>
          <a:bodyPr wrap="square" lIns="0" tIns="0" rIns="0" bIns="0" rtlCol="0" anchor="ctr"/>
          <a:lstStyle/>
          <a:p>
            <a:pPr indent="0" marL="0">
              <a:buNone/>
            </a:pPr>
            <a:r>
              <a:rPr lang="en-US" sz="1300" b="1" dirty="0">
                <a:solidFill>
                  <a:srgbClr val="C2410C"/>
                </a:solidFill>
                <a:latin typeface="Calibri" pitchFamily="34" charset="0"/>
                <a:ea typeface="Calibri" pitchFamily="34" charset="-122"/>
                <a:cs typeface="Calibri" pitchFamily="34" charset="-120"/>
              </a:rPr>
              <a:t>Continuous Delivery  </a:t>
            </a:r>
            <a:pPr indent="0" marL="0">
              <a:buNone/>
            </a:pPr>
            <a:r>
              <a:rPr lang="en-US" sz="1300" dirty="0">
                <a:solidFill>
                  <a:srgbClr val="1E293B"/>
                </a:solidFill>
                <a:latin typeface="Calibri" pitchFamily="34" charset="0"/>
                <a:ea typeface="Calibri" pitchFamily="34" charset="-122"/>
                <a:cs typeface="Calibri" pitchFamily="34" charset="-120"/>
              </a:rPr>
              <a:t>— package + deploy</a:t>
            </a:r>
            <a:endParaRPr lang="en-US" sz="1300" dirty="0"/>
          </a:p>
        </p:txBody>
      </p:sp>
      <p:sp>
        <p:nvSpPr>
          <p:cNvPr id="39" name="Text 27"/>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40" name="Text 28"/>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2331720"/>
            <a:ext cx="5486400" cy="365760"/>
          </a:xfrm>
          <a:prstGeom prst="rect">
            <a:avLst/>
          </a:prstGeom>
          <a:noFill/>
          <a:ln/>
        </p:spPr>
        <p:txBody>
          <a:bodyPr wrap="square" lIns="0" tIns="0" rIns="0" bIns="0" rtlCol="0" anchor="ctr"/>
          <a:lstStyle/>
          <a:p>
            <a:pPr indent="0" marL="0">
              <a:buNone/>
            </a:pPr>
            <a:r>
              <a:rPr lang="en-US" sz="1400" b="1" spc="400" kern="0" dirty="0">
                <a:solidFill>
                  <a:srgbClr val="99F6E4"/>
                </a:solidFill>
                <a:latin typeface="Calibri" pitchFamily="34" charset="0"/>
                <a:ea typeface="Calibri" pitchFamily="34" charset="-122"/>
                <a:cs typeface="Calibri" pitchFamily="34" charset="-120"/>
              </a:rPr>
              <a:t>PART TWO</a:t>
            </a:r>
            <a:endParaRPr lang="en-US" sz="1400" dirty="0"/>
          </a:p>
        </p:txBody>
      </p:sp>
      <p:sp>
        <p:nvSpPr>
          <p:cNvPr id="3" name="Text 1"/>
          <p:cNvSpPr/>
          <p:nvPr/>
        </p:nvSpPr>
        <p:spPr>
          <a:xfrm>
            <a:off x="786384" y="2724912"/>
            <a:ext cx="10058400" cy="914400"/>
          </a:xfrm>
          <a:prstGeom prst="rect">
            <a:avLst/>
          </a:prstGeom>
          <a:noFill/>
          <a:ln/>
        </p:spPr>
        <p:txBody>
          <a:bodyPr wrap="square" lIns="0" tIns="0" rIns="0" bIns="0" rtlCol="0" anchor="ctr"/>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GitHub Actions</a:t>
            </a:r>
            <a:endParaRPr lang="en-US" sz="4400" dirty="0"/>
          </a:p>
        </p:txBody>
      </p:sp>
      <p:sp>
        <p:nvSpPr>
          <p:cNvPr id="4" name="Text 2"/>
          <p:cNvSpPr/>
          <p:nvPr/>
        </p:nvSpPr>
        <p:spPr>
          <a:xfrm>
            <a:off x="822960" y="3703320"/>
            <a:ext cx="8778240" cy="640080"/>
          </a:xfrm>
          <a:prstGeom prst="rect">
            <a:avLst/>
          </a:prstGeom>
          <a:noFill/>
          <a:ln/>
        </p:spPr>
        <p:txBody>
          <a:bodyPr wrap="square" lIns="0" tIns="0" rIns="0" bIns="0" rtlCol="0" anchor="ctr"/>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The tool that runs your pipeline — no separate CI server, defined in YAML, living right next to your code.</a:t>
            </a:r>
            <a:endParaRPr lang="en-US" sz="1600" dirty="0"/>
          </a:p>
        </p:txBody>
      </p:sp>
      <p:sp>
        <p:nvSpPr>
          <p:cNvPr id="5" name="Shape 3"/>
          <p:cNvSpPr/>
          <p:nvPr/>
        </p:nvSpPr>
        <p:spPr>
          <a:xfrm>
            <a:off x="10058400" y="2286000"/>
            <a:ext cx="1371600" cy="1371600"/>
          </a:xfrm>
          <a:prstGeom prst="ellipse">
            <a:avLst/>
          </a:prstGeom>
          <a:solidFill>
            <a:srgbClr val="334155"/>
          </a:solidFill>
          <a:ln/>
          <a:effectLst>
            <a:outerShdw sx="100000" sy="100000" kx="0" ky="0" algn="bl" rotWithShape="0" blurRad="152400" dist="63500" dir="5400000">
              <a:srgbClr val="0F172A">
                <a:alpha val="30000"/>
              </a:srgbClr>
            </a:outerShdw>
          </a:effectLst>
        </p:spPr>
      </p:sp>
      <p:pic>
        <p:nvPicPr>
          <p:cNvPr id="6" name="Image 0" descr="preencoded.png">    </p:cNvPr>
          <p:cNvPicPr>
            <a:picLocks noChangeAspect="1"/>
          </p:cNvPicPr>
          <p:nvPr/>
        </p:nvPicPr>
        <p:blipFill>
          <a:blip r:embed="rId1"/>
          <a:stretch>
            <a:fillRect/>
          </a:stretch>
        </p:blipFill>
        <p:spPr>
          <a:xfrm>
            <a:off x="10396728" y="2624328"/>
            <a:ext cx="694944" cy="694944"/>
          </a:xfrm>
          <a:prstGeom prst="rect">
            <a:avLst/>
          </a:prstGeom>
        </p:spPr>
      </p:pic>
      <p:sp>
        <p:nvSpPr>
          <p:cNvPr id="7" name="Text 4"/>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CI/CD with GitHub Actions</a:t>
            </a:r>
            <a:endParaRPr lang="en-US" sz="950" dirty="0"/>
          </a:p>
        </p:txBody>
      </p:sp>
      <p:sp>
        <p:nvSpPr>
          <p:cNvPr id="8" name="Text 5"/>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475569"/>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WHY THIS TOOL</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No server to babysit</a:t>
            </a:r>
            <a:endParaRPr lang="en-US" sz="3000" dirty="0"/>
          </a:p>
        </p:txBody>
      </p:sp>
      <p:sp>
        <p:nvSpPr>
          <p:cNvPr id="4" name="Shape 2"/>
          <p:cNvSpPr/>
          <p:nvPr/>
        </p:nvSpPr>
        <p:spPr>
          <a:xfrm>
            <a:off x="640080" y="1417320"/>
            <a:ext cx="5394960" cy="1874520"/>
          </a:xfrm>
          <a:prstGeom prst="roundRect">
            <a:avLst>
              <a:gd name="adj" fmla="val 4390"/>
            </a:avLst>
          </a:prstGeom>
          <a:solidFill>
            <a:srgbClr val="FFF7ED"/>
          </a:solidFill>
          <a:ln w="12700">
            <a:solidFill>
              <a:srgbClr val="FED7AA"/>
            </a:solidFill>
            <a:prstDash val="solid"/>
          </a:ln>
          <a:effectLst>
            <a:outerShdw sx="100000" sy="100000" kx="0" ky="0" algn="bl" rotWithShape="0" blurRad="88900" dist="38100" dir="5400000">
              <a:srgbClr val="0F172A">
                <a:alpha val="10000"/>
              </a:srgbClr>
            </a:outerShdw>
          </a:effectLst>
        </p:spPr>
      </p:sp>
      <p:sp>
        <p:nvSpPr>
          <p:cNvPr id="5" name="Shape 3"/>
          <p:cNvSpPr/>
          <p:nvPr/>
        </p:nvSpPr>
        <p:spPr>
          <a:xfrm>
            <a:off x="896112" y="1673352"/>
            <a:ext cx="566928" cy="566928"/>
          </a:xfrm>
          <a:prstGeom prst="ellipse">
            <a:avLst/>
          </a:prstGeom>
          <a:solidFill>
            <a:srgbClr val="F97316"/>
          </a:solidFill>
          <a:ln/>
        </p:spPr>
      </p:sp>
      <p:pic>
        <p:nvPicPr>
          <p:cNvPr id="6" name="Image 0" descr="preencoded.png">    </p:cNvPr>
          <p:cNvPicPr>
            <a:picLocks noChangeAspect="1"/>
          </p:cNvPicPr>
          <p:nvPr/>
        </p:nvPicPr>
        <p:blipFill>
          <a:blip r:embed="rId1"/>
          <a:stretch>
            <a:fillRect/>
          </a:stretch>
        </p:blipFill>
        <p:spPr>
          <a:xfrm>
            <a:off x="1037844" y="1815084"/>
            <a:ext cx="283464" cy="283464"/>
          </a:xfrm>
          <a:prstGeom prst="rect">
            <a:avLst/>
          </a:prstGeom>
        </p:spPr>
      </p:pic>
      <p:sp>
        <p:nvSpPr>
          <p:cNvPr id="7" name="Text 4"/>
          <p:cNvSpPr/>
          <p:nvPr/>
        </p:nvSpPr>
        <p:spPr>
          <a:xfrm>
            <a:off x="1609344" y="1691640"/>
            <a:ext cx="4224528" cy="237744"/>
          </a:xfrm>
          <a:prstGeom prst="rect">
            <a:avLst/>
          </a:prstGeom>
          <a:noFill/>
          <a:ln/>
        </p:spPr>
        <p:txBody>
          <a:bodyPr wrap="square" lIns="0" tIns="0" rIns="0" bIns="0" rtlCol="0" anchor="ctr"/>
          <a:lstStyle/>
          <a:p>
            <a:pPr indent="0" marL="0">
              <a:buNone/>
            </a:pPr>
            <a:r>
              <a:rPr lang="en-US" sz="1100" b="1" spc="200" kern="0" dirty="0">
                <a:solidFill>
                  <a:srgbClr val="C2410C"/>
                </a:solidFill>
                <a:latin typeface="Calibri" pitchFamily="34" charset="0"/>
                <a:ea typeface="Calibri" pitchFamily="34" charset="-122"/>
                <a:cs typeface="Calibri" pitchFamily="34" charset="-120"/>
              </a:rPr>
              <a:t>THE OLD WAY</a:t>
            </a:r>
            <a:endParaRPr lang="en-US" sz="1100" dirty="0"/>
          </a:p>
        </p:txBody>
      </p:sp>
      <p:sp>
        <p:nvSpPr>
          <p:cNvPr id="8" name="Text 5"/>
          <p:cNvSpPr/>
          <p:nvPr/>
        </p:nvSpPr>
        <p:spPr>
          <a:xfrm>
            <a:off x="1609344" y="1911096"/>
            <a:ext cx="422452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A separate CI server</a:t>
            </a:r>
            <a:endParaRPr lang="en-US" sz="1550" dirty="0"/>
          </a:p>
        </p:txBody>
      </p:sp>
      <p:sp>
        <p:nvSpPr>
          <p:cNvPr id="9" name="Text 6"/>
          <p:cNvSpPr/>
          <p:nvPr/>
        </p:nvSpPr>
        <p:spPr>
          <a:xfrm>
            <a:off x="914400" y="2459736"/>
            <a:ext cx="4846320" cy="66751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Stand up Jenkins on a box, patch it, secure it, keep plugins in sync, and hope it is up when you need to ship. Its config drifts from your code.</a:t>
            </a:r>
            <a:endParaRPr lang="en-US" sz="1250" dirty="0"/>
          </a:p>
        </p:txBody>
      </p:sp>
      <p:sp>
        <p:nvSpPr>
          <p:cNvPr id="10" name="Shape 7"/>
          <p:cNvSpPr/>
          <p:nvPr/>
        </p:nvSpPr>
        <p:spPr>
          <a:xfrm>
            <a:off x="6144768" y="1417320"/>
            <a:ext cx="5394960" cy="1874520"/>
          </a:xfrm>
          <a:prstGeom prst="roundRect">
            <a:avLst>
              <a:gd name="adj" fmla="val 4390"/>
            </a:avLst>
          </a:prstGeom>
          <a:solidFill>
            <a:srgbClr val="F0FDFA"/>
          </a:solidFill>
          <a:ln w="12700">
            <a:solidFill>
              <a:srgbClr val="99F6E4"/>
            </a:solidFill>
            <a:prstDash val="solid"/>
          </a:ln>
          <a:effectLst>
            <a:outerShdw sx="100000" sy="100000" kx="0" ky="0" algn="bl" rotWithShape="0" blurRad="88900" dist="38100" dir="5400000">
              <a:srgbClr val="0F172A">
                <a:alpha val="10000"/>
              </a:srgbClr>
            </a:outerShdw>
          </a:effectLst>
        </p:spPr>
      </p:sp>
      <p:sp>
        <p:nvSpPr>
          <p:cNvPr id="11" name="Shape 8"/>
          <p:cNvSpPr/>
          <p:nvPr/>
        </p:nvSpPr>
        <p:spPr>
          <a:xfrm>
            <a:off x="6400800" y="1673352"/>
            <a:ext cx="566928" cy="566928"/>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6542532" y="1815084"/>
            <a:ext cx="283464" cy="283464"/>
          </a:xfrm>
          <a:prstGeom prst="rect">
            <a:avLst/>
          </a:prstGeom>
        </p:spPr>
      </p:pic>
      <p:sp>
        <p:nvSpPr>
          <p:cNvPr id="13" name="Text 9"/>
          <p:cNvSpPr/>
          <p:nvPr/>
        </p:nvSpPr>
        <p:spPr>
          <a:xfrm>
            <a:off x="7114032" y="1691640"/>
            <a:ext cx="4224528" cy="237744"/>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GITHUB ACTIONS</a:t>
            </a:r>
            <a:endParaRPr lang="en-US" sz="1100" dirty="0"/>
          </a:p>
        </p:txBody>
      </p:sp>
      <p:sp>
        <p:nvSpPr>
          <p:cNvPr id="14" name="Text 10"/>
          <p:cNvSpPr/>
          <p:nvPr/>
        </p:nvSpPr>
        <p:spPr>
          <a:xfrm>
            <a:off x="7114032" y="1911096"/>
            <a:ext cx="422452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Built into the repo</a:t>
            </a:r>
            <a:endParaRPr lang="en-US" sz="1550" dirty="0"/>
          </a:p>
        </p:txBody>
      </p:sp>
      <p:sp>
        <p:nvSpPr>
          <p:cNvPr id="15" name="Text 11"/>
          <p:cNvSpPr/>
          <p:nvPr/>
        </p:nvSpPr>
        <p:spPr>
          <a:xfrm>
            <a:off x="6419088" y="2459736"/>
            <a:ext cx="4846320" cy="66751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GitHub already hosts your code, so the runners are one YAML file away. Nothing to provision. The pipeline is versioned with the project it builds.</a:t>
            </a:r>
            <a:endParaRPr lang="en-US" sz="1250" dirty="0"/>
          </a:p>
        </p:txBody>
      </p:sp>
      <p:sp>
        <p:nvSpPr>
          <p:cNvPr id="16" name="Shape 12"/>
          <p:cNvSpPr/>
          <p:nvPr/>
        </p:nvSpPr>
        <p:spPr>
          <a:xfrm>
            <a:off x="640080" y="3611880"/>
            <a:ext cx="2670048"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7" name="Shape 13"/>
          <p:cNvSpPr/>
          <p:nvPr/>
        </p:nvSpPr>
        <p:spPr>
          <a:xfrm>
            <a:off x="859536" y="3831336"/>
            <a:ext cx="457200" cy="457200"/>
          </a:xfrm>
          <a:prstGeom prst="ellipse">
            <a:avLst/>
          </a:prstGeom>
          <a:solidFill>
            <a:srgbClr val="0D9488"/>
          </a:solidFill>
          <a:ln/>
        </p:spPr>
      </p:sp>
      <p:pic>
        <p:nvPicPr>
          <p:cNvPr id="18" name="Image 2" descr="preencoded.png">    </p:cNvPr>
          <p:cNvPicPr>
            <a:picLocks noChangeAspect="1"/>
          </p:cNvPicPr>
          <p:nvPr/>
        </p:nvPicPr>
        <p:blipFill>
          <a:blip r:embed="rId3"/>
          <a:stretch>
            <a:fillRect/>
          </a:stretch>
        </p:blipFill>
        <p:spPr>
          <a:xfrm>
            <a:off x="973836" y="3945636"/>
            <a:ext cx="228600" cy="228600"/>
          </a:xfrm>
          <a:prstGeom prst="rect">
            <a:avLst/>
          </a:prstGeom>
        </p:spPr>
      </p:pic>
      <p:sp>
        <p:nvSpPr>
          <p:cNvPr id="19" name="Text 14"/>
          <p:cNvSpPr/>
          <p:nvPr/>
        </p:nvSpPr>
        <p:spPr>
          <a:xfrm>
            <a:off x="859536" y="4379976"/>
            <a:ext cx="2267712"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Config as code</a:t>
            </a:r>
            <a:endParaRPr lang="en-US" sz="1350" dirty="0"/>
          </a:p>
        </p:txBody>
      </p:sp>
      <p:sp>
        <p:nvSpPr>
          <p:cNvPr id="20" name="Text 15"/>
          <p:cNvSpPr/>
          <p:nvPr/>
        </p:nvSpPr>
        <p:spPr>
          <a:xfrm>
            <a:off x="859536" y="4672584"/>
            <a:ext cx="2267712" cy="47548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.github/workflows/*.yml — reviewed in pull requests like any change.</a:t>
            </a:r>
            <a:endParaRPr lang="en-US" sz="1100" dirty="0"/>
          </a:p>
        </p:txBody>
      </p:sp>
      <p:sp>
        <p:nvSpPr>
          <p:cNvPr id="21" name="Shape 16"/>
          <p:cNvSpPr/>
          <p:nvPr/>
        </p:nvSpPr>
        <p:spPr>
          <a:xfrm>
            <a:off x="3447288" y="3611880"/>
            <a:ext cx="2670048"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2" name="Shape 17"/>
          <p:cNvSpPr/>
          <p:nvPr/>
        </p:nvSpPr>
        <p:spPr>
          <a:xfrm>
            <a:off x="3666744" y="3831336"/>
            <a:ext cx="457200" cy="457200"/>
          </a:xfrm>
          <a:prstGeom prst="ellipse">
            <a:avLst/>
          </a:prstGeom>
          <a:solidFill>
            <a:srgbClr val="0D9488"/>
          </a:solidFill>
          <a:ln/>
        </p:spPr>
      </p:sp>
      <p:pic>
        <p:nvPicPr>
          <p:cNvPr id="23" name="Image 3" descr="preencoded.png">    </p:cNvPr>
          <p:cNvPicPr>
            <a:picLocks noChangeAspect="1"/>
          </p:cNvPicPr>
          <p:nvPr/>
        </p:nvPicPr>
        <p:blipFill>
          <a:blip r:embed="rId4"/>
          <a:stretch>
            <a:fillRect/>
          </a:stretch>
        </p:blipFill>
        <p:spPr>
          <a:xfrm>
            <a:off x="3781044" y="3945636"/>
            <a:ext cx="228600" cy="228600"/>
          </a:xfrm>
          <a:prstGeom prst="rect">
            <a:avLst/>
          </a:prstGeom>
        </p:spPr>
      </p:pic>
      <p:sp>
        <p:nvSpPr>
          <p:cNvPr id="24" name="Text 18"/>
          <p:cNvSpPr/>
          <p:nvPr/>
        </p:nvSpPr>
        <p:spPr>
          <a:xfrm>
            <a:off x="3666744" y="4379976"/>
            <a:ext cx="2267712"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Marketplace</a:t>
            </a:r>
            <a:endParaRPr lang="en-US" sz="1350" dirty="0"/>
          </a:p>
        </p:txBody>
      </p:sp>
      <p:sp>
        <p:nvSpPr>
          <p:cNvPr id="25" name="Text 19"/>
          <p:cNvSpPr/>
          <p:nvPr/>
        </p:nvSpPr>
        <p:spPr>
          <a:xfrm>
            <a:off x="3666744" y="4672584"/>
            <a:ext cx="2267712" cy="47548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Thousands of prebuilt actions: checkout, setup-node, docker login, deploy.</a:t>
            </a:r>
            <a:endParaRPr lang="en-US" sz="1100" dirty="0"/>
          </a:p>
        </p:txBody>
      </p:sp>
      <p:sp>
        <p:nvSpPr>
          <p:cNvPr id="26" name="Shape 20"/>
          <p:cNvSpPr/>
          <p:nvPr/>
        </p:nvSpPr>
        <p:spPr>
          <a:xfrm>
            <a:off x="6254496" y="3611880"/>
            <a:ext cx="2670048"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7" name="Shape 21"/>
          <p:cNvSpPr/>
          <p:nvPr/>
        </p:nvSpPr>
        <p:spPr>
          <a:xfrm>
            <a:off x="6473952" y="3831336"/>
            <a:ext cx="457200" cy="457200"/>
          </a:xfrm>
          <a:prstGeom prst="ellipse">
            <a:avLst/>
          </a:prstGeom>
          <a:solidFill>
            <a:srgbClr val="0D9488"/>
          </a:solidFill>
          <a:ln/>
        </p:spPr>
      </p:sp>
      <p:pic>
        <p:nvPicPr>
          <p:cNvPr id="28" name="Image 4" descr="preencoded.png">    </p:cNvPr>
          <p:cNvPicPr>
            <a:picLocks noChangeAspect="1"/>
          </p:cNvPicPr>
          <p:nvPr/>
        </p:nvPicPr>
        <p:blipFill>
          <a:blip r:embed="rId5"/>
          <a:stretch>
            <a:fillRect/>
          </a:stretch>
        </p:blipFill>
        <p:spPr>
          <a:xfrm>
            <a:off x="6588252" y="3945636"/>
            <a:ext cx="228600" cy="228600"/>
          </a:xfrm>
          <a:prstGeom prst="rect">
            <a:avLst/>
          </a:prstGeom>
        </p:spPr>
      </p:pic>
      <p:sp>
        <p:nvSpPr>
          <p:cNvPr id="29" name="Text 22"/>
          <p:cNvSpPr/>
          <p:nvPr/>
        </p:nvSpPr>
        <p:spPr>
          <a:xfrm>
            <a:off x="6473952" y="4379976"/>
            <a:ext cx="2267712"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Hosted runners</a:t>
            </a:r>
            <a:endParaRPr lang="en-US" sz="1350" dirty="0"/>
          </a:p>
        </p:txBody>
      </p:sp>
      <p:sp>
        <p:nvSpPr>
          <p:cNvPr id="30" name="Text 23"/>
          <p:cNvSpPr/>
          <p:nvPr/>
        </p:nvSpPr>
        <p:spPr>
          <a:xfrm>
            <a:off x="6473952" y="4672584"/>
            <a:ext cx="2267712" cy="47548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Fresh Ubuntu, Windows or macOS VM per job — free minutes for public repos.</a:t>
            </a:r>
            <a:endParaRPr lang="en-US" sz="1100" dirty="0"/>
          </a:p>
        </p:txBody>
      </p:sp>
      <p:sp>
        <p:nvSpPr>
          <p:cNvPr id="31" name="Shape 24"/>
          <p:cNvSpPr/>
          <p:nvPr/>
        </p:nvSpPr>
        <p:spPr>
          <a:xfrm>
            <a:off x="9061704" y="3611880"/>
            <a:ext cx="2670048" cy="1600200"/>
          </a:xfrm>
          <a:prstGeom prst="roundRect">
            <a:avLst>
              <a:gd name="adj" fmla="val 457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32" name="Shape 25"/>
          <p:cNvSpPr/>
          <p:nvPr/>
        </p:nvSpPr>
        <p:spPr>
          <a:xfrm>
            <a:off x="9281160" y="3831336"/>
            <a:ext cx="457200" cy="457200"/>
          </a:xfrm>
          <a:prstGeom prst="ellipse">
            <a:avLst/>
          </a:prstGeom>
          <a:solidFill>
            <a:srgbClr val="0D9488"/>
          </a:solidFill>
          <a:ln/>
        </p:spPr>
      </p:sp>
      <p:pic>
        <p:nvPicPr>
          <p:cNvPr id="33" name="Image 5" descr="preencoded.png">    </p:cNvPr>
          <p:cNvPicPr>
            <a:picLocks noChangeAspect="1"/>
          </p:cNvPicPr>
          <p:nvPr/>
        </p:nvPicPr>
        <p:blipFill>
          <a:blip r:embed="rId6"/>
          <a:stretch>
            <a:fillRect/>
          </a:stretch>
        </p:blipFill>
        <p:spPr>
          <a:xfrm>
            <a:off x="9395460" y="3945636"/>
            <a:ext cx="228600" cy="228600"/>
          </a:xfrm>
          <a:prstGeom prst="rect">
            <a:avLst/>
          </a:prstGeom>
        </p:spPr>
      </p:pic>
      <p:sp>
        <p:nvSpPr>
          <p:cNvPr id="34" name="Text 26"/>
          <p:cNvSpPr/>
          <p:nvPr/>
        </p:nvSpPr>
        <p:spPr>
          <a:xfrm>
            <a:off x="9281160" y="4379976"/>
            <a:ext cx="2267712"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Event-driven</a:t>
            </a:r>
            <a:endParaRPr lang="en-US" sz="1350" dirty="0"/>
          </a:p>
        </p:txBody>
      </p:sp>
      <p:sp>
        <p:nvSpPr>
          <p:cNvPr id="35" name="Text 27"/>
          <p:cNvSpPr/>
          <p:nvPr/>
        </p:nvSpPr>
        <p:spPr>
          <a:xfrm>
            <a:off x="9281160" y="4672584"/>
            <a:ext cx="2267712" cy="47548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Triggers on push, PR, tag, schedule, or a manual button — not just commits.</a:t>
            </a:r>
            <a:endParaRPr lang="en-US" sz="1100" dirty="0"/>
          </a:p>
        </p:txBody>
      </p:sp>
      <p:sp>
        <p:nvSpPr>
          <p:cNvPr id="37" name="Text 28"/>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8" name="Text 29"/>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THE VOCABULARY</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Five words you need</a:t>
            </a:r>
            <a:endParaRPr lang="en-US" sz="3000" dirty="0"/>
          </a:p>
        </p:txBody>
      </p:sp>
      <p:sp>
        <p:nvSpPr>
          <p:cNvPr id="4" name="Text 2"/>
          <p:cNvSpPr/>
          <p:nvPr/>
        </p:nvSpPr>
        <p:spPr>
          <a:xfrm>
            <a:off x="640080" y="1316736"/>
            <a:ext cx="10972800" cy="45720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Learn these five and every workflow file reads plainly. They nest inside each other, top to bottom.</a:t>
            </a:r>
            <a:endParaRPr lang="en-US" sz="1450" dirty="0"/>
          </a:p>
        </p:txBody>
      </p:sp>
      <p:sp>
        <p:nvSpPr>
          <p:cNvPr id="5" name="Shape 3"/>
          <p:cNvSpPr/>
          <p:nvPr/>
        </p:nvSpPr>
        <p:spPr>
          <a:xfrm>
            <a:off x="640080" y="1965960"/>
            <a:ext cx="11548872" cy="786384"/>
          </a:xfrm>
          <a:prstGeom prst="roundRect">
            <a:avLst>
              <a:gd name="adj" fmla="val 8140"/>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6" name="Shape 4"/>
          <p:cNvSpPr/>
          <p:nvPr/>
        </p:nvSpPr>
        <p:spPr>
          <a:xfrm>
            <a:off x="822960" y="2130552"/>
            <a:ext cx="457200" cy="457200"/>
          </a:xfrm>
          <a:prstGeom prst="ellipse">
            <a:avLst/>
          </a:prstGeom>
          <a:solidFill>
            <a:srgbClr val="F97316"/>
          </a:solidFill>
          <a:ln/>
        </p:spPr>
      </p:sp>
      <p:pic>
        <p:nvPicPr>
          <p:cNvPr id="7" name="Image 0" descr="preencoded.png">    </p:cNvPr>
          <p:cNvPicPr>
            <a:picLocks noChangeAspect="1"/>
          </p:cNvPicPr>
          <p:nvPr/>
        </p:nvPicPr>
        <p:blipFill>
          <a:blip r:embed="rId1"/>
          <a:stretch>
            <a:fillRect/>
          </a:stretch>
        </p:blipFill>
        <p:spPr>
          <a:xfrm>
            <a:off x="937260" y="2244852"/>
            <a:ext cx="228600" cy="228600"/>
          </a:xfrm>
          <a:prstGeom prst="rect">
            <a:avLst/>
          </a:prstGeom>
        </p:spPr>
      </p:pic>
      <p:sp>
        <p:nvSpPr>
          <p:cNvPr id="8" name="Text 5"/>
          <p:cNvSpPr/>
          <p:nvPr/>
        </p:nvSpPr>
        <p:spPr>
          <a:xfrm>
            <a:off x="1389888" y="1965960"/>
            <a:ext cx="1554480" cy="786384"/>
          </a:xfrm>
          <a:prstGeom prst="rect">
            <a:avLst/>
          </a:prstGeom>
          <a:noFill/>
          <a:ln/>
        </p:spPr>
        <p:txBody>
          <a:bodyPr wrap="square" lIns="0" tIns="0" rIns="0" bIns="0" rtlCol="0" anchor="ctr"/>
          <a:lstStyle/>
          <a:p>
            <a:pPr indent="0" marL="0">
              <a:buNone/>
            </a:pPr>
            <a:r>
              <a:rPr lang="en-US" sz="1600" b="1" dirty="0">
                <a:solidFill>
                  <a:srgbClr val="0F172A"/>
                </a:solidFill>
                <a:latin typeface="Bookman Old Style" pitchFamily="34" charset="0"/>
                <a:ea typeface="Bookman Old Style" pitchFamily="34" charset="-122"/>
                <a:cs typeface="Bookman Old Style" pitchFamily="34" charset="-120"/>
              </a:rPr>
              <a:t>Event</a:t>
            </a:r>
            <a:endParaRPr lang="en-US" sz="1600" dirty="0"/>
          </a:p>
        </p:txBody>
      </p:sp>
      <p:sp>
        <p:nvSpPr>
          <p:cNvPr id="9" name="Text 6"/>
          <p:cNvSpPr/>
          <p:nvPr/>
        </p:nvSpPr>
        <p:spPr>
          <a:xfrm>
            <a:off x="2926080" y="1965960"/>
            <a:ext cx="2286000" cy="786384"/>
          </a:xfrm>
          <a:prstGeom prst="rect">
            <a:avLst/>
          </a:prstGeom>
          <a:noFill/>
          <a:ln/>
        </p:spPr>
        <p:txBody>
          <a:bodyPr wrap="square" lIns="0" tIns="0" rIns="0" bIns="0" rtlCol="0" anchor="ctr"/>
          <a:lstStyle/>
          <a:p>
            <a:pPr indent="0" marL="0">
              <a:buNone/>
            </a:pPr>
            <a:r>
              <a:rPr lang="en-US" sz="1250" b="1" dirty="0">
                <a:solidFill>
                  <a:srgbClr val="F97316"/>
                </a:solidFill>
                <a:latin typeface="Calibri" pitchFamily="34" charset="0"/>
                <a:ea typeface="Calibri" pitchFamily="34" charset="-122"/>
                <a:cs typeface="Calibri" pitchFamily="34" charset="-120"/>
              </a:rPr>
              <a:t>What starts it</a:t>
            </a:r>
            <a:endParaRPr lang="en-US" sz="1250" dirty="0"/>
          </a:p>
        </p:txBody>
      </p:sp>
      <p:sp>
        <p:nvSpPr>
          <p:cNvPr id="10" name="Text 7"/>
          <p:cNvSpPr/>
          <p:nvPr/>
        </p:nvSpPr>
        <p:spPr>
          <a:xfrm>
            <a:off x="5212080" y="1965960"/>
            <a:ext cx="6793992" cy="786384"/>
          </a:xfrm>
          <a:prstGeom prst="rect">
            <a:avLst/>
          </a:prstGeom>
          <a:noFill/>
          <a:ln/>
        </p:spPr>
        <p:txBody>
          <a:bodyPr wrap="square" lIns="0" tIns="0" rIns="0" bIns="0" rtlCol="0" anchor="ctr"/>
          <a:lstStyle/>
          <a:p>
            <a:pPr indent="0" marL="0">
              <a:buNone/>
            </a:pPr>
            <a:r>
              <a:rPr lang="en-US" sz="1100" dirty="0">
                <a:solidFill>
                  <a:srgbClr val="1E293B"/>
                </a:solidFill>
                <a:latin typeface="Courier New" pitchFamily="34" charset="0"/>
                <a:ea typeface="Courier New" pitchFamily="34" charset="-122"/>
                <a:cs typeface="Courier New" pitchFamily="34" charset="-120"/>
              </a:rPr>
              <a:t>a push, a pull request, a tag, a schedule, a manual click</a:t>
            </a:r>
            <a:endParaRPr lang="en-US" sz="1100" dirty="0"/>
          </a:p>
        </p:txBody>
      </p:sp>
      <p:sp>
        <p:nvSpPr>
          <p:cNvPr id="11" name="Shape 8"/>
          <p:cNvSpPr/>
          <p:nvPr/>
        </p:nvSpPr>
        <p:spPr>
          <a:xfrm>
            <a:off x="896112" y="2834640"/>
            <a:ext cx="11036808" cy="786384"/>
          </a:xfrm>
          <a:prstGeom prst="roundRect">
            <a:avLst>
              <a:gd name="adj" fmla="val 8140"/>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12" name="Shape 9"/>
          <p:cNvSpPr/>
          <p:nvPr/>
        </p:nvSpPr>
        <p:spPr>
          <a:xfrm>
            <a:off x="1078992" y="2999232"/>
            <a:ext cx="457200" cy="457200"/>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1193292" y="3113532"/>
            <a:ext cx="228600" cy="228600"/>
          </a:xfrm>
          <a:prstGeom prst="rect">
            <a:avLst/>
          </a:prstGeom>
        </p:spPr>
      </p:pic>
      <p:sp>
        <p:nvSpPr>
          <p:cNvPr id="14" name="Text 10"/>
          <p:cNvSpPr/>
          <p:nvPr/>
        </p:nvSpPr>
        <p:spPr>
          <a:xfrm>
            <a:off x="1645920" y="2834640"/>
            <a:ext cx="1554480" cy="786384"/>
          </a:xfrm>
          <a:prstGeom prst="rect">
            <a:avLst/>
          </a:prstGeom>
          <a:noFill/>
          <a:ln/>
        </p:spPr>
        <p:txBody>
          <a:bodyPr wrap="square" lIns="0" tIns="0" rIns="0" bIns="0" rtlCol="0" anchor="ctr"/>
          <a:lstStyle/>
          <a:p>
            <a:pPr indent="0" marL="0">
              <a:buNone/>
            </a:pPr>
            <a:r>
              <a:rPr lang="en-US" sz="1600" b="1" dirty="0">
                <a:solidFill>
                  <a:srgbClr val="0F172A"/>
                </a:solidFill>
                <a:latin typeface="Bookman Old Style" pitchFamily="34" charset="0"/>
                <a:ea typeface="Bookman Old Style" pitchFamily="34" charset="-122"/>
                <a:cs typeface="Bookman Old Style" pitchFamily="34" charset="-120"/>
              </a:rPr>
              <a:t>Workflow</a:t>
            </a:r>
            <a:endParaRPr lang="en-US" sz="1600" dirty="0"/>
          </a:p>
        </p:txBody>
      </p:sp>
      <p:sp>
        <p:nvSpPr>
          <p:cNvPr id="15" name="Text 11"/>
          <p:cNvSpPr/>
          <p:nvPr/>
        </p:nvSpPr>
        <p:spPr>
          <a:xfrm>
            <a:off x="3182112" y="2834640"/>
            <a:ext cx="2286000" cy="786384"/>
          </a:xfrm>
          <a:prstGeom prst="rect">
            <a:avLst/>
          </a:prstGeom>
          <a:noFill/>
          <a:ln/>
        </p:spPr>
        <p:txBody>
          <a:bodyPr wrap="square" lIns="0" tIns="0" rIns="0" bIns="0" rtlCol="0" anchor="ctr"/>
          <a:lstStyle/>
          <a:p>
            <a:pPr indent="0" marL="0">
              <a:buNone/>
            </a:pPr>
            <a:r>
              <a:rPr lang="en-US" sz="1250" b="1" dirty="0">
                <a:solidFill>
                  <a:srgbClr val="0D9488"/>
                </a:solidFill>
                <a:latin typeface="Calibri" pitchFamily="34" charset="0"/>
                <a:ea typeface="Calibri" pitchFamily="34" charset="-122"/>
                <a:cs typeface="Calibri" pitchFamily="34" charset="-120"/>
              </a:rPr>
              <a:t>The whole pipeline</a:t>
            </a:r>
            <a:endParaRPr lang="en-US" sz="1250" dirty="0"/>
          </a:p>
        </p:txBody>
      </p:sp>
      <p:sp>
        <p:nvSpPr>
          <p:cNvPr id="16" name="Text 12"/>
          <p:cNvSpPr/>
          <p:nvPr/>
        </p:nvSpPr>
        <p:spPr>
          <a:xfrm>
            <a:off x="5468112" y="2834640"/>
            <a:ext cx="6281928" cy="786384"/>
          </a:xfrm>
          <a:prstGeom prst="rect">
            <a:avLst/>
          </a:prstGeom>
          <a:noFill/>
          <a:ln/>
        </p:spPr>
        <p:txBody>
          <a:bodyPr wrap="square" lIns="0" tIns="0" rIns="0" bIns="0" rtlCol="0" anchor="ctr"/>
          <a:lstStyle/>
          <a:p>
            <a:pPr indent="0" marL="0">
              <a:buNone/>
            </a:pPr>
            <a:r>
              <a:rPr lang="en-US" sz="1100" dirty="0">
                <a:solidFill>
                  <a:srgbClr val="1E293B"/>
                </a:solidFill>
                <a:latin typeface="Courier New" pitchFamily="34" charset="0"/>
                <a:ea typeface="Courier New" pitchFamily="34" charset="-122"/>
                <a:cs typeface="Courier New" pitchFamily="34" charset="-120"/>
              </a:rPr>
              <a:t>one .yml file in .github/workflows/, triggered by events</a:t>
            </a:r>
            <a:endParaRPr lang="en-US" sz="1100" dirty="0"/>
          </a:p>
        </p:txBody>
      </p:sp>
      <p:sp>
        <p:nvSpPr>
          <p:cNvPr id="17" name="Shape 13"/>
          <p:cNvSpPr/>
          <p:nvPr/>
        </p:nvSpPr>
        <p:spPr>
          <a:xfrm>
            <a:off x="1152144" y="3703320"/>
            <a:ext cx="10524744" cy="786384"/>
          </a:xfrm>
          <a:prstGeom prst="roundRect">
            <a:avLst>
              <a:gd name="adj" fmla="val 8140"/>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18" name="Shape 14"/>
          <p:cNvSpPr/>
          <p:nvPr/>
        </p:nvSpPr>
        <p:spPr>
          <a:xfrm>
            <a:off x="1335024" y="3867912"/>
            <a:ext cx="457200" cy="457200"/>
          </a:xfrm>
          <a:prstGeom prst="ellipse">
            <a:avLst/>
          </a:prstGeom>
          <a:solidFill>
            <a:srgbClr val="334155"/>
          </a:solidFill>
          <a:ln/>
        </p:spPr>
      </p:sp>
      <p:pic>
        <p:nvPicPr>
          <p:cNvPr id="19" name="Image 2" descr="preencoded.png">    </p:cNvPr>
          <p:cNvPicPr>
            <a:picLocks noChangeAspect="1"/>
          </p:cNvPicPr>
          <p:nvPr/>
        </p:nvPicPr>
        <p:blipFill>
          <a:blip r:embed="rId3"/>
          <a:stretch>
            <a:fillRect/>
          </a:stretch>
        </p:blipFill>
        <p:spPr>
          <a:xfrm>
            <a:off x="1449324" y="3982212"/>
            <a:ext cx="228600" cy="228600"/>
          </a:xfrm>
          <a:prstGeom prst="rect">
            <a:avLst/>
          </a:prstGeom>
        </p:spPr>
      </p:pic>
      <p:sp>
        <p:nvSpPr>
          <p:cNvPr id="20" name="Text 15"/>
          <p:cNvSpPr/>
          <p:nvPr/>
        </p:nvSpPr>
        <p:spPr>
          <a:xfrm>
            <a:off x="1901952" y="3703320"/>
            <a:ext cx="1554480" cy="786384"/>
          </a:xfrm>
          <a:prstGeom prst="rect">
            <a:avLst/>
          </a:prstGeom>
          <a:noFill/>
          <a:ln/>
        </p:spPr>
        <p:txBody>
          <a:bodyPr wrap="square" lIns="0" tIns="0" rIns="0" bIns="0" rtlCol="0" anchor="ctr"/>
          <a:lstStyle/>
          <a:p>
            <a:pPr indent="0" marL="0">
              <a:buNone/>
            </a:pPr>
            <a:r>
              <a:rPr lang="en-US" sz="1600" b="1" dirty="0">
                <a:solidFill>
                  <a:srgbClr val="0F172A"/>
                </a:solidFill>
                <a:latin typeface="Bookman Old Style" pitchFamily="34" charset="0"/>
                <a:ea typeface="Bookman Old Style" pitchFamily="34" charset="-122"/>
                <a:cs typeface="Bookman Old Style" pitchFamily="34" charset="-120"/>
              </a:rPr>
              <a:t>Job</a:t>
            </a:r>
            <a:endParaRPr lang="en-US" sz="1600" dirty="0"/>
          </a:p>
        </p:txBody>
      </p:sp>
      <p:sp>
        <p:nvSpPr>
          <p:cNvPr id="21" name="Text 16"/>
          <p:cNvSpPr/>
          <p:nvPr/>
        </p:nvSpPr>
        <p:spPr>
          <a:xfrm>
            <a:off x="3438144" y="3703320"/>
            <a:ext cx="2286000" cy="786384"/>
          </a:xfrm>
          <a:prstGeom prst="rect">
            <a:avLst/>
          </a:prstGeom>
          <a:noFill/>
          <a:ln/>
        </p:spPr>
        <p:txBody>
          <a:bodyPr wrap="square" lIns="0" tIns="0" rIns="0" bIns="0" rtlCol="0" anchor="ctr"/>
          <a:lstStyle/>
          <a:p>
            <a:pPr indent="0" marL="0">
              <a:buNone/>
            </a:pPr>
            <a:r>
              <a:rPr lang="en-US" sz="1250" b="1" dirty="0">
                <a:solidFill>
                  <a:srgbClr val="334155"/>
                </a:solidFill>
                <a:latin typeface="Calibri" pitchFamily="34" charset="0"/>
                <a:ea typeface="Calibri" pitchFamily="34" charset="-122"/>
                <a:cs typeface="Calibri" pitchFamily="34" charset="-120"/>
              </a:rPr>
              <a:t>Runs on one runner</a:t>
            </a:r>
            <a:endParaRPr lang="en-US" sz="1250" dirty="0"/>
          </a:p>
        </p:txBody>
      </p:sp>
      <p:sp>
        <p:nvSpPr>
          <p:cNvPr id="22" name="Text 17"/>
          <p:cNvSpPr/>
          <p:nvPr/>
        </p:nvSpPr>
        <p:spPr>
          <a:xfrm>
            <a:off x="5724144" y="3703320"/>
            <a:ext cx="5769864" cy="786384"/>
          </a:xfrm>
          <a:prstGeom prst="rect">
            <a:avLst/>
          </a:prstGeom>
          <a:noFill/>
          <a:ln/>
        </p:spPr>
        <p:txBody>
          <a:bodyPr wrap="square" lIns="0" tIns="0" rIns="0" bIns="0" rtlCol="0" anchor="ctr"/>
          <a:lstStyle/>
          <a:p>
            <a:pPr indent="0" marL="0">
              <a:buNone/>
            </a:pPr>
            <a:r>
              <a:rPr lang="en-US" sz="1100" dirty="0">
                <a:solidFill>
                  <a:srgbClr val="1E293B"/>
                </a:solidFill>
                <a:latin typeface="Courier New" pitchFamily="34" charset="0"/>
                <a:ea typeface="Courier New" pitchFamily="34" charset="-122"/>
                <a:cs typeface="Courier New" pitchFamily="34" charset="-120"/>
              </a:rPr>
              <a:t>a fresh VM; jobs run in parallel unless you chain them with needs</a:t>
            </a:r>
            <a:endParaRPr lang="en-US" sz="1100" dirty="0"/>
          </a:p>
        </p:txBody>
      </p:sp>
      <p:sp>
        <p:nvSpPr>
          <p:cNvPr id="23" name="Shape 18"/>
          <p:cNvSpPr/>
          <p:nvPr/>
        </p:nvSpPr>
        <p:spPr>
          <a:xfrm>
            <a:off x="1408176" y="4572000"/>
            <a:ext cx="10012680" cy="786384"/>
          </a:xfrm>
          <a:prstGeom prst="roundRect">
            <a:avLst>
              <a:gd name="adj" fmla="val 8140"/>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24" name="Shape 19"/>
          <p:cNvSpPr/>
          <p:nvPr/>
        </p:nvSpPr>
        <p:spPr>
          <a:xfrm>
            <a:off x="1591056" y="4736592"/>
            <a:ext cx="457200" cy="457200"/>
          </a:xfrm>
          <a:prstGeom prst="ellipse">
            <a:avLst/>
          </a:prstGeom>
          <a:solidFill>
            <a:srgbClr val="0F766E"/>
          </a:solidFill>
          <a:ln/>
        </p:spPr>
      </p:sp>
      <p:pic>
        <p:nvPicPr>
          <p:cNvPr id="25" name="Image 3" descr="preencoded.png">    </p:cNvPr>
          <p:cNvPicPr>
            <a:picLocks noChangeAspect="1"/>
          </p:cNvPicPr>
          <p:nvPr/>
        </p:nvPicPr>
        <p:blipFill>
          <a:blip r:embed="rId4"/>
          <a:stretch>
            <a:fillRect/>
          </a:stretch>
        </p:blipFill>
        <p:spPr>
          <a:xfrm>
            <a:off x="1705356" y="4850892"/>
            <a:ext cx="228600" cy="228600"/>
          </a:xfrm>
          <a:prstGeom prst="rect">
            <a:avLst/>
          </a:prstGeom>
        </p:spPr>
      </p:pic>
      <p:sp>
        <p:nvSpPr>
          <p:cNvPr id="26" name="Text 20"/>
          <p:cNvSpPr/>
          <p:nvPr/>
        </p:nvSpPr>
        <p:spPr>
          <a:xfrm>
            <a:off x="2157984" y="4572000"/>
            <a:ext cx="1554480" cy="786384"/>
          </a:xfrm>
          <a:prstGeom prst="rect">
            <a:avLst/>
          </a:prstGeom>
          <a:noFill/>
          <a:ln/>
        </p:spPr>
        <p:txBody>
          <a:bodyPr wrap="square" lIns="0" tIns="0" rIns="0" bIns="0" rtlCol="0" anchor="ctr"/>
          <a:lstStyle/>
          <a:p>
            <a:pPr indent="0" marL="0">
              <a:buNone/>
            </a:pPr>
            <a:r>
              <a:rPr lang="en-US" sz="1600" b="1" dirty="0">
                <a:solidFill>
                  <a:srgbClr val="0F172A"/>
                </a:solidFill>
                <a:latin typeface="Bookman Old Style" pitchFamily="34" charset="0"/>
                <a:ea typeface="Bookman Old Style" pitchFamily="34" charset="-122"/>
                <a:cs typeface="Bookman Old Style" pitchFamily="34" charset="-120"/>
              </a:rPr>
              <a:t>Step</a:t>
            </a:r>
            <a:endParaRPr lang="en-US" sz="1600" dirty="0"/>
          </a:p>
        </p:txBody>
      </p:sp>
      <p:sp>
        <p:nvSpPr>
          <p:cNvPr id="27" name="Text 21"/>
          <p:cNvSpPr/>
          <p:nvPr/>
        </p:nvSpPr>
        <p:spPr>
          <a:xfrm>
            <a:off x="3694176" y="4572000"/>
            <a:ext cx="2286000" cy="786384"/>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One task in a job</a:t>
            </a:r>
            <a:endParaRPr lang="en-US" sz="1250" dirty="0"/>
          </a:p>
        </p:txBody>
      </p:sp>
      <p:sp>
        <p:nvSpPr>
          <p:cNvPr id="28" name="Text 22"/>
          <p:cNvSpPr/>
          <p:nvPr/>
        </p:nvSpPr>
        <p:spPr>
          <a:xfrm>
            <a:off x="5980176" y="4572000"/>
            <a:ext cx="5257800" cy="786384"/>
          </a:xfrm>
          <a:prstGeom prst="rect">
            <a:avLst/>
          </a:prstGeom>
          <a:noFill/>
          <a:ln/>
        </p:spPr>
        <p:txBody>
          <a:bodyPr wrap="square" lIns="0" tIns="0" rIns="0" bIns="0" rtlCol="0" anchor="ctr"/>
          <a:lstStyle/>
          <a:p>
            <a:pPr indent="0" marL="0">
              <a:buNone/>
            </a:pPr>
            <a:r>
              <a:rPr lang="en-US" sz="1100" dirty="0">
                <a:solidFill>
                  <a:srgbClr val="1E293B"/>
                </a:solidFill>
                <a:latin typeface="Courier New" pitchFamily="34" charset="0"/>
                <a:ea typeface="Courier New" pitchFamily="34" charset="-122"/>
                <a:cs typeface="Courier New" pitchFamily="34" charset="-120"/>
              </a:rPr>
              <a:t>run a shell command, or use a prebuilt action</a:t>
            </a:r>
            <a:endParaRPr lang="en-US" sz="1100" dirty="0"/>
          </a:p>
        </p:txBody>
      </p:sp>
      <p:sp>
        <p:nvSpPr>
          <p:cNvPr id="29" name="Shape 23"/>
          <p:cNvSpPr/>
          <p:nvPr/>
        </p:nvSpPr>
        <p:spPr>
          <a:xfrm>
            <a:off x="1664208" y="5440680"/>
            <a:ext cx="9500616" cy="786384"/>
          </a:xfrm>
          <a:prstGeom prst="roundRect">
            <a:avLst>
              <a:gd name="adj" fmla="val 8140"/>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30" name="Shape 24"/>
          <p:cNvSpPr/>
          <p:nvPr/>
        </p:nvSpPr>
        <p:spPr>
          <a:xfrm>
            <a:off x="1847088" y="5605272"/>
            <a:ext cx="457200" cy="457200"/>
          </a:xfrm>
          <a:prstGeom prst="ellipse">
            <a:avLst/>
          </a:prstGeom>
          <a:solidFill>
            <a:srgbClr val="2496ED"/>
          </a:solidFill>
          <a:ln/>
        </p:spPr>
      </p:sp>
      <p:pic>
        <p:nvPicPr>
          <p:cNvPr id="31" name="Image 4" descr="preencoded.png">    </p:cNvPr>
          <p:cNvPicPr>
            <a:picLocks noChangeAspect="1"/>
          </p:cNvPicPr>
          <p:nvPr/>
        </p:nvPicPr>
        <p:blipFill>
          <a:blip r:embed="rId5"/>
          <a:stretch>
            <a:fillRect/>
          </a:stretch>
        </p:blipFill>
        <p:spPr>
          <a:xfrm>
            <a:off x="1961388" y="5719572"/>
            <a:ext cx="228600" cy="228600"/>
          </a:xfrm>
          <a:prstGeom prst="rect">
            <a:avLst/>
          </a:prstGeom>
        </p:spPr>
      </p:pic>
      <p:sp>
        <p:nvSpPr>
          <p:cNvPr id="32" name="Text 25"/>
          <p:cNvSpPr/>
          <p:nvPr/>
        </p:nvSpPr>
        <p:spPr>
          <a:xfrm>
            <a:off x="2414016" y="5440680"/>
            <a:ext cx="1554480" cy="786384"/>
          </a:xfrm>
          <a:prstGeom prst="rect">
            <a:avLst/>
          </a:prstGeom>
          <a:noFill/>
          <a:ln/>
        </p:spPr>
        <p:txBody>
          <a:bodyPr wrap="square" lIns="0" tIns="0" rIns="0" bIns="0" rtlCol="0" anchor="ctr"/>
          <a:lstStyle/>
          <a:p>
            <a:pPr indent="0" marL="0">
              <a:buNone/>
            </a:pPr>
            <a:r>
              <a:rPr lang="en-US" sz="1600" b="1" dirty="0">
                <a:solidFill>
                  <a:srgbClr val="0F172A"/>
                </a:solidFill>
                <a:latin typeface="Bookman Old Style" pitchFamily="34" charset="0"/>
                <a:ea typeface="Bookman Old Style" pitchFamily="34" charset="-122"/>
                <a:cs typeface="Bookman Old Style" pitchFamily="34" charset="-120"/>
              </a:rPr>
              <a:t>Action</a:t>
            </a:r>
            <a:endParaRPr lang="en-US" sz="1600" dirty="0"/>
          </a:p>
        </p:txBody>
      </p:sp>
      <p:sp>
        <p:nvSpPr>
          <p:cNvPr id="33" name="Text 26"/>
          <p:cNvSpPr/>
          <p:nvPr/>
        </p:nvSpPr>
        <p:spPr>
          <a:xfrm>
            <a:off x="3950208" y="5440680"/>
            <a:ext cx="2286000" cy="786384"/>
          </a:xfrm>
          <a:prstGeom prst="rect">
            <a:avLst/>
          </a:prstGeom>
          <a:noFill/>
          <a:ln/>
        </p:spPr>
        <p:txBody>
          <a:bodyPr wrap="square" lIns="0" tIns="0" rIns="0" bIns="0" rtlCol="0" anchor="ctr"/>
          <a:lstStyle/>
          <a:p>
            <a:pPr indent="0" marL="0">
              <a:buNone/>
            </a:pPr>
            <a:r>
              <a:rPr lang="en-US" sz="1250" b="1" dirty="0">
                <a:solidFill>
                  <a:srgbClr val="2496ED"/>
                </a:solidFill>
                <a:latin typeface="Calibri" pitchFamily="34" charset="0"/>
                <a:ea typeface="Calibri" pitchFamily="34" charset="-122"/>
                <a:cs typeface="Calibri" pitchFamily="34" charset="-120"/>
              </a:rPr>
              <a:t>A reusable step</a:t>
            </a:r>
            <a:endParaRPr lang="en-US" sz="1250" dirty="0"/>
          </a:p>
        </p:txBody>
      </p:sp>
      <p:sp>
        <p:nvSpPr>
          <p:cNvPr id="34" name="Text 27"/>
          <p:cNvSpPr/>
          <p:nvPr/>
        </p:nvSpPr>
        <p:spPr>
          <a:xfrm>
            <a:off x="6236208" y="5440680"/>
            <a:ext cx="4745736" cy="786384"/>
          </a:xfrm>
          <a:prstGeom prst="rect">
            <a:avLst/>
          </a:prstGeom>
          <a:noFill/>
          <a:ln/>
        </p:spPr>
        <p:txBody>
          <a:bodyPr wrap="square" lIns="0" tIns="0" rIns="0" bIns="0" rtlCol="0" anchor="ctr"/>
          <a:lstStyle/>
          <a:p>
            <a:pPr indent="0" marL="0">
              <a:buNone/>
            </a:pPr>
            <a:r>
              <a:rPr lang="en-US" sz="1100" dirty="0">
                <a:solidFill>
                  <a:srgbClr val="1E293B"/>
                </a:solidFill>
                <a:latin typeface="Courier New" pitchFamily="34" charset="0"/>
                <a:ea typeface="Courier New" pitchFamily="34" charset="-122"/>
                <a:cs typeface="Courier New" pitchFamily="34" charset="-120"/>
              </a:rPr>
              <a:t>packaged logic you call, e.g. actions/checkout@v4</a:t>
            </a:r>
            <a:endParaRPr lang="en-US" sz="1100" dirty="0"/>
          </a:p>
        </p:txBody>
      </p:sp>
      <p:sp>
        <p:nvSpPr>
          <p:cNvPr id="36" name="Text 28"/>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7" name="Text 29"/>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READING A WORKFLOW</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Your first workflow, annotated</a:t>
            </a:r>
            <a:endParaRPr lang="en-US" sz="3000" dirty="0"/>
          </a:p>
        </p:txBody>
      </p:sp>
      <p:sp>
        <p:nvSpPr>
          <p:cNvPr id="4" name="Shape 2"/>
          <p:cNvSpPr/>
          <p:nvPr/>
        </p:nvSpPr>
        <p:spPr>
          <a:xfrm>
            <a:off x="685800" y="1600200"/>
            <a:ext cx="420624" cy="420624"/>
          </a:xfrm>
          <a:prstGeom prst="ellipse">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795528" y="1709928"/>
            <a:ext cx="201168" cy="201168"/>
          </a:xfrm>
          <a:prstGeom prst="rect">
            <a:avLst/>
          </a:prstGeom>
        </p:spPr>
      </p:pic>
      <p:sp>
        <p:nvSpPr>
          <p:cNvPr id="6" name="Text 3"/>
          <p:cNvSpPr/>
          <p:nvPr/>
        </p:nvSpPr>
        <p:spPr>
          <a:xfrm>
            <a:off x="1234440" y="1545336"/>
            <a:ext cx="3840480" cy="274320"/>
          </a:xfrm>
          <a:prstGeom prst="rect">
            <a:avLst/>
          </a:prstGeom>
          <a:noFill/>
          <a:ln/>
        </p:spPr>
        <p:txBody>
          <a:bodyPr wrap="square" lIns="0" tIns="0" rIns="0" bIns="0" rtlCol="0" anchor="ctr"/>
          <a:lstStyle/>
          <a:p>
            <a:pPr indent="0" marL="0">
              <a:buNone/>
            </a:pPr>
            <a:r>
              <a:rPr lang="en-US" sz="1300" b="1" dirty="0">
                <a:solidFill>
                  <a:srgbClr val="0F766E"/>
                </a:solidFill>
                <a:latin typeface="Courier New" pitchFamily="34" charset="0"/>
                <a:ea typeface="Courier New" pitchFamily="34" charset="-122"/>
                <a:cs typeface="Courier New" pitchFamily="34" charset="-120"/>
              </a:rPr>
              <a:t>name</a:t>
            </a:r>
            <a:endParaRPr lang="en-US" sz="1300" dirty="0"/>
          </a:p>
        </p:txBody>
      </p:sp>
      <p:sp>
        <p:nvSpPr>
          <p:cNvPr id="7" name="Text 4"/>
          <p:cNvSpPr/>
          <p:nvPr/>
        </p:nvSpPr>
        <p:spPr>
          <a:xfrm>
            <a:off x="1234440" y="1819656"/>
            <a:ext cx="39776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A human label shown in the Actions tab.</a:t>
            </a:r>
            <a:endParaRPr lang="en-US" sz="1150" dirty="0"/>
          </a:p>
        </p:txBody>
      </p:sp>
      <p:sp>
        <p:nvSpPr>
          <p:cNvPr id="8" name="Shape 5"/>
          <p:cNvSpPr/>
          <p:nvPr/>
        </p:nvSpPr>
        <p:spPr>
          <a:xfrm>
            <a:off x="685800" y="2450592"/>
            <a:ext cx="420624" cy="420624"/>
          </a:xfrm>
          <a:prstGeom prst="ellipse">
            <a:avLst/>
          </a:prstGeom>
          <a:solidFill>
            <a:srgbClr val="0D9488"/>
          </a:solidFill>
          <a:ln/>
        </p:spPr>
      </p:sp>
      <p:pic>
        <p:nvPicPr>
          <p:cNvPr id="9" name="Image 1" descr="preencoded.png">    </p:cNvPr>
          <p:cNvPicPr>
            <a:picLocks noChangeAspect="1"/>
          </p:cNvPicPr>
          <p:nvPr/>
        </p:nvPicPr>
        <p:blipFill>
          <a:blip r:embed="rId2"/>
          <a:stretch>
            <a:fillRect/>
          </a:stretch>
        </p:blipFill>
        <p:spPr>
          <a:xfrm>
            <a:off x="795528" y="2560320"/>
            <a:ext cx="201168" cy="201168"/>
          </a:xfrm>
          <a:prstGeom prst="rect">
            <a:avLst/>
          </a:prstGeom>
        </p:spPr>
      </p:pic>
      <p:sp>
        <p:nvSpPr>
          <p:cNvPr id="10" name="Text 6"/>
          <p:cNvSpPr/>
          <p:nvPr/>
        </p:nvSpPr>
        <p:spPr>
          <a:xfrm>
            <a:off x="1234440" y="2395728"/>
            <a:ext cx="3840480" cy="274320"/>
          </a:xfrm>
          <a:prstGeom prst="rect">
            <a:avLst/>
          </a:prstGeom>
          <a:noFill/>
          <a:ln/>
        </p:spPr>
        <p:txBody>
          <a:bodyPr wrap="square" lIns="0" tIns="0" rIns="0" bIns="0" rtlCol="0" anchor="ctr"/>
          <a:lstStyle/>
          <a:p>
            <a:pPr indent="0" marL="0">
              <a:buNone/>
            </a:pPr>
            <a:r>
              <a:rPr lang="en-US" sz="1300" b="1" dirty="0">
                <a:solidFill>
                  <a:srgbClr val="0F766E"/>
                </a:solidFill>
                <a:latin typeface="Courier New" pitchFamily="34" charset="0"/>
                <a:ea typeface="Courier New" pitchFamily="34" charset="-122"/>
                <a:cs typeface="Courier New" pitchFamily="34" charset="-120"/>
              </a:rPr>
              <a:t>on</a:t>
            </a:r>
            <a:endParaRPr lang="en-US" sz="1300" dirty="0"/>
          </a:p>
        </p:txBody>
      </p:sp>
      <p:sp>
        <p:nvSpPr>
          <p:cNvPr id="11" name="Text 7"/>
          <p:cNvSpPr/>
          <p:nvPr/>
        </p:nvSpPr>
        <p:spPr>
          <a:xfrm>
            <a:off x="1234440" y="2670048"/>
            <a:ext cx="39776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The event(s) that trigger this run.</a:t>
            </a:r>
            <a:endParaRPr lang="en-US" sz="1150" dirty="0"/>
          </a:p>
        </p:txBody>
      </p:sp>
      <p:sp>
        <p:nvSpPr>
          <p:cNvPr id="12" name="Shape 8"/>
          <p:cNvSpPr/>
          <p:nvPr/>
        </p:nvSpPr>
        <p:spPr>
          <a:xfrm>
            <a:off x="685800" y="3300984"/>
            <a:ext cx="420624" cy="420624"/>
          </a:xfrm>
          <a:prstGeom prst="ellipse">
            <a:avLst/>
          </a:prstGeom>
          <a:solidFill>
            <a:srgbClr val="0D9488"/>
          </a:solidFill>
          <a:ln/>
        </p:spPr>
      </p:sp>
      <p:pic>
        <p:nvPicPr>
          <p:cNvPr id="13" name="Image 2" descr="preencoded.png">    </p:cNvPr>
          <p:cNvPicPr>
            <a:picLocks noChangeAspect="1"/>
          </p:cNvPicPr>
          <p:nvPr/>
        </p:nvPicPr>
        <p:blipFill>
          <a:blip r:embed="rId3"/>
          <a:stretch>
            <a:fillRect/>
          </a:stretch>
        </p:blipFill>
        <p:spPr>
          <a:xfrm>
            <a:off x="795528" y="3410712"/>
            <a:ext cx="201168" cy="201168"/>
          </a:xfrm>
          <a:prstGeom prst="rect">
            <a:avLst/>
          </a:prstGeom>
        </p:spPr>
      </p:pic>
      <p:sp>
        <p:nvSpPr>
          <p:cNvPr id="14" name="Text 9"/>
          <p:cNvSpPr/>
          <p:nvPr/>
        </p:nvSpPr>
        <p:spPr>
          <a:xfrm>
            <a:off x="1234440" y="3246120"/>
            <a:ext cx="3840480" cy="274320"/>
          </a:xfrm>
          <a:prstGeom prst="rect">
            <a:avLst/>
          </a:prstGeom>
          <a:noFill/>
          <a:ln/>
        </p:spPr>
        <p:txBody>
          <a:bodyPr wrap="square" lIns="0" tIns="0" rIns="0" bIns="0" rtlCol="0" anchor="ctr"/>
          <a:lstStyle/>
          <a:p>
            <a:pPr indent="0" marL="0">
              <a:buNone/>
            </a:pPr>
            <a:r>
              <a:rPr lang="en-US" sz="1300" b="1" dirty="0">
                <a:solidFill>
                  <a:srgbClr val="0F766E"/>
                </a:solidFill>
                <a:latin typeface="Courier New" pitchFamily="34" charset="0"/>
                <a:ea typeface="Courier New" pitchFamily="34" charset="-122"/>
                <a:cs typeface="Courier New" pitchFamily="34" charset="-120"/>
              </a:rPr>
              <a:t>jobs</a:t>
            </a:r>
            <a:endParaRPr lang="en-US" sz="1300" dirty="0"/>
          </a:p>
        </p:txBody>
      </p:sp>
      <p:sp>
        <p:nvSpPr>
          <p:cNvPr id="15" name="Text 10"/>
          <p:cNvSpPr/>
          <p:nvPr/>
        </p:nvSpPr>
        <p:spPr>
          <a:xfrm>
            <a:off x="1234440" y="3520440"/>
            <a:ext cx="39776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One or more jobs; each gets a runner.</a:t>
            </a:r>
            <a:endParaRPr lang="en-US" sz="1150" dirty="0"/>
          </a:p>
        </p:txBody>
      </p:sp>
      <p:sp>
        <p:nvSpPr>
          <p:cNvPr id="16" name="Shape 11"/>
          <p:cNvSpPr/>
          <p:nvPr/>
        </p:nvSpPr>
        <p:spPr>
          <a:xfrm>
            <a:off x="685800" y="4151376"/>
            <a:ext cx="420624" cy="420624"/>
          </a:xfrm>
          <a:prstGeom prst="ellipse">
            <a:avLst/>
          </a:prstGeom>
          <a:solidFill>
            <a:srgbClr val="0D9488"/>
          </a:solidFill>
          <a:ln/>
        </p:spPr>
      </p:sp>
      <p:pic>
        <p:nvPicPr>
          <p:cNvPr id="17" name="Image 3" descr="preencoded.png">    </p:cNvPr>
          <p:cNvPicPr>
            <a:picLocks noChangeAspect="1"/>
          </p:cNvPicPr>
          <p:nvPr/>
        </p:nvPicPr>
        <p:blipFill>
          <a:blip r:embed="rId4"/>
          <a:stretch>
            <a:fillRect/>
          </a:stretch>
        </p:blipFill>
        <p:spPr>
          <a:xfrm>
            <a:off x="795528" y="4261104"/>
            <a:ext cx="201168" cy="201168"/>
          </a:xfrm>
          <a:prstGeom prst="rect">
            <a:avLst/>
          </a:prstGeom>
        </p:spPr>
      </p:pic>
      <p:sp>
        <p:nvSpPr>
          <p:cNvPr id="18" name="Text 12"/>
          <p:cNvSpPr/>
          <p:nvPr/>
        </p:nvSpPr>
        <p:spPr>
          <a:xfrm>
            <a:off x="1234440" y="4096512"/>
            <a:ext cx="3840480" cy="274320"/>
          </a:xfrm>
          <a:prstGeom prst="rect">
            <a:avLst/>
          </a:prstGeom>
          <a:noFill/>
          <a:ln/>
        </p:spPr>
        <p:txBody>
          <a:bodyPr wrap="square" lIns="0" tIns="0" rIns="0" bIns="0" rtlCol="0" anchor="ctr"/>
          <a:lstStyle/>
          <a:p>
            <a:pPr indent="0" marL="0">
              <a:buNone/>
            </a:pPr>
            <a:r>
              <a:rPr lang="en-US" sz="1300" b="1" dirty="0">
                <a:solidFill>
                  <a:srgbClr val="0F766E"/>
                </a:solidFill>
                <a:latin typeface="Courier New" pitchFamily="34" charset="0"/>
                <a:ea typeface="Courier New" pitchFamily="34" charset="-122"/>
                <a:cs typeface="Courier New" pitchFamily="34" charset="-120"/>
              </a:rPr>
              <a:t>runs-on</a:t>
            </a:r>
            <a:endParaRPr lang="en-US" sz="1300" dirty="0"/>
          </a:p>
        </p:txBody>
      </p:sp>
      <p:sp>
        <p:nvSpPr>
          <p:cNvPr id="19" name="Text 13"/>
          <p:cNvSpPr/>
          <p:nvPr/>
        </p:nvSpPr>
        <p:spPr>
          <a:xfrm>
            <a:off x="1234440" y="4370832"/>
            <a:ext cx="39776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Which OS image the job runs on.</a:t>
            </a:r>
            <a:endParaRPr lang="en-US" sz="1150" dirty="0"/>
          </a:p>
        </p:txBody>
      </p:sp>
      <p:sp>
        <p:nvSpPr>
          <p:cNvPr id="20" name="Shape 14"/>
          <p:cNvSpPr/>
          <p:nvPr/>
        </p:nvSpPr>
        <p:spPr>
          <a:xfrm>
            <a:off x="685800" y="5001768"/>
            <a:ext cx="420624" cy="420624"/>
          </a:xfrm>
          <a:prstGeom prst="ellipse">
            <a:avLst/>
          </a:prstGeom>
          <a:solidFill>
            <a:srgbClr val="0D9488"/>
          </a:solidFill>
          <a:ln/>
        </p:spPr>
      </p:sp>
      <p:pic>
        <p:nvPicPr>
          <p:cNvPr id="21" name="Image 4" descr="preencoded.png">    </p:cNvPr>
          <p:cNvPicPr>
            <a:picLocks noChangeAspect="1"/>
          </p:cNvPicPr>
          <p:nvPr/>
        </p:nvPicPr>
        <p:blipFill>
          <a:blip r:embed="rId5"/>
          <a:stretch>
            <a:fillRect/>
          </a:stretch>
        </p:blipFill>
        <p:spPr>
          <a:xfrm>
            <a:off x="795528" y="5111496"/>
            <a:ext cx="201168" cy="201168"/>
          </a:xfrm>
          <a:prstGeom prst="rect">
            <a:avLst/>
          </a:prstGeom>
        </p:spPr>
      </p:pic>
      <p:sp>
        <p:nvSpPr>
          <p:cNvPr id="22" name="Text 15"/>
          <p:cNvSpPr/>
          <p:nvPr/>
        </p:nvSpPr>
        <p:spPr>
          <a:xfrm>
            <a:off x="1234440" y="4946904"/>
            <a:ext cx="3840480" cy="274320"/>
          </a:xfrm>
          <a:prstGeom prst="rect">
            <a:avLst/>
          </a:prstGeom>
          <a:noFill/>
          <a:ln/>
        </p:spPr>
        <p:txBody>
          <a:bodyPr wrap="square" lIns="0" tIns="0" rIns="0" bIns="0" rtlCol="0" anchor="ctr"/>
          <a:lstStyle/>
          <a:p>
            <a:pPr indent="0" marL="0">
              <a:buNone/>
            </a:pPr>
            <a:r>
              <a:rPr lang="en-US" sz="1300" b="1" dirty="0">
                <a:solidFill>
                  <a:srgbClr val="0F766E"/>
                </a:solidFill>
                <a:latin typeface="Courier New" pitchFamily="34" charset="0"/>
                <a:ea typeface="Courier New" pitchFamily="34" charset="-122"/>
                <a:cs typeface="Courier New" pitchFamily="34" charset="-120"/>
              </a:rPr>
              <a:t>steps</a:t>
            </a:r>
            <a:endParaRPr lang="en-US" sz="1300" dirty="0"/>
          </a:p>
        </p:txBody>
      </p:sp>
      <p:sp>
        <p:nvSpPr>
          <p:cNvPr id="23" name="Text 16"/>
          <p:cNvSpPr/>
          <p:nvPr/>
        </p:nvSpPr>
        <p:spPr>
          <a:xfrm>
            <a:off x="1234440" y="5221224"/>
            <a:ext cx="39776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Ordered tasks: uses an action or runs a command.</a:t>
            </a:r>
            <a:endParaRPr lang="en-US" sz="1150" dirty="0"/>
          </a:p>
        </p:txBody>
      </p:sp>
      <p:sp>
        <p:nvSpPr>
          <p:cNvPr id="24" name="Shape 17"/>
          <p:cNvSpPr/>
          <p:nvPr/>
        </p:nvSpPr>
        <p:spPr>
          <a:xfrm>
            <a:off x="5440680" y="1417320"/>
            <a:ext cx="6108192" cy="4892040"/>
          </a:xfrm>
          <a:prstGeom prst="roundRect">
            <a:avLst>
              <a:gd name="adj" fmla="val 1495"/>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25" name="Shape 18"/>
          <p:cNvSpPr/>
          <p:nvPr/>
        </p:nvSpPr>
        <p:spPr>
          <a:xfrm>
            <a:off x="5696712" y="1636776"/>
            <a:ext cx="109728" cy="109728"/>
          </a:xfrm>
          <a:prstGeom prst="ellipse">
            <a:avLst/>
          </a:prstGeom>
          <a:solidFill>
            <a:srgbClr val="EF4444"/>
          </a:solidFill>
          <a:ln/>
        </p:spPr>
      </p:sp>
      <p:sp>
        <p:nvSpPr>
          <p:cNvPr id="26" name="Shape 19"/>
          <p:cNvSpPr/>
          <p:nvPr/>
        </p:nvSpPr>
        <p:spPr>
          <a:xfrm>
            <a:off x="5916168" y="1636776"/>
            <a:ext cx="109728" cy="109728"/>
          </a:xfrm>
          <a:prstGeom prst="ellipse">
            <a:avLst/>
          </a:prstGeom>
          <a:solidFill>
            <a:srgbClr val="F59E0B"/>
          </a:solidFill>
          <a:ln/>
        </p:spPr>
      </p:sp>
      <p:sp>
        <p:nvSpPr>
          <p:cNvPr id="27" name="Shape 20"/>
          <p:cNvSpPr/>
          <p:nvPr/>
        </p:nvSpPr>
        <p:spPr>
          <a:xfrm>
            <a:off x="6135624" y="1636776"/>
            <a:ext cx="109728" cy="109728"/>
          </a:xfrm>
          <a:prstGeom prst="ellipse">
            <a:avLst/>
          </a:prstGeom>
          <a:solidFill>
            <a:srgbClr val="22C55E"/>
          </a:solidFill>
          <a:ln/>
        </p:spPr>
      </p:sp>
      <p:sp>
        <p:nvSpPr>
          <p:cNvPr id="28" name="Text 21"/>
          <p:cNvSpPr/>
          <p:nvPr/>
        </p:nvSpPr>
        <p:spPr>
          <a:xfrm>
            <a:off x="6446520" y="1527048"/>
            <a:ext cx="4919472"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.github/workflows/ci.yml</a:t>
            </a:r>
            <a:endParaRPr lang="en-US" sz="1050" dirty="0"/>
          </a:p>
        </p:txBody>
      </p:sp>
      <p:sp>
        <p:nvSpPr>
          <p:cNvPr id="29" name="Shape 22"/>
          <p:cNvSpPr/>
          <p:nvPr/>
        </p:nvSpPr>
        <p:spPr>
          <a:xfrm>
            <a:off x="5440680" y="1892808"/>
            <a:ext cx="6108192" cy="0"/>
          </a:xfrm>
          <a:prstGeom prst="line">
            <a:avLst/>
          </a:prstGeom>
          <a:noFill/>
          <a:ln w="12700">
            <a:solidFill>
              <a:srgbClr val="334155"/>
            </a:solidFill>
            <a:prstDash val="solid"/>
          </a:ln>
        </p:spPr>
      </p:sp>
      <p:sp>
        <p:nvSpPr>
          <p:cNvPr id="30" name="Text 23"/>
          <p:cNvSpPr/>
          <p:nvPr/>
        </p:nvSpPr>
        <p:spPr>
          <a:xfrm>
            <a:off x="5733288" y="2002536"/>
            <a:ext cx="5541264" cy="4160520"/>
          </a:xfrm>
          <a:prstGeom prst="rect">
            <a:avLst/>
          </a:prstGeom>
          <a:noFill/>
          <a:ln/>
        </p:spPr>
        <p:txBody>
          <a:bodyPr wrap="square" lIns="0" tIns="0" rIns="0" bIns="0" rtlCol="0" anchor="t"/>
          <a:lstStyle/>
          <a:p>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name:</a:t>
            </a:r>
            <a:pPr indent="0" marL="0">
              <a:lnSpc>
                <a:spcPct val="114000"/>
              </a:lnSpc>
              <a:buNone/>
            </a:pPr>
            <a:r>
              <a:rPr lang="en-US" sz="1250" dirty="0">
                <a:solidFill>
                  <a:srgbClr val="FBBF24"/>
                </a:solidFill>
                <a:latin typeface="Courier New" pitchFamily="34" charset="0"/>
                <a:ea typeface="Courier New" pitchFamily="34" charset="-122"/>
                <a:cs typeface="Courier New" pitchFamily="34" charset="-120"/>
              </a:rPr>
              <a:t> CI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on:</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push: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    branches: </a:t>
            </a:r>
            <a:pPr indent="0" marL="0">
              <a:lnSpc>
                <a:spcPct val="114000"/>
              </a:lnSpc>
              <a:buNone/>
            </a:pPr>
            <a:r>
              <a:rPr lang="en-US" sz="1250" dirty="0">
                <a:solidFill>
                  <a:srgbClr val="FBBF24"/>
                </a:solidFill>
                <a:latin typeface="Courier New" pitchFamily="34" charset="0"/>
                <a:ea typeface="Courier New" pitchFamily="34" charset="-122"/>
                <a:cs typeface="Courier New" pitchFamily="34" charset="-120"/>
              </a:rPr>
              <a:t>[ main ]
</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pull_request: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jobs:</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build-and-test: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    runs-on:</a:t>
            </a:r>
            <a:pPr indent="0" marL="0">
              <a:lnSpc>
                <a:spcPct val="114000"/>
              </a:lnSpc>
              <a:buNone/>
            </a:pPr>
            <a:r>
              <a:rPr lang="en-US" sz="1250" dirty="0">
                <a:solidFill>
                  <a:srgbClr val="FBBF24"/>
                </a:solidFill>
                <a:latin typeface="Courier New" pitchFamily="34" charset="0"/>
                <a:ea typeface="Courier New" pitchFamily="34" charset="-122"/>
                <a:cs typeface="Courier New" pitchFamily="34" charset="-120"/>
              </a:rPr>
              <a:t> ubuntu-latest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    steps:</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5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uses:</a:t>
            </a:r>
            <a:pPr indent="0" marL="0">
              <a:lnSpc>
                <a:spcPct val="114000"/>
              </a:lnSpc>
              <a:buNone/>
            </a:pPr>
            <a:r>
              <a:rPr lang="en-US" sz="1250" dirty="0">
                <a:solidFill>
                  <a:srgbClr val="FBBF24"/>
                </a:solidFill>
                <a:latin typeface="Courier New" pitchFamily="34" charset="0"/>
                <a:ea typeface="Courier New" pitchFamily="34" charset="-122"/>
                <a:cs typeface="Courier New" pitchFamily="34" charset="-120"/>
              </a:rPr>
              <a:t> actions/checkout@v4
</a:t>
            </a:r>
            <a:pPr indent="0" marL="0">
              <a:lnSpc>
                <a:spcPct val="114000"/>
              </a:lnSpc>
              <a:buNone/>
            </a:pPr>
            <a:r>
              <a:rPr lang="en-US" sz="125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uses:</a:t>
            </a:r>
            <a:pPr indent="0" marL="0">
              <a:lnSpc>
                <a:spcPct val="114000"/>
              </a:lnSpc>
              <a:buNone/>
            </a:pPr>
            <a:r>
              <a:rPr lang="en-US" sz="1250" dirty="0">
                <a:solidFill>
                  <a:srgbClr val="FBBF24"/>
                </a:solidFill>
                <a:latin typeface="Courier New" pitchFamily="34" charset="0"/>
                <a:ea typeface="Courier New" pitchFamily="34" charset="-122"/>
                <a:cs typeface="Courier New" pitchFamily="34" charset="-120"/>
              </a:rPr>
              <a:t> actions/setup-node@v4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        with:</a:t>
            </a:r>
            <a:pPr indent="0" marL="0">
              <a:lnSpc>
                <a:spcPct val="114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          node-version:</a:t>
            </a:r>
            <a:pPr indent="0" marL="0">
              <a:lnSpc>
                <a:spcPct val="114000"/>
              </a:lnSpc>
              <a:buNone/>
            </a:pPr>
            <a:r>
              <a:rPr lang="en-US" sz="1250" dirty="0">
                <a:solidFill>
                  <a:srgbClr val="FBBF24"/>
                </a:solidFill>
                <a:latin typeface="Courier New" pitchFamily="34" charset="0"/>
                <a:ea typeface="Courier New" pitchFamily="34" charset="-122"/>
                <a:cs typeface="Courier New" pitchFamily="34" charset="-120"/>
              </a:rPr>
              <a:t> '20'
</a:t>
            </a:r>
            <a:pPr indent="0" marL="0">
              <a:lnSpc>
                <a:spcPct val="114000"/>
              </a:lnSpc>
              <a:buNone/>
            </a:pPr>
            <a:r>
              <a:rPr lang="en-US" sz="125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run:</a:t>
            </a:r>
            <a:pPr indent="0" marL="0">
              <a:lnSpc>
                <a:spcPct val="114000"/>
              </a:lnSpc>
              <a:buNone/>
            </a:pPr>
            <a:r>
              <a:rPr lang="en-US" sz="1250" dirty="0">
                <a:solidFill>
                  <a:srgbClr val="34D399"/>
                </a:solidFill>
                <a:latin typeface="Courier New" pitchFamily="34" charset="0"/>
                <a:ea typeface="Courier New" pitchFamily="34" charset="-122"/>
                <a:cs typeface="Courier New" pitchFamily="34" charset="-120"/>
              </a:rPr>
              <a:t> npm ci
</a:t>
            </a:r>
            <a:pPr indent="0" marL="0">
              <a:lnSpc>
                <a:spcPct val="114000"/>
              </a:lnSpc>
              <a:buNone/>
            </a:pPr>
            <a:r>
              <a:rPr lang="en-US" sz="125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50" dirty="0">
                <a:solidFill>
                  <a:srgbClr val="38BDF8"/>
                </a:solidFill>
                <a:latin typeface="Courier New" pitchFamily="34" charset="0"/>
                <a:ea typeface="Courier New" pitchFamily="34" charset="-122"/>
                <a:cs typeface="Courier New" pitchFamily="34" charset="-120"/>
              </a:rPr>
              <a:t>run:</a:t>
            </a:r>
            <a:pPr indent="0" marL="0">
              <a:lnSpc>
                <a:spcPct val="114000"/>
              </a:lnSpc>
              <a:buNone/>
            </a:pPr>
            <a:r>
              <a:rPr lang="en-US" sz="1250" dirty="0">
                <a:solidFill>
                  <a:srgbClr val="34D399"/>
                </a:solidFill>
                <a:latin typeface="Courier New" pitchFamily="34" charset="0"/>
                <a:ea typeface="Courier New" pitchFamily="34" charset="-122"/>
                <a:cs typeface="Courier New" pitchFamily="34" charset="-120"/>
              </a:rPr>
              <a:t> npm test
</a:t>
            </a:r>
            <a:endParaRPr lang="en-US" sz="1250" dirty="0"/>
          </a:p>
        </p:txBody>
      </p:sp>
      <p:sp>
        <p:nvSpPr>
          <p:cNvPr id="32" name="Text 24"/>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3" name="Text 25"/>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WHAT STARTS A RUN</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Events: the on: block</a:t>
            </a:r>
            <a:endParaRPr lang="en-US" sz="3000" dirty="0"/>
          </a:p>
        </p:txBody>
      </p:sp>
      <p:sp>
        <p:nvSpPr>
          <p:cNvPr id="4" name="Text 2"/>
          <p:cNvSpPr/>
          <p:nvPr/>
        </p:nvSpPr>
        <p:spPr>
          <a:xfrm>
            <a:off x="640080" y="1316736"/>
            <a:ext cx="10972800" cy="45720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A workflow does nothing until an event fires. Pick the events that match the stage of the pipeline you are automating.</a:t>
            </a:r>
            <a:endParaRPr lang="en-US" sz="1450" dirty="0"/>
          </a:p>
        </p:txBody>
      </p:sp>
      <p:sp>
        <p:nvSpPr>
          <p:cNvPr id="5" name="Shape 3"/>
          <p:cNvSpPr/>
          <p:nvPr/>
        </p:nvSpPr>
        <p:spPr>
          <a:xfrm>
            <a:off x="640080" y="2011680"/>
            <a:ext cx="35661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6" name="Shape 4"/>
          <p:cNvSpPr/>
          <p:nvPr/>
        </p:nvSpPr>
        <p:spPr>
          <a:xfrm>
            <a:off x="859536" y="2231136"/>
            <a:ext cx="438912" cy="438912"/>
          </a:xfrm>
          <a:prstGeom prst="ellipse">
            <a:avLst/>
          </a:prstGeom>
          <a:solidFill>
            <a:srgbClr val="0D9488"/>
          </a:solidFill>
          <a:ln/>
        </p:spPr>
      </p:sp>
      <p:pic>
        <p:nvPicPr>
          <p:cNvPr id="7" name="Image 0" descr="preencoded.png">    </p:cNvPr>
          <p:cNvPicPr>
            <a:picLocks noChangeAspect="1"/>
          </p:cNvPicPr>
          <p:nvPr/>
        </p:nvPicPr>
        <p:blipFill>
          <a:blip r:embed="rId1"/>
          <a:stretch>
            <a:fillRect/>
          </a:stretch>
        </p:blipFill>
        <p:spPr>
          <a:xfrm>
            <a:off x="969264" y="2340864"/>
            <a:ext cx="219456" cy="219456"/>
          </a:xfrm>
          <a:prstGeom prst="rect">
            <a:avLst/>
          </a:prstGeom>
        </p:spPr>
      </p:pic>
      <p:sp>
        <p:nvSpPr>
          <p:cNvPr id="8" name="Text 5"/>
          <p:cNvSpPr/>
          <p:nvPr/>
        </p:nvSpPr>
        <p:spPr>
          <a:xfrm>
            <a:off x="1389888" y="2212848"/>
            <a:ext cx="2651760" cy="457200"/>
          </a:xfrm>
          <a:prstGeom prst="rect">
            <a:avLst/>
          </a:prstGeom>
          <a:noFill/>
          <a:ln/>
        </p:spPr>
        <p:txBody>
          <a:bodyPr wrap="square" lIns="0" tIns="0" rIns="0" bIns="0" rtlCol="0" anchor="ctr"/>
          <a:lstStyle/>
          <a:p>
            <a:pPr indent="0" marL="0">
              <a:buNone/>
            </a:pPr>
            <a:r>
              <a:rPr lang="en-US" sz="1350" b="1" dirty="0">
                <a:solidFill>
                  <a:srgbClr val="0F766E"/>
                </a:solidFill>
                <a:latin typeface="Courier New" pitchFamily="34" charset="0"/>
                <a:ea typeface="Courier New" pitchFamily="34" charset="-122"/>
                <a:cs typeface="Courier New" pitchFamily="34" charset="-120"/>
              </a:rPr>
              <a:t>push</a:t>
            </a:r>
            <a:endParaRPr lang="en-US" sz="1350" dirty="0"/>
          </a:p>
        </p:txBody>
      </p:sp>
      <p:sp>
        <p:nvSpPr>
          <p:cNvPr id="9" name="Text 6"/>
          <p:cNvSpPr/>
          <p:nvPr/>
        </p:nvSpPr>
        <p:spPr>
          <a:xfrm>
            <a:off x="877824" y="2761488"/>
            <a:ext cx="3108960" cy="566928"/>
          </a:xfrm>
          <a:prstGeom prst="rect">
            <a:avLst/>
          </a:prstGeom>
          <a:noFill/>
          <a:ln/>
        </p:spPr>
        <p:txBody>
          <a:bodyPr wrap="square" lIns="0" tIns="0" rIns="0" bIns="0" rtlCol="0" anchor="ctr"/>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Code lands on a branch. The workhorse trigger for CI.</a:t>
            </a:r>
            <a:endParaRPr lang="en-US" sz="1150" dirty="0"/>
          </a:p>
        </p:txBody>
      </p:sp>
      <p:sp>
        <p:nvSpPr>
          <p:cNvPr id="10" name="Shape 7"/>
          <p:cNvSpPr/>
          <p:nvPr/>
        </p:nvSpPr>
        <p:spPr>
          <a:xfrm>
            <a:off x="4462272" y="2011680"/>
            <a:ext cx="35661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1" name="Shape 8"/>
          <p:cNvSpPr/>
          <p:nvPr/>
        </p:nvSpPr>
        <p:spPr>
          <a:xfrm>
            <a:off x="4681728" y="2231136"/>
            <a:ext cx="438912" cy="438912"/>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4791456" y="2340864"/>
            <a:ext cx="219456" cy="219456"/>
          </a:xfrm>
          <a:prstGeom prst="rect">
            <a:avLst/>
          </a:prstGeom>
        </p:spPr>
      </p:pic>
      <p:sp>
        <p:nvSpPr>
          <p:cNvPr id="13" name="Text 9"/>
          <p:cNvSpPr/>
          <p:nvPr/>
        </p:nvSpPr>
        <p:spPr>
          <a:xfrm>
            <a:off x="5212080" y="2212848"/>
            <a:ext cx="2651760" cy="457200"/>
          </a:xfrm>
          <a:prstGeom prst="rect">
            <a:avLst/>
          </a:prstGeom>
          <a:noFill/>
          <a:ln/>
        </p:spPr>
        <p:txBody>
          <a:bodyPr wrap="square" lIns="0" tIns="0" rIns="0" bIns="0" rtlCol="0" anchor="ctr"/>
          <a:lstStyle/>
          <a:p>
            <a:pPr indent="0" marL="0">
              <a:buNone/>
            </a:pPr>
            <a:r>
              <a:rPr lang="en-US" sz="1350" b="1" dirty="0">
                <a:solidFill>
                  <a:srgbClr val="0F766E"/>
                </a:solidFill>
                <a:latin typeface="Courier New" pitchFamily="34" charset="0"/>
                <a:ea typeface="Courier New" pitchFamily="34" charset="-122"/>
                <a:cs typeface="Courier New" pitchFamily="34" charset="-120"/>
              </a:rPr>
              <a:t>pull_request</a:t>
            </a:r>
            <a:endParaRPr lang="en-US" sz="1350" dirty="0"/>
          </a:p>
        </p:txBody>
      </p:sp>
      <p:sp>
        <p:nvSpPr>
          <p:cNvPr id="14" name="Text 10"/>
          <p:cNvSpPr/>
          <p:nvPr/>
        </p:nvSpPr>
        <p:spPr>
          <a:xfrm>
            <a:off x="4700016" y="2761488"/>
            <a:ext cx="3108960" cy="566928"/>
          </a:xfrm>
          <a:prstGeom prst="rect">
            <a:avLst/>
          </a:prstGeom>
          <a:noFill/>
          <a:ln/>
        </p:spPr>
        <p:txBody>
          <a:bodyPr wrap="square" lIns="0" tIns="0" rIns="0" bIns="0" rtlCol="0" anchor="ctr"/>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Someone opens or updates a PR — test before merge, block the merge on red.</a:t>
            </a:r>
            <a:endParaRPr lang="en-US" sz="1150" dirty="0"/>
          </a:p>
        </p:txBody>
      </p:sp>
      <p:sp>
        <p:nvSpPr>
          <p:cNvPr id="15" name="Shape 11"/>
          <p:cNvSpPr/>
          <p:nvPr/>
        </p:nvSpPr>
        <p:spPr>
          <a:xfrm>
            <a:off x="8284464" y="2011680"/>
            <a:ext cx="35661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6" name="Shape 12"/>
          <p:cNvSpPr/>
          <p:nvPr/>
        </p:nvSpPr>
        <p:spPr>
          <a:xfrm>
            <a:off x="8503920" y="2231136"/>
            <a:ext cx="438912" cy="438912"/>
          </a:xfrm>
          <a:prstGeom prst="ellipse">
            <a:avLst/>
          </a:prstGeom>
          <a:solidFill>
            <a:srgbClr val="0D9488"/>
          </a:solidFill>
          <a:ln/>
        </p:spPr>
      </p:sp>
      <p:pic>
        <p:nvPicPr>
          <p:cNvPr id="17" name="Image 2" descr="preencoded.png">    </p:cNvPr>
          <p:cNvPicPr>
            <a:picLocks noChangeAspect="1"/>
          </p:cNvPicPr>
          <p:nvPr/>
        </p:nvPicPr>
        <p:blipFill>
          <a:blip r:embed="rId3"/>
          <a:stretch>
            <a:fillRect/>
          </a:stretch>
        </p:blipFill>
        <p:spPr>
          <a:xfrm>
            <a:off x="8613648" y="2340864"/>
            <a:ext cx="219456" cy="219456"/>
          </a:xfrm>
          <a:prstGeom prst="rect">
            <a:avLst/>
          </a:prstGeom>
        </p:spPr>
      </p:pic>
      <p:sp>
        <p:nvSpPr>
          <p:cNvPr id="18" name="Text 13"/>
          <p:cNvSpPr/>
          <p:nvPr/>
        </p:nvSpPr>
        <p:spPr>
          <a:xfrm>
            <a:off x="9034272" y="2212848"/>
            <a:ext cx="2651760" cy="457200"/>
          </a:xfrm>
          <a:prstGeom prst="rect">
            <a:avLst/>
          </a:prstGeom>
          <a:noFill/>
          <a:ln/>
        </p:spPr>
        <p:txBody>
          <a:bodyPr wrap="square" lIns="0" tIns="0" rIns="0" bIns="0" rtlCol="0" anchor="ctr"/>
          <a:lstStyle/>
          <a:p>
            <a:pPr indent="0" marL="0">
              <a:buNone/>
            </a:pPr>
            <a:r>
              <a:rPr lang="en-US" sz="1350" b="1" dirty="0">
                <a:solidFill>
                  <a:srgbClr val="0F766E"/>
                </a:solidFill>
                <a:latin typeface="Courier New" pitchFamily="34" charset="0"/>
                <a:ea typeface="Courier New" pitchFamily="34" charset="-122"/>
                <a:cs typeface="Courier New" pitchFamily="34" charset="-120"/>
              </a:rPr>
              <a:t>push: tags</a:t>
            </a:r>
            <a:endParaRPr lang="en-US" sz="1350" dirty="0"/>
          </a:p>
        </p:txBody>
      </p:sp>
      <p:sp>
        <p:nvSpPr>
          <p:cNvPr id="19" name="Text 14"/>
          <p:cNvSpPr/>
          <p:nvPr/>
        </p:nvSpPr>
        <p:spPr>
          <a:xfrm>
            <a:off x="8522208" y="2761488"/>
            <a:ext cx="3108960" cy="566928"/>
          </a:xfrm>
          <a:prstGeom prst="rect">
            <a:avLst/>
          </a:prstGeom>
          <a:noFill/>
          <a:ln/>
        </p:spPr>
        <p:txBody>
          <a:bodyPr wrap="square" lIns="0" tIns="0" rIns="0" bIns="0" rtlCol="0" anchor="ctr"/>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A version tag like v1.2.0 — the classic trigger for a release/deploy.</a:t>
            </a:r>
            <a:endParaRPr lang="en-US" sz="1150" dirty="0"/>
          </a:p>
        </p:txBody>
      </p:sp>
      <p:sp>
        <p:nvSpPr>
          <p:cNvPr id="20" name="Shape 15"/>
          <p:cNvSpPr/>
          <p:nvPr/>
        </p:nvSpPr>
        <p:spPr>
          <a:xfrm>
            <a:off x="640080" y="3648456"/>
            <a:ext cx="35661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1" name="Shape 16"/>
          <p:cNvSpPr/>
          <p:nvPr/>
        </p:nvSpPr>
        <p:spPr>
          <a:xfrm>
            <a:off x="859536" y="3867912"/>
            <a:ext cx="438912" cy="438912"/>
          </a:xfrm>
          <a:prstGeom prst="ellipse">
            <a:avLst/>
          </a:prstGeom>
          <a:solidFill>
            <a:srgbClr val="0D9488"/>
          </a:solidFill>
          <a:ln/>
        </p:spPr>
      </p:sp>
      <p:pic>
        <p:nvPicPr>
          <p:cNvPr id="22" name="Image 3" descr="preencoded.png">    </p:cNvPr>
          <p:cNvPicPr>
            <a:picLocks noChangeAspect="1"/>
          </p:cNvPicPr>
          <p:nvPr/>
        </p:nvPicPr>
        <p:blipFill>
          <a:blip r:embed="rId4"/>
          <a:stretch>
            <a:fillRect/>
          </a:stretch>
        </p:blipFill>
        <p:spPr>
          <a:xfrm>
            <a:off x="969264" y="3977640"/>
            <a:ext cx="219456" cy="219456"/>
          </a:xfrm>
          <a:prstGeom prst="rect">
            <a:avLst/>
          </a:prstGeom>
        </p:spPr>
      </p:pic>
      <p:sp>
        <p:nvSpPr>
          <p:cNvPr id="23" name="Text 17"/>
          <p:cNvSpPr/>
          <p:nvPr/>
        </p:nvSpPr>
        <p:spPr>
          <a:xfrm>
            <a:off x="1389888" y="3849624"/>
            <a:ext cx="2651760" cy="457200"/>
          </a:xfrm>
          <a:prstGeom prst="rect">
            <a:avLst/>
          </a:prstGeom>
          <a:noFill/>
          <a:ln/>
        </p:spPr>
        <p:txBody>
          <a:bodyPr wrap="square" lIns="0" tIns="0" rIns="0" bIns="0" rtlCol="0" anchor="ctr"/>
          <a:lstStyle/>
          <a:p>
            <a:pPr indent="0" marL="0">
              <a:buNone/>
            </a:pPr>
            <a:r>
              <a:rPr lang="en-US" sz="1350" b="1" dirty="0">
                <a:solidFill>
                  <a:srgbClr val="0F766E"/>
                </a:solidFill>
                <a:latin typeface="Courier New" pitchFamily="34" charset="0"/>
                <a:ea typeface="Courier New" pitchFamily="34" charset="-122"/>
                <a:cs typeface="Courier New" pitchFamily="34" charset="-120"/>
              </a:rPr>
              <a:t>schedule</a:t>
            </a:r>
            <a:endParaRPr lang="en-US" sz="1350" dirty="0"/>
          </a:p>
        </p:txBody>
      </p:sp>
      <p:sp>
        <p:nvSpPr>
          <p:cNvPr id="24" name="Text 18"/>
          <p:cNvSpPr/>
          <p:nvPr/>
        </p:nvSpPr>
        <p:spPr>
          <a:xfrm>
            <a:off x="877824" y="4398264"/>
            <a:ext cx="3108960" cy="566928"/>
          </a:xfrm>
          <a:prstGeom prst="rect">
            <a:avLst/>
          </a:prstGeom>
          <a:noFill/>
          <a:ln/>
        </p:spPr>
        <p:txBody>
          <a:bodyPr wrap="square" lIns="0" tIns="0" rIns="0" bIns="0" rtlCol="0" anchor="ctr"/>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Cron syntax. Nightly builds, dependency scans, cleanup jobs.</a:t>
            </a:r>
            <a:endParaRPr lang="en-US" sz="1150" dirty="0"/>
          </a:p>
        </p:txBody>
      </p:sp>
      <p:sp>
        <p:nvSpPr>
          <p:cNvPr id="25" name="Shape 19"/>
          <p:cNvSpPr/>
          <p:nvPr/>
        </p:nvSpPr>
        <p:spPr>
          <a:xfrm>
            <a:off x="4462272" y="3648456"/>
            <a:ext cx="35661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6" name="Shape 20"/>
          <p:cNvSpPr/>
          <p:nvPr/>
        </p:nvSpPr>
        <p:spPr>
          <a:xfrm>
            <a:off x="4681728" y="3867912"/>
            <a:ext cx="438912" cy="438912"/>
          </a:xfrm>
          <a:prstGeom prst="ellipse">
            <a:avLst/>
          </a:prstGeom>
          <a:solidFill>
            <a:srgbClr val="0D9488"/>
          </a:solidFill>
          <a:ln/>
        </p:spPr>
      </p:sp>
      <p:pic>
        <p:nvPicPr>
          <p:cNvPr id="27" name="Image 4" descr="preencoded.png">    </p:cNvPr>
          <p:cNvPicPr>
            <a:picLocks noChangeAspect="1"/>
          </p:cNvPicPr>
          <p:nvPr/>
        </p:nvPicPr>
        <p:blipFill>
          <a:blip r:embed="rId5"/>
          <a:stretch>
            <a:fillRect/>
          </a:stretch>
        </p:blipFill>
        <p:spPr>
          <a:xfrm>
            <a:off x="4791456" y="3977640"/>
            <a:ext cx="219456" cy="219456"/>
          </a:xfrm>
          <a:prstGeom prst="rect">
            <a:avLst/>
          </a:prstGeom>
        </p:spPr>
      </p:pic>
      <p:sp>
        <p:nvSpPr>
          <p:cNvPr id="28" name="Text 21"/>
          <p:cNvSpPr/>
          <p:nvPr/>
        </p:nvSpPr>
        <p:spPr>
          <a:xfrm>
            <a:off x="5212080" y="3849624"/>
            <a:ext cx="2651760" cy="457200"/>
          </a:xfrm>
          <a:prstGeom prst="rect">
            <a:avLst/>
          </a:prstGeom>
          <a:noFill/>
          <a:ln/>
        </p:spPr>
        <p:txBody>
          <a:bodyPr wrap="square" lIns="0" tIns="0" rIns="0" bIns="0" rtlCol="0" anchor="ctr"/>
          <a:lstStyle/>
          <a:p>
            <a:pPr indent="0" marL="0">
              <a:buNone/>
            </a:pPr>
            <a:r>
              <a:rPr lang="en-US" sz="1350" b="1" dirty="0">
                <a:solidFill>
                  <a:srgbClr val="0F766E"/>
                </a:solidFill>
                <a:latin typeface="Courier New" pitchFamily="34" charset="0"/>
                <a:ea typeface="Courier New" pitchFamily="34" charset="-122"/>
                <a:cs typeface="Courier New" pitchFamily="34" charset="-120"/>
              </a:rPr>
              <a:t>workflow_dispatch</a:t>
            </a:r>
            <a:endParaRPr lang="en-US" sz="1350" dirty="0"/>
          </a:p>
        </p:txBody>
      </p:sp>
      <p:sp>
        <p:nvSpPr>
          <p:cNvPr id="29" name="Text 22"/>
          <p:cNvSpPr/>
          <p:nvPr/>
        </p:nvSpPr>
        <p:spPr>
          <a:xfrm>
            <a:off x="4700016" y="4398264"/>
            <a:ext cx="3108960" cy="566928"/>
          </a:xfrm>
          <a:prstGeom prst="rect">
            <a:avLst/>
          </a:prstGeom>
          <a:noFill/>
          <a:ln/>
        </p:spPr>
        <p:txBody>
          <a:bodyPr wrap="square" lIns="0" tIns="0" rIns="0" bIns="0" rtlCol="0" anchor="ctr"/>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A manual “Run workflow” button in the UI — your CD approval-friendly trigger.</a:t>
            </a:r>
            <a:endParaRPr lang="en-US" sz="1150" dirty="0"/>
          </a:p>
        </p:txBody>
      </p:sp>
      <p:sp>
        <p:nvSpPr>
          <p:cNvPr id="30" name="Shape 23"/>
          <p:cNvSpPr/>
          <p:nvPr/>
        </p:nvSpPr>
        <p:spPr>
          <a:xfrm>
            <a:off x="8284464" y="3648456"/>
            <a:ext cx="35661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31" name="Shape 24"/>
          <p:cNvSpPr/>
          <p:nvPr/>
        </p:nvSpPr>
        <p:spPr>
          <a:xfrm>
            <a:off x="8503920" y="3867912"/>
            <a:ext cx="438912" cy="438912"/>
          </a:xfrm>
          <a:prstGeom prst="ellipse">
            <a:avLst/>
          </a:prstGeom>
          <a:solidFill>
            <a:srgbClr val="0D9488"/>
          </a:solidFill>
          <a:ln/>
        </p:spPr>
      </p:sp>
      <p:pic>
        <p:nvPicPr>
          <p:cNvPr id="32" name="Image 5" descr="preencoded.png">    </p:cNvPr>
          <p:cNvPicPr>
            <a:picLocks noChangeAspect="1"/>
          </p:cNvPicPr>
          <p:nvPr/>
        </p:nvPicPr>
        <p:blipFill>
          <a:blip r:embed="rId6"/>
          <a:stretch>
            <a:fillRect/>
          </a:stretch>
        </p:blipFill>
        <p:spPr>
          <a:xfrm>
            <a:off x="8613648" y="3977640"/>
            <a:ext cx="219456" cy="219456"/>
          </a:xfrm>
          <a:prstGeom prst="rect">
            <a:avLst/>
          </a:prstGeom>
        </p:spPr>
      </p:pic>
      <p:sp>
        <p:nvSpPr>
          <p:cNvPr id="33" name="Text 25"/>
          <p:cNvSpPr/>
          <p:nvPr/>
        </p:nvSpPr>
        <p:spPr>
          <a:xfrm>
            <a:off x="9034272" y="3849624"/>
            <a:ext cx="2651760" cy="457200"/>
          </a:xfrm>
          <a:prstGeom prst="rect">
            <a:avLst/>
          </a:prstGeom>
          <a:noFill/>
          <a:ln/>
        </p:spPr>
        <p:txBody>
          <a:bodyPr wrap="square" lIns="0" tIns="0" rIns="0" bIns="0" rtlCol="0" anchor="ctr"/>
          <a:lstStyle/>
          <a:p>
            <a:pPr indent="0" marL="0">
              <a:buNone/>
            </a:pPr>
            <a:r>
              <a:rPr lang="en-US" sz="1350" b="1" dirty="0">
                <a:solidFill>
                  <a:srgbClr val="0F766E"/>
                </a:solidFill>
                <a:latin typeface="Courier New" pitchFamily="34" charset="0"/>
                <a:ea typeface="Courier New" pitchFamily="34" charset="-122"/>
                <a:cs typeface="Courier New" pitchFamily="34" charset="-120"/>
              </a:rPr>
              <a:t>workflow_call</a:t>
            </a:r>
            <a:endParaRPr lang="en-US" sz="1350" dirty="0"/>
          </a:p>
        </p:txBody>
      </p:sp>
      <p:sp>
        <p:nvSpPr>
          <p:cNvPr id="34" name="Text 26"/>
          <p:cNvSpPr/>
          <p:nvPr/>
        </p:nvSpPr>
        <p:spPr>
          <a:xfrm>
            <a:off x="8522208" y="4398264"/>
            <a:ext cx="3108960" cy="566928"/>
          </a:xfrm>
          <a:prstGeom prst="rect">
            <a:avLst/>
          </a:prstGeom>
          <a:noFill/>
          <a:ln/>
        </p:spPr>
        <p:txBody>
          <a:bodyPr wrap="square" lIns="0" tIns="0" rIns="0" bIns="0" rtlCol="0" anchor="ctr"/>
          <a:lstStyle/>
          <a:p>
            <a:pPr indent="0" marL="0">
              <a:lnSpc>
                <a:spcPct val="102000"/>
              </a:lnSpc>
              <a:buNone/>
            </a:pPr>
            <a:r>
              <a:rPr lang="en-US" sz="1150" dirty="0">
                <a:solidFill>
                  <a:srgbClr val="1E293B"/>
                </a:solidFill>
                <a:latin typeface="Calibri" pitchFamily="34" charset="0"/>
                <a:ea typeface="Calibri" pitchFamily="34" charset="-122"/>
                <a:cs typeface="Calibri" pitchFamily="34" charset="-120"/>
              </a:rPr>
              <a:t>Called by another workflow — reusable pipelines shared across repos.</a:t>
            </a:r>
            <a:endParaRPr lang="en-US" sz="1150" dirty="0"/>
          </a:p>
        </p:txBody>
      </p:sp>
      <p:sp>
        <p:nvSpPr>
          <p:cNvPr id="36" name="Text 27"/>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7" name="Text 28"/>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CI, FOR REAL</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Build, test, lint on every PR</a:t>
            </a:r>
            <a:endParaRPr lang="en-US" sz="3000" dirty="0"/>
          </a:p>
        </p:txBody>
      </p:sp>
      <p:sp>
        <p:nvSpPr>
          <p:cNvPr id="4" name="Text 2"/>
          <p:cNvSpPr/>
          <p:nvPr/>
        </p:nvSpPr>
        <p:spPr>
          <a:xfrm>
            <a:off x="640080" y="1316736"/>
            <a:ext cx="10972800" cy="457200"/>
          </a:xfrm>
          <a:prstGeom prst="rect">
            <a:avLst/>
          </a:prstGeom>
          <a:noFill/>
          <a:ln/>
        </p:spPr>
        <p:txBody>
          <a:bodyPr wrap="square" lIns="0" tIns="0" rIns="0" bIns="0" rtlCol="0" anchor="ctr"/>
          <a:lstStyle/>
          <a:p>
            <a:pPr indent="0" marL="0">
              <a:buNone/>
            </a:pPr>
            <a:r>
              <a:rPr lang="en-US" sz="1450" dirty="0">
                <a:solidFill>
                  <a:srgbClr val="64748B"/>
                </a:solidFill>
                <a:latin typeface="Calibri" pitchFamily="34" charset="0"/>
                <a:ea typeface="Calibri" pitchFamily="34" charset="-122"/>
                <a:cs typeface="Calibri" pitchFamily="34" charset="-120"/>
              </a:rPr>
              <a:t>Day 2's job. Three gates in one workflow — any red stops the merge. Notice the shared setup steps at the top.</a:t>
            </a:r>
            <a:endParaRPr lang="en-US" sz="1450" dirty="0"/>
          </a:p>
        </p:txBody>
      </p:sp>
      <p:sp>
        <p:nvSpPr>
          <p:cNvPr id="5" name="Shape 3"/>
          <p:cNvSpPr/>
          <p:nvPr/>
        </p:nvSpPr>
        <p:spPr>
          <a:xfrm>
            <a:off x="640080" y="1920240"/>
            <a:ext cx="6537960" cy="4343400"/>
          </a:xfrm>
          <a:prstGeom prst="roundRect">
            <a:avLst>
              <a:gd name="adj" fmla="val 1684"/>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6" name="Shape 4"/>
          <p:cNvSpPr/>
          <p:nvPr/>
        </p:nvSpPr>
        <p:spPr>
          <a:xfrm>
            <a:off x="896112" y="2139696"/>
            <a:ext cx="109728" cy="109728"/>
          </a:xfrm>
          <a:prstGeom prst="ellipse">
            <a:avLst/>
          </a:prstGeom>
          <a:solidFill>
            <a:srgbClr val="EF4444"/>
          </a:solidFill>
          <a:ln/>
        </p:spPr>
      </p:sp>
      <p:sp>
        <p:nvSpPr>
          <p:cNvPr id="7" name="Shape 5"/>
          <p:cNvSpPr/>
          <p:nvPr/>
        </p:nvSpPr>
        <p:spPr>
          <a:xfrm>
            <a:off x="1115568" y="2139696"/>
            <a:ext cx="109728" cy="109728"/>
          </a:xfrm>
          <a:prstGeom prst="ellipse">
            <a:avLst/>
          </a:prstGeom>
          <a:solidFill>
            <a:srgbClr val="F59E0B"/>
          </a:solidFill>
          <a:ln/>
        </p:spPr>
      </p:sp>
      <p:sp>
        <p:nvSpPr>
          <p:cNvPr id="8" name="Shape 6"/>
          <p:cNvSpPr/>
          <p:nvPr/>
        </p:nvSpPr>
        <p:spPr>
          <a:xfrm>
            <a:off x="1335024" y="2139696"/>
            <a:ext cx="109728" cy="109728"/>
          </a:xfrm>
          <a:prstGeom prst="ellipse">
            <a:avLst/>
          </a:prstGeom>
          <a:solidFill>
            <a:srgbClr val="22C55E"/>
          </a:solidFill>
          <a:ln/>
        </p:spPr>
      </p:sp>
      <p:sp>
        <p:nvSpPr>
          <p:cNvPr id="9" name="Text 7"/>
          <p:cNvSpPr/>
          <p:nvPr/>
        </p:nvSpPr>
        <p:spPr>
          <a:xfrm>
            <a:off x="1645920" y="2029968"/>
            <a:ext cx="5349240"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.github/workflows/day2-ci.yml</a:t>
            </a:r>
            <a:endParaRPr lang="en-US" sz="1050" dirty="0"/>
          </a:p>
        </p:txBody>
      </p:sp>
      <p:sp>
        <p:nvSpPr>
          <p:cNvPr id="10" name="Shape 8"/>
          <p:cNvSpPr/>
          <p:nvPr/>
        </p:nvSpPr>
        <p:spPr>
          <a:xfrm>
            <a:off x="640080" y="2395728"/>
            <a:ext cx="6537960" cy="0"/>
          </a:xfrm>
          <a:prstGeom prst="line">
            <a:avLst/>
          </a:prstGeom>
          <a:noFill/>
          <a:ln w="12700">
            <a:solidFill>
              <a:srgbClr val="334155"/>
            </a:solidFill>
            <a:prstDash val="solid"/>
          </a:ln>
        </p:spPr>
      </p:sp>
      <p:sp>
        <p:nvSpPr>
          <p:cNvPr id="11" name="Text 9"/>
          <p:cNvSpPr/>
          <p:nvPr/>
        </p:nvSpPr>
        <p:spPr>
          <a:xfrm>
            <a:off x="932688" y="2505456"/>
            <a:ext cx="5971032" cy="3611880"/>
          </a:xfrm>
          <a:prstGeom prst="rect">
            <a:avLst/>
          </a:prstGeom>
          <a:noFill/>
          <a:ln/>
        </p:spPr>
        <p:txBody>
          <a:bodyPr wrap="square" lIns="0" tIns="0" rIns="0" bIns="0" rtlCol="0" anchor="t"/>
          <a:lstStyle/>
          <a:p>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on:</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 pull_request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jobs:</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verify: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runs-on:</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 ubuntu-latest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steps:</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uses:</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 actions/checkout@v4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uses:</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 actions/setup-node@v4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with: { node-version: </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'20'</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run:</a:t>
            </a:r>
            <a:pPr indent="0" marL="0">
              <a:lnSpc>
                <a:spcPct val="114000"/>
              </a:lnSpc>
              <a:buNone/>
            </a:pPr>
            <a:r>
              <a:rPr lang="en-US" sz="1200" dirty="0">
                <a:solidFill>
                  <a:srgbClr val="34D399"/>
                </a:solidFill>
                <a:latin typeface="Courier New" pitchFamily="34" charset="0"/>
                <a:ea typeface="Courier New" pitchFamily="34" charset="-122"/>
                <a:cs typeface="Courier New" pitchFamily="34" charset="-120"/>
              </a:rPr>
              <a:t> npm ci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name:</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Lint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run:</a:t>
            </a:r>
            <a:pPr indent="0" marL="0">
              <a:lnSpc>
                <a:spcPct val="114000"/>
              </a:lnSpc>
              <a:buNone/>
            </a:pPr>
            <a:r>
              <a:rPr lang="en-US" sz="1200" dirty="0">
                <a:solidFill>
                  <a:srgbClr val="34D399"/>
                </a:solidFill>
                <a:latin typeface="Courier New" pitchFamily="34" charset="0"/>
                <a:ea typeface="Courier New" pitchFamily="34" charset="-122"/>
                <a:cs typeface="Courier New" pitchFamily="34" charset="-120"/>
              </a:rPr>
              <a:t> npm run lint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name:</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Unit tests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run:</a:t>
            </a:r>
            <a:pPr indent="0" marL="0">
              <a:lnSpc>
                <a:spcPct val="114000"/>
              </a:lnSpc>
              <a:buNone/>
            </a:pPr>
            <a:r>
              <a:rPr lang="en-US" sz="1200" dirty="0">
                <a:solidFill>
                  <a:srgbClr val="34D399"/>
                </a:solidFill>
                <a:latin typeface="Courier New" pitchFamily="34" charset="0"/>
                <a:ea typeface="Courier New" pitchFamily="34" charset="-122"/>
                <a:cs typeface="Courier New" pitchFamily="34" charset="-120"/>
              </a:rPr>
              <a:t> npm test
</a:t>
            </a:r>
            <a:endParaRPr lang="en-US" sz="1200" dirty="0"/>
          </a:p>
        </p:txBody>
      </p:sp>
      <p:sp>
        <p:nvSpPr>
          <p:cNvPr id="12" name="Shape 10"/>
          <p:cNvSpPr/>
          <p:nvPr/>
        </p:nvSpPr>
        <p:spPr>
          <a:xfrm>
            <a:off x="7406640" y="1920240"/>
            <a:ext cx="4142232" cy="2057400"/>
          </a:xfrm>
          <a:prstGeom prst="roundRect">
            <a:avLst>
              <a:gd name="adj" fmla="val 4000"/>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3" name="Text 11"/>
          <p:cNvSpPr/>
          <p:nvPr/>
        </p:nvSpPr>
        <p:spPr>
          <a:xfrm>
            <a:off x="7635240" y="2121408"/>
            <a:ext cx="3657600" cy="320040"/>
          </a:xfrm>
          <a:prstGeom prst="rect">
            <a:avLst/>
          </a:prstGeom>
          <a:noFill/>
          <a:ln/>
        </p:spPr>
        <p:txBody>
          <a:bodyPr wrap="square" lIns="0" tIns="0" rIns="0" bIns="0" rtlCol="0" anchor="ctr"/>
          <a:lstStyle/>
          <a:p>
            <a:pPr indent="0" marL="0">
              <a:buNone/>
            </a:pPr>
            <a:r>
              <a:rPr lang="en-US" sz="1450" b="1" dirty="0">
                <a:solidFill>
                  <a:srgbClr val="0F172A"/>
                </a:solidFill>
                <a:latin typeface="Bookman Old Style" pitchFamily="34" charset="0"/>
                <a:ea typeface="Bookman Old Style" pitchFamily="34" charset="-122"/>
                <a:cs typeface="Bookman Old Style" pitchFamily="34" charset="-120"/>
              </a:rPr>
              <a:t>What the reviewer sees</a:t>
            </a:r>
            <a:endParaRPr lang="en-US" sz="1450" dirty="0"/>
          </a:p>
        </p:txBody>
      </p:sp>
      <p:sp>
        <p:nvSpPr>
          <p:cNvPr id="14" name="Text 12"/>
          <p:cNvSpPr/>
          <p:nvPr/>
        </p:nvSpPr>
        <p:spPr>
          <a:xfrm>
            <a:off x="7635240" y="2468880"/>
            <a:ext cx="3703320" cy="1371600"/>
          </a:xfrm>
          <a:prstGeom prst="rect">
            <a:avLst/>
          </a:prstGeom>
          <a:noFill/>
          <a:ln/>
        </p:spPr>
        <p:txBody>
          <a:bodyPr wrap="square" lIns="0" tIns="0" rIns="0" bIns="0" rtlCol="0" anchor="t"/>
          <a:lstStyle/>
          <a:p>
            <a:pPr indent="0" marL="0">
              <a:lnSpc>
                <a:spcPct val="135000"/>
              </a:lnSpc>
              <a:buNone/>
            </a:pPr>
            <a:r>
              <a:rPr lang="en-US" sz="1300" b="1" dirty="0">
                <a:solidFill>
                  <a:srgbClr val="34D399"/>
                </a:solidFill>
                <a:latin typeface="Calibri" pitchFamily="34" charset="0"/>
                <a:ea typeface="Calibri" pitchFamily="34" charset="-122"/>
                <a:cs typeface="Calibri" pitchFamily="34" charset="-120"/>
              </a:rPr>
              <a:t>✔ </a:t>
            </a:r>
            <a:pPr indent="0" marL="0">
              <a:lnSpc>
                <a:spcPct val="135000"/>
              </a:lnSpc>
              <a:buNone/>
            </a:pPr>
            <a:r>
              <a:rPr lang="en-US" sz="1300" dirty="0">
                <a:solidFill>
                  <a:srgbClr val="1E293B"/>
                </a:solidFill>
                <a:latin typeface="Calibri" pitchFamily="34" charset="0"/>
                <a:ea typeface="Calibri" pitchFamily="34" charset="-122"/>
                <a:cs typeface="Calibri" pitchFamily="34" charset="-120"/>
              </a:rPr>
              <a:t>Lint — passed
</a:t>
            </a:r>
            <a:pPr indent="0" marL="0">
              <a:lnSpc>
                <a:spcPct val="135000"/>
              </a:lnSpc>
              <a:buNone/>
            </a:pPr>
            <a:r>
              <a:rPr lang="en-US" sz="1300" b="1" dirty="0">
                <a:solidFill>
                  <a:srgbClr val="34D399"/>
                </a:solidFill>
                <a:latin typeface="Calibri" pitchFamily="34" charset="0"/>
                <a:ea typeface="Calibri" pitchFamily="34" charset="-122"/>
                <a:cs typeface="Calibri" pitchFamily="34" charset="-120"/>
              </a:rPr>
              <a:t>✔ </a:t>
            </a:r>
            <a:pPr indent="0" marL="0">
              <a:lnSpc>
                <a:spcPct val="135000"/>
              </a:lnSpc>
              <a:buNone/>
            </a:pPr>
            <a:r>
              <a:rPr lang="en-US" sz="1300" dirty="0">
                <a:solidFill>
                  <a:srgbClr val="1E293B"/>
                </a:solidFill>
                <a:latin typeface="Calibri" pitchFamily="34" charset="0"/>
                <a:ea typeface="Calibri" pitchFamily="34" charset="-122"/>
                <a:cs typeface="Calibri" pitchFamily="34" charset="-120"/>
              </a:rPr>
              <a:t>Unit tests — 24 passed
</a:t>
            </a:r>
            <a:pPr indent="0" marL="0">
              <a:lnSpc>
                <a:spcPct val="135000"/>
              </a:lnSpc>
              <a:buNone/>
            </a:pPr>
            <a:r>
              <a:rPr lang="en-US" sz="1300" b="1" dirty="0">
                <a:solidFill>
                  <a:srgbClr val="F97316"/>
                </a:solidFill>
                <a:latin typeface="Calibri" pitchFamily="34" charset="0"/>
                <a:ea typeface="Calibri" pitchFamily="34" charset="-122"/>
                <a:cs typeface="Calibri" pitchFamily="34" charset="-120"/>
              </a:rPr>
              <a:t>✖ </a:t>
            </a:r>
            <a:pPr indent="0" marL="0">
              <a:lnSpc>
                <a:spcPct val="135000"/>
              </a:lnSpc>
              <a:buNone/>
            </a:pPr>
            <a:r>
              <a:rPr lang="en-US" sz="1300" dirty="0">
                <a:solidFill>
                  <a:srgbClr val="1E293B"/>
                </a:solidFill>
                <a:latin typeface="Calibri" pitchFamily="34" charset="0"/>
                <a:ea typeface="Calibri" pitchFamily="34" charset="-122"/>
                <a:cs typeface="Calibri" pitchFamily="34" charset="-120"/>
              </a:rPr>
              <a:t>Build — failed on push
</a:t>
            </a:r>
            <a:pPr indent="0" marL="0">
              <a:lnSpc>
                <a:spcPct val="135000"/>
              </a:lnSpc>
              <a:buNone/>
            </a:pPr>
            <a:r>
              <a:rPr lang="en-US" sz="1300" i="1" dirty="0">
                <a:solidFill>
                  <a:srgbClr val="64748B"/>
                </a:solidFill>
                <a:latin typeface="Calibri" pitchFamily="34" charset="0"/>
                <a:ea typeface="Calibri" pitchFamily="34" charset="-122"/>
                <a:cs typeface="Calibri" pitchFamily="34" charset="-120"/>
              </a:rPr>
              <a:t>Merge is blocked until green.</a:t>
            </a:r>
            <a:endParaRPr lang="en-US" sz="1300" dirty="0"/>
          </a:p>
        </p:txBody>
      </p:sp>
      <p:sp>
        <p:nvSpPr>
          <p:cNvPr id="15" name="Shape 13"/>
          <p:cNvSpPr/>
          <p:nvPr/>
        </p:nvSpPr>
        <p:spPr>
          <a:xfrm>
            <a:off x="7406640" y="4160520"/>
            <a:ext cx="4142232" cy="2103120"/>
          </a:xfrm>
          <a:prstGeom prst="roundRect">
            <a:avLst>
              <a:gd name="adj" fmla="val 3913"/>
            </a:avLst>
          </a:prstGeom>
          <a:solidFill>
            <a:srgbClr val="F0FDFA"/>
          </a:solidFill>
          <a:ln w="12700">
            <a:solidFill>
              <a:srgbClr val="99F6E4"/>
            </a:solidFill>
            <a:prstDash val="solid"/>
          </a:ln>
        </p:spPr>
      </p:sp>
      <p:sp>
        <p:nvSpPr>
          <p:cNvPr id="16" name="Text 14"/>
          <p:cNvSpPr/>
          <p:nvPr/>
        </p:nvSpPr>
        <p:spPr>
          <a:xfrm>
            <a:off x="7635240" y="4343400"/>
            <a:ext cx="3657600" cy="320040"/>
          </a:xfrm>
          <a:prstGeom prst="rect">
            <a:avLst/>
          </a:prstGeom>
          <a:noFill/>
          <a:ln/>
        </p:spPr>
        <p:txBody>
          <a:bodyPr wrap="square" lIns="0" tIns="0" rIns="0" bIns="0" rtlCol="0" anchor="ctr"/>
          <a:lstStyle/>
          <a:p>
            <a:pPr indent="0" marL="0">
              <a:buNone/>
            </a:pPr>
            <a:r>
              <a:rPr lang="en-US" sz="1450" b="1" dirty="0">
                <a:solidFill>
                  <a:srgbClr val="0F766E"/>
                </a:solidFill>
                <a:latin typeface="Bookman Old Style" pitchFamily="34" charset="0"/>
                <a:ea typeface="Bookman Old Style" pitchFamily="34" charset="-122"/>
                <a:cs typeface="Bookman Old Style" pitchFamily="34" charset="-120"/>
              </a:rPr>
              <a:t>Why this order</a:t>
            </a:r>
            <a:endParaRPr lang="en-US" sz="1450" dirty="0"/>
          </a:p>
        </p:txBody>
      </p:sp>
      <p:sp>
        <p:nvSpPr>
          <p:cNvPr id="17" name="Text 15"/>
          <p:cNvSpPr/>
          <p:nvPr/>
        </p:nvSpPr>
        <p:spPr>
          <a:xfrm>
            <a:off x="7635240" y="4681728"/>
            <a:ext cx="3703320" cy="1463040"/>
          </a:xfrm>
          <a:prstGeom prst="rect">
            <a:avLst/>
          </a:prstGeom>
          <a:noFill/>
          <a:ln/>
        </p:spPr>
        <p:txBody>
          <a:bodyPr wrap="square" lIns="0" tIns="0" rIns="0" bIns="0" rtlCol="0" anchor="t"/>
          <a:lstStyle/>
          <a:p>
            <a:pPr indent="0" marL="0">
              <a:lnSpc>
                <a:spcPct val="108000"/>
              </a:lnSpc>
              <a:buNone/>
            </a:pPr>
            <a:r>
              <a:rPr lang="en-US" sz="1250" dirty="0">
                <a:solidFill>
                  <a:srgbClr val="1E293B"/>
                </a:solidFill>
                <a:latin typeface="Calibri" pitchFamily="34" charset="0"/>
                <a:ea typeface="Calibri" pitchFamily="34" charset="-122"/>
                <a:cs typeface="Calibri" pitchFamily="34" charset="-120"/>
              </a:rPr>
              <a:t>Setup once (checkout → node → install), then the cheap fast check (lint) before the slower one (tests). Fail-fast means a lint error never wastes time running the suite.</a:t>
            </a:r>
            <a:endParaRPr lang="en-US" sz="1250" dirty="0"/>
          </a:p>
        </p:txBody>
      </p:sp>
      <p:sp>
        <p:nvSpPr>
          <p:cNvPr id="19" name="Text 16"/>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0" name="Text 17"/>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TEST EVERYWHERE AT ONCE</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Matrix builds</a:t>
            </a:r>
            <a:endParaRPr lang="en-US" sz="3000" dirty="0"/>
          </a:p>
        </p:txBody>
      </p:sp>
      <p:sp>
        <p:nvSpPr>
          <p:cNvPr id="4" name="Shape 2"/>
          <p:cNvSpPr/>
          <p:nvPr/>
        </p:nvSpPr>
        <p:spPr>
          <a:xfrm>
            <a:off x="640080" y="1463040"/>
            <a:ext cx="5029200" cy="1828800"/>
          </a:xfrm>
          <a:prstGeom prst="roundRect">
            <a:avLst>
              <a:gd name="adj" fmla="val 4500"/>
            </a:avLst>
          </a:prstGeom>
          <a:solidFill>
            <a:srgbClr val="FFF7ED"/>
          </a:solidFill>
          <a:ln w="12700">
            <a:solidFill>
              <a:srgbClr val="FED7AA"/>
            </a:solidFill>
            <a:prstDash val="solid"/>
          </a:ln>
          <a:effectLst>
            <a:outerShdw sx="100000" sy="100000" kx="0" ky="0" algn="bl" rotWithShape="0" blurRad="88900" dist="38100" dir="5400000">
              <a:srgbClr val="0F172A">
                <a:alpha val="10000"/>
              </a:srgbClr>
            </a:outerShdw>
          </a:effectLst>
        </p:spPr>
      </p:sp>
      <p:sp>
        <p:nvSpPr>
          <p:cNvPr id="5" name="Shape 3"/>
          <p:cNvSpPr/>
          <p:nvPr/>
        </p:nvSpPr>
        <p:spPr>
          <a:xfrm>
            <a:off x="896112" y="1719072"/>
            <a:ext cx="566928" cy="566928"/>
          </a:xfrm>
          <a:prstGeom prst="ellipse">
            <a:avLst/>
          </a:prstGeom>
          <a:solidFill>
            <a:srgbClr val="F97316"/>
          </a:solidFill>
          <a:ln/>
        </p:spPr>
      </p:sp>
      <p:pic>
        <p:nvPicPr>
          <p:cNvPr id="6" name="Image 0" descr="preencoded.png">    </p:cNvPr>
          <p:cNvPicPr>
            <a:picLocks noChangeAspect="1"/>
          </p:cNvPicPr>
          <p:nvPr/>
        </p:nvPicPr>
        <p:blipFill>
          <a:blip r:embed="rId1"/>
          <a:stretch>
            <a:fillRect/>
          </a:stretch>
        </p:blipFill>
        <p:spPr>
          <a:xfrm>
            <a:off x="1037844" y="1860804"/>
            <a:ext cx="283464" cy="283464"/>
          </a:xfrm>
          <a:prstGeom prst="rect">
            <a:avLst/>
          </a:prstGeom>
        </p:spPr>
      </p:pic>
      <p:sp>
        <p:nvSpPr>
          <p:cNvPr id="7" name="Text 4"/>
          <p:cNvSpPr/>
          <p:nvPr/>
        </p:nvSpPr>
        <p:spPr>
          <a:xfrm>
            <a:off x="1609344" y="1737360"/>
            <a:ext cx="3858768" cy="237744"/>
          </a:xfrm>
          <a:prstGeom prst="rect">
            <a:avLst/>
          </a:prstGeom>
          <a:noFill/>
          <a:ln/>
        </p:spPr>
        <p:txBody>
          <a:bodyPr wrap="square" lIns="0" tIns="0" rIns="0" bIns="0" rtlCol="0" anchor="ctr"/>
          <a:lstStyle/>
          <a:p>
            <a:pPr indent="0" marL="0">
              <a:buNone/>
            </a:pPr>
            <a:r>
              <a:rPr lang="en-US" sz="1100" b="1" spc="200" kern="0" dirty="0">
                <a:solidFill>
                  <a:srgbClr val="C2410C"/>
                </a:solidFill>
                <a:latin typeface="Calibri" pitchFamily="34" charset="0"/>
                <a:ea typeface="Calibri" pitchFamily="34" charset="-122"/>
                <a:cs typeface="Calibri" pitchFamily="34" charset="-120"/>
              </a:rPr>
              <a:t>THE PAIN</a:t>
            </a:r>
            <a:endParaRPr lang="en-US" sz="1100" dirty="0"/>
          </a:p>
        </p:txBody>
      </p:sp>
      <p:sp>
        <p:nvSpPr>
          <p:cNvPr id="8" name="Text 5"/>
          <p:cNvSpPr/>
          <p:nvPr/>
        </p:nvSpPr>
        <p:spPr>
          <a:xfrm>
            <a:off x="1609344" y="1956816"/>
            <a:ext cx="385876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“Works on Node 20”</a:t>
            </a:r>
            <a:endParaRPr lang="en-US" sz="1550" dirty="0"/>
          </a:p>
        </p:txBody>
      </p:sp>
      <p:sp>
        <p:nvSpPr>
          <p:cNvPr id="9" name="Text 6"/>
          <p:cNvSpPr/>
          <p:nvPr/>
        </p:nvSpPr>
        <p:spPr>
          <a:xfrm>
            <a:off x="914400" y="2505456"/>
            <a:ext cx="4480560" cy="62179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Your app has to run on Node 18 and 20, on Linux and macOS. Testing each by hand is four separate runs nobody bothers to do.</a:t>
            </a:r>
            <a:endParaRPr lang="en-US" sz="1250" dirty="0"/>
          </a:p>
        </p:txBody>
      </p:sp>
      <p:sp>
        <p:nvSpPr>
          <p:cNvPr id="10" name="Shape 7"/>
          <p:cNvSpPr/>
          <p:nvPr/>
        </p:nvSpPr>
        <p:spPr>
          <a:xfrm>
            <a:off x="640080" y="3456432"/>
            <a:ext cx="5029200" cy="1828800"/>
          </a:xfrm>
          <a:prstGeom prst="roundRect">
            <a:avLst>
              <a:gd name="adj" fmla="val 4500"/>
            </a:avLst>
          </a:prstGeom>
          <a:solidFill>
            <a:srgbClr val="F0FDFA"/>
          </a:solidFill>
          <a:ln w="12700">
            <a:solidFill>
              <a:srgbClr val="99F6E4"/>
            </a:solidFill>
            <a:prstDash val="solid"/>
          </a:ln>
          <a:effectLst>
            <a:outerShdw sx="100000" sy="100000" kx="0" ky="0" algn="bl" rotWithShape="0" blurRad="88900" dist="38100" dir="5400000">
              <a:srgbClr val="0F172A">
                <a:alpha val="10000"/>
              </a:srgbClr>
            </a:outerShdw>
          </a:effectLst>
        </p:spPr>
      </p:sp>
      <p:sp>
        <p:nvSpPr>
          <p:cNvPr id="11" name="Shape 8"/>
          <p:cNvSpPr/>
          <p:nvPr/>
        </p:nvSpPr>
        <p:spPr>
          <a:xfrm>
            <a:off x="896112" y="3712464"/>
            <a:ext cx="566928" cy="566928"/>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1037844" y="3854196"/>
            <a:ext cx="283464" cy="283464"/>
          </a:xfrm>
          <a:prstGeom prst="rect">
            <a:avLst/>
          </a:prstGeom>
        </p:spPr>
      </p:pic>
      <p:sp>
        <p:nvSpPr>
          <p:cNvPr id="13" name="Text 9"/>
          <p:cNvSpPr/>
          <p:nvPr/>
        </p:nvSpPr>
        <p:spPr>
          <a:xfrm>
            <a:off x="1609344" y="3730752"/>
            <a:ext cx="3858768" cy="237744"/>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THE FIX</a:t>
            </a:r>
            <a:endParaRPr lang="en-US" sz="1100" dirty="0"/>
          </a:p>
        </p:txBody>
      </p:sp>
      <p:sp>
        <p:nvSpPr>
          <p:cNvPr id="14" name="Text 10"/>
          <p:cNvSpPr/>
          <p:nvPr/>
        </p:nvSpPr>
        <p:spPr>
          <a:xfrm>
            <a:off x="1609344" y="3950208"/>
            <a:ext cx="385876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One matrix, N runs</a:t>
            </a:r>
            <a:endParaRPr lang="en-US" sz="1550" dirty="0"/>
          </a:p>
        </p:txBody>
      </p:sp>
      <p:sp>
        <p:nvSpPr>
          <p:cNvPr id="15" name="Text 11"/>
          <p:cNvSpPr/>
          <p:nvPr/>
        </p:nvSpPr>
        <p:spPr>
          <a:xfrm>
            <a:off x="914400" y="4498848"/>
            <a:ext cx="4480560" cy="62179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Declare the axes once. Actions fans out a parallel job for every combination — four green checks from a five-line block.</a:t>
            </a:r>
            <a:endParaRPr lang="en-US" sz="1250" dirty="0"/>
          </a:p>
        </p:txBody>
      </p:sp>
      <p:sp>
        <p:nvSpPr>
          <p:cNvPr id="16" name="Shape 12"/>
          <p:cNvSpPr/>
          <p:nvPr/>
        </p:nvSpPr>
        <p:spPr>
          <a:xfrm>
            <a:off x="5897880" y="1463040"/>
            <a:ext cx="5650992" cy="3822192"/>
          </a:xfrm>
          <a:prstGeom prst="roundRect">
            <a:avLst>
              <a:gd name="adj" fmla="val 1914"/>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17" name="Shape 13"/>
          <p:cNvSpPr/>
          <p:nvPr/>
        </p:nvSpPr>
        <p:spPr>
          <a:xfrm>
            <a:off x="6153912" y="1682496"/>
            <a:ext cx="109728" cy="109728"/>
          </a:xfrm>
          <a:prstGeom prst="ellipse">
            <a:avLst/>
          </a:prstGeom>
          <a:solidFill>
            <a:srgbClr val="EF4444"/>
          </a:solidFill>
          <a:ln/>
        </p:spPr>
      </p:sp>
      <p:sp>
        <p:nvSpPr>
          <p:cNvPr id="18" name="Shape 14"/>
          <p:cNvSpPr/>
          <p:nvPr/>
        </p:nvSpPr>
        <p:spPr>
          <a:xfrm>
            <a:off x="6373368" y="1682496"/>
            <a:ext cx="109728" cy="109728"/>
          </a:xfrm>
          <a:prstGeom prst="ellipse">
            <a:avLst/>
          </a:prstGeom>
          <a:solidFill>
            <a:srgbClr val="F59E0B"/>
          </a:solidFill>
          <a:ln/>
        </p:spPr>
      </p:sp>
      <p:sp>
        <p:nvSpPr>
          <p:cNvPr id="19" name="Shape 15"/>
          <p:cNvSpPr/>
          <p:nvPr/>
        </p:nvSpPr>
        <p:spPr>
          <a:xfrm>
            <a:off x="6592824" y="1682496"/>
            <a:ext cx="109728" cy="109728"/>
          </a:xfrm>
          <a:prstGeom prst="ellipse">
            <a:avLst/>
          </a:prstGeom>
          <a:solidFill>
            <a:srgbClr val="22C55E"/>
          </a:solidFill>
          <a:ln/>
        </p:spPr>
      </p:sp>
      <p:sp>
        <p:nvSpPr>
          <p:cNvPr id="20" name="Text 16"/>
          <p:cNvSpPr/>
          <p:nvPr/>
        </p:nvSpPr>
        <p:spPr>
          <a:xfrm>
            <a:off x="6903720" y="1572768"/>
            <a:ext cx="4462272"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strategy.matrix</a:t>
            </a:r>
            <a:endParaRPr lang="en-US" sz="1050" dirty="0"/>
          </a:p>
        </p:txBody>
      </p:sp>
      <p:sp>
        <p:nvSpPr>
          <p:cNvPr id="21" name="Shape 17"/>
          <p:cNvSpPr/>
          <p:nvPr/>
        </p:nvSpPr>
        <p:spPr>
          <a:xfrm>
            <a:off x="5897880" y="1938528"/>
            <a:ext cx="5650992" cy="0"/>
          </a:xfrm>
          <a:prstGeom prst="line">
            <a:avLst/>
          </a:prstGeom>
          <a:noFill/>
          <a:ln w="12700">
            <a:solidFill>
              <a:srgbClr val="334155"/>
            </a:solidFill>
            <a:prstDash val="solid"/>
          </a:ln>
        </p:spPr>
      </p:sp>
      <p:sp>
        <p:nvSpPr>
          <p:cNvPr id="22" name="Text 18"/>
          <p:cNvSpPr/>
          <p:nvPr/>
        </p:nvSpPr>
        <p:spPr>
          <a:xfrm>
            <a:off x="6190488" y="2048256"/>
            <a:ext cx="5084064" cy="3090672"/>
          </a:xfrm>
          <a:prstGeom prst="rect">
            <a:avLst/>
          </a:prstGeom>
          <a:noFill/>
          <a:ln/>
        </p:spPr>
        <p:txBody>
          <a:bodyPr wrap="square" lIns="0" tIns="0" rIns="0" bIns="0" rtlCol="0" anchor="t"/>
          <a:lstStyle/>
          <a:p>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jobs:</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test: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strategy:</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matrix:</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node: </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[ 18, 20 ]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os:   </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 ubuntu, macos ]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runs-on: </a:t>
            </a:r>
            <a:pPr indent="0" marL="0">
              <a:lnSpc>
                <a:spcPct val="116000"/>
              </a:lnSpc>
              <a:buNone/>
            </a:pPr>
            <a:r>
              <a:rPr lang="en-US" sz="1200" dirty="0">
                <a:solidFill>
                  <a:srgbClr val="C4B5FD"/>
                </a:solidFill>
                <a:latin typeface="Courier New" pitchFamily="34" charset="0"/>
                <a:ea typeface="Courier New" pitchFamily="34" charset="-122"/>
                <a:cs typeface="Courier New" pitchFamily="34" charset="-120"/>
              </a:rPr>
              <a:t>${{ matrix.os }}</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-latest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steps:</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uses:</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 actions/setup-node@v4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with:</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node-version: </a:t>
            </a:r>
            <a:pPr indent="0" marL="0">
              <a:lnSpc>
                <a:spcPct val="116000"/>
              </a:lnSpc>
              <a:buNone/>
            </a:pPr>
            <a:r>
              <a:rPr lang="en-US" sz="1200" dirty="0">
                <a:solidFill>
                  <a:srgbClr val="C4B5FD"/>
                </a:solidFill>
                <a:latin typeface="Courier New" pitchFamily="34" charset="0"/>
                <a:ea typeface="Courier New" pitchFamily="34" charset="-122"/>
                <a:cs typeface="Courier New" pitchFamily="34" charset="-120"/>
              </a:rPr>
              <a:t>${{ matrix.node }}</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run:</a:t>
            </a:r>
            <a:pPr indent="0" marL="0">
              <a:lnSpc>
                <a:spcPct val="116000"/>
              </a:lnSpc>
              <a:buNone/>
            </a:pPr>
            <a:r>
              <a:rPr lang="en-US" sz="1200" dirty="0">
                <a:solidFill>
                  <a:srgbClr val="34D399"/>
                </a:solidFill>
                <a:latin typeface="Courier New" pitchFamily="34" charset="0"/>
                <a:ea typeface="Courier New" pitchFamily="34" charset="-122"/>
                <a:cs typeface="Courier New" pitchFamily="34" charset="-120"/>
              </a:rPr>
              <a:t> npm test
</a:t>
            </a:r>
            <a:pPr indent="0" marL="0">
              <a:lnSpc>
                <a:spcPct val="116000"/>
              </a:lnSpc>
              <a:buNone/>
            </a:pPr>
            <a:r>
              <a:rPr lang="en-US" sz="1200" dirty="0">
                <a:solidFill>
                  <a:srgbClr val="94A3B8"/>
                </a:solidFill>
                <a:latin typeface="Courier New" pitchFamily="34" charset="0"/>
                <a:ea typeface="Courier New" pitchFamily="34" charset="-122"/>
                <a:cs typeface="Courier New" pitchFamily="34" charset="-120"/>
              </a:rPr>
              <a:t># 2 nodes x 2 OSes = </a:t>
            </a:r>
            <a:pPr indent="0" marL="0">
              <a:lnSpc>
                <a:spcPct val="116000"/>
              </a:lnSpc>
              <a:buNone/>
            </a:pPr>
            <a:r>
              <a:rPr lang="en-US" sz="1200" dirty="0">
                <a:solidFill>
                  <a:srgbClr val="34D399"/>
                </a:solidFill>
                <a:latin typeface="Courier New" pitchFamily="34" charset="0"/>
                <a:ea typeface="Courier New" pitchFamily="34" charset="-122"/>
                <a:cs typeface="Courier New" pitchFamily="34" charset="-120"/>
              </a:rPr>
              <a:t>4 parallel jobs</a:t>
            </a:r>
            <a:endParaRPr lang="en-US" sz="1200" dirty="0"/>
          </a:p>
        </p:txBody>
      </p:sp>
      <p:sp>
        <p:nvSpPr>
          <p:cNvPr id="23" name="Text 19"/>
          <p:cNvSpPr/>
          <p:nvPr/>
        </p:nvSpPr>
        <p:spPr>
          <a:xfrm>
            <a:off x="5897880" y="5440680"/>
            <a:ext cx="5669280" cy="36576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a:t>
            </a:r>
            <a:pPr indent="0" marL="0">
              <a:buNone/>
            </a:pPr>
            <a:r>
              <a:rPr lang="en-US" sz="1300" i="1" dirty="0">
                <a:solidFill>
                  <a:srgbClr val="1E293B"/>
                </a:solidFill>
                <a:latin typeface="Calibri" pitchFamily="34" charset="0"/>
                <a:ea typeface="Calibri" pitchFamily="34" charset="-122"/>
                <a:cs typeface="Calibri" pitchFamily="34" charset="-120"/>
              </a:rPr>
              <a:t>Same steps, every combination, all at once — no copy-pasted jobs.</a:t>
            </a:r>
            <a:endParaRPr lang="en-US" sz="1300" dirty="0"/>
          </a:p>
        </p:txBody>
      </p:sp>
      <p:sp>
        <p:nvSpPr>
          <p:cNvPr id="25" name="Text 20"/>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6" name="Text 21"/>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MAKE IT FAST</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A slow pipeline gets ignored</a:t>
            </a:r>
            <a:endParaRPr lang="en-US" sz="3000" dirty="0"/>
          </a:p>
        </p:txBody>
      </p:sp>
      <p:sp>
        <p:nvSpPr>
          <p:cNvPr id="4" name="Text 2"/>
          <p:cNvSpPr/>
          <p:nvPr/>
        </p:nvSpPr>
        <p:spPr>
          <a:xfrm>
            <a:off x="640080" y="1316736"/>
            <a:ext cx="10972800" cy="54864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Every job starts on a blank VM — no dependencies, no layers. Re-downloading everything on each run is the number-one reason pipelines feel slow.</a:t>
            </a:r>
            <a:endParaRPr lang="en-US" sz="1450" dirty="0"/>
          </a:p>
        </p:txBody>
      </p:sp>
      <p:sp>
        <p:nvSpPr>
          <p:cNvPr id="5" name="Shape 3"/>
          <p:cNvSpPr/>
          <p:nvPr/>
        </p:nvSpPr>
        <p:spPr>
          <a:xfrm>
            <a:off x="640080" y="2011680"/>
            <a:ext cx="5989320" cy="3200400"/>
          </a:xfrm>
          <a:prstGeom prst="roundRect">
            <a:avLst>
              <a:gd name="adj" fmla="val 2286"/>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6" name="Shape 4"/>
          <p:cNvSpPr/>
          <p:nvPr/>
        </p:nvSpPr>
        <p:spPr>
          <a:xfrm>
            <a:off x="896112" y="2231136"/>
            <a:ext cx="109728" cy="109728"/>
          </a:xfrm>
          <a:prstGeom prst="ellipse">
            <a:avLst/>
          </a:prstGeom>
          <a:solidFill>
            <a:srgbClr val="EF4444"/>
          </a:solidFill>
          <a:ln/>
        </p:spPr>
      </p:sp>
      <p:sp>
        <p:nvSpPr>
          <p:cNvPr id="7" name="Shape 5"/>
          <p:cNvSpPr/>
          <p:nvPr/>
        </p:nvSpPr>
        <p:spPr>
          <a:xfrm>
            <a:off x="1115568" y="2231136"/>
            <a:ext cx="109728" cy="109728"/>
          </a:xfrm>
          <a:prstGeom prst="ellipse">
            <a:avLst/>
          </a:prstGeom>
          <a:solidFill>
            <a:srgbClr val="F59E0B"/>
          </a:solidFill>
          <a:ln/>
        </p:spPr>
      </p:sp>
      <p:sp>
        <p:nvSpPr>
          <p:cNvPr id="8" name="Shape 6"/>
          <p:cNvSpPr/>
          <p:nvPr/>
        </p:nvSpPr>
        <p:spPr>
          <a:xfrm>
            <a:off x="1335024" y="2231136"/>
            <a:ext cx="109728" cy="109728"/>
          </a:xfrm>
          <a:prstGeom prst="ellipse">
            <a:avLst/>
          </a:prstGeom>
          <a:solidFill>
            <a:srgbClr val="22C55E"/>
          </a:solidFill>
          <a:ln/>
        </p:spPr>
      </p:sp>
      <p:sp>
        <p:nvSpPr>
          <p:cNvPr id="9" name="Text 7"/>
          <p:cNvSpPr/>
          <p:nvPr/>
        </p:nvSpPr>
        <p:spPr>
          <a:xfrm>
            <a:off x="1645920" y="2121408"/>
            <a:ext cx="4800600"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cache dependencies</a:t>
            </a:r>
            <a:endParaRPr lang="en-US" sz="1050" dirty="0"/>
          </a:p>
        </p:txBody>
      </p:sp>
      <p:sp>
        <p:nvSpPr>
          <p:cNvPr id="10" name="Shape 8"/>
          <p:cNvSpPr/>
          <p:nvPr/>
        </p:nvSpPr>
        <p:spPr>
          <a:xfrm>
            <a:off x="640080" y="2487168"/>
            <a:ext cx="5989320" cy="0"/>
          </a:xfrm>
          <a:prstGeom prst="line">
            <a:avLst/>
          </a:prstGeom>
          <a:noFill/>
          <a:ln w="12700">
            <a:solidFill>
              <a:srgbClr val="334155"/>
            </a:solidFill>
            <a:prstDash val="solid"/>
          </a:ln>
        </p:spPr>
      </p:sp>
      <p:sp>
        <p:nvSpPr>
          <p:cNvPr id="11" name="Text 9"/>
          <p:cNvSpPr/>
          <p:nvPr/>
        </p:nvSpPr>
        <p:spPr>
          <a:xfrm>
            <a:off x="932688" y="2596896"/>
            <a:ext cx="5422392" cy="2468880"/>
          </a:xfrm>
          <a:prstGeom prst="rect">
            <a:avLst/>
          </a:prstGeom>
          <a:noFill/>
          <a:ln/>
        </p:spPr>
        <p:txBody>
          <a:bodyPr wrap="square" lIns="0" tIns="0" rIns="0" bIns="0" rtlCol="0" anchor="t"/>
          <a:lstStyle/>
          <a:p>
            <a:pPr indent="0" marL="0">
              <a:lnSpc>
                <a:spcPct val="118000"/>
              </a:lnSpc>
              <a:buNone/>
            </a:pPr>
            <a:r>
              <a:rPr lang="en-US" sz="1250" dirty="0">
                <a:solidFill>
                  <a:srgbClr val="94A3B8"/>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uses:</a:t>
            </a:r>
            <a:pPr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 actions/cache@v4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with:</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path: </a:t>
            </a:r>
            <a:pPr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~/.npm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key: </a:t>
            </a:r>
            <a:pPr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npm-${{ hashFiles(
</a:t>
            </a:r>
            <a:pPr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      'package-lock.json') }}
</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94A3B8"/>
                </a:solidFill>
                <a:latin typeface="Courier New" pitchFamily="34" charset="0"/>
                <a:ea typeface="Courier New" pitchFamily="34" charset="-122"/>
                <a:cs typeface="Courier New" pitchFamily="34" charset="-120"/>
              </a:rPr>
              <a:t># or, simpler — setup-node does it:
</a:t>
            </a:r>
            <a:pPr indent="0" marL="0">
              <a:lnSpc>
                <a:spcPct val="118000"/>
              </a:lnSpc>
              <a:buNone/>
            </a:pPr>
            <a:r>
              <a:rPr lang="en-US" sz="1250" dirty="0">
                <a:solidFill>
                  <a:srgbClr val="94A3B8"/>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uses:</a:t>
            </a:r>
            <a:pPr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 actions/setup-node@v4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with: { cache: </a:t>
            </a:r>
            <a:pPr indent="0" marL="0">
              <a:lnSpc>
                <a:spcPct val="118000"/>
              </a:lnSpc>
              <a:buNone/>
            </a:pPr>
            <a:r>
              <a:rPr lang="en-US" sz="1250" dirty="0">
                <a:solidFill>
                  <a:srgbClr val="FBBF24"/>
                </a:solidFill>
                <a:latin typeface="Courier New" pitchFamily="34" charset="0"/>
                <a:ea typeface="Courier New" pitchFamily="34" charset="-122"/>
                <a:cs typeface="Courier New" pitchFamily="34" charset="-120"/>
              </a:rPr>
              <a:t>'npm'</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
</a:t>
            </a:r>
            <a:endParaRPr lang="en-US" sz="1250" dirty="0"/>
          </a:p>
        </p:txBody>
      </p:sp>
      <p:sp>
        <p:nvSpPr>
          <p:cNvPr id="12" name="Shape 10"/>
          <p:cNvSpPr/>
          <p:nvPr/>
        </p:nvSpPr>
        <p:spPr>
          <a:xfrm>
            <a:off x="6858000" y="2011680"/>
            <a:ext cx="4690872" cy="987552"/>
          </a:xfrm>
          <a:prstGeom prst="roundRect">
            <a:avLst>
              <a:gd name="adj" fmla="val 7407"/>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13" name="Shape 11"/>
          <p:cNvSpPr/>
          <p:nvPr/>
        </p:nvSpPr>
        <p:spPr>
          <a:xfrm>
            <a:off x="7059168" y="2267712"/>
            <a:ext cx="457200" cy="457200"/>
          </a:xfrm>
          <a:prstGeom prst="ellipse">
            <a:avLst/>
          </a:prstGeom>
          <a:solidFill>
            <a:srgbClr val="0D9488"/>
          </a:solidFill>
          <a:ln/>
        </p:spPr>
      </p:sp>
      <p:pic>
        <p:nvPicPr>
          <p:cNvPr id="14" name="Image 0" descr="preencoded.png">    </p:cNvPr>
          <p:cNvPicPr>
            <a:picLocks noChangeAspect="1"/>
          </p:cNvPicPr>
          <p:nvPr/>
        </p:nvPicPr>
        <p:blipFill>
          <a:blip r:embed="rId1"/>
          <a:stretch>
            <a:fillRect/>
          </a:stretch>
        </p:blipFill>
        <p:spPr>
          <a:xfrm>
            <a:off x="7173468" y="2382012"/>
            <a:ext cx="228600" cy="228600"/>
          </a:xfrm>
          <a:prstGeom prst="rect">
            <a:avLst/>
          </a:prstGeom>
        </p:spPr>
      </p:pic>
      <p:sp>
        <p:nvSpPr>
          <p:cNvPr id="15" name="Text 12"/>
          <p:cNvSpPr/>
          <p:nvPr/>
        </p:nvSpPr>
        <p:spPr>
          <a:xfrm>
            <a:off x="7662672" y="2157984"/>
            <a:ext cx="3749040" cy="310896"/>
          </a:xfrm>
          <a:prstGeom prst="rect">
            <a:avLst/>
          </a:prstGeom>
          <a:noFill/>
          <a:ln/>
        </p:spPr>
        <p:txBody>
          <a:bodyPr wrap="square" lIns="0" tIns="0" rIns="0" bIns="0" rtlCol="0" anchor="ctr"/>
          <a:lstStyle/>
          <a:p>
            <a:pPr indent="0" marL="0">
              <a:buNone/>
            </a:pPr>
            <a:r>
              <a:rPr lang="en-US" sz="1400" b="1" dirty="0">
                <a:solidFill>
                  <a:srgbClr val="0F172A"/>
                </a:solidFill>
                <a:latin typeface="Bookman Old Style" pitchFamily="34" charset="0"/>
                <a:ea typeface="Bookman Old Style" pitchFamily="34" charset="-122"/>
                <a:cs typeface="Bookman Old Style" pitchFamily="34" charset="-120"/>
              </a:rPr>
              <a:t>Key on the lockfile</a:t>
            </a:r>
            <a:endParaRPr lang="en-US" sz="1400" dirty="0"/>
          </a:p>
        </p:txBody>
      </p:sp>
      <p:sp>
        <p:nvSpPr>
          <p:cNvPr id="16" name="Text 13"/>
          <p:cNvSpPr/>
          <p:nvPr/>
        </p:nvSpPr>
        <p:spPr>
          <a:xfrm>
            <a:off x="7662672" y="2468880"/>
            <a:ext cx="37490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hashFiles(...) means the cache only rebuilds when dependencies actually change.</a:t>
            </a:r>
            <a:endParaRPr lang="en-US" sz="1150" dirty="0"/>
          </a:p>
        </p:txBody>
      </p:sp>
      <p:sp>
        <p:nvSpPr>
          <p:cNvPr id="17" name="Shape 14"/>
          <p:cNvSpPr/>
          <p:nvPr/>
        </p:nvSpPr>
        <p:spPr>
          <a:xfrm>
            <a:off x="6858000" y="3118104"/>
            <a:ext cx="4690872" cy="987552"/>
          </a:xfrm>
          <a:prstGeom prst="roundRect">
            <a:avLst>
              <a:gd name="adj" fmla="val 7407"/>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18" name="Shape 15"/>
          <p:cNvSpPr/>
          <p:nvPr/>
        </p:nvSpPr>
        <p:spPr>
          <a:xfrm>
            <a:off x="7059168" y="3374136"/>
            <a:ext cx="457200" cy="457200"/>
          </a:xfrm>
          <a:prstGeom prst="ellipse">
            <a:avLst/>
          </a:prstGeom>
          <a:solidFill>
            <a:srgbClr val="0D9488"/>
          </a:solidFill>
          <a:ln/>
        </p:spPr>
      </p:sp>
      <p:pic>
        <p:nvPicPr>
          <p:cNvPr id="19" name="Image 1" descr="preencoded.png">    </p:cNvPr>
          <p:cNvPicPr>
            <a:picLocks noChangeAspect="1"/>
          </p:cNvPicPr>
          <p:nvPr/>
        </p:nvPicPr>
        <p:blipFill>
          <a:blip r:embed="rId2"/>
          <a:stretch>
            <a:fillRect/>
          </a:stretch>
        </p:blipFill>
        <p:spPr>
          <a:xfrm>
            <a:off x="7173468" y="3488436"/>
            <a:ext cx="228600" cy="228600"/>
          </a:xfrm>
          <a:prstGeom prst="rect">
            <a:avLst/>
          </a:prstGeom>
        </p:spPr>
      </p:pic>
      <p:sp>
        <p:nvSpPr>
          <p:cNvPr id="20" name="Text 16"/>
          <p:cNvSpPr/>
          <p:nvPr/>
        </p:nvSpPr>
        <p:spPr>
          <a:xfrm>
            <a:off x="7662672" y="3264408"/>
            <a:ext cx="3749040" cy="310896"/>
          </a:xfrm>
          <a:prstGeom prst="rect">
            <a:avLst/>
          </a:prstGeom>
          <a:noFill/>
          <a:ln/>
        </p:spPr>
        <p:txBody>
          <a:bodyPr wrap="square" lIns="0" tIns="0" rIns="0" bIns="0" rtlCol="0" anchor="ctr"/>
          <a:lstStyle/>
          <a:p>
            <a:pPr indent="0" marL="0">
              <a:buNone/>
            </a:pPr>
            <a:r>
              <a:rPr lang="en-US" sz="1400" b="1" dirty="0">
                <a:solidFill>
                  <a:srgbClr val="0F172A"/>
                </a:solidFill>
                <a:latin typeface="Bookman Old Style" pitchFamily="34" charset="0"/>
                <a:ea typeface="Bookman Old Style" pitchFamily="34" charset="-122"/>
                <a:cs typeface="Bookman Old Style" pitchFamily="34" charset="-120"/>
              </a:rPr>
              <a:t>Layer cache for Docker</a:t>
            </a:r>
            <a:endParaRPr lang="en-US" sz="1400" dirty="0"/>
          </a:p>
        </p:txBody>
      </p:sp>
      <p:sp>
        <p:nvSpPr>
          <p:cNvPr id="21" name="Text 17"/>
          <p:cNvSpPr/>
          <p:nvPr/>
        </p:nvSpPr>
        <p:spPr>
          <a:xfrm>
            <a:off x="7662672" y="3575304"/>
            <a:ext cx="37490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gha cache with Buildx reuses image layers so unchanged stages skip rebuilds.</a:t>
            </a:r>
            <a:endParaRPr lang="en-US" sz="1150" dirty="0"/>
          </a:p>
        </p:txBody>
      </p:sp>
      <p:sp>
        <p:nvSpPr>
          <p:cNvPr id="22" name="Shape 18"/>
          <p:cNvSpPr/>
          <p:nvPr/>
        </p:nvSpPr>
        <p:spPr>
          <a:xfrm>
            <a:off x="6858000" y="4224528"/>
            <a:ext cx="4690872" cy="987552"/>
          </a:xfrm>
          <a:prstGeom prst="roundRect">
            <a:avLst>
              <a:gd name="adj" fmla="val 7407"/>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23" name="Shape 19"/>
          <p:cNvSpPr/>
          <p:nvPr/>
        </p:nvSpPr>
        <p:spPr>
          <a:xfrm>
            <a:off x="7059168" y="4480560"/>
            <a:ext cx="457200" cy="457200"/>
          </a:xfrm>
          <a:prstGeom prst="ellipse">
            <a:avLst/>
          </a:prstGeom>
          <a:solidFill>
            <a:srgbClr val="0D9488"/>
          </a:solidFill>
          <a:ln/>
        </p:spPr>
      </p:sp>
      <p:pic>
        <p:nvPicPr>
          <p:cNvPr id="24" name="Image 2" descr="preencoded.png">    </p:cNvPr>
          <p:cNvPicPr>
            <a:picLocks noChangeAspect="1"/>
          </p:cNvPicPr>
          <p:nvPr/>
        </p:nvPicPr>
        <p:blipFill>
          <a:blip r:embed="rId3"/>
          <a:stretch>
            <a:fillRect/>
          </a:stretch>
        </p:blipFill>
        <p:spPr>
          <a:xfrm>
            <a:off x="7173468" y="4594860"/>
            <a:ext cx="228600" cy="228600"/>
          </a:xfrm>
          <a:prstGeom prst="rect">
            <a:avLst/>
          </a:prstGeom>
        </p:spPr>
      </p:pic>
      <p:sp>
        <p:nvSpPr>
          <p:cNvPr id="25" name="Text 20"/>
          <p:cNvSpPr/>
          <p:nvPr/>
        </p:nvSpPr>
        <p:spPr>
          <a:xfrm>
            <a:off x="7662672" y="4370832"/>
            <a:ext cx="3749040" cy="310896"/>
          </a:xfrm>
          <a:prstGeom prst="rect">
            <a:avLst/>
          </a:prstGeom>
          <a:noFill/>
          <a:ln/>
        </p:spPr>
        <p:txBody>
          <a:bodyPr wrap="square" lIns="0" tIns="0" rIns="0" bIns="0" rtlCol="0" anchor="ctr"/>
          <a:lstStyle/>
          <a:p>
            <a:pPr indent="0" marL="0">
              <a:buNone/>
            </a:pPr>
            <a:r>
              <a:rPr lang="en-US" sz="1400" b="1" dirty="0">
                <a:solidFill>
                  <a:srgbClr val="0F172A"/>
                </a:solidFill>
                <a:latin typeface="Bookman Old Style" pitchFamily="34" charset="0"/>
                <a:ea typeface="Bookman Old Style" pitchFamily="34" charset="-122"/>
                <a:cs typeface="Bookman Old Style" pitchFamily="34" charset="-120"/>
              </a:rPr>
              <a:t>Small, targeted jobs</a:t>
            </a:r>
            <a:endParaRPr lang="en-US" sz="1400" dirty="0"/>
          </a:p>
        </p:txBody>
      </p:sp>
      <p:sp>
        <p:nvSpPr>
          <p:cNvPr id="26" name="Text 21"/>
          <p:cNvSpPr/>
          <p:nvPr/>
        </p:nvSpPr>
        <p:spPr>
          <a:xfrm>
            <a:off x="7662672" y="4681728"/>
            <a:ext cx="3749040" cy="457200"/>
          </a:xfrm>
          <a:prstGeom prst="rect">
            <a:avLst/>
          </a:prstGeom>
          <a:noFill/>
          <a:ln/>
        </p:spPr>
        <p:txBody>
          <a:bodyPr wrap="square" lIns="0" tIns="0" rIns="0" bIns="0" rtlCol="0" anchor="ctr"/>
          <a:lstStyle/>
          <a:p>
            <a:pPr indent="0" marL="0">
              <a:lnSpc>
                <a:spcPct val="100000"/>
              </a:lnSpc>
              <a:buNone/>
            </a:pPr>
            <a:r>
              <a:rPr lang="en-US" sz="1150" dirty="0">
                <a:solidFill>
                  <a:srgbClr val="1E293B"/>
                </a:solidFill>
                <a:latin typeface="Calibri" pitchFamily="34" charset="0"/>
                <a:ea typeface="Calibri" pitchFamily="34" charset="-122"/>
                <a:cs typeface="Calibri" pitchFamily="34" charset="-120"/>
              </a:rPr>
              <a:t>Split unrelated work into parallel jobs instead of one long serial one.</a:t>
            </a:r>
            <a:endParaRPr lang="en-US" sz="1150" dirty="0"/>
          </a:p>
        </p:txBody>
      </p:sp>
      <p:sp>
        <p:nvSpPr>
          <p:cNvPr id="27" name="Shape 22"/>
          <p:cNvSpPr/>
          <p:nvPr/>
        </p:nvSpPr>
        <p:spPr>
          <a:xfrm>
            <a:off x="640080" y="5440680"/>
            <a:ext cx="10908792" cy="777240"/>
          </a:xfrm>
          <a:prstGeom prst="roundRect">
            <a:avLst>
              <a:gd name="adj" fmla="val 11765"/>
            </a:avLst>
          </a:prstGeom>
          <a:solidFill>
            <a:srgbClr val="FFF7ED"/>
          </a:solidFill>
          <a:ln w="12700">
            <a:solidFill>
              <a:srgbClr val="FED7AA"/>
            </a:solidFill>
            <a:prstDash val="solid"/>
          </a:ln>
        </p:spPr>
      </p:sp>
      <p:sp>
        <p:nvSpPr>
          <p:cNvPr id="28" name="Text 23"/>
          <p:cNvSpPr/>
          <p:nvPr/>
        </p:nvSpPr>
        <p:spPr>
          <a:xfrm>
            <a:off x="914400" y="5440680"/>
            <a:ext cx="10424160" cy="777240"/>
          </a:xfrm>
          <a:prstGeom prst="rect">
            <a:avLst/>
          </a:prstGeom>
          <a:noFill/>
          <a:ln/>
        </p:spPr>
        <p:txBody>
          <a:bodyPr wrap="square" lIns="0" tIns="0" rIns="0" bIns="0" rtlCol="0" anchor="ctr"/>
          <a:lstStyle/>
          <a:p>
            <a:pPr indent="0" marL="0">
              <a:buNone/>
            </a:pPr>
            <a:r>
              <a:rPr lang="en-US" sz="1400" b="1" dirty="0">
                <a:solidFill>
                  <a:srgbClr val="C2410C"/>
                </a:solidFill>
                <a:latin typeface="Calibri" pitchFamily="34" charset="0"/>
                <a:ea typeface="Calibri" pitchFamily="34" charset="-122"/>
                <a:cs typeface="Calibri" pitchFamily="34" charset="-120"/>
              </a:rPr>
              <a:t>Rule of thumb:  </a:t>
            </a:r>
            <a:pPr indent="0" marL="0">
              <a:buNone/>
            </a:pPr>
            <a:r>
              <a:rPr lang="en-US" sz="1400" dirty="0">
                <a:solidFill>
                  <a:srgbClr val="1E293B"/>
                </a:solidFill>
                <a:latin typeface="Calibri" pitchFamily="34" charset="0"/>
                <a:ea typeface="Calibri" pitchFamily="34" charset="-122"/>
                <a:cs typeface="Calibri" pitchFamily="34" charset="-120"/>
              </a:rPr>
              <a:t>if CI takes longer than a coffee break, people stop waiting for it — and start merging around it.</a:t>
            </a:r>
            <a:endParaRPr lang="en-US" sz="1400" dirty="0"/>
          </a:p>
        </p:txBody>
      </p:sp>
      <p:sp>
        <p:nvSpPr>
          <p:cNvPr id="30" name="Text 24"/>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1" name="Text 25"/>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2496ED"/>
                </a:solidFill>
                <a:latin typeface="Calibri" pitchFamily="34" charset="0"/>
                <a:ea typeface="Calibri" pitchFamily="34" charset="-122"/>
                <a:cs typeface="Calibri" pitchFamily="34" charset="-120"/>
              </a:rPr>
              <a:t>DAY 3 · BUILDING ON THE DOCKER MODULE</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Docker in the pipeline</a:t>
            </a:r>
            <a:endParaRPr lang="en-US" sz="3000" dirty="0"/>
          </a:p>
        </p:txBody>
      </p:sp>
      <p:sp>
        <p:nvSpPr>
          <p:cNvPr id="4" name="Text 2"/>
          <p:cNvSpPr/>
          <p:nvPr/>
        </p:nvSpPr>
        <p:spPr>
          <a:xfrm>
            <a:off x="640080" y="1316736"/>
            <a:ext cx="10972800" cy="54864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The Package stage, made real. CI builds your image, then pushes it to a registry — the exact image that passed tests is the one that ships.</a:t>
            </a:r>
            <a:endParaRPr lang="en-US" sz="1450" dirty="0"/>
          </a:p>
        </p:txBody>
      </p:sp>
      <p:sp>
        <p:nvSpPr>
          <p:cNvPr id="5" name="Shape 3"/>
          <p:cNvSpPr/>
          <p:nvPr/>
        </p:nvSpPr>
        <p:spPr>
          <a:xfrm>
            <a:off x="640080" y="1965960"/>
            <a:ext cx="6446520" cy="4160520"/>
          </a:xfrm>
          <a:prstGeom prst="roundRect">
            <a:avLst>
              <a:gd name="adj" fmla="val 1758"/>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6" name="Shape 4"/>
          <p:cNvSpPr/>
          <p:nvPr/>
        </p:nvSpPr>
        <p:spPr>
          <a:xfrm>
            <a:off x="896112" y="2185416"/>
            <a:ext cx="109728" cy="109728"/>
          </a:xfrm>
          <a:prstGeom prst="ellipse">
            <a:avLst/>
          </a:prstGeom>
          <a:solidFill>
            <a:srgbClr val="EF4444"/>
          </a:solidFill>
          <a:ln/>
        </p:spPr>
      </p:sp>
      <p:sp>
        <p:nvSpPr>
          <p:cNvPr id="7" name="Shape 5"/>
          <p:cNvSpPr/>
          <p:nvPr/>
        </p:nvSpPr>
        <p:spPr>
          <a:xfrm>
            <a:off x="1115568" y="2185416"/>
            <a:ext cx="109728" cy="109728"/>
          </a:xfrm>
          <a:prstGeom prst="ellipse">
            <a:avLst/>
          </a:prstGeom>
          <a:solidFill>
            <a:srgbClr val="F59E0B"/>
          </a:solidFill>
          <a:ln/>
        </p:spPr>
      </p:sp>
      <p:sp>
        <p:nvSpPr>
          <p:cNvPr id="8" name="Shape 6"/>
          <p:cNvSpPr/>
          <p:nvPr/>
        </p:nvSpPr>
        <p:spPr>
          <a:xfrm>
            <a:off x="1335024" y="2185416"/>
            <a:ext cx="109728" cy="109728"/>
          </a:xfrm>
          <a:prstGeom prst="ellipse">
            <a:avLst/>
          </a:prstGeom>
          <a:solidFill>
            <a:srgbClr val="22C55E"/>
          </a:solidFill>
          <a:ln/>
        </p:spPr>
      </p:sp>
      <p:sp>
        <p:nvSpPr>
          <p:cNvPr id="9" name="Text 7"/>
          <p:cNvSpPr/>
          <p:nvPr/>
        </p:nvSpPr>
        <p:spPr>
          <a:xfrm>
            <a:off x="1645920" y="2075688"/>
            <a:ext cx="5257800"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build-and-push image</a:t>
            </a:r>
            <a:endParaRPr lang="en-US" sz="1050" dirty="0"/>
          </a:p>
        </p:txBody>
      </p:sp>
      <p:sp>
        <p:nvSpPr>
          <p:cNvPr id="10" name="Shape 8"/>
          <p:cNvSpPr/>
          <p:nvPr/>
        </p:nvSpPr>
        <p:spPr>
          <a:xfrm>
            <a:off x="640080" y="2441448"/>
            <a:ext cx="6446520" cy="0"/>
          </a:xfrm>
          <a:prstGeom prst="line">
            <a:avLst/>
          </a:prstGeom>
          <a:noFill/>
          <a:ln w="12700">
            <a:solidFill>
              <a:srgbClr val="334155"/>
            </a:solidFill>
            <a:prstDash val="solid"/>
          </a:ln>
        </p:spPr>
      </p:sp>
      <p:sp>
        <p:nvSpPr>
          <p:cNvPr id="11" name="Text 9"/>
          <p:cNvSpPr/>
          <p:nvPr/>
        </p:nvSpPr>
        <p:spPr>
          <a:xfrm>
            <a:off x="932688" y="2551176"/>
            <a:ext cx="5879592" cy="3429000"/>
          </a:xfrm>
          <a:prstGeom prst="rect">
            <a:avLst/>
          </a:prstGeom>
          <a:noFill/>
          <a:ln/>
        </p:spPr>
        <p:txBody>
          <a:bodyPr wrap="square" lIns="0" tIns="0" rIns="0" bIns="0" rtlCol="0" anchor="t"/>
          <a:lstStyle/>
          <a:p>
            <a:pPr indent="0" marL="0">
              <a:lnSpc>
                <a:spcPct val="116000"/>
              </a:lnSpc>
              <a:buNone/>
            </a:pPr>
            <a:r>
              <a:rPr lang="en-US" sz="1200" dirty="0">
                <a:solidFill>
                  <a:srgbClr val="94A3B8"/>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uses:</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 docker/login-action@v3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with:</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registry: </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ghcr.io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username: </a:t>
            </a:r>
            <a:pPr indent="0" marL="0">
              <a:lnSpc>
                <a:spcPct val="116000"/>
              </a:lnSpc>
              <a:buNone/>
            </a:pPr>
            <a:r>
              <a:rPr lang="en-US" sz="1200" dirty="0">
                <a:solidFill>
                  <a:srgbClr val="C4B5FD"/>
                </a:solidFill>
                <a:latin typeface="Courier New" pitchFamily="34" charset="0"/>
                <a:ea typeface="Courier New" pitchFamily="34" charset="-122"/>
                <a:cs typeface="Courier New" pitchFamily="34" charset="-120"/>
              </a:rPr>
              <a:t>${{ github.actor }}</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password: </a:t>
            </a:r>
            <a:pPr indent="0" marL="0">
              <a:lnSpc>
                <a:spcPct val="116000"/>
              </a:lnSpc>
              <a:buNone/>
            </a:pPr>
            <a:r>
              <a:rPr lang="en-US" sz="1200" dirty="0">
                <a:solidFill>
                  <a:srgbClr val="C4B5FD"/>
                </a:solidFill>
                <a:latin typeface="Courier New" pitchFamily="34" charset="0"/>
                <a:ea typeface="Courier New" pitchFamily="34" charset="-122"/>
                <a:cs typeface="Courier New" pitchFamily="34" charset="-120"/>
              </a:rPr>
              <a:t>${{ secrets.GITHUB_TOKEN }}</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94A3B8"/>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uses:</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 docker/build-push-action@v6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with:</a:t>
            </a:r>
            <a:pPr indent="0" marL="0">
              <a:lnSpc>
                <a:spcPct val="116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push: </a:t>
            </a:r>
            <a:pPr indent="0" marL="0">
              <a:lnSpc>
                <a:spcPct val="116000"/>
              </a:lnSpc>
              <a:buNone/>
            </a:pPr>
            <a:r>
              <a:rPr lang="en-US" sz="1200" dirty="0">
                <a:solidFill>
                  <a:srgbClr val="34D399"/>
                </a:solidFill>
                <a:latin typeface="Courier New" pitchFamily="34" charset="0"/>
                <a:ea typeface="Courier New" pitchFamily="34" charset="-122"/>
                <a:cs typeface="Courier New" pitchFamily="34" charset="-120"/>
              </a:rPr>
              <a:t>true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tags: </a:t>
            </a:r>
            <a:pPr indent="0" marL="0">
              <a:lnSpc>
                <a:spcPct val="116000"/>
              </a:lnSpc>
              <a:buNone/>
            </a:pPr>
            <a:r>
              <a:rPr lang="en-US" sz="1200" dirty="0">
                <a:solidFill>
                  <a:srgbClr val="C4B5FD"/>
                </a:solidFill>
                <a:latin typeface="Courier New" pitchFamily="34" charset="0"/>
                <a:ea typeface="Courier New" pitchFamily="34" charset="-122"/>
                <a:cs typeface="Courier New" pitchFamily="34" charset="-120"/>
              </a:rPr>
              <a:t>ghcr.io/${{ github.repository }}</a:t>
            </a:r>
            <a:pPr indent="0" marL="0">
              <a:lnSpc>
                <a:spcPct val="116000"/>
              </a:lnSpc>
              <a:buNone/>
            </a:pPr>
            <a:r>
              <a:rPr lang="en-US" sz="1200" dirty="0">
                <a:solidFill>
                  <a:srgbClr val="C4B5FD"/>
                </a:solidFill>
                <a:latin typeface="Courier New" pitchFamily="34" charset="0"/>
                <a:ea typeface="Courier New" pitchFamily="34" charset="-122"/>
                <a:cs typeface="Courier New" pitchFamily="34" charset="-120"/>
              </a:rPr>
              <a:t>:${{ github.sha }}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cache-from: </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type=gha
</a:t>
            </a:r>
            <a:pPr indent="0" marL="0">
              <a:lnSpc>
                <a:spcPct val="116000"/>
              </a:lnSpc>
              <a:buNone/>
            </a:pPr>
            <a:r>
              <a:rPr lang="en-US" sz="1200" dirty="0">
                <a:solidFill>
                  <a:srgbClr val="38BDF8"/>
                </a:solidFill>
                <a:latin typeface="Courier New" pitchFamily="34" charset="0"/>
                <a:ea typeface="Courier New" pitchFamily="34" charset="-122"/>
                <a:cs typeface="Courier New" pitchFamily="34" charset="-120"/>
              </a:rPr>
              <a:t>    cache-to:   </a:t>
            </a:r>
            <a:pPr indent="0" marL="0">
              <a:lnSpc>
                <a:spcPct val="116000"/>
              </a:lnSpc>
              <a:buNone/>
            </a:pPr>
            <a:r>
              <a:rPr lang="en-US" sz="1200" dirty="0">
                <a:solidFill>
                  <a:srgbClr val="FBBF24"/>
                </a:solidFill>
                <a:latin typeface="Courier New" pitchFamily="34" charset="0"/>
                <a:ea typeface="Courier New" pitchFamily="34" charset="-122"/>
                <a:cs typeface="Courier New" pitchFamily="34" charset="-120"/>
              </a:rPr>
              <a:t>type=gha,mode=max
</a:t>
            </a:r>
            <a:endParaRPr lang="en-US" sz="1200" dirty="0"/>
          </a:p>
        </p:txBody>
      </p:sp>
      <p:sp>
        <p:nvSpPr>
          <p:cNvPr id="12" name="Shape 10"/>
          <p:cNvSpPr/>
          <p:nvPr/>
        </p:nvSpPr>
        <p:spPr>
          <a:xfrm>
            <a:off x="7315200" y="1965960"/>
            <a:ext cx="4233672" cy="1280160"/>
          </a:xfrm>
          <a:prstGeom prst="roundRect">
            <a:avLst>
              <a:gd name="adj" fmla="val 5714"/>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13" name="Shape 11"/>
          <p:cNvSpPr/>
          <p:nvPr/>
        </p:nvSpPr>
        <p:spPr>
          <a:xfrm>
            <a:off x="7534656" y="2203704"/>
            <a:ext cx="457200" cy="457200"/>
          </a:xfrm>
          <a:prstGeom prst="ellipse">
            <a:avLst/>
          </a:prstGeom>
          <a:solidFill>
            <a:srgbClr val="2496ED"/>
          </a:solidFill>
          <a:ln/>
        </p:spPr>
      </p:sp>
      <p:pic>
        <p:nvPicPr>
          <p:cNvPr id="14" name="Image 0" descr="preencoded.png">    </p:cNvPr>
          <p:cNvPicPr>
            <a:picLocks noChangeAspect="1"/>
          </p:cNvPicPr>
          <p:nvPr/>
        </p:nvPicPr>
        <p:blipFill>
          <a:blip r:embed="rId1"/>
          <a:stretch>
            <a:fillRect/>
          </a:stretch>
        </p:blipFill>
        <p:spPr>
          <a:xfrm>
            <a:off x="7648956" y="2318004"/>
            <a:ext cx="228600" cy="228600"/>
          </a:xfrm>
          <a:prstGeom prst="rect">
            <a:avLst/>
          </a:prstGeom>
        </p:spPr>
      </p:pic>
      <p:sp>
        <p:nvSpPr>
          <p:cNvPr id="15" name="Text 12"/>
          <p:cNvSpPr/>
          <p:nvPr/>
        </p:nvSpPr>
        <p:spPr>
          <a:xfrm>
            <a:off x="8138160" y="2148840"/>
            <a:ext cx="3291840"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GITHUB_TOKEN is free</a:t>
            </a:r>
            <a:endParaRPr lang="en-US" sz="1350" dirty="0"/>
          </a:p>
        </p:txBody>
      </p:sp>
      <p:sp>
        <p:nvSpPr>
          <p:cNvPr id="16" name="Text 13"/>
          <p:cNvSpPr/>
          <p:nvPr/>
        </p:nvSpPr>
        <p:spPr>
          <a:xfrm>
            <a:off x="8138160" y="2478024"/>
            <a:ext cx="3291840" cy="65836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GitHub injects a scoped token per run — no secret to create for pushing to GHCR.</a:t>
            </a:r>
            <a:endParaRPr lang="en-US" sz="1100" dirty="0"/>
          </a:p>
        </p:txBody>
      </p:sp>
      <p:sp>
        <p:nvSpPr>
          <p:cNvPr id="17" name="Shape 14"/>
          <p:cNvSpPr/>
          <p:nvPr/>
        </p:nvSpPr>
        <p:spPr>
          <a:xfrm>
            <a:off x="7315200" y="3355848"/>
            <a:ext cx="4233672" cy="1280160"/>
          </a:xfrm>
          <a:prstGeom prst="roundRect">
            <a:avLst>
              <a:gd name="adj" fmla="val 5714"/>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18" name="Shape 15"/>
          <p:cNvSpPr/>
          <p:nvPr/>
        </p:nvSpPr>
        <p:spPr>
          <a:xfrm>
            <a:off x="7534656" y="3593592"/>
            <a:ext cx="457200" cy="457200"/>
          </a:xfrm>
          <a:prstGeom prst="ellipse">
            <a:avLst/>
          </a:prstGeom>
          <a:solidFill>
            <a:srgbClr val="2496ED"/>
          </a:solidFill>
          <a:ln/>
        </p:spPr>
      </p:sp>
      <p:pic>
        <p:nvPicPr>
          <p:cNvPr id="19" name="Image 1" descr="preencoded.png">    </p:cNvPr>
          <p:cNvPicPr>
            <a:picLocks noChangeAspect="1"/>
          </p:cNvPicPr>
          <p:nvPr/>
        </p:nvPicPr>
        <p:blipFill>
          <a:blip r:embed="rId2"/>
          <a:stretch>
            <a:fillRect/>
          </a:stretch>
        </p:blipFill>
        <p:spPr>
          <a:xfrm>
            <a:off x="7648956" y="3707892"/>
            <a:ext cx="228600" cy="228600"/>
          </a:xfrm>
          <a:prstGeom prst="rect">
            <a:avLst/>
          </a:prstGeom>
        </p:spPr>
      </p:pic>
      <p:sp>
        <p:nvSpPr>
          <p:cNvPr id="20" name="Text 16"/>
          <p:cNvSpPr/>
          <p:nvPr/>
        </p:nvSpPr>
        <p:spPr>
          <a:xfrm>
            <a:off x="8138160" y="3538728"/>
            <a:ext cx="3291840"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Tag by commit SHA</a:t>
            </a:r>
            <a:endParaRPr lang="en-US" sz="1350" dirty="0"/>
          </a:p>
        </p:txBody>
      </p:sp>
      <p:sp>
        <p:nvSpPr>
          <p:cNvPr id="21" name="Text 17"/>
          <p:cNvSpPr/>
          <p:nvPr/>
        </p:nvSpPr>
        <p:spPr>
          <a:xfrm>
            <a:off x="8138160" y="3867912"/>
            <a:ext cx="3291840" cy="65836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github.sha makes every image uniquely traceable back to the exact commit.</a:t>
            </a:r>
            <a:endParaRPr lang="en-US" sz="1100" dirty="0"/>
          </a:p>
        </p:txBody>
      </p:sp>
      <p:sp>
        <p:nvSpPr>
          <p:cNvPr id="22" name="Shape 18"/>
          <p:cNvSpPr/>
          <p:nvPr/>
        </p:nvSpPr>
        <p:spPr>
          <a:xfrm>
            <a:off x="7315200" y="4745736"/>
            <a:ext cx="4233672" cy="1280160"/>
          </a:xfrm>
          <a:prstGeom prst="roundRect">
            <a:avLst>
              <a:gd name="adj" fmla="val 5714"/>
            </a:avLst>
          </a:prstGeom>
          <a:solidFill>
            <a:srgbClr val="FFFFFF"/>
          </a:solidFill>
          <a:ln w="12700">
            <a:solidFill>
              <a:srgbClr val="E2E8F0"/>
            </a:solidFill>
            <a:prstDash val="solid"/>
          </a:ln>
          <a:effectLst>
            <a:outerShdw sx="100000" sy="100000" kx="0" ky="0" algn="bl" rotWithShape="0" blurRad="63500" dist="25400" dir="5400000">
              <a:srgbClr val="0F172A">
                <a:alpha val="8000"/>
              </a:srgbClr>
            </a:outerShdw>
          </a:effectLst>
        </p:spPr>
      </p:sp>
      <p:sp>
        <p:nvSpPr>
          <p:cNvPr id="23" name="Shape 19"/>
          <p:cNvSpPr/>
          <p:nvPr/>
        </p:nvSpPr>
        <p:spPr>
          <a:xfrm>
            <a:off x="7534656" y="4983480"/>
            <a:ext cx="457200" cy="457200"/>
          </a:xfrm>
          <a:prstGeom prst="ellipse">
            <a:avLst/>
          </a:prstGeom>
          <a:solidFill>
            <a:srgbClr val="2496ED"/>
          </a:solidFill>
          <a:ln/>
        </p:spPr>
      </p:sp>
      <p:pic>
        <p:nvPicPr>
          <p:cNvPr id="24" name="Image 2" descr="preencoded.png">    </p:cNvPr>
          <p:cNvPicPr>
            <a:picLocks noChangeAspect="1"/>
          </p:cNvPicPr>
          <p:nvPr/>
        </p:nvPicPr>
        <p:blipFill>
          <a:blip r:embed="rId3"/>
          <a:stretch>
            <a:fillRect/>
          </a:stretch>
        </p:blipFill>
        <p:spPr>
          <a:xfrm>
            <a:off x="7648956" y="5097780"/>
            <a:ext cx="228600" cy="228600"/>
          </a:xfrm>
          <a:prstGeom prst="rect">
            <a:avLst/>
          </a:prstGeom>
        </p:spPr>
      </p:pic>
      <p:sp>
        <p:nvSpPr>
          <p:cNvPr id="25" name="Text 20"/>
          <p:cNvSpPr/>
          <p:nvPr/>
        </p:nvSpPr>
        <p:spPr>
          <a:xfrm>
            <a:off x="8138160" y="4928616"/>
            <a:ext cx="3291840" cy="310896"/>
          </a:xfrm>
          <a:prstGeom prst="rect">
            <a:avLst/>
          </a:prstGeom>
          <a:noFill/>
          <a:ln/>
        </p:spPr>
        <p:txBody>
          <a:bodyPr wrap="square" lIns="0" tIns="0" rIns="0" bIns="0" rtlCol="0" anchor="ctr"/>
          <a:lstStyle/>
          <a:p>
            <a:pPr indent="0" marL="0">
              <a:buNone/>
            </a:pPr>
            <a:r>
              <a:rPr lang="en-US" sz="1350" b="1" dirty="0">
                <a:solidFill>
                  <a:srgbClr val="0F172A"/>
                </a:solidFill>
                <a:latin typeface="Bookman Old Style" pitchFamily="34" charset="0"/>
                <a:ea typeface="Bookman Old Style" pitchFamily="34" charset="-122"/>
                <a:cs typeface="Bookman Old Style" pitchFamily="34" charset="-120"/>
              </a:rPr>
              <a:t>type=gha layer cache</a:t>
            </a:r>
            <a:endParaRPr lang="en-US" sz="1350" dirty="0"/>
          </a:p>
        </p:txBody>
      </p:sp>
      <p:sp>
        <p:nvSpPr>
          <p:cNvPr id="26" name="Text 21"/>
          <p:cNvSpPr/>
          <p:nvPr/>
        </p:nvSpPr>
        <p:spPr>
          <a:xfrm>
            <a:off x="8138160" y="5257800"/>
            <a:ext cx="3291840" cy="658368"/>
          </a:xfrm>
          <a:prstGeom prst="rect">
            <a:avLst/>
          </a:prstGeom>
          <a:noFill/>
          <a:ln/>
        </p:spPr>
        <p:txBody>
          <a:bodyPr wrap="square" lIns="0" tIns="0" rIns="0" bIns="0" rtlCol="0" anchor="ctr"/>
          <a:lstStyle/>
          <a:p>
            <a:pPr indent="0" marL="0">
              <a:lnSpc>
                <a:spcPct val="102000"/>
              </a:lnSpc>
              <a:buNone/>
            </a:pPr>
            <a:r>
              <a:rPr lang="en-US" sz="1100" dirty="0">
                <a:solidFill>
                  <a:srgbClr val="1E293B"/>
                </a:solidFill>
                <a:latin typeface="Calibri" pitchFamily="34" charset="0"/>
                <a:ea typeface="Calibri" pitchFamily="34" charset="-122"/>
                <a:cs typeface="Calibri" pitchFamily="34" charset="-120"/>
              </a:rPr>
              <a:t>Unchanged Dockerfile stages are pulled from cache, not rebuilt — fast images.</a:t>
            </a:r>
            <a:endParaRPr lang="en-US" sz="1100" dirty="0"/>
          </a:p>
        </p:txBody>
      </p:sp>
      <p:sp>
        <p:nvSpPr>
          <p:cNvPr id="28" name="Text 22"/>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9" name="Text 23"/>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HANDLE CREDENTIALS SAFELY</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Secrets, never in the file</a:t>
            </a:r>
            <a:endParaRPr lang="en-US" sz="3000" dirty="0"/>
          </a:p>
        </p:txBody>
      </p:sp>
      <p:sp>
        <p:nvSpPr>
          <p:cNvPr id="4" name="Shape 2"/>
          <p:cNvSpPr/>
          <p:nvPr/>
        </p:nvSpPr>
        <p:spPr>
          <a:xfrm>
            <a:off x="640080" y="1463040"/>
            <a:ext cx="5394960" cy="1783080"/>
          </a:xfrm>
          <a:prstGeom prst="roundRect">
            <a:avLst>
              <a:gd name="adj" fmla="val 4615"/>
            </a:avLst>
          </a:prstGeom>
          <a:solidFill>
            <a:srgbClr val="FFF7ED"/>
          </a:solidFill>
          <a:ln w="12700">
            <a:solidFill>
              <a:srgbClr val="FED7AA"/>
            </a:solidFill>
            <a:prstDash val="solid"/>
          </a:ln>
          <a:effectLst>
            <a:outerShdw sx="100000" sy="100000" kx="0" ky="0" algn="bl" rotWithShape="0" blurRad="88900" dist="38100" dir="5400000">
              <a:srgbClr val="0F172A">
                <a:alpha val="10000"/>
              </a:srgbClr>
            </a:outerShdw>
          </a:effectLst>
        </p:spPr>
      </p:sp>
      <p:sp>
        <p:nvSpPr>
          <p:cNvPr id="5" name="Shape 3"/>
          <p:cNvSpPr/>
          <p:nvPr/>
        </p:nvSpPr>
        <p:spPr>
          <a:xfrm>
            <a:off x="896112" y="1719072"/>
            <a:ext cx="566928" cy="566928"/>
          </a:xfrm>
          <a:prstGeom prst="ellipse">
            <a:avLst/>
          </a:prstGeom>
          <a:solidFill>
            <a:srgbClr val="F97316"/>
          </a:solidFill>
          <a:ln/>
        </p:spPr>
      </p:sp>
      <p:pic>
        <p:nvPicPr>
          <p:cNvPr id="6" name="Image 0" descr="preencoded.png">    </p:cNvPr>
          <p:cNvPicPr>
            <a:picLocks noChangeAspect="1"/>
          </p:cNvPicPr>
          <p:nvPr/>
        </p:nvPicPr>
        <p:blipFill>
          <a:blip r:embed="rId1"/>
          <a:stretch>
            <a:fillRect/>
          </a:stretch>
        </p:blipFill>
        <p:spPr>
          <a:xfrm>
            <a:off x="1037844" y="1860804"/>
            <a:ext cx="283464" cy="283464"/>
          </a:xfrm>
          <a:prstGeom prst="rect">
            <a:avLst/>
          </a:prstGeom>
        </p:spPr>
      </p:pic>
      <p:sp>
        <p:nvSpPr>
          <p:cNvPr id="7" name="Text 4"/>
          <p:cNvSpPr/>
          <p:nvPr/>
        </p:nvSpPr>
        <p:spPr>
          <a:xfrm>
            <a:off x="1609344" y="1737360"/>
            <a:ext cx="4224528" cy="237744"/>
          </a:xfrm>
          <a:prstGeom prst="rect">
            <a:avLst/>
          </a:prstGeom>
          <a:noFill/>
          <a:ln/>
        </p:spPr>
        <p:txBody>
          <a:bodyPr wrap="square" lIns="0" tIns="0" rIns="0" bIns="0" rtlCol="0" anchor="ctr"/>
          <a:lstStyle/>
          <a:p>
            <a:pPr indent="0" marL="0">
              <a:buNone/>
            </a:pPr>
            <a:r>
              <a:rPr lang="en-US" sz="1100" b="1" spc="200" kern="0" dirty="0">
                <a:solidFill>
                  <a:srgbClr val="C2410C"/>
                </a:solidFill>
                <a:latin typeface="Calibri" pitchFamily="34" charset="0"/>
                <a:ea typeface="Calibri" pitchFamily="34" charset="-122"/>
                <a:cs typeface="Calibri" pitchFamily="34" charset="-120"/>
              </a:rPr>
              <a:t>NEVER DO THIS</a:t>
            </a:r>
            <a:endParaRPr lang="en-US" sz="1100" dirty="0"/>
          </a:p>
        </p:txBody>
      </p:sp>
      <p:sp>
        <p:nvSpPr>
          <p:cNvPr id="8" name="Text 5"/>
          <p:cNvSpPr/>
          <p:nvPr/>
        </p:nvSpPr>
        <p:spPr>
          <a:xfrm>
            <a:off x="1609344" y="1956816"/>
            <a:ext cx="422452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Hard-coded keys</a:t>
            </a:r>
            <a:endParaRPr lang="en-US" sz="1550" dirty="0"/>
          </a:p>
        </p:txBody>
      </p:sp>
      <p:sp>
        <p:nvSpPr>
          <p:cNvPr id="9" name="Text 6"/>
          <p:cNvSpPr/>
          <p:nvPr/>
        </p:nvSpPr>
        <p:spPr>
          <a:xfrm>
            <a:off x="914400" y="2505456"/>
            <a:ext cx="4846320" cy="57607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A token pasted into the YAML is committed to history forever and visible to anyone with read access. Rotating it means rewriting git history.</a:t>
            </a:r>
            <a:endParaRPr lang="en-US" sz="1250" dirty="0"/>
          </a:p>
        </p:txBody>
      </p:sp>
      <p:sp>
        <p:nvSpPr>
          <p:cNvPr id="10" name="Shape 7"/>
          <p:cNvSpPr/>
          <p:nvPr/>
        </p:nvSpPr>
        <p:spPr>
          <a:xfrm>
            <a:off x="6144768" y="1463040"/>
            <a:ext cx="5394960" cy="1783080"/>
          </a:xfrm>
          <a:prstGeom prst="roundRect">
            <a:avLst>
              <a:gd name="adj" fmla="val 4615"/>
            </a:avLst>
          </a:prstGeom>
          <a:solidFill>
            <a:srgbClr val="F0FDFA"/>
          </a:solidFill>
          <a:ln w="12700">
            <a:solidFill>
              <a:srgbClr val="99F6E4"/>
            </a:solidFill>
            <a:prstDash val="solid"/>
          </a:ln>
          <a:effectLst>
            <a:outerShdw sx="100000" sy="100000" kx="0" ky="0" algn="bl" rotWithShape="0" blurRad="88900" dist="38100" dir="5400000">
              <a:srgbClr val="0F172A">
                <a:alpha val="10000"/>
              </a:srgbClr>
            </a:outerShdw>
          </a:effectLst>
        </p:spPr>
      </p:sp>
      <p:sp>
        <p:nvSpPr>
          <p:cNvPr id="11" name="Shape 8"/>
          <p:cNvSpPr/>
          <p:nvPr/>
        </p:nvSpPr>
        <p:spPr>
          <a:xfrm>
            <a:off x="6400800" y="1719072"/>
            <a:ext cx="566928" cy="566928"/>
          </a:xfrm>
          <a:prstGeom prst="ellipse">
            <a:avLst/>
          </a:prstGeom>
          <a:solidFill>
            <a:srgbClr val="0D9488"/>
          </a:solidFill>
          <a:ln/>
        </p:spPr>
      </p:sp>
      <p:pic>
        <p:nvPicPr>
          <p:cNvPr id="12" name="Image 1" descr="preencoded.png">    </p:cNvPr>
          <p:cNvPicPr>
            <a:picLocks noChangeAspect="1"/>
          </p:cNvPicPr>
          <p:nvPr/>
        </p:nvPicPr>
        <p:blipFill>
          <a:blip r:embed="rId2"/>
          <a:stretch>
            <a:fillRect/>
          </a:stretch>
        </p:blipFill>
        <p:spPr>
          <a:xfrm>
            <a:off x="6542532" y="1860804"/>
            <a:ext cx="283464" cy="283464"/>
          </a:xfrm>
          <a:prstGeom prst="rect">
            <a:avLst/>
          </a:prstGeom>
        </p:spPr>
      </p:pic>
      <p:sp>
        <p:nvSpPr>
          <p:cNvPr id="13" name="Text 9"/>
          <p:cNvSpPr/>
          <p:nvPr/>
        </p:nvSpPr>
        <p:spPr>
          <a:xfrm>
            <a:off x="7114032" y="1737360"/>
            <a:ext cx="4224528" cy="237744"/>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DO THIS</a:t>
            </a:r>
            <a:endParaRPr lang="en-US" sz="1100" dirty="0"/>
          </a:p>
        </p:txBody>
      </p:sp>
      <p:sp>
        <p:nvSpPr>
          <p:cNvPr id="14" name="Text 10"/>
          <p:cNvSpPr/>
          <p:nvPr/>
        </p:nvSpPr>
        <p:spPr>
          <a:xfrm>
            <a:off x="7114032" y="1956816"/>
            <a:ext cx="4224528" cy="365760"/>
          </a:xfrm>
          <a:prstGeom prst="rect">
            <a:avLst/>
          </a:prstGeom>
          <a:noFill/>
          <a:ln/>
        </p:spPr>
        <p:txBody>
          <a:bodyPr wrap="square" lIns="0" tIns="0" rIns="0" bIns="0" rtlCol="0" anchor="ctr"/>
          <a:lstStyle/>
          <a:p>
            <a:pPr indent="0" marL="0">
              <a:buNone/>
            </a:pPr>
            <a:r>
              <a:rPr lang="en-US" sz="1550" b="1" dirty="0">
                <a:solidFill>
                  <a:srgbClr val="0F172A"/>
                </a:solidFill>
                <a:latin typeface="Bookman Old Style" pitchFamily="34" charset="0"/>
                <a:ea typeface="Bookman Old Style" pitchFamily="34" charset="-122"/>
                <a:cs typeface="Bookman Old Style" pitchFamily="34" charset="-120"/>
              </a:rPr>
              <a:t>Encrypted secrets</a:t>
            </a:r>
            <a:endParaRPr lang="en-US" sz="1550" dirty="0"/>
          </a:p>
        </p:txBody>
      </p:sp>
      <p:sp>
        <p:nvSpPr>
          <p:cNvPr id="15" name="Text 11"/>
          <p:cNvSpPr/>
          <p:nvPr/>
        </p:nvSpPr>
        <p:spPr>
          <a:xfrm>
            <a:off x="6419088" y="2505456"/>
            <a:ext cx="4846320" cy="576072"/>
          </a:xfrm>
          <a:prstGeom prst="rect">
            <a:avLst/>
          </a:prstGeom>
          <a:noFill/>
          <a:ln/>
        </p:spPr>
        <p:txBody>
          <a:bodyPr wrap="square" lIns="0" tIns="0" rIns="0" bIns="0" rtlCol="0" anchor="t"/>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Store them in repo or environment settings. They are encrypted, masked in logs, and referenced as ${{ secrets.NAME }} at run time.</a:t>
            </a:r>
            <a:endParaRPr lang="en-US" sz="1250" dirty="0"/>
          </a:p>
        </p:txBody>
      </p:sp>
      <p:sp>
        <p:nvSpPr>
          <p:cNvPr id="16" name="Shape 12"/>
          <p:cNvSpPr/>
          <p:nvPr/>
        </p:nvSpPr>
        <p:spPr>
          <a:xfrm>
            <a:off x="640080" y="3520440"/>
            <a:ext cx="5806440" cy="2697480"/>
          </a:xfrm>
          <a:prstGeom prst="roundRect">
            <a:avLst>
              <a:gd name="adj" fmla="val 2712"/>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17" name="Shape 13"/>
          <p:cNvSpPr/>
          <p:nvPr/>
        </p:nvSpPr>
        <p:spPr>
          <a:xfrm>
            <a:off x="896112" y="3739896"/>
            <a:ext cx="109728" cy="109728"/>
          </a:xfrm>
          <a:prstGeom prst="ellipse">
            <a:avLst/>
          </a:prstGeom>
          <a:solidFill>
            <a:srgbClr val="EF4444"/>
          </a:solidFill>
          <a:ln/>
        </p:spPr>
      </p:sp>
      <p:sp>
        <p:nvSpPr>
          <p:cNvPr id="18" name="Shape 14"/>
          <p:cNvSpPr/>
          <p:nvPr/>
        </p:nvSpPr>
        <p:spPr>
          <a:xfrm>
            <a:off x="1115568" y="3739896"/>
            <a:ext cx="109728" cy="109728"/>
          </a:xfrm>
          <a:prstGeom prst="ellipse">
            <a:avLst/>
          </a:prstGeom>
          <a:solidFill>
            <a:srgbClr val="F59E0B"/>
          </a:solidFill>
          <a:ln/>
        </p:spPr>
      </p:sp>
      <p:sp>
        <p:nvSpPr>
          <p:cNvPr id="19" name="Shape 15"/>
          <p:cNvSpPr/>
          <p:nvPr/>
        </p:nvSpPr>
        <p:spPr>
          <a:xfrm>
            <a:off x="1335024" y="3739896"/>
            <a:ext cx="109728" cy="109728"/>
          </a:xfrm>
          <a:prstGeom prst="ellipse">
            <a:avLst/>
          </a:prstGeom>
          <a:solidFill>
            <a:srgbClr val="22C55E"/>
          </a:solidFill>
          <a:ln/>
        </p:spPr>
      </p:sp>
      <p:sp>
        <p:nvSpPr>
          <p:cNvPr id="20" name="Text 16"/>
          <p:cNvSpPr/>
          <p:nvPr/>
        </p:nvSpPr>
        <p:spPr>
          <a:xfrm>
            <a:off x="1645920" y="3630168"/>
            <a:ext cx="4617720"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referencing a secret</a:t>
            </a:r>
            <a:endParaRPr lang="en-US" sz="1050" dirty="0"/>
          </a:p>
        </p:txBody>
      </p:sp>
      <p:sp>
        <p:nvSpPr>
          <p:cNvPr id="21" name="Shape 17"/>
          <p:cNvSpPr/>
          <p:nvPr/>
        </p:nvSpPr>
        <p:spPr>
          <a:xfrm>
            <a:off x="640080" y="3995928"/>
            <a:ext cx="5806440" cy="0"/>
          </a:xfrm>
          <a:prstGeom prst="line">
            <a:avLst/>
          </a:prstGeom>
          <a:noFill/>
          <a:ln w="12700">
            <a:solidFill>
              <a:srgbClr val="334155"/>
            </a:solidFill>
            <a:prstDash val="solid"/>
          </a:ln>
        </p:spPr>
      </p:sp>
      <p:sp>
        <p:nvSpPr>
          <p:cNvPr id="22" name="Text 18"/>
          <p:cNvSpPr/>
          <p:nvPr/>
        </p:nvSpPr>
        <p:spPr>
          <a:xfrm>
            <a:off x="932688" y="4105656"/>
            <a:ext cx="5239512" cy="1965960"/>
          </a:xfrm>
          <a:prstGeom prst="rect">
            <a:avLst/>
          </a:prstGeom>
          <a:noFill/>
          <a:ln/>
        </p:spPr>
        <p:txBody>
          <a:bodyPr wrap="square" lIns="0" tIns="0" rIns="0" bIns="0" rtlCol="0" anchor="t"/>
          <a:lstStyle/>
          <a:p>
            <a:pPr indent="0" marL="0">
              <a:lnSpc>
                <a:spcPct val="118000"/>
              </a:lnSpc>
              <a:buNone/>
            </a:pPr>
            <a:r>
              <a:rPr lang="en-US" sz="1250" dirty="0">
                <a:solidFill>
                  <a:srgbClr val="94A3B8"/>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name:</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 Deploy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env:</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API_KEY: </a:t>
            </a:r>
            <a:pPr indent="0" marL="0">
              <a:lnSpc>
                <a:spcPct val="118000"/>
              </a:lnSpc>
              <a:buNone/>
            </a:pPr>
            <a:r>
              <a:rPr lang="en-US" sz="1250" dirty="0">
                <a:solidFill>
                  <a:srgbClr val="C4B5FD"/>
                </a:solidFill>
                <a:latin typeface="Courier New" pitchFamily="34" charset="0"/>
                <a:ea typeface="Courier New" pitchFamily="34" charset="-122"/>
                <a:cs typeface="Courier New" pitchFamily="34" charset="-120"/>
              </a:rPr>
              <a:t>${{ secrets.API_KEY }}</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38BDF8"/>
                </a:solidFill>
                <a:latin typeface="Courier New" pitchFamily="34" charset="0"/>
                <a:ea typeface="Courier New" pitchFamily="34" charset="-122"/>
                <a:cs typeface="Courier New" pitchFamily="34" charset="-120"/>
              </a:rPr>
              <a:t>  run: </a:t>
            </a:r>
            <a:pPr indent="0" marL="0">
              <a:lnSpc>
                <a:spcPct val="118000"/>
              </a:lnSpc>
              <a:buNone/>
            </a:pPr>
            <a:r>
              <a:rPr lang="en-US" sz="1250" dirty="0">
                <a:solidFill>
                  <a:srgbClr val="34D399"/>
                </a:solidFill>
                <a:latin typeface="Courier New" pitchFamily="34" charset="0"/>
                <a:ea typeface="Courier New" pitchFamily="34" charset="-122"/>
                <a:cs typeface="Courier New" pitchFamily="34" charset="-120"/>
              </a:rPr>
              <a:t>./deploy.sh
</a:t>
            </a:r>
            <a:pPr indent="0" marL="0">
              <a:lnSpc>
                <a:spcPct val="118000"/>
              </a:lnSpc>
              <a:buNone/>
            </a:pPr>
            <a:r>
              <a:rPr lang="en-US" sz="1250" dirty="0">
                <a:solidFill>
                  <a:srgbClr val="94A3B8"/>
                </a:solidFill>
                <a:latin typeface="Courier New" pitchFamily="34" charset="0"/>
                <a:ea typeface="Courier New" pitchFamily="34" charset="-122"/>
                <a:cs typeface="Courier New" pitchFamily="34" charset="-120"/>
              </a:rPr>
              <a:t># in logs, the value prints as:
</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API_KEY=</a:t>
            </a:r>
            <a:pPr indent="0" marL="0">
              <a:lnSpc>
                <a:spcPct val="118000"/>
              </a:lnSpc>
              <a:buNone/>
            </a:pPr>
            <a:r>
              <a:rPr lang="en-US" sz="1250" dirty="0">
                <a:solidFill>
                  <a:srgbClr val="F97316"/>
                </a:solidFill>
                <a:latin typeface="Courier New" pitchFamily="34" charset="0"/>
                <a:ea typeface="Courier New" pitchFamily="34" charset="-122"/>
                <a:cs typeface="Courier New" pitchFamily="34" charset="-120"/>
              </a:rPr>
              <a:t>***</a:t>
            </a:r>
            <a:pPr indent="0" marL="0">
              <a:lnSpc>
                <a:spcPct val="118000"/>
              </a:lnSpc>
              <a:buNone/>
            </a:pPr>
            <a:r>
              <a:rPr lang="en-US" sz="1250" dirty="0">
                <a:solidFill>
                  <a:srgbClr val="FFFFFF"/>
                </a:solidFill>
                <a:latin typeface="Courier New" pitchFamily="34" charset="0"/>
                <a:ea typeface="Courier New" pitchFamily="34" charset="-122"/>
                <a:cs typeface="Courier New" pitchFamily="34" charset="-120"/>
              </a:rPr>
              <a:t>  </a:t>
            </a:r>
            <a:pPr indent="0" marL="0">
              <a:lnSpc>
                <a:spcPct val="118000"/>
              </a:lnSpc>
              <a:buNone/>
            </a:pPr>
            <a:r>
              <a:rPr lang="en-US" sz="1250" dirty="0">
                <a:solidFill>
                  <a:srgbClr val="94A3B8"/>
                </a:solidFill>
                <a:latin typeface="Courier New" pitchFamily="34" charset="0"/>
                <a:ea typeface="Courier New" pitchFamily="34" charset="-122"/>
                <a:cs typeface="Courier New" pitchFamily="34" charset="-120"/>
              </a:rPr>
              <a:t>(auto-masked)</a:t>
            </a:r>
            <a:endParaRPr lang="en-US" sz="1250" dirty="0"/>
          </a:p>
        </p:txBody>
      </p:sp>
      <p:sp>
        <p:nvSpPr>
          <p:cNvPr id="23" name="Shape 19"/>
          <p:cNvSpPr/>
          <p:nvPr/>
        </p:nvSpPr>
        <p:spPr>
          <a:xfrm>
            <a:off x="6675120" y="3520440"/>
            <a:ext cx="4873752" cy="2697480"/>
          </a:xfrm>
          <a:prstGeom prst="roundRect">
            <a:avLst>
              <a:gd name="adj" fmla="val 305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4" name="Shape 20"/>
          <p:cNvSpPr/>
          <p:nvPr/>
        </p:nvSpPr>
        <p:spPr>
          <a:xfrm>
            <a:off x="6912864" y="3767328"/>
            <a:ext cx="502920" cy="502920"/>
          </a:xfrm>
          <a:prstGeom prst="ellipse">
            <a:avLst/>
          </a:prstGeom>
          <a:solidFill>
            <a:srgbClr val="0F766E"/>
          </a:solidFill>
          <a:ln/>
        </p:spPr>
      </p:sp>
      <p:pic>
        <p:nvPicPr>
          <p:cNvPr id="25" name="Image 2" descr="preencoded.png">    </p:cNvPr>
          <p:cNvPicPr>
            <a:picLocks noChangeAspect="1"/>
          </p:cNvPicPr>
          <p:nvPr/>
        </p:nvPicPr>
        <p:blipFill>
          <a:blip r:embed="rId3"/>
          <a:stretch>
            <a:fillRect/>
          </a:stretch>
        </p:blipFill>
        <p:spPr>
          <a:xfrm>
            <a:off x="7050024" y="3904488"/>
            <a:ext cx="228600" cy="228600"/>
          </a:xfrm>
          <a:prstGeom prst="rect">
            <a:avLst/>
          </a:prstGeom>
        </p:spPr>
      </p:pic>
      <p:sp>
        <p:nvSpPr>
          <p:cNvPr id="26" name="Text 21"/>
          <p:cNvSpPr/>
          <p:nvPr/>
        </p:nvSpPr>
        <p:spPr>
          <a:xfrm>
            <a:off x="7571232" y="3785616"/>
            <a:ext cx="3840480" cy="457200"/>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Environments add guardrails</a:t>
            </a:r>
            <a:endParaRPr lang="en-US" sz="1500" dirty="0"/>
          </a:p>
        </p:txBody>
      </p:sp>
      <p:sp>
        <p:nvSpPr>
          <p:cNvPr id="27" name="Text 22"/>
          <p:cNvSpPr/>
          <p:nvPr/>
        </p:nvSpPr>
        <p:spPr>
          <a:xfrm>
            <a:off x="6912864" y="4370832"/>
            <a:ext cx="4434840" cy="1737360"/>
          </a:xfrm>
          <a:prstGeom prst="rect">
            <a:avLst/>
          </a:prstGeom>
          <a:noFill/>
          <a:ln/>
        </p:spPr>
        <p:txBody>
          <a:bodyPr wrap="square" lIns="0" tIns="0" rIns="0" bIns="0" rtlCol="0" anchor="t"/>
          <a:lstStyle/>
          <a:p>
            <a:pPr indent="0" marL="0">
              <a:lnSpc>
                <a:spcPct val="132000"/>
              </a:lnSpc>
              <a:buNone/>
            </a:pPr>
            <a:r>
              <a:rPr lang="en-US" sz="1250" b="1" dirty="0">
                <a:solidFill>
                  <a:srgbClr val="0F766E"/>
                </a:solidFill>
                <a:latin typeface="Calibri" pitchFamily="34" charset="0"/>
                <a:ea typeface="Calibri" pitchFamily="34" charset="-122"/>
                <a:cs typeface="Calibri" pitchFamily="34" charset="-120"/>
              </a:rPr>
              <a:t>• </a:t>
            </a:r>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Scope secrets per environment — staging keys ≠ prod keys
</a:t>
            </a:r>
            <a:pPr indent="0" marL="0">
              <a:lnSpc>
                <a:spcPct val="132000"/>
              </a:lnSpc>
              <a:buNone/>
            </a:pPr>
            <a:r>
              <a:rPr lang="en-US" sz="1250" b="1" dirty="0">
                <a:solidFill>
                  <a:srgbClr val="0F766E"/>
                </a:solidFill>
                <a:latin typeface="Calibri" pitchFamily="34" charset="0"/>
                <a:ea typeface="Calibri" pitchFamily="34" charset="-122"/>
                <a:cs typeface="Calibri" pitchFamily="34" charset="-120"/>
              </a:rPr>
              <a:t>• </a:t>
            </a:r>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Required reviewers: a human must approve before the job runs
</a:t>
            </a:r>
            <a:pPr indent="0" marL="0">
              <a:lnSpc>
                <a:spcPct val="132000"/>
              </a:lnSpc>
              <a:buNone/>
            </a:pPr>
            <a:r>
              <a:rPr lang="en-US" sz="1250" b="1" dirty="0">
                <a:solidFill>
                  <a:srgbClr val="0F766E"/>
                </a:solidFill>
                <a:latin typeface="Calibri" pitchFamily="34" charset="0"/>
                <a:ea typeface="Calibri" pitchFamily="34" charset="-122"/>
                <a:cs typeface="Calibri" pitchFamily="34" charset="-120"/>
              </a:rPr>
              <a:t>• </a:t>
            </a:r>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Wait timers and branch restrictions on who can deploy
</a:t>
            </a:r>
            <a:pPr indent="0" marL="0">
              <a:lnSpc>
                <a:spcPct val="132000"/>
              </a:lnSpc>
              <a:buNone/>
            </a:pPr>
            <a:r>
              <a:rPr lang="en-US" sz="1250" b="1" dirty="0">
                <a:solidFill>
                  <a:srgbClr val="0F766E"/>
                </a:solidFill>
                <a:latin typeface="Calibri" pitchFamily="34" charset="0"/>
                <a:ea typeface="Calibri" pitchFamily="34" charset="-122"/>
                <a:cs typeface="Calibri" pitchFamily="34" charset="-120"/>
              </a:rPr>
              <a:t>• </a:t>
            </a:r>
            <a:pPr indent="0" marL="0">
              <a:lnSpc>
                <a:spcPct val="132000"/>
              </a:lnSpc>
              <a:buNone/>
            </a:pPr>
            <a:r>
              <a:rPr lang="en-US" sz="1250" i="1" dirty="0">
                <a:solidFill>
                  <a:srgbClr val="64748B"/>
                </a:solidFill>
                <a:latin typeface="Calibri" pitchFamily="34" charset="0"/>
                <a:ea typeface="Calibri" pitchFamily="34" charset="-122"/>
                <a:cs typeface="Calibri" pitchFamily="34" charset="-120"/>
              </a:rPr>
              <a:t>This is exactly how we build the delivery gate on Day 5</a:t>
            </a:r>
            <a:endParaRPr lang="en-US" sz="1250" dirty="0"/>
          </a:p>
        </p:txBody>
      </p:sp>
      <p:sp>
        <p:nvSpPr>
          <p:cNvPr id="29" name="Text 23"/>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0" name="Text 24"/>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F97316"/>
                </a:solidFill>
                <a:latin typeface="Calibri" pitchFamily="34" charset="0"/>
                <a:ea typeface="Calibri" pitchFamily="34" charset="-122"/>
                <a:cs typeface="Calibri" pitchFamily="34" charset="-120"/>
              </a:rPr>
              <a:t>DAY 5 · SHIPPING IT</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CD: the deploy stage</a:t>
            </a:r>
            <a:endParaRPr lang="en-US" sz="3000" dirty="0"/>
          </a:p>
        </p:txBody>
      </p:sp>
      <p:sp>
        <p:nvSpPr>
          <p:cNvPr id="4" name="Text 2"/>
          <p:cNvSpPr/>
          <p:nvPr/>
        </p:nvSpPr>
        <p:spPr>
          <a:xfrm>
            <a:off x="640080" y="1316736"/>
            <a:ext cx="10972800" cy="548640"/>
          </a:xfrm>
          <a:prstGeom prst="rect">
            <a:avLst/>
          </a:prstGeom>
          <a:noFill/>
          <a:ln/>
        </p:spPr>
        <p:txBody>
          <a:bodyPr wrap="square" lIns="0" tIns="0" rIns="0" bIns="0" rtlCol="0" anchor="ctr"/>
          <a:lstStyle/>
          <a:p>
            <a:pPr indent="0" marL="0">
              <a:lnSpc>
                <a:spcPct val="108000"/>
              </a:lnSpc>
              <a:buNone/>
            </a:pPr>
            <a:r>
              <a:rPr lang="en-US" sz="1450" dirty="0">
                <a:solidFill>
                  <a:srgbClr val="64748B"/>
                </a:solidFill>
                <a:latin typeface="Calibri" pitchFamily="34" charset="0"/>
                <a:ea typeface="Calibri" pitchFamily="34" charset="-122"/>
                <a:cs typeface="Calibri" pitchFamily="34" charset="-120"/>
              </a:rPr>
              <a:t>Deploy is just another job — with two safety features: it needs the test job to pass first, and it targets a protected environment with an approval gate.</a:t>
            </a:r>
            <a:endParaRPr lang="en-US" sz="1450" dirty="0"/>
          </a:p>
        </p:txBody>
      </p:sp>
      <p:sp>
        <p:nvSpPr>
          <p:cNvPr id="5" name="Shape 3"/>
          <p:cNvSpPr/>
          <p:nvPr/>
        </p:nvSpPr>
        <p:spPr>
          <a:xfrm>
            <a:off x="640080" y="1965960"/>
            <a:ext cx="6446520" cy="4023360"/>
          </a:xfrm>
          <a:prstGeom prst="roundRect">
            <a:avLst>
              <a:gd name="adj" fmla="val 1818"/>
            </a:avLst>
          </a:prstGeom>
          <a:solidFill>
            <a:srgbClr val="0B1220"/>
          </a:solidFill>
          <a:ln w="12700">
            <a:solidFill>
              <a:srgbClr val="334155"/>
            </a:solidFill>
            <a:prstDash val="solid"/>
          </a:ln>
          <a:effectLst>
            <a:outerShdw sx="100000" sy="100000" kx="0" ky="0" algn="bl" rotWithShape="0" blurRad="114300" dist="50800" dir="5400000">
              <a:srgbClr val="0F172A">
                <a:alpha val="22000"/>
              </a:srgbClr>
            </a:outerShdw>
          </a:effectLst>
        </p:spPr>
      </p:sp>
      <p:sp>
        <p:nvSpPr>
          <p:cNvPr id="6" name="Shape 4"/>
          <p:cNvSpPr/>
          <p:nvPr/>
        </p:nvSpPr>
        <p:spPr>
          <a:xfrm>
            <a:off x="896112" y="2185416"/>
            <a:ext cx="109728" cy="109728"/>
          </a:xfrm>
          <a:prstGeom prst="ellipse">
            <a:avLst/>
          </a:prstGeom>
          <a:solidFill>
            <a:srgbClr val="EF4444"/>
          </a:solidFill>
          <a:ln/>
        </p:spPr>
      </p:sp>
      <p:sp>
        <p:nvSpPr>
          <p:cNvPr id="7" name="Shape 5"/>
          <p:cNvSpPr/>
          <p:nvPr/>
        </p:nvSpPr>
        <p:spPr>
          <a:xfrm>
            <a:off x="1115568" y="2185416"/>
            <a:ext cx="109728" cy="109728"/>
          </a:xfrm>
          <a:prstGeom prst="ellipse">
            <a:avLst/>
          </a:prstGeom>
          <a:solidFill>
            <a:srgbClr val="F59E0B"/>
          </a:solidFill>
          <a:ln/>
        </p:spPr>
      </p:sp>
      <p:sp>
        <p:nvSpPr>
          <p:cNvPr id="8" name="Shape 6"/>
          <p:cNvSpPr/>
          <p:nvPr/>
        </p:nvSpPr>
        <p:spPr>
          <a:xfrm>
            <a:off x="1335024" y="2185416"/>
            <a:ext cx="109728" cy="109728"/>
          </a:xfrm>
          <a:prstGeom prst="ellipse">
            <a:avLst/>
          </a:prstGeom>
          <a:solidFill>
            <a:srgbClr val="22C55E"/>
          </a:solidFill>
          <a:ln/>
        </p:spPr>
      </p:sp>
      <p:sp>
        <p:nvSpPr>
          <p:cNvPr id="9" name="Text 7"/>
          <p:cNvSpPr/>
          <p:nvPr/>
        </p:nvSpPr>
        <p:spPr>
          <a:xfrm>
            <a:off x="1645920" y="2075688"/>
            <a:ext cx="5257800" cy="292608"/>
          </a:xfrm>
          <a:prstGeom prst="rect">
            <a:avLst/>
          </a:prstGeom>
          <a:noFill/>
          <a:ln/>
        </p:spPr>
        <p:txBody>
          <a:bodyPr wrap="square" lIns="0" tIns="0" rIns="0" bIns="0" rtlCol="0" anchor="ctr"/>
          <a:lstStyle/>
          <a:p>
            <a:pPr indent="0" marL="0">
              <a:buNone/>
            </a:pPr>
            <a:r>
              <a:rPr lang="en-US" sz="1050" dirty="0">
                <a:solidFill>
                  <a:srgbClr val="94A3B8"/>
                </a:solidFill>
                <a:latin typeface="Courier New" pitchFamily="34" charset="0"/>
                <a:ea typeface="Courier New" pitchFamily="34" charset="-122"/>
                <a:cs typeface="Courier New" pitchFamily="34" charset="-120"/>
              </a:rPr>
              <a:t>.github/workflows/day5-deploy.yml</a:t>
            </a:r>
            <a:endParaRPr lang="en-US" sz="1050" dirty="0"/>
          </a:p>
        </p:txBody>
      </p:sp>
      <p:sp>
        <p:nvSpPr>
          <p:cNvPr id="10" name="Shape 8"/>
          <p:cNvSpPr/>
          <p:nvPr/>
        </p:nvSpPr>
        <p:spPr>
          <a:xfrm>
            <a:off x="640080" y="2441448"/>
            <a:ext cx="6446520" cy="0"/>
          </a:xfrm>
          <a:prstGeom prst="line">
            <a:avLst/>
          </a:prstGeom>
          <a:noFill/>
          <a:ln w="12700">
            <a:solidFill>
              <a:srgbClr val="334155"/>
            </a:solidFill>
            <a:prstDash val="solid"/>
          </a:ln>
        </p:spPr>
      </p:sp>
      <p:sp>
        <p:nvSpPr>
          <p:cNvPr id="11" name="Text 9"/>
          <p:cNvSpPr/>
          <p:nvPr/>
        </p:nvSpPr>
        <p:spPr>
          <a:xfrm>
            <a:off x="932688" y="2551176"/>
            <a:ext cx="5879592" cy="3291840"/>
          </a:xfrm>
          <a:prstGeom prst="rect">
            <a:avLst/>
          </a:prstGeom>
          <a:noFill/>
          <a:ln/>
        </p:spPr>
        <p:txBody>
          <a:bodyPr wrap="square" lIns="0" tIns="0" rIns="0" bIns="0" rtlCol="0" anchor="t"/>
          <a:lstStyle/>
          <a:p>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jobs:</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test:</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runs-on: ubuntu-latest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steps: </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 ... npm ci, npm test ]
</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deploy: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needs: </a:t>
            </a:r>
            <a:pPr indent="0" marL="0">
              <a:lnSpc>
                <a:spcPct val="114000"/>
              </a:lnSpc>
              <a:buNone/>
            </a:pPr>
            <a:r>
              <a:rPr lang="en-US" sz="1200" dirty="0">
                <a:solidFill>
                  <a:srgbClr val="C4B5FD"/>
                </a:solidFill>
                <a:latin typeface="Courier New" pitchFamily="34" charset="0"/>
                <a:ea typeface="Courier New" pitchFamily="34" charset="-122"/>
                <a:cs typeface="Courier New" pitchFamily="34" charset="-120"/>
              </a:rPr>
              <a:t>test</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34D399"/>
                </a:solidFill>
                <a:latin typeface="Courier New" pitchFamily="34" charset="0"/>
                <a:ea typeface="Courier New" pitchFamily="34" charset="-122"/>
                <a:cs typeface="Courier New" pitchFamily="34" charset="-120"/>
              </a:rPr>
              <a:t># gate: test must pass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environment: </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staging</a:t>
            </a:r>
            <a:pPr indent="0" marL="0">
              <a:lnSpc>
                <a:spcPct val="114000"/>
              </a:lnSpc>
              <a:buNone/>
            </a:pPr>
            <a:r>
              <a:rPr lang="en-US" sz="1200" dirty="0">
                <a:solidFill>
                  <a:srgbClr val="34D399"/>
                </a:solidFill>
                <a:latin typeface="Courier New" pitchFamily="34" charset="0"/>
                <a:ea typeface="Courier New" pitchFamily="34" charset="-122"/>
                <a:cs typeface="Courier New" pitchFamily="34" charset="-120"/>
              </a:rPr>
              <a:t>  # gate: approval + secrets
</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runs-on: ubuntu-latest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steps:</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uses:</a:t>
            </a:r>
            <a:pPr indent="0" marL="0">
              <a:lnSpc>
                <a:spcPct val="114000"/>
              </a:lnSpc>
              <a:buNone/>
            </a:pPr>
            <a:r>
              <a:rPr lang="en-US" sz="1200" dirty="0">
                <a:solidFill>
                  <a:srgbClr val="FBBF24"/>
                </a:solidFill>
                <a:latin typeface="Courier New" pitchFamily="34" charset="0"/>
                <a:ea typeface="Courier New" pitchFamily="34" charset="-122"/>
                <a:cs typeface="Courier New" pitchFamily="34" charset="-120"/>
              </a:rPr>
              <a:t> actions/checkout@v4
</a:t>
            </a:r>
            <a:pPr indent="0" marL="0">
              <a:lnSpc>
                <a:spcPct val="114000"/>
              </a:lnSpc>
              <a:buNone/>
            </a:pPr>
            <a:r>
              <a:rPr lang="en-US" sz="1200" dirty="0">
                <a:solidFill>
                  <a:srgbClr val="94A3B8"/>
                </a:solidFill>
                <a:latin typeface="Courier New" pitchFamily="34" charset="0"/>
                <a:ea typeface="Courier New" pitchFamily="34" charset="-122"/>
                <a:cs typeface="Courier New" pitchFamily="34" charset="-120"/>
              </a:rPr>
              <a:t>      -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run:</a:t>
            </a:r>
            <a:pPr indent="0" marL="0">
              <a:lnSpc>
                <a:spcPct val="114000"/>
              </a:lnSpc>
              <a:buNone/>
            </a:pPr>
            <a:r>
              <a:rPr lang="en-US" sz="1200" dirty="0">
                <a:solidFill>
                  <a:srgbClr val="34D399"/>
                </a:solidFill>
                <a:latin typeface="Courier New" pitchFamily="34" charset="0"/>
                <a:ea typeface="Courier New" pitchFamily="34" charset="-122"/>
                <a:cs typeface="Courier New" pitchFamily="34" charset="-120"/>
              </a:rPr>
              <a:t> ./deploy.sh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env:</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pPr indent="0" marL="0">
              <a:lnSpc>
                <a:spcPct val="114000"/>
              </a:lnSpc>
              <a:buNone/>
            </a:pPr>
            <a:r>
              <a:rPr lang="en-US" sz="1200" dirty="0">
                <a:solidFill>
                  <a:srgbClr val="38BDF8"/>
                </a:solidFill>
                <a:latin typeface="Courier New" pitchFamily="34" charset="0"/>
                <a:ea typeface="Courier New" pitchFamily="34" charset="-122"/>
                <a:cs typeface="Courier New" pitchFamily="34" charset="-120"/>
              </a:rPr>
              <a:t>          TOKEN: </a:t>
            </a:r>
            <a:pPr indent="0" marL="0">
              <a:lnSpc>
                <a:spcPct val="114000"/>
              </a:lnSpc>
              <a:buNone/>
            </a:pPr>
            <a:r>
              <a:rPr lang="en-US" sz="1200" dirty="0">
                <a:solidFill>
                  <a:srgbClr val="C4B5FD"/>
                </a:solidFill>
                <a:latin typeface="Courier New" pitchFamily="34" charset="0"/>
                <a:ea typeface="Courier New" pitchFamily="34" charset="-122"/>
                <a:cs typeface="Courier New" pitchFamily="34" charset="-120"/>
              </a:rPr>
              <a:t>${{ secrets.DEPLOY_TOKEN }}</a:t>
            </a:r>
            <a:pPr indent="0" marL="0">
              <a:lnSpc>
                <a:spcPct val="114000"/>
              </a:lnSpc>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p:txBody>
      </p:sp>
      <p:sp>
        <p:nvSpPr>
          <p:cNvPr id="12" name="Shape 10"/>
          <p:cNvSpPr/>
          <p:nvPr/>
        </p:nvSpPr>
        <p:spPr>
          <a:xfrm>
            <a:off x="7315200" y="1965960"/>
            <a:ext cx="4233672" cy="1938528"/>
          </a:xfrm>
          <a:prstGeom prst="roundRect">
            <a:avLst>
              <a:gd name="adj" fmla="val 4245"/>
            </a:avLst>
          </a:prstGeom>
          <a:solidFill>
            <a:srgbClr val="FFF7ED"/>
          </a:solidFill>
          <a:ln w="12700">
            <a:solidFill>
              <a:srgbClr val="FED7AA"/>
            </a:solidFill>
            <a:prstDash val="solid"/>
          </a:ln>
        </p:spPr>
      </p:sp>
      <p:sp>
        <p:nvSpPr>
          <p:cNvPr id="13" name="Shape 11"/>
          <p:cNvSpPr/>
          <p:nvPr/>
        </p:nvSpPr>
        <p:spPr>
          <a:xfrm>
            <a:off x="7552944" y="2203704"/>
            <a:ext cx="502920" cy="502920"/>
          </a:xfrm>
          <a:prstGeom prst="ellipse">
            <a:avLst/>
          </a:prstGeom>
          <a:solidFill>
            <a:srgbClr val="F97316"/>
          </a:solidFill>
          <a:ln/>
        </p:spPr>
      </p:sp>
      <p:pic>
        <p:nvPicPr>
          <p:cNvPr id="14" name="Image 0" descr="preencoded.png">    </p:cNvPr>
          <p:cNvPicPr>
            <a:picLocks noChangeAspect="1"/>
          </p:cNvPicPr>
          <p:nvPr/>
        </p:nvPicPr>
        <p:blipFill>
          <a:blip r:embed="rId1"/>
          <a:stretch>
            <a:fillRect/>
          </a:stretch>
        </p:blipFill>
        <p:spPr>
          <a:xfrm>
            <a:off x="7690104" y="2340864"/>
            <a:ext cx="228600" cy="228600"/>
          </a:xfrm>
          <a:prstGeom prst="rect">
            <a:avLst/>
          </a:prstGeom>
        </p:spPr>
      </p:pic>
      <p:sp>
        <p:nvSpPr>
          <p:cNvPr id="15" name="Text 12"/>
          <p:cNvSpPr/>
          <p:nvPr/>
        </p:nvSpPr>
        <p:spPr>
          <a:xfrm>
            <a:off x="8183880" y="2221992"/>
            <a:ext cx="3200400" cy="457200"/>
          </a:xfrm>
          <a:prstGeom prst="rect">
            <a:avLst/>
          </a:prstGeom>
          <a:noFill/>
          <a:ln/>
        </p:spPr>
        <p:txBody>
          <a:bodyPr wrap="square" lIns="0" tIns="0" rIns="0" bIns="0" rtlCol="0" anchor="ctr"/>
          <a:lstStyle/>
          <a:p>
            <a:pPr indent="0" marL="0">
              <a:buNone/>
            </a:pPr>
            <a:r>
              <a:rPr lang="en-US" sz="1300" b="1" dirty="0">
                <a:solidFill>
                  <a:srgbClr val="C2410C"/>
                </a:solidFill>
                <a:latin typeface="Courier New" pitchFamily="34" charset="0"/>
                <a:ea typeface="Courier New" pitchFamily="34" charset="-122"/>
                <a:cs typeface="Courier New" pitchFamily="34" charset="-120"/>
              </a:rPr>
              <a:t>needs: test</a:t>
            </a:r>
            <a:endParaRPr lang="en-US" sz="1300" dirty="0"/>
          </a:p>
        </p:txBody>
      </p:sp>
      <p:sp>
        <p:nvSpPr>
          <p:cNvPr id="16" name="Text 13"/>
          <p:cNvSpPr/>
          <p:nvPr/>
        </p:nvSpPr>
        <p:spPr>
          <a:xfrm>
            <a:off x="7552944" y="2834640"/>
            <a:ext cx="3749040" cy="960120"/>
          </a:xfrm>
          <a:prstGeom prst="rect">
            <a:avLst/>
          </a:prstGeom>
          <a:noFill/>
          <a:ln/>
        </p:spPr>
        <p:txBody>
          <a:bodyPr wrap="square" lIns="0" tIns="0" rIns="0" bIns="0" rtlCol="0" anchor="t"/>
          <a:lstStyle/>
          <a:p>
            <a:pPr indent="0" marL="0">
              <a:lnSpc>
                <a:spcPct val="105000"/>
              </a:lnSpc>
              <a:buNone/>
            </a:pPr>
            <a:r>
              <a:rPr lang="en-US" sz="1200" dirty="0">
                <a:solidFill>
                  <a:srgbClr val="1E293B"/>
                </a:solidFill>
                <a:latin typeface="Calibri" pitchFamily="34" charset="0"/>
                <a:ea typeface="Calibri" pitchFamily="34" charset="-122"/>
                <a:cs typeface="Calibri" pitchFamily="34" charset="-120"/>
              </a:rPr>
              <a:t>The deploy job will not even start unless the test job finished green. Broken code can never reach the deploy step.</a:t>
            </a:r>
            <a:endParaRPr lang="en-US" sz="1200" dirty="0"/>
          </a:p>
        </p:txBody>
      </p:sp>
      <p:sp>
        <p:nvSpPr>
          <p:cNvPr id="17" name="Shape 14"/>
          <p:cNvSpPr/>
          <p:nvPr/>
        </p:nvSpPr>
        <p:spPr>
          <a:xfrm>
            <a:off x="7315200" y="4050792"/>
            <a:ext cx="4233672" cy="1938528"/>
          </a:xfrm>
          <a:prstGeom prst="roundRect">
            <a:avLst>
              <a:gd name="adj" fmla="val 4245"/>
            </a:avLst>
          </a:prstGeom>
          <a:solidFill>
            <a:srgbClr val="F0FDFA"/>
          </a:solidFill>
          <a:ln w="12700">
            <a:solidFill>
              <a:srgbClr val="99F6E4"/>
            </a:solidFill>
            <a:prstDash val="solid"/>
          </a:ln>
        </p:spPr>
      </p:sp>
      <p:sp>
        <p:nvSpPr>
          <p:cNvPr id="18" name="Shape 15"/>
          <p:cNvSpPr/>
          <p:nvPr/>
        </p:nvSpPr>
        <p:spPr>
          <a:xfrm>
            <a:off x="7552944" y="4288536"/>
            <a:ext cx="502920" cy="502920"/>
          </a:xfrm>
          <a:prstGeom prst="ellipse">
            <a:avLst/>
          </a:prstGeom>
          <a:solidFill>
            <a:srgbClr val="0D9488"/>
          </a:solidFill>
          <a:ln/>
        </p:spPr>
      </p:sp>
      <p:pic>
        <p:nvPicPr>
          <p:cNvPr id="19" name="Image 1" descr="preencoded.png">    </p:cNvPr>
          <p:cNvPicPr>
            <a:picLocks noChangeAspect="1"/>
          </p:cNvPicPr>
          <p:nvPr/>
        </p:nvPicPr>
        <p:blipFill>
          <a:blip r:embed="rId2"/>
          <a:stretch>
            <a:fillRect/>
          </a:stretch>
        </p:blipFill>
        <p:spPr>
          <a:xfrm>
            <a:off x="7690104" y="4425696"/>
            <a:ext cx="228600" cy="228600"/>
          </a:xfrm>
          <a:prstGeom prst="rect">
            <a:avLst/>
          </a:prstGeom>
        </p:spPr>
      </p:pic>
      <p:sp>
        <p:nvSpPr>
          <p:cNvPr id="20" name="Text 16"/>
          <p:cNvSpPr/>
          <p:nvPr/>
        </p:nvSpPr>
        <p:spPr>
          <a:xfrm>
            <a:off x="8183880" y="4306824"/>
            <a:ext cx="3200400" cy="457200"/>
          </a:xfrm>
          <a:prstGeom prst="rect">
            <a:avLst/>
          </a:prstGeom>
          <a:noFill/>
          <a:ln/>
        </p:spPr>
        <p:txBody>
          <a:bodyPr wrap="square" lIns="0" tIns="0" rIns="0" bIns="0" rtlCol="0" anchor="ctr"/>
          <a:lstStyle/>
          <a:p>
            <a:pPr indent="0" marL="0">
              <a:buNone/>
            </a:pPr>
            <a:r>
              <a:rPr lang="en-US" sz="1300" b="1" dirty="0">
                <a:solidFill>
                  <a:srgbClr val="0F766E"/>
                </a:solidFill>
                <a:latin typeface="Courier New" pitchFamily="34" charset="0"/>
                <a:ea typeface="Courier New" pitchFamily="34" charset="-122"/>
                <a:cs typeface="Courier New" pitchFamily="34" charset="-120"/>
              </a:rPr>
              <a:t>environment: staging</a:t>
            </a:r>
            <a:endParaRPr lang="en-US" sz="1300" dirty="0"/>
          </a:p>
        </p:txBody>
      </p:sp>
      <p:sp>
        <p:nvSpPr>
          <p:cNvPr id="21" name="Text 17"/>
          <p:cNvSpPr/>
          <p:nvPr/>
        </p:nvSpPr>
        <p:spPr>
          <a:xfrm>
            <a:off x="7552944" y="4919472"/>
            <a:ext cx="3749040" cy="960120"/>
          </a:xfrm>
          <a:prstGeom prst="rect">
            <a:avLst/>
          </a:prstGeom>
          <a:noFill/>
          <a:ln/>
        </p:spPr>
        <p:txBody>
          <a:bodyPr wrap="square" lIns="0" tIns="0" rIns="0" bIns="0" rtlCol="0" anchor="t"/>
          <a:lstStyle/>
          <a:p>
            <a:pPr indent="0" marL="0">
              <a:lnSpc>
                <a:spcPct val="105000"/>
              </a:lnSpc>
              <a:buNone/>
            </a:pPr>
            <a:r>
              <a:rPr lang="en-US" sz="1200" dirty="0">
                <a:solidFill>
                  <a:srgbClr val="1E293B"/>
                </a:solidFill>
                <a:latin typeface="Calibri" pitchFamily="34" charset="0"/>
                <a:ea typeface="Calibri" pitchFamily="34" charset="-122"/>
                <a:cs typeface="Calibri" pitchFamily="34" charset="-120"/>
              </a:rPr>
              <a:t>Because staging has a required reviewer, the run pauses here for a human click. That pause is continuous delivery.</a:t>
            </a:r>
            <a:endParaRPr lang="en-US" sz="1200" dirty="0"/>
          </a:p>
        </p:txBody>
      </p:sp>
      <p:sp>
        <p:nvSpPr>
          <p:cNvPr id="23" name="Text 18"/>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24" name="Text 19"/>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02336"/>
            <a:ext cx="10881360" cy="274320"/>
          </a:xfrm>
          <a:prstGeom prst="rect">
            <a:avLst/>
          </a:prstGeom>
          <a:noFill/>
          <a:ln/>
        </p:spPr>
        <p:txBody>
          <a:bodyPr wrap="square" lIns="0" tIns="0" rIns="0" bIns="0" rtlCol="0" anchor="ctr"/>
          <a:lstStyle/>
          <a:p>
            <a:pPr indent="0" marL="0">
              <a:buNone/>
            </a:pPr>
            <a:r>
              <a:rPr lang="en-US" sz="1250" b="1" spc="300" kern="0" dirty="0">
                <a:solidFill>
                  <a:srgbClr val="0D9488"/>
                </a:solidFill>
                <a:latin typeface="Calibri" pitchFamily="34" charset="0"/>
                <a:ea typeface="Calibri" pitchFamily="34" charset="-122"/>
                <a:cs typeface="Calibri" pitchFamily="34" charset="-120"/>
              </a:rPr>
              <a:t>HABITS THAT SCALE</a:t>
            </a:r>
            <a:endParaRPr lang="en-US" sz="1250" dirty="0"/>
          </a:p>
        </p:txBody>
      </p:sp>
      <p:sp>
        <p:nvSpPr>
          <p:cNvPr id="3" name="Text 1"/>
          <p:cNvSpPr/>
          <p:nvPr/>
        </p:nvSpPr>
        <p:spPr>
          <a:xfrm>
            <a:off x="621792" y="676656"/>
            <a:ext cx="10927080" cy="658368"/>
          </a:xfrm>
          <a:prstGeom prst="rect">
            <a:avLst/>
          </a:prstGeom>
          <a:noFill/>
          <a:ln/>
        </p:spPr>
        <p:txBody>
          <a:bodyPr wrap="square" lIns="0" tIns="0" rIns="0" bIns="0" rtlCol="0" anchor="ctr"/>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Six practices to keep</a:t>
            </a:r>
            <a:endParaRPr lang="en-US" sz="3000" dirty="0"/>
          </a:p>
        </p:txBody>
      </p:sp>
      <p:sp>
        <p:nvSpPr>
          <p:cNvPr id="4" name="Shape 2"/>
          <p:cNvSpPr/>
          <p:nvPr/>
        </p:nvSpPr>
        <p:spPr>
          <a:xfrm>
            <a:off x="640080" y="1508760"/>
            <a:ext cx="356616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5" name="Shape 3"/>
          <p:cNvSpPr/>
          <p:nvPr/>
        </p:nvSpPr>
        <p:spPr>
          <a:xfrm>
            <a:off x="877824" y="1746504"/>
            <a:ext cx="512064" cy="512064"/>
          </a:xfrm>
          <a:prstGeom prst="ellipse">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1014984" y="1883664"/>
            <a:ext cx="237744" cy="237744"/>
          </a:xfrm>
          <a:prstGeom prst="rect">
            <a:avLst/>
          </a:prstGeom>
        </p:spPr>
      </p:pic>
      <p:sp>
        <p:nvSpPr>
          <p:cNvPr id="7" name="Text 4"/>
          <p:cNvSpPr/>
          <p:nvPr/>
        </p:nvSpPr>
        <p:spPr>
          <a:xfrm>
            <a:off x="1517904" y="1746504"/>
            <a:ext cx="2560320" cy="512064"/>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Path filters</a:t>
            </a:r>
            <a:endParaRPr lang="en-US" sz="1500" dirty="0"/>
          </a:p>
        </p:txBody>
      </p:sp>
      <p:sp>
        <p:nvSpPr>
          <p:cNvPr id="8" name="Text 5"/>
          <p:cNvSpPr/>
          <p:nvPr/>
        </p:nvSpPr>
        <p:spPr>
          <a:xfrm>
            <a:off x="896112" y="2386584"/>
            <a:ext cx="3072384" cy="749808"/>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Scope each workflow to its own folder so a Day 2 fix never triggers Day 3's build.</a:t>
            </a:r>
            <a:endParaRPr lang="en-US" sz="1200" dirty="0"/>
          </a:p>
        </p:txBody>
      </p:sp>
      <p:sp>
        <p:nvSpPr>
          <p:cNvPr id="9" name="Shape 6"/>
          <p:cNvSpPr/>
          <p:nvPr/>
        </p:nvSpPr>
        <p:spPr>
          <a:xfrm>
            <a:off x="4462272" y="1508760"/>
            <a:ext cx="356616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0" name="Shape 7"/>
          <p:cNvSpPr/>
          <p:nvPr/>
        </p:nvSpPr>
        <p:spPr>
          <a:xfrm>
            <a:off x="4700016" y="1746504"/>
            <a:ext cx="512064" cy="512064"/>
          </a:xfrm>
          <a:prstGeom prst="ellipse">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4837176" y="1883664"/>
            <a:ext cx="237744" cy="237744"/>
          </a:xfrm>
          <a:prstGeom prst="rect">
            <a:avLst/>
          </a:prstGeom>
        </p:spPr>
      </p:pic>
      <p:sp>
        <p:nvSpPr>
          <p:cNvPr id="12" name="Text 8"/>
          <p:cNvSpPr/>
          <p:nvPr/>
        </p:nvSpPr>
        <p:spPr>
          <a:xfrm>
            <a:off x="5340096" y="1746504"/>
            <a:ext cx="2560320" cy="512064"/>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Pin your actions</a:t>
            </a:r>
            <a:endParaRPr lang="en-US" sz="1500" dirty="0"/>
          </a:p>
        </p:txBody>
      </p:sp>
      <p:sp>
        <p:nvSpPr>
          <p:cNvPr id="13" name="Text 9"/>
          <p:cNvSpPr/>
          <p:nvPr/>
        </p:nvSpPr>
        <p:spPr>
          <a:xfrm>
            <a:off x="4718304" y="2386584"/>
            <a:ext cx="3072384" cy="749808"/>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Use actions/checkout@v4, not @main — an unpinned action can change under you.</a:t>
            </a:r>
            <a:endParaRPr lang="en-US" sz="1200" dirty="0"/>
          </a:p>
        </p:txBody>
      </p:sp>
      <p:sp>
        <p:nvSpPr>
          <p:cNvPr id="14" name="Shape 10"/>
          <p:cNvSpPr/>
          <p:nvPr/>
        </p:nvSpPr>
        <p:spPr>
          <a:xfrm>
            <a:off x="8284464" y="1508760"/>
            <a:ext cx="356616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15" name="Shape 11"/>
          <p:cNvSpPr/>
          <p:nvPr/>
        </p:nvSpPr>
        <p:spPr>
          <a:xfrm>
            <a:off x="8522208" y="1746504"/>
            <a:ext cx="512064" cy="512064"/>
          </a:xfrm>
          <a:prstGeom prst="ellipse">
            <a:avLst/>
          </a:prstGeom>
          <a:solidFill>
            <a:srgbClr val="0D9488"/>
          </a:solidFill>
          <a:ln/>
        </p:spPr>
      </p:sp>
      <p:pic>
        <p:nvPicPr>
          <p:cNvPr id="16" name="Image 2" descr="preencoded.png">    </p:cNvPr>
          <p:cNvPicPr>
            <a:picLocks noChangeAspect="1"/>
          </p:cNvPicPr>
          <p:nvPr/>
        </p:nvPicPr>
        <p:blipFill>
          <a:blip r:embed="rId3"/>
          <a:stretch>
            <a:fillRect/>
          </a:stretch>
        </p:blipFill>
        <p:spPr>
          <a:xfrm>
            <a:off x="8659368" y="1883664"/>
            <a:ext cx="237744" cy="237744"/>
          </a:xfrm>
          <a:prstGeom prst="rect">
            <a:avLst/>
          </a:prstGeom>
        </p:spPr>
      </p:pic>
      <p:sp>
        <p:nvSpPr>
          <p:cNvPr id="17" name="Text 12"/>
          <p:cNvSpPr/>
          <p:nvPr/>
        </p:nvSpPr>
        <p:spPr>
          <a:xfrm>
            <a:off x="9162288" y="1746504"/>
            <a:ext cx="2560320" cy="512064"/>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Least privilege</a:t>
            </a:r>
            <a:endParaRPr lang="en-US" sz="1500" dirty="0"/>
          </a:p>
        </p:txBody>
      </p:sp>
      <p:sp>
        <p:nvSpPr>
          <p:cNvPr id="18" name="Text 13"/>
          <p:cNvSpPr/>
          <p:nvPr/>
        </p:nvSpPr>
        <p:spPr>
          <a:xfrm>
            <a:off x="8540496" y="2386584"/>
            <a:ext cx="3072384" cy="749808"/>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Set permissions: on the token. Grant only what the job needs, nothing more.</a:t>
            </a:r>
            <a:endParaRPr lang="en-US" sz="1200" dirty="0"/>
          </a:p>
        </p:txBody>
      </p:sp>
      <p:sp>
        <p:nvSpPr>
          <p:cNvPr id="19" name="Shape 14"/>
          <p:cNvSpPr/>
          <p:nvPr/>
        </p:nvSpPr>
        <p:spPr>
          <a:xfrm>
            <a:off x="640080" y="3502152"/>
            <a:ext cx="356616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0" name="Shape 15"/>
          <p:cNvSpPr/>
          <p:nvPr/>
        </p:nvSpPr>
        <p:spPr>
          <a:xfrm>
            <a:off x="877824" y="3739896"/>
            <a:ext cx="512064" cy="512064"/>
          </a:xfrm>
          <a:prstGeom prst="ellipse">
            <a:avLst/>
          </a:prstGeom>
          <a:solidFill>
            <a:srgbClr val="0D9488"/>
          </a:solidFill>
          <a:ln/>
        </p:spPr>
      </p:sp>
      <p:pic>
        <p:nvPicPr>
          <p:cNvPr id="21" name="Image 3" descr="preencoded.png">    </p:cNvPr>
          <p:cNvPicPr>
            <a:picLocks noChangeAspect="1"/>
          </p:cNvPicPr>
          <p:nvPr/>
        </p:nvPicPr>
        <p:blipFill>
          <a:blip r:embed="rId4"/>
          <a:stretch>
            <a:fillRect/>
          </a:stretch>
        </p:blipFill>
        <p:spPr>
          <a:xfrm>
            <a:off x="1014984" y="3877056"/>
            <a:ext cx="237744" cy="237744"/>
          </a:xfrm>
          <a:prstGeom prst="rect">
            <a:avLst/>
          </a:prstGeom>
        </p:spPr>
      </p:pic>
      <p:sp>
        <p:nvSpPr>
          <p:cNvPr id="22" name="Text 16"/>
          <p:cNvSpPr/>
          <p:nvPr/>
        </p:nvSpPr>
        <p:spPr>
          <a:xfrm>
            <a:off x="1517904" y="3739896"/>
            <a:ext cx="2560320" cy="512064"/>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Fail fast, cheap first</a:t>
            </a:r>
            <a:endParaRPr lang="en-US" sz="1500" dirty="0"/>
          </a:p>
        </p:txBody>
      </p:sp>
      <p:sp>
        <p:nvSpPr>
          <p:cNvPr id="23" name="Text 17"/>
          <p:cNvSpPr/>
          <p:nvPr/>
        </p:nvSpPr>
        <p:spPr>
          <a:xfrm>
            <a:off x="896112" y="4379976"/>
            <a:ext cx="3072384" cy="749808"/>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Order steps lint → test → build so the quickest check catches errors soonest.</a:t>
            </a:r>
            <a:endParaRPr lang="en-US" sz="1200" dirty="0"/>
          </a:p>
        </p:txBody>
      </p:sp>
      <p:sp>
        <p:nvSpPr>
          <p:cNvPr id="24" name="Shape 18"/>
          <p:cNvSpPr/>
          <p:nvPr/>
        </p:nvSpPr>
        <p:spPr>
          <a:xfrm>
            <a:off x="4462272" y="3502152"/>
            <a:ext cx="356616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25" name="Shape 19"/>
          <p:cNvSpPr/>
          <p:nvPr/>
        </p:nvSpPr>
        <p:spPr>
          <a:xfrm>
            <a:off x="4700016" y="3739896"/>
            <a:ext cx="512064" cy="512064"/>
          </a:xfrm>
          <a:prstGeom prst="ellipse">
            <a:avLst/>
          </a:prstGeom>
          <a:solidFill>
            <a:srgbClr val="0D9488"/>
          </a:solidFill>
          <a:ln/>
        </p:spPr>
      </p:sp>
      <p:pic>
        <p:nvPicPr>
          <p:cNvPr id="26" name="Image 4" descr="preencoded.png">    </p:cNvPr>
          <p:cNvPicPr>
            <a:picLocks noChangeAspect="1"/>
          </p:cNvPicPr>
          <p:nvPr/>
        </p:nvPicPr>
        <p:blipFill>
          <a:blip r:embed="rId5"/>
          <a:stretch>
            <a:fillRect/>
          </a:stretch>
        </p:blipFill>
        <p:spPr>
          <a:xfrm>
            <a:off x="4837176" y="3877056"/>
            <a:ext cx="237744" cy="237744"/>
          </a:xfrm>
          <a:prstGeom prst="rect">
            <a:avLst/>
          </a:prstGeom>
        </p:spPr>
      </p:pic>
      <p:sp>
        <p:nvSpPr>
          <p:cNvPr id="27" name="Text 20"/>
          <p:cNvSpPr/>
          <p:nvPr/>
        </p:nvSpPr>
        <p:spPr>
          <a:xfrm>
            <a:off x="5340096" y="3739896"/>
            <a:ext cx="2560320" cy="512064"/>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Small, named steps</a:t>
            </a:r>
            <a:endParaRPr lang="en-US" sz="1500" dirty="0"/>
          </a:p>
        </p:txBody>
      </p:sp>
      <p:sp>
        <p:nvSpPr>
          <p:cNvPr id="28" name="Text 21"/>
          <p:cNvSpPr/>
          <p:nvPr/>
        </p:nvSpPr>
        <p:spPr>
          <a:xfrm>
            <a:off x="4718304" y="4379976"/>
            <a:ext cx="3072384" cy="749808"/>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One concern per step with a clear name. Green/red per step makes logs readable.</a:t>
            </a:r>
            <a:endParaRPr lang="en-US" sz="1200" dirty="0"/>
          </a:p>
        </p:txBody>
      </p:sp>
      <p:sp>
        <p:nvSpPr>
          <p:cNvPr id="29" name="Shape 22"/>
          <p:cNvSpPr/>
          <p:nvPr/>
        </p:nvSpPr>
        <p:spPr>
          <a:xfrm>
            <a:off x="8284464" y="3502152"/>
            <a:ext cx="3566160" cy="1737360"/>
          </a:xfrm>
          <a:prstGeom prst="roundRect">
            <a:avLst>
              <a:gd name="adj" fmla="val 4211"/>
            </a:avLst>
          </a:prstGeom>
          <a:solidFill>
            <a:srgbClr val="FFFFFF"/>
          </a:solidFill>
          <a:ln w="12700">
            <a:solidFill>
              <a:srgbClr val="E2E8F0"/>
            </a:solidFill>
            <a:prstDash val="solid"/>
          </a:ln>
          <a:effectLst>
            <a:outerShdw sx="100000" sy="100000" kx="0" ky="0" algn="bl" rotWithShape="0" blurRad="76200" dist="38100" dir="5400000">
              <a:srgbClr val="0F172A">
                <a:alpha val="9000"/>
              </a:srgbClr>
            </a:outerShdw>
          </a:effectLst>
        </p:spPr>
      </p:sp>
      <p:sp>
        <p:nvSpPr>
          <p:cNvPr id="30" name="Shape 23"/>
          <p:cNvSpPr/>
          <p:nvPr/>
        </p:nvSpPr>
        <p:spPr>
          <a:xfrm>
            <a:off x="8522208" y="3739896"/>
            <a:ext cx="512064" cy="512064"/>
          </a:xfrm>
          <a:prstGeom prst="ellipse">
            <a:avLst/>
          </a:prstGeom>
          <a:solidFill>
            <a:srgbClr val="0D9488"/>
          </a:solidFill>
          <a:ln/>
        </p:spPr>
      </p:sp>
      <p:pic>
        <p:nvPicPr>
          <p:cNvPr id="31" name="Image 5" descr="preencoded.png">    </p:cNvPr>
          <p:cNvPicPr>
            <a:picLocks noChangeAspect="1"/>
          </p:cNvPicPr>
          <p:nvPr/>
        </p:nvPicPr>
        <p:blipFill>
          <a:blip r:embed="rId6"/>
          <a:stretch>
            <a:fillRect/>
          </a:stretch>
        </p:blipFill>
        <p:spPr>
          <a:xfrm>
            <a:off x="8659368" y="3877056"/>
            <a:ext cx="237744" cy="237744"/>
          </a:xfrm>
          <a:prstGeom prst="rect">
            <a:avLst/>
          </a:prstGeom>
        </p:spPr>
      </p:pic>
      <p:sp>
        <p:nvSpPr>
          <p:cNvPr id="32" name="Text 24"/>
          <p:cNvSpPr/>
          <p:nvPr/>
        </p:nvSpPr>
        <p:spPr>
          <a:xfrm>
            <a:off x="9162288" y="3739896"/>
            <a:ext cx="2560320" cy="512064"/>
          </a:xfrm>
          <a:prstGeom prst="rect">
            <a:avLst/>
          </a:prstGeom>
          <a:noFill/>
          <a:ln/>
        </p:spPr>
        <p:txBody>
          <a:bodyPr wrap="square" lIns="0" tIns="0" rIns="0" bIns="0" rtlCol="0" anchor="ctr"/>
          <a:lstStyle/>
          <a:p>
            <a:pPr indent="0" marL="0">
              <a:buNone/>
            </a:pPr>
            <a:r>
              <a:rPr lang="en-US" sz="1500" b="1" dirty="0">
                <a:solidFill>
                  <a:srgbClr val="0F172A"/>
                </a:solidFill>
                <a:latin typeface="Bookman Old Style" pitchFamily="34" charset="0"/>
                <a:ea typeface="Bookman Old Style" pitchFamily="34" charset="-122"/>
                <a:cs typeface="Bookman Old Style" pitchFamily="34" charset="-120"/>
              </a:rPr>
              <a:t>Secrets, always</a:t>
            </a:r>
            <a:endParaRPr lang="en-US" sz="1500" dirty="0"/>
          </a:p>
        </p:txBody>
      </p:sp>
      <p:sp>
        <p:nvSpPr>
          <p:cNvPr id="33" name="Text 25"/>
          <p:cNvSpPr/>
          <p:nvPr/>
        </p:nvSpPr>
        <p:spPr>
          <a:xfrm>
            <a:off x="8540496" y="4379976"/>
            <a:ext cx="3072384" cy="749808"/>
          </a:xfrm>
          <a:prstGeom prst="rect">
            <a:avLst/>
          </a:prstGeom>
          <a:noFill/>
          <a:ln/>
        </p:spPr>
        <p:txBody>
          <a:bodyPr wrap="square" lIns="0" tIns="0" rIns="0" bIns="0" rtlCol="0" anchor="t"/>
          <a:lstStyle/>
          <a:p>
            <a:pPr indent="0" marL="0">
              <a:lnSpc>
                <a:spcPct val="104000"/>
              </a:lnSpc>
              <a:buNone/>
            </a:pPr>
            <a:r>
              <a:rPr lang="en-US" sz="1200" dirty="0">
                <a:solidFill>
                  <a:srgbClr val="1E293B"/>
                </a:solidFill>
                <a:latin typeface="Calibri" pitchFamily="34" charset="0"/>
                <a:ea typeface="Calibri" pitchFamily="34" charset="-122"/>
                <a:cs typeface="Calibri" pitchFamily="34" charset="-120"/>
              </a:rPr>
              <a:t>No credential in the file. Reference ${{ secrets.X }}; scope by environment.</a:t>
            </a:r>
            <a:endParaRPr lang="en-US" sz="1200" dirty="0"/>
          </a:p>
        </p:txBody>
      </p:sp>
      <p:sp>
        <p:nvSpPr>
          <p:cNvPr id="35" name="Text 26"/>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CI/CD with GitHub Actions</a:t>
            </a:r>
            <a:endParaRPr lang="en-US" sz="950" dirty="0"/>
          </a:p>
        </p:txBody>
      </p:sp>
      <p:sp>
        <p:nvSpPr>
          <p:cNvPr id="36" name="Text 27"/>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822960" y="685800"/>
            <a:ext cx="5486400" cy="365760"/>
          </a:xfrm>
          <a:prstGeom prst="rect">
            <a:avLst/>
          </a:prstGeom>
          <a:noFill/>
          <a:ln/>
        </p:spPr>
        <p:txBody>
          <a:bodyPr wrap="square" lIns="0" tIns="0" rIns="0" bIns="0" rtlCol="0" anchor="ctr"/>
          <a:lstStyle/>
          <a:p>
            <a:pPr indent="0" marL="0">
              <a:buNone/>
            </a:pPr>
            <a:r>
              <a:rPr lang="en-US" sz="1300" b="1" spc="400" kern="0" dirty="0">
                <a:solidFill>
                  <a:srgbClr val="F97316"/>
                </a:solidFill>
                <a:latin typeface="Calibri" pitchFamily="34" charset="0"/>
                <a:ea typeface="Calibri" pitchFamily="34" charset="-122"/>
                <a:cs typeface="Calibri" pitchFamily="34" charset="-120"/>
              </a:rPr>
              <a:t>THE CAPSTONE</a:t>
            </a:r>
            <a:endParaRPr lang="en-US" sz="1300" dirty="0"/>
          </a:p>
        </p:txBody>
      </p:sp>
      <p:sp>
        <p:nvSpPr>
          <p:cNvPr id="3" name="Text 1"/>
          <p:cNvSpPr/>
          <p:nvPr/>
        </p:nvSpPr>
        <p:spPr>
          <a:xfrm>
            <a:off x="786384" y="1024128"/>
            <a:ext cx="10607040" cy="777240"/>
          </a:xfrm>
          <a:prstGeom prst="rect">
            <a:avLst/>
          </a:prstGeom>
          <a:noFill/>
          <a:ln/>
        </p:spPr>
        <p:txBody>
          <a:bodyPr wrap="square" lIns="0" tIns="0" rIns="0" bIns="0" rtlCol="0" anchor="ctr"/>
          <a:lstStyle/>
          <a:p>
            <a:pPr indent="0" marL="0">
              <a:buNone/>
            </a:pPr>
            <a:r>
              <a:rPr lang="en-US" sz="3200" b="1" dirty="0">
                <a:solidFill>
                  <a:srgbClr val="FFFFFF"/>
                </a:solidFill>
                <a:latin typeface="Bookman Old Style" pitchFamily="34" charset="0"/>
                <a:ea typeface="Bookman Old Style" pitchFamily="34" charset="-122"/>
                <a:cs typeface="Bookman Old Style" pitchFamily="34" charset="-120"/>
              </a:rPr>
              <a:t>ShortLink: the whole pipeline, wired</a:t>
            </a:r>
            <a:endParaRPr lang="en-US" sz="3200" dirty="0"/>
          </a:p>
        </p:txBody>
      </p:sp>
      <p:sp>
        <p:nvSpPr>
          <p:cNvPr id="4" name="Text 2"/>
          <p:cNvSpPr/>
          <p:nvPr/>
        </p:nvSpPr>
        <p:spPr>
          <a:xfrm>
            <a:off x="822960" y="1828800"/>
            <a:ext cx="10515600" cy="548640"/>
          </a:xfrm>
          <a:prstGeom prst="rect">
            <a:avLst/>
          </a:prstGeom>
          <a:noFill/>
          <a:ln/>
        </p:spPr>
        <p:txBody>
          <a:bodyPr wrap="square" lIns="0" tIns="0" rIns="0" bIns="0" rtlCol="0" anchor="ctr"/>
          <a:lstStyle/>
          <a:p>
            <a:pPr indent="0" marL="0">
              <a:lnSpc>
                <a:spcPct val="110000"/>
              </a:lnSpc>
              <a:buNone/>
            </a:pPr>
            <a:r>
              <a:rPr lang="en-US" sz="1500" dirty="0">
                <a:solidFill>
                  <a:srgbClr val="CBD5E1"/>
                </a:solidFill>
                <a:latin typeface="Calibri" pitchFamily="34" charset="0"/>
                <a:ea typeface="Calibri" pitchFamily="34" charset="-122"/>
                <a:cs typeface="Calibri" pitchFamily="34" charset="-120"/>
              </a:rPr>
              <a:t>By Day 6 you point every concept from this deck at one real project — a URL shortener — and watch a commit travel from push to deployed, hands-off.</a:t>
            </a:r>
            <a:endParaRPr lang="en-US" sz="1500" dirty="0"/>
          </a:p>
        </p:txBody>
      </p:sp>
      <p:sp>
        <p:nvSpPr>
          <p:cNvPr id="5" name="Shape 3"/>
          <p:cNvSpPr/>
          <p:nvPr/>
        </p:nvSpPr>
        <p:spPr>
          <a:xfrm>
            <a:off x="627736" y="2743200"/>
            <a:ext cx="1700784" cy="1783080"/>
          </a:xfrm>
          <a:prstGeom prst="roundRect">
            <a:avLst>
              <a:gd name="adj" fmla="val 5376"/>
            </a:avLst>
          </a:prstGeom>
          <a:solidFill>
            <a:srgbClr val="1E293B"/>
          </a:solidFill>
          <a:ln w="12700">
            <a:solidFill>
              <a:srgbClr val="334155"/>
            </a:solidFill>
            <a:prstDash val="solid"/>
          </a:ln>
          <a:effectLst>
            <a:outerShdw sx="100000" sy="100000" kx="0" ky="0" algn="bl" rotWithShape="0" blurRad="101600" dist="50800" dir="5400000">
              <a:srgbClr val="0F172A">
                <a:alpha val="25000"/>
              </a:srgbClr>
            </a:outerShdw>
          </a:effectLst>
        </p:spPr>
      </p:sp>
      <p:sp>
        <p:nvSpPr>
          <p:cNvPr id="6" name="Shape 4"/>
          <p:cNvSpPr/>
          <p:nvPr/>
        </p:nvSpPr>
        <p:spPr>
          <a:xfrm>
            <a:off x="1130656" y="3017520"/>
            <a:ext cx="694944" cy="694944"/>
          </a:xfrm>
          <a:prstGeom prst="ellipse">
            <a:avLst/>
          </a:prstGeom>
          <a:solidFill>
            <a:srgbClr val="334155"/>
          </a:solidFill>
          <a:ln/>
        </p:spPr>
      </p:sp>
      <p:pic>
        <p:nvPicPr>
          <p:cNvPr id="7" name="Image 0" descr="preencoded.png">    </p:cNvPr>
          <p:cNvPicPr>
            <a:picLocks noChangeAspect="1"/>
          </p:cNvPicPr>
          <p:nvPr/>
        </p:nvPicPr>
        <p:blipFill>
          <a:blip r:embed="rId1"/>
          <a:stretch>
            <a:fillRect/>
          </a:stretch>
        </p:blipFill>
        <p:spPr>
          <a:xfrm>
            <a:off x="1313536" y="3200400"/>
            <a:ext cx="329184" cy="329184"/>
          </a:xfrm>
          <a:prstGeom prst="rect">
            <a:avLst/>
          </a:prstGeom>
        </p:spPr>
      </p:pic>
      <p:sp>
        <p:nvSpPr>
          <p:cNvPr id="8" name="Text 5"/>
          <p:cNvSpPr/>
          <p:nvPr/>
        </p:nvSpPr>
        <p:spPr>
          <a:xfrm>
            <a:off x="627736" y="3822192"/>
            <a:ext cx="1700784"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Push</a:t>
            </a:r>
            <a:endParaRPr lang="en-US" sz="1450" dirty="0"/>
          </a:p>
        </p:txBody>
      </p:sp>
      <p:sp>
        <p:nvSpPr>
          <p:cNvPr id="9" name="Text 6"/>
          <p:cNvSpPr/>
          <p:nvPr/>
        </p:nvSpPr>
        <p:spPr>
          <a:xfrm>
            <a:off x="682600" y="4114800"/>
            <a:ext cx="1591056" cy="347472"/>
          </a:xfrm>
          <a:prstGeom prst="rect">
            <a:avLst/>
          </a:prstGeom>
          <a:noFill/>
          <a:ln/>
        </p:spPr>
        <p:txBody>
          <a:bodyPr wrap="square" lIns="0" tIns="0" rIns="0" bIns="0" rtlCol="0" anchor="ctr"/>
          <a:lstStyle/>
          <a:p>
            <a:pPr algn="ctr" indent="0" marL="0">
              <a:lnSpc>
                <a:spcPct val="95000"/>
              </a:lnSpc>
              <a:buNone/>
            </a:pPr>
            <a:r>
              <a:rPr lang="en-US" sz="950" dirty="0">
                <a:solidFill>
                  <a:srgbClr val="94A3B8"/>
                </a:solidFill>
                <a:latin typeface="Calibri" pitchFamily="34" charset="0"/>
                <a:ea typeface="Calibri" pitchFamily="34" charset="-122"/>
                <a:cs typeface="Calibri" pitchFamily="34" charset="-120"/>
              </a:rPr>
              <a:t>to a feature branch</a:t>
            </a:r>
            <a:endParaRPr lang="en-US" sz="950" dirty="0"/>
          </a:p>
        </p:txBody>
      </p:sp>
      <p:sp>
        <p:nvSpPr>
          <p:cNvPr id="10" name="Text 7"/>
          <p:cNvSpPr/>
          <p:nvPr/>
        </p:nvSpPr>
        <p:spPr>
          <a:xfrm>
            <a:off x="2301088" y="3323844"/>
            <a:ext cx="201168" cy="457200"/>
          </a:xfrm>
          <a:prstGeom prst="rect">
            <a:avLst/>
          </a:prstGeom>
          <a:noFill/>
          <a:ln/>
        </p:spPr>
        <p:txBody>
          <a:bodyPr wrap="square" lIns="0" tIns="0" rIns="0" bIns="0" rtlCol="0" anchor="ctr"/>
          <a:lstStyle/>
          <a:p>
            <a:pPr algn="ctr" indent="0" marL="0">
              <a:buNone/>
            </a:pPr>
            <a:r>
              <a:rPr lang="en-US" sz="2600" b="1" dirty="0">
                <a:solidFill>
                  <a:srgbClr val="94A3B8"/>
                </a:solidFill>
                <a:latin typeface="Calibri" pitchFamily="34" charset="0"/>
                <a:ea typeface="Calibri" pitchFamily="34" charset="-122"/>
                <a:cs typeface="Calibri" pitchFamily="34" charset="-120"/>
              </a:rPr>
              <a:t>›</a:t>
            </a:r>
            <a:endParaRPr lang="en-US" sz="2600" dirty="0"/>
          </a:p>
        </p:txBody>
      </p:sp>
      <p:sp>
        <p:nvSpPr>
          <p:cNvPr id="11" name="Shape 8"/>
          <p:cNvSpPr/>
          <p:nvPr/>
        </p:nvSpPr>
        <p:spPr>
          <a:xfrm>
            <a:off x="2474824" y="2743200"/>
            <a:ext cx="1700784" cy="1783080"/>
          </a:xfrm>
          <a:prstGeom prst="roundRect">
            <a:avLst>
              <a:gd name="adj" fmla="val 5376"/>
            </a:avLst>
          </a:prstGeom>
          <a:solidFill>
            <a:srgbClr val="1E293B"/>
          </a:solidFill>
          <a:ln w="12700">
            <a:solidFill>
              <a:srgbClr val="334155"/>
            </a:solidFill>
            <a:prstDash val="solid"/>
          </a:ln>
          <a:effectLst>
            <a:outerShdw sx="100000" sy="100000" kx="0" ky="0" algn="bl" rotWithShape="0" blurRad="101600" dist="50800" dir="5400000">
              <a:srgbClr val="0F172A">
                <a:alpha val="25000"/>
              </a:srgbClr>
            </a:outerShdw>
          </a:effectLst>
        </p:spPr>
      </p:sp>
      <p:sp>
        <p:nvSpPr>
          <p:cNvPr id="12" name="Shape 9"/>
          <p:cNvSpPr/>
          <p:nvPr/>
        </p:nvSpPr>
        <p:spPr>
          <a:xfrm>
            <a:off x="2977744" y="3017520"/>
            <a:ext cx="694944" cy="694944"/>
          </a:xfrm>
          <a:prstGeom prst="ellipse">
            <a:avLst/>
          </a:prstGeom>
          <a:solidFill>
            <a:srgbClr val="0D9488"/>
          </a:solidFill>
          <a:ln/>
        </p:spPr>
      </p:sp>
      <p:pic>
        <p:nvPicPr>
          <p:cNvPr id="13" name="Image 1" descr="preencoded.png">    </p:cNvPr>
          <p:cNvPicPr>
            <a:picLocks noChangeAspect="1"/>
          </p:cNvPicPr>
          <p:nvPr/>
        </p:nvPicPr>
        <p:blipFill>
          <a:blip r:embed="rId2"/>
          <a:stretch>
            <a:fillRect/>
          </a:stretch>
        </p:blipFill>
        <p:spPr>
          <a:xfrm>
            <a:off x="3160624" y="3200400"/>
            <a:ext cx="329184" cy="329184"/>
          </a:xfrm>
          <a:prstGeom prst="rect">
            <a:avLst/>
          </a:prstGeom>
        </p:spPr>
      </p:pic>
      <p:sp>
        <p:nvSpPr>
          <p:cNvPr id="14" name="Text 10"/>
          <p:cNvSpPr/>
          <p:nvPr/>
        </p:nvSpPr>
        <p:spPr>
          <a:xfrm>
            <a:off x="2474824" y="3822192"/>
            <a:ext cx="1700784"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CI</a:t>
            </a:r>
            <a:endParaRPr lang="en-US" sz="1450" dirty="0"/>
          </a:p>
        </p:txBody>
      </p:sp>
      <p:sp>
        <p:nvSpPr>
          <p:cNvPr id="15" name="Text 11"/>
          <p:cNvSpPr/>
          <p:nvPr/>
        </p:nvSpPr>
        <p:spPr>
          <a:xfrm>
            <a:off x="2529688" y="4114800"/>
            <a:ext cx="1591056" cy="347472"/>
          </a:xfrm>
          <a:prstGeom prst="rect">
            <a:avLst/>
          </a:prstGeom>
          <a:noFill/>
          <a:ln/>
        </p:spPr>
        <p:txBody>
          <a:bodyPr wrap="square" lIns="0" tIns="0" rIns="0" bIns="0" rtlCol="0" anchor="ctr"/>
          <a:lstStyle/>
          <a:p>
            <a:pPr algn="ctr" indent="0" marL="0">
              <a:lnSpc>
                <a:spcPct val="95000"/>
              </a:lnSpc>
              <a:buNone/>
            </a:pPr>
            <a:r>
              <a:rPr lang="en-US" sz="950" dirty="0">
                <a:solidFill>
                  <a:srgbClr val="94A3B8"/>
                </a:solidFill>
                <a:latin typeface="Calibri" pitchFamily="34" charset="0"/>
                <a:ea typeface="Calibri" pitchFamily="34" charset="-122"/>
                <a:cs typeface="Calibri" pitchFamily="34" charset="-120"/>
              </a:rPr>
              <a:t>lint + test on the PR</a:t>
            </a:r>
            <a:endParaRPr lang="en-US" sz="950" dirty="0"/>
          </a:p>
        </p:txBody>
      </p:sp>
      <p:sp>
        <p:nvSpPr>
          <p:cNvPr id="16" name="Text 12"/>
          <p:cNvSpPr/>
          <p:nvPr/>
        </p:nvSpPr>
        <p:spPr>
          <a:xfrm>
            <a:off x="4148176" y="3323844"/>
            <a:ext cx="201168" cy="457200"/>
          </a:xfrm>
          <a:prstGeom prst="rect">
            <a:avLst/>
          </a:prstGeom>
          <a:noFill/>
          <a:ln/>
        </p:spPr>
        <p:txBody>
          <a:bodyPr wrap="square" lIns="0" tIns="0" rIns="0" bIns="0" rtlCol="0" anchor="ctr"/>
          <a:lstStyle/>
          <a:p>
            <a:pPr algn="ctr" indent="0" marL="0">
              <a:buNone/>
            </a:pPr>
            <a:r>
              <a:rPr lang="en-US" sz="2600" b="1" dirty="0">
                <a:solidFill>
                  <a:srgbClr val="94A3B8"/>
                </a:solidFill>
                <a:latin typeface="Calibri" pitchFamily="34" charset="0"/>
                <a:ea typeface="Calibri" pitchFamily="34" charset="-122"/>
                <a:cs typeface="Calibri" pitchFamily="34" charset="-120"/>
              </a:rPr>
              <a:t>›</a:t>
            </a:r>
            <a:endParaRPr lang="en-US" sz="2600" dirty="0"/>
          </a:p>
        </p:txBody>
      </p:sp>
      <p:sp>
        <p:nvSpPr>
          <p:cNvPr id="17" name="Shape 13"/>
          <p:cNvSpPr/>
          <p:nvPr/>
        </p:nvSpPr>
        <p:spPr>
          <a:xfrm>
            <a:off x="4321912" y="2743200"/>
            <a:ext cx="1700784" cy="1783080"/>
          </a:xfrm>
          <a:prstGeom prst="roundRect">
            <a:avLst>
              <a:gd name="adj" fmla="val 5376"/>
            </a:avLst>
          </a:prstGeom>
          <a:solidFill>
            <a:srgbClr val="1E293B"/>
          </a:solidFill>
          <a:ln w="12700">
            <a:solidFill>
              <a:srgbClr val="334155"/>
            </a:solidFill>
            <a:prstDash val="solid"/>
          </a:ln>
          <a:effectLst>
            <a:outerShdw sx="100000" sy="100000" kx="0" ky="0" algn="bl" rotWithShape="0" blurRad="101600" dist="50800" dir="5400000">
              <a:srgbClr val="0F172A">
                <a:alpha val="25000"/>
              </a:srgbClr>
            </a:outerShdw>
          </a:effectLst>
        </p:spPr>
      </p:sp>
      <p:sp>
        <p:nvSpPr>
          <p:cNvPr id="18" name="Shape 14"/>
          <p:cNvSpPr/>
          <p:nvPr/>
        </p:nvSpPr>
        <p:spPr>
          <a:xfrm>
            <a:off x="4824832" y="3017520"/>
            <a:ext cx="694944" cy="694944"/>
          </a:xfrm>
          <a:prstGeom prst="ellipse">
            <a:avLst/>
          </a:prstGeom>
          <a:solidFill>
            <a:srgbClr val="2496ED"/>
          </a:solidFill>
          <a:ln/>
        </p:spPr>
      </p:sp>
      <p:pic>
        <p:nvPicPr>
          <p:cNvPr id="19" name="Image 2" descr="preencoded.png">    </p:cNvPr>
          <p:cNvPicPr>
            <a:picLocks noChangeAspect="1"/>
          </p:cNvPicPr>
          <p:nvPr/>
        </p:nvPicPr>
        <p:blipFill>
          <a:blip r:embed="rId3"/>
          <a:stretch>
            <a:fillRect/>
          </a:stretch>
        </p:blipFill>
        <p:spPr>
          <a:xfrm>
            <a:off x="5007712" y="3200400"/>
            <a:ext cx="329184" cy="329184"/>
          </a:xfrm>
          <a:prstGeom prst="rect">
            <a:avLst/>
          </a:prstGeom>
        </p:spPr>
      </p:pic>
      <p:sp>
        <p:nvSpPr>
          <p:cNvPr id="20" name="Text 15"/>
          <p:cNvSpPr/>
          <p:nvPr/>
        </p:nvSpPr>
        <p:spPr>
          <a:xfrm>
            <a:off x="4321912" y="3822192"/>
            <a:ext cx="1700784"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Image</a:t>
            </a:r>
            <a:endParaRPr lang="en-US" sz="1450" dirty="0"/>
          </a:p>
        </p:txBody>
      </p:sp>
      <p:sp>
        <p:nvSpPr>
          <p:cNvPr id="21" name="Text 16"/>
          <p:cNvSpPr/>
          <p:nvPr/>
        </p:nvSpPr>
        <p:spPr>
          <a:xfrm>
            <a:off x="4376776" y="4114800"/>
            <a:ext cx="1591056" cy="347472"/>
          </a:xfrm>
          <a:prstGeom prst="rect">
            <a:avLst/>
          </a:prstGeom>
          <a:noFill/>
          <a:ln/>
        </p:spPr>
        <p:txBody>
          <a:bodyPr wrap="square" lIns="0" tIns="0" rIns="0" bIns="0" rtlCol="0" anchor="ctr"/>
          <a:lstStyle/>
          <a:p>
            <a:pPr algn="ctr" indent="0" marL="0">
              <a:lnSpc>
                <a:spcPct val="95000"/>
              </a:lnSpc>
              <a:buNone/>
            </a:pPr>
            <a:r>
              <a:rPr lang="en-US" sz="950" dirty="0">
                <a:solidFill>
                  <a:srgbClr val="94A3B8"/>
                </a:solidFill>
                <a:latin typeface="Calibri" pitchFamily="34" charset="0"/>
                <a:ea typeface="Calibri" pitchFamily="34" charset="-122"/>
                <a:cs typeface="Calibri" pitchFamily="34" charset="-120"/>
              </a:rPr>
              <a:t>build + push to GHCR</a:t>
            </a:r>
            <a:endParaRPr lang="en-US" sz="950" dirty="0"/>
          </a:p>
        </p:txBody>
      </p:sp>
      <p:sp>
        <p:nvSpPr>
          <p:cNvPr id="22" name="Text 17"/>
          <p:cNvSpPr/>
          <p:nvPr/>
        </p:nvSpPr>
        <p:spPr>
          <a:xfrm>
            <a:off x="5995264" y="3323844"/>
            <a:ext cx="201168" cy="457200"/>
          </a:xfrm>
          <a:prstGeom prst="rect">
            <a:avLst/>
          </a:prstGeom>
          <a:noFill/>
          <a:ln/>
        </p:spPr>
        <p:txBody>
          <a:bodyPr wrap="square" lIns="0" tIns="0" rIns="0" bIns="0" rtlCol="0" anchor="ctr"/>
          <a:lstStyle/>
          <a:p>
            <a:pPr algn="ctr" indent="0" marL="0">
              <a:buNone/>
            </a:pPr>
            <a:r>
              <a:rPr lang="en-US" sz="2600" b="1" dirty="0">
                <a:solidFill>
                  <a:srgbClr val="94A3B8"/>
                </a:solidFill>
                <a:latin typeface="Calibri" pitchFamily="34" charset="0"/>
                <a:ea typeface="Calibri" pitchFamily="34" charset="-122"/>
                <a:cs typeface="Calibri" pitchFamily="34" charset="-120"/>
              </a:rPr>
              <a:t>›</a:t>
            </a:r>
            <a:endParaRPr lang="en-US" sz="2600" dirty="0"/>
          </a:p>
        </p:txBody>
      </p:sp>
      <p:sp>
        <p:nvSpPr>
          <p:cNvPr id="23" name="Shape 18"/>
          <p:cNvSpPr/>
          <p:nvPr/>
        </p:nvSpPr>
        <p:spPr>
          <a:xfrm>
            <a:off x="6169000" y="2743200"/>
            <a:ext cx="1700784" cy="1783080"/>
          </a:xfrm>
          <a:prstGeom prst="roundRect">
            <a:avLst>
              <a:gd name="adj" fmla="val 5376"/>
            </a:avLst>
          </a:prstGeom>
          <a:solidFill>
            <a:srgbClr val="1E293B"/>
          </a:solidFill>
          <a:ln w="12700">
            <a:solidFill>
              <a:srgbClr val="334155"/>
            </a:solidFill>
            <a:prstDash val="solid"/>
          </a:ln>
          <a:effectLst>
            <a:outerShdw sx="100000" sy="100000" kx="0" ky="0" algn="bl" rotWithShape="0" blurRad="101600" dist="50800" dir="5400000">
              <a:srgbClr val="0F172A">
                <a:alpha val="25000"/>
              </a:srgbClr>
            </a:outerShdw>
          </a:effectLst>
        </p:spPr>
      </p:sp>
      <p:sp>
        <p:nvSpPr>
          <p:cNvPr id="24" name="Shape 19"/>
          <p:cNvSpPr/>
          <p:nvPr/>
        </p:nvSpPr>
        <p:spPr>
          <a:xfrm>
            <a:off x="6671920" y="3017520"/>
            <a:ext cx="694944" cy="694944"/>
          </a:xfrm>
          <a:prstGeom prst="ellipse">
            <a:avLst/>
          </a:prstGeom>
          <a:solidFill>
            <a:srgbClr val="0D9488"/>
          </a:solidFill>
          <a:ln/>
        </p:spPr>
      </p:sp>
      <p:pic>
        <p:nvPicPr>
          <p:cNvPr id="25" name="Image 3" descr="preencoded.png">    </p:cNvPr>
          <p:cNvPicPr>
            <a:picLocks noChangeAspect="1"/>
          </p:cNvPicPr>
          <p:nvPr/>
        </p:nvPicPr>
        <p:blipFill>
          <a:blip r:embed="rId4"/>
          <a:stretch>
            <a:fillRect/>
          </a:stretch>
        </p:blipFill>
        <p:spPr>
          <a:xfrm>
            <a:off x="6854800" y="3200400"/>
            <a:ext cx="329184" cy="329184"/>
          </a:xfrm>
          <a:prstGeom prst="rect">
            <a:avLst/>
          </a:prstGeom>
        </p:spPr>
      </p:pic>
      <p:sp>
        <p:nvSpPr>
          <p:cNvPr id="26" name="Text 20"/>
          <p:cNvSpPr/>
          <p:nvPr/>
        </p:nvSpPr>
        <p:spPr>
          <a:xfrm>
            <a:off x="6169000" y="3822192"/>
            <a:ext cx="1700784"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Integrate</a:t>
            </a:r>
            <a:endParaRPr lang="en-US" sz="1450" dirty="0"/>
          </a:p>
        </p:txBody>
      </p:sp>
      <p:sp>
        <p:nvSpPr>
          <p:cNvPr id="27" name="Text 21"/>
          <p:cNvSpPr/>
          <p:nvPr/>
        </p:nvSpPr>
        <p:spPr>
          <a:xfrm>
            <a:off x="6223864" y="4114800"/>
            <a:ext cx="1591056" cy="347472"/>
          </a:xfrm>
          <a:prstGeom prst="rect">
            <a:avLst/>
          </a:prstGeom>
          <a:noFill/>
          <a:ln/>
        </p:spPr>
        <p:txBody>
          <a:bodyPr wrap="square" lIns="0" tIns="0" rIns="0" bIns="0" rtlCol="0" anchor="ctr"/>
          <a:lstStyle/>
          <a:p>
            <a:pPr algn="ctr" indent="0" marL="0">
              <a:lnSpc>
                <a:spcPct val="95000"/>
              </a:lnSpc>
              <a:buNone/>
            </a:pPr>
            <a:r>
              <a:rPr lang="en-US" sz="950" dirty="0">
                <a:solidFill>
                  <a:srgbClr val="94A3B8"/>
                </a:solidFill>
                <a:latin typeface="Calibri" pitchFamily="34" charset="0"/>
                <a:ea typeface="Calibri" pitchFamily="34" charset="-122"/>
                <a:cs typeface="Calibri" pitchFamily="34" charset="-120"/>
              </a:rPr>
              <a:t>compose up, test stack</a:t>
            </a:r>
            <a:endParaRPr lang="en-US" sz="950" dirty="0"/>
          </a:p>
        </p:txBody>
      </p:sp>
      <p:sp>
        <p:nvSpPr>
          <p:cNvPr id="28" name="Text 22"/>
          <p:cNvSpPr/>
          <p:nvPr/>
        </p:nvSpPr>
        <p:spPr>
          <a:xfrm>
            <a:off x="7842352" y="3323844"/>
            <a:ext cx="201168" cy="457200"/>
          </a:xfrm>
          <a:prstGeom prst="rect">
            <a:avLst/>
          </a:prstGeom>
          <a:noFill/>
          <a:ln/>
        </p:spPr>
        <p:txBody>
          <a:bodyPr wrap="square" lIns="0" tIns="0" rIns="0" bIns="0" rtlCol="0" anchor="ctr"/>
          <a:lstStyle/>
          <a:p>
            <a:pPr algn="ctr" indent="0" marL="0">
              <a:buNone/>
            </a:pPr>
            <a:r>
              <a:rPr lang="en-US" sz="2600" b="1" dirty="0">
                <a:solidFill>
                  <a:srgbClr val="94A3B8"/>
                </a:solidFill>
                <a:latin typeface="Calibri" pitchFamily="34" charset="0"/>
                <a:ea typeface="Calibri" pitchFamily="34" charset="-122"/>
                <a:cs typeface="Calibri" pitchFamily="34" charset="-120"/>
              </a:rPr>
              <a:t>›</a:t>
            </a:r>
            <a:endParaRPr lang="en-US" sz="2600" dirty="0"/>
          </a:p>
        </p:txBody>
      </p:sp>
      <p:sp>
        <p:nvSpPr>
          <p:cNvPr id="29" name="Shape 23"/>
          <p:cNvSpPr/>
          <p:nvPr/>
        </p:nvSpPr>
        <p:spPr>
          <a:xfrm>
            <a:off x="8016088" y="2743200"/>
            <a:ext cx="1700784" cy="1783080"/>
          </a:xfrm>
          <a:prstGeom prst="roundRect">
            <a:avLst>
              <a:gd name="adj" fmla="val 5376"/>
            </a:avLst>
          </a:prstGeom>
          <a:solidFill>
            <a:srgbClr val="1E293B"/>
          </a:solidFill>
          <a:ln w="12700">
            <a:solidFill>
              <a:srgbClr val="334155"/>
            </a:solidFill>
            <a:prstDash val="solid"/>
          </a:ln>
          <a:effectLst>
            <a:outerShdw sx="100000" sy="100000" kx="0" ky="0" algn="bl" rotWithShape="0" blurRad="101600" dist="50800" dir="5400000">
              <a:srgbClr val="0F172A">
                <a:alpha val="25000"/>
              </a:srgbClr>
            </a:outerShdw>
          </a:effectLst>
        </p:spPr>
      </p:sp>
      <p:sp>
        <p:nvSpPr>
          <p:cNvPr id="30" name="Shape 24"/>
          <p:cNvSpPr/>
          <p:nvPr/>
        </p:nvSpPr>
        <p:spPr>
          <a:xfrm>
            <a:off x="8519008" y="3017520"/>
            <a:ext cx="694944" cy="694944"/>
          </a:xfrm>
          <a:prstGeom prst="ellipse">
            <a:avLst/>
          </a:prstGeom>
          <a:solidFill>
            <a:srgbClr val="F97316"/>
          </a:solidFill>
          <a:ln/>
        </p:spPr>
      </p:sp>
      <p:pic>
        <p:nvPicPr>
          <p:cNvPr id="31" name="Image 4" descr="preencoded.png">    </p:cNvPr>
          <p:cNvPicPr>
            <a:picLocks noChangeAspect="1"/>
          </p:cNvPicPr>
          <p:nvPr/>
        </p:nvPicPr>
        <p:blipFill>
          <a:blip r:embed="rId5"/>
          <a:stretch>
            <a:fillRect/>
          </a:stretch>
        </p:blipFill>
        <p:spPr>
          <a:xfrm>
            <a:off x="8701888" y="3200400"/>
            <a:ext cx="329184" cy="329184"/>
          </a:xfrm>
          <a:prstGeom prst="rect">
            <a:avLst/>
          </a:prstGeom>
        </p:spPr>
      </p:pic>
      <p:sp>
        <p:nvSpPr>
          <p:cNvPr id="32" name="Text 25"/>
          <p:cNvSpPr/>
          <p:nvPr/>
        </p:nvSpPr>
        <p:spPr>
          <a:xfrm>
            <a:off x="8016088" y="3822192"/>
            <a:ext cx="1700784"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Approve</a:t>
            </a:r>
            <a:endParaRPr lang="en-US" sz="1450" dirty="0"/>
          </a:p>
        </p:txBody>
      </p:sp>
      <p:sp>
        <p:nvSpPr>
          <p:cNvPr id="33" name="Text 26"/>
          <p:cNvSpPr/>
          <p:nvPr/>
        </p:nvSpPr>
        <p:spPr>
          <a:xfrm>
            <a:off x="8070952" y="4114800"/>
            <a:ext cx="1591056" cy="347472"/>
          </a:xfrm>
          <a:prstGeom prst="rect">
            <a:avLst/>
          </a:prstGeom>
          <a:noFill/>
          <a:ln/>
        </p:spPr>
        <p:txBody>
          <a:bodyPr wrap="square" lIns="0" tIns="0" rIns="0" bIns="0" rtlCol="0" anchor="ctr"/>
          <a:lstStyle/>
          <a:p>
            <a:pPr algn="ctr" indent="0" marL="0">
              <a:lnSpc>
                <a:spcPct val="95000"/>
              </a:lnSpc>
              <a:buNone/>
            </a:pPr>
            <a:r>
              <a:rPr lang="en-US" sz="950" dirty="0">
                <a:solidFill>
                  <a:srgbClr val="94A3B8"/>
                </a:solidFill>
                <a:latin typeface="Calibri" pitchFamily="34" charset="0"/>
                <a:ea typeface="Calibri" pitchFamily="34" charset="-122"/>
                <a:cs typeface="Calibri" pitchFamily="34" charset="-120"/>
              </a:rPr>
              <a:t>reviewer gate on staging</a:t>
            </a:r>
            <a:endParaRPr lang="en-US" sz="950" dirty="0"/>
          </a:p>
        </p:txBody>
      </p:sp>
      <p:sp>
        <p:nvSpPr>
          <p:cNvPr id="34" name="Text 27"/>
          <p:cNvSpPr/>
          <p:nvPr/>
        </p:nvSpPr>
        <p:spPr>
          <a:xfrm>
            <a:off x="9689440" y="3323844"/>
            <a:ext cx="201168" cy="457200"/>
          </a:xfrm>
          <a:prstGeom prst="rect">
            <a:avLst/>
          </a:prstGeom>
          <a:noFill/>
          <a:ln/>
        </p:spPr>
        <p:txBody>
          <a:bodyPr wrap="square" lIns="0" tIns="0" rIns="0" bIns="0" rtlCol="0" anchor="ctr"/>
          <a:lstStyle/>
          <a:p>
            <a:pPr algn="ctr" indent="0" marL="0">
              <a:buNone/>
            </a:pPr>
            <a:r>
              <a:rPr lang="en-US" sz="2600" b="1" dirty="0">
                <a:solidFill>
                  <a:srgbClr val="94A3B8"/>
                </a:solidFill>
                <a:latin typeface="Calibri" pitchFamily="34" charset="0"/>
                <a:ea typeface="Calibri" pitchFamily="34" charset="-122"/>
                <a:cs typeface="Calibri" pitchFamily="34" charset="-120"/>
              </a:rPr>
              <a:t>›</a:t>
            </a:r>
            <a:endParaRPr lang="en-US" sz="2600" dirty="0"/>
          </a:p>
        </p:txBody>
      </p:sp>
      <p:sp>
        <p:nvSpPr>
          <p:cNvPr id="35" name="Shape 28"/>
          <p:cNvSpPr/>
          <p:nvPr/>
        </p:nvSpPr>
        <p:spPr>
          <a:xfrm>
            <a:off x="9863176" y="2743200"/>
            <a:ext cx="1700784" cy="1783080"/>
          </a:xfrm>
          <a:prstGeom prst="roundRect">
            <a:avLst>
              <a:gd name="adj" fmla="val 5376"/>
            </a:avLst>
          </a:prstGeom>
          <a:solidFill>
            <a:srgbClr val="1E293B"/>
          </a:solidFill>
          <a:ln w="12700">
            <a:solidFill>
              <a:srgbClr val="334155"/>
            </a:solidFill>
            <a:prstDash val="solid"/>
          </a:ln>
          <a:effectLst>
            <a:outerShdw sx="100000" sy="100000" kx="0" ky="0" algn="bl" rotWithShape="0" blurRad="101600" dist="50800" dir="5400000">
              <a:srgbClr val="0F172A">
                <a:alpha val="25000"/>
              </a:srgbClr>
            </a:outerShdw>
          </a:effectLst>
        </p:spPr>
      </p:sp>
      <p:sp>
        <p:nvSpPr>
          <p:cNvPr id="36" name="Shape 29"/>
          <p:cNvSpPr/>
          <p:nvPr/>
        </p:nvSpPr>
        <p:spPr>
          <a:xfrm>
            <a:off x="10366096" y="3017520"/>
            <a:ext cx="694944" cy="694944"/>
          </a:xfrm>
          <a:prstGeom prst="ellipse">
            <a:avLst/>
          </a:prstGeom>
          <a:solidFill>
            <a:srgbClr val="C2410C"/>
          </a:solidFill>
          <a:ln/>
        </p:spPr>
      </p:sp>
      <p:pic>
        <p:nvPicPr>
          <p:cNvPr id="37" name="Image 5" descr="preencoded.png">    </p:cNvPr>
          <p:cNvPicPr>
            <a:picLocks noChangeAspect="1"/>
          </p:cNvPicPr>
          <p:nvPr/>
        </p:nvPicPr>
        <p:blipFill>
          <a:blip r:embed="rId6"/>
          <a:stretch>
            <a:fillRect/>
          </a:stretch>
        </p:blipFill>
        <p:spPr>
          <a:xfrm>
            <a:off x="10548976" y="3200400"/>
            <a:ext cx="329184" cy="329184"/>
          </a:xfrm>
          <a:prstGeom prst="rect">
            <a:avLst/>
          </a:prstGeom>
        </p:spPr>
      </p:pic>
      <p:sp>
        <p:nvSpPr>
          <p:cNvPr id="38" name="Text 30"/>
          <p:cNvSpPr/>
          <p:nvPr/>
        </p:nvSpPr>
        <p:spPr>
          <a:xfrm>
            <a:off x="9863176" y="3822192"/>
            <a:ext cx="1700784" cy="292608"/>
          </a:xfrm>
          <a:prstGeom prst="rect">
            <a:avLst/>
          </a:prstGeom>
          <a:noFill/>
          <a:ln/>
        </p:spPr>
        <p:txBody>
          <a:bodyPr wrap="square" lIns="0" tIns="0" rIns="0" bIns="0" rtlCol="0" anchor="ctr"/>
          <a:lstStyle/>
          <a:p>
            <a:pPr algn="ctr" indent="0" marL="0">
              <a:buNone/>
            </a:pPr>
            <a:r>
              <a:rPr lang="en-US" sz="1450" b="1" dirty="0">
                <a:solidFill>
                  <a:srgbClr val="FFFFFF"/>
                </a:solidFill>
                <a:latin typeface="Bookman Old Style" pitchFamily="34" charset="0"/>
                <a:ea typeface="Bookman Old Style" pitchFamily="34" charset="-122"/>
                <a:cs typeface="Bookman Old Style" pitchFamily="34" charset="-120"/>
              </a:rPr>
              <a:t>Deploy</a:t>
            </a:r>
            <a:endParaRPr lang="en-US" sz="1450" dirty="0"/>
          </a:p>
        </p:txBody>
      </p:sp>
      <p:sp>
        <p:nvSpPr>
          <p:cNvPr id="39" name="Text 31"/>
          <p:cNvSpPr/>
          <p:nvPr/>
        </p:nvSpPr>
        <p:spPr>
          <a:xfrm>
            <a:off x="9918040" y="4114800"/>
            <a:ext cx="1591056" cy="347472"/>
          </a:xfrm>
          <a:prstGeom prst="rect">
            <a:avLst/>
          </a:prstGeom>
          <a:noFill/>
          <a:ln/>
        </p:spPr>
        <p:txBody>
          <a:bodyPr wrap="square" lIns="0" tIns="0" rIns="0" bIns="0" rtlCol="0" anchor="ctr"/>
          <a:lstStyle/>
          <a:p>
            <a:pPr algn="ctr" indent="0" marL="0">
              <a:lnSpc>
                <a:spcPct val="95000"/>
              </a:lnSpc>
              <a:buNone/>
            </a:pPr>
            <a:r>
              <a:rPr lang="en-US" sz="950" dirty="0">
                <a:solidFill>
                  <a:srgbClr val="94A3B8"/>
                </a:solidFill>
                <a:latin typeface="Calibri" pitchFamily="34" charset="0"/>
                <a:ea typeface="Calibri" pitchFamily="34" charset="-122"/>
                <a:cs typeface="Calibri" pitchFamily="34" charset="-120"/>
              </a:rPr>
              <a:t>shipped</a:t>
            </a:r>
            <a:endParaRPr lang="en-US" sz="950" dirty="0"/>
          </a:p>
        </p:txBody>
      </p:sp>
      <p:sp>
        <p:nvSpPr>
          <p:cNvPr id="40" name="Text 32"/>
          <p:cNvSpPr/>
          <p:nvPr/>
        </p:nvSpPr>
        <p:spPr>
          <a:xfrm>
            <a:off x="822960" y="5074920"/>
            <a:ext cx="10515600" cy="365760"/>
          </a:xfrm>
          <a:prstGeom prst="rect">
            <a:avLst/>
          </a:prstGeom>
          <a:noFill/>
          <a:ln/>
        </p:spPr>
        <p:txBody>
          <a:bodyPr wrap="square" lIns="0" tIns="0" rIns="0" bIns="0" rtlCol="0" anchor="ctr"/>
          <a:lstStyle/>
          <a:p>
            <a:pPr algn="ctr" indent="0" marL="0">
              <a:buNone/>
            </a:pPr>
            <a:r>
              <a:rPr lang="en-US" sz="1250" dirty="0">
                <a:solidFill>
                  <a:srgbClr val="99F6E4"/>
                </a:solidFill>
                <a:latin typeface="Courier New" pitchFamily="34" charset="0"/>
                <a:ea typeface="Courier New" pitchFamily="34" charset="-122"/>
                <a:cs typeface="Courier New" pitchFamily="34" charset="-120"/>
              </a:rPr>
              <a:t>React · Node · Go · Python · Postgres · Redis  —  one Compose stack, one pipeline.</a:t>
            </a:r>
            <a:endParaRPr lang="en-US" sz="1250" dirty="0"/>
          </a:p>
        </p:txBody>
      </p:sp>
      <p:sp>
        <p:nvSpPr>
          <p:cNvPr id="41" name="Text 33"/>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CI/CD with GitHub Actions</a:t>
            </a:r>
            <a:endParaRPr lang="en-US" sz="950" dirty="0"/>
          </a:p>
        </p:txBody>
      </p:sp>
      <p:sp>
        <p:nvSpPr>
          <p:cNvPr id="42" name="Text 34"/>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475569"/>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5000"/>
          </a:blip>
          <a:stretch>
            <a:fillRect/>
          </a:stretch>
        </p:blipFill>
        <p:spPr>
          <a:xfrm>
            <a:off x="8778240" y="3566160"/>
            <a:ext cx="3017520" cy="3017520"/>
          </a:xfrm>
          <a:prstGeom prst="rect">
            <a:avLst/>
          </a:prstGeom>
        </p:spPr>
      </p:pic>
      <p:sp>
        <p:nvSpPr>
          <p:cNvPr id="3" name="Text 0"/>
          <p:cNvSpPr/>
          <p:nvPr/>
        </p:nvSpPr>
        <p:spPr>
          <a:xfrm>
            <a:off x="822960" y="1371600"/>
            <a:ext cx="5486400" cy="365760"/>
          </a:xfrm>
          <a:prstGeom prst="rect">
            <a:avLst/>
          </a:prstGeom>
          <a:noFill/>
          <a:ln/>
        </p:spPr>
        <p:txBody>
          <a:bodyPr wrap="square" lIns="0" tIns="0" rIns="0" bIns="0" rtlCol="0" anchor="ctr"/>
          <a:lstStyle/>
          <a:p>
            <a:pPr indent="0" marL="0">
              <a:buNone/>
            </a:pPr>
            <a:r>
              <a:rPr lang="en-US" sz="1300" b="1" spc="400" kern="0" dirty="0">
                <a:solidFill>
                  <a:srgbClr val="99F6E4"/>
                </a:solidFill>
                <a:latin typeface="Calibri" pitchFamily="34" charset="0"/>
                <a:ea typeface="Calibri" pitchFamily="34" charset="-122"/>
                <a:cs typeface="Calibri" pitchFamily="34" charset="-120"/>
              </a:rPr>
              <a:t>THE ONE IDEA</a:t>
            </a:r>
            <a:endParaRPr lang="en-US" sz="1300" dirty="0"/>
          </a:p>
        </p:txBody>
      </p:sp>
      <p:sp>
        <p:nvSpPr>
          <p:cNvPr id="4" name="Text 1"/>
          <p:cNvSpPr/>
          <p:nvPr/>
        </p:nvSpPr>
        <p:spPr>
          <a:xfrm>
            <a:off x="786384" y="1783080"/>
            <a:ext cx="10424160" cy="1463040"/>
          </a:xfrm>
          <a:prstGeom prst="rect">
            <a:avLst/>
          </a:prstGeom>
          <a:noFill/>
          <a:ln/>
        </p:spPr>
        <p:txBody>
          <a:bodyPr wrap="square" lIns="0" tIns="0" rIns="0" bIns="0" rtlCol="0" anchor="ctr"/>
          <a:lstStyle/>
          <a:p>
            <a:pPr indent="0" marL="0">
              <a:lnSpc>
                <a:spcPct val="102000"/>
              </a:lnSpc>
              <a:buNone/>
            </a:pPr>
            <a:r>
              <a:rPr lang="en-US" sz="3600" b="1" dirty="0">
                <a:solidFill>
                  <a:srgbClr val="FFFFFF"/>
                </a:solidFill>
                <a:latin typeface="Bookman Old Style" pitchFamily="34" charset="0"/>
                <a:ea typeface="Bookman Old Style" pitchFamily="34" charset="-122"/>
                <a:cs typeface="Bookman Old Style" pitchFamily="34" charset="-120"/>
              </a:rPr>
              <a:t>Let the machine do it — the same way, every time.</a:t>
            </a:r>
            <a:endParaRPr lang="en-US" sz="3600" dirty="0"/>
          </a:p>
        </p:txBody>
      </p:sp>
      <p:sp>
        <p:nvSpPr>
          <p:cNvPr id="5" name="Text 2"/>
          <p:cNvSpPr/>
          <p:nvPr/>
        </p:nvSpPr>
        <p:spPr>
          <a:xfrm>
            <a:off x="822960" y="3429000"/>
            <a:ext cx="7680960" cy="1371600"/>
          </a:xfrm>
          <a:prstGeom prst="rect">
            <a:avLst/>
          </a:prstGeom>
          <a:noFill/>
          <a:ln/>
        </p:spPr>
        <p:txBody>
          <a:bodyPr wrap="square" lIns="0" tIns="0" rIns="0" bIns="0" rtlCol="0" anchor="ctr"/>
          <a:lstStyle/>
          <a:p>
            <a:pPr indent="0" marL="0">
              <a:lnSpc>
                <a:spcPct val="120000"/>
              </a:lnSpc>
              <a:buNone/>
            </a:pPr>
            <a:r>
              <a:rPr lang="en-US" sz="1600" dirty="0">
                <a:solidFill>
                  <a:srgbClr val="CBD5E1"/>
                </a:solidFill>
                <a:latin typeface="Calibri" pitchFamily="34" charset="0"/>
                <a:ea typeface="Calibri" pitchFamily="34" charset="-122"/>
                <a:cs typeface="Calibri" pitchFamily="34" charset="-120"/>
              </a:rPr>
              <a:t>Manual integration is late, manual testing gets skipped, and manual deploys live in one person's head. CI/CD replaces all three with an automated, repeatable process that runs on every push. GitHub Actions is just how we write that process down.</a:t>
            </a:r>
            <a:endParaRPr lang="en-US" sz="1600" dirty="0"/>
          </a:p>
        </p:txBody>
      </p:sp>
      <p:sp>
        <p:nvSpPr>
          <p:cNvPr id="6" name="Shape 3"/>
          <p:cNvSpPr/>
          <p:nvPr/>
        </p:nvSpPr>
        <p:spPr>
          <a:xfrm>
            <a:off x="822960" y="5074920"/>
            <a:ext cx="10515600" cy="0"/>
          </a:xfrm>
          <a:prstGeom prst="line">
            <a:avLst/>
          </a:prstGeom>
          <a:noFill/>
          <a:ln w="12700">
            <a:solidFill>
              <a:srgbClr val="334155"/>
            </a:solidFill>
            <a:prstDash val="solid"/>
          </a:ln>
        </p:spPr>
      </p:sp>
      <p:sp>
        <p:nvSpPr>
          <p:cNvPr id="7" name="Text 4"/>
          <p:cNvSpPr/>
          <p:nvPr/>
        </p:nvSpPr>
        <p:spPr>
          <a:xfrm>
            <a:off x="822960" y="5230368"/>
            <a:ext cx="10515600" cy="548640"/>
          </a:xfrm>
          <a:prstGeom prst="rect">
            <a:avLst/>
          </a:prstGeom>
          <a:noFill/>
          <a:ln/>
        </p:spPr>
        <p:txBody>
          <a:bodyPr wrap="square" lIns="0" tIns="0" rIns="0" bIns="0" rtlCol="0" anchor="t"/>
          <a:lstStyle/>
          <a:p>
            <a:pPr indent="0" marL="0">
              <a:buNone/>
            </a:pPr>
            <a:r>
              <a:rPr lang="en-US" sz="1400" b="1" dirty="0">
                <a:solidFill>
                  <a:srgbClr val="F97316"/>
                </a:solidFill>
                <a:latin typeface="Calibri" pitchFamily="34" charset="0"/>
                <a:ea typeface="Calibri" pitchFamily="34" charset="-122"/>
                <a:cs typeface="Calibri" pitchFamily="34" charset="-120"/>
              </a:rPr>
              <a:t>Next class:  </a:t>
            </a:r>
            <a:pPr indent="0" marL="0">
              <a:buNone/>
            </a:pPr>
            <a:r>
              <a:rPr lang="en-US" sz="1400" dirty="0">
                <a:solidFill>
                  <a:srgbClr val="94A3B8"/>
                </a:solidFill>
                <a:latin typeface="Calibri" pitchFamily="34" charset="0"/>
                <a:ea typeface="Calibri" pitchFamily="34" charset="-122"/>
                <a:cs typeface="Calibri" pitchFamily="34" charset="-120"/>
              </a:rPr>
              <a:t>Day 1 — clone the monorepo and write your first workflow. It runs on push and prints hello from a runner.</a:t>
            </a:r>
            <a:endParaRPr lang="en-US" sz="1400" dirty="0"/>
          </a:p>
        </p:txBody>
      </p:sp>
      <p:sp>
        <p:nvSpPr>
          <p:cNvPr id="8" name="Text 5"/>
          <p:cNvSpPr/>
          <p:nvPr/>
        </p:nvSpPr>
        <p:spPr>
          <a:xfrm>
            <a:off x="640080" y="6455664"/>
            <a:ext cx="5486400" cy="274320"/>
          </a:xfrm>
          <a:prstGeom prst="rect">
            <a:avLst/>
          </a:prstGeom>
          <a:noFill/>
          <a:ln/>
        </p:spPr>
        <p:txBody>
          <a:bodyPr wrap="square" lIns="0" tIns="0" rIns="0" bIns="0" rtlCol="0" anchor="ctr"/>
          <a:lstStyle/>
          <a:p>
            <a:pPr indent="0" marL="0">
              <a:buNone/>
            </a:pPr>
            <a:r>
              <a:rPr lang="en-US" sz="950" dirty="0">
                <a:solidFill>
                  <a:srgbClr val="475569"/>
                </a:solidFill>
                <a:latin typeface="Calibri" pitchFamily="34" charset="0"/>
                <a:ea typeface="Calibri" pitchFamily="34" charset="-122"/>
                <a:cs typeface="Calibri" pitchFamily="34" charset="-120"/>
              </a:rPr>
              <a:t>CI/CD with GitHub Actions</a:t>
            </a:r>
            <a:endParaRPr lang="en-US" sz="950" dirty="0"/>
          </a:p>
        </p:txBody>
      </p:sp>
      <p:sp>
        <p:nvSpPr>
          <p:cNvPr id="9" name="Text 6"/>
          <p:cNvSpPr/>
          <p:nvPr/>
        </p:nvSpPr>
        <p:spPr>
          <a:xfrm>
            <a:off x="11094415" y="6455664"/>
            <a:ext cx="457200" cy="274320"/>
          </a:xfrm>
          <a:prstGeom prst="rect">
            <a:avLst/>
          </a:prstGeom>
          <a:noFill/>
          <a:ln/>
        </p:spPr>
        <p:txBody>
          <a:bodyPr wrap="square" lIns="0" tIns="0" rIns="0" bIns="0" rtlCol="0" anchor="ctr"/>
          <a:lstStyle/>
          <a:p>
            <a:pPr algn="r" indent="0" marL="0">
              <a:buNone/>
            </a:pPr>
            <a:r>
              <a:rPr lang="en-US" sz="950" dirty="0">
                <a:solidFill>
                  <a:srgbClr val="475569"/>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CI/CD with GitHub Actions</dc:title>
  <dc:subject>PptxGenJS Presentation</dc:subject>
  <dc:creator>Sagyam Thapa</dc:creator>
  <cp:lastModifiedBy>Sagyam Thapa</cp:lastModifiedBy>
  <cp:revision>1</cp:revision>
  <dcterms:created xsi:type="dcterms:W3CDTF">2026-07-09T08:57:23Z</dcterms:created>
  <dcterms:modified xsi:type="dcterms:W3CDTF">2026-07-09T08:57:23Z</dcterms:modified>
</cp:coreProperties>
</file>