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image" Target="../media/image-3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image" Target="../media/image-3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image" Target="../media/image-37-7.png"/><Relationship Id="rId8" Type="http://schemas.openxmlformats.org/officeDocument/2006/relationships/image" Target="../media/image-37-8.png"/><Relationship Id="rId9" Type="http://schemas.openxmlformats.org/officeDocument/2006/relationships/image" Target="../media/image-37-9.png"/><Relationship Id="rId10" Type="http://schemas.openxmlformats.org/officeDocument/2006/relationships/image" Target="../media/image-37-10.png"/><Relationship Id="rId11" Type="http://schemas.openxmlformats.org/officeDocument/2006/relationships/image" Target="../media/image-37-11.png"/><Relationship Id="rId12" Type="http://schemas.openxmlformats.org/officeDocument/2006/relationships/image" Target="../media/image-37-12.png"/><Relationship Id="rId13" Type="http://schemas.openxmlformats.org/officeDocument/2006/relationships/image" Target="../media/image-37-13.png"/><Relationship Id="rId14" Type="http://schemas.openxmlformats.org/officeDocument/2006/relationships/image" Target="../media/image-37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ENGINEER'S MENTAL MODEL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Kubernetes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548640" y="35204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concepts, explained one idea at a time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443484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4348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536192" y="4434840"/>
            <a:ext cx="1196035" cy="31089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1536192" y="4434840"/>
            <a:ext cx="11960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Deployments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96819" y="4434840"/>
            <a:ext cx="954634" cy="31089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2896819" y="4434840"/>
            <a:ext cx="9546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016045" y="4434840"/>
            <a:ext cx="874166" cy="31089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</p:sp>
      <p:sp>
        <p:nvSpPr>
          <p:cNvPr id="12" name="Text 10"/>
          <p:cNvSpPr/>
          <p:nvPr/>
        </p:nvSpPr>
        <p:spPr>
          <a:xfrm>
            <a:off x="4016045" y="4434840"/>
            <a:ext cx="874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Ingress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54803" y="4434840"/>
            <a:ext cx="874166" cy="31089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5054803" y="4434840"/>
            <a:ext cx="874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93562" y="4434840"/>
            <a:ext cx="874166" cy="31089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</p:sp>
      <p:sp>
        <p:nvSpPr>
          <p:cNvPr id="16" name="Text 14"/>
          <p:cNvSpPr/>
          <p:nvPr/>
        </p:nvSpPr>
        <p:spPr>
          <a:xfrm>
            <a:off x="6093562" y="4434840"/>
            <a:ext cx="874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81160" y="2148840"/>
            <a:ext cx="2148840" cy="2148840"/>
          </a:xfrm>
          <a:prstGeom prst="ellipse">
            <a:avLst/>
          </a:prstGeom>
          <a:solidFill>
            <a:srgbClr val="0B1220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738360" y="2606040"/>
            <a:ext cx="1234440" cy="1234440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34626" y="2902306"/>
            <a:ext cx="641909" cy="641909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9464040" y="2331720"/>
            <a:ext cx="128016" cy="128016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1" name="Shape 18"/>
          <p:cNvSpPr/>
          <p:nvPr/>
        </p:nvSpPr>
        <p:spPr>
          <a:xfrm>
            <a:off x="11292840" y="2514600"/>
            <a:ext cx="128016" cy="128016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2" name="Shape 19"/>
          <p:cNvSpPr/>
          <p:nvPr/>
        </p:nvSpPr>
        <p:spPr>
          <a:xfrm>
            <a:off x="11109960" y="4069080"/>
            <a:ext cx="128016" cy="128016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3" name="Shape 20"/>
          <p:cNvSpPr/>
          <p:nvPr/>
        </p:nvSpPr>
        <p:spPr>
          <a:xfrm>
            <a:off x="9372600" y="3977640"/>
            <a:ext cx="128016" cy="128016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4" name="Text 21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THIS DECK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mental model, built one concept at a time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75956" y="1901952"/>
            <a:ext cx="713232" cy="713232"/>
          </a:xfrm>
          <a:prstGeom prst="ellipse">
            <a:avLst/>
          </a:prstGeom>
          <a:solidFill>
            <a:srgbClr val="F97316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7132" y="2073128"/>
            <a:ext cx="370881" cy="37088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2734056"/>
            <a:ext cx="234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Why orchestration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13232" y="3063240"/>
            <a:ext cx="2238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a fleet of containers creates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90824" y="160020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18140" y="1901952"/>
            <a:ext cx="713232" cy="713232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9315" y="2073128"/>
            <a:ext cx="370881" cy="37088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00552" y="2734056"/>
            <a:ext cx="234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Cluster anatomy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555416" y="3063240"/>
            <a:ext cx="2238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 and worker nodes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33008" y="160020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160324" y="1901952"/>
            <a:ext cx="713232" cy="713232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1499" y="2073128"/>
            <a:ext cx="370881" cy="37088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42736" y="2734056"/>
            <a:ext cx="234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Workloads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397600" y="3063240"/>
            <a:ext cx="2238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Pods, Deployments, StatefulSets, Jobs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075191" y="160020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10002507" y="1901952"/>
            <a:ext cx="713232" cy="713232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3683" y="2073128"/>
            <a:ext cx="370881" cy="37088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184919" y="2734056"/>
            <a:ext cx="234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Configuration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9239783" y="3063240"/>
            <a:ext cx="2238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ConfigMaps, Secrets, Namespaces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48640" y="402336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1475956" y="4325112"/>
            <a:ext cx="713232" cy="713232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132" y="4496288"/>
            <a:ext cx="370881" cy="370881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58368" y="5157216"/>
            <a:ext cx="234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Networking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713232" y="5486400"/>
            <a:ext cx="2238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Services, Ingress, the cluster network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3390824" y="402336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4318140" y="4325112"/>
            <a:ext cx="713232" cy="713232"/>
          </a:xfrm>
          <a:prstGeom prst="ellipse">
            <a:avLst/>
          </a:prstGeom>
          <a:solidFill>
            <a:srgbClr val="F97316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9315" y="4496288"/>
            <a:ext cx="370881" cy="370881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3500552" y="5157216"/>
            <a:ext cx="234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Storage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3555416" y="5486400"/>
            <a:ext cx="2238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Volumes, PVs, claims, storage classes</a:t>
            </a:r>
            <a:endParaRPr lang="en-US" sz="1150" dirty="0"/>
          </a:p>
        </p:txBody>
      </p:sp>
      <p:sp>
        <p:nvSpPr>
          <p:cNvPr id="35" name="Shape 27"/>
          <p:cNvSpPr/>
          <p:nvPr/>
        </p:nvSpPr>
        <p:spPr>
          <a:xfrm>
            <a:off x="6233008" y="402336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7160324" y="4325112"/>
            <a:ext cx="713232" cy="713232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1499" y="4496288"/>
            <a:ext cx="370881" cy="370881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6342736" y="5157216"/>
            <a:ext cx="234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Reliability &amp; access</a:t>
            </a:r>
            <a:endParaRPr lang="en-US" sz="1450" dirty="0"/>
          </a:p>
        </p:txBody>
      </p:sp>
      <p:sp>
        <p:nvSpPr>
          <p:cNvPr id="39" name="Text 30"/>
          <p:cNvSpPr/>
          <p:nvPr/>
        </p:nvSpPr>
        <p:spPr>
          <a:xfrm>
            <a:off x="6397600" y="5486400"/>
            <a:ext cx="2238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Probes, autoscaling, resources, RBAC</a:t>
            </a:r>
            <a:endParaRPr lang="en-US" sz="1150" dirty="0"/>
          </a:p>
        </p:txBody>
      </p:sp>
      <p:sp>
        <p:nvSpPr>
          <p:cNvPr id="40" name="Shape 31"/>
          <p:cNvSpPr/>
          <p:nvPr/>
        </p:nvSpPr>
        <p:spPr>
          <a:xfrm>
            <a:off x="9075191" y="402336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002507" y="4325112"/>
            <a:ext cx="713232" cy="713232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3683" y="4496288"/>
            <a:ext cx="370881" cy="370881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9184919" y="5157216"/>
            <a:ext cx="234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Talking to it</a:t>
            </a:r>
            <a:endParaRPr lang="en-US" sz="1450" dirty="0"/>
          </a:p>
        </p:txBody>
      </p:sp>
      <p:sp>
        <p:nvSpPr>
          <p:cNvPr id="44" name="Text 34"/>
          <p:cNvSpPr/>
          <p:nvPr/>
        </p:nvSpPr>
        <p:spPr>
          <a:xfrm>
            <a:off x="9239783" y="5486400"/>
            <a:ext cx="2238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and the wider ecosystem</a:t>
            </a:r>
            <a:endParaRPr lang="en-US" sz="1150" dirty="0"/>
          </a:p>
        </p:txBody>
      </p:sp>
      <p:sp>
        <p:nvSpPr>
          <p:cNvPr id="45" name="Text 35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9601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000" b="1" dirty="0">
                <a:solidFill>
                  <a:srgbClr val="F973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25000" dirty="0"/>
          </a:p>
        </p:txBody>
      </p:sp>
      <p:sp>
        <p:nvSpPr>
          <p:cNvPr id="3" name="Shape 1"/>
          <p:cNvSpPr/>
          <p:nvPr/>
        </p:nvSpPr>
        <p:spPr>
          <a:xfrm>
            <a:off x="548640" y="2395728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7223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Why orchestration</a:t>
            </a:r>
            <a:endParaRPr lang="en-US" sz="4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exists</a:t>
            </a:r>
            <a:endParaRPr lang="en-US" sz="4300" dirty="0"/>
          </a:p>
        </p:txBody>
      </p:sp>
      <p:sp>
        <p:nvSpPr>
          <p:cNvPr id="6" name="Text 4"/>
          <p:cNvSpPr/>
          <p:nvPr/>
        </p:nvSpPr>
        <p:spPr>
          <a:xfrm>
            <a:off x="548640" y="4224528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container is easy. A fleet across many machines is a different problem entirely.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ORCHESTRATION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You have 40 containers on 5 machines. Now what?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577840" cy="4343400"/>
          </a:xfrm>
          <a:prstGeom prst="roundRect">
            <a:avLst>
              <a:gd name="adj" fmla="val 2526"/>
            </a:avLst>
          </a:prstGeom>
          <a:solidFill>
            <a:srgbClr val="FEEBDD"/>
          </a:solidFill>
          <a:ln w="12700">
            <a:solidFill>
              <a:srgbClr val="F6C9A6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828800"/>
            <a:ext cx="640080" cy="640080"/>
          </a:xfrm>
          <a:prstGeom prst="ellipse">
            <a:avLst/>
          </a:prstGeom>
          <a:solidFill>
            <a:srgbClr val="F97316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1982419"/>
            <a:ext cx="332842" cy="33284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188366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A580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questions containers don't answer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051560" y="274320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3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container crashes at 3 a.m., who restarts it?</a:t>
            </a:r>
            <a:endParaRPr lang="en-US" sz="1350" dirty="0"/>
          </a:p>
          <a:p>
            <a:pPr marL="203200" indent="-203200">
              <a:lnSpc>
                <a:spcPct val="103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machine has room to run the next one?</a:t>
            </a:r>
            <a:endParaRPr lang="en-US" sz="1350" dirty="0"/>
          </a:p>
          <a:p>
            <a:pPr marL="203200" indent="-203200">
              <a:lnSpc>
                <a:spcPct val="103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40 moving containers find each other?</a:t>
            </a:r>
            <a:endParaRPr lang="en-US" sz="1350" dirty="0"/>
          </a:p>
          <a:p>
            <a:pPr marL="203200" indent="-203200">
              <a:lnSpc>
                <a:spcPct val="103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update all of them with zero downtime?</a:t>
            </a:r>
            <a:endParaRPr lang="en-US" sz="1350" dirty="0"/>
          </a:p>
          <a:p>
            <a:pPr marL="203200" indent="-203200">
              <a:lnSpc>
                <a:spcPct val="103000"/>
              </a:lnSpc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add copies when traffic spikes — and remove them after?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46520" y="1600200"/>
            <a:ext cx="521208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81228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Doing this by hand does not scale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812280" y="2331720"/>
            <a:ext cx="1310640" cy="2834640"/>
          </a:xfrm>
          <a:prstGeom prst="roundRect">
            <a:avLst>
              <a:gd name="adj" fmla="val 558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4720" y="25146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812280" y="2935224"/>
            <a:ext cx="131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1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7068312" y="3291840"/>
            <a:ext cx="362712" cy="512064"/>
          </a:xfrm>
          <a:prstGeom prst="roundRect">
            <a:avLst>
              <a:gd name="adj" fmla="val 15126"/>
            </a:avLst>
          </a:prstGeom>
          <a:solidFill>
            <a:srgbClr val="D9F5E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586472" y="3291840"/>
            <a:ext cx="362712" cy="512064"/>
          </a:xfrm>
          <a:prstGeom prst="roundRect">
            <a:avLst>
              <a:gd name="adj" fmla="val 15126"/>
            </a:avLst>
          </a:prstGeom>
          <a:solidFill>
            <a:srgbClr val="D9F5E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068312" y="3950208"/>
            <a:ext cx="362712" cy="512064"/>
          </a:xfrm>
          <a:prstGeom prst="roundRect">
            <a:avLst>
              <a:gd name="adj" fmla="val 15126"/>
            </a:avLst>
          </a:prstGeom>
          <a:solidFill>
            <a:srgbClr val="D9F5E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397240" y="2331720"/>
            <a:ext cx="1310640" cy="2834640"/>
          </a:xfrm>
          <a:prstGeom prst="roundRect">
            <a:avLst>
              <a:gd name="adj" fmla="val 558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251460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97240" y="2935224"/>
            <a:ext cx="131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2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8653272" y="3291840"/>
            <a:ext cx="362712" cy="512064"/>
          </a:xfrm>
          <a:prstGeom prst="roundRect">
            <a:avLst>
              <a:gd name="adj" fmla="val 15126"/>
            </a:avLst>
          </a:prstGeom>
          <a:solidFill>
            <a:srgbClr val="D9F5E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71432" y="3291840"/>
            <a:ext cx="362712" cy="512064"/>
          </a:xfrm>
          <a:prstGeom prst="roundRect">
            <a:avLst>
              <a:gd name="adj" fmla="val 15126"/>
            </a:avLst>
          </a:prstGeom>
          <a:solidFill>
            <a:srgbClr val="D9F5E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653272" y="3950208"/>
            <a:ext cx="362712" cy="512064"/>
          </a:xfrm>
          <a:prstGeom prst="roundRect">
            <a:avLst>
              <a:gd name="adj" fmla="val 15126"/>
            </a:avLst>
          </a:prstGeom>
          <a:solidFill>
            <a:srgbClr val="D9F5E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71432" y="3950208"/>
            <a:ext cx="362712" cy="512064"/>
          </a:xfrm>
          <a:prstGeom prst="roundRect">
            <a:avLst>
              <a:gd name="adj" fmla="val 15126"/>
            </a:avLst>
          </a:prstGeom>
          <a:solidFill>
            <a:srgbClr val="D9F5E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982200" y="2331720"/>
            <a:ext cx="1310640" cy="2834640"/>
          </a:xfrm>
          <a:prstGeom prst="roundRect">
            <a:avLst>
              <a:gd name="adj" fmla="val 558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4640" y="2514600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982200" y="2935224"/>
            <a:ext cx="131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3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10238232" y="3291840"/>
            <a:ext cx="362712" cy="512064"/>
          </a:xfrm>
          <a:prstGeom prst="roundRect">
            <a:avLst>
              <a:gd name="adj" fmla="val 15126"/>
            </a:avLst>
          </a:prstGeom>
          <a:solidFill>
            <a:srgbClr val="D9F5E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10756392" y="3291840"/>
            <a:ext cx="362712" cy="512064"/>
          </a:xfrm>
          <a:prstGeom prst="roundRect">
            <a:avLst>
              <a:gd name="adj" fmla="val 15126"/>
            </a:avLst>
          </a:prstGeom>
          <a:solidFill>
            <a:srgbClr val="FEEBDD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10238232" y="3950208"/>
            <a:ext cx="362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000" dirty="0"/>
          </a:p>
        </p:txBody>
      </p:sp>
      <p:sp>
        <p:nvSpPr>
          <p:cNvPr id="31" name="Text 25"/>
          <p:cNvSpPr/>
          <p:nvPr/>
        </p:nvSpPr>
        <p:spPr>
          <a:xfrm>
            <a:off x="6812280" y="53492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automates every one of these decisions.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Kubernetes actually is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E4EBFB"/>
          </a:solidFill>
          <a:ln w="12700">
            <a:solidFill>
              <a:srgbClr val="BFD0F5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892808"/>
            <a:ext cx="786384" cy="786384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980" y="2081540"/>
            <a:ext cx="408920" cy="408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20240" y="1737360"/>
            <a:ext cx="9418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2457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container orchestrator</a:t>
            </a:r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 system that runs your containers across a cluster of machines and keeps them running in the state you asked for, without you managing individual hosts.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48640" y="3246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CAME FROM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2567178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04672" y="3767328"/>
            <a:ext cx="210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57C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Borg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04672" y="4114800"/>
            <a:ext cx="21099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Google's internal cluster manager, run for a decade</a:t>
            </a:r>
            <a:endParaRPr lang="en-US" sz="11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7530" y="4023360"/>
            <a:ext cx="219456" cy="21945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390138" y="3611880"/>
            <a:ext cx="2567178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3646170" y="3767328"/>
            <a:ext cx="210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57C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2014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3646170" y="4114800"/>
            <a:ext cx="21099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Open-sourced as Kubernetes, written in Go</a:t>
            </a:r>
            <a:endParaRPr lang="en-US" sz="11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9028" y="4023360"/>
            <a:ext cx="219456" cy="219456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231636" y="3611880"/>
            <a:ext cx="2567178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6487668" y="3767328"/>
            <a:ext cx="210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57C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CNCF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6487668" y="4114800"/>
            <a:ext cx="21099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Donated to the Cloud Native Computing Foundation</a:t>
            </a:r>
            <a:endParaRPr lang="en-US" sz="11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0526" y="4023360"/>
            <a:ext cx="219456" cy="21945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9073134" y="3611880"/>
            <a:ext cx="2567178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23" name="Text 17"/>
          <p:cNvSpPr/>
          <p:nvPr/>
        </p:nvSpPr>
        <p:spPr>
          <a:xfrm>
            <a:off x="9329166" y="3767328"/>
            <a:ext cx="210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57C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Standard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9329166" y="4114800"/>
            <a:ext cx="21099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de-facto way to run containers in production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48640" y="4937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DEFINES IT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548640" y="5285232"/>
            <a:ext cx="1196035" cy="310896"/>
          </a:xfrm>
          <a:prstGeom prst="roundRect">
            <a:avLst>
              <a:gd name="adj" fmla="val 50000"/>
            </a:avLst>
          </a:prstGeom>
          <a:solidFill>
            <a:srgbClr val="D9F5EF"/>
          </a:solidFill>
          <a:ln/>
        </p:spPr>
      </p:sp>
      <p:sp>
        <p:nvSpPr>
          <p:cNvPr id="27" name="Text 21"/>
          <p:cNvSpPr/>
          <p:nvPr/>
        </p:nvSpPr>
        <p:spPr>
          <a:xfrm>
            <a:off x="548640" y="5285232"/>
            <a:ext cx="11960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Declarative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1927555" y="5285232"/>
            <a:ext cx="1276502" cy="310896"/>
          </a:xfrm>
          <a:prstGeom prst="roundRect">
            <a:avLst>
              <a:gd name="adj" fmla="val 50000"/>
            </a:avLst>
          </a:prstGeom>
          <a:solidFill>
            <a:srgbClr val="D9F5EF"/>
          </a:solidFill>
          <a:ln/>
        </p:spPr>
      </p:sp>
      <p:sp>
        <p:nvSpPr>
          <p:cNvPr id="29" name="Text 23"/>
          <p:cNvSpPr/>
          <p:nvPr/>
        </p:nvSpPr>
        <p:spPr>
          <a:xfrm>
            <a:off x="1927555" y="5285232"/>
            <a:ext cx="12765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Self-healing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3386938" y="5285232"/>
            <a:ext cx="954634" cy="310896"/>
          </a:xfrm>
          <a:prstGeom prst="roundRect">
            <a:avLst>
              <a:gd name="adj" fmla="val 50000"/>
            </a:avLst>
          </a:prstGeom>
          <a:solidFill>
            <a:srgbClr val="E4EBFB"/>
          </a:solidFill>
          <a:ln/>
        </p:spPr>
      </p:sp>
      <p:sp>
        <p:nvSpPr>
          <p:cNvPr id="31" name="Text 25"/>
          <p:cNvSpPr/>
          <p:nvPr/>
        </p:nvSpPr>
        <p:spPr>
          <a:xfrm>
            <a:off x="3386938" y="5285232"/>
            <a:ext cx="9546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57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Portable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4524451" y="528523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4EBFB"/>
          </a:solidFill>
          <a:ln/>
        </p:spPr>
      </p:sp>
      <p:sp>
        <p:nvSpPr>
          <p:cNvPr id="33" name="Text 27"/>
          <p:cNvSpPr/>
          <p:nvPr/>
        </p:nvSpPr>
        <p:spPr>
          <a:xfrm>
            <a:off x="4524451" y="5285232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57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Extensible</a:t>
            </a:r>
            <a:endParaRPr lang="en-US" sz="1050" dirty="0"/>
          </a:p>
        </p:txBody>
      </p:sp>
      <p:sp>
        <p:nvSpPr>
          <p:cNvPr id="34" name="Shape 28"/>
          <p:cNvSpPr/>
          <p:nvPr/>
        </p:nvSpPr>
        <p:spPr>
          <a:xfrm>
            <a:off x="5822899" y="528523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D9F5EF"/>
          </a:solidFill>
          <a:ln/>
        </p:spPr>
      </p:sp>
      <p:sp>
        <p:nvSpPr>
          <p:cNvPr id="35" name="Text 29"/>
          <p:cNvSpPr/>
          <p:nvPr/>
        </p:nvSpPr>
        <p:spPr>
          <a:xfrm>
            <a:off x="5822899" y="5285232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API-driven</a:t>
            </a:r>
            <a:endParaRPr lang="en-US" sz="1050" dirty="0"/>
          </a:p>
        </p:txBody>
      </p:sp>
      <p:sp>
        <p:nvSpPr>
          <p:cNvPr id="36" name="Text 30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IDEA THAT UNLOCKS EVERYTHING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Desired state and the reconciliation loop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57200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8745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You describe </a:t>
            </a:r>
            <a:pPr indent="0" marL="0">
              <a:lnSpc>
                <a:spcPct val="110000"/>
              </a:lnSpc>
              <a:buNone/>
            </a:pPr>
            <a:r>
              <a:rPr lang="en-US" sz="1800" b="1" i="1" dirty="0">
                <a:solidFill>
                  <a:srgbClr val="EA580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you want — not </a:t>
            </a:r>
            <a:pPr indent="0" marL="0">
              <a:lnSpc>
                <a:spcPct val="110000"/>
              </a:lnSpc>
              <a:buNone/>
            </a:pPr>
            <a:r>
              <a:rPr lang="en-US" sz="1800" b="1" i="1" dirty="0">
                <a:solidFill>
                  <a:srgbClr val="47556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how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to get there.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788920"/>
            <a:ext cx="3931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submit desired state: “run 3 copies of this image.”</a:t>
            </a:r>
            <a:endParaRPr lang="en-US" sz="1300" dirty="0"/>
          </a:p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 watch the actual state of the cluster.</a:t>
            </a:r>
            <a:endParaRPr lang="en-US" sz="1300" dirty="0"/>
          </a:p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two differ, they act to close the gap.</a:t>
            </a:r>
            <a:endParaRPr lang="en-US" sz="1300" dirty="0"/>
          </a:p>
          <a:p>
            <a:pPr marL="203200" indent="-203200">
              <a:lnSpc>
                <a:spcPct val="103000"/>
              </a:lnSpc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never stops — it is a continuous loop.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5074920"/>
            <a:ext cx="3931920" cy="786384"/>
          </a:xfrm>
          <a:prstGeom prst="roundRect">
            <a:avLst>
              <a:gd name="adj" fmla="val 10465"/>
            </a:avLst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5074920"/>
            <a:ext cx="3931920" cy="384048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5330952"/>
            <a:ext cx="3931920" cy="128016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Shape 9"/>
          <p:cNvSpPr/>
          <p:nvPr/>
        </p:nvSpPr>
        <p:spPr>
          <a:xfrm>
            <a:off x="1097280" y="5212080"/>
            <a:ext cx="109728" cy="109728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Shape 10"/>
          <p:cNvSpPr/>
          <p:nvPr/>
        </p:nvSpPr>
        <p:spPr>
          <a:xfrm>
            <a:off x="1298448" y="5212080"/>
            <a:ext cx="109728" cy="109728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3" name="Shape 11"/>
          <p:cNvSpPr/>
          <p:nvPr/>
        </p:nvSpPr>
        <p:spPr>
          <a:xfrm>
            <a:off x="1499616" y="5212080"/>
            <a:ext cx="109728" cy="10972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1737360" y="514807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declare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70432" y="5586984"/>
            <a:ext cx="34198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apply -f app.yaml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you state the goal; K8s drives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806440" y="1600200"/>
            <a:ext cx="5852160" cy="4343400"/>
          </a:xfrm>
          <a:prstGeom prst="roundRect">
            <a:avLst>
              <a:gd name="adj" fmla="val 2526"/>
            </a:avLst>
          </a:prstGeom>
          <a:solidFill>
            <a:srgbClr val="FAFC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06440" y="17830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RECONCILIATION LOOP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41464" y="2112264"/>
            <a:ext cx="3182112" cy="3182112"/>
          </a:xfrm>
          <a:prstGeom prst="ellipse">
            <a:avLst/>
          </a:prstGeom>
          <a:ln w="25400">
            <a:solidFill>
              <a:srgbClr val="E2E8F0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357616" y="1755648"/>
            <a:ext cx="749808" cy="749808"/>
          </a:xfrm>
          <a:prstGeom prst="ellipse">
            <a:avLst/>
          </a:prstGeom>
          <a:solidFill>
            <a:srgbClr val="F97316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7570" y="1935602"/>
            <a:ext cx="389900" cy="3899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818120" y="25328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Declare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818120" y="27706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state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9930384" y="3328416"/>
            <a:ext cx="749808" cy="749808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0338" y="3508370"/>
            <a:ext cx="389900" cy="38990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9390888" y="41056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Store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9390888" y="43434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etcd via API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8357616" y="4901184"/>
            <a:ext cx="749808" cy="749808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570" y="5081138"/>
            <a:ext cx="389900" cy="38990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818120" y="567842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Observe</a:t>
            </a:r>
            <a:endParaRPr lang="en-US" sz="1300" dirty="0"/>
          </a:p>
        </p:txBody>
      </p:sp>
      <p:sp>
        <p:nvSpPr>
          <p:cNvPr id="30" name="Text 25"/>
          <p:cNvSpPr/>
          <p:nvPr/>
        </p:nvSpPr>
        <p:spPr>
          <a:xfrm>
            <a:off x="7818120" y="591616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vs desired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6784848" y="3328416"/>
            <a:ext cx="749808" cy="749808"/>
          </a:xfrm>
          <a:prstGeom prst="ellipse">
            <a:avLst/>
          </a:prstGeom>
          <a:solidFill>
            <a:srgbClr val="2457C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4802" y="3508370"/>
            <a:ext cx="389900" cy="38990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6245352" y="41056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Act</a:t>
            </a:r>
            <a:endParaRPr lang="en-US" sz="1300" dirty="0"/>
          </a:p>
        </p:txBody>
      </p:sp>
      <p:sp>
        <p:nvSpPr>
          <p:cNvPr id="34" name="Text 28"/>
          <p:cNvSpPr/>
          <p:nvPr/>
        </p:nvSpPr>
        <p:spPr>
          <a:xfrm>
            <a:off x="6245352" y="43434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 to goal</a:t>
            </a:r>
            <a:endParaRPr lang="en-US" sz="1000" dirty="0"/>
          </a:p>
        </p:txBody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6488" y="3447288"/>
            <a:ext cx="512064" cy="512064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9601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000" b="1" dirty="0">
                <a:solidFill>
                  <a:srgbClr val="326CE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25000" dirty="0"/>
          </a:p>
        </p:txBody>
      </p:sp>
      <p:sp>
        <p:nvSpPr>
          <p:cNvPr id="3" name="Shape 1"/>
          <p:cNvSpPr/>
          <p:nvPr/>
        </p:nvSpPr>
        <p:spPr>
          <a:xfrm>
            <a:off x="548640" y="2395728"/>
            <a:ext cx="146304" cy="146304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7223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Cluster anatomy</a:t>
            </a:r>
            <a:endParaRPr lang="en-US" sz="43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cluster is a control plane that makes decisions and worker nodes that run your containers.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ANATOMY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shape of a Kubernetes cluster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91672" cy="1783080"/>
          </a:xfrm>
          <a:prstGeom prst="roundRect">
            <a:avLst>
              <a:gd name="adj" fmla="val 5128"/>
            </a:avLst>
          </a:prstGeom>
          <a:solidFill>
            <a:srgbClr val="E4EBFB"/>
          </a:solidFill>
          <a:ln w="19050">
            <a:solidFill>
              <a:srgbClr val="BFD0F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773936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98448" y="1773936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57C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CONTROL PLANE  ·  the brain (makes decisions, never runs your app)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68680" y="2267712"/>
            <a:ext cx="2407158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CBD9F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69848" y="2423160"/>
            <a:ext cx="512064" cy="512064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743" y="2546055"/>
            <a:ext cx="266273" cy="26627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2267712"/>
            <a:ext cx="15384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server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3550158" y="2267712"/>
            <a:ext cx="2407158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CBD9F7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751326" y="2423160"/>
            <a:ext cx="512064" cy="512064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4221" y="2546055"/>
            <a:ext cx="266273" cy="26627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327398" y="2267712"/>
            <a:ext cx="15384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etcd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231636" y="2267712"/>
            <a:ext cx="2407158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CBD9F7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32804" y="2423160"/>
            <a:ext cx="512064" cy="512064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5699" y="2546055"/>
            <a:ext cx="266273" cy="26627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008876" y="2267712"/>
            <a:ext cx="15384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913114" y="2267712"/>
            <a:ext cx="2407158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CBD9F7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9114282" y="2423160"/>
            <a:ext cx="512064" cy="512064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7177" y="2546055"/>
            <a:ext cx="266273" cy="266273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690354" y="2267712"/>
            <a:ext cx="15384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</a:t>
            </a:r>
            <a:endParaRPr lang="en-US" sz="1250" dirty="0"/>
          </a:p>
        </p:txBody>
      </p:sp>
      <p:sp>
        <p:nvSpPr>
          <p:cNvPr id="24" name="Text 17"/>
          <p:cNvSpPr/>
          <p:nvPr/>
        </p:nvSpPr>
        <p:spPr>
          <a:xfrm>
            <a:off x="548640" y="35661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948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WORKER NODES  ·  where your Pods actually run</a:t>
            </a:r>
            <a:endParaRPr lang="en-US" sz="1350" dirty="0"/>
          </a:p>
        </p:txBody>
      </p:sp>
      <p:sp>
        <p:nvSpPr>
          <p:cNvPr id="25" name="Shape 18"/>
          <p:cNvSpPr/>
          <p:nvPr/>
        </p:nvSpPr>
        <p:spPr>
          <a:xfrm>
            <a:off x="548640" y="3913632"/>
            <a:ext cx="3483864" cy="1965960"/>
          </a:xfrm>
          <a:prstGeom prst="roundRect">
            <a:avLst>
              <a:gd name="adj" fmla="val 4651"/>
            </a:avLst>
          </a:prstGeom>
          <a:solidFill>
            <a:srgbClr val="D9F5EF"/>
          </a:solidFill>
          <a:ln w="19050">
            <a:solidFill>
              <a:srgbClr val="9DE0D2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" y="4096512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170432" y="409651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948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node 1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804672" y="446227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kubelet · kube-proxy · runtime</a:t>
            </a:r>
            <a:endParaRPr lang="en-US" sz="900" dirty="0"/>
          </a:p>
        </p:txBody>
      </p:sp>
      <p:sp>
        <p:nvSpPr>
          <p:cNvPr id="29" name="Shape 21"/>
          <p:cNvSpPr/>
          <p:nvPr/>
        </p:nvSpPr>
        <p:spPr>
          <a:xfrm>
            <a:off x="804672" y="4828032"/>
            <a:ext cx="143103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73886" y="4956048"/>
            <a:ext cx="292608" cy="292608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804672" y="5285232"/>
            <a:ext cx="14310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endParaRPr lang="en-US" sz="1050" dirty="0"/>
          </a:p>
        </p:txBody>
      </p:sp>
      <p:sp>
        <p:nvSpPr>
          <p:cNvPr id="32" name="Shape 23"/>
          <p:cNvSpPr/>
          <p:nvPr/>
        </p:nvSpPr>
        <p:spPr>
          <a:xfrm>
            <a:off x="2436876" y="4828032"/>
            <a:ext cx="143103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06090" y="4956048"/>
            <a:ext cx="292608" cy="292608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2436876" y="5285232"/>
            <a:ext cx="14310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endParaRPr lang="en-US" sz="1050" dirty="0"/>
          </a:p>
        </p:txBody>
      </p:sp>
      <p:sp>
        <p:nvSpPr>
          <p:cNvPr id="35" name="Shape 25"/>
          <p:cNvSpPr/>
          <p:nvPr/>
        </p:nvSpPr>
        <p:spPr>
          <a:xfrm>
            <a:off x="4352544" y="3913632"/>
            <a:ext cx="3483864" cy="1965960"/>
          </a:xfrm>
          <a:prstGeom prst="roundRect">
            <a:avLst>
              <a:gd name="adj" fmla="val 4651"/>
            </a:avLst>
          </a:prstGeom>
          <a:solidFill>
            <a:srgbClr val="D9F5EF"/>
          </a:solidFill>
          <a:ln w="19050">
            <a:solidFill>
              <a:srgbClr val="9DE0D2"/>
            </a:solidFill>
            <a:prstDash val="solid"/>
          </a:ln>
        </p:spPr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08576" y="4096512"/>
            <a:ext cx="310896" cy="310896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4974336" y="409651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948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node 2</a:t>
            </a:r>
            <a:endParaRPr lang="en-US" sz="1250" dirty="0"/>
          </a:p>
        </p:txBody>
      </p:sp>
      <p:sp>
        <p:nvSpPr>
          <p:cNvPr id="38" name="Text 27"/>
          <p:cNvSpPr/>
          <p:nvPr/>
        </p:nvSpPr>
        <p:spPr>
          <a:xfrm>
            <a:off x="4608576" y="446227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kubelet · kube-proxy · runtime</a:t>
            </a:r>
            <a:endParaRPr lang="en-US" sz="900" dirty="0"/>
          </a:p>
        </p:txBody>
      </p:sp>
      <p:sp>
        <p:nvSpPr>
          <p:cNvPr id="39" name="Shape 28"/>
          <p:cNvSpPr/>
          <p:nvPr/>
        </p:nvSpPr>
        <p:spPr>
          <a:xfrm>
            <a:off x="4608576" y="4828032"/>
            <a:ext cx="143103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77790" y="4956048"/>
            <a:ext cx="292608" cy="292608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4608576" y="5285232"/>
            <a:ext cx="14310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endParaRPr lang="en-US" sz="1050" dirty="0"/>
          </a:p>
        </p:txBody>
      </p:sp>
      <p:sp>
        <p:nvSpPr>
          <p:cNvPr id="42" name="Shape 30"/>
          <p:cNvSpPr/>
          <p:nvPr/>
        </p:nvSpPr>
        <p:spPr>
          <a:xfrm>
            <a:off x="6240780" y="4828032"/>
            <a:ext cx="143103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09994" y="4956048"/>
            <a:ext cx="292608" cy="292608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6240780" y="5285232"/>
            <a:ext cx="14310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endParaRPr lang="en-US" sz="1050" dirty="0"/>
          </a:p>
        </p:txBody>
      </p:sp>
      <p:sp>
        <p:nvSpPr>
          <p:cNvPr id="45" name="Shape 32"/>
          <p:cNvSpPr/>
          <p:nvPr/>
        </p:nvSpPr>
        <p:spPr>
          <a:xfrm>
            <a:off x="8156448" y="3913632"/>
            <a:ext cx="3483864" cy="1965960"/>
          </a:xfrm>
          <a:prstGeom prst="roundRect">
            <a:avLst>
              <a:gd name="adj" fmla="val 4651"/>
            </a:avLst>
          </a:prstGeom>
          <a:solidFill>
            <a:srgbClr val="D9F5EF"/>
          </a:solidFill>
          <a:ln w="19050">
            <a:solidFill>
              <a:srgbClr val="9DE0D2"/>
            </a:solidFill>
            <a:prstDash val="solid"/>
          </a:ln>
        </p:spPr>
      </p:sp>
      <p:pic>
        <p:nvPicPr>
          <p:cNvPr id="46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12480" y="4096512"/>
            <a:ext cx="310896" cy="310896"/>
          </a:xfrm>
          <a:prstGeom prst="rect">
            <a:avLst/>
          </a:prstGeom>
        </p:spPr>
      </p:pic>
      <p:sp>
        <p:nvSpPr>
          <p:cNvPr id="47" name="Text 33"/>
          <p:cNvSpPr/>
          <p:nvPr/>
        </p:nvSpPr>
        <p:spPr>
          <a:xfrm>
            <a:off x="8778240" y="409651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948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node 3</a:t>
            </a:r>
            <a:endParaRPr lang="en-US" sz="1250" dirty="0"/>
          </a:p>
        </p:txBody>
      </p:sp>
      <p:sp>
        <p:nvSpPr>
          <p:cNvPr id="48" name="Text 34"/>
          <p:cNvSpPr/>
          <p:nvPr/>
        </p:nvSpPr>
        <p:spPr>
          <a:xfrm>
            <a:off x="8412480" y="446227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kubelet · kube-proxy · runtime</a:t>
            </a:r>
            <a:endParaRPr lang="en-US" sz="900" dirty="0"/>
          </a:p>
        </p:txBody>
      </p:sp>
      <p:sp>
        <p:nvSpPr>
          <p:cNvPr id="49" name="Shape 35"/>
          <p:cNvSpPr/>
          <p:nvPr/>
        </p:nvSpPr>
        <p:spPr>
          <a:xfrm>
            <a:off x="8412480" y="4828032"/>
            <a:ext cx="143103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5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81694" y="4956048"/>
            <a:ext cx="292608" cy="292608"/>
          </a:xfrm>
          <a:prstGeom prst="rect">
            <a:avLst/>
          </a:prstGeom>
        </p:spPr>
      </p:pic>
      <p:sp>
        <p:nvSpPr>
          <p:cNvPr id="51" name="Text 36"/>
          <p:cNvSpPr/>
          <p:nvPr/>
        </p:nvSpPr>
        <p:spPr>
          <a:xfrm>
            <a:off x="8412480" y="5285232"/>
            <a:ext cx="14310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endParaRPr lang="en-US" sz="1050" dirty="0"/>
          </a:p>
        </p:txBody>
      </p:sp>
      <p:sp>
        <p:nvSpPr>
          <p:cNvPr id="52" name="Shape 37"/>
          <p:cNvSpPr/>
          <p:nvPr/>
        </p:nvSpPr>
        <p:spPr>
          <a:xfrm>
            <a:off x="10044684" y="4828032"/>
            <a:ext cx="143103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13898" y="4956048"/>
            <a:ext cx="292608" cy="292608"/>
          </a:xfrm>
          <a:prstGeom prst="rect">
            <a:avLst/>
          </a:prstGeom>
        </p:spPr>
      </p:pic>
      <p:sp>
        <p:nvSpPr>
          <p:cNvPr id="54" name="Text 38"/>
          <p:cNvSpPr/>
          <p:nvPr/>
        </p:nvSpPr>
        <p:spPr>
          <a:xfrm>
            <a:off x="10044684" y="5285232"/>
            <a:ext cx="14310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endParaRPr lang="en-US" sz="1050" dirty="0"/>
          </a:p>
        </p:txBody>
      </p:sp>
      <p:sp>
        <p:nvSpPr>
          <p:cNvPr id="55" name="Text 39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ANATOMY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control plane, component by component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871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1984248"/>
            <a:ext cx="566928" cy="566928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751" y="2120311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2688" y="2551176"/>
            <a:ext cx="46190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kube-apiserver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932688" y="2880360"/>
            <a:ext cx="46190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front door. Every read and write — from kubectl, controllers, or nodes — goes through this REST API. Nothing talks to the cluster except through it.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55868" y="1600200"/>
            <a:ext cx="53871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39916" y="1984248"/>
            <a:ext cx="566928" cy="566928"/>
          </a:xfrm>
          <a:prstGeom prst="ellipse">
            <a:avLst/>
          </a:prstGeom>
          <a:solidFill>
            <a:srgbClr val="2457C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978" y="2120311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39916" y="2551176"/>
            <a:ext cx="46190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etcd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6639916" y="2880360"/>
            <a:ext cx="46190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cluster's single source of truth. A consistent key-value store holding the entire desired and observed state. Lose etcd and you lose the cluster's memory.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886200"/>
            <a:ext cx="53871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32688" y="4270248"/>
            <a:ext cx="566928" cy="566928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751" y="4406311"/>
            <a:ext cx="294803" cy="29480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32688" y="4837176"/>
            <a:ext cx="46190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kube-scheduler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932688" y="5166360"/>
            <a:ext cx="46190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placement engine. For each unscheduled Pod it picks the best node, weighing resource requests, affinity rules, taints, and available capacity.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255868" y="3886200"/>
            <a:ext cx="53871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39916" y="4270248"/>
            <a:ext cx="566928" cy="566928"/>
          </a:xfrm>
          <a:prstGeom prst="ellipse">
            <a:avLst/>
          </a:prstGeom>
          <a:solidFill>
            <a:srgbClr val="2457C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5978" y="4406311"/>
            <a:ext cx="294803" cy="29480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639916" y="4837176"/>
            <a:ext cx="46190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controller-manager</a:t>
            </a:r>
            <a:endParaRPr lang="en-US" sz="1550" dirty="0"/>
          </a:p>
        </p:txBody>
      </p:sp>
      <p:sp>
        <p:nvSpPr>
          <p:cNvPr id="24" name="Text 18"/>
          <p:cNvSpPr/>
          <p:nvPr/>
        </p:nvSpPr>
        <p:spPr>
          <a:xfrm>
            <a:off x="6639916" y="5166360"/>
            <a:ext cx="46190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reconcilers. A bundle of control loops (ReplicaSet, Node, Job…) each watching for drift between desired and actual state and acting to close it.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ANATOMY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worker node, component by component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15258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121408"/>
            <a:ext cx="566928" cy="566928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751" y="2257471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2688" y="2688336"/>
            <a:ext cx="27471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kubelet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932688" y="3017520"/>
            <a:ext cx="2747162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node's agent. It takes the Pod specs assigned to this node, tells the container runtime to start them, and continuously reports health back to the API server.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38218" y="1737360"/>
            <a:ext cx="3515258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22266" y="2121408"/>
            <a:ext cx="566928" cy="566928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8329" y="2257471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22266" y="2688336"/>
            <a:ext cx="27471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kube-proxy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4722266" y="3017520"/>
            <a:ext cx="2747162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node's traffic cop. It programs the networking rules that make a Service's single virtual IP route to the right Pods, on any node.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27797" y="1737360"/>
            <a:ext cx="3515258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511845" y="2121408"/>
            <a:ext cx="566928" cy="566928"/>
          </a:xfrm>
          <a:prstGeom prst="ellipse">
            <a:avLst/>
          </a:prstGeom>
          <a:solidFill>
            <a:srgbClr val="F97316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7908" y="2257471"/>
            <a:ext cx="294803" cy="29480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11845" y="2688336"/>
            <a:ext cx="27471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container runtime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511845" y="3017520"/>
            <a:ext cx="2747162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that actually pulls images and runs containers — containerd or CRI-O. Kubernetes talks to it through the standard CRI interface.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48640" y="4800600"/>
            <a:ext cx="11091672" cy="960120"/>
          </a:xfrm>
          <a:prstGeom prst="roundRect">
            <a:avLst>
              <a:gd name="adj" fmla="val 1142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074920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63040" y="480060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 plane decides, the node executes. Your application containers only ever run on worker nodes — never on the control plane.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ANATOMY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happens when you deploy something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043318" cy="2743200"/>
          </a:xfrm>
          <a:prstGeom prst="roundRect">
            <a:avLst>
              <a:gd name="adj" fmla="val 53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19933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796430" y="2011680"/>
            <a:ext cx="585216" cy="585216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6882" y="2152132"/>
            <a:ext cx="304312" cy="3043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2743200"/>
            <a:ext cx="16775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You apply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31520" y="3127248"/>
            <a:ext cx="16775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sends your YAML to the API server.</a:t>
            </a:r>
            <a:endParaRPr 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382" y="3072384"/>
            <a:ext cx="256032" cy="25603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811414" y="1828800"/>
            <a:ext cx="2043318" cy="2743200"/>
          </a:xfrm>
          <a:prstGeom prst="roundRect">
            <a:avLst>
              <a:gd name="adj" fmla="val 53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2976006" y="19933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26CE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4059204" y="2011680"/>
            <a:ext cx="585216" cy="585216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9656" y="2152132"/>
            <a:ext cx="304312" cy="3043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994294" y="2743200"/>
            <a:ext cx="16775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API validates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2994294" y="3127248"/>
            <a:ext cx="16775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server checks it and writes desired state…</a:t>
            </a:r>
            <a:endParaRPr lang="en-US" sz="11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156" y="3072384"/>
            <a:ext cx="256032" cy="256032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074188" y="1828800"/>
            <a:ext cx="2043318" cy="2743200"/>
          </a:xfrm>
          <a:prstGeom prst="roundRect">
            <a:avLst>
              <a:gd name="adj" fmla="val 53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20" name="Text 14"/>
          <p:cNvSpPr/>
          <p:nvPr/>
        </p:nvSpPr>
        <p:spPr>
          <a:xfrm>
            <a:off x="5238780" y="19933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457C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Shape 15"/>
          <p:cNvSpPr/>
          <p:nvPr/>
        </p:nvSpPr>
        <p:spPr>
          <a:xfrm>
            <a:off x="6321979" y="2011680"/>
            <a:ext cx="585216" cy="585216"/>
          </a:xfrm>
          <a:prstGeom prst="ellipse">
            <a:avLst/>
          </a:prstGeom>
          <a:solidFill>
            <a:srgbClr val="2457C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431" y="2152132"/>
            <a:ext cx="304312" cy="30431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257068" y="2743200"/>
            <a:ext cx="16775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etcd records</a:t>
            </a:r>
            <a:endParaRPr lang="en-US" sz="1350" dirty="0"/>
          </a:p>
        </p:txBody>
      </p:sp>
      <p:sp>
        <p:nvSpPr>
          <p:cNvPr id="24" name="Text 17"/>
          <p:cNvSpPr/>
          <p:nvPr/>
        </p:nvSpPr>
        <p:spPr>
          <a:xfrm>
            <a:off x="5257068" y="3127248"/>
            <a:ext cx="16775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…persisting it to etcd as the new source of truth.</a:t>
            </a:r>
            <a:endParaRPr lang="en-US" sz="115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0931" y="3072384"/>
            <a:ext cx="256032" cy="256032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7336963" y="1828800"/>
            <a:ext cx="2043318" cy="2743200"/>
          </a:xfrm>
          <a:prstGeom prst="roundRect">
            <a:avLst>
              <a:gd name="adj" fmla="val 53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27" name="Text 19"/>
          <p:cNvSpPr/>
          <p:nvPr/>
        </p:nvSpPr>
        <p:spPr>
          <a:xfrm>
            <a:off x="7501555" y="19933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8584753" y="2011680"/>
            <a:ext cx="585216" cy="585216"/>
          </a:xfrm>
          <a:prstGeom prst="ellipse">
            <a:avLst/>
          </a:prstGeom>
          <a:solidFill>
            <a:srgbClr val="F97316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5205" y="2152132"/>
            <a:ext cx="304312" cy="304312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7519843" y="2743200"/>
            <a:ext cx="16775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Scheduler binds</a:t>
            </a:r>
            <a:endParaRPr lang="en-US" sz="1350" dirty="0"/>
          </a:p>
        </p:txBody>
      </p:sp>
      <p:sp>
        <p:nvSpPr>
          <p:cNvPr id="31" name="Text 22"/>
          <p:cNvSpPr/>
          <p:nvPr/>
        </p:nvSpPr>
        <p:spPr>
          <a:xfrm>
            <a:off x="7519843" y="3127248"/>
            <a:ext cx="16775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notices an unscheduled Pod and assigns a node.</a:t>
            </a:r>
            <a:endParaRPr lang="en-US" sz="115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43705" y="3072384"/>
            <a:ext cx="256032" cy="256032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9599737" y="1828800"/>
            <a:ext cx="2043318" cy="2743200"/>
          </a:xfrm>
          <a:prstGeom prst="roundRect">
            <a:avLst>
              <a:gd name="adj" fmla="val 53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34" name="Text 24"/>
          <p:cNvSpPr/>
          <p:nvPr/>
        </p:nvSpPr>
        <p:spPr>
          <a:xfrm>
            <a:off x="9764329" y="19933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2200" dirty="0"/>
          </a:p>
        </p:txBody>
      </p:sp>
      <p:sp>
        <p:nvSpPr>
          <p:cNvPr id="35" name="Shape 25"/>
          <p:cNvSpPr/>
          <p:nvPr/>
        </p:nvSpPr>
        <p:spPr>
          <a:xfrm>
            <a:off x="10847527" y="2011680"/>
            <a:ext cx="585216" cy="585216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87979" y="2152132"/>
            <a:ext cx="304312" cy="304312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9782617" y="2743200"/>
            <a:ext cx="16775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kubelet runs it</a:t>
            </a:r>
            <a:endParaRPr lang="en-US" sz="1350" dirty="0"/>
          </a:p>
        </p:txBody>
      </p:sp>
      <p:sp>
        <p:nvSpPr>
          <p:cNvPr id="38" name="Text 27"/>
          <p:cNvSpPr/>
          <p:nvPr/>
        </p:nvSpPr>
        <p:spPr>
          <a:xfrm>
            <a:off x="9782617" y="3127248"/>
            <a:ext cx="16775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node's kubelet starts the containers. Done.</a:t>
            </a:r>
            <a:endParaRPr lang="en-US" sz="1150" dirty="0"/>
          </a:p>
        </p:txBody>
      </p:sp>
      <p:sp>
        <p:nvSpPr>
          <p:cNvPr id="39" name="Shape 28"/>
          <p:cNvSpPr/>
          <p:nvPr/>
        </p:nvSpPr>
        <p:spPr>
          <a:xfrm>
            <a:off x="548640" y="48920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4EBFB"/>
          </a:solidFill>
          <a:ln w="12700">
            <a:solidFill>
              <a:srgbClr val="BFD0F5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40" name="Text 29"/>
          <p:cNvSpPr/>
          <p:nvPr/>
        </p:nvSpPr>
        <p:spPr>
          <a:xfrm>
            <a:off x="914400" y="48920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457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the pattern: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component gives orders directly. Each watches the API for state it cares about and reacts. That loose coupling is what makes Kubernetes resilient.</a:t>
            </a:r>
            <a:endParaRPr lang="en-US" sz="1300" dirty="0"/>
          </a:p>
        </p:txBody>
      </p:sp>
      <p:sp>
        <p:nvSpPr>
          <p:cNvPr id="41" name="Text 30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9601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000" b="1" dirty="0">
                <a:solidFill>
                  <a:srgbClr val="0D948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25000" dirty="0"/>
          </a:p>
        </p:txBody>
      </p:sp>
      <p:sp>
        <p:nvSpPr>
          <p:cNvPr id="3" name="Shape 1"/>
          <p:cNvSpPr/>
          <p:nvPr/>
        </p:nvSpPr>
        <p:spPr>
          <a:xfrm>
            <a:off x="548640" y="2395728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7223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Running workloads</a:t>
            </a:r>
            <a:endParaRPr lang="en-US" sz="43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objects you actually create to run software — from a single Pod up to self-healing, self-updating fleets.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Pod — the smallest thing you deploy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120640" cy="4343400"/>
          </a:xfrm>
          <a:prstGeom prst="roundRect">
            <a:avLst>
              <a:gd name="adj" fmla="val 2526"/>
            </a:avLst>
          </a:prstGeom>
          <a:solidFill>
            <a:srgbClr val="FAFC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2057400"/>
            <a:ext cx="4114800" cy="2514600"/>
          </a:xfrm>
          <a:prstGeom prst="roundRect">
            <a:avLst>
              <a:gd name="adj" fmla="val 4364"/>
            </a:avLst>
          </a:prstGeom>
          <a:solidFill>
            <a:srgbClr val="D9F5EF"/>
          </a:solidFill>
          <a:ln w="25400">
            <a:solidFill>
              <a:srgbClr val="0D948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1188720" y="21579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  ·  shared IP  10.1.4.7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280160" y="2514600"/>
            <a:ext cx="16002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0D9488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8528" y="2651760"/>
            <a:ext cx="310896" cy="3108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80160" y="303580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280160" y="3273552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54680" y="2514600"/>
            <a:ext cx="16002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0D948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3048" y="2651760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154680" y="303580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sidecar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3154680" y="3273552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1280160" y="3794760"/>
            <a:ext cx="3474720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3913632"/>
            <a:ext cx="310896" cy="31089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874520" y="379476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volume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1051560" y="4709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in a Pod share network and storage.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989320" y="1691640"/>
            <a:ext cx="5650992" cy="969264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190488" y="1874520"/>
            <a:ext cx="603504" cy="603504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5329" y="2019361"/>
            <a:ext cx="313822" cy="31382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949440" y="181051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One shared network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6949440" y="211226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in a Pod reach each other over localhost and share one IP address.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989320" y="2761488"/>
            <a:ext cx="5650992" cy="969264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6190488" y="2944368"/>
            <a:ext cx="603504" cy="603504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5329" y="3089209"/>
            <a:ext cx="313822" cy="31382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949440" y="288036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Shared storage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6949440" y="318211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can mount the same volumes to pass files between them.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5989320" y="3831336"/>
            <a:ext cx="5650992" cy="969264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190488" y="4014216"/>
            <a:ext cx="603504" cy="603504"/>
          </a:xfrm>
          <a:prstGeom prst="ellipse">
            <a:avLst/>
          </a:prstGeom>
          <a:solidFill>
            <a:srgbClr val="2457C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5329" y="4159057"/>
            <a:ext cx="313822" cy="31382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949440" y="395020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Always together</a:t>
            </a:r>
            <a:endParaRPr lang="en-US" sz="1400" dirty="0"/>
          </a:p>
        </p:txBody>
      </p:sp>
      <p:sp>
        <p:nvSpPr>
          <p:cNvPr id="34" name="Text 26"/>
          <p:cNvSpPr/>
          <p:nvPr/>
        </p:nvSpPr>
        <p:spPr>
          <a:xfrm>
            <a:off x="6949440" y="42519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Pod is scheduled, started, and stopped as one unit — never split across nodes.</a:t>
            </a:r>
            <a:endParaRPr lang="en-US" sz="1150" dirty="0"/>
          </a:p>
        </p:txBody>
      </p:sp>
      <p:sp>
        <p:nvSpPr>
          <p:cNvPr id="35" name="Shape 27"/>
          <p:cNvSpPr/>
          <p:nvPr/>
        </p:nvSpPr>
        <p:spPr>
          <a:xfrm>
            <a:off x="5989320" y="4901184"/>
            <a:ext cx="5650992" cy="969264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190488" y="5084064"/>
            <a:ext cx="603504" cy="603504"/>
          </a:xfrm>
          <a:prstGeom prst="ellipse">
            <a:avLst/>
          </a:prstGeom>
          <a:solidFill>
            <a:srgbClr val="F97316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5329" y="5228905"/>
            <a:ext cx="313822" cy="313822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6949440" y="502005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Ephemeral by design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6949440" y="532180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 are cattle, not pets. They get replaced, not repaired — with a new IP each time.</a:t>
            </a:r>
            <a:endParaRPr lang="en-US" sz="1150" dirty="0"/>
          </a:p>
        </p:txBody>
      </p:sp>
      <p:sp>
        <p:nvSpPr>
          <p:cNvPr id="40" name="Text 31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Labels &amp; selectors — the glue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206240" cy="434340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8745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Almost nothing in Kubernetes references another object by name.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78892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3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are key/value tags you attach to objects.</a:t>
            </a:r>
            <a:endParaRPr lang="en-US" sz="1300" dirty="0"/>
          </a:p>
          <a:p>
            <a:pPr marL="203200" indent="-203200">
              <a:lnSpc>
                <a:spcPct val="103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selector is a query: “any Pod where app=web.”</a:t>
            </a:r>
            <a:endParaRPr lang="en-US" sz="1300" dirty="0"/>
          </a:p>
          <a:p>
            <a:pPr marL="203200" indent="-203200">
              <a:lnSpc>
                <a:spcPct val="103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Services, Deployments and more use selectors to find the Pods they manage.</a:t>
            </a:r>
            <a:endParaRPr lang="en-US" sz="1300" dirty="0"/>
          </a:p>
          <a:p>
            <a:pPr marL="203200" indent="-203200">
              <a:lnSpc>
                <a:spcPct val="103000"/>
              </a:lnSpc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 coupling: match by attribute, not identity.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5074920"/>
            <a:ext cx="3566160" cy="1060704"/>
          </a:xfrm>
          <a:prstGeom prst="roundRect">
            <a:avLst>
              <a:gd name="adj" fmla="val 7759"/>
            </a:avLst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5074920"/>
            <a:ext cx="3566160" cy="384048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5330952"/>
            <a:ext cx="3566160" cy="128016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Shape 9"/>
          <p:cNvSpPr/>
          <p:nvPr/>
        </p:nvSpPr>
        <p:spPr>
          <a:xfrm>
            <a:off x="1097280" y="5212080"/>
            <a:ext cx="109728" cy="109728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Shape 10"/>
          <p:cNvSpPr/>
          <p:nvPr/>
        </p:nvSpPr>
        <p:spPr>
          <a:xfrm>
            <a:off x="1298448" y="5212080"/>
            <a:ext cx="109728" cy="109728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3" name="Shape 11"/>
          <p:cNvSpPr/>
          <p:nvPr/>
        </p:nvSpPr>
        <p:spPr>
          <a:xfrm>
            <a:off x="1499616" y="5212080"/>
            <a:ext cx="109728" cy="10972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1737360" y="514807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70432" y="5586984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labels:</a:t>
            </a:r>
            <a:endParaRPr lang="en-US" sz="1250" dirty="0"/>
          </a:p>
          <a:p>
            <a:pPr algn="l"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app: web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tier: frontend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74920" y="1600200"/>
            <a:ext cx="6565392" cy="4343400"/>
          </a:xfrm>
          <a:prstGeom prst="roundRect">
            <a:avLst>
              <a:gd name="adj" fmla="val 2526"/>
            </a:avLst>
          </a:prstGeom>
          <a:solidFill>
            <a:srgbClr val="FAFC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532120" y="1965960"/>
            <a:ext cx="5650992" cy="868680"/>
          </a:xfrm>
          <a:prstGeom prst="roundRect">
            <a:avLst>
              <a:gd name="adj" fmla="val 9474"/>
            </a:avLst>
          </a:prstGeom>
          <a:solidFill>
            <a:srgbClr val="E4EBFB"/>
          </a:solidFill>
          <a:ln w="19050">
            <a:solidFill>
              <a:srgbClr val="BFD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2121408"/>
            <a:ext cx="548640" cy="548640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2394" y="2253082"/>
            <a:ext cx="285293" cy="285293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446520" y="1965960"/>
            <a:ext cx="4736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57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selector:  </a:t>
            </a:r>
            <a:pPr indent="0" marL="0">
              <a:buNone/>
            </a:pPr>
            <a:r>
              <a:rPr lang="en-US" sz="1200" b="1" dirty="0">
                <a:solidFill>
                  <a:srgbClr val="2457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app=web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532120" y="3977640"/>
            <a:ext cx="1220724" cy="1051560"/>
          </a:xfrm>
          <a:prstGeom prst="roundRect">
            <a:avLst>
              <a:gd name="adj" fmla="val 6957"/>
            </a:avLst>
          </a:prstGeom>
          <a:solidFill>
            <a:srgbClr val="D9F5EF"/>
          </a:solidFill>
          <a:ln w="19050">
            <a:solidFill>
              <a:srgbClr val="0D9488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9602" y="4123944"/>
            <a:ext cx="365760" cy="36576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532120" y="4507992"/>
            <a:ext cx="12207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532120" y="4736592"/>
            <a:ext cx="12207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app=web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142482" y="2834640"/>
            <a:ext cx="0" cy="114300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  <a:tailEnd type="triangle"/>
          </a:ln>
        </p:spPr>
      </p:sp>
      <p:sp>
        <p:nvSpPr>
          <p:cNvPr id="26" name="Shape 22"/>
          <p:cNvSpPr/>
          <p:nvPr/>
        </p:nvSpPr>
        <p:spPr>
          <a:xfrm>
            <a:off x="7008876" y="3977640"/>
            <a:ext cx="1220724" cy="1051560"/>
          </a:xfrm>
          <a:prstGeom prst="roundRect">
            <a:avLst>
              <a:gd name="adj" fmla="val 6957"/>
            </a:avLst>
          </a:prstGeom>
          <a:solidFill>
            <a:srgbClr val="D9F5EF"/>
          </a:solidFill>
          <a:ln w="19050">
            <a:solidFill>
              <a:srgbClr val="0D9488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6358" y="4123944"/>
            <a:ext cx="365760" cy="36576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7008876" y="4507992"/>
            <a:ext cx="12207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7008876" y="4736592"/>
            <a:ext cx="12207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app=web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7619238" y="2834640"/>
            <a:ext cx="0" cy="114300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  <a:tailEnd type="triangle"/>
          </a:ln>
        </p:spPr>
      </p:sp>
      <p:sp>
        <p:nvSpPr>
          <p:cNvPr id="31" name="Shape 26"/>
          <p:cNvSpPr/>
          <p:nvPr/>
        </p:nvSpPr>
        <p:spPr>
          <a:xfrm>
            <a:off x="8485632" y="3977640"/>
            <a:ext cx="1220724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114" y="4123944"/>
            <a:ext cx="365760" cy="36576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8485632" y="4507992"/>
            <a:ext cx="12207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8485632" y="4736592"/>
            <a:ext cx="12207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app=api</a:t>
            </a:r>
            <a:endParaRPr 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9962388" y="3977640"/>
            <a:ext cx="1220724" cy="1051560"/>
          </a:xfrm>
          <a:prstGeom prst="roundRect">
            <a:avLst>
              <a:gd name="adj" fmla="val 6957"/>
            </a:avLst>
          </a:prstGeom>
          <a:solidFill>
            <a:srgbClr val="D9F5EF"/>
          </a:solidFill>
          <a:ln w="19050">
            <a:solidFill>
              <a:srgbClr val="0D9488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9870" y="4123944"/>
            <a:ext cx="365760" cy="365760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9962388" y="4507992"/>
            <a:ext cx="12207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9962388" y="4736592"/>
            <a:ext cx="12207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app=web</a:t>
            </a:r>
            <a:endParaRPr 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10572750" y="2834640"/>
            <a:ext cx="0" cy="114300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  <a:tailEnd type="triangle"/>
          </a:ln>
        </p:spPr>
      </p:sp>
      <p:sp>
        <p:nvSpPr>
          <p:cNvPr id="40" name="Text 33"/>
          <p:cNvSpPr/>
          <p:nvPr/>
        </p:nvSpPr>
        <p:spPr>
          <a:xfrm>
            <a:off x="5532120" y="5212080"/>
            <a:ext cx="5650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Service routes only to Pods whose labels match its selector.</a:t>
            </a:r>
            <a:endParaRPr lang="en-US" sz="1150" dirty="0"/>
          </a:p>
        </p:txBody>
      </p:sp>
      <p:sp>
        <p:nvSpPr>
          <p:cNvPr id="41" name="Text 34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ReplicaSet — keep N copies alive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297680" cy="434340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874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Self-healing, in one object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3657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declare a replica count — say, 3.</a:t>
            </a:r>
            <a:endParaRPr lang="en-US" sz="1280" dirty="0"/>
          </a:p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ReplicaSet controller counts running Pods.</a:t>
            </a:r>
            <a:endParaRPr lang="en-US" sz="1280" dirty="0"/>
          </a:p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few? It creates more. Too many? It deletes some.</a:t>
            </a:r>
            <a:endParaRPr lang="en-US" sz="1280" dirty="0"/>
          </a:p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dies and takes Pods with it → replacements appear elsewhere, automatically.</a:t>
            </a:r>
            <a:endParaRPr lang="en-US" sz="1280" dirty="0"/>
          </a:p>
          <a:p>
            <a:pPr marL="203200" indent="-203200">
              <a:lnSpc>
                <a:spcPct val="103000"/>
              </a:lnSpc>
              <a:buSzPct val="100000"/>
              <a:buChar char="•"/>
            </a:pPr>
            <a:r>
              <a:rPr lang="en-US" sz="12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rarely make these by hand — a Deployment manages them for you.</a:t>
            </a:r>
            <a:endParaRPr lang="en-US" sz="1280" dirty="0"/>
          </a:p>
        </p:txBody>
      </p:sp>
      <p:sp>
        <p:nvSpPr>
          <p:cNvPr id="8" name="Shape 6"/>
          <p:cNvSpPr/>
          <p:nvPr/>
        </p:nvSpPr>
        <p:spPr>
          <a:xfrm>
            <a:off x="5166360" y="1600200"/>
            <a:ext cx="6473952" cy="4343400"/>
          </a:xfrm>
          <a:prstGeom prst="roundRect">
            <a:avLst>
              <a:gd name="adj" fmla="val 2526"/>
            </a:avLst>
          </a:prstGeom>
          <a:solidFill>
            <a:srgbClr val="FAFC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23560" y="1874520"/>
            <a:ext cx="5559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DESIRED:  replicas = 3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806440" y="233172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D9F5EF"/>
          </a:solidFill>
          <a:ln w="17780">
            <a:solidFill>
              <a:srgbClr val="0D9488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2512" y="2478024"/>
            <a:ext cx="365760" cy="3657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806440" y="288036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644384" y="233172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EEBDD"/>
          </a:solidFill>
          <a:ln w="17780">
            <a:solidFill>
              <a:srgbClr val="F9731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0456" y="2478024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644384" y="288036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crashed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9482328" y="233172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D9F5EF"/>
          </a:solidFill>
          <a:ln w="17780">
            <a:solidFill>
              <a:srgbClr val="0D9488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478024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482328" y="288036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5806440" y="3319272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Pod dies — actual state (2) drifts below desired (3).</a:t>
            </a:r>
            <a:endParaRPr lang="en-US" sz="115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168" y="3703320"/>
            <a:ext cx="402336" cy="402336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5806440" y="420624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D9F5EF"/>
          </a:solidFill>
          <a:ln w="17780">
            <a:solidFill>
              <a:srgbClr val="0D9488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4352544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806440" y="475488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7644384" y="420624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D9F5EF"/>
          </a:solidFill>
          <a:ln w="17780">
            <a:solidFill>
              <a:srgbClr val="0D9488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0456" y="4352544"/>
            <a:ext cx="365760" cy="36576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644384" y="475488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27" name="Shape 19"/>
          <p:cNvSpPr/>
          <p:nvPr/>
        </p:nvSpPr>
        <p:spPr>
          <a:xfrm>
            <a:off x="9482328" y="420624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D9F5EF"/>
          </a:solidFill>
          <a:ln w="17780">
            <a:solidFill>
              <a:srgbClr val="0D9488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4352544"/>
            <a:ext cx="365760" cy="36576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9482328" y="475488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</a:t>
            </a:r>
            <a:endParaRPr lang="en-US" sz="1100" dirty="0"/>
          </a:p>
        </p:txBody>
      </p:sp>
      <p:sp>
        <p:nvSpPr>
          <p:cNvPr id="30" name="Text 21"/>
          <p:cNvSpPr/>
          <p:nvPr/>
        </p:nvSpPr>
        <p:spPr>
          <a:xfrm>
            <a:off x="5806440" y="5193792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controller creates a replacement. Back to 3.</a:t>
            </a:r>
            <a:endParaRPr lang="en-US" sz="1150" dirty="0"/>
          </a:p>
        </p:txBody>
      </p:sp>
      <p:sp>
        <p:nvSpPr>
          <p:cNvPr id="31" name="Text 22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Deployment — updates &amp; rollbacks, declaratively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297680" cy="434340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874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object you'll use most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233172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ReplicaSets and manages them for you.</a:t>
            </a:r>
            <a:endParaRPr lang="en-US" sz="1280" dirty="0"/>
          </a:p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image tag and re-apply — it performs a rolling update.</a:t>
            </a:r>
            <a:endParaRPr lang="en-US" sz="1280" dirty="0"/>
          </a:p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Pods scale up as old ones scale down: no downtime.</a:t>
            </a:r>
            <a:endParaRPr lang="en-US" sz="1280" dirty="0"/>
          </a:p>
          <a:p>
            <a:pPr marL="203200" indent="-203200">
              <a:lnSpc>
                <a:spcPct val="103000"/>
              </a:lnSpc>
              <a:buSzPct val="100000"/>
              <a:buChar char="•"/>
            </a:pPr>
            <a:r>
              <a:rPr lang="en-US" sz="12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is a revision you can roll back to.</a:t>
            </a:r>
            <a:endParaRPr lang="en-US" sz="1280" dirty="0"/>
          </a:p>
        </p:txBody>
      </p:sp>
      <p:sp>
        <p:nvSpPr>
          <p:cNvPr id="8" name="Shape 6"/>
          <p:cNvSpPr/>
          <p:nvPr/>
        </p:nvSpPr>
        <p:spPr>
          <a:xfrm>
            <a:off x="914400" y="4709160"/>
            <a:ext cx="3657600" cy="786384"/>
          </a:xfrm>
          <a:prstGeom prst="roundRect">
            <a:avLst>
              <a:gd name="adj" fmla="val 10465"/>
            </a:avLst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4709160"/>
            <a:ext cx="3657600" cy="384048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4965192"/>
            <a:ext cx="3657600" cy="128016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Shape 9"/>
          <p:cNvSpPr/>
          <p:nvPr/>
        </p:nvSpPr>
        <p:spPr>
          <a:xfrm>
            <a:off x="1097280" y="4846320"/>
            <a:ext cx="109728" cy="109728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Shape 10"/>
          <p:cNvSpPr/>
          <p:nvPr/>
        </p:nvSpPr>
        <p:spPr>
          <a:xfrm>
            <a:off x="1298448" y="4846320"/>
            <a:ext cx="109728" cy="109728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3" name="Shape 11"/>
          <p:cNvSpPr/>
          <p:nvPr/>
        </p:nvSpPr>
        <p:spPr>
          <a:xfrm>
            <a:off x="1499616" y="4846320"/>
            <a:ext cx="109728" cy="10972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1737360" y="478231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70432" y="5221224"/>
            <a:ext cx="31455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rollout status deploy/web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rollout undo   deploy/web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166360" y="1600200"/>
            <a:ext cx="6473952" cy="4343400"/>
          </a:xfrm>
          <a:prstGeom prst="roundRect">
            <a:avLst>
              <a:gd name="adj" fmla="val 2526"/>
            </a:avLst>
          </a:prstGeom>
          <a:solidFill>
            <a:srgbClr val="FAFC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23560" y="1828800"/>
            <a:ext cx="5559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57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ROLLING UPDATE  ·  v1 → v2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715000" y="2331720"/>
            <a:ext cx="792480" cy="566928"/>
          </a:xfrm>
          <a:prstGeom prst="roundRect">
            <a:avLst>
              <a:gd name="adj" fmla="val 9677"/>
            </a:avLst>
          </a:prstGeom>
          <a:solidFill>
            <a:srgbClr val="D9F5EF"/>
          </a:solidFill>
          <a:ln w="1651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15000" y="2331720"/>
            <a:ext cx="79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690360" y="2331720"/>
            <a:ext cx="792480" cy="566928"/>
          </a:xfrm>
          <a:prstGeom prst="roundRect">
            <a:avLst>
              <a:gd name="adj" fmla="val 9677"/>
            </a:avLst>
          </a:prstGeom>
          <a:solidFill>
            <a:srgbClr val="D9F5EF"/>
          </a:solidFill>
          <a:ln w="1651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90360" y="2331720"/>
            <a:ext cx="79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665720" y="2331720"/>
            <a:ext cx="792480" cy="566928"/>
          </a:xfrm>
          <a:prstGeom prst="roundRect">
            <a:avLst>
              <a:gd name="adj" fmla="val 9677"/>
            </a:avLst>
          </a:prstGeom>
          <a:solidFill>
            <a:srgbClr val="D9F5EF"/>
          </a:solidFill>
          <a:ln w="1651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65720" y="2331720"/>
            <a:ext cx="79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686800" y="2331720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3 old Pods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715000" y="3090672"/>
            <a:ext cx="792480" cy="566928"/>
          </a:xfrm>
          <a:prstGeom prst="roundRect">
            <a:avLst>
              <a:gd name="adj" fmla="val 9677"/>
            </a:avLst>
          </a:prstGeom>
          <a:solidFill>
            <a:srgbClr val="D9F5EF"/>
          </a:solidFill>
          <a:ln w="1651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15000" y="3090672"/>
            <a:ext cx="79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690360" y="3090672"/>
            <a:ext cx="792480" cy="566928"/>
          </a:xfrm>
          <a:prstGeom prst="roundRect">
            <a:avLst>
              <a:gd name="adj" fmla="val 9677"/>
            </a:avLst>
          </a:prstGeom>
          <a:solidFill>
            <a:srgbClr val="D9F5EF"/>
          </a:solidFill>
          <a:ln w="1651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90360" y="3090672"/>
            <a:ext cx="79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665720" y="3090672"/>
            <a:ext cx="792480" cy="566928"/>
          </a:xfrm>
          <a:prstGeom prst="roundRect">
            <a:avLst>
              <a:gd name="adj" fmla="val 9677"/>
            </a:avLst>
          </a:prstGeom>
          <a:solidFill>
            <a:srgbClr val="E4EBFB"/>
          </a:solidFill>
          <a:ln w="16510">
            <a:solidFill>
              <a:srgbClr val="326C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65720" y="3090672"/>
            <a:ext cx="79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57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686800" y="3090672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replaced…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715000" y="3849624"/>
            <a:ext cx="792480" cy="566928"/>
          </a:xfrm>
          <a:prstGeom prst="roundRect">
            <a:avLst>
              <a:gd name="adj" fmla="val 9677"/>
            </a:avLst>
          </a:prstGeom>
          <a:solidFill>
            <a:srgbClr val="D9F5EF"/>
          </a:solidFill>
          <a:ln w="1651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15000" y="3849624"/>
            <a:ext cx="79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690360" y="3849624"/>
            <a:ext cx="792480" cy="566928"/>
          </a:xfrm>
          <a:prstGeom prst="roundRect">
            <a:avLst>
              <a:gd name="adj" fmla="val 9677"/>
            </a:avLst>
          </a:prstGeom>
          <a:solidFill>
            <a:srgbClr val="E4EBFB"/>
          </a:solidFill>
          <a:ln w="16510">
            <a:solidFill>
              <a:srgbClr val="326C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90360" y="3849624"/>
            <a:ext cx="79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57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665720" y="3849624"/>
            <a:ext cx="792480" cy="566928"/>
          </a:xfrm>
          <a:prstGeom prst="roundRect">
            <a:avLst>
              <a:gd name="adj" fmla="val 9677"/>
            </a:avLst>
          </a:prstGeom>
          <a:solidFill>
            <a:srgbClr val="E4EBFB"/>
          </a:solidFill>
          <a:ln w="16510">
            <a:solidFill>
              <a:srgbClr val="326C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665720" y="3849624"/>
            <a:ext cx="79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57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686800" y="3849624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…rolling…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715000" y="4608576"/>
            <a:ext cx="792480" cy="566928"/>
          </a:xfrm>
          <a:prstGeom prst="roundRect">
            <a:avLst>
              <a:gd name="adj" fmla="val 9677"/>
            </a:avLst>
          </a:prstGeom>
          <a:solidFill>
            <a:srgbClr val="E4EBFB"/>
          </a:solidFill>
          <a:ln w="16510">
            <a:solidFill>
              <a:srgbClr val="326C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15000" y="4608576"/>
            <a:ext cx="79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57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690360" y="4608576"/>
            <a:ext cx="792480" cy="566928"/>
          </a:xfrm>
          <a:prstGeom prst="roundRect">
            <a:avLst>
              <a:gd name="adj" fmla="val 9677"/>
            </a:avLst>
          </a:prstGeom>
          <a:solidFill>
            <a:srgbClr val="E4EBFB"/>
          </a:solidFill>
          <a:ln w="16510">
            <a:solidFill>
              <a:srgbClr val="326CE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90360" y="4608576"/>
            <a:ext cx="79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57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7665720" y="4608576"/>
            <a:ext cx="792480" cy="566928"/>
          </a:xfrm>
          <a:prstGeom prst="roundRect">
            <a:avLst>
              <a:gd name="adj" fmla="val 9677"/>
            </a:avLst>
          </a:prstGeom>
          <a:solidFill>
            <a:srgbClr val="E4EBFB"/>
          </a:solidFill>
          <a:ln w="16510">
            <a:solidFill>
              <a:srgbClr val="326C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665720" y="4608576"/>
            <a:ext cx="79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57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686800" y="4608576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done: all new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623560" y="5440680"/>
            <a:ext cx="5559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no point are zero Pods serving traffic.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2457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StatefulSet — when identity matters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1672" cy="1051560"/>
          </a:xfrm>
          <a:prstGeom prst="roundRect">
            <a:avLst>
              <a:gd name="adj" fmla="val 10435"/>
            </a:avLst>
          </a:prstGeom>
          <a:solidFill>
            <a:srgbClr val="E4EBFB"/>
          </a:solidFill>
          <a:ln w="12700">
            <a:solidFill>
              <a:srgbClr val="BFD0F5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755648"/>
            <a:ext cx="731520" cy="731520"/>
          </a:xfrm>
          <a:prstGeom prst="ellipse">
            <a:avLst/>
          </a:prstGeom>
          <a:solidFill>
            <a:srgbClr val="2457C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813" y="1931213"/>
            <a:ext cx="380390" cy="38039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1600200"/>
            <a:ext cx="9601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treats its Pods as interchangeable.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457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StatefulSet gives each Pod a stable identity and its own storage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for software that can't be shuffled freely, like databases and queues.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48640" y="2926080"/>
            <a:ext cx="3515258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32688" y="3310128"/>
            <a:ext cx="566928" cy="566928"/>
          </a:xfrm>
          <a:prstGeom prst="ellipse">
            <a:avLst/>
          </a:prstGeom>
          <a:solidFill>
            <a:srgbClr val="2457C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751" y="3446191"/>
            <a:ext cx="294803" cy="294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2688" y="3877056"/>
            <a:ext cx="27471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Stable names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932688" y="4206240"/>
            <a:ext cx="274716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 are named predictably — db-0, db-1, db-2 — and keep those names across restarts.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338218" y="2926080"/>
            <a:ext cx="3515258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722266" y="3310128"/>
            <a:ext cx="566928" cy="566928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8329" y="3446191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722266" y="3877056"/>
            <a:ext cx="27471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Sticky storage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4722266" y="4206240"/>
            <a:ext cx="274716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Pod keeps its own PersistentVolume. db-0 always reattaches to db-0's data.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8127797" y="2926080"/>
            <a:ext cx="3515258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511845" y="3310128"/>
            <a:ext cx="566928" cy="566928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7908" y="3446191"/>
            <a:ext cx="294803" cy="29480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511845" y="3877056"/>
            <a:ext cx="27471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Ordered ops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8511845" y="4206240"/>
            <a:ext cx="274716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 start, update, and terminate in order — essential for clustered, quorum-based apps.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DaemonSet — one Pod on every node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297680" cy="434340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874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For node-level agents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2331720"/>
            <a:ext cx="3657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3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exactly one copy of a Pod on each node.</a:t>
            </a:r>
            <a:endParaRPr lang="en-US" sz="1300" dirty="0"/>
          </a:p>
          <a:p>
            <a:pPr marL="203200" indent="-203200">
              <a:lnSpc>
                <a:spcPct val="103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node to the cluster → it gets the Pod automatically.</a:t>
            </a:r>
            <a:endParaRPr lang="en-US" sz="1300" dirty="0"/>
          </a:p>
          <a:p>
            <a:pPr marL="203200" indent="-203200">
              <a:lnSpc>
                <a:spcPct val="103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 node → that Pod goes with it.</a:t>
            </a:r>
            <a:endParaRPr lang="en-US" sz="1300" dirty="0"/>
          </a:p>
          <a:p>
            <a:pPr marL="203200" indent="-203200">
              <a:lnSpc>
                <a:spcPct val="103000"/>
              </a:lnSpc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for things every node needs.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45720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USES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4892040"/>
            <a:ext cx="1196035" cy="310896"/>
          </a:xfrm>
          <a:prstGeom prst="roundRect">
            <a:avLst>
              <a:gd name="adj" fmla="val 50000"/>
            </a:avLst>
          </a:prstGeom>
          <a:solidFill>
            <a:srgbClr val="D9F5E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892040"/>
            <a:ext cx="11960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 shipper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75027" y="4892040"/>
            <a:ext cx="874166" cy="310896"/>
          </a:xfrm>
          <a:prstGeom prst="roundRect">
            <a:avLst>
              <a:gd name="adj" fmla="val 50000"/>
            </a:avLst>
          </a:prstGeom>
          <a:solidFill>
            <a:srgbClr val="D9F5EF"/>
          </a:solidFill>
          <a:ln/>
        </p:spPr>
      </p:sp>
      <p:sp>
        <p:nvSpPr>
          <p:cNvPr id="12" name="Text 10"/>
          <p:cNvSpPr/>
          <p:nvPr/>
        </p:nvSpPr>
        <p:spPr>
          <a:xfrm>
            <a:off x="2275027" y="4892040"/>
            <a:ext cx="874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13786" y="489204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4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3313786" y="48920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57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CNI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14400" y="5303520"/>
            <a:ext cx="1437437" cy="310896"/>
          </a:xfrm>
          <a:prstGeom prst="roundRect">
            <a:avLst>
              <a:gd name="adj" fmla="val 50000"/>
            </a:avLst>
          </a:prstGeom>
          <a:solidFill>
            <a:srgbClr val="E4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303520"/>
            <a:ext cx="143743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57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 driver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516429" y="5303520"/>
            <a:ext cx="1437437" cy="310896"/>
          </a:xfrm>
          <a:prstGeom prst="roundRect">
            <a:avLst>
              <a:gd name="adj" fmla="val 50000"/>
            </a:avLst>
          </a:prstGeom>
          <a:solidFill>
            <a:srgbClr val="FEEBDD"/>
          </a:solidFill>
          <a:ln/>
        </p:spPr>
      </p:sp>
      <p:sp>
        <p:nvSpPr>
          <p:cNvPr id="18" name="Text 16"/>
          <p:cNvSpPr/>
          <p:nvPr/>
        </p:nvSpPr>
        <p:spPr>
          <a:xfrm>
            <a:off x="2516429" y="5303520"/>
            <a:ext cx="143743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 agent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166360" y="1600200"/>
            <a:ext cx="6473952" cy="4343400"/>
          </a:xfrm>
          <a:prstGeom prst="roundRect">
            <a:avLst>
              <a:gd name="adj" fmla="val 2526"/>
            </a:avLst>
          </a:prstGeom>
          <a:solidFill>
            <a:srgbClr val="FAFC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166360" y="1828800"/>
            <a:ext cx="6473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Same agent Pod, replicated per node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23560" y="2423160"/>
            <a:ext cx="1639824" cy="3017520"/>
          </a:xfrm>
          <a:prstGeom prst="roundRect">
            <a:avLst>
              <a:gd name="adj" fmla="val 5576"/>
            </a:avLst>
          </a:prstGeom>
          <a:solidFill>
            <a:srgbClr val="F1F5F9"/>
          </a:solidFill>
          <a:ln w="15240">
            <a:solidFill>
              <a:srgbClr val="E2E8F0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2304" y="2651760"/>
            <a:ext cx="402336" cy="402336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5623560" y="3136392"/>
            <a:ext cx="1639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1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897880" y="3566160"/>
            <a:ext cx="1091184" cy="1417320"/>
          </a:xfrm>
          <a:prstGeom prst="roundRect">
            <a:avLst>
              <a:gd name="adj" fmla="val 6704"/>
            </a:avLst>
          </a:prstGeom>
          <a:solidFill>
            <a:srgbClr val="D9F5E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169152" y="3840480"/>
            <a:ext cx="548640" cy="548640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826" y="3972154"/>
            <a:ext cx="285293" cy="285293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623560" y="4507992"/>
            <a:ext cx="1639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7583424" y="2423160"/>
            <a:ext cx="1639824" cy="3017520"/>
          </a:xfrm>
          <a:prstGeom prst="roundRect">
            <a:avLst>
              <a:gd name="adj" fmla="val 5576"/>
            </a:avLst>
          </a:prstGeom>
          <a:solidFill>
            <a:srgbClr val="F1F5F9"/>
          </a:solidFill>
          <a:ln w="15240">
            <a:solidFill>
              <a:srgbClr val="E2E8F0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8" y="2651760"/>
            <a:ext cx="402336" cy="402336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7583424" y="3136392"/>
            <a:ext cx="1639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2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7857744" y="3566160"/>
            <a:ext cx="1091184" cy="1417320"/>
          </a:xfrm>
          <a:prstGeom prst="roundRect">
            <a:avLst>
              <a:gd name="adj" fmla="val 6704"/>
            </a:avLst>
          </a:prstGeom>
          <a:solidFill>
            <a:srgbClr val="D9F5E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8129016" y="3840480"/>
            <a:ext cx="548640" cy="548640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0690" y="3972154"/>
            <a:ext cx="285293" cy="285293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7583424" y="4507992"/>
            <a:ext cx="1639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9543288" y="2423160"/>
            <a:ext cx="1639824" cy="3017520"/>
          </a:xfrm>
          <a:prstGeom prst="roundRect">
            <a:avLst>
              <a:gd name="adj" fmla="val 5576"/>
            </a:avLst>
          </a:prstGeom>
          <a:solidFill>
            <a:srgbClr val="F1F5F9"/>
          </a:solidFill>
          <a:ln w="15240">
            <a:solidFill>
              <a:srgbClr val="E2E8F0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2032" y="2651760"/>
            <a:ext cx="402336" cy="402336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9543288" y="3136392"/>
            <a:ext cx="1639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3</a:t>
            </a:r>
            <a:endParaRPr lang="en-US" sz="1000" dirty="0"/>
          </a:p>
        </p:txBody>
      </p:sp>
      <p:sp>
        <p:nvSpPr>
          <p:cNvPr id="38" name="Shape 31"/>
          <p:cNvSpPr/>
          <p:nvPr/>
        </p:nvSpPr>
        <p:spPr>
          <a:xfrm>
            <a:off x="9817608" y="3566160"/>
            <a:ext cx="1091184" cy="1417320"/>
          </a:xfrm>
          <a:prstGeom prst="roundRect">
            <a:avLst>
              <a:gd name="adj" fmla="val 6704"/>
            </a:avLst>
          </a:prstGeom>
          <a:solidFill>
            <a:srgbClr val="D9F5E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10088880" y="3840480"/>
            <a:ext cx="548640" cy="548640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0554" y="3972154"/>
            <a:ext cx="285293" cy="285293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9543288" y="4507992"/>
            <a:ext cx="1639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50" dirty="0"/>
          </a:p>
        </p:txBody>
      </p:sp>
      <p:sp>
        <p:nvSpPr>
          <p:cNvPr id="42" name="Text 34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Job &amp; CronJob — work that finishes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64328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1911096"/>
            <a:ext cx="658368" cy="658368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6104" y="2069104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0200" y="1993392"/>
            <a:ext cx="408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Job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788920"/>
            <a:ext cx="454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to completion, then stop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60120" y="3154680"/>
            <a:ext cx="45413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3000"/>
              </a:lnSpc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one or more Pods and waits for them to succeed.</a:t>
            </a:r>
            <a:endParaRPr lang="en-US" sz="1280" dirty="0"/>
          </a:p>
          <a:p>
            <a:pPr marL="203200" indent="-203200">
              <a:lnSpc>
                <a:spcPct val="103000"/>
              </a:lnSpc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Retries on failure up to a limit you set.</a:t>
            </a:r>
            <a:endParaRPr lang="en-US" sz="1280" dirty="0"/>
          </a:p>
          <a:p>
            <a:pPr marL="203200" indent="-203200">
              <a:lnSpc>
                <a:spcPct val="103000"/>
              </a:lnSpc>
              <a:buSzPct val="100000"/>
              <a:buChar char="•"/>
            </a:pPr>
            <a:r>
              <a:rPr lang="en-US" sz="12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batch work: a data migration, a report, a backup.</a:t>
            </a:r>
            <a:endParaRPr lang="en-US" sz="1280" dirty="0"/>
          </a:p>
        </p:txBody>
      </p:sp>
      <p:sp>
        <p:nvSpPr>
          <p:cNvPr id="11" name="Shape 8"/>
          <p:cNvSpPr/>
          <p:nvPr/>
        </p:nvSpPr>
        <p:spPr>
          <a:xfrm>
            <a:off x="6278728" y="1691640"/>
            <a:ext cx="5364328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98184" y="1911096"/>
            <a:ext cx="658368" cy="658368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192" y="2069104"/>
            <a:ext cx="342351" cy="34235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330288" y="1993392"/>
            <a:ext cx="408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CronJob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690208" y="2788920"/>
            <a:ext cx="454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57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 on a schedule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6690208" y="3154680"/>
            <a:ext cx="45413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3000"/>
              </a:lnSpc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Job on a cron schedule (e.g. every night).</a:t>
            </a:r>
            <a:endParaRPr lang="en-US" sz="1280" dirty="0"/>
          </a:p>
          <a:p>
            <a:pPr marL="203200" indent="-203200">
              <a:lnSpc>
                <a:spcPct val="103000"/>
              </a:lnSpc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retry and completion semantics as a Job.</a:t>
            </a:r>
            <a:endParaRPr lang="en-US" sz="1280" dirty="0"/>
          </a:p>
          <a:p>
            <a:pPr marL="203200" indent="-203200">
              <a:lnSpc>
                <a:spcPct val="103000"/>
              </a:lnSpc>
              <a:buSzPct val="100000"/>
              <a:buChar char="•"/>
            </a:pPr>
            <a:r>
              <a:rPr lang="en-US" sz="12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recurring work: nightly backups, cleanups, syncs.</a:t>
            </a:r>
            <a:endParaRPr lang="en-US" sz="1280" dirty="0"/>
          </a:p>
        </p:txBody>
      </p:sp>
      <p:sp>
        <p:nvSpPr>
          <p:cNvPr id="17" name="Shape 13"/>
          <p:cNvSpPr/>
          <p:nvPr/>
        </p:nvSpPr>
        <p:spPr>
          <a:xfrm>
            <a:off x="548640" y="5074920"/>
            <a:ext cx="11091672" cy="713232"/>
          </a:xfrm>
          <a:prstGeom prst="roundRect">
            <a:avLst>
              <a:gd name="adj" fmla="val 15385"/>
            </a:avLst>
          </a:prstGeom>
          <a:solidFill>
            <a:srgbClr val="FEEBDD"/>
          </a:solidFill>
          <a:ln w="12700">
            <a:solidFill>
              <a:srgbClr val="F6C9A6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525780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17320" y="5074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Contrast:  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Deployments, StatefulSets and DaemonSets run forever. Jobs and CronJobs are the objects for work that has a finish line.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9601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000" b="1" dirty="0">
                <a:solidFill>
                  <a:srgbClr val="326CE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25000" dirty="0"/>
          </a:p>
        </p:txBody>
      </p:sp>
      <p:sp>
        <p:nvSpPr>
          <p:cNvPr id="3" name="Shape 1"/>
          <p:cNvSpPr/>
          <p:nvPr/>
        </p:nvSpPr>
        <p:spPr>
          <a:xfrm>
            <a:off x="548640" y="2395728"/>
            <a:ext cx="146304" cy="146304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7223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Configuration</a:t>
            </a:r>
            <a:endParaRPr lang="en-US" sz="43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settings and secrets out of your images — and carve one cluster into tidy, separate spaces.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ConfigMaps &amp; Secrets — config out of the image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1672" cy="841248"/>
          </a:xfrm>
          <a:prstGeom prst="roundRect">
            <a:avLst>
              <a:gd name="adj" fmla="val 13043"/>
            </a:avLst>
          </a:prstGeom>
          <a:solidFill>
            <a:srgbClr val="E4EBFB"/>
          </a:solidFill>
          <a:ln w="12700">
            <a:solidFill>
              <a:srgbClr val="BFD0F5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600200"/>
            <a:ext cx="10332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457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image, every environment.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 config into the container and you rebuild for every change. Instead, keep it in the cluster and inject it as environment variables or mounted files.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536432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32688" y="2990088"/>
            <a:ext cx="566928" cy="566928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751" y="3126151"/>
            <a:ext cx="294803" cy="29480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32688" y="3557016"/>
            <a:ext cx="4596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ConfigMap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932688" y="3886200"/>
            <a:ext cx="4596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Non-sensitive key/value settings — feature flags, URLs, tuning values. Change it and re-roll Pods to pick up the new values.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78728" y="2606040"/>
            <a:ext cx="536432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662776" y="2990088"/>
            <a:ext cx="566928" cy="566928"/>
          </a:xfrm>
          <a:prstGeom prst="ellipse">
            <a:avLst/>
          </a:prstGeom>
          <a:solidFill>
            <a:srgbClr val="EA580C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838" y="3126151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662776" y="3557016"/>
            <a:ext cx="4596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Secret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6662776" y="3886200"/>
            <a:ext cx="4596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idea for sensitive data — passwords, tokens, TLS keys. Stored separately and mounted only where needed.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48640" y="4892040"/>
            <a:ext cx="11091672" cy="896112"/>
          </a:xfrm>
          <a:prstGeom prst="roundRect">
            <a:avLst>
              <a:gd name="adj" fmla="val 12245"/>
            </a:avLst>
          </a:prstGeom>
          <a:solidFill>
            <a:srgbClr val="FEEBDD"/>
          </a:solidFill>
          <a:ln w="12700">
            <a:solidFill>
              <a:srgbClr val="F6C9A6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5528" y="5038344"/>
            <a:ext cx="603504" cy="603504"/>
          </a:xfrm>
          <a:prstGeom prst="ellipse">
            <a:avLst/>
          </a:prstGeom>
          <a:solidFill>
            <a:srgbClr val="F97316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369" y="5183185"/>
            <a:ext cx="313822" cy="31382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00200" y="4892040"/>
            <a:ext cx="9875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 the gap: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Secret is only base64-encoded, not encrypted. Real protection comes from encryption at rest in etcd and tight RBAC on who can read them.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Namespaces — one cluster, many spaces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206240" cy="434340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874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virtual cluster inside your cluster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60604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scope for names — two teams can both have a “web” Service without clashing.</a:t>
            </a:r>
            <a:endParaRPr lang="en-US" sz="1280" dirty="0"/>
          </a:p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to attach resource quotas and access rules (RBAC).</a:t>
            </a:r>
            <a:endParaRPr lang="en-US" sz="1280" dirty="0"/>
          </a:p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kube-system holds the cluster's own components.</a:t>
            </a:r>
            <a:endParaRPr lang="en-US" sz="1280" dirty="0"/>
          </a:p>
          <a:p>
            <a:pPr marL="203200" indent="-203200">
              <a:lnSpc>
                <a:spcPct val="103000"/>
              </a:lnSpc>
              <a:buSzPct val="100000"/>
              <a:buChar char="•"/>
            </a:pPr>
            <a:r>
              <a:rPr lang="en-US" sz="12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hard security wall by default — network policy still needed to isolate traffic.</a:t>
            </a:r>
            <a:endParaRPr lang="en-US" sz="1280" dirty="0"/>
          </a:p>
        </p:txBody>
      </p:sp>
      <p:sp>
        <p:nvSpPr>
          <p:cNvPr id="8" name="Shape 6"/>
          <p:cNvSpPr/>
          <p:nvPr/>
        </p:nvSpPr>
        <p:spPr>
          <a:xfrm>
            <a:off x="5074920" y="1600200"/>
            <a:ext cx="6565392" cy="4343400"/>
          </a:xfrm>
          <a:prstGeom prst="roundRect">
            <a:avLst>
              <a:gd name="adj" fmla="val 2526"/>
            </a:avLst>
          </a:prstGeom>
          <a:solidFill>
            <a:srgbClr val="FAFC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74920" y="1828800"/>
            <a:ext cx="6565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PHYSICAL CLUSTER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532120" y="2286000"/>
            <a:ext cx="2665476" cy="1508760"/>
          </a:xfrm>
          <a:prstGeom prst="roundRect">
            <a:avLst>
              <a:gd name="adj" fmla="val 5455"/>
            </a:avLst>
          </a:prstGeom>
          <a:solidFill>
            <a:srgbClr val="D9F5EF"/>
          </a:solidFill>
          <a:ln w="19050">
            <a:solidFill>
              <a:srgbClr val="0D9488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5715000" y="2414016"/>
            <a:ext cx="22997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namespace: dev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60720" y="2834640"/>
            <a:ext cx="626364" cy="685800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96812" y="2834640"/>
            <a:ext cx="626364" cy="685800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32904" y="2834640"/>
            <a:ext cx="626364" cy="685800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2944368"/>
            <a:ext cx="256032" cy="256032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517636" y="2286000"/>
            <a:ext cx="2665476" cy="1508760"/>
          </a:xfrm>
          <a:prstGeom prst="roundRect">
            <a:avLst>
              <a:gd name="adj" fmla="val 5455"/>
            </a:avLst>
          </a:prstGeom>
          <a:solidFill>
            <a:srgbClr val="E4EBFB"/>
          </a:solidFill>
          <a:ln w="19050">
            <a:solidFill>
              <a:srgbClr val="326CE5"/>
            </a:solidFill>
            <a:prstDash val="dash"/>
          </a:ln>
        </p:spPr>
      </p:sp>
      <p:sp>
        <p:nvSpPr>
          <p:cNvPr id="17" name="Text 14"/>
          <p:cNvSpPr/>
          <p:nvPr/>
        </p:nvSpPr>
        <p:spPr>
          <a:xfrm>
            <a:off x="8700516" y="2414016"/>
            <a:ext cx="22997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namespace: staging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746236" y="2834640"/>
            <a:ext cx="626364" cy="685800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482328" y="2834640"/>
            <a:ext cx="626364" cy="685800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218420" y="2834640"/>
            <a:ext cx="626364" cy="685800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 w="12700">
            <a:solidFill>
              <a:srgbClr val="326CE5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6" y="2944368"/>
            <a:ext cx="256032" cy="256032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5532120" y="4023360"/>
            <a:ext cx="2665476" cy="1508760"/>
          </a:xfrm>
          <a:prstGeom prst="roundRect">
            <a:avLst>
              <a:gd name="adj" fmla="val 5455"/>
            </a:avLst>
          </a:prstGeom>
          <a:solidFill>
            <a:srgbClr val="E4EBFB"/>
          </a:solidFill>
          <a:ln w="19050">
            <a:solidFill>
              <a:srgbClr val="2457C5"/>
            </a:solidFill>
            <a:prstDash val="dash"/>
          </a:ln>
        </p:spPr>
      </p:sp>
      <p:sp>
        <p:nvSpPr>
          <p:cNvPr id="23" name="Text 19"/>
          <p:cNvSpPr/>
          <p:nvPr/>
        </p:nvSpPr>
        <p:spPr>
          <a:xfrm>
            <a:off x="5715000" y="4151376"/>
            <a:ext cx="22997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457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namespace: prod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760720" y="4572000"/>
            <a:ext cx="626364" cy="685800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 w="12700">
            <a:solidFill>
              <a:srgbClr val="2457C5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496812" y="4572000"/>
            <a:ext cx="626364" cy="685800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 w="12700">
            <a:solidFill>
              <a:srgbClr val="2457C5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232904" y="4572000"/>
            <a:ext cx="626364" cy="685800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 w="12700">
            <a:solidFill>
              <a:srgbClr val="2457C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4681728"/>
            <a:ext cx="256032" cy="256032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8517636" y="4023360"/>
            <a:ext cx="2665476" cy="1508760"/>
          </a:xfrm>
          <a:prstGeom prst="roundRect">
            <a:avLst>
              <a:gd name="adj" fmla="val 5455"/>
            </a:avLst>
          </a:prstGeom>
          <a:solidFill>
            <a:srgbClr val="FEEBDD"/>
          </a:solidFill>
          <a:ln w="19050">
            <a:solidFill>
              <a:srgbClr val="F97316"/>
            </a:solidFill>
            <a:prstDash val="dash"/>
          </a:ln>
        </p:spPr>
      </p:sp>
      <p:sp>
        <p:nvSpPr>
          <p:cNvPr id="29" name="Text 24"/>
          <p:cNvSpPr/>
          <p:nvPr/>
        </p:nvSpPr>
        <p:spPr>
          <a:xfrm>
            <a:off x="8700516" y="4151376"/>
            <a:ext cx="22997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namespace: kube-system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8746236" y="4572000"/>
            <a:ext cx="626364" cy="685800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9482328" y="4572000"/>
            <a:ext cx="626364" cy="685800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10218420" y="4572000"/>
            <a:ext cx="626364" cy="685800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7676" y="4681728"/>
            <a:ext cx="256032" cy="256032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9601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000" b="1" dirty="0">
                <a:solidFill>
                  <a:srgbClr val="0D948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05</a:t>
            </a:r>
            <a:endParaRPr lang="en-US" sz="25000" dirty="0"/>
          </a:p>
        </p:txBody>
      </p:sp>
      <p:sp>
        <p:nvSpPr>
          <p:cNvPr id="3" name="Shape 1"/>
          <p:cNvSpPr/>
          <p:nvPr/>
        </p:nvSpPr>
        <p:spPr>
          <a:xfrm>
            <a:off x="548640" y="2395728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7223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Networking</a:t>
            </a:r>
            <a:endParaRPr lang="en-US" sz="43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Pods find and reach each other — and how traffic from the outside world gets in.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Kubernetes network model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15258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121408"/>
            <a:ext cx="566928" cy="566928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751" y="2257471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2688" y="2688336"/>
            <a:ext cx="27471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Every Pod gets an IP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932688" y="3017520"/>
            <a:ext cx="274716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port on a shared host — its own routable address, like a tiny VM.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38218" y="1737360"/>
            <a:ext cx="3515258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22266" y="2121408"/>
            <a:ext cx="566928" cy="566928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8329" y="2257471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22266" y="2688336"/>
            <a:ext cx="27471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Flat, no NAT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4722266" y="3017520"/>
            <a:ext cx="274716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Pod can reach any other Pod directly by IP, on any node in the cluster.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27797" y="1737360"/>
            <a:ext cx="3515258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511845" y="2121408"/>
            <a:ext cx="566928" cy="566928"/>
          </a:xfrm>
          <a:prstGeom prst="ellipse">
            <a:avLst/>
          </a:prstGeom>
          <a:solidFill>
            <a:srgbClr val="2457C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7908" y="2257471"/>
            <a:ext cx="294803" cy="29480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11845" y="2688336"/>
            <a:ext cx="27471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plugin does it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511845" y="3017520"/>
            <a:ext cx="274716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are implemented by a CNI plugin — Calico, Cilium, Flannel — not by K8s core.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48640" y="4297680"/>
            <a:ext cx="11091672" cy="1463040"/>
          </a:xfrm>
          <a:prstGeom prst="roundRect">
            <a:avLst>
              <a:gd name="adj" fmla="val 7500"/>
            </a:avLst>
          </a:prstGeom>
          <a:solidFill>
            <a:srgbClr val="FAFC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914400" y="44348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network is flat, addressing is simple — but Pod IPs still churn constantly: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1005840" y="484632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D9F5EF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7008" y="5084064"/>
            <a:ext cx="310896" cy="31089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600200" y="4937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1600200" y="5212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10.1.2.5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3657600" y="484632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D9F5EF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8768" y="5084064"/>
            <a:ext cx="310896" cy="31089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251960" y="4937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endParaRPr lang="en-US" sz="1150" dirty="0"/>
          </a:p>
        </p:txBody>
      </p:sp>
      <p:sp>
        <p:nvSpPr>
          <p:cNvPr id="29" name="Text 22"/>
          <p:cNvSpPr/>
          <p:nvPr/>
        </p:nvSpPr>
        <p:spPr>
          <a:xfrm>
            <a:off x="4251960" y="5212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10.1.6.9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6309360" y="484632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D9F5EF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5084064"/>
            <a:ext cx="310896" cy="31089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903720" y="4937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endParaRPr lang="en-US" sz="1150" dirty="0"/>
          </a:p>
        </p:txBody>
      </p:sp>
      <p:sp>
        <p:nvSpPr>
          <p:cNvPr id="33" name="Text 25"/>
          <p:cNvSpPr/>
          <p:nvPr/>
        </p:nvSpPr>
        <p:spPr>
          <a:xfrm>
            <a:off x="6903720" y="5212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10.1.4.2</a:t>
            </a:r>
            <a:endParaRPr 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8961120" y="484632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D9F5EF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62288" y="5084064"/>
            <a:ext cx="310896" cy="31089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9555480" y="4937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endParaRPr lang="en-US" sz="1150" dirty="0"/>
          </a:p>
        </p:txBody>
      </p:sp>
      <p:sp>
        <p:nvSpPr>
          <p:cNvPr id="37" name="Text 28"/>
          <p:cNvSpPr/>
          <p:nvPr/>
        </p:nvSpPr>
        <p:spPr>
          <a:xfrm>
            <a:off x="9555480" y="5212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10.1.7.8</a:t>
            </a:r>
            <a:endParaRPr lang="en-US" sz="1050" dirty="0"/>
          </a:p>
        </p:txBody>
      </p:sp>
      <p:sp>
        <p:nvSpPr>
          <p:cNvPr id="38" name="Text 29"/>
          <p:cNvSpPr/>
          <p:nvPr/>
        </p:nvSpPr>
        <p:spPr>
          <a:xfrm>
            <a:off x="914400" y="484632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which is exactly why you need a Service.</a:t>
            </a:r>
            <a:endParaRPr lang="en-US" sz="1200" dirty="0"/>
          </a:p>
        </p:txBody>
      </p:sp>
      <p:sp>
        <p:nvSpPr>
          <p:cNvPr id="39" name="Text 30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Service — a stable address for moving Pods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114800" cy="4343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87452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Pods come and go. Their clients shouldn't care.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is one stable virtual IP and DNS name.</a:t>
            </a:r>
            <a:endParaRPr lang="en-US" sz="1260" dirty="0"/>
          </a:p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selects Pods by label and load-balances across them.</a:t>
            </a:r>
            <a:endParaRPr lang="en-US" sz="1260" dirty="0"/>
          </a:p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 can die and be replaced — the Service's address never changes.</a:t>
            </a:r>
            <a:endParaRPr lang="en-US" sz="1260" dirty="0"/>
          </a:p>
          <a:p>
            <a:pPr marL="203200" indent="-203200">
              <a:lnSpc>
                <a:spcPct val="103000"/>
              </a:lnSpc>
              <a:buSzPct val="100000"/>
              <a:buChar char="•"/>
            </a:pPr>
            <a:r>
              <a:rPr lang="en-US" sz="12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connect to the name; K8s handles the rest.</a:t>
            </a:r>
            <a:endParaRPr lang="en-US" sz="1260" dirty="0"/>
          </a:p>
        </p:txBody>
      </p:sp>
      <p:sp>
        <p:nvSpPr>
          <p:cNvPr id="8" name="Shape 6"/>
          <p:cNvSpPr/>
          <p:nvPr/>
        </p:nvSpPr>
        <p:spPr>
          <a:xfrm>
            <a:off x="4937760" y="1645920"/>
            <a:ext cx="670255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157216" y="2002536"/>
            <a:ext cx="658368" cy="658368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15224" y="2160544"/>
            <a:ext cx="342351" cy="34235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035040" y="1792224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ClusterIP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035040" y="2176272"/>
            <a:ext cx="5330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Reachable only inside the cluster. The default — for service-to-service traffic.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937760" y="3127248"/>
            <a:ext cx="670255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157216" y="3483864"/>
            <a:ext cx="658368" cy="658368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5224" y="3641872"/>
            <a:ext cx="342351" cy="34235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035040" y="3273552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NodePort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6035040" y="3657600"/>
            <a:ext cx="5330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the same port on every node's IP. A simple way in from outside, mostly for testing.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4937760" y="4608576"/>
            <a:ext cx="670255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157216" y="4965192"/>
            <a:ext cx="658368" cy="658368"/>
          </a:xfrm>
          <a:prstGeom prst="ellipse">
            <a:avLst/>
          </a:prstGeom>
          <a:solidFill>
            <a:srgbClr val="2457C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5224" y="5123200"/>
            <a:ext cx="342351" cy="342351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35040" y="4754880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LoadBalancer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6035040" y="5138928"/>
            <a:ext cx="5330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the cloud for an external load balancer with a public IP. The production front door.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Ingress — smart HTTP routing at the edge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114800" cy="4343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8745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One entry point, many backends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914400" y="233172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LoadBalancer per Service gets expensive fast.</a:t>
            </a:r>
            <a:endParaRPr lang="en-US" sz="1260" dirty="0"/>
          </a:p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 is one HTTP(S) entry that routes by host and path to different Services.</a:t>
            </a:r>
            <a:endParaRPr lang="en-US" sz="1260" dirty="0"/>
          </a:p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terminates TLS in one place.</a:t>
            </a:r>
            <a:endParaRPr lang="en-US" sz="1260" dirty="0"/>
          </a:p>
          <a:p>
            <a:pPr marL="203200" indent="-203200">
              <a:lnSpc>
                <a:spcPct val="103000"/>
              </a:lnSpc>
              <a:buSzPct val="100000"/>
              <a:buChar char="•"/>
            </a:pPr>
            <a:r>
              <a:rPr lang="en-US" sz="12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only defines rules — an ingress controller (nginx, Traefik) actually enforces them.</a:t>
            </a:r>
            <a:endParaRPr lang="en-US" sz="1260" dirty="0"/>
          </a:p>
        </p:txBody>
      </p:sp>
      <p:sp>
        <p:nvSpPr>
          <p:cNvPr id="8" name="Shape 6"/>
          <p:cNvSpPr/>
          <p:nvPr/>
        </p:nvSpPr>
        <p:spPr>
          <a:xfrm>
            <a:off x="4937760" y="1600200"/>
            <a:ext cx="6702552" cy="4343400"/>
          </a:xfrm>
          <a:prstGeom prst="roundRect">
            <a:avLst>
              <a:gd name="adj" fmla="val 2526"/>
            </a:avLst>
          </a:prstGeom>
          <a:solidFill>
            <a:srgbClr val="FAFC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968996" y="1828800"/>
            <a:ext cx="640080" cy="640080"/>
          </a:xfrm>
          <a:prstGeom prst="ellipse">
            <a:avLst/>
          </a:prstGeom>
          <a:solidFill>
            <a:srgbClr val="2457C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2615" y="1982419"/>
            <a:ext cx="332842" cy="33284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937760" y="2514600"/>
            <a:ext cx="670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09360" y="2926080"/>
            <a:ext cx="3959352" cy="777240"/>
          </a:xfrm>
          <a:prstGeom prst="roundRect">
            <a:avLst>
              <a:gd name="adj" fmla="val 10588"/>
            </a:avLst>
          </a:prstGeom>
          <a:solidFill>
            <a:srgbClr val="D9F5EF"/>
          </a:solidFill>
          <a:ln w="19050">
            <a:solidFill>
              <a:srgbClr val="0D948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312724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040880" y="2926080"/>
            <a:ext cx="3319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948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Ingress  +  controller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289036" y="2761488"/>
            <a:ext cx="0" cy="164592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8289036" y="3703320"/>
            <a:ext cx="-2020824" cy="73152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5394960" y="4434840"/>
            <a:ext cx="174650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6510">
            <a:solidFill>
              <a:srgbClr val="0D948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394960" y="4562856"/>
            <a:ext cx="1746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12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908" y="4837176"/>
            <a:ext cx="292608" cy="29260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394960" y="5166360"/>
            <a:ext cx="1746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web-svc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8289036" y="3703320"/>
            <a:ext cx="0" cy="731520"/>
          </a:xfrm>
          <a:prstGeom prst="line">
            <a:avLst/>
          </a:prstGeom>
          <a:noFill/>
          <a:ln w="19050">
            <a:solidFill>
              <a:srgbClr val="326CE5"/>
            </a:solidFill>
            <a:prstDash val="dash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7415784" y="4434840"/>
            <a:ext cx="174650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6510">
            <a:solidFill>
              <a:srgbClr val="326CE5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7415784" y="4562856"/>
            <a:ext cx="1746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</a:t>
            </a:r>
            <a:endParaRPr lang="en-US" sz="12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2732" y="4837176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415784" y="5166360"/>
            <a:ext cx="1746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api-svc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8289036" y="3703320"/>
            <a:ext cx="2020824" cy="731520"/>
          </a:xfrm>
          <a:prstGeom prst="line">
            <a:avLst/>
          </a:prstGeom>
          <a:noFill/>
          <a:ln w="19050">
            <a:solidFill>
              <a:srgbClr val="2457C5"/>
            </a:solidFill>
            <a:prstDash val="dash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9436608" y="4434840"/>
            <a:ext cx="174650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6510">
            <a:solidFill>
              <a:srgbClr val="2457C5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9436608" y="4562856"/>
            <a:ext cx="1746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57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/shop</a:t>
            </a:r>
            <a:endParaRPr lang="en-US" sz="120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3556" y="4837176"/>
            <a:ext cx="292608" cy="29260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9436608" y="5166360"/>
            <a:ext cx="1746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shop-svc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9601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000" b="1" dirty="0">
                <a:solidFill>
                  <a:srgbClr val="F973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06</a:t>
            </a:r>
            <a:endParaRPr lang="en-US" sz="25000" dirty="0"/>
          </a:p>
        </p:txBody>
      </p:sp>
      <p:sp>
        <p:nvSpPr>
          <p:cNvPr id="3" name="Shape 1"/>
          <p:cNvSpPr/>
          <p:nvPr/>
        </p:nvSpPr>
        <p:spPr>
          <a:xfrm>
            <a:off x="548640" y="2395728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7223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Storage</a:t>
            </a:r>
            <a:endParaRPr lang="en-US" sz="43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are ephemeral. Storage abstractions let data outlive the Pod that wrote it.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Volumes, PVs, claims &amp; storage classes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1672" cy="841248"/>
          </a:xfrm>
          <a:prstGeom prst="roundRect">
            <a:avLst>
              <a:gd name="adj" fmla="val 13043"/>
            </a:avLst>
          </a:prstGeom>
          <a:solidFill>
            <a:srgbClr val="FEEBDD"/>
          </a:solidFill>
          <a:ln w="12700">
            <a:solidFill>
              <a:srgbClr val="F6C9A6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600200"/>
            <a:ext cx="10332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problem: 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container's filesystem dies with it. Kubernetes separates “what a Pod asks for” from “what storage actually exists,” so data can persist and Pods stay portable.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2581580" cy="3063240"/>
          </a:xfrm>
          <a:prstGeom prst="roundRect">
            <a:avLst>
              <a:gd name="adj" fmla="val 42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482814" y="2907792"/>
            <a:ext cx="713232" cy="713232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3990" y="3078968"/>
            <a:ext cx="370881" cy="37088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85800" y="3739896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Volume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68096" y="4270248"/>
            <a:ext cx="21426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directory available to the Pod's containers. An emptyDir dies with the Pod; a claim-backed volume persists.</a:t>
            </a:r>
            <a:endParaRPr lang="en-US" sz="11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1932" y="315468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386252" y="2697480"/>
            <a:ext cx="2581580" cy="3063240"/>
          </a:xfrm>
          <a:prstGeom prst="roundRect">
            <a:avLst>
              <a:gd name="adj" fmla="val 42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320426" y="2907792"/>
            <a:ext cx="713232" cy="713232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01" y="3078968"/>
            <a:ext cx="370881" cy="37088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523412" y="3739896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PersistentVolumeClaim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3605708" y="4270248"/>
            <a:ext cx="21426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Pod's request for storage: “I need 10Gi, read-write.” It doesn't care where it comes from.</a:t>
            </a:r>
            <a:endParaRPr lang="en-US" sz="11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9544" y="3154680"/>
            <a:ext cx="237744" cy="237744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223864" y="2697480"/>
            <a:ext cx="2581580" cy="3063240"/>
          </a:xfrm>
          <a:prstGeom prst="roundRect">
            <a:avLst>
              <a:gd name="adj" fmla="val 42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7158038" y="2907792"/>
            <a:ext cx="713232" cy="713232"/>
          </a:xfrm>
          <a:prstGeom prst="ellipse">
            <a:avLst/>
          </a:prstGeom>
          <a:solidFill>
            <a:srgbClr val="2457C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9213" y="3078968"/>
            <a:ext cx="370881" cy="370881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361024" y="3739896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PersistentVolume</a:t>
            </a:r>
            <a:endParaRPr lang="en-US" sz="1300" dirty="0"/>
          </a:p>
        </p:txBody>
      </p:sp>
      <p:sp>
        <p:nvSpPr>
          <p:cNvPr id="23" name="Text 16"/>
          <p:cNvSpPr/>
          <p:nvPr/>
        </p:nvSpPr>
        <p:spPr>
          <a:xfrm>
            <a:off x="6443320" y="4270248"/>
            <a:ext cx="21426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actual chunk of storage in the cluster — a cloud disk, NFS share, etc. Bound to a claim.</a:t>
            </a:r>
            <a:endParaRPr lang="en-US" sz="11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7155" y="3154680"/>
            <a:ext cx="237744" cy="237744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061475" y="2697480"/>
            <a:ext cx="2581580" cy="3063240"/>
          </a:xfrm>
          <a:prstGeom prst="roundRect">
            <a:avLst>
              <a:gd name="adj" fmla="val 42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995649" y="2907792"/>
            <a:ext cx="713232" cy="713232"/>
          </a:xfrm>
          <a:prstGeom prst="ellipse">
            <a:avLst/>
          </a:prstGeom>
          <a:solidFill>
            <a:srgbClr val="F97316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6825" y="3078968"/>
            <a:ext cx="370881" cy="370881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9198635" y="3739896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StorageClass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9280931" y="4270248"/>
            <a:ext cx="21426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that creates PVs automatically when a claim appears — no manual disk wrangling.</a:t>
            </a:r>
            <a:endParaRPr lang="en-US" sz="1100" dirty="0"/>
          </a:p>
        </p:txBody>
      </p:sp>
      <p:sp>
        <p:nvSpPr>
          <p:cNvPr id="30" name="Text 21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9601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000" b="1" dirty="0">
                <a:solidFill>
                  <a:srgbClr val="326CE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07</a:t>
            </a:r>
            <a:endParaRPr lang="en-US" sz="25000" dirty="0"/>
          </a:p>
        </p:txBody>
      </p:sp>
      <p:sp>
        <p:nvSpPr>
          <p:cNvPr id="3" name="Shape 1"/>
          <p:cNvSpPr/>
          <p:nvPr/>
        </p:nvSpPr>
        <p:spPr>
          <a:xfrm>
            <a:off x="548640" y="2395728"/>
            <a:ext cx="146304" cy="146304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07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7223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Keeping workloads</a:t>
            </a:r>
            <a:endParaRPr lang="en-US" sz="4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healthy</a:t>
            </a:r>
            <a:endParaRPr lang="en-US" sz="4300" dirty="0"/>
          </a:p>
        </p:txBody>
      </p:sp>
      <p:sp>
        <p:nvSpPr>
          <p:cNvPr id="6" name="Text 4"/>
          <p:cNvSpPr/>
          <p:nvPr/>
        </p:nvSpPr>
        <p:spPr>
          <a:xfrm>
            <a:off x="548640" y="4224528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scheduler what it needs, let Kubernetes detect failure, and scale to meet load.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Resource requests &amp; limits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64328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075688"/>
            <a:ext cx="566928" cy="566928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751" y="2211751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2688" y="2642616"/>
            <a:ext cx="4596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requests  —  the guarantee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932688" y="2971800"/>
            <a:ext cx="459623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container is guaranteed. The scheduler uses requests to decide which node has room — it's the basis for placement and bin-packing.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78728" y="1691640"/>
            <a:ext cx="5364328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62776" y="2075688"/>
            <a:ext cx="566928" cy="566928"/>
          </a:xfrm>
          <a:prstGeom prst="ellipse">
            <a:avLst/>
          </a:prstGeom>
          <a:solidFill>
            <a:srgbClr val="F97316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838" y="2211751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62776" y="2642616"/>
            <a:ext cx="4596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limits  —  the ceiling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6662776" y="2971800"/>
            <a:ext cx="459623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cap. Exceed the CPU limit and you're throttled; exceed the memory limit and the container is OOM-killed and restarted.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114800"/>
            <a:ext cx="11091672" cy="1645920"/>
          </a:xfrm>
          <a:prstGeom prst="roundRect">
            <a:avLst>
              <a:gd name="adj" fmla="val 6667"/>
            </a:avLst>
          </a:prstGeom>
          <a:solidFill>
            <a:srgbClr val="FAFC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914400" y="4251960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let the scheduler pack nodes without over-committing: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4754880"/>
            <a:ext cx="10177272" cy="77724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060704" y="4828032"/>
            <a:ext cx="2764048" cy="630936"/>
          </a:xfrm>
          <a:prstGeom prst="roundRect">
            <a:avLst>
              <a:gd name="adj" fmla="val 7246"/>
            </a:avLst>
          </a:prstGeom>
          <a:solidFill>
            <a:srgbClr val="0D9488"/>
          </a:solidFill>
          <a:ln/>
        </p:spPr>
      </p:sp>
      <p:sp>
        <p:nvSpPr>
          <p:cNvPr id="19" name="Text 15"/>
          <p:cNvSpPr/>
          <p:nvPr/>
        </p:nvSpPr>
        <p:spPr>
          <a:xfrm>
            <a:off x="1060704" y="4828032"/>
            <a:ext cx="27640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3879616" y="4828032"/>
            <a:ext cx="2159996" cy="630936"/>
          </a:xfrm>
          <a:prstGeom prst="roundRect">
            <a:avLst>
              <a:gd name="adj" fmla="val 7246"/>
            </a:avLst>
          </a:prstGeom>
          <a:solidFill>
            <a:srgbClr val="326CE5"/>
          </a:solidFill>
          <a:ln/>
        </p:spPr>
      </p:sp>
      <p:sp>
        <p:nvSpPr>
          <p:cNvPr id="21" name="Text 17"/>
          <p:cNvSpPr/>
          <p:nvPr/>
        </p:nvSpPr>
        <p:spPr>
          <a:xfrm>
            <a:off x="3879616" y="4828032"/>
            <a:ext cx="215999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094476" y="4828032"/>
            <a:ext cx="1757294" cy="630936"/>
          </a:xfrm>
          <a:prstGeom prst="roundRect">
            <a:avLst>
              <a:gd name="adj" fmla="val 7246"/>
            </a:avLst>
          </a:prstGeom>
          <a:solidFill>
            <a:srgbClr val="2457C5"/>
          </a:solidFill>
          <a:ln/>
        </p:spPr>
      </p:sp>
      <p:sp>
        <p:nvSpPr>
          <p:cNvPr id="23" name="Text 19"/>
          <p:cNvSpPr/>
          <p:nvPr/>
        </p:nvSpPr>
        <p:spPr>
          <a:xfrm>
            <a:off x="6094476" y="4828032"/>
            <a:ext cx="175729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7906634" y="4828032"/>
            <a:ext cx="1354592" cy="630936"/>
          </a:xfrm>
          <a:prstGeom prst="roundRect">
            <a:avLst>
              <a:gd name="adj" fmla="val 7246"/>
            </a:avLst>
          </a:prstGeom>
          <a:solidFill>
            <a:srgbClr val="F97316"/>
          </a:solidFill>
          <a:ln/>
        </p:spPr>
      </p:sp>
      <p:sp>
        <p:nvSpPr>
          <p:cNvPr id="25" name="Text 21"/>
          <p:cNvSpPr/>
          <p:nvPr/>
        </p:nvSpPr>
        <p:spPr>
          <a:xfrm>
            <a:off x="7906634" y="4828032"/>
            <a:ext cx="13545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9407530" y="4754880"/>
            <a:ext cx="177558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Health probes — how K8s knows a Pod is OK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15258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931365" y="1984248"/>
            <a:ext cx="749808" cy="749808"/>
          </a:xfrm>
          <a:prstGeom prst="ellipse">
            <a:avLst/>
          </a:prstGeom>
          <a:solidFill>
            <a:srgbClr val="F97316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1319" y="2164202"/>
            <a:ext cx="389900" cy="3899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2880360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Liveness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31520" y="3273552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“Are you still alive?”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22960" y="370332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failure: the container is restarted. Catches deadlocks and hung processes.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38218" y="1737360"/>
            <a:ext cx="3515258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720944" y="1984248"/>
            <a:ext cx="749808" cy="749808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898" y="2164202"/>
            <a:ext cx="389900" cy="3899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338218" y="2880360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Readiness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521098" y="3273552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“Ready for traffic?”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4612538" y="370332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failure: the Pod is pulled out of its Service — no restart. Traffic resumes when it passes again.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27797" y="1737360"/>
            <a:ext cx="3515258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510522" y="1984248"/>
            <a:ext cx="749808" cy="749808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0476" y="2164202"/>
            <a:ext cx="389900" cy="3899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127797" y="2880360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Startup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310677" y="3273552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“Finished booting?”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8402117" y="370332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other probes off until a slow app has started, so it isn't killed mid-boot.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548640" y="5029200"/>
            <a:ext cx="11091672" cy="749808"/>
          </a:xfrm>
          <a:prstGeom prst="roundRect">
            <a:avLst>
              <a:gd name="adj" fmla="val 14634"/>
            </a:avLst>
          </a:prstGeom>
          <a:solidFill>
            <a:srgbClr val="D9F5EF"/>
          </a:solidFill>
          <a:ln w="12700">
            <a:solidFill>
              <a:srgbClr val="9DE0D2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24" name="Text 19"/>
          <p:cNvSpPr/>
          <p:nvPr/>
        </p:nvSpPr>
        <p:spPr>
          <a:xfrm>
            <a:off x="914400" y="5029200"/>
            <a:ext cx="10332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difference that trips people up:  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liveness restarts a broken Pod; readiness just stops sending it traffic until it recovers.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Horizontal Pod Autoscaler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206240" cy="434340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874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Match capacity to load, automatically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914400" y="260604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 a metric — CPU, memory, or a custom one.</a:t>
            </a:r>
            <a:endParaRPr lang="en-US" sz="1260" dirty="0"/>
          </a:p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Adjusts the replica count between a min and max you set.</a:t>
            </a:r>
            <a:endParaRPr lang="en-US" sz="1260" dirty="0"/>
          </a:p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rises → more Pods. Load falls → fewer Pods.</a:t>
            </a:r>
            <a:endParaRPr lang="en-US" sz="1260" dirty="0"/>
          </a:p>
          <a:p>
            <a:pPr marL="203200" indent="-203200">
              <a:lnSpc>
                <a:spcPct val="103000"/>
              </a:lnSpc>
              <a:buSzPct val="100000"/>
              <a:buChar char="•"/>
            </a:pPr>
            <a:r>
              <a:rPr lang="en-US" sz="12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metrics-server installed to read usage.</a:t>
            </a:r>
            <a:endParaRPr lang="en-US" sz="1260" dirty="0"/>
          </a:p>
        </p:txBody>
      </p:sp>
      <p:sp>
        <p:nvSpPr>
          <p:cNvPr id="8" name="Shape 6"/>
          <p:cNvSpPr/>
          <p:nvPr/>
        </p:nvSpPr>
        <p:spPr>
          <a:xfrm>
            <a:off x="868680" y="4892040"/>
            <a:ext cx="3566160" cy="868680"/>
          </a:xfrm>
          <a:prstGeom prst="roundRect">
            <a:avLst>
              <a:gd name="adj" fmla="val 12632"/>
            </a:avLst>
          </a:prstGeom>
          <a:solidFill>
            <a:srgbClr val="FEEBDD"/>
          </a:solidFill>
          <a:ln w="12700">
            <a:solidFill>
              <a:srgbClr val="F6C9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48920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same as the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Autoscaler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adds and removes whole nodes.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74920" y="1600200"/>
            <a:ext cx="6565392" cy="4343400"/>
          </a:xfrm>
          <a:prstGeom prst="roundRect">
            <a:avLst>
              <a:gd name="adj" fmla="val 2526"/>
            </a:avLst>
          </a:prstGeom>
          <a:solidFill>
            <a:srgbClr val="FAFC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532120" y="18745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CPU 30%  —  steady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23560" y="2240280"/>
            <a:ext cx="868680" cy="777240"/>
          </a:xfrm>
          <a:prstGeom prst="roundRect">
            <a:avLst>
              <a:gd name="adj" fmla="val 8235"/>
            </a:avLst>
          </a:prstGeom>
          <a:solidFill>
            <a:srgbClr val="D9F5EF"/>
          </a:solidFill>
          <a:ln w="16510">
            <a:solidFill>
              <a:srgbClr val="0D9488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6168" y="2368296"/>
            <a:ext cx="292608" cy="29260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675120" y="2240280"/>
            <a:ext cx="868680" cy="777240"/>
          </a:xfrm>
          <a:prstGeom prst="roundRect">
            <a:avLst>
              <a:gd name="adj" fmla="val 8235"/>
            </a:avLst>
          </a:prstGeom>
          <a:solidFill>
            <a:srgbClr val="D9F5EF"/>
          </a:solidFill>
          <a:ln w="16510">
            <a:solidFill>
              <a:srgbClr val="0D9488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2368296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532120" y="32461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spikes</a:t>
            </a:r>
            <a:endParaRPr lang="en-US" sz="12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3520440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532120" y="406908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57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CPU 85%  —  scale out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623560" y="4434840"/>
            <a:ext cx="868680" cy="777240"/>
          </a:xfrm>
          <a:prstGeom prst="roundRect">
            <a:avLst>
              <a:gd name="adj" fmla="val 8235"/>
            </a:avLst>
          </a:prstGeom>
          <a:solidFill>
            <a:srgbClr val="E4EBFB"/>
          </a:solidFill>
          <a:ln w="16510">
            <a:solidFill>
              <a:srgbClr val="326CE5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6168" y="4562856"/>
            <a:ext cx="292608" cy="292608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675120" y="4434840"/>
            <a:ext cx="868680" cy="777240"/>
          </a:xfrm>
          <a:prstGeom prst="roundRect">
            <a:avLst>
              <a:gd name="adj" fmla="val 8235"/>
            </a:avLst>
          </a:prstGeom>
          <a:solidFill>
            <a:srgbClr val="E4EBFB"/>
          </a:solidFill>
          <a:ln w="16510">
            <a:solidFill>
              <a:srgbClr val="326CE5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7728" y="4562856"/>
            <a:ext cx="292608" cy="292608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7726680" y="4434840"/>
            <a:ext cx="868680" cy="777240"/>
          </a:xfrm>
          <a:prstGeom prst="roundRect">
            <a:avLst>
              <a:gd name="adj" fmla="val 8235"/>
            </a:avLst>
          </a:prstGeom>
          <a:solidFill>
            <a:srgbClr val="E4EBFB"/>
          </a:solidFill>
          <a:ln w="16510">
            <a:solidFill>
              <a:srgbClr val="326CE5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9288" y="4562856"/>
            <a:ext cx="292608" cy="292608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778240" y="4434840"/>
            <a:ext cx="868680" cy="777240"/>
          </a:xfrm>
          <a:prstGeom prst="roundRect">
            <a:avLst>
              <a:gd name="adj" fmla="val 8235"/>
            </a:avLst>
          </a:prstGeom>
          <a:solidFill>
            <a:srgbClr val="E4EBFB"/>
          </a:solidFill>
          <a:ln w="16510">
            <a:solidFill>
              <a:srgbClr val="326CE5"/>
            </a:solidFill>
            <a:prstDash val="solid"/>
          </a:ln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70848" y="4562856"/>
            <a:ext cx="292608" cy="292608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9829800" y="4434840"/>
            <a:ext cx="868680" cy="777240"/>
          </a:xfrm>
          <a:prstGeom prst="roundRect">
            <a:avLst>
              <a:gd name="adj" fmla="val 8235"/>
            </a:avLst>
          </a:prstGeom>
          <a:solidFill>
            <a:srgbClr val="E4EBFB"/>
          </a:solidFill>
          <a:ln w="16510">
            <a:solidFill>
              <a:srgbClr val="326CE5"/>
            </a:solidFill>
            <a:prstDash val="solid"/>
          </a:ln>
        </p:spPr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22408" y="4562856"/>
            <a:ext cx="292608" cy="292608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2457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RBAC — who is allowed to do what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1672" cy="841248"/>
          </a:xfrm>
          <a:prstGeom prst="roundRect">
            <a:avLst>
              <a:gd name="adj" fmla="val 13043"/>
            </a:avLst>
          </a:prstGeom>
          <a:solidFill>
            <a:srgbClr val="E4EBFB"/>
          </a:solidFill>
          <a:ln w="12700">
            <a:solidFill>
              <a:srgbClr val="BFD0F5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600200"/>
            <a:ext cx="10332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457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to the API is authorized.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answers “can this identity perform this verb on this resource?” — built from three simple pieces.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3515258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32688" y="3081528"/>
            <a:ext cx="566928" cy="566928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751" y="3217591"/>
            <a:ext cx="294803" cy="29480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32688" y="3648456"/>
            <a:ext cx="27471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Subject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932688" y="3977640"/>
            <a:ext cx="274716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acting — a human user or, for in-cluster workloads, a ServiceAccount attached to a Pod.</a:t>
            </a:r>
            <a:endParaRPr lang="en-US" sz="12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5610" y="3712464"/>
            <a:ext cx="256032" cy="25603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338218" y="2697480"/>
            <a:ext cx="3515258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722266" y="3081528"/>
            <a:ext cx="566928" cy="566928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8329" y="3217591"/>
            <a:ext cx="294803" cy="29480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722266" y="3648456"/>
            <a:ext cx="27471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Role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4722266" y="3977640"/>
            <a:ext cx="274716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allowed — a set of verbs (get, list, create…) on resources, scoped to a namespace or the whole cluster.</a:t>
            </a:r>
            <a:endParaRPr lang="en-US" sz="12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5189" y="3712464"/>
            <a:ext cx="256032" cy="256032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127797" y="2697480"/>
            <a:ext cx="3515258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8511845" y="3081528"/>
            <a:ext cx="566928" cy="566928"/>
          </a:xfrm>
          <a:prstGeom prst="ellipse">
            <a:avLst/>
          </a:prstGeom>
          <a:solidFill>
            <a:srgbClr val="2457C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7908" y="3217591"/>
            <a:ext cx="294803" cy="294803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511845" y="3648456"/>
            <a:ext cx="27471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RoleBinding</a:t>
            </a:r>
            <a:endParaRPr lang="en-US" sz="1550" dirty="0"/>
          </a:p>
        </p:txBody>
      </p:sp>
      <p:sp>
        <p:nvSpPr>
          <p:cNvPr id="23" name="Text 16"/>
          <p:cNvSpPr/>
          <p:nvPr/>
        </p:nvSpPr>
        <p:spPr>
          <a:xfrm>
            <a:off x="8511845" y="3977640"/>
            <a:ext cx="274716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 — grants a Role to a Subject. No binding, no access.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548640" y="516636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D9F5EF"/>
          </a:solidFill>
          <a:ln w="12700">
            <a:solidFill>
              <a:srgbClr val="9DE0D2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25" name="Text 18"/>
          <p:cNvSpPr/>
          <p:nvPr/>
        </p:nvSpPr>
        <p:spPr>
          <a:xfrm>
            <a:off x="914400" y="51663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Guiding principle:  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 — grant the narrowest set of verbs and resources a subject actually needs.</a:t>
            </a:r>
            <a:endParaRPr lang="en-US" sz="1300" dirty="0"/>
          </a:p>
        </p:txBody>
      </p:sp>
      <p:sp>
        <p:nvSpPr>
          <p:cNvPr id="26" name="Text 19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9601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000" b="1" dirty="0">
                <a:solidFill>
                  <a:srgbClr val="0D948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08</a:t>
            </a:r>
            <a:endParaRPr lang="en-US" sz="25000" dirty="0"/>
          </a:p>
        </p:txBody>
      </p:sp>
      <p:sp>
        <p:nvSpPr>
          <p:cNvPr id="3" name="Shape 1"/>
          <p:cNvSpPr/>
          <p:nvPr/>
        </p:nvSpPr>
        <p:spPr>
          <a:xfrm>
            <a:off x="548640" y="2395728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08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7223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Talking to the cluster</a:t>
            </a:r>
            <a:endParaRPr lang="en-US" sz="43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client, one API — plus the ecosystem that turns Kubernetes into a full platform.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IT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kubectl — your line to the API server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57200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8745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Everything is an API object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is a thin client — it just talks to the API server.</a:t>
            </a:r>
            <a:endParaRPr lang="en-US" sz="1260" dirty="0"/>
          </a:p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Declarative: apply a YAML file and let controllers converge.</a:t>
            </a:r>
            <a:endParaRPr lang="en-US" sz="1260" dirty="0"/>
          </a:p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Imperative verbs are handy for inspecting and debugging.</a:t>
            </a:r>
            <a:endParaRPr lang="en-US" sz="1260" dirty="0"/>
          </a:p>
          <a:p>
            <a:pPr marL="203200" indent="-203200">
              <a:lnSpc>
                <a:spcPct val="103000"/>
              </a:lnSpc>
              <a:buSzPct val="100000"/>
              <a:buChar char="•"/>
            </a:pPr>
            <a:r>
              <a:rPr lang="en-US" sz="12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objects, whether you use YAML, a UI, or CI.</a:t>
            </a:r>
            <a:endParaRPr lang="en-US" sz="1260" dirty="0"/>
          </a:p>
        </p:txBody>
      </p:sp>
      <p:sp>
        <p:nvSpPr>
          <p:cNvPr id="8" name="Shape 6"/>
          <p:cNvSpPr/>
          <p:nvPr/>
        </p:nvSpPr>
        <p:spPr>
          <a:xfrm>
            <a:off x="914400" y="489204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D9F5E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8920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83664" y="4892040"/>
            <a:ext cx="954634" cy="310896"/>
          </a:xfrm>
          <a:prstGeom prst="roundRect">
            <a:avLst>
              <a:gd name="adj" fmla="val 50000"/>
            </a:avLst>
          </a:prstGeom>
          <a:solidFill>
            <a:srgbClr val="D9F5EF"/>
          </a:solidFill>
          <a:ln/>
        </p:spPr>
      </p:sp>
      <p:sp>
        <p:nvSpPr>
          <p:cNvPr id="11" name="Text 9"/>
          <p:cNvSpPr/>
          <p:nvPr/>
        </p:nvSpPr>
        <p:spPr>
          <a:xfrm>
            <a:off x="1883664" y="4892040"/>
            <a:ext cx="9546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84602" y="489204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4EBFB"/>
          </a:solidFill>
          <a:ln/>
        </p:spPr>
      </p:sp>
      <p:sp>
        <p:nvSpPr>
          <p:cNvPr id="13" name="Text 11"/>
          <p:cNvSpPr/>
          <p:nvPr/>
        </p:nvSpPr>
        <p:spPr>
          <a:xfrm>
            <a:off x="2984602" y="48920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57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14400" y="530352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4EBF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53035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57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883664" y="530352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4EBFB"/>
          </a:solidFill>
          <a:ln/>
        </p:spPr>
      </p:sp>
      <p:sp>
        <p:nvSpPr>
          <p:cNvPr id="17" name="Text 15"/>
          <p:cNvSpPr/>
          <p:nvPr/>
        </p:nvSpPr>
        <p:spPr>
          <a:xfrm>
            <a:off x="1883664" y="53035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57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852928" y="5303520"/>
            <a:ext cx="874166" cy="310896"/>
          </a:xfrm>
          <a:prstGeom prst="roundRect">
            <a:avLst>
              <a:gd name="adj" fmla="val 50000"/>
            </a:avLst>
          </a:prstGeom>
          <a:solidFill>
            <a:srgbClr val="FEEBDD"/>
          </a:solidFill>
          <a:ln/>
        </p:spPr>
      </p:sp>
      <p:sp>
        <p:nvSpPr>
          <p:cNvPr id="19" name="Text 17"/>
          <p:cNvSpPr/>
          <p:nvPr/>
        </p:nvSpPr>
        <p:spPr>
          <a:xfrm>
            <a:off x="2852928" y="5303520"/>
            <a:ext cx="874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349240" y="1737360"/>
            <a:ext cx="6291072" cy="3977640"/>
          </a:xfrm>
          <a:prstGeom prst="roundRect">
            <a:avLst>
              <a:gd name="adj" fmla="val 2069"/>
            </a:avLst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1737360"/>
            <a:ext cx="6291072" cy="384048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9240" y="1993392"/>
            <a:ext cx="6291072" cy="128016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3" name="Shape 21"/>
          <p:cNvSpPr/>
          <p:nvPr/>
        </p:nvSpPr>
        <p:spPr>
          <a:xfrm>
            <a:off x="5532120" y="1874520"/>
            <a:ext cx="109728" cy="109728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4" name="Shape 22"/>
          <p:cNvSpPr/>
          <p:nvPr/>
        </p:nvSpPr>
        <p:spPr>
          <a:xfrm>
            <a:off x="5733288" y="1874520"/>
            <a:ext cx="109728" cy="109728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5" name="Shape 23"/>
          <p:cNvSpPr/>
          <p:nvPr/>
        </p:nvSpPr>
        <p:spPr>
          <a:xfrm>
            <a:off x="5934456" y="1874520"/>
            <a:ext cx="109728" cy="10972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6" name="Text 24"/>
          <p:cNvSpPr/>
          <p:nvPr/>
        </p:nvSpPr>
        <p:spPr>
          <a:xfrm>
            <a:off x="6172200" y="1810512"/>
            <a:ext cx="4645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05272" y="2249424"/>
            <a:ext cx="5779008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apply -f deploy.yaml</a:t>
            </a:r>
            <a:endParaRPr lang="en-US" sz="1250" dirty="0"/>
          </a:p>
          <a:p>
            <a:pPr algn="l"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deployment.apps/web configured</a:t>
            </a:r>
            <a:endParaRPr lang="en-US" sz="1250" dirty="0"/>
          </a:p>
          <a:p>
            <a:pPr algn="l" indent="0" marL="0">
              <a:lnSpc>
                <a:spcPct val="105000"/>
              </a:lnSpc>
              <a:spcAft>
                <a:spcPts val="400"/>
              </a:spcAft>
              <a:buNone/>
            </a:pPr>
            <a:endParaRPr lang="en-US" sz="1250" dirty="0"/>
          </a:p>
          <a:p>
            <a:pPr algn="l"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get pods -l app=web</a:t>
            </a:r>
            <a:endParaRPr lang="en-US" sz="1250" dirty="0"/>
          </a:p>
          <a:p>
            <a:pPr algn="l"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       READY   STATUS</a:t>
            </a:r>
            <a:endParaRPr lang="en-US" sz="1250" dirty="0"/>
          </a:p>
          <a:p>
            <a:pPr algn="l"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web-7d..-x  1/1     Running</a:t>
            </a:r>
            <a:endParaRPr lang="en-US" sz="1250" dirty="0"/>
          </a:p>
          <a:p>
            <a:pPr algn="l"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web-7d..-q  1/1     Running</a:t>
            </a:r>
            <a:endParaRPr lang="en-US" sz="1250" dirty="0"/>
          </a:p>
          <a:p>
            <a:pPr algn="l" indent="0" marL="0">
              <a:lnSpc>
                <a:spcPct val="105000"/>
              </a:lnSpc>
              <a:spcAft>
                <a:spcPts val="400"/>
              </a:spcAft>
              <a:buNone/>
            </a:pPr>
            <a:endParaRPr lang="en-US" sz="1250" dirty="0"/>
          </a:p>
          <a:p>
            <a:pPr algn="l"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logs -f web-7d..-x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listening on :8080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BIGGER PICTURE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Kubernetes is a platform for building platforms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51525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58952" y="1938528"/>
            <a:ext cx="640080" cy="640080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571" y="2092147"/>
            <a:ext cx="332842" cy="33284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0200" y="1947672"/>
            <a:ext cx="2326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Helm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60604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and template whole apps as versioned, installable charts.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38218" y="1691640"/>
            <a:ext cx="351525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48530" y="1938528"/>
            <a:ext cx="640080" cy="640080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150" y="2092147"/>
            <a:ext cx="332842" cy="33284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89778" y="1947672"/>
            <a:ext cx="2326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Operators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4630826" y="260604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controllers that encode operational know-how for a specific app.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27797" y="1691640"/>
            <a:ext cx="351525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38109" y="1938528"/>
            <a:ext cx="640080" cy="640080"/>
          </a:xfrm>
          <a:prstGeom prst="ellipse">
            <a:avLst/>
          </a:prstGeom>
          <a:solidFill>
            <a:srgbClr val="2457C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1728" y="2092147"/>
            <a:ext cx="332842" cy="33284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179357" y="1947672"/>
            <a:ext cx="2326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GitOps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420405" y="260604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is the source of truth; a tool (ArgoCD, Flux) reconciles the cluster to it.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48640" y="3776472"/>
            <a:ext cx="351525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58952" y="4023360"/>
            <a:ext cx="640080" cy="640080"/>
          </a:xfrm>
          <a:prstGeom prst="ellipse">
            <a:avLst/>
          </a:prstGeom>
          <a:solidFill>
            <a:srgbClr val="F97316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571" y="4176979"/>
            <a:ext cx="332842" cy="33284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600200" y="4032504"/>
            <a:ext cx="2326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Observability</a:t>
            </a:r>
            <a:endParaRPr lang="en-US" sz="1550" dirty="0"/>
          </a:p>
        </p:txBody>
      </p:sp>
      <p:sp>
        <p:nvSpPr>
          <p:cNvPr id="24" name="Text 18"/>
          <p:cNvSpPr/>
          <p:nvPr/>
        </p:nvSpPr>
        <p:spPr>
          <a:xfrm>
            <a:off x="841248" y="4690872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Prometheus, Grafana and friends for metrics, logs, and traces.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4338218" y="3776472"/>
            <a:ext cx="351525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48530" y="4023360"/>
            <a:ext cx="640080" cy="640080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2150" y="4176979"/>
            <a:ext cx="332842" cy="33284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389778" y="4032504"/>
            <a:ext cx="2326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Service mesh</a:t>
            </a:r>
            <a:endParaRPr lang="en-US" sz="1550" dirty="0"/>
          </a:p>
        </p:txBody>
      </p:sp>
      <p:sp>
        <p:nvSpPr>
          <p:cNvPr id="29" name="Text 22"/>
          <p:cNvSpPr/>
          <p:nvPr/>
        </p:nvSpPr>
        <p:spPr>
          <a:xfrm>
            <a:off x="4630826" y="4690872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Istio, Linkerd add traffic control, mTLS, and telemetry between services.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8127797" y="3776472"/>
            <a:ext cx="351525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38109" y="4023360"/>
            <a:ext cx="640080" cy="640080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1728" y="4176979"/>
            <a:ext cx="332842" cy="33284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179357" y="4032504"/>
            <a:ext cx="2326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CRDs</a:t>
            </a:r>
            <a:endParaRPr lang="en-US" sz="1550" dirty="0"/>
          </a:p>
        </p:txBody>
      </p:sp>
      <p:sp>
        <p:nvSpPr>
          <p:cNvPr id="34" name="Text 26"/>
          <p:cNvSpPr/>
          <p:nvPr/>
        </p:nvSpPr>
        <p:spPr>
          <a:xfrm>
            <a:off x="8420405" y="4690872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API with your own object types — the cluster becomes programmable.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IT TOGETHER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whole model in one picture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459513" cy="2377440"/>
          </a:xfrm>
          <a:prstGeom prst="roundRect">
            <a:avLst>
              <a:gd name="adj" fmla="val 75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76645" y="2167128"/>
            <a:ext cx="603504" cy="603504"/>
          </a:xfrm>
          <a:prstGeom prst="ellipse">
            <a:avLst/>
          </a:prstGeom>
          <a:solidFill>
            <a:srgbClr val="F97316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485" y="2311969"/>
            <a:ext cx="313822" cy="31382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2926080"/>
            <a:ext cx="136807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You declare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3401568"/>
            <a:ext cx="13680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state in YAML</a:t>
            </a:r>
            <a:endParaRPr lang="en-US" sz="1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9865" y="2340864"/>
            <a:ext cx="182880" cy="1828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154457" y="1920240"/>
            <a:ext cx="1459513" cy="2377440"/>
          </a:xfrm>
          <a:prstGeom prst="roundRect">
            <a:avLst>
              <a:gd name="adj" fmla="val 75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582462" y="2167128"/>
            <a:ext cx="603504" cy="603504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303" y="2311969"/>
            <a:ext cx="313822" cy="31382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200177" y="2926080"/>
            <a:ext cx="136807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API + etcd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2200177" y="3401568"/>
            <a:ext cx="13680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and store it</a:t>
            </a:r>
            <a:endParaRPr lang="en-US" sz="10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5682" y="2340864"/>
            <a:ext cx="182880" cy="18288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3760274" y="1920240"/>
            <a:ext cx="1459513" cy="2377440"/>
          </a:xfrm>
          <a:prstGeom prst="roundRect">
            <a:avLst>
              <a:gd name="adj" fmla="val 75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188279" y="2167128"/>
            <a:ext cx="603504" cy="603504"/>
          </a:xfrm>
          <a:prstGeom prst="ellipse">
            <a:avLst/>
          </a:prstGeom>
          <a:solidFill>
            <a:srgbClr val="2457C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3120" y="2311969"/>
            <a:ext cx="313822" cy="31382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3805994" y="2926080"/>
            <a:ext cx="136807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Schedule</a:t>
            </a:r>
            <a:endParaRPr lang="en-US" sz="1200" dirty="0"/>
          </a:p>
        </p:txBody>
      </p:sp>
      <p:sp>
        <p:nvSpPr>
          <p:cNvPr id="21" name="Text 14"/>
          <p:cNvSpPr/>
          <p:nvPr/>
        </p:nvSpPr>
        <p:spPr>
          <a:xfrm>
            <a:off x="3805994" y="3401568"/>
            <a:ext cx="13680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Pods on nodes</a:t>
            </a:r>
            <a:endParaRPr lang="en-US" sz="10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1499" y="2340864"/>
            <a:ext cx="182880" cy="18288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5366091" y="1920240"/>
            <a:ext cx="1459513" cy="2377440"/>
          </a:xfrm>
          <a:prstGeom prst="roundRect">
            <a:avLst>
              <a:gd name="adj" fmla="val 75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5794096" y="2167128"/>
            <a:ext cx="603504" cy="603504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8937" y="2311969"/>
            <a:ext cx="313822" cy="31382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5411811" y="2926080"/>
            <a:ext cx="136807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Run</a:t>
            </a:r>
            <a:endParaRPr lang="en-US" sz="1200" dirty="0"/>
          </a:p>
        </p:txBody>
      </p:sp>
      <p:sp>
        <p:nvSpPr>
          <p:cNvPr id="27" name="Text 18"/>
          <p:cNvSpPr/>
          <p:nvPr/>
        </p:nvSpPr>
        <p:spPr>
          <a:xfrm>
            <a:off x="5411811" y="3401568"/>
            <a:ext cx="13680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kubelet starts Pods</a:t>
            </a:r>
            <a:endParaRPr lang="en-US" sz="10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7316" y="2340864"/>
            <a:ext cx="182880" cy="182880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6971908" y="1920240"/>
            <a:ext cx="1459513" cy="2377440"/>
          </a:xfrm>
          <a:prstGeom prst="roundRect">
            <a:avLst>
              <a:gd name="adj" fmla="val 75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7399913" y="2167128"/>
            <a:ext cx="603504" cy="603504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44754" y="2311969"/>
            <a:ext cx="313822" cy="31382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7017628" y="2926080"/>
            <a:ext cx="136807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Reconcile</a:t>
            </a:r>
            <a:endParaRPr lang="en-US" sz="1200" dirty="0"/>
          </a:p>
        </p:txBody>
      </p:sp>
      <p:sp>
        <p:nvSpPr>
          <p:cNvPr id="33" name="Text 22"/>
          <p:cNvSpPr/>
          <p:nvPr/>
        </p:nvSpPr>
        <p:spPr>
          <a:xfrm>
            <a:off x="7017628" y="3401568"/>
            <a:ext cx="13680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 fix drift</a:t>
            </a:r>
            <a:endParaRPr lang="en-US" sz="10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13133" y="2340864"/>
            <a:ext cx="182880" cy="182880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8577725" y="1920240"/>
            <a:ext cx="1459513" cy="2377440"/>
          </a:xfrm>
          <a:prstGeom prst="roundRect">
            <a:avLst>
              <a:gd name="adj" fmla="val 75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9005730" y="2167128"/>
            <a:ext cx="603504" cy="603504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50571" y="2311969"/>
            <a:ext cx="313822" cy="31382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8623445" y="2926080"/>
            <a:ext cx="136807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Expose</a:t>
            </a:r>
            <a:endParaRPr lang="en-US" sz="1200" dirty="0"/>
          </a:p>
        </p:txBody>
      </p:sp>
      <p:sp>
        <p:nvSpPr>
          <p:cNvPr id="39" name="Text 26"/>
          <p:cNvSpPr/>
          <p:nvPr/>
        </p:nvSpPr>
        <p:spPr>
          <a:xfrm>
            <a:off x="8623445" y="3401568"/>
            <a:ext cx="13680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&amp; Ingress</a:t>
            </a:r>
            <a:endParaRPr lang="en-US" sz="1000" dirty="0"/>
          </a:p>
        </p:txBody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18950" y="2340864"/>
            <a:ext cx="182880" cy="182880"/>
          </a:xfrm>
          <a:prstGeom prst="rect">
            <a:avLst/>
          </a:prstGeom>
        </p:spPr>
      </p:pic>
      <p:sp>
        <p:nvSpPr>
          <p:cNvPr id="41" name="Shape 27"/>
          <p:cNvSpPr/>
          <p:nvPr/>
        </p:nvSpPr>
        <p:spPr>
          <a:xfrm>
            <a:off x="10183542" y="1920240"/>
            <a:ext cx="1459513" cy="2377440"/>
          </a:xfrm>
          <a:prstGeom prst="roundRect">
            <a:avLst>
              <a:gd name="adj" fmla="val 75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42" name="Shape 28"/>
          <p:cNvSpPr/>
          <p:nvPr/>
        </p:nvSpPr>
        <p:spPr>
          <a:xfrm>
            <a:off x="10611547" y="2167128"/>
            <a:ext cx="603504" cy="603504"/>
          </a:xfrm>
          <a:prstGeom prst="ellipse">
            <a:avLst/>
          </a:prstGeom>
          <a:solidFill>
            <a:srgbClr val="F97316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4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756388" y="2311969"/>
            <a:ext cx="313822" cy="313822"/>
          </a:xfrm>
          <a:prstGeom prst="rect">
            <a:avLst/>
          </a:prstGeom>
        </p:spPr>
      </p:pic>
      <p:sp>
        <p:nvSpPr>
          <p:cNvPr id="44" name="Text 29"/>
          <p:cNvSpPr/>
          <p:nvPr/>
        </p:nvSpPr>
        <p:spPr>
          <a:xfrm>
            <a:off x="10229262" y="2926080"/>
            <a:ext cx="136807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Keep healthy</a:t>
            </a:r>
            <a:endParaRPr lang="en-US" sz="1200" dirty="0"/>
          </a:p>
        </p:txBody>
      </p:sp>
      <p:sp>
        <p:nvSpPr>
          <p:cNvPr id="45" name="Text 30"/>
          <p:cNvSpPr/>
          <p:nvPr/>
        </p:nvSpPr>
        <p:spPr>
          <a:xfrm>
            <a:off x="10229262" y="3401568"/>
            <a:ext cx="13680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probes, HPA, limits</a:t>
            </a:r>
            <a:endParaRPr lang="en-US" sz="1000" dirty="0"/>
          </a:p>
        </p:txBody>
      </p:sp>
      <p:sp>
        <p:nvSpPr>
          <p:cNvPr id="46" name="Shape 31"/>
          <p:cNvSpPr/>
          <p:nvPr/>
        </p:nvSpPr>
        <p:spPr>
          <a:xfrm>
            <a:off x="548640" y="466344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88900" dist="38100" dir="5400000">
              <a:srgbClr val="0F172A">
                <a:alpha val="16000"/>
              </a:srgbClr>
            </a:outerShdw>
          </a:effectLst>
        </p:spPr>
      </p:sp>
      <p:sp>
        <p:nvSpPr>
          <p:cNvPr id="47" name="Shape 32"/>
          <p:cNvSpPr/>
          <p:nvPr/>
        </p:nvSpPr>
        <p:spPr>
          <a:xfrm>
            <a:off x="877824" y="4882896"/>
            <a:ext cx="658368" cy="658368"/>
          </a:xfrm>
          <a:prstGeom prst="ellipse">
            <a:avLst/>
          </a:prstGeom>
          <a:solidFill>
            <a:srgbClr val="14B8A6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4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35832" y="5040904"/>
            <a:ext cx="342351" cy="342351"/>
          </a:xfrm>
          <a:prstGeom prst="rect">
            <a:avLst/>
          </a:prstGeom>
        </p:spPr>
      </p:pic>
      <p:sp>
        <p:nvSpPr>
          <p:cNvPr id="49" name="Text 33"/>
          <p:cNvSpPr/>
          <p:nvPr/>
        </p:nvSpPr>
        <p:spPr>
          <a:xfrm>
            <a:off x="1783080" y="466344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never stops. </a:t>
            </a:r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runs forever — you change the desired state, Kubernetes quietly drives the cluster back to matching it. Master that one idea and the rest is detail.</a:t>
            </a:r>
            <a:endParaRPr lang="en-US" sz="1400" dirty="0"/>
          </a:p>
        </p:txBody>
      </p:sp>
      <p:sp>
        <p:nvSpPr>
          <p:cNvPr id="50" name="Text 34"/>
          <p:cNvSpPr/>
          <p:nvPr/>
        </p:nvSpPr>
        <p:spPr>
          <a:xfrm>
            <a:off x="11185855" y="6473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ONE-LINE TAKEAWAY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560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You describe the destination.
</a:t>
            </a:r>
            <a:pPr indent="0" marL="0">
              <a:lnSpc>
                <a:spcPct val="108000"/>
              </a:lnSpc>
              <a:buNone/>
            </a:pPr>
            <a:r>
              <a:rPr lang="en-US" sz="4600" b="1" dirty="0">
                <a:solidFill>
                  <a:srgbClr val="14B8A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Kubernetes drives.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548640" y="4526280"/>
            <a:ext cx="1196035" cy="31089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4526280"/>
            <a:ext cx="11960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Declarative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927555" y="4526280"/>
            <a:ext cx="1276502" cy="31089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1927555" y="4526280"/>
            <a:ext cx="12765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Self-healing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86938" y="4526280"/>
            <a:ext cx="2161642" cy="31089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</p:sp>
      <p:sp>
        <p:nvSpPr>
          <p:cNvPr id="9" name="Text 7"/>
          <p:cNvSpPr/>
          <p:nvPr/>
        </p:nvSpPr>
        <p:spPr>
          <a:xfrm>
            <a:off x="3386938" y="4526280"/>
            <a:ext cx="21616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Everything is an object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31459" y="4526280"/>
            <a:ext cx="1517904" cy="31089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5731459" y="452628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Loosely coupled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241280" y="2651760"/>
            <a:ext cx="914400" cy="914400"/>
          </a:xfrm>
          <a:prstGeom prst="ellipse">
            <a:avLst/>
          </a:prstGeom>
          <a:solidFill>
            <a:srgbClr val="326CE5"/>
          </a:solidFill>
          <a:ln/>
          <a:effectLst>
            <a:outerShdw sx="100000" sy="100000" kx="0" ky="0" algn="bl" rotWithShape="0" blurRad="63500" dist="25400" dir="5400000">
              <a:srgbClr val="0F172A">
                <a:alpha val="22000"/>
              </a:srgbClr>
            </a:outerShdw>
          </a:effectLst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0736" y="2871216"/>
            <a:ext cx="475488" cy="47548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4864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Core Concepts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2026-07-14T10:49:25Z</dcterms:created>
  <dcterms:modified xsi:type="dcterms:W3CDTF">2026-07-14T10:49:25Z</dcterms:modified>
</cp:coreProperties>
</file>