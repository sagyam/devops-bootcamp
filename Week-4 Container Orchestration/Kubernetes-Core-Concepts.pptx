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0" name="Google Shape;75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6" name="Google Shape;95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5" name="Google Shape;98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8" name="Google Shape;104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0" name="Google Shape;106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2" name="Google Shape;109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1" name="Google Shape;113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5" name="Google Shape;118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Relationship Id="rId10" Type="http://schemas.openxmlformats.org/officeDocument/2006/relationships/image" Target="../media/image16.png"/><Relationship Id="rId9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28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34.png"/><Relationship Id="rId7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41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34.png"/><Relationship Id="rId8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Relationship Id="rId5" Type="http://schemas.openxmlformats.org/officeDocument/2006/relationships/image" Target="../media/image12.png"/><Relationship Id="rId6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41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Relationship Id="rId6" Type="http://schemas.openxmlformats.org/officeDocument/2006/relationships/image" Target="../media/image98.png"/><Relationship Id="rId7" Type="http://schemas.openxmlformats.org/officeDocument/2006/relationships/image" Target="../media/image6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94.png"/><Relationship Id="rId5" Type="http://schemas.openxmlformats.org/officeDocument/2006/relationships/image" Target="../media/image11.png"/><Relationship Id="rId6" Type="http://schemas.openxmlformats.org/officeDocument/2006/relationships/image" Target="../media/image8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0.png"/><Relationship Id="rId4" Type="http://schemas.openxmlformats.org/officeDocument/2006/relationships/image" Target="../media/image91.png"/><Relationship Id="rId5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Relationship Id="rId4" Type="http://schemas.openxmlformats.org/officeDocument/2006/relationships/image" Target="../media/image126.png"/><Relationship Id="rId5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Relationship Id="rId4" Type="http://schemas.openxmlformats.org/officeDocument/2006/relationships/image" Target="../media/image41.png"/><Relationship Id="rId5" Type="http://schemas.openxmlformats.org/officeDocument/2006/relationships/image" Target="../media/image153.png"/><Relationship Id="rId6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Relationship Id="rId4" Type="http://schemas.openxmlformats.org/officeDocument/2006/relationships/image" Target="../media/image36.png"/><Relationship Id="rId5" Type="http://schemas.openxmlformats.org/officeDocument/2006/relationships/image" Target="../media/image10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8.png"/><Relationship Id="rId4" Type="http://schemas.openxmlformats.org/officeDocument/2006/relationships/image" Target="../media/image97.png"/><Relationship Id="rId5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15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Relationship Id="rId4" Type="http://schemas.openxmlformats.org/officeDocument/2006/relationships/image" Target="../media/image115.png"/><Relationship Id="rId5" Type="http://schemas.openxmlformats.org/officeDocument/2006/relationships/image" Target="../media/image9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1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2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9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Relationship Id="rId4" Type="http://schemas.openxmlformats.org/officeDocument/2006/relationships/image" Target="../media/image34.png"/><Relationship Id="rId5" Type="http://schemas.openxmlformats.org/officeDocument/2006/relationships/image" Target="../media/image20.png"/><Relationship Id="rId6" Type="http://schemas.openxmlformats.org/officeDocument/2006/relationships/image" Target="../media/image5.png"/><Relationship Id="rId7" Type="http://schemas.openxmlformats.org/officeDocument/2006/relationships/image" Target="../media/image153.png"/><Relationship Id="rId8" Type="http://schemas.openxmlformats.org/officeDocument/2006/relationships/image" Target="../media/image9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17.png"/><Relationship Id="rId5" Type="http://schemas.openxmlformats.org/officeDocument/2006/relationships/image" Target="../media/image41.png"/><Relationship Id="rId6" Type="http://schemas.openxmlformats.org/officeDocument/2006/relationships/image" Target="../media/image7.png"/><Relationship Id="rId7" Type="http://schemas.openxmlformats.org/officeDocument/2006/relationships/image" Target="../media/image20.png"/><Relationship Id="rId8" Type="http://schemas.openxmlformats.org/officeDocument/2006/relationships/image" Target="../media/image2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AN ENGINEER'S MENTAL 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22402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Bookman Old Style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Kubernetes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35204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Core concepts, explained one idea at a time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4434840"/>
            <a:ext cx="822960" cy="310896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48640" y="4434840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Pods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536192" y="4434840"/>
            <a:ext cx="1196035" cy="310896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536192" y="4434840"/>
            <a:ext cx="11960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Deployments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896819" y="4434840"/>
            <a:ext cx="954634" cy="310896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896819" y="4434840"/>
            <a:ext cx="95463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Services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016045" y="4434840"/>
            <a:ext cx="874166" cy="310896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016045" y="4434840"/>
            <a:ext cx="87416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Ingress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054803" y="4434840"/>
            <a:ext cx="874166" cy="310896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5054803" y="4434840"/>
            <a:ext cx="87416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Storage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093562" y="4434840"/>
            <a:ext cx="874166" cy="310896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093562" y="4434840"/>
            <a:ext cx="87416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Scaling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9281160" y="2148840"/>
            <a:ext cx="2148840" cy="2148840"/>
          </a:xfrm>
          <a:prstGeom prst="ellipse">
            <a:avLst/>
          </a:prstGeom>
          <a:solidFill>
            <a:srgbClr val="0B1220"/>
          </a:solidFill>
          <a:ln cap="flat" cmpd="sng" w="190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9738360" y="2606040"/>
            <a:ext cx="1234440" cy="1234440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4626" y="2902306"/>
            <a:ext cx="641909" cy="64190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/>
          <p:nvPr/>
        </p:nvSpPr>
        <p:spPr>
          <a:xfrm>
            <a:off x="9464040" y="233172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1292840" y="251460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11109960" y="406908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9372600" y="397764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HOW TO READ THIS DECK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 mental model, built one concept at a time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1600200"/>
            <a:ext cx="2567864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475956" y="1901952"/>
            <a:ext cx="713232" cy="713232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132" y="2073128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658368" y="2734056"/>
            <a:ext cx="23484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Bookman Old Style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Why orchestration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13232" y="3063240"/>
            <a:ext cx="2238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problem a fleet of containers creates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390824" y="1600200"/>
            <a:ext cx="2567864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318140" y="1901952"/>
            <a:ext cx="713232" cy="713232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9315" y="2073128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3500552" y="2734056"/>
            <a:ext cx="23484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Bookman Old Style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Cluster anatomy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555416" y="3063240"/>
            <a:ext cx="2238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Control plane and worker nodes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233008" y="1600200"/>
            <a:ext cx="2567864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160324" y="1901952"/>
            <a:ext cx="713232" cy="713232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1499" y="2073128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6342736" y="2734056"/>
            <a:ext cx="23484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Bookman Old Style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Workloads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397600" y="3063240"/>
            <a:ext cx="2238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Pods, Deployments, StatefulSets, Jobs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9075191" y="1600200"/>
            <a:ext cx="2567864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10002507" y="1901952"/>
            <a:ext cx="713232" cy="713232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73683" y="2073128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9184919" y="2734056"/>
            <a:ext cx="23484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Bookman Old Style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Configuration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9239783" y="3063240"/>
            <a:ext cx="2238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ConfigMaps, Secrets, Namespaces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48640" y="4023360"/>
            <a:ext cx="2567864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1475956" y="4325112"/>
            <a:ext cx="713232" cy="713232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47132" y="4496288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658368" y="5157216"/>
            <a:ext cx="23484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Bookman Old Style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Networking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13232" y="5486400"/>
            <a:ext cx="2238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Services, Ingress, the cluster network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390824" y="4023360"/>
            <a:ext cx="2567864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318140" y="4325112"/>
            <a:ext cx="713232" cy="713232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89315" y="4496288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3500552" y="5157216"/>
            <a:ext cx="23484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Bookman Old Style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Storage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555416" y="5486400"/>
            <a:ext cx="2238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Volumes, PVs, claims, storage classes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233008" y="4023360"/>
            <a:ext cx="2567864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7160324" y="4325112"/>
            <a:ext cx="713232" cy="713232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31499" y="4496288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/>
          <p:nvPr/>
        </p:nvSpPr>
        <p:spPr>
          <a:xfrm>
            <a:off x="6342736" y="5157216"/>
            <a:ext cx="23484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Bookman Old Style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Reliability &amp; access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397600" y="5486400"/>
            <a:ext cx="2238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Probes, autoscaling, resources, RBAC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9075191" y="4023360"/>
            <a:ext cx="2567864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10002507" y="4325112"/>
            <a:ext cx="713232" cy="713232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73683" y="4496288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9184919" y="5157216"/>
            <a:ext cx="23484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Bookman Old Style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Talking to 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9239783" y="5486400"/>
            <a:ext cx="2238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kubectl and the wider ecosystem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7955280" y="960120"/>
            <a:ext cx="384048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5000"/>
              <a:buFont typeface="Bookman Old Style"/>
              <a:buNone/>
            </a:pPr>
            <a:r>
              <a:rPr b="1" i="0" lang="en-US" sz="25000" u="none" cap="none" strike="noStrike">
                <a:solidFill>
                  <a:srgbClr val="F9731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</a:t>
            </a:r>
            <a:endParaRPr b="0" i="0" sz="2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48640" y="2395728"/>
            <a:ext cx="146304" cy="146304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841248" y="22860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SECTION 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269748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Bookman Old Style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Why orchestration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Bookman Old Style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exists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48640" y="4224528"/>
            <a:ext cx="6766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One container is easy. A fleet across many machines is a different problem entirely.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WHY ORCHESTRATION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You have 40 containers on 5 machines. Now what?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48640" y="1600200"/>
            <a:ext cx="5577840" cy="4343400"/>
          </a:xfrm>
          <a:prstGeom prst="roundRect">
            <a:avLst>
              <a:gd fmla="val 2526" name="adj"/>
            </a:avLst>
          </a:prstGeom>
          <a:solidFill>
            <a:srgbClr val="FEEBDD"/>
          </a:solidFill>
          <a:ln cap="flat" cmpd="sng" w="12700">
            <a:solidFill>
              <a:srgbClr val="F6C9A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859" y="198241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1554480" y="1883664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EA580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questions containers don't answer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051560" y="2743200"/>
            <a:ext cx="47548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If a container crashes at 3 a.m., who restarts it?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10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Which machine has room to run the next one?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10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How do 40 moving containers find each other?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10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How do you update all of them with zero downtime?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10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How do you add copies when traffic spikes — and remove them after?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446520" y="1600200"/>
            <a:ext cx="5212080" cy="4343400"/>
          </a:xfrm>
          <a:prstGeom prst="roundRect">
            <a:avLst>
              <a:gd fmla="val 25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812280" y="18288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Bookman Old Style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Doing this by hand does not scale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812280" y="2331720"/>
            <a:ext cx="1310640" cy="2834640"/>
          </a:xfrm>
          <a:prstGeom prst="roundRect">
            <a:avLst>
              <a:gd fmla="val 5581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4720" y="2514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/>
          <p:nvPr/>
        </p:nvSpPr>
        <p:spPr>
          <a:xfrm>
            <a:off x="6812280" y="2935224"/>
            <a:ext cx="1310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node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068312" y="3291840"/>
            <a:ext cx="362712" cy="512064"/>
          </a:xfrm>
          <a:prstGeom prst="roundRect">
            <a:avLst>
              <a:gd fmla="val 15126" name="adj"/>
            </a:avLst>
          </a:prstGeom>
          <a:solidFill>
            <a:srgbClr val="D9F5E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7586472" y="3291840"/>
            <a:ext cx="362712" cy="512064"/>
          </a:xfrm>
          <a:prstGeom prst="roundRect">
            <a:avLst>
              <a:gd fmla="val 15126" name="adj"/>
            </a:avLst>
          </a:prstGeom>
          <a:solidFill>
            <a:srgbClr val="D9F5E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7068312" y="3950208"/>
            <a:ext cx="362712" cy="512064"/>
          </a:xfrm>
          <a:prstGeom prst="roundRect">
            <a:avLst>
              <a:gd fmla="val 15126" name="adj"/>
            </a:avLst>
          </a:prstGeom>
          <a:solidFill>
            <a:srgbClr val="D9F5E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8397240" y="2331720"/>
            <a:ext cx="1310640" cy="2834640"/>
          </a:xfrm>
          <a:prstGeom prst="roundRect">
            <a:avLst>
              <a:gd fmla="val 5581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9680" y="2514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8397240" y="2935224"/>
            <a:ext cx="1310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node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8653272" y="3291840"/>
            <a:ext cx="362712" cy="512064"/>
          </a:xfrm>
          <a:prstGeom prst="roundRect">
            <a:avLst>
              <a:gd fmla="val 15126" name="adj"/>
            </a:avLst>
          </a:prstGeom>
          <a:solidFill>
            <a:srgbClr val="D9F5E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9171432" y="3291840"/>
            <a:ext cx="362712" cy="512064"/>
          </a:xfrm>
          <a:prstGeom prst="roundRect">
            <a:avLst>
              <a:gd fmla="val 15126" name="adj"/>
            </a:avLst>
          </a:prstGeom>
          <a:solidFill>
            <a:srgbClr val="D9F5E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8653272" y="3950208"/>
            <a:ext cx="362712" cy="512064"/>
          </a:xfrm>
          <a:prstGeom prst="roundRect">
            <a:avLst>
              <a:gd fmla="val 15126" name="adj"/>
            </a:avLst>
          </a:prstGeom>
          <a:solidFill>
            <a:srgbClr val="D9F5E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9171432" y="3950208"/>
            <a:ext cx="362712" cy="512064"/>
          </a:xfrm>
          <a:prstGeom prst="roundRect">
            <a:avLst>
              <a:gd fmla="val 15126" name="adj"/>
            </a:avLst>
          </a:prstGeom>
          <a:solidFill>
            <a:srgbClr val="D9F5E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9982200" y="2331720"/>
            <a:ext cx="1310640" cy="2834640"/>
          </a:xfrm>
          <a:prstGeom prst="roundRect">
            <a:avLst>
              <a:gd fmla="val 5581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54640" y="2514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9982200" y="2935224"/>
            <a:ext cx="1310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node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0238232" y="3291840"/>
            <a:ext cx="362712" cy="512064"/>
          </a:xfrm>
          <a:prstGeom prst="roundRect">
            <a:avLst>
              <a:gd fmla="val 15126" name="adj"/>
            </a:avLst>
          </a:prstGeom>
          <a:solidFill>
            <a:srgbClr val="D9F5E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10756392" y="3291840"/>
            <a:ext cx="362712" cy="512064"/>
          </a:xfrm>
          <a:prstGeom prst="roundRect">
            <a:avLst>
              <a:gd fmla="val 15126" name="adj"/>
            </a:avLst>
          </a:prstGeom>
          <a:solidFill>
            <a:srgbClr val="FEEBDD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10238232" y="3950208"/>
            <a:ext cx="36271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812280" y="534924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Kubernetes automates every one of these decisions.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What Kubernetes actually is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48640" y="1600200"/>
            <a:ext cx="11091672" cy="1371600"/>
          </a:xfrm>
          <a:prstGeom prst="roundRect">
            <a:avLst>
              <a:gd fmla="val 8000" name="adj"/>
            </a:avLst>
          </a:prstGeom>
          <a:solidFill>
            <a:srgbClr val="E4EBFB"/>
          </a:solidFill>
          <a:ln cap="flat" cmpd="sng" w="12700">
            <a:solidFill>
              <a:srgbClr val="BFD0F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841248" y="1892808"/>
            <a:ext cx="786384" cy="786384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980" y="2081540"/>
            <a:ext cx="408920" cy="40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1920240" y="1737360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457C5"/>
                </a:solidFill>
                <a:latin typeface="Calibri"/>
                <a:ea typeface="Calibri"/>
                <a:cs typeface="Calibri"/>
                <a:sym typeface="Calibri"/>
              </a:rPr>
              <a:t>A container orchestrator</a:t>
            </a:r>
            <a:r>
              <a:rPr b="0" i="0" lang="en-US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—  a system that runs your containers across a cluster of machines and keeps them running in the state you asked for, without you managing individual hosts.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WHERE IT CAME FROM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48640" y="3611880"/>
            <a:ext cx="2567178" cy="1051560"/>
          </a:xfrm>
          <a:prstGeom prst="roundRect">
            <a:avLst>
              <a:gd fmla="val 1043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804672" y="3767328"/>
            <a:ext cx="210997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700"/>
              <a:buFont typeface="Bookman Old Style"/>
              <a:buNone/>
            </a:pPr>
            <a:r>
              <a:rPr b="1" i="0" lang="en-US" sz="1700" u="none" cap="none" strike="noStrike">
                <a:solidFill>
                  <a:srgbClr val="2457C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Borg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04672" y="4114800"/>
            <a:ext cx="210997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Google's internal cluster manager, run for a decade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7530" y="402336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3390138" y="3611880"/>
            <a:ext cx="2567178" cy="1051560"/>
          </a:xfrm>
          <a:prstGeom prst="roundRect">
            <a:avLst>
              <a:gd fmla="val 1043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3646170" y="3767328"/>
            <a:ext cx="210997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700"/>
              <a:buFont typeface="Bookman Old Style"/>
              <a:buNone/>
            </a:pPr>
            <a:r>
              <a:rPr b="1" i="0" lang="en-US" sz="1700" u="none" cap="none" strike="noStrike">
                <a:solidFill>
                  <a:srgbClr val="2457C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2014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646170" y="4114800"/>
            <a:ext cx="210997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Open-sourced as Kubernetes, written in 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9028" y="402336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6231636" y="3611880"/>
            <a:ext cx="2567178" cy="1051560"/>
          </a:xfrm>
          <a:prstGeom prst="roundRect">
            <a:avLst>
              <a:gd fmla="val 1043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6487668" y="3767328"/>
            <a:ext cx="210997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700"/>
              <a:buFont typeface="Bookman Old Style"/>
              <a:buNone/>
            </a:pPr>
            <a:r>
              <a:rPr b="1" i="0" lang="en-US" sz="1700" u="none" cap="none" strike="noStrike">
                <a:solidFill>
                  <a:srgbClr val="2457C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CNCF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487668" y="4114800"/>
            <a:ext cx="210997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Donated to the Cloud Native Computing Foundation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0526" y="402336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9073134" y="3611880"/>
            <a:ext cx="2567178" cy="1051560"/>
          </a:xfrm>
          <a:prstGeom prst="roundRect">
            <a:avLst>
              <a:gd fmla="val 1043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9329166" y="3767328"/>
            <a:ext cx="210997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700"/>
              <a:buFont typeface="Bookman Old Style"/>
              <a:buNone/>
            </a:pPr>
            <a:r>
              <a:rPr b="1" i="0" lang="en-US" sz="1700" u="none" cap="none" strike="noStrike">
                <a:solidFill>
                  <a:srgbClr val="2457C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Standard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9329166" y="4114800"/>
            <a:ext cx="210997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de-facto way to run containers in production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48640" y="49377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DEFINES 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48640" y="5285232"/>
            <a:ext cx="1196035" cy="310896"/>
          </a:xfrm>
          <a:prstGeom prst="roundRect">
            <a:avLst>
              <a:gd fmla="val 50000" name="adj"/>
            </a:avLst>
          </a:prstGeom>
          <a:solidFill>
            <a:srgbClr val="D9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548640" y="5285232"/>
            <a:ext cx="11960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Declarative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927555" y="5285232"/>
            <a:ext cx="1276502" cy="310896"/>
          </a:xfrm>
          <a:prstGeom prst="roundRect">
            <a:avLst>
              <a:gd fmla="val 50000" name="adj"/>
            </a:avLst>
          </a:prstGeom>
          <a:solidFill>
            <a:srgbClr val="D9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927555" y="5285232"/>
            <a:ext cx="127650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Self-healing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386938" y="5285232"/>
            <a:ext cx="954634" cy="310896"/>
          </a:xfrm>
          <a:prstGeom prst="roundRect">
            <a:avLst>
              <a:gd fmla="val 50000" name="adj"/>
            </a:avLst>
          </a:prstGeom>
          <a:solidFill>
            <a:srgbClr val="E4E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3386938" y="5285232"/>
            <a:ext cx="95463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Portable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524451" y="5285232"/>
            <a:ext cx="1115568" cy="310896"/>
          </a:xfrm>
          <a:prstGeom prst="roundRect">
            <a:avLst>
              <a:gd fmla="val 50000" name="adj"/>
            </a:avLst>
          </a:prstGeom>
          <a:solidFill>
            <a:srgbClr val="E4E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524451" y="5285232"/>
            <a:ext cx="11155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Extensible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822899" y="5285232"/>
            <a:ext cx="1115568" cy="310896"/>
          </a:xfrm>
          <a:prstGeom prst="roundRect">
            <a:avLst>
              <a:gd fmla="val 50000" name="adj"/>
            </a:avLst>
          </a:prstGeom>
          <a:solidFill>
            <a:srgbClr val="D9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5822899" y="5285232"/>
            <a:ext cx="11155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API-driven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THE ONE IDEA THAT UNLOCKS EVERYTHING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Desired state and the reconciliation loop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48640" y="1600200"/>
            <a:ext cx="4572000" cy="4343400"/>
          </a:xfrm>
          <a:prstGeom prst="roundRect">
            <a:avLst>
              <a:gd fmla="val 25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914400" y="187452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Bookman Old Style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You describe </a:t>
            </a:r>
            <a:r>
              <a:rPr b="1" i="1" lang="en-US" sz="1800" u="none" cap="none" strike="noStrike">
                <a:solidFill>
                  <a:srgbClr val="EA580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what</a:t>
            </a:r>
            <a:r>
              <a:rPr b="1" i="0" lang="en-US" sz="18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you want — not </a:t>
            </a:r>
            <a:r>
              <a:rPr b="1" i="1" lang="en-US" sz="1800" u="none" cap="none" strike="noStrike">
                <a:solidFill>
                  <a:srgbClr val="47556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how</a:t>
            </a:r>
            <a:r>
              <a:rPr b="1" i="0" lang="en-US" sz="18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to get there.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914400" y="2788920"/>
            <a:ext cx="39319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 submit desired state: “run 3 copies of this image.”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Controllers watch the actual state of the cluster.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When the two differ, they act to close the gap.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This never stops — it is a continuous loop.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914400" y="5074920"/>
            <a:ext cx="3931920" cy="786384"/>
          </a:xfrm>
          <a:prstGeom prst="roundRect">
            <a:avLst>
              <a:gd fmla="val 10465" name="adj"/>
            </a:avLst>
          </a:prstGeom>
          <a:solidFill>
            <a:srgbClr val="0B1220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72A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914400" y="5074920"/>
            <a:ext cx="3931920" cy="384048"/>
          </a:xfrm>
          <a:prstGeom prst="roundRect">
            <a:avLst>
              <a:gd fmla="val 2142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914400" y="5330952"/>
            <a:ext cx="3931920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097280" y="5212080"/>
            <a:ext cx="109728" cy="1097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1298448" y="521208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1499616" y="5212080"/>
            <a:ext cx="109728" cy="1097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1737360" y="514807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170432" y="5586984"/>
            <a:ext cx="34198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4B8A6"/>
                </a:solidFill>
                <a:latin typeface="Courier New"/>
                <a:ea typeface="Courier New"/>
                <a:cs typeface="Courier New"/>
                <a:sym typeface="Courier New"/>
              </a:rPr>
              <a:t>$ kubectl apply -f app.yaml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you state the goal; K8s drives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806440" y="1600200"/>
            <a:ext cx="5852160" cy="4343400"/>
          </a:xfrm>
          <a:prstGeom prst="roundRect">
            <a:avLst>
              <a:gd fmla="val 2526" name="adj"/>
            </a:avLst>
          </a:prstGeom>
          <a:solidFill>
            <a:srgbClr val="FAFC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5806440" y="178308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RECONCILIATION LOOP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7141464" y="2112264"/>
            <a:ext cx="3182112" cy="3182112"/>
          </a:xfrm>
          <a:prstGeom prst="ellipse">
            <a:avLst/>
          </a:prstGeom>
          <a:noFill/>
          <a:ln cap="flat" cmpd="sng" w="254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8357616" y="1755648"/>
            <a:ext cx="749808" cy="749808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7570" y="1935602"/>
            <a:ext cx="389900" cy="3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>
            <a:off x="7818120" y="25328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Declare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7818120" y="277063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desired state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9930384" y="3328416"/>
            <a:ext cx="749808" cy="749808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0338" y="3508370"/>
            <a:ext cx="389900" cy="3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9390888" y="4105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9390888" y="434340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 etcd via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8357616" y="4901184"/>
            <a:ext cx="749808" cy="749808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7570" y="5081138"/>
            <a:ext cx="389900" cy="3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7818120" y="567842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Observe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7818120" y="591616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actual vs desired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784848" y="3328416"/>
            <a:ext cx="749808" cy="749808"/>
          </a:xfrm>
          <a:prstGeom prst="ellipse">
            <a:avLst/>
          </a:prstGeom>
          <a:solidFill>
            <a:srgbClr val="2457C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4802" y="3508370"/>
            <a:ext cx="389900" cy="3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6245352" y="4105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245352" y="434340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converge to goal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6488" y="344728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/>
          <p:nvPr/>
        </p:nvSpPr>
        <p:spPr>
          <a:xfrm>
            <a:off x="7955280" y="960120"/>
            <a:ext cx="384048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25000"/>
              <a:buFont typeface="Bookman Old Style"/>
              <a:buNone/>
            </a:pPr>
            <a:r>
              <a:rPr b="1" i="0" lang="en-US" sz="25000" u="none" cap="none" strike="noStrike">
                <a:solidFill>
                  <a:srgbClr val="326CE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02</a:t>
            </a:r>
            <a:endParaRPr b="0" i="0" sz="2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48640" y="2395728"/>
            <a:ext cx="146304" cy="146304"/>
          </a:xfrm>
          <a:prstGeom prst="ellipse">
            <a:avLst/>
          </a:prstGeom>
          <a:solidFill>
            <a:srgbClr val="326C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841248" y="22860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48640" y="269748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Bookman Old Style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Cluster anatomy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48640" y="3703320"/>
            <a:ext cx="6766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cluster is a control plane that makes decisions and worker nodes that run your containers.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CLUSTER ANATOMY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shape of a Kubernetes cluster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48640" y="1554480"/>
            <a:ext cx="11091672" cy="1783080"/>
          </a:xfrm>
          <a:prstGeom prst="roundRect">
            <a:avLst>
              <a:gd fmla="val 5128" name="adj"/>
            </a:avLst>
          </a:prstGeom>
          <a:solidFill>
            <a:srgbClr val="E4EBFB"/>
          </a:solidFill>
          <a:ln cap="flat" cmpd="sng" w="19050">
            <a:solidFill>
              <a:srgbClr val="BFD0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17739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1298448" y="1773936"/>
            <a:ext cx="99943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2457C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CONTROL PLANE  ·  the brain (makes decisions, never runs your app)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868680" y="2267712"/>
            <a:ext cx="2407158" cy="822960"/>
          </a:xfrm>
          <a:prstGeom prst="roundRect">
            <a:avLst>
              <a:gd fmla="val 7778" name="adj"/>
            </a:avLst>
          </a:prstGeom>
          <a:solidFill>
            <a:srgbClr val="FFFFFF"/>
          </a:solidFill>
          <a:ln cap="flat" cmpd="sng" w="12700">
            <a:solidFill>
              <a:srgbClr val="CBD9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1069848" y="2423160"/>
            <a:ext cx="512064" cy="512064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2743" y="2546055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/>
          <p:nvPr/>
        </p:nvSpPr>
        <p:spPr>
          <a:xfrm>
            <a:off x="1645920" y="2267712"/>
            <a:ext cx="153847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API server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550158" y="2267712"/>
            <a:ext cx="2407158" cy="822960"/>
          </a:xfrm>
          <a:prstGeom prst="roundRect">
            <a:avLst>
              <a:gd fmla="val 7778" name="adj"/>
            </a:avLst>
          </a:prstGeom>
          <a:solidFill>
            <a:srgbClr val="FFFFFF"/>
          </a:solidFill>
          <a:ln cap="flat" cmpd="sng" w="12700">
            <a:solidFill>
              <a:srgbClr val="CBD9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3751326" y="2423160"/>
            <a:ext cx="512064" cy="512064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4221" y="2546055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/>
          <p:nvPr/>
        </p:nvSpPr>
        <p:spPr>
          <a:xfrm>
            <a:off x="4327398" y="2267712"/>
            <a:ext cx="153847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etcd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231636" y="2267712"/>
            <a:ext cx="2407158" cy="822960"/>
          </a:xfrm>
          <a:prstGeom prst="roundRect">
            <a:avLst>
              <a:gd fmla="val 7778" name="adj"/>
            </a:avLst>
          </a:prstGeom>
          <a:solidFill>
            <a:srgbClr val="FFFFFF"/>
          </a:solidFill>
          <a:ln cap="flat" cmpd="sng" w="12700">
            <a:solidFill>
              <a:srgbClr val="CBD9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6432804" y="2423160"/>
            <a:ext cx="512064" cy="512064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5699" y="2546055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0"/>
          <p:cNvSpPr/>
          <p:nvPr/>
        </p:nvSpPr>
        <p:spPr>
          <a:xfrm>
            <a:off x="7008876" y="2267712"/>
            <a:ext cx="153847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scheduler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8913114" y="2267712"/>
            <a:ext cx="2407158" cy="822960"/>
          </a:xfrm>
          <a:prstGeom prst="roundRect">
            <a:avLst>
              <a:gd fmla="val 7778" name="adj"/>
            </a:avLst>
          </a:prstGeom>
          <a:solidFill>
            <a:srgbClr val="FFFFFF"/>
          </a:solidFill>
          <a:ln cap="flat" cmpd="sng" w="12700">
            <a:solidFill>
              <a:srgbClr val="CBD9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9114282" y="2423160"/>
            <a:ext cx="512064" cy="512064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7177" y="2546055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/>
          <p:nvPr/>
        </p:nvSpPr>
        <p:spPr>
          <a:xfrm>
            <a:off x="9690354" y="2267712"/>
            <a:ext cx="153847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controllers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48640" y="356616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50"/>
              <a:buFont typeface="Bookman Old Style"/>
              <a:buNone/>
            </a:pPr>
            <a:r>
              <a:rPr b="1" i="0" lang="en-US" sz="1350" u="none" cap="none" strike="noStrike">
                <a:solidFill>
                  <a:srgbClr val="0D948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WORKER NODES  ·  where your Pods actually run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48640" y="3913632"/>
            <a:ext cx="3483864" cy="1965960"/>
          </a:xfrm>
          <a:prstGeom prst="roundRect">
            <a:avLst>
              <a:gd fmla="val 4651" name="adj"/>
            </a:avLst>
          </a:prstGeom>
          <a:solidFill>
            <a:srgbClr val="D9F5EF"/>
          </a:solidFill>
          <a:ln cap="flat" cmpd="sng" w="19050">
            <a:solidFill>
              <a:srgbClr val="9DE0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7" name="Google Shape;25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4672" y="40965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0"/>
          <p:cNvSpPr/>
          <p:nvPr/>
        </p:nvSpPr>
        <p:spPr>
          <a:xfrm>
            <a:off x="1170432" y="4096512"/>
            <a:ext cx="27523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Bookman Old Style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node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804672" y="4462272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kubelet · kube-proxy · runtime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804672" y="4828032"/>
            <a:ext cx="1431036" cy="841248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73886" y="49560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0"/>
          <p:cNvSpPr/>
          <p:nvPr/>
        </p:nvSpPr>
        <p:spPr>
          <a:xfrm>
            <a:off x="804672" y="5285232"/>
            <a:ext cx="14310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2436876" y="4828032"/>
            <a:ext cx="1431036" cy="841248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06090" y="49560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0"/>
          <p:cNvSpPr/>
          <p:nvPr/>
        </p:nvSpPr>
        <p:spPr>
          <a:xfrm>
            <a:off x="2436876" y="5285232"/>
            <a:ext cx="14310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4352544" y="3913632"/>
            <a:ext cx="3483864" cy="1965960"/>
          </a:xfrm>
          <a:prstGeom prst="roundRect">
            <a:avLst>
              <a:gd fmla="val 4651" name="adj"/>
            </a:avLst>
          </a:prstGeom>
          <a:solidFill>
            <a:srgbClr val="D9F5EF"/>
          </a:solidFill>
          <a:ln cap="flat" cmpd="sng" w="19050">
            <a:solidFill>
              <a:srgbClr val="9DE0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8576" y="40965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0"/>
          <p:cNvSpPr/>
          <p:nvPr/>
        </p:nvSpPr>
        <p:spPr>
          <a:xfrm>
            <a:off x="4974336" y="4096512"/>
            <a:ext cx="27523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Bookman Old Style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node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4608576" y="4462272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kubelet · kube-proxy · runtime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4608576" y="4828032"/>
            <a:ext cx="1431036" cy="841248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" name="Google Shape;27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77790" y="49560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/>
          <p:nvPr/>
        </p:nvSpPr>
        <p:spPr>
          <a:xfrm>
            <a:off x="4608576" y="5285232"/>
            <a:ext cx="14310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240780" y="4828032"/>
            <a:ext cx="1431036" cy="841248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4" name="Google Shape;274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09994" y="49560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6240780" y="5285232"/>
            <a:ext cx="14310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8156448" y="3913632"/>
            <a:ext cx="3483864" cy="1965960"/>
          </a:xfrm>
          <a:prstGeom prst="roundRect">
            <a:avLst>
              <a:gd fmla="val 4651" name="adj"/>
            </a:avLst>
          </a:prstGeom>
          <a:solidFill>
            <a:srgbClr val="D9F5EF"/>
          </a:solidFill>
          <a:ln cap="flat" cmpd="sng" w="19050">
            <a:solidFill>
              <a:srgbClr val="9DE0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2480" y="40965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"/>
          <p:cNvSpPr/>
          <p:nvPr/>
        </p:nvSpPr>
        <p:spPr>
          <a:xfrm>
            <a:off x="8778240" y="4096512"/>
            <a:ext cx="27523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Bookman Old Style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node 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8412480" y="4462272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kubelet · kube-proxy · runtime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8412480" y="4828032"/>
            <a:ext cx="1431036" cy="841248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1" name="Google Shape;28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81694" y="49560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0"/>
          <p:cNvSpPr/>
          <p:nvPr/>
        </p:nvSpPr>
        <p:spPr>
          <a:xfrm>
            <a:off x="8412480" y="5285232"/>
            <a:ext cx="14310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10044684" y="4828032"/>
            <a:ext cx="1431036" cy="841248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4" name="Google Shape;284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13898" y="49560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0"/>
          <p:cNvSpPr/>
          <p:nvPr/>
        </p:nvSpPr>
        <p:spPr>
          <a:xfrm>
            <a:off x="10044684" y="5285232"/>
            <a:ext cx="14310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CLUSTER ANATOMY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control plane, component by component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48640" y="1600200"/>
            <a:ext cx="5387188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932688" y="1984248"/>
            <a:ext cx="566928" cy="566928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7" name="Google Shape;2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51" y="21203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1"/>
          <p:cNvSpPr/>
          <p:nvPr/>
        </p:nvSpPr>
        <p:spPr>
          <a:xfrm>
            <a:off x="932688" y="2551176"/>
            <a:ext cx="46190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kube-apiserver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932688" y="2880360"/>
            <a:ext cx="46190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front door. Every read and write — from kubectl, controllers, or nodes — goes through this REST API. Nothing talks to the cluster except through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6255868" y="1600200"/>
            <a:ext cx="5387188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639916" y="1984248"/>
            <a:ext cx="566928" cy="566928"/>
          </a:xfrm>
          <a:prstGeom prst="ellipse">
            <a:avLst/>
          </a:prstGeom>
          <a:solidFill>
            <a:srgbClr val="2457C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5978" y="21203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1"/>
          <p:cNvSpPr/>
          <p:nvPr/>
        </p:nvSpPr>
        <p:spPr>
          <a:xfrm>
            <a:off x="6639916" y="2551176"/>
            <a:ext cx="46190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etcd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639916" y="2880360"/>
            <a:ext cx="46190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cluster's single source of truth. A consistent key-value store holding the entire desired and observed state. Lose etcd and you lose the cluster's memory.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548640" y="3886200"/>
            <a:ext cx="5387188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932688" y="4270248"/>
            <a:ext cx="566928" cy="566928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7" name="Google Shape;30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8751" y="44063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932688" y="4837176"/>
            <a:ext cx="46190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kube-scheduler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932688" y="5166360"/>
            <a:ext cx="46190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placement engine. For each unscheduled Pod it picks the best node, weighing resource requests, affinity rules, taints, and available capacity.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255868" y="3886200"/>
            <a:ext cx="5387188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6639916" y="4270248"/>
            <a:ext cx="566928" cy="566928"/>
          </a:xfrm>
          <a:prstGeom prst="ellipse">
            <a:avLst/>
          </a:prstGeom>
          <a:solidFill>
            <a:srgbClr val="2457C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5978" y="44063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1"/>
          <p:cNvSpPr/>
          <p:nvPr/>
        </p:nvSpPr>
        <p:spPr>
          <a:xfrm>
            <a:off x="6639916" y="4837176"/>
            <a:ext cx="46190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controller-manager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639916" y="5166360"/>
            <a:ext cx="46190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reconcilers. A bundle of control loops (ReplicaSet, Node, Job…) each watching for drift between desired and actual state and acting to close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CLUSTER ANATOMY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worker node, component by component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548640" y="1737360"/>
            <a:ext cx="3515258" cy="2788920"/>
          </a:xfrm>
          <a:prstGeom prst="roundRect">
            <a:avLst>
              <a:gd fmla="val 393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932688" y="2121408"/>
            <a:ext cx="566928" cy="566928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51" y="225747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2"/>
          <p:cNvSpPr/>
          <p:nvPr/>
        </p:nvSpPr>
        <p:spPr>
          <a:xfrm>
            <a:off x="932688" y="2688336"/>
            <a:ext cx="274716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kubelet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932688" y="3017520"/>
            <a:ext cx="2747162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node's agent. It takes the Pod specs assigned to this node, tells the container runtime to start them, and continuously reports health back to the API server.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4338218" y="1737360"/>
            <a:ext cx="3515258" cy="2788920"/>
          </a:xfrm>
          <a:prstGeom prst="roundRect">
            <a:avLst>
              <a:gd fmla="val 393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4722266" y="2121408"/>
            <a:ext cx="566928" cy="566928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1" name="Google Shape;33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8329" y="225747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2"/>
          <p:cNvSpPr/>
          <p:nvPr/>
        </p:nvSpPr>
        <p:spPr>
          <a:xfrm>
            <a:off x="4722266" y="2688336"/>
            <a:ext cx="274716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kube-proxy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4722266" y="3017520"/>
            <a:ext cx="2747162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node's traffic cop. It programs the networking rules that make a Service's single virtual IP route to the right Pods, on any node.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8127797" y="1737360"/>
            <a:ext cx="3515258" cy="2788920"/>
          </a:xfrm>
          <a:prstGeom prst="roundRect">
            <a:avLst>
              <a:gd fmla="val 393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8511845" y="2121408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6" name="Google Shape;33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47908" y="225747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2"/>
          <p:cNvSpPr/>
          <p:nvPr/>
        </p:nvSpPr>
        <p:spPr>
          <a:xfrm>
            <a:off x="8511845" y="2688336"/>
            <a:ext cx="274716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container runtime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8511845" y="3017520"/>
            <a:ext cx="2747162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engine that actually pulls images and runs containers — containerd or CRI-O. Kubernetes talks to it through the standard CRI interface.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548640" y="4800600"/>
            <a:ext cx="11091672" cy="960120"/>
          </a:xfrm>
          <a:prstGeom prst="roundRect">
            <a:avLst>
              <a:gd fmla="val 11429" name="adj"/>
            </a:avLst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507492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2"/>
          <p:cNvSpPr/>
          <p:nvPr/>
        </p:nvSpPr>
        <p:spPr>
          <a:xfrm>
            <a:off x="1463040" y="480060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The takeaway:  </a:t>
            </a:r>
            <a:r>
              <a:rPr b="0" i="0" lang="en-US" sz="13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the control plane decides, the node executes. Your application containers only ever run on worker nodes — never on the control plane.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3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CLUSTER ANATOMY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What happens when you deploy something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548640" y="1828800"/>
            <a:ext cx="2043318" cy="2743200"/>
          </a:xfrm>
          <a:prstGeom prst="roundRect">
            <a:avLst>
              <a:gd fmla="val 537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713232" y="199339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796430" y="2011680"/>
            <a:ext cx="585216" cy="585216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4" name="Google Shape;3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6882" y="2152132"/>
            <a:ext cx="304312" cy="304312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3"/>
          <p:cNvSpPr/>
          <p:nvPr/>
        </p:nvSpPr>
        <p:spPr>
          <a:xfrm>
            <a:off x="731520" y="2743200"/>
            <a:ext cx="16775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Bookman Old Style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You apply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731520" y="3127248"/>
            <a:ext cx="167755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kubectl sends your YAML to the API server.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7" name="Google Shape;35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382" y="3072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3"/>
          <p:cNvSpPr/>
          <p:nvPr/>
        </p:nvSpPr>
        <p:spPr>
          <a:xfrm>
            <a:off x="2811414" y="1828800"/>
            <a:ext cx="2043318" cy="2743200"/>
          </a:xfrm>
          <a:prstGeom prst="roundRect">
            <a:avLst>
              <a:gd fmla="val 537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2976006" y="199339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326CE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4059204" y="2011680"/>
            <a:ext cx="585216" cy="585216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9656" y="2152132"/>
            <a:ext cx="304312" cy="304312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3"/>
          <p:cNvSpPr/>
          <p:nvPr/>
        </p:nvSpPr>
        <p:spPr>
          <a:xfrm>
            <a:off x="2994294" y="2743200"/>
            <a:ext cx="16775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Bookman Old Style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API validates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2994294" y="3127248"/>
            <a:ext cx="167755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API server checks it and writes desired state…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4" name="Google Shape;3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8156" y="3072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3"/>
          <p:cNvSpPr/>
          <p:nvPr/>
        </p:nvSpPr>
        <p:spPr>
          <a:xfrm>
            <a:off x="5074188" y="1828800"/>
            <a:ext cx="2043318" cy="2743200"/>
          </a:xfrm>
          <a:prstGeom prst="roundRect">
            <a:avLst>
              <a:gd fmla="val 537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5238780" y="199339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2457C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6321979" y="2011680"/>
            <a:ext cx="585216" cy="585216"/>
          </a:xfrm>
          <a:prstGeom prst="ellipse">
            <a:avLst/>
          </a:prstGeom>
          <a:solidFill>
            <a:srgbClr val="2457C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62431" y="2152132"/>
            <a:ext cx="304312" cy="304312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3"/>
          <p:cNvSpPr/>
          <p:nvPr/>
        </p:nvSpPr>
        <p:spPr>
          <a:xfrm>
            <a:off x="5257068" y="2743200"/>
            <a:ext cx="16775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Bookman Old Style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etcd records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5257068" y="3127248"/>
            <a:ext cx="167755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…persisting it to etcd as the new source of truth.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1" name="Google Shape;37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0931" y="3072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3"/>
          <p:cNvSpPr/>
          <p:nvPr/>
        </p:nvSpPr>
        <p:spPr>
          <a:xfrm>
            <a:off x="7336963" y="1828800"/>
            <a:ext cx="2043318" cy="2743200"/>
          </a:xfrm>
          <a:prstGeom prst="roundRect">
            <a:avLst>
              <a:gd fmla="val 537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7501555" y="199339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F9731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8584753" y="2011680"/>
            <a:ext cx="585216" cy="585216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25205" y="2152132"/>
            <a:ext cx="304312" cy="304312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3"/>
          <p:cNvSpPr/>
          <p:nvPr/>
        </p:nvSpPr>
        <p:spPr>
          <a:xfrm>
            <a:off x="7519843" y="2743200"/>
            <a:ext cx="16775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Bookman Old Style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Scheduler binds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7519843" y="3127248"/>
            <a:ext cx="167755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It notices an unscheduled Pod and assigns a node.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8" name="Google Shape;37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3705" y="3072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3"/>
          <p:cNvSpPr/>
          <p:nvPr/>
        </p:nvSpPr>
        <p:spPr>
          <a:xfrm>
            <a:off x="9599737" y="1828800"/>
            <a:ext cx="2043318" cy="2743200"/>
          </a:xfrm>
          <a:prstGeom prst="roundRect">
            <a:avLst>
              <a:gd fmla="val 537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9764329" y="199339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Bookman Old Style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10847527" y="2011680"/>
            <a:ext cx="585216" cy="585216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2" name="Google Shape;38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87979" y="2152132"/>
            <a:ext cx="304312" cy="304312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3"/>
          <p:cNvSpPr/>
          <p:nvPr/>
        </p:nvSpPr>
        <p:spPr>
          <a:xfrm>
            <a:off x="9782617" y="2743200"/>
            <a:ext cx="16775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Bookman Old Style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kubelet runs 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9782617" y="3127248"/>
            <a:ext cx="167755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node's kubelet starts the containers. Done.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548640" y="4892040"/>
            <a:ext cx="11091672" cy="868680"/>
          </a:xfrm>
          <a:prstGeom prst="roundRect">
            <a:avLst>
              <a:gd fmla="val 12632" name="adj"/>
            </a:avLst>
          </a:prstGeom>
          <a:solidFill>
            <a:srgbClr val="E4EBFB"/>
          </a:solidFill>
          <a:ln cap="flat" cmpd="sng" w="12700">
            <a:solidFill>
              <a:srgbClr val="BFD0F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914400" y="4892040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57C5"/>
                </a:solidFill>
                <a:latin typeface="Calibri"/>
                <a:ea typeface="Calibri"/>
                <a:cs typeface="Calibri"/>
                <a:sym typeface="Calibri"/>
              </a:rPr>
              <a:t>Notice the pattern:  </a:t>
            </a: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 component gives orders directly. Each watches the API for state it cares about and reacts. That loose coupling is what makes Kubernetes resilient.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"/>
          <p:cNvSpPr/>
          <p:nvPr/>
        </p:nvSpPr>
        <p:spPr>
          <a:xfrm>
            <a:off x="7955280" y="960120"/>
            <a:ext cx="384048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5000"/>
              <a:buFont typeface="Bookman Old Style"/>
              <a:buNone/>
            </a:pPr>
            <a:r>
              <a:rPr b="1" i="0" lang="en-US" sz="25000" u="none" cap="none" strike="noStrike">
                <a:solidFill>
                  <a:srgbClr val="0D948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03</a:t>
            </a:r>
            <a:endParaRPr b="0" i="0" sz="2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548640" y="2395728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841248" y="22860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548640" y="269748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Bookman Old Style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Running workloads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548640" y="3703320"/>
            <a:ext cx="6766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objects you actually create to run software — from a single Pod up to self-healing, self-updating fleets.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WORKLOADS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Pod — the smallest thing you deploy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548640" y="1600200"/>
            <a:ext cx="5120640" cy="4343400"/>
          </a:xfrm>
          <a:prstGeom prst="roundRect">
            <a:avLst>
              <a:gd fmla="val 2526" name="adj"/>
            </a:avLst>
          </a:prstGeom>
          <a:solidFill>
            <a:srgbClr val="FAFC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1051560" y="2057400"/>
            <a:ext cx="4114800" cy="2514600"/>
          </a:xfrm>
          <a:prstGeom prst="roundRect">
            <a:avLst>
              <a:gd fmla="val 4364" name="adj"/>
            </a:avLst>
          </a:prstGeom>
          <a:solidFill>
            <a:srgbClr val="D9F5EF"/>
          </a:solidFill>
          <a:ln cap="flat" cmpd="sng" w="2540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1188720" y="21579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Pod  ·  shared IP  10.1.4.7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1280160" y="2514600"/>
            <a:ext cx="160020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2" name="Google Shape;4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8528" y="26517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5"/>
          <p:cNvSpPr/>
          <p:nvPr/>
        </p:nvSpPr>
        <p:spPr>
          <a:xfrm>
            <a:off x="1280160" y="303580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1280160" y="3273552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container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3154680" y="2514600"/>
            <a:ext cx="160020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6" name="Google Shape;4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3048" y="26517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5"/>
          <p:cNvSpPr/>
          <p:nvPr/>
        </p:nvSpPr>
        <p:spPr>
          <a:xfrm>
            <a:off x="3154680" y="303580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sidecar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3154680" y="3273552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container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1280160" y="3794760"/>
            <a:ext cx="3474720" cy="594360"/>
          </a:xfrm>
          <a:prstGeom prst="roundRect">
            <a:avLst>
              <a:gd fmla="val 10769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0" name="Google Shape;4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3040" y="391363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5"/>
          <p:cNvSpPr/>
          <p:nvPr/>
        </p:nvSpPr>
        <p:spPr>
          <a:xfrm>
            <a:off x="1874520" y="3794760"/>
            <a:ext cx="2834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shared volume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1051560" y="47091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Containers in a Pod share network and storage.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5989320" y="1691640"/>
            <a:ext cx="5650992" cy="969264"/>
          </a:xfrm>
          <a:prstGeom prst="roundRect">
            <a:avLst>
              <a:gd fmla="val 1132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6190488" y="1874520"/>
            <a:ext cx="603504" cy="603504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5" name="Google Shape;4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5329" y="2019361"/>
            <a:ext cx="313822" cy="313822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5"/>
          <p:cNvSpPr/>
          <p:nvPr/>
        </p:nvSpPr>
        <p:spPr>
          <a:xfrm>
            <a:off x="6949440" y="1810512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One shared network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6949440" y="2112264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Containers in a Pod reach each other over localhost and share one IP address.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5989320" y="2761488"/>
            <a:ext cx="5650992" cy="969264"/>
          </a:xfrm>
          <a:prstGeom prst="roundRect">
            <a:avLst>
              <a:gd fmla="val 1132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6190488" y="2944368"/>
            <a:ext cx="603504" cy="603504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0" name="Google Shape;4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5329" y="3089209"/>
            <a:ext cx="313822" cy="31382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5"/>
          <p:cNvSpPr/>
          <p:nvPr/>
        </p:nvSpPr>
        <p:spPr>
          <a:xfrm>
            <a:off x="6949440" y="2880360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Shared storage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6949440" y="318211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They can mount the same volumes to pass files between them.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5989320" y="3831336"/>
            <a:ext cx="5650992" cy="969264"/>
          </a:xfrm>
          <a:prstGeom prst="roundRect">
            <a:avLst>
              <a:gd fmla="val 1132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6190488" y="4014216"/>
            <a:ext cx="603504" cy="603504"/>
          </a:xfrm>
          <a:prstGeom prst="ellipse">
            <a:avLst/>
          </a:prstGeom>
          <a:solidFill>
            <a:srgbClr val="2457C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5" name="Google Shape;4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5329" y="4159057"/>
            <a:ext cx="313822" cy="313822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5"/>
          <p:cNvSpPr/>
          <p:nvPr/>
        </p:nvSpPr>
        <p:spPr>
          <a:xfrm>
            <a:off x="6949440" y="395020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Always together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6949440" y="425196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Pod is scheduled, started, and stopped as one unit — never split across nodes.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5989320" y="4901184"/>
            <a:ext cx="5650992" cy="969264"/>
          </a:xfrm>
          <a:prstGeom prst="roundRect">
            <a:avLst>
              <a:gd fmla="val 1132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6190488" y="5084064"/>
            <a:ext cx="603504" cy="603504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0" name="Google Shape;44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5329" y="5228905"/>
            <a:ext cx="313822" cy="313822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5"/>
          <p:cNvSpPr/>
          <p:nvPr/>
        </p:nvSpPr>
        <p:spPr>
          <a:xfrm>
            <a:off x="6949440" y="5020056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Ephemeral by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6949440" y="532180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Pods are cattle, not pets. They get replaced, not repaired — with a new IP each time.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6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WORKLOADS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Labels &amp; selectors — the glue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548640" y="1600200"/>
            <a:ext cx="4206240" cy="4343400"/>
          </a:xfrm>
          <a:prstGeom prst="roundRect">
            <a:avLst>
              <a:gd fmla="val 260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6"/>
          <p:cNvSpPr/>
          <p:nvPr/>
        </p:nvSpPr>
        <p:spPr>
          <a:xfrm>
            <a:off x="914400" y="187452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Almost nothing in Kubernetes references another object by name.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914400" y="2788920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Labels are key/value tags you attach to objects.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1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selector is a query: “any Pod where app=web.”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1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Services, Deployments and more use selectors to find the Pods they manage.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1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Loose coupling: match by attribute, not identity.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914400" y="5074920"/>
            <a:ext cx="3566160" cy="1060704"/>
          </a:xfrm>
          <a:prstGeom prst="roundRect">
            <a:avLst>
              <a:gd fmla="val 7759" name="adj"/>
            </a:avLst>
          </a:prstGeom>
          <a:solidFill>
            <a:srgbClr val="0B1220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72A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6"/>
          <p:cNvSpPr/>
          <p:nvPr/>
        </p:nvSpPr>
        <p:spPr>
          <a:xfrm>
            <a:off x="914400" y="5074920"/>
            <a:ext cx="3566160" cy="384048"/>
          </a:xfrm>
          <a:prstGeom prst="roundRect">
            <a:avLst>
              <a:gd fmla="val 2142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6"/>
          <p:cNvSpPr/>
          <p:nvPr/>
        </p:nvSpPr>
        <p:spPr>
          <a:xfrm>
            <a:off x="914400" y="5330952"/>
            <a:ext cx="3566160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1097280" y="5212080"/>
            <a:ext cx="109728" cy="1097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6"/>
          <p:cNvSpPr/>
          <p:nvPr/>
        </p:nvSpPr>
        <p:spPr>
          <a:xfrm>
            <a:off x="1298448" y="521208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6"/>
          <p:cNvSpPr/>
          <p:nvPr/>
        </p:nvSpPr>
        <p:spPr>
          <a:xfrm>
            <a:off x="1499616" y="5212080"/>
            <a:ext cx="109728" cy="1097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6"/>
          <p:cNvSpPr/>
          <p:nvPr/>
        </p:nvSpPr>
        <p:spPr>
          <a:xfrm>
            <a:off x="1737360" y="514807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metadata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1170432" y="5586984"/>
            <a:ext cx="3054096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labels: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14B8A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4B8A6"/>
                </a:solidFill>
                <a:latin typeface="Courier New"/>
                <a:ea typeface="Courier New"/>
                <a:cs typeface="Courier New"/>
                <a:sym typeface="Courier New"/>
              </a:rPr>
              <a:t>  app: web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14B8A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4B8A6"/>
                </a:solidFill>
                <a:latin typeface="Courier New"/>
                <a:ea typeface="Courier New"/>
                <a:cs typeface="Courier New"/>
                <a:sym typeface="Courier New"/>
              </a:rPr>
              <a:t>  tier: frontend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5074920" y="1600200"/>
            <a:ext cx="6565392" cy="4343400"/>
          </a:xfrm>
          <a:prstGeom prst="roundRect">
            <a:avLst>
              <a:gd fmla="val 2526" name="adj"/>
            </a:avLst>
          </a:prstGeom>
          <a:solidFill>
            <a:srgbClr val="FAFC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5532120" y="1965960"/>
            <a:ext cx="5650992" cy="868680"/>
          </a:xfrm>
          <a:prstGeom prst="roundRect">
            <a:avLst>
              <a:gd fmla="val 9474" name="adj"/>
            </a:avLst>
          </a:prstGeom>
          <a:solidFill>
            <a:srgbClr val="E4EBFB"/>
          </a:solidFill>
          <a:ln cap="flat" cmpd="sng" w="19050">
            <a:solidFill>
              <a:srgbClr val="BFD0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5760720" y="2121408"/>
            <a:ext cx="548640" cy="548640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6" name="Google Shape;4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2394" y="225308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6"/>
          <p:cNvSpPr/>
          <p:nvPr/>
        </p:nvSpPr>
        <p:spPr>
          <a:xfrm>
            <a:off x="6446520" y="1965960"/>
            <a:ext cx="47365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57C5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  selector:  </a:t>
            </a:r>
            <a:r>
              <a:rPr b="1" i="0" lang="en-US" sz="1200" u="none" cap="none" strike="noStrike">
                <a:solidFill>
                  <a:srgbClr val="2457C5"/>
                </a:solidFill>
                <a:latin typeface="Calibri"/>
                <a:ea typeface="Calibri"/>
                <a:cs typeface="Calibri"/>
                <a:sym typeface="Calibri"/>
              </a:rPr>
              <a:t>app=web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5532120" y="3977640"/>
            <a:ext cx="1220724" cy="1051560"/>
          </a:xfrm>
          <a:prstGeom prst="roundRect">
            <a:avLst>
              <a:gd fmla="val 6957" name="adj"/>
            </a:avLst>
          </a:prstGeom>
          <a:solidFill>
            <a:srgbClr val="D9F5EF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9" name="Google Shape;46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9602" y="41239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6"/>
          <p:cNvSpPr/>
          <p:nvPr/>
        </p:nvSpPr>
        <p:spPr>
          <a:xfrm>
            <a:off x="5532120" y="4507992"/>
            <a:ext cx="12207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5532120" y="4736592"/>
            <a:ext cx="12207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app=web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16"/>
          <p:cNvCxnSpPr/>
          <p:nvPr/>
        </p:nvCxnSpPr>
        <p:spPr>
          <a:xfrm>
            <a:off x="6142482" y="2834640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73" name="Google Shape;473;p16"/>
          <p:cNvSpPr/>
          <p:nvPr/>
        </p:nvSpPr>
        <p:spPr>
          <a:xfrm>
            <a:off x="7008876" y="3977640"/>
            <a:ext cx="1220724" cy="1051560"/>
          </a:xfrm>
          <a:prstGeom prst="roundRect">
            <a:avLst>
              <a:gd fmla="val 6957" name="adj"/>
            </a:avLst>
          </a:prstGeom>
          <a:solidFill>
            <a:srgbClr val="D9F5EF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4" name="Google Shape;47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6358" y="41239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6"/>
          <p:cNvSpPr/>
          <p:nvPr/>
        </p:nvSpPr>
        <p:spPr>
          <a:xfrm>
            <a:off x="7008876" y="4507992"/>
            <a:ext cx="12207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7008876" y="4736592"/>
            <a:ext cx="12207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app=web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16"/>
          <p:cNvCxnSpPr/>
          <p:nvPr/>
        </p:nvCxnSpPr>
        <p:spPr>
          <a:xfrm>
            <a:off x="7619238" y="2834640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78" name="Google Shape;478;p16"/>
          <p:cNvSpPr/>
          <p:nvPr/>
        </p:nvSpPr>
        <p:spPr>
          <a:xfrm>
            <a:off x="8485632" y="3977640"/>
            <a:ext cx="1220724" cy="1051560"/>
          </a:xfrm>
          <a:prstGeom prst="roundRect">
            <a:avLst>
              <a:gd fmla="val 6957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9" name="Google Shape;47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3114" y="41239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6"/>
          <p:cNvSpPr/>
          <p:nvPr/>
        </p:nvSpPr>
        <p:spPr>
          <a:xfrm>
            <a:off x="8485632" y="4507992"/>
            <a:ext cx="12207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8485632" y="4736592"/>
            <a:ext cx="12207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app=api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9962388" y="3977640"/>
            <a:ext cx="1220724" cy="1051560"/>
          </a:xfrm>
          <a:prstGeom prst="roundRect">
            <a:avLst>
              <a:gd fmla="val 6957" name="adj"/>
            </a:avLst>
          </a:prstGeom>
          <a:solidFill>
            <a:srgbClr val="D9F5EF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3" name="Google Shape;4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89870" y="41239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6"/>
          <p:cNvSpPr/>
          <p:nvPr/>
        </p:nvSpPr>
        <p:spPr>
          <a:xfrm>
            <a:off x="9962388" y="4507992"/>
            <a:ext cx="12207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9962388" y="4736592"/>
            <a:ext cx="12207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app=web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16"/>
          <p:cNvCxnSpPr/>
          <p:nvPr/>
        </p:nvCxnSpPr>
        <p:spPr>
          <a:xfrm>
            <a:off x="10572750" y="2834640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87" name="Google Shape;487;p16"/>
          <p:cNvSpPr/>
          <p:nvPr/>
        </p:nvSpPr>
        <p:spPr>
          <a:xfrm>
            <a:off x="5532120" y="5212080"/>
            <a:ext cx="56509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Service routes only to Pods whose labels match its selector.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7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WORKLOADS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ReplicaSet — keep N copies alive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548640" y="1600200"/>
            <a:ext cx="4297680" cy="434340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7"/>
          <p:cNvSpPr/>
          <p:nvPr/>
        </p:nvSpPr>
        <p:spPr>
          <a:xfrm>
            <a:off x="914400" y="18745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Bookman Old Style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Self-healing, in one object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914400" y="2377440"/>
            <a:ext cx="3657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 declare a replica count — say, 3.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ReplicaSet controller counts running Pods.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Too few? It creates more. Too many? It deletes some.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node dies and takes Pods with it → replacements appear elsewhere, automatically.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 rarely make these by hand — a Deployment manages them for you.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5166360" y="1600200"/>
            <a:ext cx="6473952" cy="4343400"/>
          </a:xfrm>
          <a:prstGeom prst="roundRect">
            <a:avLst>
              <a:gd fmla="val 2526" name="adj"/>
            </a:avLst>
          </a:prstGeom>
          <a:solidFill>
            <a:srgbClr val="FAFC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7"/>
          <p:cNvSpPr/>
          <p:nvPr/>
        </p:nvSpPr>
        <p:spPr>
          <a:xfrm>
            <a:off x="5623560" y="1874520"/>
            <a:ext cx="5559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DESIRED:  replicas =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5806440" y="2331720"/>
            <a:ext cx="1517904" cy="914400"/>
          </a:xfrm>
          <a:prstGeom prst="roundRect">
            <a:avLst>
              <a:gd fmla="val 8000" name="adj"/>
            </a:avLst>
          </a:prstGeom>
          <a:solidFill>
            <a:srgbClr val="D9F5EF"/>
          </a:solidFill>
          <a:ln cap="flat" cmpd="sng" w="1777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3" name="Google Shape;5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2512" y="247802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7"/>
          <p:cNvSpPr/>
          <p:nvPr/>
        </p:nvSpPr>
        <p:spPr>
          <a:xfrm>
            <a:off x="5806440" y="2880360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running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7644384" y="2331720"/>
            <a:ext cx="1517904" cy="914400"/>
          </a:xfrm>
          <a:prstGeom prst="roundRect">
            <a:avLst>
              <a:gd fmla="val 8000" name="adj"/>
            </a:avLst>
          </a:prstGeom>
          <a:solidFill>
            <a:srgbClr val="FEEBDD"/>
          </a:solidFill>
          <a:ln cap="flat" cmpd="sng" w="1777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6" name="Google Shape;5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0456" y="247802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7"/>
          <p:cNvSpPr/>
          <p:nvPr/>
        </p:nvSpPr>
        <p:spPr>
          <a:xfrm>
            <a:off x="7644384" y="2880360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crashed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9482328" y="2331720"/>
            <a:ext cx="1517904" cy="914400"/>
          </a:xfrm>
          <a:prstGeom prst="roundRect">
            <a:avLst>
              <a:gd fmla="val 8000" name="adj"/>
            </a:avLst>
          </a:prstGeom>
          <a:solidFill>
            <a:srgbClr val="D9F5EF"/>
          </a:solidFill>
          <a:ln cap="flat" cmpd="sng" w="1777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9" name="Google Shape;5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247802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17"/>
          <p:cNvSpPr/>
          <p:nvPr/>
        </p:nvSpPr>
        <p:spPr>
          <a:xfrm>
            <a:off x="9482328" y="2880360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running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5806440" y="3319272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A Pod dies — actual state (2) drifts below desired (3).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2" name="Google Shape;51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02168" y="370332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7"/>
          <p:cNvSpPr/>
          <p:nvPr/>
        </p:nvSpPr>
        <p:spPr>
          <a:xfrm>
            <a:off x="5806440" y="4206240"/>
            <a:ext cx="1517904" cy="914400"/>
          </a:xfrm>
          <a:prstGeom prst="roundRect">
            <a:avLst>
              <a:gd fmla="val 8000" name="adj"/>
            </a:avLst>
          </a:prstGeom>
          <a:solidFill>
            <a:srgbClr val="D9F5EF"/>
          </a:solidFill>
          <a:ln cap="flat" cmpd="sng" w="1777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4" name="Google Shape;5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2512" y="43525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7"/>
          <p:cNvSpPr/>
          <p:nvPr/>
        </p:nvSpPr>
        <p:spPr>
          <a:xfrm>
            <a:off x="5806440" y="4754880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running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7644384" y="4206240"/>
            <a:ext cx="1517904" cy="914400"/>
          </a:xfrm>
          <a:prstGeom prst="roundRect">
            <a:avLst>
              <a:gd fmla="val 8000" name="adj"/>
            </a:avLst>
          </a:prstGeom>
          <a:solidFill>
            <a:srgbClr val="D9F5EF"/>
          </a:solidFill>
          <a:ln cap="flat" cmpd="sng" w="1777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7" name="Google Shape;5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0456" y="43525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7"/>
          <p:cNvSpPr/>
          <p:nvPr/>
        </p:nvSpPr>
        <p:spPr>
          <a:xfrm>
            <a:off x="7644384" y="4754880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9482328" y="4206240"/>
            <a:ext cx="1517904" cy="914400"/>
          </a:xfrm>
          <a:prstGeom prst="roundRect">
            <a:avLst>
              <a:gd fmla="val 8000" name="adj"/>
            </a:avLst>
          </a:prstGeom>
          <a:solidFill>
            <a:srgbClr val="D9F5EF"/>
          </a:solidFill>
          <a:ln cap="flat" cmpd="sng" w="1777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0" name="Google Shape;5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3525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7"/>
          <p:cNvSpPr/>
          <p:nvPr/>
        </p:nvSpPr>
        <p:spPr>
          <a:xfrm>
            <a:off x="9482328" y="4754880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running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5806440" y="5193792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The controller creates a replacement. Back to 3.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8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WORKLOADS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Deployment — updates &amp; rollbacks, declaratively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548640" y="1600200"/>
            <a:ext cx="4297680" cy="434340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8"/>
          <p:cNvSpPr/>
          <p:nvPr/>
        </p:nvSpPr>
        <p:spPr>
          <a:xfrm>
            <a:off x="914400" y="187452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Bookman Old Style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object you'll use most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914400" y="233172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Wraps ReplicaSets and manages them for you.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Change the image tag and re-apply — it performs a rolling update.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New Pods scale up as old ones scale down: no downtime.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change is a revision you can roll back to.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914400" y="4709160"/>
            <a:ext cx="3657600" cy="786384"/>
          </a:xfrm>
          <a:prstGeom prst="roundRect">
            <a:avLst>
              <a:gd fmla="val 10465" name="adj"/>
            </a:avLst>
          </a:prstGeom>
          <a:solidFill>
            <a:srgbClr val="0B1220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72A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8"/>
          <p:cNvSpPr/>
          <p:nvPr/>
        </p:nvSpPr>
        <p:spPr>
          <a:xfrm>
            <a:off x="914400" y="4709160"/>
            <a:ext cx="3657600" cy="384048"/>
          </a:xfrm>
          <a:prstGeom prst="roundRect">
            <a:avLst>
              <a:gd fmla="val 2142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8"/>
          <p:cNvSpPr/>
          <p:nvPr/>
        </p:nvSpPr>
        <p:spPr>
          <a:xfrm>
            <a:off x="914400" y="4965192"/>
            <a:ext cx="3657600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8"/>
          <p:cNvSpPr/>
          <p:nvPr/>
        </p:nvSpPr>
        <p:spPr>
          <a:xfrm>
            <a:off x="1097280" y="4846320"/>
            <a:ext cx="109728" cy="1097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8"/>
          <p:cNvSpPr/>
          <p:nvPr/>
        </p:nvSpPr>
        <p:spPr>
          <a:xfrm>
            <a:off x="1298448" y="484632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8"/>
          <p:cNvSpPr/>
          <p:nvPr/>
        </p:nvSpPr>
        <p:spPr>
          <a:xfrm>
            <a:off x="1499616" y="4846320"/>
            <a:ext cx="109728" cy="1097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8"/>
          <p:cNvSpPr/>
          <p:nvPr/>
        </p:nvSpPr>
        <p:spPr>
          <a:xfrm>
            <a:off x="1737360" y="478231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rollout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1170432" y="5221224"/>
            <a:ext cx="3145536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4B8A6"/>
                </a:solidFill>
                <a:latin typeface="Courier New"/>
                <a:ea typeface="Courier New"/>
                <a:cs typeface="Courier New"/>
                <a:sym typeface="Courier New"/>
              </a:rPr>
              <a:t>$ kubectl rollout status deploy/web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$ kubectl rollout undo   deploy/web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5166360" y="1600200"/>
            <a:ext cx="6473952" cy="4343400"/>
          </a:xfrm>
          <a:prstGeom prst="roundRect">
            <a:avLst>
              <a:gd fmla="val 2526" name="adj"/>
            </a:avLst>
          </a:prstGeom>
          <a:solidFill>
            <a:srgbClr val="FAFC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8"/>
          <p:cNvSpPr/>
          <p:nvPr/>
        </p:nvSpPr>
        <p:spPr>
          <a:xfrm>
            <a:off x="5623560" y="1828800"/>
            <a:ext cx="5559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ROLLING UPDATE  ·  v1 → v2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5715000" y="2331720"/>
            <a:ext cx="792480" cy="566928"/>
          </a:xfrm>
          <a:prstGeom prst="roundRect">
            <a:avLst>
              <a:gd fmla="val 9677" name="adj"/>
            </a:avLst>
          </a:prstGeom>
          <a:solidFill>
            <a:srgbClr val="D9F5EF"/>
          </a:solidFill>
          <a:ln cap="flat" cmpd="sng" w="16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8"/>
          <p:cNvSpPr/>
          <p:nvPr/>
        </p:nvSpPr>
        <p:spPr>
          <a:xfrm>
            <a:off x="5715000" y="2331720"/>
            <a:ext cx="79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v1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8"/>
          <p:cNvSpPr/>
          <p:nvPr/>
        </p:nvSpPr>
        <p:spPr>
          <a:xfrm>
            <a:off x="6690360" y="2331720"/>
            <a:ext cx="792480" cy="566928"/>
          </a:xfrm>
          <a:prstGeom prst="roundRect">
            <a:avLst>
              <a:gd fmla="val 9677" name="adj"/>
            </a:avLst>
          </a:prstGeom>
          <a:solidFill>
            <a:srgbClr val="D9F5EF"/>
          </a:solidFill>
          <a:ln cap="flat" cmpd="sng" w="16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8"/>
          <p:cNvSpPr/>
          <p:nvPr/>
        </p:nvSpPr>
        <p:spPr>
          <a:xfrm>
            <a:off x="6690360" y="2331720"/>
            <a:ext cx="79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v1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7665720" y="2331720"/>
            <a:ext cx="792480" cy="566928"/>
          </a:xfrm>
          <a:prstGeom prst="roundRect">
            <a:avLst>
              <a:gd fmla="val 9677" name="adj"/>
            </a:avLst>
          </a:prstGeom>
          <a:solidFill>
            <a:srgbClr val="D9F5EF"/>
          </a:solidFill>
          <a:ln cap="flat" cmpd="sng" w="16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8"/>
          <p:cNvSpPr/>
          <p:nvPr/>
        </p:nvSpPr>
        <p:spPr>
          <a:xfrm>
            <a:off x="7665720" y="2331720"/>
            <a:ext cx="79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v1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8686800" y="2331720"/>
            <a:ext cx="2542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start: 3 old Pods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5715000" y="3090672"/>
            <a:ext cx="792480" cy="566928"/>
          </a:xfrm>
          <a:prstGeom prst="roundRect">
            <a:avLst>
              <a:gd fmla="val 9677" name="adj"/>
            </a:avLst>
          </a:prstGeom>
          <a:solidFill>
            <a:srgbClr val="D9F5EF"/>
          </a:solidFill>
          <a:ln cap="flat" cmpd="sng" w="16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8"/>
          <p:cNvSpPr/>
          <p:nvPr/>
        </p:nvSpPr>
        <p:spPr>
          <a:xfrm>
            <a:off x="5715000" y="3090672"/>
            <a:ext cx="79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v1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6690360" y="3090672"/>
            <a:ext cx="792480" cy="566928"/>
          </a:xfrm>
          <a:prstGeom prst="roundRect">
            <a:avLst>
              <a:gd fmla="val 9677" name="adj"/>
            </a:avLst>
          </a:prstGeom>
          <a:solidFill>
            <a:srgbClr val="D9F5EF"/>
          </a:solidFill>
          <a:ln cap="flat" cmpd="sng" w="16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8"/>
          <p:cNvSpPr/>
          <p:nvPr/>
        </p:nvSpPr>
        <p:spPr>
          <a:xfrm>
            <a:off x="6690360" y="3090672"/>
            <a:ext cx="79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v1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7665720" y="3090672"/>
            <a:ext cx="792480" cy="566928"/>
          </a:xfrm>
          <a:prstGeom prst="roundRect">
            <a:avLst>
              <a:gd fmla="val 9677" name="adj"/>
            </a:avLst>
          </a:prstGeom>
          <a:solidFill>
            <a:srgbClr val="E4EBFB"/>
          </a:solidFill>
          <a:ln cap="flat" cmpd="sng" w="165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8"/>
          <p:cNvSpPr/>
          <p:nvPr/>
        </p:nvSpPr>
        <p:spPr>
          <a:xfrm>
            <a:off x="7665720" y="3090672"/>
            <a:ext cx="79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v2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8686800" y="3090672"/>
            <a:ext cx="2542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one replaced…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5715000" y="3849624"/>
            <a:ext cx="792480" cy="566928"/>
          </a:xfrm>
          <a:prstGeom prst="roundRect">
            <a:avLst>
              <a:gd fmla="val 9677" name="adj"/>
            </a:avLst>
          </a:prstGeom>
          <a:solidFill>
            <a:srgbClr val="D9F5EF"/>
          </a:solidFill>
          <a:ln cap="flat" cmpd="sng" w="16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8"/>
          <p:cNvSpPr/>
          <p:nvPr/>
        </p:nvSpPr>
        <p:spPr>
          <a:xfrm>
            <a:off x="5715000" y="3849624"/>
            <a:ext cx="79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v1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6690360" y="3849624"/>
            <a:ext cx="792480" cy="566928"/>
          </a:xfrm>
          <a:prstGeom prst="roundRect">
            <a:avLst>
              <a:gd fmla="val 9677" name="adj"/>
            </a:avLst>
          </a:prstGeom>
          <a:solidFill>
            <a:srgbClr val="E4EBFB"/>
          </a:solidFill>
          <a:ln cap="flat" cmpd="sng" w="165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8"/>
          <p:cNvSpPr/>
          <p:nvPr/>
        </p:nvSpPr>
        <p:spPr>
          <a:xfrm>
            <a:off x="6690360" y="3849624"/>
            <a:ext cx="79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v2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7665720" y="3849624"/>
            <a:ext cx="792480" cy="566928"/>
          </a:xfrm>
          <a:prstGeom prst="roundRect">
            <a:avLst>
              <a:gd fmla="val 9677" name="adj"/>
            </a:avLst>
          </a:prstGeom>
          <a:solidFill>
            <a:srgbClr val="E4EBFB"/>
          </a:solidFill>
          <a:ln cap="flat" cmpd="sng" w="165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8"/>
          <p:cNvSpPr/>
          <p:nvPr/>
        </p:nvSpPr>
        <p:spPr>
          <a:xfrm>
            <a:off x="7665720" y="3849624"/>
            <a:ext cx="79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v2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8686800" y="3849624"/>
            <a:ext cx="2542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…rolling…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5715000" y="4608576"/>
            <a:ext cx="792480" cy="566928"/>
          </a:xfrm>
          <a:prstGeom prst="roundRect">
            <a:avLst>
              <a:gd fmla="val 9677" name="adj"/>
            </a:avLst>
          </a:prstGeom>
          <a:solidFill>
            <a:srgbClr val="E4EBFB"/>
          </a:solidFill>
          <a:ln cap="flat" cmpd="sng" w="165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5715000" y="4608576"/>
            <a:ext cx="79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v2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6690360" y="4608576"/>
            <a:ext cx="792480" cy="566928"/>
          </a:xfrm>
          <a:prstGeom prst="roundRect">
            <a:avLst>
              <a:gd fmla="val 9677" name="adj"/>
            </a:avLst>
          </a:prstGeom>
          <a:solidFill>
            <a:srgbClr val="E4EBFB"/>
          </a:solidFill>
          <a:ln cap="flat" cmpd="sng" w="165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8"/>
          <p:cNvSpPr/>
          <p:nvPr/>
        </p:nvSpPr>
        <p:spPr>
          <a:xfrm>
            <a:off x="6690360" y="4608576"/>
            <a:ext cx="79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v2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8"/>
          <p:cNvSpPr/>
          <p:nvPr/>
        </p:nvSpPr>
        <p:spPr>
          <a:xfrm>
            <a:off x="7665720" y="4608576"/>
            <a:ext cx="792480" cy="566928"/>
          </a:xfrm>
          <a:prstGeom prst="roundRect">
            <a:avLst>
              <a:gd fmla="val 9677" name="adj"/>
            </a:avLst>
          </a:prstGeom>
          <a:solidFill>
            <a:srgbClr val="E4EBFB"/>
          </a:solidFill>
          <a:ln cap="flat" cmpd="sng" w="165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7665720" y="4608576"/>
            <a:ext cx="79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v2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8"/>
          <p:cNvSpPr/>
          <p:nvPr/>
        </p:nvSpPr>
        <p:spPr>
          <a:xfrm>
            <a:off x="8686800" y="4608576"/>
            <a:ext cx="2542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done: all new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8"/>
          <p:cNvSpPr/>
          <p:nvPr/>
        </p:nvSpPr>
        <p:spPr>
          <a:xfrm>
            <a:off x="5623560" y="5440680"/>
            <a:ext cx="5559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b="1" i="1" lang="en-US" sz="11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At no point are zero Pods serving traffic.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9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57C5"/>
                </a:solidFill>
                <a:latin typeface="Calibri"/>
                <a:ea typeface="Calibri"/>
                <a:cs typeface="Calibri"/>
                <a:sym typeface="Calibri"/>
              </a:rPr>
              <a:t>WORKLOADS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9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StatefulSet — when identity matters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9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9"/>
          <p:cNvSpPr/>
          <p:nvPr/>
        </p:nvSpPr>
        <p:spPr>
          <a:xfrm>
            <a:off x="548640" y="1600200"/>
            <a:ext cx="11091672" cy="1051560"/>
          </a:xfrm>
          <a:prstGeom prst="roundRect">
            <a:avLst>
              <a:gd fmla="val 10435" name="adj"/>
            </a:avLst>
          </a:prstGeom>
          <a:solidFill>
            <a:srgbClr val="E4EBFB"/>
          </a:solidFill>
          <a:ln cap="flat" cmpd="sng" w="12700">
            <a:solidFill>
              <a:srgbClr val="BFD0F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9"/>
          <p:cNvSpPr/>
          <p:nvPr/>
        </p:nvSpPr>
        <p:spPr>
          <a:xfrm>
            <a:off x="841248" y="1755648"/>
            <a:ext cx="731520" cy="731520"/>
          </a:xfrm>
          <a:prstGeom prst="ellipse">
            <a:avLst/>
          </a:prstGeom>
          <a:solidFill>
            <a:srgbClr val="2457C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5" name="Google Shape;5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813" y="193121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19"/>
          <p:cNvSpPr/>
          <p:nvPr/>
        </p:nvSpPr>
        <p:spPr>
          <a:xfrm>
            <a:off x="1828800" y="1600200"/>
            <a:ext cx="9601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Deployment treats its Pods as interchangeable. </a:t>
            </a:r>
            <a:r>
              <a:rPr b="1" i="0" lang="en-US" sz="1450" u="none" cap="none" strike="noStrike">
                <a:solidFill>
                  <a:srgbClr val="2457C5"/>
                </a:solidFill>
                <a:latin typeface="Calibri"/>
                <a:ea typeface="Calibri"/>
                <a:cs typeface="Calibri"/>
                <a:sym typeface="Calibri"/>
              </a:rPr>
              <a:t>A StatefulSet gives each Pod a stable identity and its own storage</a:t>
            </a:r>
            <a:r>
              <a:rPr b="0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— for software that can't be shuffled freely, like databases and queues.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9"/>
          <p:cNvSpPr/>
          <p:nvPr/>
        </p:nvSpPr>
        <p:spPr>
          <a:xfrm>
            <a:off x="548640" y="2926080"/>
            <a:ext cx="3515258" cy="283464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9"/>
          <p:cNvSpPr/>
          <p:nvPr/>
        </p:nvSpPr>
        <p:spPr>
          <a:xfrm>
            <a:off x="932688" y="3310128"/>
            <a:ext cx="566928" cy="566928"/>
          </a:xfrm>
          <a:prstGeom prst="ellipse">
            <a:avLst/>
          </a:prstGeom>
          <a:solidFill>
            <a:srgbClr val="2457C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9" name="Google Shape;5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751" y="344619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9"/>
          <p:cNvSpPr/>
          <p:nvPr/>
        </p:nvSpPr>
        <p:spPr>
          <a:xfrm>
            <a:off x="932688" y="3877056"/>
            <a:ext cx="274716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Stable names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9"/>
          <p:cNvSpPr/>
          <p:nvPr/>
        </p:nvSpPr>
        <p:spPr>
          <a:xfrm>
            <a:off x="932688" y="4206240"/>
            <a:ext cx="2747162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Pods are named predictably — db-0, db-1, db-2 — and keep those names across restarts.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9"/>
          <p:cNvSpPr/>
          <p:nvPr/>
        </p:nvSpPr>
        <p:spPr>
          <a:xfrm>
            <a:off x="4338218" y="2926080"/>
            <a:ext cx="3515258" cy="283464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9"/>
          <p:cNvSpPr/>
          <p:nvPr/>
        </p:nvSpPr>
        <p:spPr>
          <a:xfrm>
            <a:off x="4722266" y="3310128"/>
            <a:ext cx="566928" cy="566928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4" name="Google Shape;5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8329" y="344619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19"/>
          <p:cNvSpPr/>
          <p:nvPr/>
        </p:nvSpPr>
        <p:spPr>
          <a:xfrm>
            <a:off x="4722266" y="3877056"/>
            <a:ext cx="274716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Sticky storage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9"/>
          <p:cNvSpPr/>
          <p:nvPr/>
        </p:nvSpPr>
        <p:spPr>
          <a:xfrm>
            <a:off x="4722266" y="4206240"/>
            <a:ext cx="2747162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Each Pod keeps its own PersistentVolume. db-0 always reattaches to db-0's data.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9"/>
          <p:cNvSpPr/>
          <p:nvPr/>
        </p:nvSpPr>
        <p:spPr>
          <a:xfrm>
            <a:off x="8127797" y="2926080"/>
            <a:ext cx="3515258" cy="283464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9"/>
          <p:cNvSpPr/>
          <p:nvPr/>
        </p:nvSpPr>
        <p:spPr>
          <a:xfrm>
            <a:off x="8511845" y="3310128"/>
            <a:ext cx="566928" cy="566928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9" name="Google Shape;59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47908" y="344619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19"/>
          <p:cNvSpPr/>
          <p:nvPr/>
        </p:nvSpPr>
        <p:spPr>
          <a:xfrm>
            <a:off x="8511845" y="3877056"/>
            <a:ext cx="274716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Ordered ops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9"/>
          <p:cNvSpPr/>
          <p:nvPr/>
        </p:nvSpPr>
        <p:spPr>
          <a:xfrm>
            <a:off x="8511845" y="4206240"/>
            <a:ext cx="2747162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Pods start, update, and terminate in order — essential for clustered, quorum-based apps.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0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WORKLOADS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DaemonSet — one Pod on every node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548640" y="1600200"/>
            <a:ext cx="4297680" cy="434340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0"/>
          <p:cNvSpPr/>
          <p:nvPr/>
        </p:nvSpPr>
        <p:spPr>
          <a:xfrm>
            <a:off x="914400" y="187452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Bookman Old Style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For node-level agents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0"/>
          <p:cNvSpPr/>
          <p:nvPr/>
        </p:nvSpPr>
        <p:spPr>
          <a:xfrm>
            <a:off x="914400" y="2331720"/>
            <a:ext cx="36576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Runs exactly one copy of a Pod on each node.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1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Add a node to the cluster → it gets the Pod automatically.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1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Remove a node → that Pod goes with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1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Perfect for things every node needs.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0"/>
          <p:cNvSpPr/>
          <p:nvPr/>
        </p:nvSpPr>
        <p:spPr>
          <a:xfrm>
            <a:off x="914400" y="45720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TYPICAL USES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0"/>
          <p:cNvSpPr/>
          <p:nvPr/>
        </p:nvSpPr>
        <p:spPr>
          <a:xfrm>
            <a:off x="914400" y="4892040"/>
            <a:ext cx="1196035" cy="310896"/>
          </a:xfrm>
          <a:prstGeom prst="roundRect">
            <a:avLst>
              <a:gd fmla="val 50000" name="adj"/>
            </a:avLst>
          </a:prstGeom>
          <a:solidFill>
            <a:srgbClr val="D9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0"/>
          <p:cNvSpPr/>
          <p:nvPr/>
        </p:nvSpPr>
        <p:spPr>
          <a:xfrm>
            <a:off x="914400" y="4892040"/>
            <a:ext cx="11960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log shipper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2275027" y="4892040"/>
            <a:ext cx="874166" cy="310896"/>
          </a:xfrm>
          <a:prstGeom prst="roundRect">
            <a:avLst>
              <a:gd fmla="val 50000" name="adj"/>
            </a:avLst>
          </a:prstGeom>
          <a:solidFill>
            <a:srgbClr val="D9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0"/>
          <p:cNvSpPr/>
          <p:nvPr/>
        </p:nvSpPr>
        <p:spPr>
          <a:xfrm>
            <a:off x="2275027" y="4892040"/>
            <a:ext cx="87416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metrics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3313786" y="4892040"/>
            <a:ext cx="822960" cy="310896"/>
          </a:xfrm>
          <a:prstGeom prst="roundRect">
            <a:avLst>
              <a:gd fmla="val 50000" name="adj"/>
            </a:avLst>
          </a:prstGeom>
          <a:solidFill>
            <a:srgbClr val="E4E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0"/>
          <p:cNvSpPr/>
          <p:nvPr/>
        </p:nvSpPr>
        <p:spPr>
          <a:xfrm>
            <a:off x="3313786" y="4892040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CNI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0"/>
          <p:cNvSpPr/>
          <p:nvPr/>
        </p:nvSpPr>
        <p:spPr>
          <a:xfrm>
            <a:off x="914400" y="5303520"/>
            <a:ext cx="1437437" cy="310896"/>
          </a:xfrm>
          <a:prstGeom prst="roundRect">
            <a:avLst>
              <a:gd fmla="val 50000" name="adj"/>
            </a:avLst>
          </a:prstGeom>
          <a:solidFill>
            <a:srgbClr val="E4E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0"/>
          <p:cNvSpPr/>
          <p:nvPr/>
        </p:nvSpPr>
        <p:spPr>
          <a:xfrm>
            <a:off x="914400" y="5303520"/>
            <a:ext cx="1437437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storage driver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0"/>
          <p:cNvSpPr/>
          <p:nvPr/>
        </p:nvSpPr>
        <p:spPr>
          <a:xfrm>
            <a:off x="2516429" y="5303520"/>
            <a:ext cx="1437437" cy="310896"/>
          </a:xfrm>
          <a:prstGeom prst="roundRect">
            <a:avLst>
              <a:gd fmla="val 50000" name="adj"/>
            </a:avLst>
          </a:prstGeom>
          <a:solidFill>
            <a:srgbClr val="FEEB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0"/>
          <p:cNvSpPr/>
          <p:nvPr/>
        </p:nvSpPr>
        <p:spPr>
          <a:xfrm>
            <a:off x="2516429" y="5303520"/>
            <a:ext cx="1437437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Courier New"/>
                <a:ea typeface="Courier New"/>
                <a:cs typeface="Courier New"/>
                <a:sym typeface="Courier New"/>
              </a:rPr>
              <a:t>security agent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0"/>
          <p:cNvSpPr/>
          <p:nvPr/>
        </p:nvSpPr>
        <p:spPr>
          <a:xfrm>
            <a:off x="5166360" y="1600200"/>
            <a:ext cx="6473952" cy="4343400"/>
          </a:xfrm>
          <a:prstGeom prst="roundRect">
            <a:avLst>
              <a:gd fmla="val 2526" name="adj"/>
            </a:avLst>
          </a:prstGeom>
          <a:solidFill>
            <a:srgbClr val="FAFC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0"/>
          <p:cNvSpPr/>
          <p:nvPr/>
        </p:nvSpPr>
        <p:spPr>
          <a:xfrm>
            <a:off x="5166360" y="1828800"/>
            <a:ext cx="64739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Bookman Old Style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Same agent Pod, replicated per node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0"/>
          <p:cNvSpPr/>
          <p:nvPr/>
        </p:nvSpPr>
        <p:spPr>
          <a:xfrm>
            <a:off x="5623560" y="2423160"/>
            <a:ext cx="1639824" cy="3017520"/>
          </a:xfrm>
          <a:prstGeom prst="roundRect">
            <a:avLst>
              <a:gd fmla="val 5576" name="adj"/>
            </a:avLst>
          </a:prstGeom>
          <a:solidFill>
            <a:srgbClr val="F1F5F9"/>
          </a:solidFill>
          <a:ln cap="flat" cmpd="sng" w="152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8" name="Google Shape;6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2304" y="265176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20"/>
          <p:cNvSpPr/>
          <p:nvPr/>
        </p:nvSpPr>
        <p:spPr>
          <a:xfrm>
            <a:off x="5623560" y="3136392"/>
            <a:ext cx="1639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node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0"/>
          <p:cNvSpPr/>
          <p:nvPr/>
        </p:nvSpPr>
        <p:spPr>
          <a:xfrm>
            <a:off x="5897880" y="3566160"/>
            <a:ext cx="1091184" cy="1417320"/>
          </a:xfrm>
          <a:prstGeom prst="roundRect">
            <a:avLst>
              <a:gd fmla="val 6704" name="adj"/>
            </a:avLst>
          </a:prstGeom>
          <a:solidFill>
            <a:srgbClr val="D9F5EF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0"/>
          <p:cNvSpPr/>
          <p:nvPr/>
        </p:nvSpPr>
        <p:spPr>
          <a:xfrm>
            <a:off x="6169152" y="38404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2" name="Google Shape;6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0826" y="39721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20"/>
          <p:cNvSpPr/>
          <p:nvPr/>
        </p:nvSpPr>
        <p:spPr>
          <a:xfrm>
            <a:off x="5623560" y="4507992"/>
            <a:ext cx="1639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0"/>
          <p:cNvSpPr/>
          <p:nvPr/>
        </p:nvSpPr>
        <p:spPr>
          <a:xfrm>
            <a:off x="7583424" y="2423160"/>
            <a:ext cx="1639824" cy="3017520"/>
          </a:xfrm>
          <a:prstGeom prst="roundRect">
            <a:avLst>
              <a:gd fmla="val 5576" name="adj"/>
            </a:avLst>
          </a:prstGeom>
          <a:solidFill>
            <a:srgbClr val="F1F5F9"/>
          </a:solidFill>
          <a:ln cap="flat" cmpd="sng" w="152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5" name="Google Shape;6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2168" y="265176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20"/>
          <p:cNvSpPr/>
          <p:nvPr/>
        </p:nvSpPr>
        <p:spPr>
          <a:xfrm>
            <a:off x="7583424" y="3136392"/>
            <a:ext cx="1639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node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0"/>
          <p:cNvSpPr/>
          <p:nvPr/>
        </p:nvSpPr>
        <p:spPr>
          <a:xfrm>
            <a:off x="7857744" y="3566160"/>
            <a:ext cx="1091184" cy="1417320"/>
          </a:xfrm>
          <a:prstGeom prst="roundRect">
            <a:avLst>
              <a:gd fmla="val 6704" name="adj"/>
            </a:avLst>
          </a:prstGeom>
          <a:solidFill>
            <a:srgbClr val="D9F5EF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0"/>
          <p:cNvSpPr/>
          <p:nvPr/>
        </p:nvSpPr>
        <p:spPr>
          <a:xfrm>
            <a:off x="8129016" y="38404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9" name="Google Shape;63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0690" y="39721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20"/>
          <p:cNvSpPr/>
          <p:nvPr/>
        </p:nvSpPr>
        <p:spPr>
          <a:xfrm>
            <a:off x="7583424" y="4507992"/>
            <a:ext cx="1639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0"/>
          <p:cNvSpPr/>
          <p:nvPr/>
        </p:nvSpPr>
        <p:spPr>
          <a:xfrm>
            <a:off x="9543288" y="2423160"/>
            <a:ext cx="1639824" cy="3017520"/>
          </a:xfrm>
          <a:prstGeom prst="roundRect">
            <a:avLst>
              <a:gd fmla="val 5576" name="adj"/>
            </a:avLst>
          </a:prstGeom>
          <a:solidFill>
            <a:srgbClr val="F1F5F9"/>
          </a:solidFill>
          <a:ln cap="flat" cmpd="sng" w="152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2" name="Google Shape;6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2032" y="265176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20"/>
          <p:cNvSpPr/>
          <p:nvPr/>
        </p:nvSpPr>
        <p:spPr>
          <a:xfrm>
            <a:off x="9543288" y="3136392"/>
            <a:ext cx="1639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node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9817608" y="3566160"/>
            <a:ext cx="1091184" cy="1417320"/>
          </a:xfrm>
          <a:prstGeom prst="roundRect">
            <a:avLst>
              <a:gd fmla="val 6704" name="adj"/>
            </a:avLst>
          </a:prstGeom>
          <a:solidFill>
            <a:srgbClr val="D9F5EF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0"/>
          <p:cNvSpPr/>
          <p:nvPr/>
        </p:nvSpPr>
        <p:spPr>
          <a:xfrm>
            <a:off x="10088880" y="38404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6" name="Google Shape;64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20554" y="39721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20"/>
          <p:cNvSpPr/>
          <p:nvPr/>
        </p:nvSpPr>
        <p:spPr>
          <a:xfrm>
            <a:off x="9543288" y="4507992"/>
            <a:ext cx="1639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0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WORKLOADS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Job &amp; CronJob — work that finishes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1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1"/>
          <p:cNvSpPr/>
          <p:nvPr/>
        </p:nvSpPr>
        <p:spPr>
          <a:xfrm>
            <a:off x="548640" y="1691640"/>
            <a:ext cx="5364328" cy="3200400"/>
          </a:xfrm>
          <a:prstGeom prst="roundRect">
            <a:avLst>
              <a:gd fmla="val 342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1"/>
          <p:cNvSpPr/>
          <p:nvPr/>
        </p:nvSpPr>
        <p:spPr>
          <a:xfrm>
            <a:off x="768096" y="1911096"/>
            <a:ext cx="658368" cy="658368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9" name="Google Shape;65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6104" y="2069104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1"/>
          <p:cNvSpPr/>
          <p:nvPr/>
        </p:nvSpPr>
        <p:spPr>
          <a:xfrm>
            <a:off x="1600200" y="1993392"/>
            <a:ext cx="4084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Bookman Old Style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Job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1"/>
          <p:cNvSpPr/>
          <p:nvPr/>
        </p:nvSpPr>
        <p:spPr>
          <a:xfrm>
            <a:off x="960120" y="2788920"/>
            <a:ext cx="45413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Run to completion, then stop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1"/>
          <p:cNvSpPr/>
          <p:nvPr/>
        </p:nvSpPr>
        <p:spPr>
          <a:xfrm>
            <a:off x="960120" y="3154680"/>
            <a:ext cx="454136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Starts one or more Pods and waits for them to succeed.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Retries on failure up to a limit you set.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 batch work: a data migration, a report, a backup.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1"/>
          <p:cNvSpPr/>
          <p:nvPr/>
        </p:nvSpPr>
        <p:spPr>
          <a:xfrm>
            <a:off x="6278728" y="1691640"/>
            <a:ext cx="5364328" cy="3200400"/>
          </a:xfrm>
          <a:prstGeom prst="roundRect">
            <a:avLst>
              <a:gd fmla="val 342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1"/>
          <p:cNvSpPr/>
          <p:nvPr/>
        </p:nvSpPr>
        <p:spPr>
          <a:xfrm>
            <a:off x="6498184" y="1911096"/>
            <a:ext cx="658368" cy="658368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5" name="Google Shape;66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6192" y="2069104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21"/>
          <p:cNvSpPr/>
          <p:nvPr/>
        </p:nvSpPr>
        <p:spPr>
          <a:xfrm>
            <a:off x="7330288" y="1993392"/>
            <a:ext cx="4084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Bookman Old Style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CronJob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1"/>
          <p:cNvSpPr/>
          <p:nvPr/>
        </p:nvSpPr>
        <p:spPr>
          <a:xfrm>
            <a:off x="6690208" y="2788920"/>
            <a:ext cx="45413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57C5"/>
                </a:solidFill>
                <a:latin typeface="Calibri"/>
                <a:ea typeface="Calibri"/>
                <a:cs typeface="Calibri"/>
                <a:sym typeface="Calibri"/>
              </a:rPr>
              <a:t>A Job on a schedule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1"/>
          <p:cNvSpPr/>
          <p:nvPr/>
        </p:nvSpPr>
        <p:spPr>
          <a:xfrm>
            <a:off x="6690208" y="3154680"/>
            <a:ext cx="454136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Creates a Job on a cron schedule (e.g. every night).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Same retry and completion semantics as a Job.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 recurring work: nightly backups, cleanups, syncs.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1"/>
          <p:cNvSpPr/>
          <p:nvPr/>
        </p:nvSpPr>
        <p:spPr>
          <a:xfrm>
            <a:off x="548640" y="5074920"/>
            <a:ext cx="11091672" cy="713232"/>
          </a:xfrm>
          <a:prstGeom prst="roundRect">
            <a:avLst>
              <a:gd fmla="val 15385" name="adj"/>
            </a:avLst>
          </a:prstGeom>
          <a:solidFill>
            <a:srgbClr val="FEEBDD"/>
          </a:solidFill>
          <a:ln cap="flat" cmpd="sng" w="12700">
            <a:solidFill>
              <a:srgbClr val="F6C9A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0" name="Google Shape;67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248" y="5257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21"/>
          <p:cNvSpPr/>
          <p:nvPr/>
        </p:nvSpPr>
        <p:spPr>
          <a:xfrm>
            <a:off x="1417320" y="5074920"/>
            <a:ext cx="10058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Contrast:  </a:t>
            </a: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Deployments, StatefulSets and DaemonSets run forever. Jobs and CronJobs are the objects for work that has a finish 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1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2"/>
          <p:cNvSpPr/>
          <p:nvPr/>
        </p:nvSpPr>
        <p:spPr>
          <a:xfrm>
            <a:off x="7955280" y="960120"/>
            <a:ext cx="384048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25000"/>
              <a:buFont typeface="Bookman Old Style"/>
              <a:buNone/>
            </a:pPr>
            <a:r>
              <a:rPr b="1" i="0" lang="en-US" sz="25000" u="none" cap="none" strike="noStrike">
                <a:solidFill>
                  <a:srgbClr val="326CE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04</a:t>
            </a:r>
            <a:endParaRPr b="0" i="0" sz="2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548640" y="2395728"/>
            <a:ext cx="146304" cy="146304"/>
          </a:xfrm>
          <a:prstGeom prst="ellipse">
            <a:avLst/>
          </a:prstGeom>
          <a:solidFill>
            <a:srgbClr val="326C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2"/>
          <p:cNvSpPr/>
          <p:nvPr/>
        </p:nvSpPr>
        <p:spPr>
          <a:xfrm>
            <a:off x="841248" y="22860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2"/>
          <p:cNvSpPr/>
          <p:nvPr/>
        </p:nvSpPr>
        <p:spPr>
          <a:xfrm>
            <a:off x="548640" y="269748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Bookman Old Style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Configuration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2"/>
          <p:cNvSpPr/>
          <p:nvPr/>
        </p:nvSpPr>
        <p:spPr>
          <a:xfrm>
            <a:off x="548640" y="3703320"/>
            <a:ext cx="6766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Keep settings and secrets out of your images — and carve one cluster into tidy, separate spaces.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2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3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3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ConfigMaps &amp; Secrets — config out of the image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3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3"/>
          <p:cNvSpPr/>
          <p:nvPr/>
        </p:nvSpPr>
        <p:spPr>
          <a:xfrm>
            <a:off x="548640" y="1600200"/>
            <a:ext cx="11091672" cy="841248"/>
          </a:xfrm>
          <a:prstGeom prst="roundRect">
            <a:avLst>
              <a:gd fmla="val 13043" name="adj"/>
            </a:avLst>
          </a:prstGeom>
          <a:solidFill>
            <a:srgbClr val="E4EBFB"/>
          </a:solidFill>
          <a:ln cap="flat" cmpd="sng" w="12700">
            <a:solidFill>
              <a:srgbClr val="BFD0F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3"/>
          <p:cNvSpPr/>
          <p:nvPr/>
        </p:nvSpPr>
        <p:spPr>
          <a:xfrm>
            <a:off x="914400" y="1600200"/>
            <a:ext cx="103327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457C5"/>
                </a:solidFill>
                <a:latin typeface="Calibri"/>
                <a:ea typeface="Calibri"/>
                <a:cs typeface="Calibri"/>
                <a:sym typeface="Calibri"/>
              </a:rPr>
              <a:t>Same image, every environment.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Bake config into the container and you rebuild for every change. Instead, keep it in the cluster and inject it as environment variables or mounted files.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3"/>
          <p:cNvSpPr/>
          <p:nvPr/>
        </p:nvSpPr>
        <p:spPr>
          <a:xfrm>
            <a:off x="548640" y="2606040"/>
            <a:ext cx="5364328" cy="210312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3"/>
          <p:cNvSpPr/>
          <p:nvPr/>
        </p:nvSpPr>
        <p:spPr>
          <a:xfrm>
            <a:off x="932688" y="2990088"/>
            <a:ext cx="566928" cy="566928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7" name="Google Shape;6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51" y="312615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23"/>
          <p:cNvSpPr/>
          <p:nvPr/>
        </p:nvSpPr>
        <p:spPr>
          <a:xfrm>
            <a:off x="932688" y="3557016"/>
            <a:ext cx="459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ConfigMap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3"/>
          <p:cNvSpPr/>
          <p:nvPr/>
        </p:nvSpPr>
        <p:spPr>
          <a:xfrm>
            <a:off x="932688" y="3886200"/>
            <a:ext cx="4596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Non-sensitive key/value settings — feature flags, URLs, tuning values. Change it and re-roll Pods to pick up the new values.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3"/>
          <p:cNvSpPr/>
          <p:nvPr/>
        </p:nvSpPr>
        <p:spPr>
          <a:xfrm>
            <a:off x="6278728" y="2606040"/>
            <a:ext cx="5364328" cy="210312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3"/>
          <p:cNvSpPr/>
          <p:nvPr/>
        </p:nvSpPr>
        <p:spPr>
          <a:xfrm>
            <a:off x="6662776" y="2990088"/>
            <a:ext cx="566928" cy="566928"/>
          </a:xfrm>
          <a:prstGeom prst="ellipse">
            <a:avLst/>
          </a:prstGeom>
          <a:solidFill>
            <a:srgbClr val="EA580C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2" name="Google Shape;70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8838" y="312615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23"/>
          <p:cNvSpPr/>
          <p:nvPr/>
        </p:nvSpPr>
        <p:spPr>
          <a:xfrm>
            <a:off x="6662776" y="3557016"/>
            <a:ext cx="459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Secret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3"/>
          <p:cNvSpPr/>
          <p:nvPr/>
        </p:nvSpPr>
        <p:spPr>
          <a:xfrm>
            <a:off x="6662776" y="3886200"/>
            <a:ext cx="4596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same idea for sensitive data — passwords, tokens, TLS keys. Stored separately and mounted only where needed.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3"/>
          <p:cNvSpPr/>
          <p:nvPr/>
        </p:nvSpPr>
        <p:spPr>
          <a:xfrm>
            <a:off x="548640" y="4892040"/>
            <a:ext cx="11091672" cy="896112"/>
          </a:xfrm>
          <a:prstGeom prst="roundRect">
            <a:avLst>
              <a:gd fmla="val 12245" name="adj"/>
            </a:avLst>
          </a:prstGeom>
          <a:solidFill>
            <a:srgbClr val="FEEBDD"/>
          </a:solidFill>
          <a:ln cap="flat" cmpd="sng" w="12700">
            <a:solidFill>
              <a:srgbClr val="F6C9A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3"/>
          <p:cNvSpPr/>
          <p:nvPr/>
        </p:nvSpPr>
        <p:spPr>
          <a:xfrm>
            <a:off x="795528" y="5038344"/>
            <a:ext cx="603504" cy="603504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7" name="Google Shape;70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0369" y="5183185"/>
            <a:ext cx="313822" cy="313822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23"/>
          <p:cNvSpPr/>
          <p:nvPr/>
        </p:nvSpPr>
        <p:spPr>
          <a:xfrm>
            <a:off x="1600200" y="4892040"/>
            <a:ext cx="98755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Mind the gap:  </a:t>
            </a: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Secret is only base64-encoded, not encrypted. Real protection comes from encryption at rest in etcd and tight RBAC on who can read them.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3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4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4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Namespaces — one cluster, many spaces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4"/>
          <p:cNvSpPr/>
          <p:nvPr/>
        </p:nvSpPr>
        <p:spPr>
          <a:xfrm>
            <a:off x="548640" y="1600200"/>
            <a:ext cx="4206240" cy="4343400"/>
          </a:xfrm>
          <a:prstGeom prst="roundRect">
            <a:avLst>
              <a:gd fmla="val 260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4"/>
          <p:cNvSpPr/>
          <p:nvPr/>
        </p:nvSpPr>
        <p:spPr>
          <a:xfrm>
            <a:off x="914400" y="187452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 virtual cluster inside your cluster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4"/>
          <p:cNvSpPr/>
          <p:nvPr/>
        </p:nvSpPr>
        <p:spPr>
          <a:xfrm>
            <a:off x="914400" y="2606040"/>
            <a:ext cx="3657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scope for names — two teams can both have a “web” Service without clashing.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place to attach resource quotas and access rules (RBAC).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kube-system holds the cluster's own components.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80"/>
              <a:buFont typeface="Calibri"/>
              <a:buChar char="•"/>
            </a:pPr>
            <a:r>
              <a:rPr b="0" i="0" lang="en-US" sz="128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Not a hard security wall by default — network policy still needed to isolate traffic.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4"/>
          <p:cNvSpPr/>
          <p:nvPr/>
        </p:nvSpPr>
        <p:spPr>
          <a:xfrm>
            <a:off x="5074920" y="1600200"/>
            <a:ext cx="6565392" cy="4343400"/>
          </a:xfrm>
          <a:prstGeom prst="roundRect">
            <a:avLst>
              <a:gd fmla="val 2526" name="adj"/>
            </a:avLst>
          </a:prstGeom>
          <a:solidFill>
            <a:srgbClr val="FAFC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4"/>
          <p:cNvSpPr/>
          <p:nvPr/>
        </p:nvSpPr>
        <p:spPr>
          <a:xfrm>
            <a:off x="5074920" y="1828800"/>
            <a:ext cx="6565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ONE PHYSICAL CLUSTER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4"/>
          <p:cNvSpPr/>
          <p:nvPr/>
        </p:nvSpPr>
        <p:spPr>
          <a:xfrm>
            <a:off x="5532120" y="2286000"/>
            <a:ext cx="2665476" cy="1508760"/>
          </a:xfrm>
          <a:prstGeom prst="roundRect">
            <a:avLst>
              <a:gd fmla="val 5455" name="adj"/>
            </a:avLst>
          </a:prstGeom>
          <a:solidFill>
            <a:srgbClr val="D9F5EF"/>
          </a:solidFill>
          <a:ln cap="flat" cmpd="sng" w="190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4"/>
          <p:cNvSpPr/>
          <p:nvPr/>
        </p:nvSpPr>
        <p:spPr>
          <a:xfrm>
            <a:off x="5715000" y="2414016"/>
            <a:ext cx="22997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namespace: dev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4"/>
          <p:cNvSpPr/>
          <p:nvPr/>
        </p:nvSpPr>
        <p:spPr>
          <a:xfrm>
            <a:off x="5760720" y="2834640"/>
            <a:ext cx="626364" cy="6858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4"/>
          <p:cNvSpPr/>
          <p:nvPr/>
        </p:nvSpPr>
        <p:spPr>
          <a:xfrm>
            <a:off x="6496812" y="2834640"/>
            <a:ext cx="626364" cy="6858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4"/>
          <p:cNvSpPr/>
          <p:nvPr/>
        </p:nvSpPr>
        <p:spPr>
          <a:xfrm>
            <a:off x="7232904" y="2834640"/>
            <a:ext cx="626364" cy="6858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8" name="Google Shape;7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0" y="29443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24"/>
          <p:cNvSpPr/>
          <p:nvPr/>
        </p:nvSpPr>
        <p:spPr>
          <a:xfrm>
            <a:off x="8517636" y="2286000"/>
            <a:ext cx="2665476" cy="1508760"/>
          </a:xfrm>
          <a:prstGeom prst="roundRect">
            <a:avLst>
              <a:gd fmla="val 5455" name="adj"/>
            </a:avLst>
          </a:prstGeom>
          <a:solidFill>
            <a:srgbClr val="E4EBFB"/>
          </a:solidFill>
          <a:ln cap="flat" cmpd="sng" w="19050">
            <a:solidFill>
              <a:srgbClr val="326CE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4"/>
          <p:cNvSpPr/>
          <p:nvPr/>
        </p:nvSpPr>
        <p:spPr>
          <a:xfrm>
            <a:off x="8700516" y="2414016"/>
            <a:ext cx="22997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26CE5"/>
                </a:solidFill>
                <a:latin typeface="Courier New"/>
                <a:ea typeface="Courier New"/>
                <a:cs typeface="Courier New"/>
                <a:sym typeface="Courier New"/>
              </a:rPr>
              <a:t>namespace: staging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4"/>
          <p:cNvSpPr/>
          <p:nvPr/>
        </p:nvSpPr>
        <p:spPr>
          <a:xfrm>
            <a:off x="8746236" y="2834640"/>
            <a:ext cx="626364" cy="6858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27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4"/>
          <p:cNvSpPr/>
          <p:nvPr/>
        </p:nvSpPr>
        <p:spPr>
          <a:xfrm>
            <a:off x="9482328" y="2834640"/>
            <a:ext cx="626364" cy="6858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27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4"/>
          <p:cNvSpPr/>
          <p:nvPr/>
        </p:nvSpPr>
        <p:spPr>
          <a:xfrm>
            <a:off x="10218420" y="2834640"/>
            <a:ext cx="626364" cy="6858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27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4" name="Google Shape;7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7676" y="29443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4"/>
          <p:cNvSpPr/>
          <p:nvPr/>
        </p:nvSpPr>
        <p:spPr>
          <a:xfrm>
            <a:off x="5532120" y="4023360"/>
            <a:ext cx="2665476" cy="1508760"/>
          </a:xfrm>
          <a:prstGeom prst="roundRect">
            <a:avLst>
              <a:gd fmla="val 5455" name="adj"/>
            </a:avLst>
          </a:prstGeom>
          <a:solidFill>
            <a:srgbClr val="E4EBFB"/>
          </a:solidFill>
          <a:ln cap="flat" cmpd="sng" w="19050">
            <a:solidFill>
              <a:srgbClr val="2457C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4"/>
          <p:cNvSpPr/>
          <p:nvPr/>
        </p:nvSpPr>
        <p:spPr>
          <a:xfrm>
            <a:off x="5715000" y="4151376"/>
            <a:ext cx="22997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namespace: prod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4"/>
          <p:cNvSpPr/>
          <p:nvPr/>
        </p:nvSpPr>
        <p:spPr>
          <a:xfrm>
            <a:off x="5760720" y="4572000"/>
            <a:ext cx="626364" cy="6858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2700">
            <a:solidFill>
              <a:srgbClr val="2457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4"/>
          <p:cNvSpPr/>
          <p:nvPr/>
        </p:nvSpPr>
        <p:spPr>
          <a:xfrm>
            <a:off x="6496812" y="4572000"/>
            <a:ext cx="626364" cy="6858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2700">
            <a:solidFill>
              <a:srgbClr val="2457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4"/>
          <p:cNvSpPr/>
          <p:nvPr/>
        </p:nvSpPr>
        <p:spPr>
          <a:xfrm>
            <a:off x="7232904" y="4572000"/>
            <a:ext cx="626364" cy="6858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2700">
            <a:solidFill>
              <a:srgbClr val="2457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0" name="Google Shape;7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0" y="46817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24"/>
          <p:cNvSpPr/>
          <p:nvPr/>
        </p:nvSpPr>
        <p:spPr>
          <a:xfrm>
            <a:off x="8517636" y="4023360"/>
            <a:ext cx="2665476" cy="1508760"/>
          </a:xfrm>
          <a:prstGeom prst="roundRect">
            <a:avLst>
              <a:gd fmla="val 5455" name="adj"/>
            </a:avLst>
          </a:prstGeom>
          <a:solidFill>
            <a:srgbClr val="FEEBDD"/>
          </a:solidFill>
          <a:ln cap="flat" cmpd="sng" w="19050">
            <a:solidFill>
              <a:srgbClr val="F9731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4"/>
          <p:cNvSpPr/>
          <p:nvPr/>
        </p:nvSpPr>
        <p:spPr>
          <a:xfrm>
            <a:off x="8700516" y="4151376"/>
            <a:ext cx="22997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ourier New"/>
                <a:ea typeface="Courier New"/>
                <a:cs typeface="Courier New"/>
                <a:sym typeface="Courier New"/>
              </a:rPr>
              <a:t>namespace: kube-system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4"/>
          <p:cNvSpPr/>
          <p:nvPr/>
        </p:nvSpPr>
        <p:spPr>
          <a:xfrm>
            <a:off x="8746236" y="4572000"/>
            <a:ext cx="626364" cy="6858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4"/>
          <p:cNvSpPr/>
          <p:nvPr/>
        </p:nvSpPr>
        <p:spPr>
          <a:xfrm>
            <a:off x="9482328" y="4572000"/>
            <a:ext cx="626364" cy="6858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4"/>
          <p:cNvSpPr/>
          <p:nvPr/>
        </p:nvSpPr>
        <p:spPr>
          <a:xfrm>
            <a:off x="10218420" y="4572000"/>
            <a:ext cx="626364" cy="6858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6" name="Google Shape;7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7676" y="46817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2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5"/>
          <p:cNvSpPr/>
          <p:nvPr/>
        </p:nvSpPr>
        <p:spPr>
          <a:xfrm>
            <a:off x="7955280" y="960120"/>
            <a:ext cx="384048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5000"/>
              <a:buFont typeface="Bookman Old Style"/>
              <a:buNone/>
            </a:pPr>
            <a:r>
              <a:rPr b="1" i="0" lang="en-US" sz="25000" u="none" cap="none" strike="noStrike">
                <a:solidFill>
                  <a:srgbClr val="0D948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05</a:t>
            </a:r>
            <a:endParaRPr b="0" i="0" sz="2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5"/>
          <p:cNvSpPr/>
          <p:nvPr/>
        </p:nvSpPr>
        <p:spPr>
          <a:xfrm>
            <a:off x="548640" y="2395728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5"/>
          <p:cNvSpPr/>
          <p:nvPr/>
        </p:nvSpPr>
        <p:spPr>
          <a:xfrm>
            <a:off x="841248" y="22860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SECTION 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5"/>
          <p:cNvSpPr/>
          <p:nvPr/>
        </p:nvSpPr>
        <p:spPr>
          <a:xfrm>
            <a:off x="548640" y="269748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Bookman Old Style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Networking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5"/>
          <p:cNvSpPr/>
          <p:nvPr/>
        </p:nvSpPr>
        <p:spPr>
          <a:xfrm>
            <a:off x="548640" y="3703320"/>
            <a:ext cx="6766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How Pods find and reach each other — and how traffic from the outside world gets in.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5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5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6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NETWORKING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6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Kubernetes network model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6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6"/>
          <p:cNvSpPr/>
          <p:nvPr/>
        </p:nvSpPr>
        <p:spPr>
          <a:xfrm>
            <a:off x="548640" y="1737360"/>
            <a:ext cx="3515258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6"/>
          <p:cNvSpPr/>
          <p:nvPr/>
        </p:nvSpPr>
        <p:spPr>
          <a:xfrm>
            <a:off x="932688" y="2121408"/>
            <a:ext cx="566928" cy="566928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0" name="Google Shape;7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51" y="225747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26"/>
          <p:cNvSpPr/>
          <p:nvPr/>
        </p:nvSpPr>
        <p:spPr>
          <a:xfrm>
            <a:off x="932688" y="2688336"/>
            <a:ext cx="274716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Every Pod gets an IP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6"/>
          <p:cNvSpPr/>
          <p:nvPr/>
        </p:nvSpPr>
        <p:spPr>
          <a:xfrm>
            <a:off x="932688" y="3017520"/>
            <a:ext cx="2747162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Not a port on a shared host — its own routable address, like a tiny VM.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6"/>
          <p:cNvSpPr/>
          <p:nvPr/>
        </p:nvSpPr>
        <p:spPr>
          <a:xfrm>
            <a:off x="4338218" y="1737360"/>
            <a:ext cx="3515258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6"/>
          <p:cNvSpPr/>
          <p:nvPr/>
        </p:nvSpPr>
        <p:spPr>
          <a:xfrm>
            <a:off x="4722266" y="2121408"/>
            <a:ext cx="566928" cy="566928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5" name="Google Shape;77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8329" y="225747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26"/>
          <p:cNvSpPr/>
          <p:nvPr/>
        </p:nvSpPr>
        <p:spPr>
          <a:xfrm>
            <a:off x="4722266" y="2688336"/>
            <a:ext cx="274716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Flat, no NAT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6"/>
          <p:cNvSpPr/>
          <p:nvPr/>
        </p:nvSpPr>
        <p:spPr>
          <a:xfrm>
            <a:off x="4722266" y="3017520"/>
            <a:ext cx="2747162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Any Pod can reach any other Pod directly by IP, on any node in the cluster.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6"/>
          <p:cNvSpPr/>
          <p:nvPr/>
        </p:nvSpPr>
        <p:spPr>
          <a:xfrm>
            <a:off x="8127797" y="1737360"/>
            <a:ext cx="3515258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6"/>
          <p:cNvSpPr/>
          <p:nvPr/>
        </p:nvSpPr>
        <p:spPr>
          <a:xfrm>
            <a:off x="8511845" y="2121408"/>
            <a:ext cx="566928" cy="566928"/>
          </a:xfrm>
          <a:prstGeom prst="ellipse">
            <a:avLst/>
          </a:prstGeom>
          <a:solidFill>
            <a:srgbClr val="2457C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0" name="Google Shape;78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47908" y="225747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26"/>
          <p:cNvSpPr/>
          <p:nvPr/>
        </p:nvSpPr>
        <p:spPr>
          <a:xfrm>
            <a:off x="8511845" y="2688336"/>
            <a:ext cx="274716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 plugin does it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6"/>
          <p:cNvSpPr/>
          <p:nvPr/>
        </p:nvSpPr>
        <p:spPr>
          <a:xfrm>
            <a:off x="8511845" y="3017520"/>
            <a:ext cx="2747162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rules are implemented by a CNI plugin — Calico, Cilium, Flannel — not by K8s core.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6"/>
          <p:cNvSpPr/>
          <p:nvPr/>
        </p:nvSpPr>
        <p:spPr>
          <a:xfrm>
            <a:off x="548640" y="4297680"/>
            <a:ext cx="11091672" cy="1463040"/>
          </a:xfrm>
          <a:prstGeom prst="roundRect">
            <a:avLst>
              <a:gd fmla="val 7500" name="adj"/>
            </a:avLst>
          </a:prstGeom>
          <a:solidFill>
            <a:srgbClr val="FAFC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6"/>
          <p:cNvSpPr/>
          <p:nvPr/>
        </p:nvSpPr>
        <p:spPr>
          <a:xfrm>
            <a:off x="914400" y="443484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Because the network is flat, addressing is simple — but Pod IPs still churn constantly: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6"/>
          <p:cNvSpPr/>
          <p:nvPr/>
        </p:nvSpPr>
        <p:spPr>
          <a:xfrm>
            <a:off x="1005840" y="4846320"/>
            <a:ext cx="2377440" cy="777240"/>
          </a:xfrm>
          <a:prstGeom prst="roundRect">
            <a:avLst>
              <a:gd fmla="val 8235" name="adj"/>
            </a:avLst>
          </a:prstGeom>
          <a:solidFill>
            <a:srgbClr val="D9F5E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6" name="Google Shape;78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7008" y="50840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26"/>
          <p:cNvSpPr/>
          <p:nvPr/>
        </p:nvSpPr>
        <p:spPr>
          <a:xfrm>
            <a:off x="1600200" y="49377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6"/>
          <p:cNvSpPr/>
          <p:nvPr/>
        </p:nvSpPr>
        <p:spPr>
          <a:xfrm>
            <a:off x="1600200" y="52120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10.1.2.5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6"/>
          <p:cNvSpPr/>
          <p:nvPr/>
        </p:nvSpPr>
        <p:spPr>
          <a:xfrm>
            <a:off x="3657600" y="4846320"/>
            <a:ext cx="2377440" cy="777240"/>
          </a:xfrm>
          <a:prstGeom prst="roundRect">
            <a:avLst>
              <a:gd fmla="val 8235" name="adj"/>
            </a:avLst>
          </a:prstGeom>
          <a:solidFill>
            <a:srgbClr val="D9F5E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0" name="Google Shape;79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58768" y="50840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26"/>
          <p:cNvSpPr/>
          <p:nvPr/>
        </p:nvSpPr>
        <p:spPr>
          <a:xfrm>
            <a:off x="4251960" y="49377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6"/>
          <p:cNvSpPr/>
          <p:nvPr/>
        </p:nvSpPr>
        <p:spPr>
          <a:xfrm>
            <a:off x="4251960" y="52120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10.1.6.9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6"/>
          <p:cNvSpPr/>
          <p:nvPr/>
        </p:nvSpPr>
        <p:spPr>
          <a:xfrm>
            <a:off x="6309360" y="4846320"/>
            <a:ext cx="2377440" cy="777240"/>
          </a:xfrm>
          <a:prstGeom prst="roundRect">
            <a:avLst>
              <a:gd fmla="val 8235" name="adj"/>
            </a:avLst>
          </a:prstGeom>
          <a:solidFill>
            <a:srgbClr val="D9F5E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4" name="Google Shape;79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0528" y="50840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26"/>
          <p:cNvSpPr/>
          <p:nvPr/>
        </p:nvSpPr>
        <p:spPr>
          <a:xfrm>
            <a:off x="6903720" y="49377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6"/>
          <p:cNvSpPr/>
          <p:nvPr/>
        </p:nvSpPr>
        <p:spPr>
          <a:xfrm>
            <a:off x="6903720" y="52120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10.1.4.2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6"/>
          <p:cNvSpPr/>
          <p:nvPr/>
        </p:nvSpPr>
        <p:spPr>
          <a:xfrm>
            <a:off x="8961120" y="4846320"/>
            <a:ext cx="2377440" cy="777240"/>
          </a:xfrm>
          <a:prstGeom prst="roundRect">
            <a:avLst>
              <a:gd fmla="val 8235" name="adj"/>
            </a:avLst>
          </a:prstGeom>
          <a:solidFill>
            <a:srgbClr val="D9F5E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8" name="Google Shape;79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62288" y="50840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26"/>
          <p:cNvSpPr/>
          <p:nvPr/>
        </p:nvSpPr>
        <p:spPr>
          <a:xfrm>
            <a:off x="9555480" y="49377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6"/>
          <p:cNvSpPr/>
          <p:nvPr/>
        </p:nvSpPr>
        <p:spPr>
          <a:xfrm>
            <a:off x="9555480" y="52120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10.1.7.8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6"/>
          <p:cNvSpPr/>
          <p:nvPr/>
        </p:nvSpPr>
        <p:spPr>
          <a:xfrm>
            <a:off x="914400" y="484632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→ which is exactly why you need a Service.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6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7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NETWORKING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7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Service — a stable address for moving Pods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7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7"/>
          <p:cNvSpPr/>
          <p:nvPr/>
        </p:nvSpPr>
        <p:spPr>
          <a:xfrm>
            <a:off x="548640" y="1600200"/>
            <a:ext cx="4114800" cy="43434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7"/>
          <p:cNvSpPr/>
          <p:nvPr/>
        </p:nvSpPr>
        <p:spPr>
          <a:xfrm>
            <a:off x="914400" y="187452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Pods come and go. Their clients shouldn't care.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7"/>
          <p:cNvSpPr/>
          <p:nvPr/>
        </p:nvSpPr>
        <p:spPr>
          <a:xfrm>
            <a:off x="914400" y="2697480"/>
            <a:ext cx="34747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Service is one stable virtual IP and DNS name.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It selects Pods by label and load-balances across them.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Pods can die and be replaced — the Service's address never changes.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Clients connect to the name; K8s handles the rest.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7"/>
          <p:cNvSpPr/>
          <p:nvPr/>
        </p:nvSpPr>
        <p:spPr>
          <a:xfrm>
            <a:off x="4937760" y="1645920"/>
            <a:ext cx="6702552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7"/>
          <p:cNvSpPr/>
          <p:nvPr/>
        </p:nvSpPr>
        <p:spPr>
          <a:xfrm>
            <a:off x="5157216" y="2002536"/>
            <a:ext cx="658368" cy="658368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6" name="Google Shape;81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5224" y="2160544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27"/>
          <p:cNvSpPr/>
          <p:nvPr/>
        </p:nvSpPr>
        <p:spPr>
          <a:xfrm>
            <a:off x="6035040" y="1792224"/>
            <a:ext cx="533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ClusterIP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7"/>
          <p:cNvSpPr/>
          <p:nvPr/>
        </p:nvSpPr>
        <p:spPr>
          <a:xfrm>
            <a:off x="6035040" y="2176272"/>
            <a:ext cx="53309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Reachable only inside the cluster. The default — for service-to-service traffic.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7"/>
          <p:cNvSpPr/>
          <p:nvPr/>
        </p:nvSpPr>
        <p:spPr>
          <a:xfrm>
            <a:off x="4937760" y="3127248"/>
            <a:ext cx="6702552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7"/>
          <p:cNvSpPr/>
          <p:nvPr/>
        </p:nvSpPr>
        <p:spPr>
          <a:xfrm>
            <a:off x="5157216" y="3483864"/>
            <a:ext cx="658368" cy="658368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1" name="Google Shape;82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5224" y="3641872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27"/>
          <p:cNvSpPr/>
          <p:nvPr/>
        </p:nvSpPr>
        <p:spPr>
          <a:xfrm>
            <a:off x="6035040" y="3273552"/>
            <a:ext cx="533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NodePort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7"/>
          <p:cNvSpPr/>
          <p:nvPr/>
        </p:nvSpPr>
        <p:spPr>
          <a:xfrm>
            <a:off x="6035040" y="3657600"/>
            <a:ext cx="53309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Opens the same port on every node's IP. A simple way in from outside, mostly for testing.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7"/>
          <p:cNvSpPr/>
          <p:nvPr/>
        </p:nvSpPr>
        <p:spPr>
          <a:xfrm>
            <a:off x="4937760" y="4608576"/>
            <a:ext cx="6702552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7"/>
          <p:cNvSpPr/>
          <p:nvPr/>
        </p:nvSpPr>
        <p:spPr>
          <a:xfrm>
            <a:off x="5157216" y="4965192"/>
            <a:ext cx="658368" cy="658368"/>
          </a:xfrm>
          <a:prstGeom prst="ellipse">
            <a:avLst/>
          </a:prstGeom>
          <a:solidFill>
            <a:srgbClr val="2457C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6" name="Google Shape;82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15224" y="5123200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27"/>
          <p:cNvSpPr/>
          <p:nvPr/>
        </p:nvSpPr>
        <p:spPr>
          <a:xfrm>
            <a:off x="6035040" y="4754880"/>
            <a:ext cx="533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LoadBalancer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7"/>
          <p:cNvSpPr/>
          <p:nvPr/>
        </p:nvSpPr>
        <p:spPr>
          <a:xfrm>
            <a:off x="6035040" y="5138928"/>
            <a:ext cx="53309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Asks the cloud for an external load balancer with a public IP. The production front door.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7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8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NETWORKING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8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Ingress — smart HTTP routing at the edge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8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8"/>
          <p:cNvSpPr/>
          <p:nvPr/>
        </p:nvSpPr>
        <p:spPr>
          <a:xfrm>
            <a:off x="548640" y="1600200"/>
            <a:ext cx="4114800" cy="43434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8"/>
          <p:cNvSpPr/>
          <p:nvPr/>
        </p:nvSpPr>
        <p:spPr>
          <a:xfrm>
            <a:off x="914400" y="187452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One entry point, many backends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8"/>
          <p:cNvSpPr/>
          <p:nvPr/>
        </p:nvSpPr>
        <p:spPr>
          <a:xfrm>
            <a:off x="914400" y="2331720"/>
            <a:ext cx="3474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LoadBalancer per Service gets expensive fast.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Ingress is one HTTP(S) entry that routes by host and path to different Services.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It terminates TLS in one place.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It only defines rules — an ingress controller (nginx, Traefik) actually enforces them.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8"/>
          <p:cNvSpPr/>
          <p:nvPr/>
        </p:nvSpPr>
        <p:spPr>
          <a:xfrm>
            <a:off x="4937760" y="1600200"/>
            <a:ext cx="6702552" cy="4343400"/>
          </a:xfrm>
          <a:prstGeom prst="roundRect">
            <a:avLst>
              <a:gd fmla="val 2526" name="adj"/>
            </a:avLst>
          </a:prstGeom>
          <a:solidFill>
            <a:srgbClr val="FAFC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8"/>
          <p:cNvSpPr/>
          <p:nvPr/>
        </p:nvSpPr>
        <p:spPr>
          <a:xfrm>
            <a:off x="7968996" y="1828800"/>
            <a:ext cx="640080" cy="640080"/>
          </a:xfrm>
          <a:prstGeom prst="ellipse">
            <a:avLst/>
          </a:prstGeom>
          <a:solidFill>
            <a:srgbClr val="2457C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3" name="Google Shape;8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2615" y="198241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28"/>
          <p:cNvSpPr/>
          <p:nvPr/>
        </p:nvSpPr>
        <p:spPr>
          <a:xfrm>
            <a:off x="4937760" y="2514600"/>
            <a:ext cx="6702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8"/>
          <p:cNvSpPr/>
          <p:nvPr/>
        </p:nvSpPr>
        <p:spPr>
          <a:xfrm>
            <a:off x="6309360" y="2926080"/>
            <a:ext cx="3959352" cy="777240"/>
          </a:xfrm>
          <a:prstGeom prst="roundRect">
            <a:avLst>
              <a:gd fmla="val 10588" name="adj"/>
            </a:avLst>
          </a:prstGeom>
          <a:solidFill>
            <a:srgbClr val="D9F5EF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6" name="Google Shape;84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60" y="312724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28"/>
          <p:cNvSpPr/>
          <p:nvPr/>
        </p:nvSpPr>
        <p:spPr>
          <a:xfrm>
            <a:off x="7040880" y="2926080"/>
            <a:ext cx="33192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50"/>
              <a:buFont typeface="Bookman Old Style"/>
              <a:buNone/>
            </a:pPr>
            <a:r>
              <a:rPr b="1" i="0" lang="en-US" sz="1350" u="none" cap="none" strike="noStrike">
                <a:solidFill>
                  <a:srgbClr val="0D948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Ingress  +  controller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8" name="Google Shape;848;p28"/>
          <p:cNvCxnSpPr/>
          <p:nvPr/>
        </p:nvCxnSpPr>
        <p:spPr>
          <a:xfrm>
            <a:off x="8289036" y="276148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9" name="Google Shape;849;p28"/>
          <p:cNvCxnSpPr/>
          <p:nvPr/>
        </p:nvCxnSpPr>
        <p:spPr>
          <a:xfrm flipH="1">
            <a:off x="6268212" y="3703320"/>
            <a:ext cx="2020824" cy="73152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850" name="Google Shape;850;p28"/>
          <p:cNvSpPr/>
          <p:nvPr/>
        </p:nvSpPr>
        <p:spPr>
          <a:xfrm>
            <a:off x="5394960" y="4434840"/>
            <a:ext cx="1746504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6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8"/>
          <p:cNvSpPr/>
          <p:nvPr/>
        </p:nvSpPr>
        <p:spPr>
          <a:xfrm>
            <a:off x="5394960" y="4562856"/>
            <a:ext cx="1746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2" name="Google Shape;85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1908" y="48371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28"/>
          <p:cNvSpPr/>
          <p:nvPr/>
        </p:nvSpPr>
        <p:spPr>
          <a:xfrm>
            <a:off x="5394960" y="5166360"/>
            <a:ext cx="1746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web-svc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4" name="Google Shape;854;p28"/>
          <p:cNvCxnSpPr/>
          <p:nvPr/>
        </p:nvCxnSpPr>
        <p:spPr>
          <a:xfrm>
            <a:off x="8289036" y="3703320"/>
            <a:ext cx="0" cy="731520"/>
          </a:xfrm>
          <a:prstGeom prst="straightConnector1">
            <a:avLst/>
          </a:prstGeom>
          <a:noFill/>
          <a:ln cap="flat" cmpd="sng" w="19050">
            <a:solidFill>
              <a:srgbClr val="326CE5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855" name="Google Shape;855;p28"/>
          <p:cNvSpPr/>
          <p:nvPr/>
        </p:nvSpPr>
        <p:spPr>
          <a:xfrm>
            <a:off x="7415784" y="4434840"/>
            <a:ext cx="1746504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65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8"/>
          <p:cNvSpPr/>
          <p:nvPr/>
        </p:nvSpPr>
        <p:spPr>
          <a:xfrm>
            <a:off x="7415784" y="4562856"/>
            <a:ext cx="1746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26CE5"/>
                </a:solidFill>
                <a:latin typeface="Courier New"/>
                <a:ea typeface="Courier New"/>
                <a:cs typeface="Courier New"/>
                <a:sym typeface="Courier New"/>
              </a:rPr>
              <a:t>/api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7" name="Google Shape;85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2732" y="48371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28"/>
          <p:cNvSpPr/>
          <p:nvPr/>
        </p:nvSpPr>
        <p:spPr>
          <a:xfrm>
            <a:off x="7415784" y="5166360"/>
            <a:ext cx="1746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api-svc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9" name="Google Shape;859;p28"/>
          <p:cNvCxnSpPr/>
          <p:nvPr/>
        </p:nvCxnSpPr>
        <p:spPr>
          <a:xfrm>
            <a:off x="8289036" y="3703320"/>
            <a:ext cx="2020824" cy="731520"/>
          </a:xfrm>
          <a:prstGeom prst="straightConnector1">
            <a:avLst/>
          </a:prstGeom>
          <a:noFill/>
          <a:ln cap="flat" cmpd="sng" w="19050">
            <a:solidFill>
              <a:srgbClr val="2457C5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860" name="Google Shape;860;p28"/>
          <p:cNvSpPr/>
          <p:nvPr/>
        </p:nvSpPr>
        <p:spPr>
          <a:xfrm>
            <a:off x="9436608" y="4434840"/>
            <a:ext cx="1746504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6500">
            <a:solidFill>
              <a:srgbClr val="2457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8"/>
          <p:cNvSpPr/>
          <p:nvPr/>
        </p:nvSpPr>
        <p:spPr>
          <a:xfrm>
            <a:off x="9436608" y="4562856"/>
            <a:ext cx="1746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/shop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2" name="Google Shape;86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3556" y="48371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28"/>
          <p:cNvSpPr/>
          <p:nvPr/>
        </p:nvSpPr>
        <p:spPr>
          <a:xfrm>
            <a:off x="9436608" y="5166360"/>
            <a:ext cx="1746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shop-svc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29"/>
          <p:cNvSpPr/>
          <p:nvPr/>
        </p:nvSpPr>
        <p:spPr>
          <a:xfrm>
            <a:off x="7955280" y="960120"/>
            <a:ext cx="384048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5000"/>
              <a:buFont typeface="Bookman Old Style"/>
              <a:buNone/>
            </a:pPr>
            <a:r>
              <a:rPr b="1" i="0" lang="en-US" sz="25000" u="none" cap="none" strike="noStrike">
                <a:solidFill>
                  <a:srgbClr val="F9731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06</a:t>
            </a:r>
            <a:endParaRPr b="0" i="0" sz="2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9"/>
          <p:cNvSpPr/>
          <p:nvPr/>
        </p:nvSpPr>
        <p:spPr>
          <a:xfrm>
            <a:off x="548640" y="2395728"/>
            <a:ext cx="146304" cy="146304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9"/>
          <p:cNvSpPr/>
          <p:nvPr/>
        </p:nvSpPr>
        <p:spPr>
          <a:xfrm>
            <a:off x="841248" y="22860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SECTION 06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9"/>
          <p:cNvSpPr/>
          <p:nvPr/>
        </p:nvSpPr>
        <p:spPr>
          <a:xfrm>
            <a:off x="548640" y="269748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Bookman Old Style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Storage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9"/>
          <p:cNvSpPr/>
          <p:nvPr/>
        </p:nvSpPr>
        <p:spPr>
          <a:xfrm>
            <a:off x="548640" y="3703320"/>
            <a:ext cx="6766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Containers are ephemeral. Storage abstractions let data outlive the Pod that wrote it.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9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9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30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0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Volumes, PVs, claims &amp; storage classes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0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0"/>
          <p:cNvSpPr/>
          <p:nvPr/>
        </p:nvSpPr>
        <p:spPr>
          <a:xfrm>
            <a:off x="548640" y="1600200"/>
            <a:ext cx="11091672" cy="841248"/>
          </a:xfrm>
          <a:prstGeom prst="roundRect">
            <a:avLst>
              <a:gd fmla="val 13043" name="adj"/>
            </a:avLst>
          </a:prstGeom>
          <a:solidFill>
            <a:srgbClr val="FEEBDD"/>
          </a:solidFill>
          <a:ln cap="flat" cmpd="sng" w="12700">
            <a:solidFill>
              <a:srgbClr val="F6C9A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0"/>
          <p:cNvSpPr/>
          <p:nvPr/>
        </p:nvSpPr>
        <p:spPr>
          <a:xfrm>
            <a:off x="914400" y="1600200"/>
            <a:ext cx="103327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The core problem: 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container's filesystem dies with it. Kubernetes separates “what a Pod asks for” from “what storage actually exists,” so data can persist and Pods stay portable.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0"/>
          <p:cNvSpPr/>
          <p:nvPr/>
        </p:nvSpPr>
        <p:spPr>
          <a:xfrm>
            <a:off x="548640" y="2697480"/>
            <a:ext cx="2581580" cy="3063240"/>
          </a:xfrm>
          <a:prstGeom prst="roundRect">
            <a:avLst>
              <a:gd fmla="val 425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0"/>
          <p:cNvSpPr/>
          <p:nvPr/>
        </p:nvSpPr>
        <p:spPr>
          <a:xfrm>
            <a:off x="1482814" y="2907792"/>
            <a:ext cx="713232" cy="713232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9" name="Google Shape;88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990" y="3078968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30"/>
          <p:cNvSpPr/>
          <p:nvPr/>
        </p:nvSpPr>
        <p:spPr>
          <a:xfrm>
            <a:off x="685800" y="3739896"/>
            <a:ext cx="23072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Volume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0"/>
          <p:cNvSpPr/>
          <p:nvPr/>
        </p:nvSpPr>
        <p:spPr>
          <a:xfrm>
            <a:off x="768096" y="4270248"/>
            <a:ext cx="214266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directory available to the Pod's containers. An emptyDir dies with the Pod; a claim-backed volume persists.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2" name="Google Shape;89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1932" y="31546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30"/>
          <p:cNvSpPr/>
          <p:nvPr/>
        </p:nvSpPr>
        <p:spPr>
          <a:xfrm>
            <a:off x="3386252" y="2697480"/>
            <a:ext cx="2581580" cy="3063240"/>
          </a:xfrm>
          <a:prstGeom prst="roundRect">
            <a:avLst>
              <a:gd fmla="val 425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0"/>
          <p:cNvSpPr/>
          <p:nvPr/>
        </p:nvSpPr>
        <p:spPr>
          <a:xfrm>
            <a:off x="4320426" y="2907792"/>
            <a:ext cx="713232" cy="713232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5" name="Google Shape;89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1601" y="3078968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30"/>
          <p:cNvSpPr/>
          <p:nvPr/>
        </p:nvSpPr>
        <p:spPr>
          <a:xfrm>
            <a:off x="3523412" y="3739896"/>
            <a:ext cx="23072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PersistentVolumeClaim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0"/>
          <p:cNvSpPr/>
          <p:nvPr/>
        </p:nvSpPr>
        <p:spPr>
          <a:xfrm>
            <a:off x="3605708" y="4270248"/>
            <a:ext cx="214266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Pod's request for storage: “I need 10Gi, read-write.” It doesn't care where it comes from.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8" name="Google Shape;89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9544" y="31546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30"/>
          <p:cNvSpPr/>
          <p:nvPr/>
        </p:nvSpPr>
        <p:spPr>
          <a:xfrm>
            <a:off x="6223864" y="2697480"/>
            <a:ext cx="2581580" cy="3063240"/>
          </a:xfrm>
          <a:prstGeom prst="roundRect">
            <a:avLst>
              <a:gd fmla="val 425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0"/>
          <p:cNvSpPr/>
          <p:nvPr/>
        </p:nvSpPr>
        <p:spPr>
          <a:xfrm>
            <a:off x="7158038" y="2907792"/>
            <a:ext cx="713232" cy="713232"/>
          </a:xfrm>
          <a:prstGeom prst="ellipse">
            <a:avLst/>
          </a:prstGeom>
          <a:solidFill>
            <a:srgbClr val="2457C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1" name="Google Shape;90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29213" y="3078968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30"/>
          <p:cNvSpPr/>
          <p:nvPr/>
        </p:nvSpPr>
        <p:spPr>
          <a:xfrm>
            <a:off x="6361024" y="3739896"/>
            <a:ext cx="23072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PersistentVolume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0"/>
          <p:cNvSpPr/>
          <p:nvPr/>
        </p:nvSpPr>
        <p:spPr>
          <a:xfrm>
            <a:off x="6443320" y="4270248"/>
            <a:ext cx="214266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 actual chunk of storage in the cluster — a cloud disk, NFS share, etc. Bound to a claim.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4" name="Google Shape;90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7155" y="31546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30"/>
          <p:cNvSpPr/>
          <p:nvPr/>
        </p:nvSpPr>
        <p:spPr>
          <a:xfrm>
            <a:off x="9061475" y="2697480"/>
            <a:ext cx="2581580" cy="3063240"/>
          </a:xfrm>
          <a:prstGeom prst="roundRect">
            <a:avLst>
              <a:gd fmla="val 425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0"/>
          <p:cNvSpPr/>
          <p:nvPr/>
        </p:nvSpPr>
        <p:spPr>
          <a:xfrm>
            <a:off x="9995649" y="2907792"/>
            <a:ext cx="713232" cy="713232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7" name="Google Shape;907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66825" y="3078968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30"/>
          <p:cNvSpPr/>
          <p:nvPr/>
        </p:nvSpPr>
        <p:spPr>
          <a:xfrm>
            <a:off x="9198635" y="3739896"/>
            <a:ext cx="23072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Bookman Old Style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StorageClass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0"/>
          <p:cNvSpPr/>
          <p:nvPr/>
        </p:nvSpPr>
        <p:spPr>
          <a:xfrm>
            <a:off x="9280931" y="4270248"/>
            <a:ext cx="214266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template that creates PVs automatically when a claim appears — no manual disk wrangling.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0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31"/>
          <p:cNvSpPr/>
          <p:nvPr/>
        </p:nvSpPr>
        <p:spPr>
          <a:xfrm>
            <a:off x="7955280" y="960120"/>
            <a:ext cx="384048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25000"/>
              <a:buFont typeface="Bookman Old Style"/>
              <a:buNone/>
            </a:pPr>
            <a:r>
              <a:rPr b="1" i="0" lang="en-US" sz="25000" u="none" cap="none" strike="noStrike">
                <a:solidFill>
                  <a:srgbClr val="326CE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07</a:t>
            </a:r>
            <a:endParaRPr b="0" i="0" sz="2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1"/>
          <p:cNvSpPr/>
          <p:nvPr/>
        </p:nvSpPr>
        <p:spPr>
          <a:xfrm>
            <a:off x="548640" y="2395728"/>
            <a:ext cx="146304" cy="146304"/>
          </a:xfrm>
          <a:prstGeom prst="ellipse">
            <a:avLst/>
          </a:prstGeom>
          <a:solidFill>
            <a:srgbClr val="326C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1"/>
          <p:cNvSpPr/>
          <p:nvPr/>
        </p:nvSpPr>
        <p:spPr>
          <a:xfrm>
            <a:off x="841248" y="22860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SECTION 07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1"/>
          <p:cNvSpPr/>
          <p:nvPr/>
        </p:nvSpPr>
        <p:spPr>
          <a:xfrm>
            <a:off x="548640" y="269748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Bookman Old Style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Keeping workloads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Bookman Old Style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healthy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1"/>
          <p:cNvSpPr/>
          <p:nvPr/>
        </p:nvSpPr>
        <p:spPr>
          <a:xfrm>
            <a:off x="548640" y="4224528"/>
            <a:ext cx="6766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Give the scheduler what it needs, let Kubernetes detect failure, and scale to meet load.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1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1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32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2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Resource requests &amp; limits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2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2"/>
          <p:cNvSpPr/>
          <p:nvPr/>
        </p:nvSpPr>
        <p:spPr>
          <a:xfrm>
            <a:off x="548640" y="1691640"/>
            <a:ext cx="5364328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32"/>
          <p:cNvSpPr/>
          <p:nvPr/>
        </p:nvSpPr>
        <p:spPr>
          <a:xfrm>
            <a:off x="932688" y="2075688"/>
            <a:ext cx="566928" cy="566928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3" name="Google Shape;93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51" y="221175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32"/>
          <p:cNvSpPr/>
          <p:nvPr/>
        </p:nvSpPr>
        <p:spPr>
          <a:xfrm>
            <a:off x="932688" y="2642616"/>
            <a:ext cx="459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requests  —  the guarantee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2"/>
          <p:cNvSpPr/>
          <p:nvPr/>
        </p:nvSpPr>
        <p:spPr>
          <a:xfrm>
            <a:off x="932688" y="2971800"/>
            <a:ext cx="4596232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a container is guaranteed. The scheduler uses requests to decide which node has room — it's the basis for placement and bin-packing.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2"/>
          <p:cNvSpPr/>
          <p:nvPr/>
        </p:nvSpPr>
        <p:spPr>
          <a:xfrm>
            <a:off x="6278728" y="1691640"/>
            <a:ext cx="5364328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32"/>
          <p:cNvSpPr/>
          <p:nvPr/>
        </p:nvSpPr>
        <p:spPr>
          <a:xfrm>
            <a:off x="6662776" y="2075688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8" name="Google Shape;93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8838" y="221175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32"/>
          <p:cNvSpPr/>
          <p:nvPr/>
        </p:nvSpPr>
        <p:spPr>
          <a:xfrm>
            <a:off x="6662776" y="2642616"/>
            <a:ext cx="459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limits  —  the ceiling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2"/>
          <p:cNvSpPr/>
          <p:nvPr/>
        </p:nvSpPr>
        <p:spPr>
          <a:xfrm>
            <a:off x="6662776" y="2971800"/>
            <a:ext cx="4596232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hard cap. Exceed the CPU limit and you're throttled; exceed the memory limit and the container is OOM-killed and restarted.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2"/>
          <p:cNvSpPr/>
          <p:nvPr/>
        </p:nvSpPr>
        <p:spPr>
          <a:xfrm>
            <a:off x="548640" y="4114800"/>
            <a:ext cx="11091672" cy="1645920"/>
          </a:xfrm>
          <a:prstGeom prst="roundRect">
            <a:avLst>
              <a:gd fmla="val 6667" name="adj"/>
            </a:avLst>
          </a:prstGeom>
          <a:solidFill>
            <a:srgbClr val="FAFC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2"/>
          <p:cNvSpPr/>
          <p:nvPr/>
        </p:nvSpPr>
        <p:spPr>
          <a:xfrm>
            <a:off x="914400" y="425196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Requests let the scheduler pack nodes without over-committing: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/>
          <p:nvPr/>
        </p:nvSpPr>
        <p:spPr>
          <a:xfrm>
            <a:off x="1005840" y="4754880"/>
            <a:ext cx="10177272" cy="777240"/>
          </a:xfrm>
          <a:prstGeom prst="roundRect">
            <a:avLst>
              <a:gd fmla="val 7059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2"/>
          <p:cNvSpPr/>
          <p:nvPr/>
        </p:nvSpPr>
        <p:spPr>
          <a:xfrm>
            <a:off x="1060704" y="4828032"/>
            <a:ext cx="2764048" cy="630936"/>
          </a:xfrm>
          <a:prstGeom prst="roundRect">
            <a:avLst>
              <a:gd fmla="val 7246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2"/>
          <p:cNvSpPr/>
          <p:nvPr/>
        </p:nvSpPr>
        <p:spPr>
          <a:xfrm>
            <a:off x="1060704" y="4828032"/>
            <a:ext cx="276404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2"/>
          <p:cNvSpPr/>
          <p:nvPr/>
        </p:nvSpPr>
        <p:spPr>
          <a:xfrm>
            <a:off x="3879616" y="4828032"/>
            <a:ext cx="2159996" cy="630936"/>
          </a:xfrm>
          <a:prstGeom prst="roundRect">
            <a:avLst>
              <a:gd fmla="val 7246" name="adj"/>
            </a:avLst>
          </a:prstGeom>
          <a:solidFill>
            <a:srgbClr val="326C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2"/>
          <p:cNvSpPr/>
          <p:nvPr/>
        </p:nvSpPr>
        <p:spPr>
          <a:xfrm>
            <a:off x="3879616" y="4828032"/>
            <a:ext cx="215999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2"/>
          <p:cNvSpPr/>
          <p:nvPr/>
        </p:nvSpPr>
        <p:spPr>
          <a:xfrm>
            <a:off x="6094476" y="4828032"/>
            <a:ext cx="1757294" cy="630936"/>
          </a:xfrm>
          <a:prstGeom prst="roundRect">
            <a:avLst>
              <a:gd fmla="val 7246" name="adj"/>
            </a:avLst>
          </a:prstGeom>
          <a:solidFill>
            <a:srgbClr val="2457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2"/>
          <p:cNvSpPr/>
          <p:nvPr/>
        </p:nvSpPr>
        <p:spPr>
          <a:xfrm>
            <a:off x="6094476" y="4828032"/>
            <a:ext cx="175729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2"/>
          <p:cNvSpPr/>
          <p:nvPr/>
        </p:nvSpPr>
        <p:spPr>
          <a:xfrm>
            <a:off x="7906634" y="4828032"/>
            <a:ext cx="1354592" cy="630936"/>
          </a:xfrm>
          <a:prstGeom prst="roundRect">
            <a:avLst>
              <a:gd fmla="val 7246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2"/>
          <p:cNvSpPr/>
          <p:nvPr/>
        </p:nvSpPr>
        <p:spPr>
          <a:xfrm>
            <a:off x="7906634" y="4828032"/>
            <a:ext cx="1354592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2"/>
          <p:cNvSpPr/>
          <p:nvPr/>
        </p:nvSpPr>
        <p:spPr>
          <a:xfrm>
            <a:off x="9407530" y="4754880"/>
            <a:ext cx="177558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2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3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3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Health probes — how K8s knows a Pod is OK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3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3"/>
          <p:cNvSpPr/>
          <p:nvPr/>
        </p:nvSpPr>
        <p:spPr>
          <a:xfrm>
            <a:off x="548640" y="1737360"/>
            <a:ext cx="3515258" cy="310896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33"/>
          <p:cNvSpPr/>
          <p:nvPr/>
        </p:nvSpPr>
        <p:spPr>
          <a:xfrm>
            <a:off x="1931365" y="1984248"/>
            <a:ext cx="749808" cy="749808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4" name="Google Shape;96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1319" y="2164202"/>
            <a:ext cx="389900" cy="3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33"/>
          <p:cNvSpPr/>
          <p:nvPr/>
        </p:nvSpPr>
        <p:spPr>
          <a:xfrm>
            <a:off x="548640" y="2880360"/>
            <a:ext cx="35152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Bookman Old Style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Liveness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3"/>
          <p:cNvSpPr/>
          <p:nvPr/>
        </p:nvSpPr>
        <p:spPr>
          <a:xfrm>
            <a:off x="731520" y="3273552"/>
            <a:ext cx="31494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“Are you still alive?”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3"/>
          <p:cNvSpPr/>
          <p:nvPr/>
        </p:nvSpPr>
        <p:spPr>
          <a:xfrm>
            <a:off x="822960" y="3703320"/>
            <a:ext cx="296661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 failure: the container is restarted. Catches deadlocks and hung processes.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3"/>
          <p:cNvSpPr/>
          <p:nvPr/>
        </p:nvSpPr>
        <p:spPr>
          <a:xfrm>
            <a:off x="4338218" y="1737360"/>
            <a:ext cx="3515258" cy="310896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33"/>
          <p:cNvSpPr/>
          <p:nvPr/>
        </p:nvSpPr>
        <p:spPr>
          <a:xfrm>
            <a:off x="5720944" y="1984248"/>
            <a:ext cx="749808" cy="749808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0" name="Google Shape;97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0898" y="2164202"/>
            <a:ext cx="389900" cy="3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33"/>
          <p:cNvSpPr/>
          <p:nvPr/>
        </p:nvSpPr>
        <p:spPr>
          <a:xfrm>
            <a:off x="4338218" y="2880360"/>
            <a:ext cx="35152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Bookman Old Style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Readiness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3"/>
          <p:cNvSpPr/>
          <p:nvPr/>
        </p:nvSpPr>
        <p:spPr>
          <a:xfrm>
            <a:off x="4521098" y="3273552"/>
            <a:ext cx="31494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“Ready for traffic?”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3"/>
          <p:cNvSpPr/>
          <p:nvPr/>
        </p:nvSpPr>
        <p:spPr>
          <a:xfrm>
            <a:off x="4612538" y="3703320"/>
            <a:ext cx="296661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 failure: the Pod is pulled out of its Service — no restart. Traffic resumes when it passes again.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3"/>
          <p:cNvSpPr/>
          <p:nvPr/>
        </p:nvSpPr>
        <p:spPr>
          <a:xfrm>
            <a:off x="8127797" y="1737360"/>
            <a:ext cx="3515258" cy="310896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3"/>
          <p:cNvSpPr/>
          <p:nvPr/>
        </p:nvSpPr>
        <p:spPr>
          <a:xfrm>
            <a:off x="9510522" y="1984248"/>
            <a:ext cx="749808" cy="749808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6" name="Google Shape;97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0476" y="2164202"/>
            <a:ext cx="389900" cy="3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33"/>
          <p:cNvSpPr/>
          <p:nvPr/>
        </p:nvSpPr>
        <p:spPr>
          <a:xfrm>
            <a:off x="8127797" y="2880360"/>
            <a:ext cx="351525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Bookman Old Style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Startup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3"/>
          <p:cNvSpPr/>
          <p:nvPr/>
        </p:nvSpPr>
        <p:spPr>
          <a:xfrm>
            <a:off x="8310677" y="3273552"/>
            <a:ext cx="31494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“Finished booting?”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3"/>
          <p:cNvSpPr/>
          <p:nvPr/>
        </p:nvSpPr>
        <p:spPr>
          <a:xfrm>
            <a:off x="8402117" y="3703320"/>
            <a:ext cx="296661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Holds the other probes off until a slow app has started, so it isn't killed mid-boot.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3"/>
          <p:cNvSpPr/>
          <p:nvPr/>
        </p:nvSpPr>
        <p:spPr>
          <a:xfrm>
            <a:off x="548640" y="5029200"/>
            <a:ext cx="11091672" cy="749808"/>
          </a:xfrm>
          <a:prstGeom prst="roundRect">
            <a:avLst>
              <a:gd fmla="val 14634" name="adj"/>
            </a:avLst>
          </a:prstGeom>
          <a:solidFill>
            <a:srgbClr val="D9F5EF"/>
          </a:solidFill>
          <a:ln cap="flat" cmpd="sng" w="12700">
            <a:solidFill>
              <a:srgbClr val="9DE0D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3"/>
          <p:cNvSpPr/>
          <p:nvPr/>
        </p:nvSpPr>
        <p:spPr>
          <a:xfrm>
            <a:off x="914400" y="5029200"/>
            <a:ext cx="10332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The difference that trips people up:  </a:t>
            </a: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liveness restarts a broken Pod; readiness just stops sending it traffic until it recovers.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3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4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4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Horizontal Pod Autoscaler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4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4"/>
          <p:cNvSpPr/>
          <p:nvPr/>
        </p:nvSpPr>
        <p:spPr>
          <a:xfrm>
            <a:off x="548640" y="1600200"/>
            <a:ext cx="4206240" cy="4343400"/>
          </a:xfrm>
          <a:prstGeom prst="roundRect">
            <a:avLst>
              <a:gd fmla="val 260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4"/>
          <p:cNvSpPr/>
          <p:nvPr/>
        </p:nvSpPr>
        <p:spPr>
          <a:xfrm>
            <a:off x="914400" y="187452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Match capacity to load, automatically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4"/>
          <p:cNvSpPr/>
          <p:nvPr/>
        </p:nvSpPr>
        <p:spPr>
          <a:xfrm>
            <a:off x="914400" y="260604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Watches a metric — CPU, memory, or a custom one.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Adjusts the replica count between a min and max you set.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Load rises → more Pods. Load falls → fewer Pods.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Needs metrics-server installed to read usage.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4"/>
          <p:cNvSpPr/>
          <p:nvPr/>
        </p:nvSpPr>
        <p:spPr>
          <a:xfrm>
            <a:off x="868680" y="4892040"/>
            <a:ext cx="3566160" cy="868680"/>
          </a:xfrm>
          <a:prstGeom prst="roundRect">
            <a:avLst>
              <a:gd fmla="val 12632" name="adj"/>
            </a:avLst>
          </a:prstGeom>
          <a:solidFill>
            <a:srgbClr val="FEEBDD"/>
          </a:solidFill>
          <a:ln cap="flat" cmpd="sng" w="12700">
            <a:solidFill>
              <a:srgbClr val="F6C9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34"/>
          <p:cNvSpPr/>
          <p:nvPr/>
        </p:nvSpPr>
        <p:spPr>
          <a:xfrm>
            <a:off x="1097280" y="489204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Not the same as the </a:t>
            </a:r>
            <a:r>
              <a:rPr b="1" i="0" lang="en-US" sz="11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Cluster Autoscaler</a:t>
            </a: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 which adds and removes whole nodes.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4"/>
          <p:cNvSpPr/>
          <p:nvPr/>
        </p:nvSpPr>
        <p:spPr>
          <a:xfrm>
            <a:off x="5074920" y="1600200"/>
            <a:ext cx="6565392" cy="4343400"/>
          </a:xfrm>
          <a:prstGeom prst="roundRect">
            <a:avLst>
              <a:gd fmla="val 2526" name="adj"/>
            </a:avLst>
          </a:prstGeom>
          <a:solidFill>
            <a:srgbClr val="FAFC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34"/>
          <p:cNvSpPr/>
          <p:nvPr/>
        </p:nvSpPr>
        <p:spPr>
          <a:xfrm>
            <a:off x="5532120" y="1874520"/>
            <a:ext cx="5650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CPU 30%  —  steady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4"/>
          <p:cNvSpPr/>
          <p:nvPr/>
        </p:nvSpPr>
        <p:spPr>
          <a:xfrm>
            <a:off x="5623560" y="2240280"/>
            <a:ext cx="868680" cy="777240"/>
          </a:xfrm>
          <a:prstGeom prst="roundRect">
            <a:avLst>
              <a:gd fmla="val 8235" name="adj"/>
            </a:avLst>
          </a:prstGeom>
          <a:solidFill>
            <a:srgbClr val="D9F5EF"/>
          </a:solidFill>
          <a:ln cap="flat" cmpd="sng" w="16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9" name="Google Shape;99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6168" y="23682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34"/>
          <p:cNvSpPr/>
          <p:nvPr/>
        </p:nvSpPr>
        <p:spPr>
          <a:xfrm>
            <a:off x="6675120" y="2240280"/>
            <a:ext cx="868680" cy="777240"/>
          </a:xfrm>
          <a:prstGeom prst="roundRect">
            <a:avLst>
              <a:gd fmla="val 8235" name="adj"/>
            </a:avLst>
          </a:prstGeom>
          <a:solidFill>
            <a:srgbClr val="D9F5EF"/>
          </a:solidFill>
          <a:ln cap="flat" cmpd="sng" w="16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1" name="Google Shape;100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7728" y="23682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34"/>
          <p:cNvSpPr/>
          <p:nvPr/>
        </p:nvSpPr>
        <p:spPr>
          <a:xfrm>
            <a:off x="5532120" y="3246120"/>
            <a:ext cx="5650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load spikes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3" name="Google Shape;100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6448" y="352044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34"/>
          <p:cNvSpPr/>
          <p:nvPr/>
        </p:nvSpPr>
        <p:spPr>
          <a:xfrm>
            <a:off x="5532120" y="4069080"/>
            <a:ext cx="5650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CPU 85%  —  scale 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4"/>
          <p:cNvSpPr/>
          <p:nvPr/>
        </p:nvSpPr>
        <p:spPr>
          <a:xfrm>
            <a:off x="5623560" y="4434840"/>
            <a:ext cx="868680" cy="777240"/>
          </a:xfrm>
          <a:prstGeom prst="roundRect">
            <a:avLst>
              <a:gd fmla="val 8235" name="adj"/>
            </a:avLst>
          </a:prstGeom>
          <a:solidFill>
            <a:srgbClr val="E4EBFB"/>
          </a:solidFill>
          <a:ln cap="flat" cmpd="sng" w="165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6" name="Google Shape;100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6168" y="45628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34"/>
          <p:cNvSpPr/>
          <p:nvPr/>
        </p:nvSpPr>
        <p:spPr>
          <a:xfrm>
            <a:off x="6675120" y="4434840"/>
            <a:ext cx="868680" cy="777240"/>
          </a:xfrm>
          <a:prstGeom prst="roundRect">
            <a:avLst>
              <a:gd fmla="val 8235" name="adj"/>
            </a:avLst>
          </a:prstGeom>
          <a:solidFill>
            <a:srgbClr val="E4EBFB"/>
          </a:solidFill>
          <a:ln cap="flat" cmpd="sng" w="165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8" name="Google Shape;100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7728" y="45628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34"/>
          <p:cNvSpPr/>
          <p:nvPr/>
        </p:nvSpPr>
        <p:spPr>
          <a:xfrm>
            <a:off x="7726680" y="4434840"/>
            <a:ext cx="868680" cy="777240"/>
          </a:xfrm>
          <a:prstGeom prst="roundRect">
            <a:avLst>
              <a:gd fmla="val 8235" name="adj"/>
            </a:avLst>
          </a:prstGeom>
          <a:solidFill>
            <a:srgbClr val="E4EBFB"/>
          </a:solidFill>
          <a:ln cap="flat" cmpd="sng" w="165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0" name="Google Shape;101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9288" y="45628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34"/>
          <p:cNvSpPr/>
          <p:nvPr/>
        </p:nvSpPr>
        <p:spPr>
          <a:xfrm>
            <a:off x="8778240" y="4434840"/>
            <a:ext cx="868680" cy="777240"/>
          </a:xfrm>
          <a:prstGeom prst="roundRect">
            <a:avLst>
              <a:gd fmla="val 8235" name="adj"/>
            </a:avLst>
          </a:prstGeom>
          <a:solidFill>
            <a:srgbClr val="E4EBFB"/>
          </a:solidFill>
          <a:ln cap="flat" cmpd="sng" w="165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2" name="Google Shape;101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70848" y="45628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34"/>
          <p:cNvSpPr/>
          <p:nvPr/>
        </p:nvSpPr>
        <p:spPr>
          <a:xfrm>
            <a:off x="9829800" y="4434840"/>
            <a:ext cx="868680" cy="777240"/>
          </a:xfrm>
          <a:prstGeom prst="roundRect">
            <a:avLst>
              <a:gd fmla="val 8235" name="adj"/>
            </a:avLst>
          </a:prstGeom>
          <a:solidFill>
            <a:srgbClr val="E4EBFB"/>
          </a:solidFill>
          <a:ln cap="flat" cmpd="sng" w="16500">
            <a:solidFill>
              <a:srgbClr val="326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4" name="Google Shape;101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2408" y="45628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34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5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57C5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5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RBAC — who is allowed to do what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5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5"/>
          <p:cNvSpPr/>
          <p:nvPr/>
        </p:nvSpPr>
        <p:spPr>
          <a:xfrm>
            <a:off x="548640" y="1600200"/>
            <a:ext cx="11091672" cy="841248"/>
          </a:xfrm>
          <a:prstGeom prst="roundRect">
            <a:avLst>
              <a:gd fmla="val 13043" name="adj"/>
            </a:avLst>
          </a:prstGeom>
          <a:solidFill>
            <a:srgbClr val="E4EBFB"/>
          </a:solidFill>
          <a:ln cap="flat" cmpd="sng" w="12700">
            <a:solidFill>
              <a:srgbClr val="BFD0F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5"/>
          <p:cNvSpPr/>
          <p:nvPr/>
        </p:nvSpPr>
        <p:spPr>
          <a:xfrm>
            <a:off x="914400" y="1600200"/>
            <a:ext cx="103327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457C5"/>
                </a:solidFill>
                <a:latin typeface="Calibri"/>
                <a:ea typeface="Calibri"/>
                <a:cs typeface="Calibri"/>
                <a:sym typeface="Calibri"/>
              </a:rPr>
              <a:t>Every request to the API is authorized.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Role-Based Access Control answers “can this identity perform this verb on this resource?” — built from three simple pieces.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5"/>
          <p:cNvSpPr/>
          <p:nvPr/>
        </p:nvSpPr>
        <p:spPr>
          <a:xfrm>
            <a:off x="548640" y="2697480"/>
            <a:ext cx="3515258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35"/>
          <p:cNvSpPr/>
          <p:nvPr/>
        </p:nvSpPr>
        <p:spPr>
          <a:xfrm>
            <a:off x="932688" y="3081528"/>
            <a:ext cx="566928" cy="566928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8" name="Google Shape;102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51" y="321759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35"/>
          <p:cNvSpPr/>
          <p:nvPr/>
        </p:nvSpPr>
        <p:spPr>
          <a:xfrm>
            <a:off x="932688" y="3648456"/>
            <a:ext cx="274716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Subject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5"/>
          <p:cNvSpPr/>
          <p:nvPr/>
        </p:nvSpPr>
        <p:spPr>
          <a:xfrm>
            <a:off x="932688" y="3977640"/>
            <a:ext cx="2747162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Who is acting — a human user or, for in-cluster workloads, a ServiceAccount attached to a Pod.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1" name="Google Shape;103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5610" y="37124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35"/>
          <p:cNvSpPr/>
          <p:nvPr/>
        </p:nvSpPr>
        <p:spPr>
          <a:xfrm>
            <a:off x="4338218" y="2697480"/>
            <a:ext cx="3515258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35"/>
          <p:cNvSpPr/>
          <p:nvPr/>
        </p:nvSpPr>
        <p:spPr>
          <a:xfrm>
            <a:off x="4722266" y="3081528"/>
            <a:ext cx="566928" cy="566928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4" name="Google Shape;103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8329" y="321759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35"/>
          <p:cNvSpPr/>
          <p:nvPr/>
        </p:nvSpPr>
        <p:spPr>
          <a:xfrm>
            <a:off x="4722266" y="3648456"/>
            <a:ext cx="274716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Role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5"/>
          <p:cNvSpPr/>
          <p:nvPr/>
        </p:nvSpPr>
        <p:spPr>
          <a:xfrm>
            <a:off x="4722266" y="3977640"/>
            <a:ext cx="2747162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What's allowed — a set of verbs (get, list, create…) on resources, scoped to a namespace or the whole cluster.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7" name="Google Shape;103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35189" y="37124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35"/>
          <p:cNvSpPr/>
          <p:nvPr/>
        </p:nvSpPr>
        <p:spPr>
          <a:xfrm>
            <a:off x="8127797" y="2697480"/>
            <a:ext cx="3515258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35"/>
          <p:cNvSpPr/>
          <p:nvPr/>
        </p:nvSpPr>
        <p:spPr>
          <a:xfrm>
            <a:off x="8511845" y="3081528"/>
            <a:ext cx="566928" cy="566928"/>
          </a:xfrm>
          <a:prstGeom prst="ellipse">
            <a:avLst/>
          </a:prstGeom>
          <a:solidFill>
            <a:srgbClr val="2457C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0" name="Google Shape;1040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47908" y="321759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35"/>
          <p:cNvSpPr/>
          <p:nvPr/>
        </p:nvSpPr>
        <p:spPr>
          <a:xfrm>
            <a:off x="8511845" y="3648456"/>
            <a:ext cx="274716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RoleBinding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5"/>
          <p:cNvSpPr/>
          <p:nvPr/>
        </p:nvSpPr>
        <p:spPr>
          <a:xfrm>
            <a:off x="8511845" y="3977640"/>
            <a:ext cx="2747162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link — grants a Role to a Subject. No binding, no access.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5"/>
          <p:cNvSpPr/>
          <p:nvPr/>
        </p:nvSpPr>
        <p:spPr>
          <a:xfrm>
            <a:off x="548640" y="5166360"/>
            <a:ext cx="11091672" cy="640080"/>
          </a:xfrm>
          <a:prstGeom prst="roundRect">
            <a:avLst>
              <a:gd fmla="val 17143" name="adj"/>
            </a:avLst>
          </a:prstGeom>
          <a:solidFill>
            <a:srgbClr val="D9F5EF"/>
          </a:solidFill>
          <a:ln cap="flat" cmpd="sng" w="12700">
            <a:solidFill>
              <a:srgbClr val="9DE0D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5"/>
          <p:cNvSpPr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Guiding principle:  </a:t>
            </a: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least privilege — grant the narrowest set of verbs and resources a subject actually needs.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5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36"/>
          <p:cNvSpPr/>
          <p:nvPr/>
        </p:nvSpPr>
        <p:spPr>
          <a:xfrm>
            <a:off x="7955280" y="960120"/>
            <a:ext cx="384048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5000"/>
              <a:buFont typeface="Bookman Old Style"/>
              <a:buNone/>
            </a:pPr>
            <a:r>
              <a:rPr b="1" i="0" lang="en-US" sz="25000" u="none" cap="none" strike="noStrike">
                <a:solidFill>
                  <a:srgbClr val="0D948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08</a:t>
            </a:r>
            <a:endParaRPr b="0" i="0" sz="2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6"/>
          <p:cNvSpPr/>
          <p:nvPr/>
        </p:nvSpPr>
        <p:spPr>
          <a:xfrm>
            <a:off x="548640" y="2395728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36"/>
          <p:cNvSpPr/>
          <p:nvPr/>
        </p:nvSpPr>
        <p:spPr>
          <a:xfrm>
            <a:off x="841248" y="22860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SECTION 08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6"/>
          <p:cNvSpPr/>
          <p:nvPr/>
        </p:nvSpPr>
        <p:spPr>
          <a:xfrm>
            <a:off x="548640" y="269748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Bookman Old Style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Talking to the cluster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36"/>
          <p:cNvSpPr/>
          <p:nvPr/>
        </p:nvSpPr>
        <p:spPr>
          <a:xfrm>
            <a:off x="548640" y="3703320"/>
            <a:ext cx="6766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One client, one API — plus the ecosystem that turns Kubernetes into a full platform.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6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36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37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WORKING WITH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37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kubectl — your line to the API server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37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37"/>
          <p:cNvSpPr/>
          <p:nvPr/>
        </p:nvSpPr>
        <p:spPr>
          <a:xfrm>
            <a:off x="548640" y="1600200"/>
            <a:ext cx="4572000" cy="4343400"/>
          </a:xfrm>
          <a:prstGeom prst="roundRect">
            <a:avLst>
              <a:gd fmla="val 25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37"/>
          <p:cNvSpPr/>
          <p:nvPr/>
        </p:nvSpPr>
        <p:spPr>
          <a:xfrm>
            <a:off x="914400" y="18745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Everything is an API object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37"/>
          <p:cNvSpPr/>
          <p:nvPr/>
        </p:nvSpPr>
        <p:spPr>
          <a:xfrm>
            <a:off x="914400" y="2377440"/>
            <a:ext cx="3931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kubectl is a thin client — it just talks to the API server.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Declarative: apply a YAML file and let controllers converge.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Imperative verbs are handy for inspecting and debugging.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3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260"/>
              <a:buFont typeface="Calibri"/>
              <a:buChar char="•"/>
            </a:pPr>
            <a:r>
              <a:rPr b="0" i="0" lang="en-US" sz="126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same objects, whether you use YAML, a UI, or CI.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7"/>
          <p:cNvSpPr/>
          <p:nvPr/>
        </p:nvSpPr>
        <p:spPr>
          <a:xfrm>
            <a:off x="914400" y="4892040"/>
            <a:ext cx="822960" cy="310896"/>
          </a:xfrm>
          <a:prstGeom prst="roundRect">
            <a:avLst>
              <a:gd fmla="val 50000" name="adj"/>
            </a:avLst>
          </a:prstGeom>
          <a:solidFill>
            <a:srgbClr val="D9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37"/>
          <p:cNvSpPr/>
          <p:nvPr/>
        </p:nvSpPr>
        <p:spPr>
          <a:xfrm>
            <a:off x="914400" y="4892040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37"/>
          <p:cNvSpPr/>
          <p:nvPr/>
        </p:nvSpPr>
        <p:spPr>
          <a:xfrm>
            <a:off x="1883664" y="4892040"/>
            <a:ext cx="954634" cy="310896"/>
          </a:xfrm>
          <a:prstGeom prst="roundRect">
            <a:avLst>
              <a:gd fmla="val 50000" name="adj"/>
            </a:avLst>
          </a:prstGeom>
          <a:solidFill>
            <a:srgbClr val="D9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37"/>
          <p:cNvSpPr/>
          <p:nvPr/>
        </p:nvSpPr>
        <p:spPr>
          <a:xfrm>
            <a:off x="1883664" y="4892040"/>
            <a:ext cx="95463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describe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37"/>
          <p:cNvSpPr/>
          <p:nvPr/>
        </p:nvSpPr>
        <p:spPr>
          <a:xfrm>
            <a:off x="2984602" y="4892040"/>
            <a:ext cx="822960" cy="310896"/>
          </a:xfrm>
          <a:prstGeom prst="roundRect">
            <a:avLst>
              <a:gd fmla="val 50000" name="adj"/>
            </a:avLst>
          </a:prstGeom>
          <a:solidFill>
            <a:srgbClr val="E4E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37"/>
          <p:cNvSpPr/>
          <p:nvPr/>
        </p:nvSpPr>
        <p:spPr>
          <a:xfrm>
            <a:off x="2984602" y="4892040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logs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37"/>
          <p:cNvSpPr/>
          <p:nvPr/>
        </p:nvSpPr>
        <p:spPr>
          <a:xfrm>
            <a:off x="914400" y="5303520"/>
            <a:ext cx="822960" cy="310896"/>
          </a:xfrm>
          <a:prstGeom prst="roundRect">
            <a:avLst>
              <a:gd fmla="val 50000" name="adj"/>
            </a:avLst>
          </a:prstGeom>
          <a:solidFill>
            <a:srgbClr val="E4E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37"/>
          <p:cNvSpPr/>
          <p:nvPr/>
        </p:nvSpPr>
        <p:spPr>
          <a:xfrm>
            <a:off x="914400" y="5303520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apply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7"/>
          <p:cNvSpPr/>
          <p:nvPr/>
        </p:nvSpPr>
        <p:spPr>
          <a:xfrm>
            <a:off x="1883664" y="5303520"/>
            <a:ext cx="822960" cy="310896"/>
          </a:xfrm>
          <a:prstGeom prst="roundRect">
            <a:avLst>
              <a:gd fmla="val 50000" name="adj"/>
            </a:avLst>
          </a:prstGeom>
          <a:solidFill>
            <a:srgbClr val="E4E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37"/>
          <p:cNvSpPr/>
          <p:nvPr/>
        </p:nvSpPr>
        <p:spPr>
          <a:xfrm>
            <a:off x="1883664" y="5303520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457C5"/>
                </a:solidFill>
                <a:latin typeface="Courier New"/>
                <a:ea typeface="Courier New"/>
                <a:cs typeface="Courier New"/>
                <a:sym typeface="Courier New"/>
              </a:rPr>
              <a:t>exec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37"/>
          <p:cNvSpPr/>
          <p:nvPr/>
        </p:nvSpPr>
        <p:spPr>
          <a:xfrm>
            <a:off x="2852928" y="5303520"/>
            <a:ext cx="874166" cy="310896"/>
          </a:xfrm>
          <a:prstGeom prst="roundRect">
            <a:avLst>
              <a:gd fmla="val 50000" name="adj"/>
            </a:avLst>
          </a:prstGeom>
          <a:solidFill>
            <a:srgbClr val="FEEB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37"/>
          <p:cNvSpPr/>
          <p:nvPr/>
        </p:nvSpPr>
        <p:spPr>
          <a:xfrm>
            <a:off x="2852928" y="5303520"/>
            <a:ext cx="87416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Courier New"/>
                <a:ea typeface="Courier New"/>
                <a:cs typeface="Courier New"/>
                <a:sym typeface="Courier New"/>
              </a:rPr>
              <a:t>rollout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7"/>
          <p:cNvSpPr/>
          <p:nvPr/>
        </p:nvSpPr>
        <p:spPr>
          <a:xfrm>
            <a:off x="5349240" y="1737360"/>
            <a:ext cx="6291072" cy="3977640"/>
          </a:xfrm>
          <a:prstGeom prst="roundRect">
            <a:avLst>
              <a:gd fmla="val 2069" name="adj"/>
            </a:avLst>
          </a:prstGeom>
          <a:solidFill>
            <a:srgbClr val="0B1220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F172A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37"/>
          <p:cNvSpPr/>
          <p:nvPr/>
        </p:nvSpPr>
        <p:spPr>
          <a:xfrm>
            <a:off x="5349240" y="1737360"/>
            <a:ext cx="6291072" cy="384048"/>
          </a:xfrm>
          <a:prstGeom prst="roundRect">
            <a:avLst>
              <a:gd fmla="val 2142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37"/>
          <p:cNvSpPr/>
          <p:nvPr/>
        </p:nvSpPr>
        <p:spPr>
          <a:xfrm>
            <a:off x="5349240" y="1993392"/>
            <a:ext cx="6291072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37"/>
          <p:cNvSpPr/>
          <p:nvPr/>
        </p:nvSpPr>
        <p:spPr>
          <a:xfrm>
            <a:off x="5532120" y="1874520"/>
            <a:ext cx="109728" cy="1097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37"/>
          <p:cNvSpPr/>
          <p:nvPr/>
        </p:nvSpPr>
        <p:spPr>
          <a:xfrm>
            <a:off x="5733288" y="187452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37"/>
          <p:cNvSpPr/>
          <p:nvPr/>
        </p:nvSpPr>
        <p:spPr>
          <a:xfrm>
            <a:off x="5934456" y="1874520"/>
            <a:ext cx="109728" cy="1097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37"/>
          <p:cNvSpPr/>
          <p:nvPr/>
        </p:nvSpPr>
        <p:spPr>
          <a:xfrm>
            <a:off x="6172200" y="1810512"/>
            <a:ext cx="46451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37"/>
          <p:cNvSpPr/>
          <p:nvPr/>
        </p:nvSpPr>
        <p:spPr>
          <a:xfrm>
            <a:off x="5605272" y="2249424"/>
            <a:ext cx="5779008" cy="3319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4B8A6"/>
                </a:solidFill>
                <a:latin typeface="Courier New"/>
                <a:ea typeface="Courier New"/>
                <a:cs typeface="Courier New"/>
                <a:sym typeface="Courier New"/>
              </a:rPr>
              <a:t>$ kubectl apply -f deploy.yaml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deployment.apps/web configured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14B8A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4B8A6"/>
                </a:solidFill>
                <a:latin typeface="Courier New"/>
                <a:ea typeface="Courier New"/>
                <a:cs typeface="Courier New"/>
                <a:sym typeface="Courier New"/>
              </a:rPr>
              <a:t>$ kubectl get pods -l app=web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NAME        READY   STATUS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web-7d..-x  1/1     Running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web-7d..-q  1/1     Running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14B8A6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4B8A6"/>
                </a:solidFill>
                <a:latin typeface="Courier New"/>
                <a:ea typeface="Courier New"/>
                <a:cs typeface="Courier New"/>
                <a:sym typeface="Courier New"/>
              </a:rPr>
              <a:t>$ kubectl logs -f web-7d..-x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listening on :8080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7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38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6CE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26CE5"/>
                </a:solidFill>
                <a:latin typeface="Calibri"/>
                <a:ea typeface="Calibri"/>
                <a:cs typeface="Calibri"/>
                <a:sym typeface="Calibri"/>
              </a:rPr>
              <a:t>THE BIGGER PICTURE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8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Kubernetes is a platform for building platforms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8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38"/>
          <p:cNvSpPr/>
          <p:nvPr/>
        </p:nvSpPr>
        <p:spPr>
          <a:xfrm>
            <a:off x="548640" y="1691640"/>
            <a:ext cx="3515258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8"/>
          <p:cNvSpPr/>
          <p:nvPr/>
        </p:nvSpPr>
        <p:spPr>
          <a:xfrm>
            <a:off x="758952" y="1938528"/>
            <a:ext cx="640080" cy="640080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0" name="Google Shape;110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571" y="2092147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38"/>
          <p:cNvSpPr/>
          <p:nvPr/>
        </p:nvSpPr>
        <p:spPr>
          <a:xfrm>
            <a:off x="1600200" y="1947672"/>
            <a:ext cx="232653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Helm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38"/>
          <p:cNvSpPr/>
          <p:nvPr/>
        </p:nvSpPr>
        <p:spPr>
          <a:xfrm>
            <a:off x="841248" y="2606040"/>
            <a:ext cx="296661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Package and template whole apps as versioned, installable charts.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8"/>
          <p:cNvSpPr/>
          <p:nvPr/>
        </p:nvSpPr>
        <p:spPr>
          <a:xfrm>
            <a:off x="4338218" y="1691640"/>
            <a:ext cx="3515258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38"/>
          <p:cNvSpPr/>
          <p:nvPr/>
        </p:nvSpPr>
        <p:spPr>
          <a:xfrm>
            <a:off x="4548530" y="1938528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5" name="Google Shape;110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2150" y="2092147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38"/>
          <p:cNvSpPr/>
          <p:nvPr/>
        </p:nvSpPr>
        <p:spPr>
          <a:xfrm>
            <a:off x="5389778" y="1947672"/>
            <a:ext cx="232653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Operators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38"/>
          <p:cNvSpPr/>
          <p:nvPr/>
        </p:nvSpPr>
        <p:spPr>
          <a:xfrm>
            <a:off x="4630826" y="2606040"/>
            <a:ext cx="296661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Custom controllers that encode operational know-how for a specific app.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38"/>
          <p:cNvSpPr/>
          <p:nvPr/>
        </p:nvSpPr>
        <p:spPr>
          <a:xfrm>
            <a:off x="8127797" y="1691640"/>
            <a:ext cx="3515258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8"/>
          <p:cNvSpPr/>
          <p:nvPr/>
        </p:nvSpPr>
        <p:spPr>
          <a:xfrm>
            <a:off x="8338109" y="1938528"/>
            <a:ext cx="640080" cy="640080"/>
          </a:xfrm>
          <a:prstGeom prst="ellipse">
            <a:avLst/>
          </a:prstGeom>
          <a:solidFill>
            <a:srgbClr val="2457C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0" name="Google Shape;111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1728" y="2092147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38"/>
          <p:cNvSpPr/>
          <p:nvPr/>
        </p:nvSpPr>
        <p:spPr>
          <a:xfrm>
            <a:off x="9179357" y="1947672"/>
            <a:ext cx="232653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GitOps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38"/>
          <p:cNvSpPr/>
          <p:nvPr/>
        </p:nvSpPr>
        <p:spPr>
          <a:xfrm>
            <a:off x="8420405" y="2606040"/>
            <a:ext cx="296661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Git is the source of truth; a tool (ArgoCD, Flux) reconciles the cluster to 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38"/>
          <p:cNvSpPr/>
          <p:nvPr/>
        </p:nvSpPr>
        <p:spPr>
          <a:xfrm>
            <a:off x="548640" y="3776472"/>
            <a:ext cx="3515258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38"/>
          <p:cNvSpPr/>
          <p:nvPr/>
        </p:nvSpPr>
        <p:spPr>
          <a:xfrm>
            <a:off x="758952" y="402336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5" name="Google Shape;1115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2571" y="417697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38"/>
          <p:cNvSpPr/>
          <p:nvPr/>
        </p:nvSpPr>
        <p:spPr>
          <a:xfrm>
            <a:off x="1600200" y="4032504"/>
            <a:ext cx="232653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Observability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38"/>
          <p:cNvSpPr/>
          <p:nvPr/>
        </p:nvSpPr>
        <p:spPr>
          <a:xfrm>
            <a:off x="841248" y="4690872"/>
            <a:ext cx="296661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Prometheus, Grafana and friends for metrics, logs, and traces.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38"/>
          <p:cNvSpPr/>
          <p:nvPr/>
        </p:nvSpPr>
        <p:spPr>
          <a:xfrm>
            <a:off x="4338218" y="3776472"/>
            <a:ext cx="3515258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38"/>
          <p:cNvSpPr/>
          <p:nvPr/>
        </p:nvSpPr>
        <p:spPr>
          <a:xfrm>
            <a:off x="4548530" y="402336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0" name="Google Shape;1120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2150" y="417697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38"/>
          <p:cNvSpPr/>
          <p:nvPr/>
        </p:nvSpPr>
        <p:spPr>
          <a:xfrm>
            <a:off x="5389778" y="4032504"/>
            <a:ext cx="232653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Service mesh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38"/>
          <p:cNvSpPr/>
          <p:nvPr/>
        </p:nvSpPr>
        <p:spPr>
          <a:xfrm>
            <a:off x="4630826" y="4690872"/>
            <a:ext cx="296661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Istio, Linkerd add traffic control, mTLS, and telemetry between services.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38"/>
          <p:cNvSpPr/>
          <p:nvPr/>
        </p:nvSpPr>
        <p:spPr>
          <a:xfrm>
            <a:off x="8127797" y="3776472"/>
            <a:ext cx="3515258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38"/>
          <p:cNvSpPr/>
          <p:nvPr/>
        </p:nvSpPr>
        <p:spPr>
          <a:xfrm>
            <a:off x="8338109" y="4023360"/>
            <a:ext cx="640080" cy="640080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5" name="Google Shape;1125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91728" y="417697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38"/>
          <p:cNvSpPr/>
          <p:nvPr/>
        </p:nvSpPr>
        <p:spPr>
          <a:xfrm>
            <a:off x="9179357" y="4032504"/>
            <a:ext cx="232653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Bookman Old Style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CRDs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38"/>
          <p:cNvSpPr/>
          <p:nvPr/>
        </p:nvSpPr>
        <p:spPr>
          <a:xfrm>
            <a:off x="8420405" y="4690872"/>
            <a:ext cx="296661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Extend the API with your own object types — the cluster becomes programmable.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38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9"/>
          <p:cNvSpPr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PUTTING IT TOGETHER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39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Bookman Old Style"/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whole model in one picture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9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39"/>
          <p:cNvSpPr/>
          <p:nvPr/>
        </p:nvSpPr>
        <p:spPr>
          <a:xfrm>
            <a:off x="548640" y="1920240"/>
            <a:ext cx="1459513" cy="2377440"/>
          </a:xfrm>
          <a:prstGeom prst="roundRect">
            <a:avLst>
              <a:gd fmla="val 751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39"/>
          <p:cNvSpPr/>
          <p:nvPr/>
        </p:nvSpPr>
        <p:spPr>
          <a:xfrm>
            <a:off x="976645" y="2167128"/>
            <a:ext cx="603504" cy="603504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9" name="Google Shape;113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485" y="2311969"/>
            <a:ext cx="313822" cy="313822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39"/>
          <p:cNvSpPr/>
          <p:nvPr/>
        </p:nvSpPr>
        <p:spPr>
          <a:xfrm>
            <a:off x="594360" y="2926080"/>
            <a:ext cx="136807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Bookman Old Style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You declare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39"/>
          <p:cNvSpPr/>
          <p:nvPr/>
        </p:nvSpPr>
        <p:spPr>
          <a:xfrm>
            <a:off x="594360" y="3401568"/>
            <a:ext cx="1368073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desired state in YAML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2" name="Google Shape;114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9865" y="23408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39"/>
          <p:cNvSpPr/>
          <p:nvPr/>
        </p:nvSpPr>
        <p:spPr>
          <a:xfrm>
            <a:off x="2154457" y="1920240"/>
            <a:ext cx="1459513" cy="2377440"/>
          </a:xfrm>
          <a:prstGeom prst="roundRect">
            <a:avLst>
              <a:gd fmla="val 751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39"/>
          <p:cNvSpPr/>
          <p:nvPr/>
        </p:nvSpPr>
        <p:spPr>
          <a:xfrm>
            <a:off x="2582462" y="2167128"/>
            <a:ext cx="603504" cy="603504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5" name="Google Shape;114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27303" y="2311969"/>
            <a:ext cx="313822" cy="313822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39"/>
          <p:cNvSpPr/>
          <p:nvPr/>
        </p:nvSpPr>
        <p:spPr>
          <a:xfrm>
            <a:off x="2200177" y="2926080"/>
            <a:ext cx="136807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Bookman Old Style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API + etcd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39"/>
          <p:cNvSpPr/>
          <p:nvPr/>
        </p:nvSpPr>
        <p:spPr>
          <a:xfrm>
            <a:off x="2200177" y="3401568"/>
            <a:ext cx="1368073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validate and store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8" name="Google Shape;114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5682" y="23408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39"/>
          <p:cNvSpPr/>
          <p:nvPr/>
        </p:nvSpPr>
        <p:spPr>
          <a:xfrm>
            <a:off x="3760274" y="1920240"/>
            <a:ext cx="1459513" cy="2377440"/>
          </a:xfrm>
          <a:prstGeom prst="roundRect">
            <a:avLst>
              <a:gd fmla="val 751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39"/>
          <p:cNvSpPr/>
          <p:nvPr/>
        </p:nvSpPr>
        <p:spPr>
          <a:xfrm>
            <a:off x="4188279" y="2167128"/>
            <a:ext cx="603504" cy="603504"/>
          </a:xfrm>
          <a:prstGeom prst="ellipse">
            <a:avLst/>
          </a:prstGeom>
          <a:solidFill>
            <a:srgbClr val="2457C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1" name="Google Shape;115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3120" y="2311969"/>
            <a:ext cx="313822" cy="313822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39"/>
          <p:cNvSpPr/>
          <p:nvPr/>
        </p:nvSpPr>
        <p:spPr>
          <a:xfrm>
            <a:off x="3805994" y="2926080"/>
            <a:ext cx="136807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Bookman Old Style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Schedule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39"/>
          <p:cNvSpPr/>
          <p:nvPr/>
        </p:nvSpPr>
        <p:spPr>
          <a:xfrm>
            <a:off x="3805994" y="3401568"/>
            <a:ext cx="1368073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place Pods on nodes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4" name="Google Shape;115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1499" y="23408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39"/>
          <p:cNvSpPr/>
          <p:nvPr/>
        </p:nvSpPr>
        <p:spPr>
          <a:xfrm>
            <a:off x="5366091" y="1920240"/>
            <a:ext cx="1459513" cy="2377440"/>
          </a:xfrm>
          <a:prstGeom prst="roundRect">
            <a:avLst>
              <a:gd fmla="val 751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39"/>
          <p:cNvSpPr/>
          <p:nvPr/>
        </p:nvSpPr>
        <p:spPr>
          <a:xfrm>
            <a:off x="5794096" y="2167128"/>
            <a:ext cx="603504" cy="603504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7" name="Google Shape;1157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38937" y="2311969"/>
            <a:ext cx="313822" cy="313822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39"/>
          <p:cNvSpPr/>
          <p:nvPr/>
        </p:nvSpPr>
        <p:spPr>
          <a:xfrm>
            <a:off x="5411811" y="2926080"/>
            <a:ext cx="136807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Bookman Old Style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39"/>
          <p:cNvSpPr/>
          <p:nvPr/>
        </p:nvSpPr>
        <p:spPr>
          <a:xfrm>
            <a:off x="5411811" y="3401568"/>
            <a:ext cx="1368073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kubelet starts Pods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0" name="Google Shape;116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7316" y="23408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39"/>
          <p:cNvSpPr/>
          <p:nvPr/>
        </p:nvSpPr>
        <p:spPr>
          <a:xfrm>
            <a:off x="6971908" y="1920240"/>
            <a:ext cx="1459513" cy="2377440"/>
          </a:xfrm>
          <a:prstGeom prst="roundRect">
            <a:avLst>
              <a:gd fmla="val 751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39"/>
          <p:cNvSpPr/>
          <p:nvPr/>
        </p:nvSpPr>
        <p:spPr>
          <a:xfrm>
            <a:off x="7399913" y="2167128"/>
            <a:ext cx="603504" cy="603504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3" name="Google Shape;1163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4754" y="2311969"/>
            <a:ext cx="313822" cy="313822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39"/>
          <p:cNvSpPr/>
          <p:nvPr/>
        </p:nvSpPr>
        <p:spPr>
          <a:xfrm>
            <a:off x="7017628" y="2926080"/>
            <a:ext cx="136807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Bookman Old Style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Reconcile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39"/>
          <p:cNvSpPr/>
          <p:nvPr/>
        </p:nvSpPr>
        <p:spPr>
          <a:xfrm>
            <a:off x="7017628" y="3401568"/>
            <a:ext cx="1368073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controllers fix drift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6" name="Google Shape;116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3133" y="23408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39"/>
          <p:cNvSpPr/>
          <p:nvPr/>
        </p:nvSpPr>
        <p:spPr>
          <a:xfrm>
            <a:off x="8577725" y="1920240"/>
            <a:ext cx="1459513" cy="2377440"/>
          </a:xfrm>
          <a:prstGeom prst="roundRect">
            <a:avLst>
              <a:gd fmla="val 751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39"/>
          <p:cNvSpPr/>
          <p:nvPr/>
        </p:nvSpPr>
        <p:spPr>
          <a:xfrm>
            <a:off x="9005730" y="2167128"/>
            <a:ext cx="603504" cy="603504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9" name="Google Shape;1169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50571" y="2311969"/>
            <a:ext cx="313822" cy="313822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39"/>
          <p:cNvSpPr/>
          <p:nvPr/>
        </p:nvSpPr>
        <p:spPr>
          <a:xfrm>
            <a:off x="8623445" y="2926080"/>
            <a:ext cx="136807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Bookman Old Style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Expose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39"/>
          <p:cNvSpPr/>
          <p:nvPr/>
        </p:nvSpPr>
        <p:spPr>
          <a:xfrm>
            <a:off x="8623445" y="3401568"/>
            <a:ext cx="1368073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Services &amp; Ingress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2" name="Google Shape;117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8950" y="23408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39"/>
          <p:cNvSpPr/>
          <p:nvPr/>
        </p:nvSpPr>
        <p:spPr>
          <a:xfrm>
            <a:off x="10183542" y="1920240"/>
            <a:ext cx="1459513" cy="2377440"/>
          </a:xfrm>
          <a:prstGeom prst="roundRect">
            <a:avLst>
              <a:gd fmla="val 751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39"/>
          <p:cNvSpPr/>
          <p:nvPr/>
        </p:nvSpPr>
        <p:spPr>
          <a:xfrm>
            <a:off x="10611547" y="2167128"/>
            <a:ext cx="603504" cy="603504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5" name="Google Shape;1175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756388" y="2311969"/>
            <a:ext cx="313822" cy="313822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39"/>
          <p:cNvSpPr/>
          <p:nvPr/>
        </p:nvSpPr>
        <p:spPr>
          <a:xfrm>
            <a:off x="10229262" y="2926080"/>
            <a:ext cx="136807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Bookman Old Style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Keep healthy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39"/>
          <p:cNvSpPr/>
          <p:nvPr/>
        </p:nvSpPr>
        <p:spPr>
          <a:xfrm>
            <a:off x="10229262" y="3401568"/>
            <a:ext cx="1368073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probes, HPA, limits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39"/>
          <p:cNvSpPr/>
          <p:nvPr/>
        </p:nvSpPr>
        <p:spPr>
          <a:xfrm>
            <a:off x="548640" y="4663440"/>
            <a:ext cx="11091672" cy="1097280"/>
          </a:xfrm>
          <a:prstGeom prst="roundRect">
            <a:avLst>
              <a:gd fmla="val 10000" name="adj"/>
            </a:avLst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F172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39"/>
          <p:cNvSpPr/>
          <p:nvPr/>
        </p:nvSpPr>
        <p:spPr>
          <a:xfrm>
            <a:off x="877824" y="4882896"/>
            <a:ext cx="658368" cy="658368"/>
          </a:xfrm>
          <a:prstGeom prst="ellipse">
            <a:avLst/>
          </a:prstGeom>
          <a:solidFill>
            <a:srgbClr val="14B8A6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0" name="Google Shape;1180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5832" y="5040904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39"/>
          <p:cNvSpPr/>
          <p:nvPr/>
        </p:nvSpPr>
        <p:spPr>
          <a:xfrm>
            <a:off x="1783080" y="4663440"/>
            <a:ext cx="9601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And it never stops. </a:t>
            </a:r>
            <a:r>
              <a:rPr b="0" i="0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The loop runs forever — you change the desired state, Kubernetes quietly drives the cluster back to matching it. Master that one idea and the rest is detail.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39"/>
          <p:cNvSpPr/>
          <p:nvPr/>
        </p:nvSpPr>
        <p:spPr>
          <a:xfrm>
            <a:off x="11185855" y="64739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40"/>
          <p:cNvSpPr/>
          <p:nvPr/>
        </p:nvSpPr>
        <p:spPr>
          <a:xfrm>
            <a:off x="548640" y="21488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THE ONE-LINE TAKEAWAY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40"/>
          <p:cNvSpPr/>
          <p:nvPr/>
        </p:nvSpPr>
        <p:spPr>
          <a:xfrm>
            <a:off x="548640" y="256032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Bookman Old Style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You describe the destination.</a:t>
            </a:r>
            <a:br>
              <a:rPr b="1" i="0" lang="en-US" sz="46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i="0" lang="en-US" sz="4600" u="none" cap="none" strike="noStrike">
                <a:solidFill>
                  <a:srgbClr val="14B8A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Kubernetes drives.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0"/>
          <p:cNvSpPr/>
          <p:nvPr/>
        </p:nvSpPr>
        <p:spPr>
          <a:xfrm>
            <a:off x="548640" y="4526280"/>
            <a:ext cx="1196035" cy="310896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40"/>
          <p:cNvSpPr/>
          <p:nvPr/>
        </p:nvSpPr>
        <p:spPr>
          <a:xfrm>
            <a:off x="548640" y="4526280"/>
            <a:ext cx="11960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Declarative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40"/>
          <p:cNvSpPr/>
          <p:nvPr/>
        </p:nvSpPr>
        <p:spPr>
          <a:xfrm>
            <a:off x="1927555" y="4526280"/>
            <a:ext cx="1276502" cy="310896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40"/>
          <p:cNvSpPr/>
          <p:nvPr/>
        </p:nvSpPr>
        <p:spPr>
          <a:xfrm>
            <a:off x="1927555" y="4526280"/>
            <a:ext cx="127650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Self-healing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40"/>
          <p:cNvSpPr/>
          <p:nvPr/>
        </p:nvSpPr>
        <p:spPr>
          <a:xfrm>
            <a:off x="3386938" y="4526280"/>
            <a:ext cx="2161642" cy="310896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40"/>
          <p:cNvSpPr/>
          <p:nvPr/>
        </p:nvSpPr>
        <p:spPr>
          <a:xfrm>
            <a:off x="3386938" y="4526280"/>
            <a:ext cx="216164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Everything is an object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40"/>
          <p:cNvSpPr/>
          <p:nvPr/>
        </p:nvSpPr>
        <p:spPr>
          <a:xfrm>
            <a:off x="5731459" y="4526280"/>
            <a:ext cx="1517904" cy="310896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40"/>
          <p:cNvSpPr/>
          <p:nvPr/>
        </p:nvSpPr>
        <p:spPr>
          <a:xfrm>
            <a:off x="5731459" y="4526280"/>
            <a:ext cx="15179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Loosely coupled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40"/>
          <p:cNvSpPr/>
          <p:nvPr/>
        </p:nvSpPr>
        <p:spPr>
          <a:xfrm>
            <a:off x="10241280" y="2651760"/>
            <a:ext cx="914400" cy="914400"/>
          </a:xfrm>
          <a:prstGeom prst="ellipse">
            <a:avLst/>
          </a:prstGeom>
          <a:solidFill>
            <a:srgbClr val="326CE5"/>
          </a:solidFill>
          <a:ln>
            <a:noFill/>
          </a:ln>
          <a:effectLst>
            <a:outerShdw blurRad="63500" rotWithShape="0" algn="bl" dir="5400000" dist="25400">
              <a:srgbClr val="0F172A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9" name="Google Shape;119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0736" y="287121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40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· Core Concepts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