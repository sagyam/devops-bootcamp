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Open by setting the frame: in DevOps you almost never touch a GUI on a server. Everything — deploys, debugging, recovery at 3am — happens over SSH on a text terminal. This week is about being fluent there. Tell them the secret up front: there are ~17 tool families but only one mental model — small tools, plain text, piped together. By Friday they should be able to read a broken server and fix it without a mouse.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Walk the arc, don't read the cards. The order is deliberate and it's a story: Day 1 you learn to stand up and look around. Day 2 you learn who's allowed to do what — every security incident traces back here. Day 3 is the superpower day: 80% of real ops work is slicing text. Day 4 is running the actual system — packages, processes, services, logs. Day 5 connects the box to the world. Day 6 automates everything you learned and adds storage. Tell them: every day ends with a hands-on scenario, so come ready to type.</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Day 1 is about removing the fear of the blank prompt — but we start one level deeper than commands. Before they touch the shell, give them the mental model: what 'Linux' actually is (a kernel), what a distro adds on top, and how a box boots. With that scaffold, every later command has a place to hang. Then the practical arc: move around, create and copy things, learn where things live (the FHS), and edit a file on a remote server. Editing is the one that traps beginners — they SSH in, type 'vim', and get stuck. We fix that today.</a:t>
            </a:r>
            <a:endParaRPr/>
          </a:p>
        </p:txBody>
      </p:sp>
      <p:sp>
        <p:nvSpPr>
          <p:cNvPr id="71" name="Google Shape;7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single most clarifying idea of the week: 'Linux' is precisely one thing — the kernel — the layer that drives the hardware and hands out CPU, memory, and device access via system calls. Everything else is choices stacked on top. Read the stack bottom-up: hardware, then the kernel, then systemd (PID 1, the first program the kernel starts — Day 4), then the shell and the GNU tools they'll use all week, then their own apps. The boot-order card on the right is the same story in time: firmware finds the disk, GRUB loads the kernel, the kernel starts systemd, systemd brings up services and a login prompt. Tie it forward: 'when we debug a service on Day 4, we're poking the systemd layer; when we read syscalls or check memory, that's the kernel.' This frame is what turns scattered commands into one system.</a:t>
            </a:r>
            <a:endParaRPr/>
          </a:p>
        </p:txBody>
      </p:sp>
      <p:sp>
        <p:nvSpPr>
          <p:cNvPr id="94" name="Google Shape;9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Now answer the obvious next question: if Linux is just a kernel, why are there Ubuntu, Fedora, Alpine, Arch? A distribution bundles that one kernel with a userland (the GNU tools, a C library — Alpine swaps GNU libc for the tiny musl), a package manager, an init system, and sane defaults. The practical payoff for DevOps is concrete: the distro is why the same task is 'apt install' on Ubuntu, 'dnf install' on Fedora, and 'apk add' on Alpine. We teach apt because Ubuntu/Debian dominate servers and CI. Land the Docker connection hard: when you write FROM ubuntu vs FROM alpine, you're picking a distro — that choice sets the package manager and libc inside your container, and Alpine's musl is a classic source of 'works on my machine' surprises. Demo cat /etc/os-release and uname -srm so they can always identify what they've SSH'd into.</a:t>
            </a:r>
            <a:endParaRPr/>
          </a:p>
        </p:txBody>
      </p:sp>
      <p:sp>
        <p:nvSpPr>
          <p:cNvPr id="198" name="Google Shape;19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Live-demo this on the projected real server. The story: an alert fires, you log in cold. The first three questions are always: where am I (pwd), what's here (ls -lah — stress -a for dotfiles and -h for human sizes), and is the disk full (df -h). Point out the 78% in the example and ask the room 'what would you check next?' — that's the bridge to logs. date matters more than it looks: half of DevOps is timestamped filenames and correlating events across machines.</a:t>
            </a:r>
            <a:endParaRPr/>
          </a:p>
        </p:txBody>
      </p:sp>
      <p:sp>
        <p:nvSpPr>
          <p:cNvPr id="231" name="Google Shape;23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two flags that matter: -p on mkdir (no error if it exists, and it builds the whole path — huge in scripts) and -r on cp/rm (directories need it). Show brace expansion {conf,logs} — it's a shell feature, not part of mkdir, and it delights people. The serious warning: rm -r has no recycle bin. Tell the war story of rm -rf / and why a stray space is catastrophic. mv is both move AND rename — there is no separate rename command.</a:t>
            </a:r>
            <a:endParaRPr/>
          </a:p>
        </p:txBody>
      </p:sp>
      <p:sp>
        <p:nvSpPr>
          <p:cNvPr id="261" name="Google Shape;26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Don't make them memorize all twelve — anchor on the three they'll touch hourly: /etc (everything you edit), /var/log (everything you read when it breaks), and /tmp (scratch, gone on reboot — never store anything you need there). Then walk the rest as a map they can reason about: binaries live in /usr/bin and /bin; your own and third-party software goes in /opt or /usr/local; service data sits in /var/lib (point out a real one — /var/lib/postgresql); the kernel and bootloader from the previous slide live in /boot; extra disks (callback to LVM on Day 6) get mounted under /mnt or /media. The big idea on the bottom line: in Linux everything is a file — your disks in /dev, even live kernel state in /proc (try cat /proc/cpuinfo). Payoff: 'when a service misbehaves you already know its config is under /etc and its logs under /var/log — you are never lost on a strange box.'</a:t>
            </a:r>
            <a:endParaRPr/>
          </a:p>
        </p:txBody>
      </p:sp>
      <p:sp>
        <p:nvSpPr>
          <p:cNvPr id="293" name="Google Shape;29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0" name="Google Shape;34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'see it all at once' slide — project it and let them photograph it. Run the real command live: tree -L 1 / (or ls / if tree isn't installed). The teaching moves: (1) there is exactly one tree — everything descends from / — there are no C:\ or D:\ drives; other disks get mounted INTO the tree (callback to /mnt, forward to LVM). (2) -L 1 means one level deep; bump it to -L 2 to expand, and that's how you explore any unfamiliar box. (3) The two highlighted in orange, /etc and /var, are where ~90% of ops work happens — configs and logs. Don't drill every entry; the goal is that the flat list of paths from the previous slide now has a shape in their head.</a:t>
            </a:r>
            <a:endParaRPr/>
          </a:p>
        </p:txBody>
      </p:sp>
      <p:sp>
        <p:nvSpPr>
          <p:cNvPr id="341" name="Google Shape;34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4" name="Google Shape;36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highest-anxiety slide of the week — almost everyone has been trapped in vim. Defuse it with humor, then teach the single concept: MODES. In INSERT you type; in NORMAL the keys are commands. The escape hatch they must never forget: Esc then :q! Have the whole room open vim, type a line, save with :wq, and reopen it. That round-trip kills the fear. Don't teach motions beyond dd/yy/p today — survival first, power later.</a:t>
            </a:r>
            <a:endParaRPr/>
          </a:p>
        </p:txBody>
      </p:sp>
      <p:sp>
        <p:nvSpPr>
          <p:cNvPr id="365" name="Google Shape;36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This is the lever that separates a beginner from someone fast in vim. Watch your students: when they need to reach a word, they scroll and scan with their eyes, then arrow-key over one character at a time. Name that habit out loud, then show the alternative: you don't FIND the text, you DECLARE it. Type /word and hit Enter — the cursor is already there. Live-demo it: open a real config, ask everyone to land on a specific line three ways — /pattern, then * on the word under the cursor, then f{char} to hop along a single line. Drive home f and t: ‘f comma’ jumps to the next comma on THIS line, and ; repeats it — that is searching with your fingers at the character level. Tie it back: every motion here also composes with operators (d/text, ct" , y/word), so the search keys they learn now become editing superpowers next. Homework framing: for the rest of the week, ban the arrow keys.</a:t>
            </a:r>
            <a:endParaRPr/>
          </a:p>
        </p:txBody>
      </p:sp>
      <p:sp>
        <p:nvSpPr>
          <p:cNvPr id="402" name="Google Shape;40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8" name="Google Shape;43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Relief after vim: nano tells you everything at the bottom of the screen, and ^ means Ctrl. The honest framing: use nano when you want to stop thinking and just change one line; learn vim because it's the one editor you can count on existing on any box, even a minimal container or a rescue shell. Don't religious-war it — both are tools.</a:t>
            </a:r>
            <a:endParaRPr/>
          </a:p>
        </p:txBody>
      </p:sp>
      <p:sp>
        <p:nvSpPr>
          <p:cNvPr id="439" name="Google Shape;43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Day 2 is the security backbone. Frame it: every breach post-mortem and every 'permission denied' at 2am comes back to this model. The big ideas — services run as their own unprivileged users (least privilege), and Linux permissions are just three groups of rwx. Once they can read ls -l fluently, the rest is mechanical.</a:t>
            </a:r>
            <a:endParaRPr/>
          </a:p>
        </p:txBody>
      </p:sp>
      <p:sp>
        <p:nvSpPr>
          <p:cNvPr id="473" name="Google Shape;47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5" name="Google Shape;49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mental model that makes everything click: a server is a shared apartment building. root is the master key, service users are tenants who can only enter their own unit, and you get the master key only when you ask (sudo). Run id live and read the output together — uid, primary gid, and supplementary groups (note sudo and docker; mention docker group ≈ root, a real security footgun). Stress the rule: never run services as root, never log in as root.</a:t>
            </a:r>
            <a:endParaRPr/>
          </a:p>
        </p:txBody>
      </p:sp>
      <p:sp>
        <p:nvSpPr>
          <p:cNvPr id="496" name="Google Shape;49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single most common beginner bug lives here: usermod -G (without -a) REPLACES all supplementary groups, silently kicking the user out of every other group — including sudo. Always usermod -aG. Explain adduser (friendly, Debian/Ubuntu wrapper) vs useradd (low-level, portable, what scripts use). -m makes the home dir, -s sets the shell, -r marks a system account. Tie back to Day 2's theme: service accounts get -r and often a nologin shell.</a:t>
            </a:r>
            <a:endParaRPr/>
          </a:p>
        </p:txBody>
      </p:sp>
      <p:sp>
        <p:nvSpPr>
          <p:cNvPr id="523" name="Google Shape;52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4" name="Google Shape;55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Spend real time here — it's the conceptual heart of the day. Read the 10 characters left to right: type, then three triplets (owner/group/other). Have them decode rwxr-xr-x out loud. The directory gotcha is where everyone gets burned: x on a directory is the right to traverse/enter it, not execute. A classic bug: web server can't serve files because a parent dir is missing x for 'other'. Plant the numbers r=4 w=2 x=1 now; we add them up on the next slide.</a:t>
            </a:r>
            <a:endParaRPr/>
          </a:p>
        </p:txBody>
      </p:sp>
      <p:sp>
        <p:nvSpPr>
          <p:cNvPr id="555" name="Google Shape;555;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Two notations, same model. Symbolic (who +/- what) is great for a quick tweak; numeric (three octal digits) is what you'll see in docs and scripts. Drill the addition: rwx = 4+2+1 = 7. Make them compute 644 and 755 on the spot. Two canonical values to memorize: 644 for regular files, 755 for executables and directories, 600 for private keys. The SSH example is gold — 'permissions too open' is a rite of passage; now they'll know the fix instantly.</a:t>
            </a:r>
            <a:endParaRPr/>
          </a:p>
        </p:txBody>
      </p:sp>
      <p:sp>
        <p:nvSpPr>
          <p:cNvPr id="580" name="Google Shape;580;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reframe that saves hours: when something 'can't write', check OWNERSHIP before mode. The process runs as a user; that user must own (or have group access to) the path. The www-data example is the single most common real fix in web ops. Keep special bits light — just plant the vocabulary so it isn't scary later: setuid is why a normal user can run passwd to edit a root-owned file; sticky on /tmp is why you can't delete others' temp files. umask is the inverse mask that sets defaults — 022 yields 755 dirs / 644 files. One sentence each is enough today.</a:t>
            </a:r>
            <a:endParaRPr/>
          </a:p>
        </p:txBody>
      </p:sp>
      <p:sp>
        <p:nvSpPr>
          <p:cNvPr id="616" name="Google Shape;61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Tell them plainly: this is the highest-leverage day of the week. The difference between someone who's slow on a server and someone who's fast is almost entirely text-processing fluency. Everything is text streams, and these tools chain together with pipes. We start with the philosophy, then build up grep → cut → sed → awk → jq → yq.</a:t>
            </a:r>
            <a:endParaRPr/>
          </a:p>
        </p:txBody>
      </p:sp>
      <p:sp>
        <p:nvSpPr>
          <p:cNvPr id="649" name="Google Shape;649;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3" name="Google Shape;67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unifying idea for the whole day. Each tool does ONE thing well; the pipe | turns a series of small tools into a custom one-off program. Walk the four-stage pipeline left to right and narrate it in plain English — that translation skill (English ↔ pipeline) is what you're really teaching. Mention stderr vs stdout: it's why 2&gt;&amp;1 exists and why errors don't corrupt piped data. Don't drill redirection now; just seed &gt;, &gt;&gt;, | so the examples make sense.</a:t>
            </a:r>
            <a:endParaRPr/>
          </a:p>
        </p:txBody>
      </p:sp>
      <p:sp>
        <p:nvSpPr>
          <p:cNvPr id="674" name="Google Shape;67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5" name="Google Shape;70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grep is the workhorse — they'll use it hourly. Teach -i, -r, -n first; they cover most needs. -v (invert) is underrated: 'show me everything that ISN'T a health check' filters noise fast. -A/-B/-C for context is what turns a match into understanding — a lone error line rarely tells the story. Mention regex exists (-E for extended) but don't go down the rabbit hole today; one or two literal patterns plus -i covers 90% of real use.</a:t>
            </a:r>
            <a:endParaRPr/>
          </a:p>
        </p:txBody>
      </p:sp>
      <p:sp>
        <p:nvSpPr>
          <p:cNvPr id="706" name="Google Shape;706;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9" name="Google Shape;73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cut is the simplest field extractor — pick a delimiter (-d) and the field(s) (-f). The /etc/passwd example is perfect: colon-delimited, field 1 is the username. Then the killer combo: sort | uniq -c | sort -rn is the 'count and rank' pattern you'll reach for constantly (top IPs, top error types, busiest endpoints). Stress that uniq only collapses ADJACENT duplicates, so it must follow sort. tail -f gets a callback on Day 4 for live logs.</a:t>
            </a:r>
            <a:endParaRPr/>
          </a:p>
        </p:txBody>
      </p:sp>
      <p:sp>
        <p:nvSpPr>
          <p:cNvPr id="740" name="Google Shape;740;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1" name="Google Shape;77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sed = stream editor: it transforms text flowing past it. The one pattern that pays the rent is substitution s/old/new/ (add g for every match on a line, not just the first). The discipline to teach: ALWAYS run without -i first to preview, THEN add -i (and prefer -i.bak so you can undo). -i edits in place with no confirmation — it's a foot-gun in scripts. The anchored example s/^ENV=.*/ENV=prod/ shows real config rewriting, which is exactly what CI pipelines do.</a:t>
            </a:r>
            <a:endParaRPr/>
          </a:p>
        </p:txBody>
      </p:sp>
      <p:sp>
        <p:nvSpPr>
          <p:cNvPr id="772" name="Google Shape;772;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5" name="Google Shape;805;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Frame awk as 'grep that understands columns plus a little arithmetic'. The model: for every line, if the pattern matches, run the action; fields are $1..$NF, whole line is $0. Two patterns cover most needs: pick columns {print $1,$7} and accumulate {s+=$x} END{print s}. Don't teach awk as a full language today — that scares people. Show that it slots into pipes like everything else. Note column numbers depend on the log format; teach them to count fields first.</a:t>
            </a:r>
            <a:endParaRPr/>
          </a:p>
        </p:txBody>
      </p:sp>
      <p:sp>
        <p:nvSpPr>
          <p:cNvPr id="806" name="Google Shape;806;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7" name="Google Shape;837;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jq is non-negotiable in modern DevOps — kubectl, aws, gh, docker, and every REST API speak JSON. The mental model: a filter that takes JSON in and emits JSON (or raw text with -r) out. Build it up: . pretty-prints, .key drills in, .array[] explodes an array so you can map over it, select() filters. The -r flag is what makes output usable in scripts (strips quotes). Demo against a real curl to a public API if the network allows — seeing it tame messy JSON live is the hook.</a:t>
            </a:r>
            <a:endParaRPr/>
          </a:p>
        </p:txBody>
      </p:sp>
      <p:sp>
        <p:nvSpPr>
          <p:cNvPr id="838" name="Google Shape;838;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1" name="Google Shape;871;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Close the day by pairing yq with jq: same idea, YAML instead of JSON. The one thing that bites everyone — there are TWO different programs called yq. We use mikefarah's Go version (it's what's in your devcontainer); the Python pip yq has totally different syntax. The in-place edit yq -i '.spec.replicas=5' is the real-world move for patching manifests in a pipeline. End with the synthesis: grep/cut/sed/awk for unstructured text, jq for JSON, yq for YAML — between them you can read or rewrite literally any file on the system.</a:t>
            </a:r>
            <a:endParaRPr/>
          </a:p>
        </p:txBody>
      </p:sp>
      <p:sp>
        <p:nvSpPr>
          <p:cNvPr id="872" name="Google Shape;872;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3" name="Google Shape;903;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Day 4 is 'running the box'. This is where they become an operator, not just a user. The spine is systemd — it manages services, logs (journald), and scheduled work (timers). We bookend it with package management (apt) and process inspection (ps/btop). By end of day they can install a thing, run it as a managed service, watch it, and read its logs.</a:t>
            </a:r>
            <a:endParaRPr/>
          </a:p>
        </p:txBody>
      </p:sp>
      <p:sp>
        <p:nvSpPr>
          <p:cNvPr id="904" name="Google Shape;904;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8" name="Google Shape;928;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muscle memory to install: apt update first (refreshes the catalog — without it you install stale versions or get 'package not found'), then apt install. Explain the apt vs apt-get distinction briefly: apt is the modern, human-friendly front-end; apt-get/apt-cache are the older, script-stable tools. -y auto-confirms (essential in automation). remove vs purge: purge also deletes config files. Mention packages come from configured repositories, which is why update matters and why adding a repo is sometimes step zero.</a:t>
            </a:r>
            <a:endParaRPr/>
          </a:p>
        </p:txBody>
      </p:sp>
      <p:sp>
        <p:nvSpPr>
          <p:cNvPr id="929" name="Google Shape;929;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2" name="Google Shape;962;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ps aux is the snapshot everyone memorizes — pipe it through sort to rank by CPU or MEM. Teach the signal idea clearly: kill doesn't necessarily 'kill', it sends a signal. Default is TERM (15) = 'please shut down cleanly'; -9 is KILL = 'die now, no cleanup' and should be the last resort because it can corrupt state. btop is the live, interactive view (it's in your devcontainer) — great for demos and for watching a load test in real time. Contrast snapshot (ps) vs continuous (btop).</a:t>
            </a:r>
            <a:endParaRPr/>
          </a:p>
        </p:txBody>
      </p:sp>
      <p:sp>
        <p:nvSpPr>
          <p:cNvPr id="963" name="Google Shape;963;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4" name="Google Shape;994;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Give them the one-paragraph mental model before any commands: systemd is PID 1, the first process the kernel starts, and it supervises everything else. Work is described in 'unit' files. The distinction that confuses everyone and must be drilled: ENABLED (will start at next boot) vs ACTIVE/STARTED (running right now). You can have one without the other — a service can be running but not enabled (won't survive reboot), or enabled but currently stopped. Half of 'it worked until we rebooted' bugs are a service that was started but never enabled.</a:t>
            </a:r>
            <a:endParaRPr/>
          </a:p>
        </p:txBody>
      </p:sp>
      <p:sp>
        <p:nvSpPr>
          <p:cNvPr id="995" name="Google Shape;995;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3" name="Google Shape;1033;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verb-noun grammar: systemctl VERB UNIT. status is the one they'll run most — read the output together, especially the green 'active (running)' line and the tail of logs it shows. reload vs restart matters in production: reload re-reads config without dropping connections (nginx, etc.), restart bounces the process. enable --now is the shortcut that both starts AND enables in one go — it prevents the classic 'forgot to enable, died on reboot' bug. is-active/is-enabled return exit codes, which is how scripts check service health.</a:t>
            </a:r>
            <a:endParaRPr/>
          </a:p>
        </p:txBody>
      </p:sp>
      <p:sp>
        <p:nvSpPr>
          <p:cNvPr id="1034" name="Google Shape;1034;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7" name="Google Shape;1067;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slide that turns a script into production infrastructure. Walk the three sections: [Unit] is metadata + ordering (After=network.target means 'wait for networking'), [Service] is the how — which user, working dir, the ExecStart command, and crucially Restart=on-failure which gives you self-healing for free, [Install] wires it into the boot target. The gotcha everyone hits: after creating or editing a unit you MUST run systemctl daemon-reload or systemd won't see your changes. Then enable --now. Live-demo a trivial service if time allows — it's a confidence high.</a:t>
            </a:r>
            <a:endParaRPr/>
          </a:p>
        </p:txBody>
      </p:sp>
      <p:sp>
        <p:nvSpPr>
          <p:cNvPr id="1068" name="Google Shape;1068;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6" name="Google Shape;1096;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journalctl is the front door to systemd's logs (journald). The pattern that solves most incidents: journalctl -u &lt;service&gt; -p err -b → 'show me the errors for this service, this boot'. -f follows live, which you keep open in a second pane while restarting a service to watch it come up. Contrast with /var/log: many services still write plain files there (nginx, auth.log), but systemd-managed services log to the journal. Mention --since accepts both absolute times and friendly phrases like '1 hour ago'. This pairs directly with the service you just created.</a:t>
            </a:r>
            <a:endParaRPr/>
          </a:p>
        </p:txBody>
      </p:sp>
      <p:sp>
        <p:nvSpPr>
          <p:cNvPr id="1097" name="Google Shape;1097;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0" name="Google Shape;1130;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Decode the five fields slowly — most beginners reverse hour and minute. Read them left to right; the easy anchors are 0 2 * * * (daily 2am) and */5 * * * * (every 5 min). Two real-world gotchas to teach: cron runs with a minimal environment and a bare PATH, so use absolute paths to everything; and cron is silent by default — redirect output (&gt;&gt; log 2&gt;&amp;1) or you'll never know it failed. Mention user crontab (crontab -e) vs system /etc/cron.d. Then set up the contrast for the next slide: cron is simple but blind to dependencies and missed runs.</a:t>
            </a:r>
            <a:endParaRPr/>
          </a:p>
        </p:txBody>
      </p:sp>
      <p:sp>
        <p:nvSpPr>
          <p:cNvPr id="1131" name="Google Shape;1131;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5" name="Google Shape;1165;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takeaway: a timer is two units working together — a .timer that says WHEN, and a matching .service that says WHAT (usually Type=oneshot). It feels heavier than a one-line crontab, and for a personal box cron is fine. But on real infrastructure timers win: output lands in journalctl (cron's silence is a real operational hazard), Persistent=true runs a job that was missed because the machine was off, and you get dependency ordering. systemctl list-timers is the dashboard. Don't force a religious choice — give them the decision rule: cron for trivial, timers when it matters.</a:t>
            </a:r>
            <a:endParaRPr/>
          </a:p>
        </p:txBody>
      </p:sp>
      <p:sp>
        <p:nvSpPr>
          <p:cNvPr id="1166" name="Google Shape;1166;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6" name="Google Shape;1196;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Day 5 connects the box to the world. The arc: see your own network config (ip), test reachability and name resolution (ping/dig), see what ports are open (ss), then the crown jewel — SSH, which is HOW you reach every server you'll ever manage. Then ufw to control who can reach you, and curl/wget to pull things in. SSH and curl are the two they'll use every single day.</a:t>
            </a:r>
            <a:endParaRPr/>
          </a:p>
        </p:txBody>
      </p:sp>
      <p:sp>
        <p:nvSpPr>
          <p:cNvPr id="1197" name="Google Shape;1197;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9" name="Google Shape;1219;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Three sub-commands cover the day-to-day: ip a (what addresses do I have), ip r (where do packets go — the 'default via' line is your gateway), ip link (are interfaces even up). Tell them ifconfig is dead — they'll find it in old blog posts and it may not even be installed. The -br (brief) flag gives a clean, scriptable view. The diagnostic story: 'can't reach anything' → check ip a for an address, then ip r for a default route. No route = no internet.</a:t>
            </a:r>
            <a:endParaRPr/>
          </a:p>
        </p:txBody>
      </p:sp>
      <p:sp>
        <p:nvSpPr>
          <p:cNvPr id="1220" name="Google Shape;1220;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1" name="Google Shape;1251;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Teach this as a top-down diagnostic ladder for 'it's down': (1) does the name resolve? dig +short. (2) is the host reachable? ping (caveat: many hosts block ICMP, so a failed ping isn't proof). (3) is a process actually listening on the port? ss -tulpn — the flags read as TCP, UDP, listening, numeric, with PID. ss replaces netstat (still in the syllabus and still everywhere, same flags). The 'no one is listening' case is the aha — the service crashed, so the port is closed; that's different from a firewall blocking it, which is the next slide.</a:t>
            </a:r>
            <a:endParaRPr/>
          </a:p>
        </p:txBody>
      </p:sp>
      <p:sp>
        <p:nvSpPr>
          <p:cNvPr id="1252" name="Google Shape;1252;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1" name="Shape 1281"/>
        <p:cNvGrpSpPr/>
        <p:nvPr/>
      </p:nvGrpSpPr>
      <p:grpSpPr>
        <a:xfrm>
          <a:off x="0" y="0"/>
          <a:ext cx="0" cy="0"/>
          <a:chOff x="0" y="0"/>
          <a:chExt cx="0" cy="0"/>
        </a:xfrm>
      </p:grpSpPr>
      <p:sp>
        <p:nvSpPr>
          <p:cNvPr id="1282" name="Google Shape;1282;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3" name="Google Shape;1283;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arguably the most important command of the week — everything they do professionally happens through it. Teach key-based auth as the default, not an upgrade: a keypair where the public half lives on the server and the private half never leaves your laptop. ssh-keygen -t ed25519 to create, ssh-copy-id to install. Callback to Day 2: the private key must be chmod 600 or SSH refuses it. Then the productivity gem — ~/.ssh/config turns a long command into 'ssh prod'. Mention scp for files and 'ssh host command' for one-off remote commands (huge in scripts).</a:t>
            </a:r>
            <a:endParaRPr/>
          </a:p>
        </p:txBody>
      </p:sp>
      <p:sp>
        <p:nvSpPr>
          <p:cNvPr id="1284" name="Google Shape;1284;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8" name="Google Shape;1318;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ufw is the friendly front-end to iptables/nftables — default-deny inbound, then you poke holes for exactly what you need. Hammer the warning: the number-one self-inflicted outage for beginners is enabling the firewall over an SSH session WITHOUT first allowing port 22 — the session freezes and, on a remote box with no console, you're locked out. So the ritual is always: allow 22 first, then enable. Callback to Day 5's ss slide — allow only ports that something is actually listening on, and deny things like 3306/5432 from the public internet.</a:t>
            </a:r>
            <a:endParaRPr/>
          </a:p>
        </p:txBody>
      </p:sp>
      <p:sp>
        <p:nvSpPr>
          <p:cNvPr id="1319" name="Google Shape;1319;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2" name="Google Shape;1352;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curl is the swiss-army knife — it talks to APIs (-X method, -H headers, -d body) and downloads files; wget is simpler and shines at downloads (especially -c to resume, and recursive mirroring). The combo to show off: curl -s ... | jq — fetch JSON and slice it in one line, tying Day 3 to Day 5. Explain the magic flag set -fsSL that you see in every install one-liner. End on the security note: 'curl | bash' is convenient and everywhere, but it executes remote code as you — fine for trusted vendors, reckless for random gists. Read first.</a:t>
            </a:r>
            <a:endParaRPr/>
          </a:p>
        </p:txBody>
      </p:sp>
      <p:sp>
        <p:nvSpPr>
          <p:cNvPr id="1353" name="Google Shape;1353;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6" name="Google Shape;1386;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Day 6 ties the week together: a Bash script is just the commands from Days 1-5 saved in a file and made repeatable — that's the bridge to CI/CD and automation. Then archiving (backups, artifacts) and LVM (flexible storage you can grow). End the week on the synthesis slide. This is also the day the scenarios get most fun, because they can now automate a whole task end to end.</a:t>
            </a:r>
            <a:endParaRPr/>
          </a:p>
        </p:txBody>
      </p:sp>
      <p:sp>
        <p:nvSpPr>
          <p:cNvPr id="1387" name="Google Shape;1387;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7" name="Shape 1407"/>
        <p:cNvGrpSpPr/>
        <p:nvPr/>
      </p:nvGrpSpPr>
      <p:grpSpPr>
        <a:xfrm>
          <a:off x="0" y="0"/>
          <a:ext cx="0" cy="0"/>
          <a:chOff x="0" y="0"/>
          <a:chExt cx="0" cy="0"/>
        </a:xfrm>
      </p:grpSpPr>
      <p:sp>
        <p:nvSpPr>
          <p:cNvPr id="1408" name="Google Shape;1408;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9" name="Google Shape;1409;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Frame a script as 'commands you already know, saved and made repeatable' — demystifies it completely. The three things beginners get wrong: (1) the shebang line tells the OS which interpreter to use; (2) NO spaces around = in assignments (APP=myapp, never APP = myapp — that's the single most common error); (3) always quote "$VAR" or spaces and globs will bite you. Sell set -euo pipefail hard: by default Bash plows on after an error, which silently corrupts things; this line makes it stop and shout. $1, $@, $# are how scripts take input.</a:t>
            </a:r>
            <a:endParaRPr/>
          </a:p>
        </p:txBody>
      </p:sp>
      <p:sp>
        <p:nvSpPr>
          <p:cNvPr id="1410" name="Google Shape;1410;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3" name="Google Shape;1443;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Two ideas that make scripts dynamic and safe. Command substitution $(...) runs a command and drops its output right into your line — the timestamped-filename pattern is something they'll use forever. Exit codes are how the shell knows success (0) from failure (non-zero); $? holds the last one. &amp;&amp; and || are the compact form ('do this AND-THEN that', 'do this OR-ELSE that'). Note &gt;&amp;2 sends the error message to stderr (callback to Day 3) so it doesn't pollute normal output. This sets up conditionals on the next slide.</a:t>
            </a:r>
            <a:endParaRPr/>
          </a:p>
        </p:txBody>
      </p:sp>
      <p:sp>
        <p:nvSpPr>
          <p:cNvPr id="1444" name="Google Shape;1444;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3" name="Shape 1473"/>
        <p:cNvGrpSpPr/>
        <p:nvPr/>
      </p:nvGrpSpPr>
      <p:grpSpPr>
        <a:xfrm>
          <a:off x="0" y="0"/>
          <a:ext cx="0" cy="0"/>
          <a:chOff x="0" y="0"/>
          <a:chExt cx="0" cy="0"/>
        </a:xfrm>
      </p:grpSpPr>
      <p:sp>
        <p:nvSpPr>
          <p:cNvPr id="1474" name="Google Shape;1474;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5" name="Google Shape;1475;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Teach [[ ... ]] (the modern test) over the old [ ... ] — it's safer with strings and spaces. The high-value tests for ops are the file ones: -f (file there?), -d (dir there?), and -z (empty string, perfect for 'did they pass an argument?'). Stress the quirky gotchas: spaces are REQUIRED inside the brackets, and use -eq/-gt for numbers but =/!= for strings (mixing them is a classic bug). The 'no argument → print usage → exit 1' guard at the top of a script is a professional habit worth instilling now. Mention case for clean multi-way branching.</a:t>
            </a:r>
            <a:endParaRPr/>
          </a:p>
        </p:txBody>
      </p:sp>
      <p:sp>
        <p:nvSpPr>
          <p:cNvPr id="1476" name="Google Shape;1476;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7" name="Google Shape;1507;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Loops are where the productivity explodes — 'do this to all of them'. The for-over-a-list and for-over-a-glob (*.log) forms cover most ops work. while read is the right tool for processing a file or command output line by line (pairs with the pipes from Day 3). Reinforce the quoting habit: "$svc" and "$f" — a filename with a space will break an unquoted loop. The service-restart and log-compress examples are real chores they'll automate. Next slide assembles all of this into one script.</a:t>
            </a:r>
            <a:endParaRPr/>
          </a:p>
        </p:txBody>
      </p:sp>
      <p:sp>
        <p:nvSpPr>
          <p:cNvPr id="1508" name="Google Shape;1508;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7" name="Shape 1537"/>
        <p:cNvGrpSpPr/>
        <p:nvPr/>
      </p:nvGrpSpPr>
      <p:grpSpPr>
        <a:xfrm>
          <a:off x="0" y="0"/>
          <a:ext cx="0" cy="0"/>
          <a:chOff x="0" y="0"/>
          <a:chExt cx="0" cy="0"/>
        </a:xfrm>
      </p:grpSpPr>
      <p:sp>
        <p:nvSpPr>
          <p:cNvPr id="1538" name="Google Shape;1538;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9" name="Google Shape;1539;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This is the 'it all connects' moment — read it top to bottom and point at where each piece came from this week. It loops over services (Day 6), checks each with systemctl is-active (Day 4) inside a conditional (Day 6), sends failures to stderr (Day 3), counts failures, and exits non-zero if anything is down (so a monitoring system or cron job can detect failure). Tell them: schedule THIS with a systemd timer from Day 4 and you've built real monitoring from scratch. That realization — 'I can assemble primitives into infrastructure' — is the whole point of the course.</a:t>
            </a:r>
            <a:endParaRPr/>
          </a:p>
        </p:txBody>
      </p:sp>
      <p:sp>
        <p:nvSpPr>
          <p:cNvPr id="1540" name="Google Shape;1540;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5" name="Shape 1555"/>
        <p:cNvGrpSpPr/>
        <p:nvPr/>
      </p:nvGrpSpPr>
      <p:grpSpPr>
        <a:xfrm>
          <a:off x="0" y="0"/>
          <a:ext cx="0" cy="0"/>
          <a:chOff x="0" y="0"/>
          <a:chExt cx="0" cy="0"/>
        </a:xfrm>
      </p:grpSpPr>
      <p:sp>
        <p:nvSpPr>
          <p:cNvPr id="1556" name="Google Shape;1556;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7" name="Google Shape;1557;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 conceptual split clears up years of confusion: tar ARCHIVES (many files → one .tar, originally for tape), gzip COMPRESSES (one file → smaller). .tar.gz / .tgz is tar + gzip together, which the -z flag does in one shot. The flag mnemonic: c=create, x=extract, t=list, z=gzip, f=file, v=verbose. The habit to instill: tar -tzf to peek inside BEFORE extracting (so you don't dump files all over your current dir). zip/unzip when you need to exchange with Windows users. Combine with command substitution for dated backup names — callback to the last slides.</a:t>
            </a:r>
            <a:endParaRPr/>
          </a:p>
        </p:txBody>
      </p:sp>
      <p:sp>
        <p:nvSpPr>
          <p:cNvPr id="1558" name="Google Shape;1558;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0" name="Shape 1590"/>
        <p:cNvGrpSpPr/>
        <p:nvPr/>
      </p:nvGrpSpPr>
      <p:grpSpPr>
        <a:xfrm>
          <a:off x="0" y="0"/>
          <a:ext cx="0" cy="0"/>
          <a:chOff x="0" y="0"/>
          <a:chExt cx="0" cy="0"/>
        </a:xfrm>
      </p:grpSpPr>
      <p:sp>
        <p:nvSpPr>
          <p:cNvPr id="1591" name="Google Shape;1591;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2" name="Google Shape;1592;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Teach LVM as a layer of indirection between disks and filesystems, bottom-up: physical disks become PVs, PVs are pooled into a VG (one elastic pool), and you carve LVs out of the pool — and the LV is what you format and mount. The payoff that makes it worth the extra concepts: with plain partitions, a full /var is a painful migration; with LVM you add a disk to the VG and extend the LV while the system runs. Snapshots (a frozen point-in-time copy) are the other big win — take one before a risky change, roll back if it goes wrong. Keep it conceptual here; commands next slide.</a:t>
            </a:r>
            <a:endParaRPr/>
          </a:p>
        </p:txBody>
      </p:sp>
      <p:sp>
        <p:nvSpPr>
          <p:cNvPr id="1593" name="Google Shape;1593;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3" name="Shape 1613"/>
        <p:cNvGrpSpPr/>
        <p:nvPr/>
      </p:nvGrpSpPr>
      <p:grpSpPr>
        <a:xfrm>
          <a:off x="0" y="0"/>
          <a:ext cx="0" cy="0"/>
          <a:chOff x="0" y="0"/>
          <a:chExt cx="0" cy="0"/>
        </a:xfrm>
      </p:grpSpPr>
      <p:sp>
        <p:nvSpPr>
          <p:cNvPr id="1614" name="Google Shape;1614;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5" name="Google Shape;1615;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Map the four create-steps straight back onto the stack from the previous slide: pvcreate (disk→PV), vgcreate (PV→VG pool), lvcreate (carve an LV), then the normal mkfs + mount you'd do for any volume. The grow story is the whole reason LVM exists: vgextend adds capacity to the pool, then lvextend -L +10G -r grows the volume AND the filesystem in one go — the -r (resize filesystem) flag is the one people forget, leaving a bigger volume the filesystem can't see. End with df -h to prove it grew live, callback to Day 1. pvs/vgs/lvs are your inspection commands at each layer.</a:t>
            </a:r>
            <a:endParaRPr/>
          </a:p>
        </p:txBody>
      </p:sp>
      <p:sp>
        <p:nvSpPr>
          <p:cNvPr id="1616" name="Google Shape;1616;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1" name="Shape 1641"/>
        <p:cNvGrpSpPr/>
        <p:nvPr/>
      </p:nvGrpSpPr>
      <p:grpSpPr>
        <a:xfrm>
          <a:off x="0" y="0"/>
          <a:ext cx="0" cy="0"/>
          <a:chOff x="0" y="0"/>
          <a:chExt cx="0" cy="0"/>
        </a:xfrm>
      </p:grpSpPr>
      <p:sp>
        <p:nvSpPr>
          <p:cNvPr id="1642" name="Google Shape;1642;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3" name="Google Shape;1643;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Land the plane on the unifying idea, the same way Day 1 of the course landed on the infinity loop: small tools, plain text, pipes, scripts. That's the whole game. The most important durable skill isn't any one command — it's knowing the machine can teach you: man, --help, and tldr. Then preview the scenario work we'll build next: a broken-server exercise where they diagnose and fix using only this week's toolkit. Take questions, restate the one idea, and close.</a:t>
            </a:r>
            <a:endParaRPr/>
          </a:p>
        </p:txBody>
      </p:sp>
      <p:sp>
        <p:nvSpPr>
          <p:cNvPr id="1644" name="Google Shape;1644;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1.png"/><Relationship Id="rId6" Type="http://schemas.openxmlformats.org/officeDocument/2006/relationships/image" Target="../media/image6.png"/><Relationship Id="rId7" Type="http://schemas.openxmlformats.org/officeDocument/2006/relationships/image" Target="../media/image5.png"/><Relationship Id="rId8"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5.pn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2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2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2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5" name="Shape 15"/>
        <p:cNvGrpSpPr/>
        <p:nvPr/>
      </p:nvGrpSpPr>
      <p:grpSpPr>
        <a:xfrm>
          <a:off x="0" y="0"/>
          <a:ext cx="0" cy="0"/>
          <a:chOff x="0" y="0"/>
          <a:chExt cx="0" cy="0"/>
        </a:xfrm>
      </p:grpSpPr>
      <p:sp>
        <p:nvSpPr>
          <p:cNvPr id="16" name="Google Shape;16;p3"/>
          <p:cNvSpPr/>
          <p:nvPr/>
        </p:nvSpPr>
        <p:spPr>
          <a:xfrm>
            <a:off x="640080" y="777240"/>
            <a:ext cx="914400" cy="914400"/>
          </a:xfrm>
          <a:prstGeom prst="ellipse">
            <a:avLst/>
          </a:prstGeom>
          <a:solidFill>
            <a:srgbClr val="1E293B"/>
          </a:solidFill>
          <a:ln cap="flat" cmpd="sng" w="1905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 name="Google Shape;17;p3"/>
          <p:cNvPicPr preferRelativeResize="0"/>
          <p:nvPr/>
        </p:nvPicPr>
        <p:blipFill rotWithShape="1">
          <a:blip r:embed="rId3">
            <a:alphaModFix/>
          </a:blip>
          <a:srcRect b="0" l="0" r="0" t="0"/>
          <a:stretch/>
        </p:blipFill>
        <p:spPr>
          <a:xfrm>
            <a:off x="877824" y="1014984"/>
            <a:ext cx="438912" cy="438912"/>
          </a:xfrm>
          <a:prstGeom prst="rect">
            <a:avLst/>
          </a:prstGeom>
          <a:noFill/>
          <a:ln>
            <a:noFill/>
          </a:ln>
        </p:spPr>
      </p:pic>
      <p:sp>
        <p:nvSpPr>
          <p:cNvPr id="18" name="Google Shape;18;p3"/>
          <p:cNvSpPr/>
          <p:nvPr/>
        </p:nvSpPr>
        <p:spPr>
          <a:xfrm>
            <a:off x="658368" y="1874520"/>
            <a:ext cx="73152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97316"/>
              </a:buClr>
              <a:buSzPts val="1400"/>
              <a:buFont typeface="Calibri"/>
              <a:buNone/>
            </a:pPr>
            <a:r>
              <a:rPr b="1" i="0" lang="en-US" sz="1400" u="none" cap="none" strike="noStrike">
                <a:solidFill>
                  <a:srgbClr val="F97316"/>
                </a:solidFill>
                <a:latin typeface="Calibri"/>
                <a:ea typeface="Calibri"/>
                <a:cs typeface="Calibri"/>
                <a:sym typeface="Calibri"/>
              </a:rPr>
              <a:t>CHAPTER · WEEK 2</a:t>
            </a:r>
            <a:endParaRPr b="0" i="0" sz="1400" u="none" cap="none" strike="noStrike">
              <a:solidFill>
                <a:schemeClr val="dk1"/>
              </a:solidFill>
              <a:latin typeface="Calibri"/>
              <a:ea typeface="Calibri"/>
              <a:cs typeface="Calibri"/>
              <a:sym typeface="Calibri"/>
            </a:endParaRPr>
          </a:p>
        </p:txBody>
      </p:sp>
      <p:sp>
        <p:nvSpPr>
          <p:cNvPr id="19" name="Google Shape;19;p3"/>
          <p:cNvSpPr/>
          <p:nvPr/>
        </p:nvSpPr>
        <p:spPr>
          <a:xfrm>
            <a:off x="621792" y="2240280"/>
            <a:ext cx="8229600" cy="10515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5200"/>
              <a:buFont typeface="Bookman Old Style"/>
              <a:buNone/>
            </a:pPr>
            <a:r>
              <a:rPr b="1" i="0" lang="en-US" sz="5200" u="none" cap="none" strike="noStrike">
                <a:solidFill>
                  <a:srgbClr val="FFFFFF"/>
                </a:solidFill>
                <a:latin typeface="Bookman Old Style"/>
                <a:ea typeface="Bookman Old Style"/>
                <a:cs typeface="Bookman Old Style"/>
                <a:sym typeface="Bookman Old Style"/>
              </a:rPr>
              <a:t>Linux for DevOps</a:t>
            </a:r>
            <a:endParaRPr b="0" i="0" sz="5200" u="none" cap="none" strike="noStrike">
              <a:solidFill>
                <a:schemeClr val="dk1"/>
              </a:solidFill>
              <a:latin typeface="Calibri"/>
              <a:ea typeface="Calibri"/>
              <a:cs typeface="Calibri"/>
              <a:sym typeface="Calibri"/>
            </a:endParaRPr>
          </a:p>
        </p:txBody>
      </p:sp>
      <p:sp>
        <p:nvSpPr>
          <p:cNvPr id="20" name="Google Shape;20;p3"/>
          <p:cNvSpPr/>
          <p:nvPr/>
        </p:nvSpPr>
        <p:spPr>
          <a:xfrm>
            <a:off x="658368" y="3310128"/>
            <a:ext cx="80467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BD5E1"/>
              </a:buClr>
              <a:buSzPts val="1700"/>
              <a:buFont typeface="Calibri"/>
              <a:buNone/>
            </a:pPr>
            <a:r>
              <a:rPr b="0" i="1" lang="en-US" sz="1700" u="none" cap="none" strike="noStrike">
                <a:solidFill>
                  <a:srgbClr val="CBD5E1"/>
                </a:solidFill>
                <a:latin typeface="Calibri"/>
                <a:ea typeface="Calibri"/>
                <a:cs typeface="Calibri"/>
                <a:sym typeface="Calibri"/>
              </a:rPr>
              <a:t>The server is your workplace. Learn to live on the command line.</a:t>
            </a:r>
            <a:endParaRPr b="0" i="0" sz="1700" u="none" cap="none" strike="noStrike">
              <a:solidFill>
                <a:schemeClr val="dk1"/>
              </a:solidFill>
              <a:latin typeface="Calibri"/>
              <a:ea typeface="Calibri"/>
              <a:cs typeface="Calibri"/>
              <a:sym typeface="Calibri"/>
            </a:endParaRPr>
          </a:p>
        </p:txBody>
      </p:sp>
      <p:sp>
        <p:nvSpPr>
          <p:cNvPr id="21" name="Google Shape;21;p3"/>
          <p:cNvSpPr/>
          <p:nvPr/>
        </p:nvSpPr>
        <p:spPr>
          <a:xfrm>
            <a:off x="658368" y="3977640"/>
            <a:ext cx="80467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D9488"/>
              </a:buClr>
              <a:buSzPts val="1300"/>
              <a:buFont typeface="Calibri"/>
              <a:buNone/>
            </a:pPr>
            <a:r>
              <a:rPr b="1" i="0" lang="en-US" sz="1300" u="none" cap="none" strike="noStrike">
                <a:solidFill>
                  <a:srgbClr val="0D9488"/>
                </a:solidFill>
                <a:latin typeface="Calibri"/>
                <a:ea typeface="Calibri"/>
                <a:cs typeface="Calibri"/>
                <a:sym typeface="Calibri"/>
              </a:rPr>
              <a:t>6 sessions</a:t>
            </a:r>
            <a:r>
              <a:rPr b="0" i="0" lang="en-US" sz="1300" u="none" cap="none" strike="noStrike">
                <a:solidFill>
                  <a:srgbClr val="94A3B8"/>
                </a:solidFill>
                <a:latin typeface="Calibri"/>
                <a:ea typeface="Calibri"/>
                <a:cs typeface="Calibri"/>
                <a:sym typeface="Calibri"/>
              </a:rPr>
              <a:t>   ·   17 tool families   ·   one mental model</a:t>
            </a:r>
            <a:endParaRPr b="0" i="0" sz="1300" u="none" cap="none" strike="noStrike">
              <a:solidFill>
                <a:schemeClr val="dk1"/>
              </a:solidFill>
              <a:latin typeface="Calibri"/>
              <a:ea typeface="Calibri"/>
              <a:cs typeface="Calibri"/>
              <a:sym typeface="Calibri"/>
            </a:endParaRPr>
          </a:p>
        </p:txBody>
      </p:sp>
      <p:sp>
        <p:nvSpPr>
          <p:cNvPr id="22" name="Google Shape;22;p3"/>
          <p:cNvSpPr/>
          <p:nvPr/>
        </p:nvSpPr>
        <p:spPr>
          <a:xfrm>
            <a:off x="658368" y="4526280"/>
            <a:ext cx="73152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200"/>
              <a:buFont typeface="Calibri"/>
              <a:buNone/>
            </a:pPr>
            <a:r>
              <a:rPr b="0" i="0" lang="en-US" sz="1200" u="none" cap="none" strike="noStrike">
                <a:solidFill>
                  <a:srgbClr val="64748B"/>
                </a:solidFill>
                <a:latin typeface="Calibri"/>
                <a:ea typeface="Calibri"/>
                <a:cs typeface="Calibri"/>
                <a:sym typeface="Calibri"/>
              </a:rPr>
              <a:t>Instructor · Sagyam Thapa</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7" name="Shape 27"/>
        <p:cNvGrpSpPr/>
        <p:nvPr/>
      </p:nvGrpSpPr>
      <p:grpSpPr>
        <a:xfrm>
          <a:off x="0" y="0"/>
          <a:ext cx="0" cy="0"/>
          <a:chOff x="0" y="0"/>
          <a:chExt cx="0" cy="0"/>
        </a:xfrm>
      </p:grpSpPr>
      <p:sp>
        <p:nvSpPr>
          <p:cNvPr id="28" name="Google Shape;28;p4"/>
          <p:cNvSpPr/>
          <p:nvPr/>
        </p:nvSpPr>
        <p:spPr>
          <a:xfrm>
            <a:off x="457200" y="310896"/>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3000"/>
              <a:buFont typeface="Bookman Old Style"/>
              <a:buNone/>
            </a:pPr>
            <a:r>
              <a:rPr b="1" i="0" lang="en-US" sz="3000" u="none" cap="none" strike="noStrike">
                <a:solidFill>
                  <a:srgbClr val="0F172A"/>
                </a:solidFill>
                <a:latin typeface="Bookman Old Style"/>
                <a:ea typeface="Bookman Old Style"/>
                <a:cs typeface="Bookman Old Style"/>
                <a:sym typeface="Bookman Old Style"/>
              </a:rPr>
              <a:t>The week at a glance</a:t>
            </a:r>
            <a:endParaRPr b="0" i="0" sz="3000" u="none" cap="none" strike="noStrike">
              <a:solidFill>
                <a:schemeClr val="dk1"/>
              </a:solidFill>
              <a:latin typeface="Calibri"/>
              <a:ea typeface="Calibri"/>
              <a:cs typeface="Calibri"/>
              <a:sym typeface="Calibri"/>
            </a:endParaRPr>
          </a:p>
        </p:txBody>
      </p:sp>
      <p:sp>
        <p:nvSpPr>
          <p:cNvPr id="29" name="Google Shape;29;p4"/>
          <p:cNvSpPr/>
          <p:nvPr/>
        </p:nvSpPr>
        <p:spPr>
          <a:xfrm>
            <a:off x="457200" y="896112"/>
            <a:ext cx="82296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300"/>
              <a:buFont typeface="Calibri"/>
              <a:buNone/>
            </a:pPr>
            <a:r>
              <a:rPr b="0" i="1" lang="en-US" sz="1300" u="none" cap="none" strike="noStrike">
                <a:solidFill>
                  <a:srgbClr val="1E293B"/>
                </a:solidFill>
                <a:latin typeface="Calibri"/>
                <a:ea typeface="Calibri"/>
                <a:cs typeface="Calibri"/>
                <a:sym typeface="Calibri"/>
              </a:rPr>
              <a:t>Each day builds on the last: orient → control access → transform text → run the system → connect it → automate it.</a:t>
            </a:r>
            <a:endParaRPr b="0" i="0" sz="1300" u="none" cap="none" strike="noStrike">
              <a:solidFill>
                <a:schemeClr val="dk1"/>
              </a:solidFill>
              <a:latin typeface="Calibri"/>
              <a:ea typeface="Calibri"/>
              <a:cs typeface="Calibri"/>
              <a:sym typeface="Calibri"/>
            </a:endParaRPr>
          </a:p>
        </p:txBody>
      </p:sp>
      <p:sp>
        <p:nvSpPr>
          <p:cNvPr id="30" name="Google Shape;30;p4"/>
          <p:cNvSpPr/>
          <p:nvPr/>
        </p:nvSpPr>
        <p:spPr>
          <a:xfrm>
            <a:off x="457200" y="1371600"/>
            <a:ext cx="2615184" cy="1572768"/>
          </a:xfrm>
          <a:prstGeom prst="roundRect">
            <a:avLst>
              <a:gd fmla="val 407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4"/>
          <p:cNvSpPr/>
          <p:nvPr/>
        </p:nvSpPr>
        <p:spPr>
          <a:xfrm>
            <a:off x="658368" y="1572768"/>
            <a:ext cx="548640" cy="548640"/>
          </a:xfrm>
          <a:prstGeom prst="ellipse">
            <a:avLst/>
          </a:prstGeom>
          <a:solidFill>
            <a:srgbClr val="0F17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2" name="Google Shape;32;p4"/>
          <p:cNvPicPr preferRelativeResize="0"/>
          <p:nvPr/>
        </p:nvPicPr>
        <p:blipFill rotWithShape="1">
          <a:blip r:embed="rId3">
            <a:alphaModFix/>
          </a:blip>
          <a:srcRect b="0" l="0" r="0" t="0"/>
          <a:stretch/>
        </p:blipFill>
        <p:spPr>
          <a:xfrm>
            <a:off x="786384" y="1700784"/>
            <a:ext cx="292608" cy="292608"/>
          </a:xfrm>
          <a:prstGeom prst="rect">
            <a:avLst/>
          </a:prstGeom>
          <a:noFill/>
          <a:ln>
            <a:noFill/>
          </a:ln>
        </p:spPr>
      </p:pic>
      <p:sp>
        <p:nvSpPr>
          <p:cNvPr id="33" name="Google Shape;33;p4"/>
          <p:cNvSpPr/>
          <p:nvPr/>
        </p:nvSpPr>
        <p:spPr>
          <a:xfrm>
            <a:off x="1325880" y="1572768"/>
            <a:ext cx="1609344"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97316"/>
              </a:buClr>
              <a:buSzPts val="1100"/>
              <a:buFont typeface="Calibri"/>
              <a:buNone/>
            </a:pPr>
            <a:r>
              <a:rPr b="1" i="0" lang="en-US" sz="1100" u="none" cap="none" strike="noStrike">
                <a:solidFill>
                  <a:srgbClr val="F97316"/>
                </a:solidFill>
                <a:latin typeface="Calibri"/>
                <a:ea typeface="Calibri"/>
                <a:cs typeface="Calibri"/>
                <a:sym typeface="Calibri"/>
              </a:rPr>
              <a:t>DAY 1</a:t>
            </a:r>
            <a:endParaRPr b="0" i="0" sz="1100" u="none" cap="none" strike="noStrike">
              <a:solidFill>
                <a:schemeClr val="dk1"/>
              </a:solidFill>
              <a:latin typeface="Calibri"/>
              <a:ea typeface="Calibri"/>
              <a:cs typeface="Calibri"/>
              <a:sym typeface="Calibri"/>
            </a:endParaRPr>
          </a:p>
        </p:txBody>
      </p:sp>
      <p:sp>
        <p:nvSpPr>
          <p:cNvPr id="34" name="Google Shape;34;p4"/>
          <p:cNvSpPr/>
          <p:nvPr/>
        </p:nvSpPr>
        <p:spPr>
          <a:xfrm>
            <a:off x="1325880" y="1792224"/>
            <a:ext cx="16093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172A"/>
              </a:buClr>
              <a:buSzPts val="1450"/>
              <a:buFont typeface="Bookman Old Style"/>
              <a:buNone/>
            </a:pPr>
            <a:r>
              <a:rPr b="1" i="0" lang="en-US" sz="1450" u="none" cap="none" strike="noStrike">
                <a:solidFill>
                  <a:srgbClr val="0F172A"/>
                </a:solidFill>
                <a:latin typeface="Bookman Old Style"/>
                <a:ea typeface="Bookman Old Style"/>
                <a:cs typeface="Bookman Old Style"/>
                <a:sym typeface="Bookman Old Style"/>
              </a:rPr>
              <a:t>Living in the Filesystem</a:t>
            </a:r>
            <a:endParaRPr b="0" i="0" sz="1450" u="none" cap="none" strike="noStrike">
              <a:solidFill>
                <a:schemeClr val="dk1"/>
              </a:solidFill>
              <a:latin typeface="Calibri"/>
              <a:ea typeface="Calibri"/>
              <a:cs typeface="Calibri"/>
              <a:sym typeface="Calibri"/>
            </a:endParaRPr>
          </a:p>
        </p:txBody>
      </p:sp>
      <p:sp>
        <p:nvSpPr>
          <p:cNvPr id="35" name="Google Shape;35;p4"/>
          <p:cNvSpPr/>
          <p:nvPr/>
        </p:nvSpPr>
        <p:spPr>
          <a:xfrm>
            <a:off x="676656" y="2322576"/>
            <a:ext cx="219456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Navigate, create, copy, edit (vim/nano)</a:t>
            </a:r>
            <a:endParaRPr b="0" i="0" sz="1100" u="none" cap="none" strike="noStrike">
              <a:solidFill>
                <a:schemeClr val="dk1"/>
              </a:solidFill>
              <a:latin typeface="Calibri"/>
              <a:ea typeface="Calibri"/>
              <a:cs typeface="Calibri"/>
              <a:sym typeface="Calibri"/>
            </a:endParaRPr>
          </a:p>
        </p:txBody>
      </p:sp>
      <p:sp>
        <p:nvSpPr>
          <p:cNvPr id="36" name="Google Shape;36;p4"/>
          <p:cNvSpPr/>
          <p:nvPr/>
        </p:nvSpPr>
        <p:spPr>
          <a:xfrm>
            <a:off x="3264408" y="1371600"/>
            <a:ext cx="2615184" cy="1572768"/>
          </a:xfrm>
          <a:prstGeom prst="roundRect">
            <a:avLst>
              <a:gd fmla="val 407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4"/>
          <p:cNvSpPr/>
          <p:nvPr/>
        </p:nvSpPr>
        <p:spPr>
          <a:xfrm>
            <a:off x="3465576" y="1572768"/>
            <a:ext cx="548640" cy="548640"/>
          </a:xfrm>
          <a:prstGeom prst="ellipse">
            <a:avLst/>
          </a:prstGeom>
          <a:solidFill>
            <a:srgbClr val="0F17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8" name="Google Shape;38;p4"/>
          <p:cNvPicPr preferRelativeResize="0"/>
          <p:nvPr/>
        </p:nvPicPr>
        <p:blipFill rotWithShape="1">
          <a:blip r:embed="rId4">
            <a:alphaModFix/>
          </a:blip>
          <a:srcRect b="0" l="0" r="0" t="0"/>
          <a:stretch/>
        </p:blipFill>
        <p:spPr>
          <a:xfrm>
            <a:off x="3593592" y="1700784"/>
            <a:ext cx="292608" cy="292608"/>
          </a:xfrm>
          <a:prstGeom prst="rect">
            <a:avLst/>
          </a:prstGeom>
          <a:noFill/>
          <a:ln>
            <a:noFill/>
          </a:ln>
        </p:spPr>
      </p:pic>
      <p:sp>
        <p:nvSpPr>
          <p:cNvPr id="39" name="Google Shape;39;p4"/>
          <p:cNvSpPr/>
          <p:nvPr/>
        </p:nvSpPr>
        <p:spPr>
          <a:xfrm>
            <a:off x="4133088" y="1572768"/>
            <a:ext cx="1609344"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97316"/>
              </a:buClr>
              <a:buSzPts val="1100"/>
              <a:buFont typeface="Calibri"/>
              <a:buNone/>
            </a:pPr>
            <a:r>
              <a:rPr b="1" i="0" lang="en-US" sz="1100" u="none" cap="none" strike="noStrike">
                <a:solidFill>
                  <a:srgbClr val="F97316"/>
                </a:solidFill>
                <a:latin typeface="Calibri"/>
                <a:ea typeface="Calibri"/>
                <a:cs typeface="Calibri"/>
                <a:sym typeface="Calibri"/>
              </a:rPr>
              <a:t>DAY 2</a:t>
            </a:r>
            <a:endParaRPr b="0" i="0" sz="1100" u="none" cap="none" strike="noStrike">
              <a:solidFill>
                <a:schemeClr val="dk1"/>
              </a:solidFill>
              <a:latin typeface="Calibri"/>
              <a:ea typeface="Calibri"/>
              <a:cs typeface="Calibri"/>
              <a:sym typeface="Calibri"/>
            </a:endParaRPr>
          </a:p>
        </p:txBody>
      </p:sp>
      <p:sp>
        <p:nvSpPr>
          <p:cNvPr id="40" name="Google Shape;40;p4"/>
          <p:cNvSpPr/>
          <p:nvPr/>
        </p:nvSpPr>
        <p:spPr>
          <a:xfrm>
            <a:off x="4133088" y="1792224"/>
            <a:ext cx="16093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172A"/>
              </a:buClr>
              <a:buSzPts val="1450"/>
              <a:buFont typeface="Bookman Old Style"/>
              <a:buNone/>
            </a:pPr>
            <a:r>
              <a:rPr b="1" i="0" lang="en-US" sz="1450" u="none" cap="none" strike="noStrike">
                <a:solidFill>
                  <a:srgbClr val="0F172A"/>
                </a:solidFill>
                <a:latin typeface="Bookman Old Style"/>
                <a:ea typeface="Bookman Old Style"/>
                <a:cs typeface="Bookman Old Style"/>
                <a:sym typeface="Bookman Old Style"/>
              </a:rPr>
              <a:t>Users &amp; Permissions</a:t>
            </a:r>
            <a:endParaRPr b="0" i="0" sz="1450" u="none" cap="none" strike="noStrike">
              <a:solidFill>
                <a:schemeClr val="dk1"/>
              </a:solidFill>
              <a:latin typeface="Calibri"/>
              <a:ea typeface="Calibri"/>
              <a:cs typeface="Calibri"/>
              <a:sym typeface="Calibri"/>
            </a:endParaRPr>
          </a:p>
        </p:txBody>
      </p:sp>
      <p:sp>
        <p:nvSpPr>
          <p:cNvPr id="41" name="Google Shape;41;p4"/>
          <p:cNvSpPr/>
          <p:nvPr/>
        </p:nvSpPr>
        <p:spPr>
          <a:xfrm>
            <a:off x="3483864" y="2322576"/>
            <a:ext cx="219456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Accounts, groups, ownership, rwx &amp; chmod</a:t>
            </a:r>
            <a:endParaRPr b="0" i="0" sz="1100" u="none" cap="none" strike="noStrike">
              <a:solidFill>
                <a:schemeClr val="dk1"/>
              </a:solidFill>
              <a:latin typeface="Calibri"/>
              <a:ea typeface="Calibri"/>
              <a:cs typeface="Calibri"/>
              <a:sym typeface="Calibri"/>
            </a:endParaRPr>
          </a:p>
        </p:txBody>
      </p:sp>
      <p:sp>
        <p:nvSpPr>
          <p:cNvPr id="42" name="Google Shape;42;p4"/>
          <p:cNvSpPr/>
          <p:nvPr/>
        </p:nvSpPr>
        <p:spPr>
          <a:xfrm>
            <a:off x="6071616" y="1371600"/>
            <a:ext cx="2615184" cy="1572768"/>
          </a:xfrm>
          <a:prstGeom prst="roundRect">
            <a:avLst>
              <a:gd fmla="val 407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4"/>
          <p:cNvSpPr/>
          <p:nvPr/>
        </p:nvSpPr>
        <p:spPr>
          <a:xfrm>
            <a:off x="6272784" y="1572768"/>
            <a:ext cx="548640" cy="548640"/>
          </a:xfrm>
          <a:prstGeom prst="ellipse">
            <a:avLst/>
          </a:prstGeom>
          <a:solidFill>
            <a:srgbClr val="0F17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4" name="Google Shape;44;p4"/>
          <p:cNvPicPr preferRelativeResize="0"/>
          <p:nvPr/>
        </p:nvPicPr>
        <p:blipFill rotWithShape="1">
          <a:blip r:embed="rId5">
            <a:alphaModFix/>
          </a:blip>
          <a:srcRect b="0" l="0" r="0" t="0"/>
          <a:stretch/>
        </p:blipFill>
        <p:spPr>
          <a:xfrm>
            <a:off x="6400800" y="1700784"/>
            <a:ext cx="292608" cy="292608"/>
          </a:xfrm>
          <a:prstGeom prst="rect">
            <a:avLst/>
          </a:prstGeom>
          <a:noFill/>
          <a:ln>
            <a:noFill/>
          </a:ln>
        </p:spPr>
      </p:pic>
      <p:sp>
        <p:nvSpPr>
          <p:cNvPr id="45" name="Google Shape;45;p4"/>
          <p:cNvSpPr/>
          <p:nvPr/>
        </p:nvSpPr>
        <p:spPr>
          <a:xfrm>
            <a:off x="6940296" y="1572768"/>
            <a:ext cx="1609344"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97316"/>
              </a:buClr>
              <a:buSzPts val="1100"/>
              <a:buFont typeface="Calibri"/>
              <a:buNone/>
            </a:pPr>
            <a:r>
              <a:rPr b="1" i="0" lang="en-US" sz="1100" u="none" cap="none" strike="noStrike">
                <a:solidFill>
                  <a:srgbClr val="F97316"/>
                </a:solidFill>
                <a:latin typeface="Calibri"/>
                <a:ea typeface="Calibri"/>
                <a:cs typeface="Calibri"/>
                <a:sym typeface="Calibri"/>
              </a:rPr>
              <a:t>DAY 3</a:t>
            </a:r>
            <a:endParaRPr b="0" i="0" sz="1100" u="none" cap="none" strike="noStrike">
              <a:solidFill>
                <a:schemeClr val="dk1"/>
              </a:solidFill>
              <a:latin typeface="Calibri"/>
              <a:ea typeface="Calibri"/>
              <a:cs typeface="Calibri"/>
              <a:sym typeface="Calibri"/>
            </a:endParaRPr>
          </a:p>
        </p:txBody>
      </p:sp>
      <p:sp>
        <p:nvSpPr>
          <p:cNvPr id="46" name="Google Shape;46;p4"/>
          <p:cNvSpPr/>
          <p:nvPr/>
        </p:nvSpPr>
        <p:spPr>
          <a:xfrm>
            <a:off x="6940296" y="1792224"/>
            <a:ext cx="16093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172A"/>
              </a:buClr>
              <a:buSzPts val="1450"/>
              <a:buFont typeface="Bookman Old Style"/>
              <a:buNone/>
            </a:pPr>
            <a:r>
              <a:rPr b="1" i="0" lang="en-US" sz="1450" u="none" cap="none" strike="noStrike">
                <a:solidFill>
                  <a:srgbClr val="0F172A"/>
                </a:solidFill>
                <a:latin typeface="Bookman Old Style"/>
                <a:ea typeface="Bookman Old Style"/>
                <a:cs typeface="Bookman Old Style"/>
                <a:sym typeface="Bookman Old Style"/>
              </a:rPr>
              <a:t>Text Processing</a:t>
            </a:r>
            <a:endParaRPr b="0" i="0" sz="1450" u="none" cap="none" strike="noStrike">
              <a:solidFill>
                <a:schemeClr val="dk1"/>
              </a:solidFill>
              <a:latin typeface="Calibri"/>
              <a:ea typeface="Calibri"/>
              <a:cs typeface="Calibri"/>
              <a:sym typeface="Calibri"/>
            </a:endParaRPr>
          </a:p>
        </p:txBody>
      </p:sp>
      <p:sp>
        <p:nvSpPr>
          <p:cNvPr id="47" name="Google Shape;47;p4"/>
          <p:cNvSpPr/>
          <p:nvPr/>
        </p:nvSpPr>
        <p:spPr>
          <a:xfrm>
            <a:off x="6291072" y="2322576"/>
            <a:ext cx="219456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grep · sed · awk · cut · jq · yq</a:t>
            </a:r>
            <a:endParaRPr b="0" i="0" sz="1100" u="none" cap="none" strike="noStrike">
              <a:solidFill>
                <a:schemeClr val="dk1"/>
              </a:solidFill>
              <a:latin typeface="Calibri"/>
              <a:ea typeface="Calibri"/>
              <a:cs typeface="Calibri"/>
              <a:sym typeface="Calibri"/>
            </a:endParaRPr>
          </a:p>
        </p:txBody>
      </p:sp>
      <p:sp>
        <p:nvSpPr>
          <p:cNvPr id="48" name="Google Shape;48;p4"/>
          <p:cNvSpPr/>
          <p:nvPr/>
        </p:nvSpPr>
        <p:spPr>
          <a:xfrm>
            <a:off x="457200" y="3145536"/>
            <a:ext cx="2615184" cy="1572768"/>
          </a:xfrm>
          <a:prstGeom prst="roundRect">
            <a:avLst>
              <a:gd fmla="val 407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4"/>
          <p:cNvSpPr/>
          <p:nvPr/>
        </p:nvSpPr>
        <p:spPr>
          <a:xfrm>
            <a:off x="658368" y="3346704"/>
            <a:ext cx="548640" cy="548640"/>
          </a:xfrm>
          <a:prstGeom prst="ellipse">
            <a:avLst/>
          </a:prstGeom>
          <a:solidFill>
            <a:srgbClr val="0F17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0" name="Google Shape;50;p4"/>
          <p:cNvPicPr preferRelativeResize="0"/>
          <p:nvPr/>
        </p:nvPicPr>
        <p:blipFill rotWithShape="1">
          <a:blip r:embed="rId6">
            <a:alphaModFix/>
          </a:blip>
          <a:srcRect b="0" l="0" r="0" t="0"/>
          <a:stretch/>
        </p:blipFill>
        <p:spPr>
          <a:xfrm>
            <a:off x="786384" y="3474720"/>
            <a:ext cx="292608" cy="292608"/>
          </a:xfrm>
          <a:prstGeom prst="rect">
            <a:avLst/>
          </a:prstGeom>
          <a:noFill/>
          <a:ln>
            <a:noFill/>
          </a:ln>
        </p:spPr>
      </p:pic>
      <p:sp>
        <p:nvSpPr>
          <p:cNvPr id="51" name="Google Shape;51;p4"/>
          <p:cNvSpPr/>
          <p:nvPr/>
        </p:nvSpPr>
        <p:spPr>
          <a:xfrm>
            <a:off x="1325880" y="3346704"/>
            <a:ext cx="1609344"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97316"/>
              </a:buClr>
              <a:buSzPts val="1100"/>
              <a:buFont typeface="Calibri"/>
              <a:buNone/>
            </a:pPr>
            <a:r>
              <a:rPr b="1" i="0" lang="en-US" sz="1100" u="none" cap="none" strike="noStrike">
                <a:solidFill>
                  <a:srgbClr val="F97316"/>
                </a:solidFill>
                <a:latin typeface="Calibri"/>
                <a:ea typeface="Calibri"/>
                <a:cs typeface="Calibri"/>
                <a:sym typeface="Calibri"/>
              </a:rPr>
              <a:t>DAY 4</a:t>
            </a:r>
            <a:endParaRPr b="0" i="0" sz="1100" u="none" cap="none" strike="noStrike">
              <a:solidFill>
                <a:schemeClr val="dk1"/>
              </a:solidFill>
              <a:latin typeface="Calibri"/>
              <a:ea typeface="Calibri"/>
              <a:cs typeface="Calibri"/>
              <a:sym typeface="Calibri"/>
            </a:endParaRPr>
          </a:p>
        </p:txBody>
      </p:sp>
      <p:sp>
        <p:nvSpPr>
          <p:cNvPr id="52" name="Google Shape;52;p4"/>
          <p:cNvSpPr/>
          <p:nvPr/>
        </p:nvSpPr>
        <p:spPr>
          <a:xfrm>
            <a:off x="1325880" y="3566160"/>
            <a:ext cx="16093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172A"/>
              </a:buClr>
              <a:buSzPts val="1450"/>
              <a:buFont typeface="Bookman Old Style"/>
              <a:buNone/>
            </a:pPr>
            <a:r>
              <a:rPr b="1" i="0" lang="en-US" sz="1450" u="none" cap="none" strike="noStrike">
                <a:solidFill>
                  <a:srgbClr val="0F172A"/>
                </a:solidFill>
                <a:latin typeface="Bookman Old Style"/>
                <a:ea typeface="Bookman Old Style"/>
                <a:cs typeface="Bookman Old Style"/>
                <a:sym typeface="Bookman Old Style"/>
              </a:rPr>
              <a:t>Administering the System</a:t>
            </a:r>
            <a:endParaRPr b="0" i="0" sz="1450" u="none" cap="none" strike="noStrike">
              <a:solidFill>
                <a:schemeClr val="dk1"/>
              </a:solidFill>
              <a:latin typeface="Calibri"/>
              <a:ea typeface="Calibri"/>
              <a:cs typeface="Calibri"/>
              <a:sym typeface="Calibri"/>
            </a:endParaRPr>
          </a:p>
        </p:txBody>
      </p:sp>
      <p:sp>
        <p:nvSpPr>
          <p:cNvPr id="53" name="Google Shape;53;p4"/>
          <p:cNvSpPr/>
          <p:nvPr/>
        </p:nvSpPr>
        <p:spPr>
          <a:xfrm>
            <a:off x="676656" y="4096512"/>
            <a:ext cx="219456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apt · processes · services · logs · cron</a:t>
            </a:r>
            <a:endParaRPr b="0" i="0" sz="1100" u="none" cap="none" strike="noStrike">
              <a:solidFill>
                <a:schemeClr val="dk1"/>
              </a:solidFill>
              <a:latin typeface="Calibri"/>
              <a:ea typeface="Calibri"/>
              <a:cs typeface="Calibri"/>
              <a:sym typeface="Calibri"/>
            </a:endParaRPr>
          </a:p>
        </p:txBody>
      </p:sp>
      <p:sp>
        <p:nvSpPr>
          <p:cNvPr id="54" name="Google Shape;54;p4"/>
          <p:cNvSpPr/>
          <p:nvPr/>
        </p:nvSpPr>
        <p:spPr>
          <a:xfrm>
            <a:off x="3264408" y="3145536"/>
            <a:ext cx="2615184" cy="1572768"/>
          </a:xfrm>
          <a:prstGeom prst="roundRect">
            <a:avLst>
              <a:gd fmla="val 407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4"/>
          <p:cNvSpPr/>
          <p:nvPr/>
        </p:nvSpPr>
        <p:spPr>
          <a:xfrm>
            <a:off x="3465576" y="3346704"/>
            <a:ext cx="548640" cy="548640"/>
          </a:xfrm>
          <a:prstGeom prst="ellipse">
            <a:avLst/>
          </a:prstGeom>
          <a:solidFill>
            <a:srgbClr val="0F17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6" name="Google Shape;56;p4"/>
          <p:cNvPicPr preferRelativeResize="0"/>
          <p:nvPr/>
        </p:nvPicPr>
        <p:blipFill rotWithShape="1">
          <a:blip r:embed="rId7">
            <a:alphaModFix/>
          </a:blip>
          <a:srcRect b="0" l="0" r="0" t="0"/>
          <a:stretch/>
        </p:blipFill>
        <p:spPr>
          <a:xfrm>
            <a:off x="3593592" y="3474720"/>
            <a:ext cx="292608" cy="292608"/>
          </a:xfrm>
          <a:prstGeom prst="rect">
            <a:avLst/>
          </a:prstGeom>
          <a:noFill/>
          <a:ln>
            <a:noFill/>
          </a:ln>
        </p:spPr>
      </p:pic>
      <p:sp>
        <p:nvSpPr>
          <p:cNvPr id="57" name="Google Shape;57;p4"/>
          <p:cNvSpPr/>
          <p:nvPr/>
        </p:nvSpPr>
        <p:spPr>
          <a:xfrm>
            <a:off x="4133088" y="3346704"/>
            <a:ext cx="1609344"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97316"/>
              </a:buClr>
              <a:buSzPts val="1100"/>
              <a:buFont typeface="Calibri"/>
              <a:buNone/>
            </a:pPr>
            <a:r>
              <a:rPr b="1" i="0" lang="en-US" sz="1100" u="none" cap="none" strike="noStrike">
                <a:solidFill>
                  <a:srgbClr val="F97316"/>
                </a:solidFill>
                <a:latin typeface="Calibri"/>
                <a:ea typeface="Calibri"/>
                <a:cs typeface="Calibri"/>
                <a:sym typeface="Calibri"/>
              </a:rPr>
              <a:t>DAY 5</a:t>
            </a:r>
            <a:endParaRPr b="0" i="0" sz="1100" u="none" cap="none" strike="noStrike">
              <a:solidFill>
                <a:schemeClr val="dk1"/>
              </a:solidFill>
              <a:latin typeface="Calibri"/>
              <a:ea typeface="Calibri"/>
              <a:cs typeface="Calibri"/>
              <a:sym typeface="Calibri"/>
            </a:endParaRPr>
          </a:p>
        </p:txBody>
      </p:sp>
      <p:sp>
        <p:nvSpPr>
          <p:cNvPr id="58" name="Google Shape;58;p4"/>
          <p:cNvSpPr/>
          <p:nvPr/>
        </p:nvSpPr>
        <p:spPr>
          <a:xfrm>
            <a:off x="4133088" y="3566160"/>
            <a:ext cx="16093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172A"/>
              </a:buClr>
              <a:buSzPts val="1450"/>
              <a:buFont typeface="Bookman Old Style"/>
              <a:buNone/>
            </a:pPr>
            <a:r>
              <a:rPr b="1" i="0" lang="en-US" sz="1450" u="none" cap="none" strike="noStrike">
                <a:solidFill>
                  <a:srgbClr val="0F172A"/>
                </a:solidFill>
                <a:latin typeface="Bookman Old Style"/>
                <a:ea typeface="Bookman Old Style"/>
                <a:cs typeface="Bookman Old Style"/>
                <a:sym typeface="Bookman Old Style"/>
              </a:rPr>
              <a:t>Networking &amp; Remote</a:t>
            </a:r>
            <a:endParaRPr b="0" i="0" sz="1450" u="none" cap="none" strike="noStrike">
              <a:solidFill>
                <a:schemeClr val="dk1"/>
              </a:solidFill>
              <a:latin typeface="Calibri"/>
              <a:ea typeface="Calibri"/>
              <a:cs typeface="Calibri"/>
              <a:sym typeface="Calibri"/>
            </a:endParaRPr>
          </a:p>
        </p:txBody>
      </p:sp>
      <p:sp>
        <p:nvSpPr>
          <p:cNvPr id="59" name="Google Shape;59;p4"/>
          <p:cNvSpPr/>
          <p:nvPr/>
        </p:nvSpPr>
        <p:spPr>
          <a:xfrm>
            <a:off x="3483864" y="4096512"/>
            <a:ext cx="219456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ip · dig · ssh · ufw · curl/wget</a:t>
            </a:r>
            <a:endParaRPr b="0" i="0" sz="1100" u="none" cap="none" strike="noStrike">
              <a:solidFill>
                <a:schemeClr val="dk1"/>
              </a:solidFill>
              <a:latin typeface="Calibri"/>
              <a:ea typeface="Calibri"/>
              <a:cs typeface="Calibri"/>
              <a:sym typeface="Calibri"/>
            </a:endParaRPr>
          </a:p>
        </p:txBody>
      </p:sp>
      <p:sp>
        <p:nvSpPr>
          <p:cNvPr id="60" name="Google Shape;60;p4"/>
          <p:cNvSpPr/>
          <p:nvPr/>
        </p:nvSpPr>
        <p:spPr>
          <a:xfrm>
            <a:off x="6071616" y="3145536"/>
            <a:ext cx="2615184" cy="1572768"/>
          </a:xfrm>
          <a:prstGeom prst="roundRect">
            <a:avLst>
              <a:gd fmla="val 407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4"/>
          <p:cNvSpPr/>
          <p:nvPr/>
        </p:nvSpPr>
        <p:spPr>
          <a:xfrm>
            <a:off x="6272784" y="3346704"/>
            <a:ext cx="548640" cy="548640"/>
          </a:xfrm>
          <a:prstGeom prst="ellipse">
            <a:avLst/>
          </a:prstGeom>
          <a:solidFill>
            <a:srgbClr val="0F172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2" name="Google Shape;62;p4"/>
          <p:cNvPicPr preferRelativeResize="0"/>
          <p:nvPr/>
        </p:nvPicPr>
        <p:blipFill rotWithShape="1">
          <a:blip r:embed="rId8">
            <a:alphaModFix/>
          </a:blip>
          <a:srcRect b="0" l="0" r="0" t="0"/>
          <a:stretch/>
        </p:blipFill>
        <p:spPr>
          <a:xfrm>
            <a:off x="6400800" y="3474720"/>
            <a:ext cx="292608" cy="292608"/>
          </a:xfrm>
          <a:prstGeom prst="rect">
            <a:avLst/>
          </a:prstGeom>
          <a:noFill/>
          <a:ln>
            <a:noFill/>
          </a:ln>
        </p:spPr>
      </p:pic>
      <p:sp>
        <p:nvSpPr>
          <p:cNvPr id="63" name="Google Shape;63;p4"/>
          <p:cNvSpPr/>
          <p:nvPr/>
        </p:nvSpPr>
        <p:spPr>
          <a:xfrm>
            <a:off x="6940296" y="3346704"/>
            <a:ext cx="1609344"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97316"/>
              </a:buClr>
              <a:buSzPts val="1100"/>
              <a:buFont typeface="Calibri"/>
              <a:buNone/>
            </a:pPr>
            <a:r>
              <a:rPr b="1" i="0" lang="en-US" sz="1100" u="none" cap="none" strike="noStrike">
                <a:solidFill>
                  <a:srgbClr val="F97316"/>
                </a:solidFill>
                <a:latin typeface="Calibri"/>
                <a:ea typeface="Calibri"/>
                <a:cs typeface="Calibri"/>
                <a:sym typeface="Calibri"/>
              </a:rPr>
              <a:t>DAY 6</a:t>
            </a:r>
            <a:endParaRPr b="0" i="0" sz="1100" u="none" cap="none" strike="noStrike">
              <a:solidFill>
                <a:schemeClr val="dk1"/>
              </a:solidFill>
              <a:latin typeface="Calibri"/>
              <a:ea typeface="Calibri"/>
              <a:cs typeface="Calibri"/>
              <a:sym typeface="Calibri"/>
            </a:endParaRPr>
          </a:p>
        </p:txBody>
      </p:sp>
      <p:sp>
        <p:nvSpPr>
          <p:cNvPr id="64" name="Google Shape;64;p4"/>
          <p:cNvSpPr/>
          <p:nvPr/>
        </p:nvSpPr>
        <p:spPr>
          <a:xfrm>
            <a:off x="6940296" y="3566160"/>
            <a:ext cx="1609344" cy="40233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172A"/>
              </a:buClr>
              <a:buSzPts val="1450"/>
              <a:buFont typeface="Bookman Old Style"/>
              <a:buNone/>
            </a:pPr>
            <a:r>
              <a:rPr b="1" i="0" lang="en-US" sz="1450" u="none" cap="none" strike="noStrike">
                <a:solidFill>
                  <a:srgbClr val="0F172A"/>
                </a:solidFill>
                <a:latin typeface="Bookman Old Style"/>
                <a:ea typeface="Bookman Old Style"/>
                <a:cs typeface="Bookman Old Style"/>
                <a:sym typeface="Bookman Old Style"/>
              </a:rPr>
              <a:t>Scripting &amp; Storage</a:t>
            </a:r>
            <a:endParaRPr b="0" i="0" sz="1450" u="none" cap="none" strike="noStrike">
              <a:solidFill>
                <a:schemeClr val="dk1"/>
              </a:solidFill>
              <a:latin typeface="Calibri"/>
              <a:ea typeface="Calibri"/>
              <a:cs typeface="Calibri"/>
              <a:sym typeface="Calibri"/>
            </a:endParaRPr>
          </a:p>
        </p:txBody>
      </p:sp>
      <p:sp>
        <p:nvSpPr>
          <p:cNvPr id="65" name="Google Shape;65;p4"/>
          <p:cNvSpPr/>
          <p:nvPr/>
        </p:nvSpPr>
        <p:spPr>
          <a:xfrm>
            <a:off x="6291072" y="4096512"/>
            <a:ext cx="219456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Bash scripts · tar/zip · LVM</a:t>
            </a:r>
            <a:endParaRPr b="0" i="0" sz="1100" u="none" cap="none" strike="noStrike">
              <a:solidFill>
                <a:schemeClr val="dk1"/>
              </a:solidFill>
              <a:latin typeface="Calibri"/>
              <a:ea typeface="Calibri"/>
              <a:cs typeface="Calibri"/>
              <a:sym typeface="Calibri"/>
            </a:endParaRPr>
          </a:p>
        </p:txBody>
      </p:sp>
      <p:sp>
        <p:nvSpPr>
          <p:cNvPr id="66" name="Google Shape;66;p4"/>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67" name="Google Shape;67;p4"/>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Roadmap</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72" name="Shape 72"/>
        <p:cNvGrpSpPr/>
        <p:nvPr/>
      </p:nvGrpSpPr>
      <p:grpSpPr>
        <a:xfrm>
          <a:off x="0" y="0"/>
          <a:ext cx="0" cy="0"/>
          <a:chOff x="0" y="0"/>
          <a:chExt cx="0" cy="0"/>
        </a:xfrm>
      </p:grpSpPr>
      <p:sp>
        <p:nvSpPr>
          <p:cNvPr id="73" name="Google Shape;73;p5"/>
          <p:cNvSpPr/>
          <p:nvPr/>
        </p:nvSpPr>
        <p:spPr>
          <a:xfrm>
            <a:off x="640080" y="960120"/>
            <a:ext cx="3657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97316"/>
              </a:buClr>
              <a:buSzPts val="1700"/>
              <a:buFont typeface="Calibri"/>
              <a:buNone/>
            </a:pPr>
            <a:r>
              <a:rPr b="1" i="0" lang="en-US" sz="1700" u="none" cap="none" strike="noStrike">
                <a:solidFill>
                  <a:srgbClr val="F97316"/>
                </a:solidFill>
                <a:latin typeface="Calibri"/>
                <a:ea typeface="Calibri"/>
                <a:cs typeface="Calibri"/>
                <a:sym typeface="Calibri"/>
              </a:rPr>
              <a:t>DAY 1</a:t>
            </a:r>
            <a:endParaRPr b="0" i="0" sz="1700" u="none" cap="none" strike="noStrike">
              <a:solidFill>
                <a:schemeClr val="dk1"/>
              </a:solidFill>
              <a:latin typeface="Calibri"/>
              <a:ea typeface="Calibri"/>
              <a:cs typeface="Calibri"/>
              <a:sym typeface="Calibri"/>
            </a:endParaRPr>
          </a:p>
        </p:txBody>
      </p:sp>
      <p:sp>
        <p:nvSpPr>
          <p:cNvPr id="74" name="Google Shape;74;p5"/>
          <p:cNvSpPr/>
          <p:nvPr/>
        </p:nvSpPr>
        <p:spPr>
          <a:xfrm>
            <a:off x="640080" y="1417320"/>
            <a:ext cx="676656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900"/>
              <a:buFont typeface="Bookman Old Style"/>
              <a:buNone/>
            </a:pPr>
            <a:r>
              <a:rPr b="1" i="0" lang="en-US" sz="3900" u="none" cap="none" strike="noStrike">
                <a:solidFill>
                  <a:srgbClr val="FFFFFF"/>
                </a:solidFill>
                <a:latin typeface="Bookman Old Style"/>
                <a:ea typeface="Bookman Old Style"/>
                <a:cs typeface="Bookman Old Style"/>
                <a:sym typeface="Bookman Old Style"/>
              </a:rPr>
              <a:t>Living in the Filesystem</a:t>
            </a:r>
            <a:endParaRPr b="0" i="0" sz="3900" u="none" cap="none" strike="noStrike">
              <a:solidFill>
                <a:schemeClr val="dk1"/>
              </a:solidFill>
              <a:latin typeface="Calibri"/>
              <a:ea typeface="Calibri"/>
              <a:cs typeface="Calibri"/>
              <a:sym typeface="Calibri"/>
            </a:endParaRPr>
          </a:p>
        </p:txBody>
      </p:sp>
      <p:sp>
        <p:nvSpPr>
          <p:cNvPr id="75" name="Google Shape;75;p5"/>
          <p:cNvSpPr/>
          <p:nvPr/>
        </p:nvSpPr>
        <p:spPr>
          <a:xfrm>
            <a:off x="658368" y="2487168"/>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500"/>
              <a:buFont typeface="Calibri"/>
              <a:buNone/>
            </a:pPr>
            <a:r>
              <a:rPr b="0" i="1" lang="en-US" sz="1500" u="none" cap="none" strike="noStrike">
                <a:solidFill>
                  <a:srgbClr val="94A3B8"/>
                </a:solidFill>
                <a:latin typeface="Calibri"/>
                <a:ea typeface="Calibri"/>
                <a:cs typeface="Calibri"/>
                <a:sym typeface="Calibri"/>
              </a:rPr>
              <a:t>First, how Linux is actually built — then orient yourself, manipulate files, and edit text, all from the terminal.</a:t>
            </a:r>
            <a:endParaRPr b="0" i="0" sz="1500" u="none" cap="none" strike="noStrike">
              <a:solidFill>
                <a:schemeClr val="dk1"/>
              </a:solidFill>
              <a:latin typeface="Calibri"/>
              <a:ea typeface="Calibri"/>
              <a:cs typeface="Calibri"/>
              <a:sym typeface="Calibri"/>
            </a:endParaRPr>
          </a:p>
        </p:txBody>
      </p:sp>
      <p:sp>
        <p:nvSpPr>
          <p:cNvPr id="76" name="Google Shape;76;p5"/>
          <p:cNvSpPr/>
          <p:nvPr/>
        </p:nvSpPr>
        <p:spPr>
          <a:xfrm>
            <a:off x="7315200" y="914400"/>
            <a:ext cx="1280160" cy="1280160"/>
          </a:xfrm>
          <a:prstGeom prst="ellipse">
            <a:avLst/>
          </a:prstGeom>
          <a:solidFill>
            <a:srgbClr val="1E293B"/>
          </a:solidFill>
          <a:ln cap="flat" cmpd="sng" w="1905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7" name="Google Shape;77;p5"/>
          <p:cNvPicPr preferRelativeResize="0"/>
          <p:nvPr/>
        </p:nvPicPr>
        <p:blipFill rotWithShape="1">
          <a:blip r:embed="rId3">
            <a:alphaModFix/>
          </a:blip>
          <a:srcRect b="0" l="0" r="0" t="0"/>
          <a:stretch/>
        </p:blipFill>
        <p:spPr>
          <a:xfrm>
            <a:off x="7680960" y="1280160"/>
            <a:ext cx="548640" cy="548640"/>
          </a:xfrm>
          <a:prstGeom prst="rect">
            <a:avLst/>
          </a:prstGeom>
          <a:noFill/>
          <a:ln>
            <a:noFill/>
          </a:ln>
        </p:spPr>
      </p:pic>
      <p:sp>
        <p:nvSpPr>
          <p:cNvPr id="78" name="Google Shape;78;p5"/>
          <p:cNvSpPr/>
          <p:nvPr/>
        </p:nvSpPr>
        <p:spPr>
          <a:xfrm>
            <a:off x="640080" y="3383280"/>
            <a:ext cx="1049731"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5"/>
          <p:cNvSpPr/>
          <p:nvPr/>
        </p:nvSpPr>
        <p:spPr>
          <a:xfrm>
            <a:off x="640080" y="3383280"/>
            <a:ext cx="1049731"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the stack</a:t>
            </a:r>
            <a:endParaRPr b="0" i="0" sz="1250" u="none" cap="none" strike="noStrike">
              <a:solidFill>
                <a:schemeClr val="dk1"/>
              </a:solidFill>
              <a:latin typeface="Calibri"/>
              <a:ea typeface="Calibri"/>
              <a:cs typeface="Calibri"/>
              <a:sym typeface="Calibri"/>
            </a:endParaRPr>
          </a:p>
        </p:txBody>
      </p:sp>
      <p:sp>
        <p:nvSpPr>
          <p:cNvPr id="80" name="Google Shape;80;p5"/>
          <p:cNvSpPr/>
          <p:nvPr/>
        </p:nvSpPr>
        <p:spPr>
          <a:xfrm>
            <a:off x="1854403" y="3383280"/>
            <a:ext cx="881482"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5"/>
          <p:cNvSpPr/>
          <p:nvPr/>
        </p:nvSpPr>
        <p:spPr>
          <a:xfrm>
            <a:off x="1854403" y="3383280"/>
            <a:ext cx="88148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distros</a:t>
            </a:r>
            <a:endParaRPr b="0" i="0" sz="1250" u="none" cap="none" strike="noStrike">
              <a:solidFill>
                <a:schemeClr val="dk1"/>
              </a:solidFill>
              <a:latin typeface="Calibri"/>
              <a:ea typeface="Calibri"/>
              <a:cs typeface="Calibri"/>
              <a:sym typeface="Calibri"/>
            </a:endParaRPr>
          </a:p>
        </p:txBody>
      </p:sp>
      <p:sp>
        <p:nvSpPr>
          <p:cNvPr id="82" name="Google Shape;82;p5"/>
          <p:cNvSpPr/>
          <p:nvPr/>
        </p:nvSpPr>
        <p:spPr>
          <a:xfrm>
            <a:off x="2900477" y="3383280"/>
            <a:ext cx="1133856"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5"/>
          <p:cNvSpPr/>
          <p:nvPr/>
        </p:nvSpPr>
        <p:spPr>
          <a:xfrm>
            <a:off x="2900477" y="3383280"/>
            <a:ext cx="113385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navigation</a:t>
            </a:r>
            <a:endParaRPr b="0" i="0" sz="1250" u="none" cap="none" strike="noStrike">
              <a:solidFill>
                <a:schemeClr val="dk1"/>
              </a:solidFill>
              <a:latin typeface="Calibri"/>
              <a:ea typeface="Calibri"/>
              <a:cs typeface="Calibri"/>
              <a:sym typeface="Calibri"/>
            </a:endParaRPr>
          </a:p>
        </p:txBody>
      </p:sp>
      <p:sp>
        <p:nvSpPr>
          <p:cNvPr id="84" name="Google Shape;84;p5"/>
          <p:cNvSpPr/>
          <p:nvPr/>
        </p:nvSpPr>
        <p:spPr>
          <a:xfrm>
            <a:off x="4198925" y="3383280"/>
            <a:ext cx="1302106"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5"/>
          <p:cNvSpPr/>
          <p:nvPr/>
        </p:nvSpPr>
        <p:spPr>
          <a:xfrm>
            <a:off x="4198925" y="3383280"/>
            <a:ext cx="130210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files &amp; dirs</a:t>
            </a:r>
            <a:endParaRPr b="0" i="0" sz="1250" u="none" cap="none" strike="noStrike">
              <a:solidFill>
                <a:schemeClr val="dk1"/>
              </a:solidFill>
              <a:latin typeface="Calibri"/>
              <a:ea typeface="Calibri"/>
              <a:cs typeface="Calibri"/>
              <a:sym typeface="Calibri"/>
            </a:endParaRPr>
          </a:p>
        </p:txBody>
      </p:sp>
      <p:sp>
        <p:nvSpPr>
          <p:cNvPr id="86" name="Google Shape;86;p5"/>
          <p:cNvSpPr/>
          <p:nvPr/>
        </p:nvSpPr>
        <p:spPr>
          <a:xfrm>
            <a:off x="5665622" y="3383280"/>
            <a:ext cx="881482"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5"/>
          <p:cNvSpPr/>
          <p:nvPr/>
        </p:nvSpPr>
        <p:spPr>
          <a:xfrm>
            <a:off x="5665622" y="3383280"/>
            <a:ext cx="88148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the FHS</a:t>
            </a:r>
            <a:endParaRPr b="0" i="0" sz="1250" u="none" cap="none" strike="noStrike">
              <a:solidFill>
                <a:schemeClr val="dk1"/>
              </a:solidFill>
              <a:latin typeface="Calibri"/>
              <a:ea typeface="Calibri"/>
              <a:cs typeface="Calibri"/>
              <a:sym typeface="Calibri"/>
            </a:endParaRPr>
          </a:p>
        </p:txBody>
      </p:sp>
      <p:sp>
        <p:nvSpPr>
          <p:cNvPr id="88" name="Google Shape;88;p5"/>
          <p:cNvSpPr/>
          <p:nvPr/>
        </p:nvSpPr>
        <p:spPr>
          <a:xfrm>
            <a:off x="6711696" y="3383280"/>
            <a:ext cx="1133856"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5"/>
          <p:cNvSpPr/>
          <p:nvPr/>
        </p:nvSpPr>
        <p:spPr>
          <a:xfrm>
            <a:off x="6711696" y="3383280"/>
            <a:ext cx="113385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vim · nano</a:t>
            </a:r>
            <a:endParaRPr b="0" i="0" sz="1250" u="none" cap="none" strike="noStrike">
              <a:solidFill>
                <a:schemeClr val="dk1"/>
              </a:solidFill>
              <a:latin typeface="Calibri"/>
              <a:ea typeface="Calibri"/>
              <a:cs typeface="Calibri"/>
              <a:sym typeface="Calibri"/>
            </a:endParaRPr>
          </a:p>
        </p:txBody>
      </p:sp>
      <p:sp>
        <p:nvSpPr>
          <p:cNvPr id="90" name="Google Shape;90;p5"/>
          <p:cNvSpPr/>
          <p:nvPr/>
        </p:nvSpPr>
        <p:spPr>
          <a:xfrm>
            <a:off x="640080" y="457200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the command line is the DevOps workplace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95" name="Shape 95"/>
        <p:cNvGrpSpPr/>
        <p:nvPr/>
      </p:nvGrpSpPr>
      <p:grpSpPr>
        <a:xfrm>
          <a:off x="0" y="0"/>
          <a:ext cx="0" cy="0"/>
          <a:chOff x="0" y="0"/>
          <a:chExt cx="0" cy="0"/>
        </a:xfrm>
      </p:grpSpPr>
      <p:sp>
        <p:nvSpPr>
          <p:cNvPr id="96" name="Google Shape;96;p6"/>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How Linux is actually built</a:t>
            </a:r>
            <a:endParaRPr b="0" i="0" sz="2900" u="none" cap="none" strike="noStrike">
              <a:solidFill>
                <a:schemeClr val="dk1"/>
              </a:solidFill>
              <a:latin typeface="Calibri"/>
              <a:ea typeface="Calibri"/>
              <a:cs typeface="Calibri"/>
              <a:sym typeface="Calibri"/>
            </a:endParaRPr>
          </a:p>
        </p:txBody>
      </p:sp>
      <p:sp>
        <p:nvSpPr>
          <p:cNvPr id="97" name="Google Shape;97;p6"/>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8" name="Google Shape;98;p6"/>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99" name="Google Shape;99;p6"/>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"Linux" is just the kernel. Everything you call an OS is layers stacked on top — and DevOps lives in those layers.</a:t>
            </a:r>
            <a:endParaRPr b="0" i="0" sz="1300" u="none" cap="none" strike="noStrike">
              <a:solidFill>
                <a:schemeClr val="dk1"/>
              </a:solidFill>
              <a:latin typeface="Calibri"/>
              <a:ea typeface="Calibri"/>
              <a:cs typeface="Calibri"/>
              <a:sym typeface="Calibri"/>
            </a:endParaRPr>
          </a:p>
        </p:txBody>
      </p:sp>
      <p:sp>
        <p:nvSpPr>
          <p:cNvPr id="100" name="Google Shape;100;p6"/>
          <p:cNvSpPr/>
          <p:nvPr/>
        </p:nvSpPr>
        <p:spPr>
          <a:xfrm>
            <a:off x="457200" y="1481328"/>
            <a:ext cx="4892040" cy="566928"/>
          </a:xfrm>
          <a:prstGeom prst="roundRect">
            <a:avLst>
              <a:gd fmla="val 9677" name="adj"/>
            </a:avLst>
          </a:prstGeom>
          <a:solidFill>
            <a:srgbClr val="FFFFFF"/>
          </a:solidFill>
          <a:ln cap="flat" cmpd="sng" w="15225">
            <a:solidFill>
              <a:srgbClr val="CBD5E1"/>
            </a:solidFill>
            <a:prstDash val="solid"/>
            <a:round/>
            <a:headEnd len="sm" w="sm" type="none"/>
            <a:tailEnd len="sm" w="sm" type="none"/>
          </a:ln>
          <a:effectLst>
            <a:outerShdw blurRad="63500" rotWithShape="0" algn="bl" dir="2700000" dist="25400">
              <a:srgbClr val="475569">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6"/>
          <p:cNvSpPr/>
          <p:nvPr/>
        </p:nvSpPr>
        <p:spPr>
          <a:xfrm>
            <a:off x="640080" y="1517904"/>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1350"/>
              <a:buFont typeface="Bookman Old Style"/>
              <a:buNone/>
            </a:pPr>
            <a:r>
              <a:rPr b="1" i="0" lang="en-US" sz="1350" u="none" cap="none" strike="noStrike">
                <a:solidFill>
                  <a:srgbClr val="0F172A"/>
                </a:solidFill>
                <a:latin typeface="Bookman Old Style"/>
                <a:ea typeface="Bookman Old Style"/>
                <a:cs typeface="Bookman Old Style"/>
                <a:sym typeface="Bookman Old Style"/>
              </a:rPr>
              <a:t>Applications</a:t>
            </a:r>
            <a:endParaRPr b="0" i="0" sz="1350" u="none" cap="none" strike="noStrike">
              <a:solidFill>
                <a:schemeClr val="dk1"/>
              </a:solidFill>
              <a:latin typeface="Calibri"/>
              <a:ea typeface="Calibri"/>
              <a:cs typeface="Calibri"/>
              <a:sym typeface="Calibri"/>
            </a:endParaRPr>
          </a:p>
        </p:txBody>
      </p:sp>
      <p:sp>
        <p:nvSpPr>
          <p:cNvPr id="102" name="Google Shape;102;p6"/>
          <p:cNvSpPr/>
          <p:nvPr/>
        </p:nvSpPr>
        <p:spPr>
          <a:xfrm>
            <a:off x="640080" y="1773936"/>
            <a:ext cx="45720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your API, nginx, scripts, containers</a:t>
            </a:r>
            <a:endParaRPr b="0" i="0" sz="1000" u="none" cap="none" strike="noStrike">
              <a:solidFill>
                <a:schemeClr val="dk1"/>
              </a:solidFill>
              <a:latin typeface="Calibri"/>
              <a:ea typeface="Calibri"/>
              <a:cs typeface="Calibri"/>
              <a:sym typeface="Calibri"/>
            </a:endParaRPr>
          </a:p>
        </p:txBody>
      </p:sp>
      <p:sp>
        <p:nvSpPr>
          <p:cNvPr id="103" name="Google Shape;103;p6"/>
          <p:cNvSpPr/>
          <p:nvPr/>
        </p:nvSpPr>
        <p:spPr>
          <a:xfrm>
            <a:off x="457200" y="2139696"/>
            <a:ext cx="4892040" cy="566928"/>
          </a:xfrm>
          <a:prstGeom prst="roundRect">
            <a:avLst>
              <a:gd fmla="val 9677" name="adj"/>
            </a:avLst>
          </a:prstGeom>
          <a:solidFill>
            <a:srgbClr val="FFFFFF"/>
          </a:solidFill>
          <a:ln cap="flat" cmpd="sng" w="15225">
            <a:solidFill>
              <a:srgbClr val="CBD5E1"/>
            </a:solidFill>
            <a:prstDash val="solid"/>
            <a:round/>
            <a:headEnd len="sm" w="sm" type="none"/>
            <a:tailEnd len="sm" w="sm" type="none"/>
          </a:ln>
          <a:effectLst>
            <a:outerShdw blurRad="63500" rotWithShape="0" algn="bl" dir="2700000" dist="25400">
              <a:srgbClr val="475569">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6"/>
          <p:cNvSpPr/>
          <p:nvPr/>
        </p:nvSpPr>
        <p:spPr>
          <a:xfrm>
            <a:off x="640080" y="2176272"/>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1350"/>
              <a:buFont typeface="Bookman Old Style"/>
              <a:buNone/>
            </a:pPr>
            <a:r>
              <a:rPr b="1" i="0" lang="en-US" sz="1350" u="none" cap="none" strike="noStrike">
                <a:solidFill>
                  <a:srgbClr val="0F172A"/>
                </a:solidFill>
                <a:latin typeface="Bookman Old Style"/>
                <a:ea typeface="Bookman Old Style"/>
                <a:cs typeface="Bookman Old Style"/>
                <a:sym typeface="Bookman Old Style"/>
              </a:rPr>
              <a:t>Shell &amp; user space</a:t>
            </a:r>
            <a:endParaRPr b="0" i="0" sz="1350" u="none" cap="none" strike="noStrike">
              <a:solidFill>
                <a:schemeClr val="dk1"/>
              </a:solidFill>
              <a:latin typeface="Calibri"/>
              <a:ea typeface="Calibri"/>
              <a:cs typeface="Calibri"/>
              <a:sym typeface="Calibri"/>
            </a:endParaRPr>
          </a:p>
        </p:txBody>
      </p:sp>
      <p:sp>
        <p:nvSpPr>
          <p:cNvPr id="105" name="Google Shape;105;p6"/>
          <p:cNvSpPr/>
          <p:nvPr/>
        </p:nvSpPr>
        <p:spPr>
          <a:xfrm>
            <a:off x="640080" y="2432304"/>
            <a:ext cx="45720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bash / zsh + GNU coreutils: ls, grep, cp</a:t>
            </a:r>
            <a:endParaRPr b="0" i="0" sz="1000" u="none" cap="none" strike="noStrike">
              <a:solidFill>
                <a:schemeClr val="dk1"/>
              </a:solidFill>
              <a:latin typeface="Calibri"/>
              <a:ea typeface="Calibri"/>
              <a:cs typeface="Calibri"/>
              <a:sym typeface="Calibri"/>
            </a:endParaRPr>
          </a:p>
        </p:txBody>
      </p:sp>
      <p:sp>
        <p:nvSpPr>
          <p:cNvPr id="106" name="Google Shape;106;p6"/>
          <p:cNvSpPr/>
          <p:nvPr/>
        </p:nvSpPr>
        <p:spPr>
          <a:xfrm>
            <a:off x="457200" y="2798064"/>
            <a:ext cx="4892040" cy="566928"/>
          </a:xfrm>
          <a:prstGeom prst="roundRect">
            <a:avLst>
              <a:gd fmla="val 9677" name="adj"/>
            </a:avLst>
          </a:prstGeom>
          <a:solidFill>
            <a:srgbClr val="FFF7ED"/>
          </a:solidFill>
          <a:ln cap="flat" cmpd="sng" w="15225">
            <a:solidFill>
              <a:srgbClr val="F97316"/>
            </a:solidFill>
            <a:prstDash val="solid"/>
            <a:round/>
            <a:headEnd len="sm" w="sm" type="none"/>
            <a:tailEnd len="sm" w="sm" type="none"/>
          </a:ln>
          <a:effectLst>
            <a:outerShdw blurRad="63500" rotWithShape="0" algn="bl" dir="2700000" dist="25400">
              <a:srgbClr val="475569">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6"/>
          <p:cNvSpPr/>
          <p:nvPr/>
        </p:nvSpPr>
        <p:spPr>
          <a:xfrm>
            <a:off x="640080" y="2834640"/>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50"/>
              <a:buFont typeface="Bookman Old Style"/>
              <a:buNone/>
            </a:pPr>
            <a:r>
              <a:rPr b="1" i="0" lang="en-US" sz="1350" u="none" cap="none" strike="noStrike">
                <a:solidFill>
                  <a:srgbClr val="C2410C"/>
                </a:solidFill>
                <a:latin typeface="Bookman Old Style"/>
                <a:ea typeface="Bookman Old Style"/>
                <a:cs typeface="Bookman Old Style"/>
                <a:sym typeface="Bookman Old Style"/>
              </a:rPr>
              <a:t>Init system — systemd</a:t>
            </a:r>
            <a:endParaRPr b="0" i="0" sz="1350" u="none" cap="none" strike="noStrike">
              <a:solidFill>
                <a:schemeClr val="dk1"/>
              </a:solidFill>
              <a:latin typeface="Calibri"/>
              <a:ea typeface="Calibri"/>
              <a:cs typeface="Calibri"/>
              <a:sym typeface="Calibri"/>
            </a:endParaRPr>
          </a:p>
        </p:txBody>
      </p:sp>
      <p:sp>
        <p:nvSpPr>
          <p:cNvPr id="108" name="Google Shape;108;p6"/>
          <p:cNvSpPr/>
          <p:nvPr/>
        </p:nvSpPr>
        <p:spPr>
          <a:xfrm>
            <a:off x="640080" y="3090672"/>
            <a:ext cx="45720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PID 1: starts &amp; supervises every service</a:t>
            </a:r>
            <a:endParaRPr b="0" i="0" sz="1000" u="none" cap="none" strike="noStrike">
              <a:solidFill>
                <a:schemeClr val="dk1"/>
              </a:solidFill>
              <a:latin typeface="Calibri"/>
              <a:ea typeface="Calibri"/>
              <a:cs typeface="Calibri"/>
              <a:sym typeface="Calibri"/>
            </a:endParaRPr>
          </a:p>
        </p:txBody>
      </p:sp>
      <p:sp>
        <p:nvSpPr>
          <p:cNvPr id="109" name="Google Shape;109;p6"/>
          <p:cNvSpPr/>
          <p:nvPr/>
        </p:nvSpPr>
        <p:spPr>
          <a:xfrm>
            <a:off x="457200" y="3456432"/>
            <a:ext cx="4892040" cy="566928"/>
          </a:xfrm>
          <a:prstGeom prst="roundRect">
            <a:avLst>
              <a:gd fmla="val 9677" name="adj"/>
            </a:avLst>
          </a:prstGeom>
          <a:solidFill>
            <a:srgbClr val="F0FDFA"/>
          </a:solidFill>
          <a:ln cap="flat" cmpd="sng" w="15225">
            <a:solidFill>
              <a:srgbClr val="0D9488"/>
            </a:solidFill>
            <a:prstDash val="solid"/>
            <a:round/>
            <a:headEnd len="sm" w="sm" type="none"/>
            <a:tailEnd len="sm" w="sm" type="none"/>
          </a:ln>
          <a:effectLst>
            <a:outerShdw blurRad="63500" rotWithShape="0" algn="bl" dir="2700000" dist="25400">
              <a:srgbClr val="475569">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6"/>
          <p:cNvSpPr/>
          <p:nvPr/>
        </p:nvSpPr>
        <p:spPr>
          <a:xfrm>
            <a:off x="640080" y="3493008"/>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350"/>
              <a:buFont typeface="Bookman Old Style"/>
              <a:buNone/>
            </a:pPr>
            <a:r>
              <a:rPr b="1" i="0" lang="en-US" sz="1350" u="none" cap="none" strike="noStrike">
                <a:solidFill>
                  <a:srgbClr val="0F766E"/>
                </a:solidFill>
                <a:latin typeface="Bookman Old Style"/>
                <a:ea typeface="Bookman Old Style"/>
                <a:cs typeface="Bookman Old Style"/>
                <a:sym typeface="Bookman Old Style"/>
              </a:rPr>
              <a:t>Kernel  (this is "Linux")</a:t>
            </a:r>
            <a:endParaRPr b="0" i="0" sz="1350" u="none" cap="none" strike="noStrike">
              <a:solidFill>
                <a:schemeClr val="dk1"/>
              </a:solidFill>
              <a:latin typeface="Calibri"/>
              <a:ea typeface="Calibri"/>
              <a:cs typeface="Calibri"/>
              <a:sym typeface="Calibri"/>
            </a:endParaRPr>
          </a:p>
        </p:txBody>
      </p:sp>
      <p:sp>
        <p:nvSpPr>
          <p:cNvPr id="111" name="Google Shape;111;p6"/>
          <p:cNvSpPr/>
          <p:nvPr/>
        </p:nvSpPr>
        <p:spPr>
          <a:xfrm>
            <a:off x="640080" y="3749040"/>
            <a:ext cx="45720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talks to hardware: CPU, memory, devices, syscalls</a:t>
            </a:r>
            <a:endParaRPr b="0" i="0" sz="1000" u="none" cap="none" strike="noStrike">
              <a:solidFill>
                <a:schemeClr val="dk1"/>
              </a:solidFill>
              <a:latin typeface="Calibri"/>
              <a:ea typeface="Calibri"/>
              <a:cs typeface="Calibri"/>
              <a:sym typeface="Calibri"/>
            </a:endParaRPr>
          </a:p>
        </p:txBody>
      </p:sp>
      <p:sp>
        <p:nvSpPr>
          <p:cNvPr id="112" name="Google Shape;112;p6"/>
          <p:cNvSpPr/>
          <p:nvPr/>
        </p:nvSpPr>
        <p:spPr>
          <a:xfrm>
            <a:off x="457200" y="4114800"/>
            <a:ext cx="4892040" cy="566928"/>
          </a:xfrm>
          <a:prstGeom prst="roundRect">
            <a:avLst>
              <a:gd fmla="val 9677" name="adj"/>
            </a:avLst>
          </a:prstGeom>
          <a:solidFill>
            <a:srgbClr val="F1F5F9"/>
          </a:solidFill>
          <a:ln cap="flat" cmpd="sng" w="15225">
            <a:solidFill>
              <a:srgbClr val="CBD5E1"/>
            </a:solidFill>
            <a:prstDash val="solid"/>
            <a:round/>
            <a:headEnd len="sm" w="sm" type="none"/>
            <a:tailEnd len="sm" w="sm" type="none"/>
          </a:ln>
          <a:effectLst>
            <a:outerShdw blurRad="63500" rotWithShape="0" algn="bl" dir="2700000" dist="25400">
              <a:srgbClr val="475569">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6"/>
          <p:cNvSpPr/>
          <p:nvPr/>
        </p:nvSpPr>
        <p:spPr>
          <a:xfrm>
            <a:off x="640080" y="4151376"/>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350"/>
              <a:buFont typeface="Bookman Old Style"/>
              <a:buNone/>
            </a:pPr>
            <a:r>
              <a:rPr b="1" i="0" lang="en-US" sz="1350" u="none" cap="none" strike="noStrike">
                <a:solidFill>
                  <a:srgbClr val="1E293B"/>
                </a:solidFill>
                <a:latin typeface="Bookman Old Style"/>
                <a:ea typeface="Bookman Old Style"/>
                <a:cs typeface="Bookman Old Style"/>
                <a:sym typeface="Bookman Old Style"/>
              </a:rPr>
              <a:t>Hardware</a:t>
            </a:r>
            <a:endParaRPr b="0" i="0" sz="1350" u="none" cap="none" strike="noStrike">
              <a:solidFill>
                <a:schemeClr val="dk1"/>
              </a:solidFill>
              <a:latin typeface="Calibri"/>
              <a:ea typeface="Calibri"/>
              <a:cs typeface="Calibri"/>
              <a:sym typeface="Calibri"/>
            </a:endParaRPr>
          </a:p>
        </p:txBody>
      </p:sp>
      <p:sp>
        <p:nvSpPr>
          <p:cNvPr id="114" name="Google Shape;114;p6"/>
          <p:cNvSpPr/>
          <p:nvPr/>
        </p:nvSpPr>
        <p:spPr>
          <a:xfrm>
            <a:off x="640080" y="4407408"/>
            <a:ext cx="45720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000"/>
              <a:buFont typeface="Calibri"/>
              <a:buNone/>
            </a:pPr>
            <a:r>
              <a:rPr b="0" i="0" lang="en-US" sz="1000" u="none" cap="none" strike="noStrike">
                <a:solidFill>
                  <a:srgbClr val="1E293B"/>
                </a:solidFill>
                <a:latin typeface="Calibri"/>
                <a:ea typeface="Calibri"/>
                <a:cs typeface="Calibri"/>
                <a:sym typeface="Calibri"/>
              </a:rPr>
              <a:t>CPU · RAM · disk · network card</a:t>
            </a:r>
            <a:endParaRPr b="0" i="0" sz="1000" u="none" cap="none" strike="noStrike">
              <a:solidFill>
                <a:schemeClr val="dk1"/>
              </a:solidFill>
              <a:latin typeface="Calibri"/>
              <a:ea typeface="Calibri"/>
              <a:cs typeface="Calibri"/>
              <a:sym typeface="Calibri"/>
            </a:endParaRPr>
          </a:p>
        </p:txBody>
      </p:sp>
      <p:sp>
        <p:nvSpPr>
          <p:cNvPr id="115" name="Google Shape;115;p6"/>
          <p:cNvSpPr/>
          <p:nvPr/>
        </p:nvSpPr>
        <p:spPr>
          <a:xfrm>
            <a:off x="5577840" y="1481328"/>
            <a:ext cx="3108960" cy="3200400"/>
          </a:xfrm>
          <a:prstGeom prst="roundRect">
            <a:avLst>
              <a:gd fmla="val 2059" name="adj"/>
            </a:avLst>
          </a:prstGeom>
          <a:solidFill>
            <a:srgbClr val="0F172A"/>
          </a:solidFill>
          <a:ln cap="flat" cmpd="sng" w="12700">
            <a:solidFill>
              <a:srgbClr val="1E293B"/>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6"/>
          <p:cNvSpPr/>
          <p:nvPr/>
        </p:nvSpPr>
        <p:spPr>
          <a:xfrm>
            <a:off x="5779008" y="1591056"/>
            <a:ext cx="2743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97316"/>
              </a:buClr>
              <a:buSzPts val="1200"/>
              <a:buFont typeface="Calibri"/>
              <a:buNone/>
            </a:pPr>
            <a:r>
              <a:rPr b="1" i="0" lang="en-US" sz="1200" u="none" cap="none" strike="noStrike">
                <a:solidFill>
                  <a:srgbClr val="F97316"/>
                </a:solidFill>
                <a:latin typeface="Calibri"/>
                <a:ea typeface="Calibri"/>
                <a:cs typeface="Calibri"/>
                <a:sym typeface="Calibri"/>
              </a:rPr>
              <a:t>BOOT ORDER</a:t>
            </a:r>
            <a:endParaRPr b="0" i="0" sz="1200" u="none" cap="none" strike="noStrike">
              <a:solidFill>
                <a:schemeClr val="dk1"/>
              </a:solidFill>
              <a:latin typeface="Calibri"/>
              <a:ea typeface="Calibri"/>
              <a:cs typeface="Calibri"/>
              <a:sym typeface="Calibri"/>
            </a:endParaRPr>
          </a:p>
        </p:txBody>
      </p:sp>
      <p:sp>
        <p:nvSpPr>
          <p:cNvPr id="117" name="Google Shape;117;p6"/>
          <p:cNvSpPr/>
          <p:nvPr/>
        </p:nvSpPr>
        <p:spPr>
          <a:xfrm>
            <a:off x="5779008" y="1975104"/>
            <a:ext cx="2743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4D399"/>
              </a:buClr>
              <a:buSzPts val="1150"/>
              <a:buFont typeface="Calibri"/>
              <a:buNone/>
            </a:pPr>
            <a:r>
              <a:rPr b="1" i="0" lang="en-US" sz="1150" u="none" cap="none" strike="noStrike">
                <a:solidFill>
                  <a:srgbClr val="34D399"/>
                </a:solidFill>
                <a:latin typeface="Calibri"/>
                <a:ea typeface="Calibri"/>
                <a:cs typeface="Calibri"/>
                <a:sym typeface="Calibri"/>
              </a:rPr>
              <a:t>Firmware  (UEFI/BIOS)</a:t>
            </a:r>
            <a:endParaRPr b="0" i="0" sz="1150" u="none" cap="none" strike="noStrike">
              <a:solidFill>
                <a:schemeClr val="dk1"/>
              </a:solidFill>
              <a:latin typeface="Calibri"/>
              <a:ea typeface="Calibri"/>
              <a:cs typeface="Calibri"/>
              <a:sym typeface="Calibri"/>
            </a:endParaRPr>
          </a:p>
        </p:txBody>
      </p:sp>
      <p:sp>
        <p:nvSpPr>
          <p:cNvPr id="118" name="Google Shape;118;p6"/>
          <p:cNvSpPr/>
          <p:nvPr/>
        </p:nvSpPr>
        <p:spPr>
          <a:xfrm>
            <a:off x="5779008" y="2203704"/>
            <a:ext cx="27432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BD5E1"/>
              </a:buClr>
              <a:buSzPts val="1050"/>
              <a:buFont typeface="Calibri"/>
              <a:buNone/>
            </a:pPr>
            <a:r>
              <a:rPr b="0" i="0" lang="en-US" sz="1050" u="none" cap="none" strike="noStrike">
                <a:solidFill>
                  <a:srgbClr val="CBD5E1"/>
                </a:solidFill>
                <a:latin typeface="Calibri"/>
                <a:ea typeface="Calibri"/>
                <a:cs typeface="Calibri"/>
                <a:sym typeface="Calibri"/>
              </a:rPr>
              <a:t>powers on, finds the boot disk</a:t>
            </a:r>
            <a:endParaRPr b="0" i="0" sz="1050" u="none" cap="none" strike="noStrike">
              <a:solidFill>
                <a:schemeClr val="dk1"/>
              </a:solidFill>
              <a:latin typeface="Calibri"/>
              <a:ea typeface="Calibri"/>
              <a:cs typeface="Calibri"/>
              <a:sym typeface="Calibri"/>
            </a:endParaRPr>
          </a:p>
        </p:txBody>
      </p:sp>
      <p:sp>
        <p:nvSpPr>
          <p:cNvPr id="119" name="Google Shape;119;p6"/>
          <p:cNvSpPr/>
          <p:nvPr/>
        </p:nvSpPr>
        <p:spPr>
          <a:xfrm>
            <a:off x="5779008" y="2432304"/>
            <a:ext cx="274320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20" name="Google Shape;120;p6"/>
          <p:cNvSpPr/>
          <p:nvPr/>
        </p:nvSpPr>
        <p:spPr>
          <a:xfrm>
            <a:off x="5779008" y="2633472"/>
            <a:ext cx="2743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4D399"/>
              </a:buClr>
              <a:buSzPts val="1150"/>
              <a:buFont typeface="Calibri"/>
              <a:buNone/>
            </a:pPr>
            <a:r>
              <a:rPr b="1" i="0" lang="en-US" sz="1150" u="none" cap="none" strike="noStrike">
                <a:solidFill>
                  <a:srgbClr val="34D399"/>
                </a:solidFill>
                <a:latin typeface="Calibri"/>
                <a:ea typeface="Calibri"/>
                <a:cs typeface="Calibri"/>
                <a:sym typeface="Calibri"/>
              </a:rPr>
              <a:t>Bootloader · GRUB</a:t>
            </a:r>
            <a:endParaRPr b="0" i="0" sz="1150" u="none" cap="none" strike="noStrike">
              <a:solidFill>
                <a:schemeClr val="dk1"/>
              </a:solidFill>
              <a:latin typeface="Calibri"/>
              <a:ea typeface="Calibri"/>
              <a:cs typeface="Calibri"/>
              <a:sym typeface="Calibri"/>
            </a:endParaRPr>
          </a:p>
        </p:txBody>
      </p:sp>
      <p:sp>
        <p:nvSpPr>
          <p:cNvPr id="121" name="Google Shape;121;p6"/>
          <p:cNvSpPr/>
          <p:nvPr/>
        </p:nvSpPr>
        <p:spPr>
          <a:xfrm>
            <a:off x="5779008" y="2862072"/>
            <a:ext cx="27432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BD5E1"/>
              </a:buClr>
              <a:buSzPts val="1050"/>
              <a:buFont typeface="Calibri"/>
              <a:buNone/>
            </a:pPr>
            <a:r>
              <a:rPr b="0" i="0" lang="en-US" sz="1050" u="none" cap="none" strike="noStrike">
                <a:solidFill>
                  <a:srgbClr val="CBD5E1"/>
                </a:solidFill>
                <a:latin typeface="Calibri"/>
                <a:ea typeface="Calibri"/>
                <a:cs typeface="Calibri"/>
                <a:sym typeface="Calibri"/>
              </a:rPr>
              <a:t>loads the kernel into memory</a:t>
            </a:r>
            <a:endParaRPr b="0" i="0" sz="1050" u="none" cap="none" strike="noStrike">
              <a:solidFill>
                <a:schemeClr val="dk1"/>
              </a:solidFill>
              <a:latin typeface="Calibri"/>
              <a:ea typeface="Calibri"/>
              <a:cs typeface="Calibri"/>
              <a:sym typeface="Calibri"/>
            </a:endParaRPr>
          </a:p>
        </p:txBody>
      </p:sp>
      <p:sp>
        <p:nvSpPr>
          <p:cNvPr id="122" name="Google Shape;122;p6"/>
          <p:cNvSpPr/>
          <p:nvPr/>
        </p:nvSpPr>
        <p:spPr>
          <a:xfrm>
            <a:off x="5779008" y="3090672"/>
            <a:ext cx="274320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23" name="Google Shape;123;p6"/>
          <p:cNvSpPr/>
          <p:nvPr/>
        </p:nvSpPr>
        <p:spPr>
          <a:xfrm>
            <a:off x="5779008" y="3291840"/>
            <a:ext cx="2743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4D399"/>
              </a:buClr>
              <a:buSzPts val="1150"/>
              <a:buFont typeface="Calibri"/>
              <a:buNone/>
            </a:pPr>
            <a:r>
              <a:rPr b="1" i="0" lang="en-US" sz="1150" u="none" cap="none" strike="noStrike">
                <a:solidFill>
                  <a:srgbClr val="34D399"/>
                </a:solidFill>
                <a:latin typeface="Calibri"/>
                <a:ea typeface="Calibri"/>
                <a:cs typeface="Calibri"/>
                <a:sym typeface="Calibri"/>
              </a:rPr>
              <a:t>Kernel</a:t>
            </a:r>
            <a:endParaRPr b="0" i="0" sz="1150" u="none" cap="none" strike="noStrike">
              <a:solidFill>
                <a:schemeClr val="dk1"/>
              </a:solidFill>
              <a:latin typeface="Calibri"/>
              <a:ea typeface="Calibri"/>
              <a:cs typeface="Calibri"/>
              <a:sym typeface="Calibri"/>
            </a:endParaRPr>
          </a:p>
        </p:txBody>
      </p:sp>
      <p:sp>
        <p:nvSpPr>
          <p:cNvPr id="124" name="Google Shape;124;p6"/>
          <p:cNvSpPr/>
          <p:nvPr/>
        </p:nvSpPr>
        <p:spPr>
          <a:xfrm>
            <a:off x="5779008" y="3520440"/>
            <a:ext cx="27432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BD5E1"/>
              </a:buClr>
              <a:buSzPts val="1050"/>
              <a:buFont typeface="Calibri"/>
              <a:buNone/>
            </a:pPr>
            <a:r>
              <a:rPr b="0" i="0" lang="en-US" sz="1050" u="none" cap="none" strike="noStrike">
                <a:solidFill>
                  <a:srgbClr val="CBD5E1"/>
                </a:solidFill>
                <a:latin typeface="Calibri"/>
                <a:ea typeface="Calibri"/>
                <a:cs typeface="Calibri"/>
                <a:sym typeface="Calibri"/>
              </a:rPr>
              <a:t>mounts root, starts PID 1</a:t>
            </a:r>
            <a:endParaRPr b="0" i="0" sz="1050" u="none" cap="none" strike="noStrike">
              <a:solidFill>
                <a:schemeClr val="dk1"/>
              </a:solidFill>
              <a:latin typeface="Calibri"/>
              <a:ea typeface="Calibri"/>
              <a:cs typeface="Calibri"/>
              <a:sym typeface="Calibri"/>
            </a:endParaRPr>
          </a:p>
        </p:txBody>
      </p:sp>
      <p:sp>
        <p:nvSpPr>
          <p:cNvPr id="125" name="Google Shape;125;p6"/>
          <p:cNvSpPr/>
          <p:nvPr/>
        </p:nvSpPr>
        <p:spPr>
          <a:xfrm>
            <a:off x="5779008" y="3749040"/>
            <a:ext cx="274320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26" name="Google Shape;126;p6"/>
          <p:cNvSpPr/>
          <p:nvPr/>
        </p:nvSpPr>
        <p:spPr>
          <a:xfrm>
            <a:off x="5779008" y="3950208"/>
            <a:ext cx="2743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4D399"/>
              </a:buClr>
              <a:buSzPts val="1150"/>
              <a:buFont typeface="Calibri"/>
              <a:buNone/>
            </a:pPr>
            <a:r>
              <a:rPr b="1" i="0" lang="en-US" sz="1150" u="none" cap="none" strike="noStrike">
                <a:solidFill>
                  <a:srgbClr val="34D399"/>
                </a:solidFill>
                <a:latin typeface="Calibri"/>
                <a:ea typeface="Calibri"/>
                <a:cs typeface="Calibri"/>
                <a:sym typeface="Calibri"/>
              </a:rPr>
              <a:t>systemd</a:t>
            </a:r>
            <a:endParaRPr b="0" i="0" sz="1150" u="none" cap="none" strike="noStrike">
              <a:solidFill>
                <a:schemeClr val="dk1"/>
              </a:solidFill>
              <a:latin typeface="Calibri"/>
              <a:ea typeface="Calibri"/>
              <a:cs typeface="Calibri"/>
              <a:sym typeface="Calibri"/>
            </a:endParaRPr>
          </a:p>
        </p:txBody>
      </p:sp>
      <p:sp>
        <p:nvSpPr>
          <p:cNvPr id="127" name="Google Shape;127;p6"/>
          <p:cNvSpPr/>
          <p:nvPr/>
        </p:nvSpPr>
        <p:spPr>
          <a:xfrm>
            <a:off x="5779008" y="4178808"/>
            <a:ext cx="27432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BD5E1"/>
              </a:buClr>
              <a:buSzPts val="1050"/>
              <a:buFont typeface="Calibri"/>
              <a:buNone/>
            </a:pPr>
            <a:r>
              <a:rPr b="0" i="0" lang="en-US" sz="1050" u="none" cap="none" strike="noStrike">
                <a:solidFill>
                  <a:srgbClr val="CBD5E1"/>
                </a:solidFill>
                <a:latin typeface="Calibri"/>
                <a:ea typeface="Calibri"/>
                <a:cs typeface="Calibri"/>
                <a:sym typeface="Calibri"/>
              </a:rPr>
              <a:t>brings up services + a login</a:t>
            </a:r>
            <a:endParaRPr b="0" i="0" sz="1050" u="none" cap="none" strike="noStrike">
              <a:solidFill>
                <a:schemeClr val="dk1"/>
              </a:solidFill>
              <a:latin typeface="Calibri"/>
              <a:ea typeface="Calibri"/>
              <a:cs typeface="Calibri"/>
              <a:sym typeface="Calibri"/>
            </a:endParaRPr>
          </a:p>
        </p:txBody>
      </p:sp>
      <p:sp>
        <p:nvSpPr>
          <p:cNvPr id="128" name="Google Shape;128;p6"/>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129" name="Google Shape;129;p6"/>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1 · Filesystem</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3" name="Shape 133"/>
        <p:cNvGrpSpPr/>
        <p:nvPr/>
      </p:nvGrpSpPr>
      <p:grpSpPr>
        <a:xfrm>
          <a:off x="0" y="0"/>
          <a:ext cx="0" cy="0"/>
          <a:chOff x="0" y="0"/>
          <a:chExt cx="0" cy="0"/>
        </a:xfrm>
      </p:grpSpPr>
      <p:sp>
        <p:nvSpPr>
          <p:cNvPr id="134" name="Google Shape;134;p7"/>
          <p:cNvSpPr txBox="1"/>
          <p:nvPr/>
        </p:nvSpPr>
        <p:spPr>
          <a:xfrm>
            <a:off x="457200" y="274320"/>
            <a:ext cx="722376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900" u="none" cap="none" strike="noStrike">
                <a:solidFill>
                  <a:srgbClr val="0F172A"/>
                </a:solidFill>
                <a:latin typeface="Bookman Old Style"/>
                <a:ea typeface="Bookman Old Style"/>
                <a:cs typeface="Bookman Old Style"/>
                <a:sym typeface="Bookman Old Style"/>
              </a:rPr>
              <a:t>What is virtualization?</a:t>
            </a:r>
            <a:endParaRPr/>
          </a:p>
        </p:txBody>
      </p:sp>
      <p:sp>
        <p:nvSpPr>
          <p:cNvPr id="135" name="Google Shape;135;p7"/>
          <p:cNvSpPr txBox="1"/>
          <p:nvPr/>
        </p:nvSpPr>
        <p:spPr>
          <a:xfrm>
            <a:off x="457200" y="877824"/>
            <a:ext cx="8138160" cy="4572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every cloud server you'll rent — EC2, a Droplet, an Azure VM — is a virtual machine. This is the abstraction the whole cloud is built on.</a:t>
            </a:r>
            <a:endParaRPr/>
          </a:p>
        </p:txBody>
      </p:sp>
      <p:sp>
        <p:nvSpPr>
          <p:cNvPr id="136" name="Google Shape;136;p7"/>
          <p:cNvSpPr txBox="1"/>
          <p:nvPr/>
        </p:nvSpPr>
        <p:spPr>
          <a:xfrm>
            <a:off x="457200" y="4882896"/>
            <a:ext cx="3657600" cy="2011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u="none" cap="none" strike="noStrike">
                <a:solidFill>
                  <a:srgbClr val="94A3B8"/>
                </a:solidFill>
                <a:latin typeface="Calibri"/>
                <a:ea typeface="Calibri"/>
                <a:cs typeface="Calibri"/>
                <a:sym typeface="Calibri"/>
              </a:rPr>
              <a:t>Linux for DevOps</a:t>
            </a:r>
            <a:endParaRPr/>
          </a:p>
        </p:txBody>
      </p:sp>
      <p:sp>
        <p:nvSpPr>
          <p:cNvPr id="137" name="Google Shape;137;p7"/>
          <p:cNvSpPr txBox="1"/>
          <p:nvPr/>
        </p:nvSpPr>
        <p:spPr>
          <a:xfrm>
            <a:off x="5029200" y="4882896"/>
            <a:ext cx="3657600" cy="20116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850" u="none" cap="none" strike="noStrike">
                <a:solidFill>
                  <a:srgbClr val="94A3B8"/>
                </a:solidFill>
                <a:latin typeface="Calibri"/>
                <a:ea typeface="Calibri"/>
                <a:cs typeface="Calibri"/>
                <a:sym typeface="Calibri"/>
              </a:rPr>
              <a:t>Day 1 · Filesystem</a:t>
            </a:r>
            <a:endParaRPr/>
          </a:p>
        </p:txBody>
      </p:sp>
      <p:sp>
        <p:nvSpPr>
          <p:cNvPr id="138" name="Google Shape;138;p7"/>
          <p:cNvSpPr/>
          <p:nvPr/>
        </p:nvSpPr>
        <p:spPr>
          <a:xfrm>
            <a:off x="7882127" y="310896"/>
            <a:ext cx="566928" cy="566928"/>
          </a:xfrm>
          <a:prstGeom prst="ellipse">
            <a:avLst/>
          </a:prstGeom>
          <a:noFill/>
          <a:ln cap="flat" cmpd="sng" w="20300">
            <a:solidFill>
              <a:srgbClr val="0D948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9" name="Google Shape;139;p7"/>
          <p:cNvSpPr/>
          <p:nvPr/>
        </p:nvSpPr>
        <p:spPr>
          <a:xfrm>
            <a:off x="8046720" y="475488"/>
            <a:ext cx="100584" cy="100584"/>
          </a:xfrm>
          <a:prstGeom prst="roundRect">
            <a:avLst>
              <a:gd fmla="val 16000" name="adj"/>
            </a:avLst>
          </a:prstGeom>
          <a:solidFill>
            <a:srgbClr val="0D948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0" name="Google Shape;140;p7"/>
          <p:cNvSpPr/>
          <p:nvPr/>
        </p:nvSpPr>
        <p:spPr>
          <a:xfrm>
            <a:off x="8183880" y="475488"/>
            <a:ext cx="100584" cy="100584"/>
          </a:xfrm>
          <a:prstGeom prst="roundRect">
            <a:avLst>
              <a:gd fmla="val 16000" name="adj"/>
            </a:avLst>
          </a:prstGeom>
          <a:solidFill>
            <a:srgbClr val="0D948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1" name="Google Shape;141;p7"/>
          <p:cNvSpPr/>
          <p:nvPr/>
        </p:nvSpPr>
        <p:spPr>
          <a:xfrm>
            <a:off x="8046720" y="612648"/>
            <a:ext cx="100584" cy="100584"/>
          </a:xfrm>
          <a:prstGeom prst="roundRect">
            <a:avLst>
              <a:gd fmla="val 16000" name="adj"/>
            </a:avLst>
          </a:prstGeom>
          <a:solidFill>
            <a:srgbClr val="0D948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2" name="Google Shape;142;p7"/>
          <p:cNvSpPr/>
          <p:nvPr/>
        </p:nvSpPr>
        <p:spPr>
          <a:xfrm>
            <a:off x="8183880" y="612648"/>
            <a:ext cx="100584" cy="100584"/>
          </a:xfrm>
          <a:prstGeom prst="roundRect">
            <a:avLst>
              <a:gd fmla="val 16000" name="adj"/>
            </a:avLst>
          </a:prstGeom>
          <a:solidFill>
            <a:srgbClr val="0D948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3" name="Google Shape;143;p7"/>
          <p:cNvSpPr/>
          <p:nvPr/>
        </p:nvSpPr>
        <p:spPr>
          <a:xfrm>
            <a:off x="457200" y="1481328"/>
            <a:ext cx="4892040" cy="932688"/>
          </a:xfrm>
          <a:prstGeom prst="roundRect">
            <a:avLst>
              <a:gd fmla="val 9677" name="adj"/>
            </a:avLst>
          </a:prstGeom>
          <a:solidFill>
            <a:srgbClr val="FFFFFF"/>
          </a:solidFill>
          <a:ln cap="flat" cmpd="sng" w="15225">
            <a:solidFill>
              <a:srgbClr val="CBD5E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4" name="Google Shape;144;p7"/>
          <p:cNvSpPr txBox="1"/>
          <p:nvPr/>
        </p:nvSpPr>
        <p:spPr>
          <a:xfrm>
            <a:off x="640080" y="1545336"/>
            <a:ext cx="452627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50" u="none" cap="none" strike="noStrike">
                <a:solidFill>
                  <a:srgbClr val="0F172A"/>
                </a:solidFill>
                <a:latin typeface="Bookman Old Style"/>
                <a:ea typeface="Bookman Old Style"/>
                <a:cs typeface="Bookman Old Style"/>
                <a:sym typeface="Bookman Old Style"/>
              </a:rPr>
              <a:t>The idea</a:t>
            </a:r>
            <a:endParaRPr/>
          </a:p>
        </p:txBody>
      </p:sp>
      <p:sp>
        <p:nvSpPr>
          <p:cNvPr id="145" name="Google Shape;145;p7"/>
          <p:cNvSpPr txBox="1"/>
          <p:nvPr/>
        </p:nvSpPr>
        <p:spPr>
          <a:xfrm>
            <a:off x="640080" y="1819656"/>
            <a:ext cx="4526279" cy="566928"/>
          </a:xfrm>
          <a:prstGeom prst="rect">
            <a:avLst/>
          </a:prstGeom>
          <a:noFill/>
          <a:ln>
            <a:noFill/>
          </a:ln>
        </p:spPr>
        <p:txBody>
          <a:bodyPr anchorCtr="0" anchor="t" bIns="0" lIns="0" spcFirstLastPara="1" rIns="0" wrap="square" tIns="0">
            <a:spAutoFit/>
          </a:bodyPr>
          <a:lstStyle/>
          <a:p>
            <a:pPr indent="0" lvl="0" marL="0" marR="0" rtl="0" algn="l">
              <a:lnSpc>
                <a:spcPct val="104000"/>
              </a:lnSpc>
              <a:spcBef>
                <a:spcPts val="0"/>
              </a:spcBef>
              <a:spcAft>
                <a:spcPts val="0"/>
              </a:spcAft>
              <a:buNone/>
            </a:pPr>
            <a:r>
              <a:rPr b="0" i="0" lang="en-US" sz="1000" u="none" cap="none" strike="noStrike">
                <a:solidFill>
                  <a:srgbClr val="1E293B"/>
                </a:solidFill>
                <a:latin typeface="Calibri"/>
                <a:ea typeface="Calibri"/>
                <a:cs typeface="Calibri"/>
                <a:sym typeface="Calibri"/>
              </a:rPr>
              <a:t>One physical server, sliced into several isolated virtual machines. Each VM is fooled into thinking it owns real hardware — its own CPU, RAM, disk, NIC.</a:t>
            </a:r>
            <a:endParaRPr/>
          </a:p>
        </p:txBody>
      </p:sp>
      <p:sp>
        <p:nvSpPr>
          <p:cNvPr id="146" name="Google Shape;146;p7"/>
          <p:cNvSpPr/>
          <p:nvPr/>
        </p:nvSpPr>
        <p:spPr>
          <a:xfrm>
            <a:off x="457200" y="2523744"/>
            <a:ext cx="4892040" cy="932688"/>
          </a:xfrm>
          <a:prstGeom prst="roundRect">
            <a:avLst>
              <a:gd fmla="val 9677" name="adj"/>
            </a:avLst>
          </a:prstGeom>
          <a:solidFill>
            <a:srgbClr val="F0FDFA"/>
          </a:solidFill>
          <a:ln cap="flat" cmpd="sng" w="15225">
            <a:solidFill>
              <a:srgbClr val="0D948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47" name="Google Shape;147;p7"/>
          <p:cNvSpPr txBox="1"/>
          <p:nvPr/>
        </p:nvSpPr>
        <p:spPr>
          <a:xfrm>
            <a:off x="640080" y="2587751"/>
            <a:ext cx="452627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50" u="none" cap="none" strike="noStrike">
                <a:solidFill>
                  <a:srgbClr val="0F766E"/>
                </a:solidFill>
                <a:latin typeface="Bookman Old Style"/>
                <a:ea typeface="Bookman Old Style"/>
                <a:cs typeface="Bookman Old Style"/>
                <a:sym typeface="Bookman Old Style"/>
              </a:rPr>
              <a:t>The hypervisor does the slicing</a:t>
            </a:r>
            <a:endParaRPr/>
          </a:p>
        </p:txBody>
      </p:sp>
      <p:sp>
        <p:nvSpPr>
          <p:cNvPr id="148" name="Google Shape;148;p7"/>
          <p:cNvSpPr txBox="1"/>
          <p:nvPr/>
        </p:nvSpPr>
        <p:spPr>
          <a:xfrm>
            <a:off x="640080" y="2862072"/>
            <a:ext cx="4526279" cy="566928"/>
          </a:xfrm>
          <a:prstGeom prst="rect">
            <a:avLst/>
          </a:prstGeom>
          <a:noFill/>
          <a:ln>
            <a:noFill/>
          </a:ln>
        </p:spPr>
        <p:txBody>
          <a:bodyPr anchorCtr="0" anchor="t" bIns="0" lIns="0" spcFirstLastPara="1" rIns="0" wrap="square" tIns="0">
            <a:spAutoFit/>
          </a:bodyPr>
          <a:lstStyle/>
          <a:p>
            <a:pPr indent="0" lvl="0" marL="0" marR="0" rtl="0" algn="l">
              <a:lnSpc>
                <a:spcPct val="104000"/>
              </a:lnSpc>
              <a:spcBef>
                <a:spcPts val="0"/>
              </a:spcBef>
              <a:spcAft>
                <a:spcPts val="0"/>
              </a:spcAft>
              <a:buNone/>
            </a:pPr>
            <a:r>
              <a:rPr b="0" i="0" lang="en-US" sz="1000" u="none" cap="none" strike="noStrike">
                <a:solidFill>
                  <a:srgbClr val="1E293B"/>
                </a:solidFill>
                <a:latin typeface="Calibri"/>
                <a:ea typeface="Calibri"/>
                <a:cs typeface="Calibri"/>
                <a:sym typeface="Calibri"/>
              </a:rPr>
              <a:t>A thin software layer sitting between the hardware and the VMs. It rations real CPU and RAM to each guest and keeps them walled off from each other.</a:t>
            </a:r>
            <a:endParaRPr/>
          </a:p>
        </p:txBody>
      </p:sp>
      <p:sp>
        <p:nvSpPr>
          <p:cNvPr id="149" name="Google Shape;149;p7"/>
          <p:cNvSpPr/>
          <p:nvPr/>
        </p:nvSpPr>
        <p:spPr>
          <a:xfrm>
            <a:off x="457200" y="3566160"/>
            <a:ext cx="4892040" cy="731520"/>
          </a:xfrm>
          <a:prstGeom prst="roundRect">
            <a:avLst>
              <a:gd fmla="val 9677" name="adj"/>
            </a:avLst>
          </a:prstGeom>
          <a:solidFill>
            <a:srgbClr val="FFFFFF"/>
          </a:solidFill>
          <a:ln cap="flat" cmpd="sng" w="15225">
            <a:solidFill>
              <a:srgbClr val="CBD5E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0" name="Google Shape;150;p7"/>
          <p:cNvSpPr txBox="1"/>
          <p:nvPr/>
        </p:nvSpPr>
        <p:spPr>
          <a:xfrm>
            <a:off x="640080" y="3630168"/>
            <a:ext cx="452627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50" u="none" cap="none" strike="noStrike">
                <a:solidFill>
                  <a:srgbClr val="0F172A"/>
                </a:solidFill>
                <a:latin typeface="Bookman Old Style"/>
                <a:ea typeface="Bookman Old Style"/>
                <a:cs typeface="Bookman Old Style"/>
                <a:sym typeface="Bookman Old Style"/>
              </a:rPr>
              <a:t>Each VM runs a full OS</a:t>
            </a:r>
            <a:endParaRPr/>
          </a:p>
        </p:txBody>
      </p:sp>
      <p:sp>
        <p:nvSpPr>
          <p:cNvPr id="151" name="Google Shape;151;p7"/>
          <p:cNvSpPr txBox="1"/>
          <p:nvPr/>
        </p:nvSpPr>
        <p:spPr>
          <a:xfrm>
            <a:off x="640080" y="3904487"/>
            <a:ext cx="4526279" cy="365760"/>
          </a:xfrm>
          <a:prstGeom prst="rect">
            <a:avLst/>
          </a:prstGeom>
          <a:noFill/>
          <a:ln>
            <a:noFill/>
          </a:ln>
        </p:spPr>
        <p:txBody>
          <a:bodyPr anchorCtr="0" anchor="t" bIns="0" lIns="0" spcFirstLastPara="1" rIns="0" wrap="square" tIns="0">
            <a:spAutoFit/>
          </a:bodyPr>
          <a:lstStyle/>
          <a:p>
            <a:pPr indent="0" lvl="0" marL="0" marR="0" rtl="0" algn="l">
              <a:lnSpc>
                <a:spcPct val="104000"/>
              </a:lnSpc>
              <a:spcBef>
                <a:spcPts val="0"/>
              </a:spcBef>
              <a:spcAft>
                <a:spcPts val="0"/>
              </a:spcAft>
              <a:buNone/>
            </a:pPr>
            <a:r>
              <a:rPr b="0" i="0" lang="en-US" sz="1000" u="none" cap="none" strike="noStrike">
                <a:solidFill>
                  <a:srgbClr val="1E293B"/>
                </a:solidFill>
                <a:latin typeface="Calibri"/>
                <a:ea typeface="Calibri"/>
                <a:cs typeface="Calibri"/>
                <a:sym typeface="Calibri"/>
              </a:rPr>
              <a:t>Its own kernel, its own boot sequence — a complete computer that just happens to be made of software.</a:t>
            </a:r>
            <a:endParaRPr/>
          </a:p>
        </p:txBody>
      </p:sp>
      <p:sp>
        <p:nvSpPr>
          <p:cNvPr id="152" name="Google Shape;152;p7"/>
          <p:cNvSpPr/>
          <p:nvPr/>
        </p:nvSpPr>
        <p:spPr>
          <a:xfrm>
            <a:off x="5577840" y="1481328"/>
            <a:ext cx="3108960" cy="3200400"/>
          </a:xfrm>
          <a:prstGeom prst="roundRect">
            <a:avLst>
              <a:gd fmla="val 2059" name="adj"/>
            </a:avLst>
          </a:prstGeom>
          <a:solidFill>
            <a:srgbClr val="0F172A"/>
          </a:solidFill>
          <a:ln cap="flat" cmpd="sng" w="12700">
            <a:solidFill>
              <a:srgbClr val="1E29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3" name="Google Shape;153;p7"/>
          <p:cNvSpPr txBox="1"/>
          <p:nvPr/>
        </p:nvSpPr>
        <p:spPr>
          <a:xfrm>
            <a:off x="5779007" y="1609344"/>
            <a:ext cx="2706624"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F97316"/>
                </a:solidFill>
                <a:latin typeface="Calibri"/>
                <a:ea typeface="Calibri"/>
                <a:cs typeface="Calibri"/>
                <a:sym typeface="Calibri"/>
              </a:rPr>
              <a:t>THE ANALOGY · APARTMENT BUILDING</a:t>
            </a:r>
            <a:endParaRPr/>
          </a:p>
        </p:txBody>
      </p:sp>
      <p:sp>
        <p:nvSpPr>
          <p:cNvPr id="154" name="Google Shape;154;p7"/>
          <p:cNvSpPr txBox="1"/>
          <p:nvPr/>
        </p:nvSpPr>
        <p:spPr>
          <a:xfrm>
            <a:off x="5779007" y="1975104"/>
            <a:ext cx="2706624"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34D399"/>
                </a:solidFill>
                <a:latin typeface="Calibri"/>
                <a:ea typeface="Calibri"/>
                <a:cs typeface="Calibri"/>
                <a:sym typeface="Calibri"/>
              </a:rPr>
              <a:t>The plot of land</a:t>
            </a:r>
            <a:endParaRPr/>
          </a:p>
        </p:txBody>
      </p:sp>
      <p:sp>
        <p:nvSpPr>
          <p:cNvPr id="155" name="Google Shape;155;p7"/>
          <p:cNvSpPr txBox="1"/>
          <p:nvPr/>
        </p:nvSpPr>
        <p:spPr>
          <a:xfrm>
            <a:off x="5779007" y="2189988"/>
            <a:ext cx="2706624" cy="237744"/>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b="0" i="0" lang="en-US" sz="1050" u="none" cap="none" strike="noStrike">
                <a:solidFill>
                  <a:srgbClr val="CBD5E1"/>
                </a:solidFill>
                <a:latin typeface="Calibri"/>
                <a:ea typeface="Calibri"/>
                <a:cs typeface="Calibri"/>
                <a:sym typeface="Calibri"/>
              </a:rPr>
              <a:t>= one physical server</a:t>
            </a:r>
            <a:endParaRPr/>
          </a:p>
        </p:txBody>
      </p:sp>
      <p:sp>
        <p:nvSpPr>
          <p:cNvPr id="156" name="Google Shape;156;p7"/>
          <p:cNvSpPr txBox="1"/>
          <p:nvPr/>
        </p:nvSpPr>
        <p:spPr>
          <a:xfrm>
            <a:off x="5779007" y="2487168"/>
            <a:ext cx="2706624"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34D399"/>
                </a:solidFill>
                <a:latin typeface="Calibri"/>
                <a:ea typeface="Calibri"/>
                <a:cs typeface="Calibri"/>
                <a:sym typeface="Calibri"/>
              </a:rPr>
              <a:t>The building + plumbing</a:t>
            </a:r>
            <a:endParaRPr/>
          </a:p>
        </p:txBody>
      </p:sp>
      <p:sp>
        <p:nvSpPr>
          <p:cNvPr id="157" name="Google Shape;157;p7"/>
          <p:cNvSpPr txBox="1"/>
          <p:nvPr/>
        </p:nvSpPr>
        <p:spPr>
          <a:xfrm>
            <a:off x="5779007" y="2702052"/>
            <a:ext cx="2706624" cy="237744"/>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b="0" i="0" lang="en-US" sz="1050" u="none" cap="none" strike="noStrike">
                <a:solidFill>
                  <a:srgbClr val="CBD5E1"/>
                </a:solidFill>
                <a:latin typeface="Calibri"/>
                <a:ea typeface="Calibri"/>
                <a:cs typeface="Calibri"/>
                <a:sym typeface="Calibri"/>
              </a:rPr>
              <a:t>= the hypervisor that splits the space</a:t>
            </a:r>
            <a:endParaRPr/>
          </a:p>
        </p:txBody>
      </p:sp>
      <p:sp>
        <p:nvSpPr>
          <p:cNvPr id="158" name="Google Shape;158;p7"/>
          <p:cNvSpPr txBox="1"/>
          <p:nvPr/>
        </p:nvSpPr>
        <p:spPr>
          <a:xfrm>
            <a:off x="5779007" y="2999232"/>
            <a:ext cx="2706624"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34D399"/>
                </a:solidFill>
                <a:latin typeface="Calibri"/>
                <a:ea typeface="Calibri"/>
                <a:cs typeface="Calibri"/>
                <a:sym typeface="Calibri"/>
              </a:rPr>
              <a:t>Each apartment</a:t>
            </a:r>
            <a:endParaRPr/>
          </a:p>
        </p:txBody>
      </p:sp>
      <p:sp>
        <p:nvSpPr>
          <p:cNvPr id="159" name="Google Shape;159;p7"/>
          <p:cNvSpPr txBox="1"/>
          <p:nvPr/>
        </p:nvSpPr>
        <p:spPr>
          <a:xfrm>
            <a:off x="5779007" y="3214116"/>
            <a:ext cx="2706624" cy="237744"/>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b="0" i="0" lang="en-US" sz="1050" u="none" cap="none" strike="noStrike">
                <a:solidFill>
                  <a:srgbClr val="CBD5E1"/>
                </a:solidFill>
                <a:latin typeface="Calibri"/>
                <a:ea typeface="Calibri"/>
                <a:cs typeface="Calibri"/>
                <a:sym typeface="Calibri"/>
              </a:rPr>
              <a:t>= a VM: own kitchen, bath, locked door</a:t>
            </a:r>
            <a:endParaRPr/>
          </a:p>
        </p:txBody>
      </p:sp>
      <p:sp>
        <p:nvSpPr>
          <p:cNvPr id="160" name="Google Shape;160;p7"/>
          <p:cNvSpPr txBox="1"/>
          <p:nvPr/>
        </p:nvSpPr>
        <p:spPr>
          <a:xfrm>
            <a:off x="5779007" y="3511296"/>
            <a:ext cx="2706624"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34D399"/>
                </a:solidFill>
                <a:latin typeface="Calibri"/>
                <a:ea typeface="Calibri"/>
                <a:cs typeface="Calibri"/>
                <a:sym typeface="Calibri"/>
              </a:rPr>
              <a:t>The tenants</a:t>
            </a:r>
            <a:endParaRPr/>
          </a:p>
        </p:txBody>
      </p:sp>
      <p:sp>
        <p:nvSpPr>
          <p:cNvPr id="161" name="Google Shape;161;p7"/>
          <p:cNvSpPr txBox="1"/>
          <p:nvPr/>
        </p:nvSpPr>
        <p:spPr>
          <a:xfrm>
            <a:off x="5779007" y="3726180"/>
            <a:ext cx="2706624" cy="237744"/>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b="0" i="0" lang="en-US" sz="1050" u="none" cap="none" strike="noStrike">
                <a:solidFill>
                  <a:srgbClr val="CBD5E1"/>
                </a:solidFill>
                <a:latin typeface="Calibri"/>
                <a:ea typeface="Calibri"/>
                <a:cs typeface="Calibri"/>
                <a:sym typeface="Calibri"/>
              </a:rPr>
              <a:t>= isolated; one floods, others stay dry</a:t>
            </a:r>
            <a:endParaRPr/>
          </a:p>
        </p:txBody>
      </p:sp>
      <p:sp>
        <p:nvSpPr>
          <p:cNvPr id="162" name="Google Shape;162;p7"/>
          <p:cNvSpPr txBox="1"/>
          <p:nvPr/>
        </p:nvSpPr>
        <p:spPr>
          <a:xfrm>
            <a:off x="5779007" y="4297680"/>
            <a:ext cx="2706624"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050" u="none" cap="none" strike="noStrike">
                <a:solidFill>
                  <a:srgbClr val="FFFFFF"/>
                </a:solidFill>
                <a:latin typeface="Calibri"/>
                <a:ea typeface="Calibri"/>
                <a:cs typeface="Calibri"/>
                <a:sym typeface="Calibri"/>
              </a:rPr>
              <a:t>One plot, many homes  =  </a:t>
            </a:r>
            <a:r>
              <a:rPr b="1" i="1" lang="en-US" sz="1050" u="none" cap="none" strike="noStrike">
                <a:solidFill>
                  <a:srgbClr val="34D399"/>
                </a:solidFill>
                <a:latin typeface="Calibri"/>
                <a:ea typeface="Calibri"/>
                <a:cs typeface="Calibri"/>
                <a:sym typeface="Calibri"/>
              </a:rPr>
              <a:t>consolidation + isolation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66" name="Shape 166"/>
        <p:cNvGrpSpPr/>
        <p:nvPr/>
      </p:nvGrpSpPr>
      <p:grpSpPr>
        <a:xfrm>
          <a:off x="0" y="0"/>
          <a:ext cx="0" cy="0"/>
          <a:chOff x="0" y="0"/>
          <a:chExt cx="0" cy="0"/>
        </a:xfrm>
      </p:grpSpPr>
      <p:sp>
        <p:nvSpPr>
          <p:cNvPr id="167" name="Google Shape;167;p8"/>
          <p:cNvSpPr txBox="1"/>
          <p:nvPr/>
        </p:nvSpPr>
        <p:spPr>
          <a:xfrm>
            <a:off x="457200" y="274320"/>
            <a:ext cx="7223760" cy="5669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900" u="none" cap="none" strike="noStrike">
                <a:solidFill>
                  <a:srgbClr val="0F172A"/>
                </a:solidFill>
                <a:latin typeface="Bookman Old Style"/>
                <a:ea typeface="Bookman Old Style"/>
                <a:cs typeface="Bookman Old Style"/>
                <a:sym typeface="Bookman Old Style"/>
              </a:rPr>
              <a:t>Hypervisors: Type 1 vs Type 2</a:t>
            </a:r>
            <a:endParaRPr/>
          </a:p>
        </p:txBody>
      </p:sp>
      <p:sp>
        <p:nvSpPr>
          <p:cNvPr id="168" name="Google Shape;168;p8"/>
          <p:cNvSpPr txBox="1"/>
          <p:nvPr/>
        </p:nvSpPr>
        <p:spPr>
          <a:xfrm>
            <a:off x="457200" y="877824"/>
            <a:ext cx="8138160" cy="4572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Type 1 is what every cloud runs on; Type 2 is what's on your laptop. Knowing which is which tells you where the performance goes.</a:t>
            </a:r>
            <a:endParaRPr/>
          </a:p>
        </p:txBody>
      </p:sp>
      <p:sp>
        <p:nvSpPr>
          <p:cNvPr id="169" name="Google Shape;169;p8"/>
          <p:cNvSpPr txBox="1"/>
          <p:nvPr/>
        </p:nvSpPr>
        <p:spPr>
          <a:xfrm>
            <a:off x="457200" y="4882896"/>
            <a:ext cx="3657600" cy="2011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50" u="none" cap="none" strike="noStrike">
                <a:solidFill>
                  <a:srgbClr val="94A3B8"/>
                </a:solidFill>
                <a:latin typeface="Calibri"/>
                <a:ea typeface="Calibri"/>
                <a:cs typeface="Calibri"/>
                <a:sym typeface="Calibri"/>
              </a:rPr>
              <a:t>Linux for DevOps</a:t>
            </a:r>
            <a:endParaRPr/>
          </a:p>
        </p:txBody>
      </p:sp>
      <p:sp>
        <p:nvSpPr>
          <p:cNvPr id="170" name="Google Shape;170;p8"/>
          <p:cNvSpPr txBox="1"/>
          <p:nvPr/>
        </p:nvSpPr>
        <p:spPr>
          <a:xfrm>
            <a:off x="5029200" y="4882896"/>
            <a:ext cx="3657600" cy="20116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850" u="none" cap="none" strike="noStrike">
                <a:solidFill>
                  <a:srgbClr val="94A3B8"/>
                </a:solidFill>
                <a:latin typeface="Calibri"/>
                <a:ea typeface="Calibri"/>
                <a:cs typeface="Calibri"/>
                <a:sym typeface="Calibri"/>
              </a:rPr>
              <a:t>Day 1 · Filesystem</a:t>
            </a:r>
            <a:endParaRPr/>
          </a:p>
        </p:txBody>
      </p:sp>
      <p:sp>
        <p:nvSpPr>
          <p:cNvPr id="171" name="Google Shape;171;p8"/>
          <p:cNvSpPr/>
          <p:nvPr/>
        </p:nvSpPr>
        <p:spPr>
          <a:xfrm>
            <a:off x="7882127" y="310896"/>
            <a:ext cx="566928" cy="566928"/>
          </a:xfrm>
          <a:prstGeom prst="ellipse">
            <a:avLst/>
          </a:prstGeom>
          <a:noFill/>
          <a:ln cap="flat" cmpd="sng" w="20300">
            <a:solidFill>
              <a:srgbClr val="0D948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2" name="Google Shape;172;p8"/>
          <p:cNvSpPr/>
          <p:nvPr/>
        </p:nvSpPr>
        <p:spPr>
          <a:xfrm>
            <a:off x="8046720" y="475488"/>
            <a:ext cx="100584" cy="100584"/>
          </a:xfrm>
          <a:prstGeom prst="roundRect">
            <a:avLst>
              <a:gd fmla="val 16000" name="adj"/>
            </a:avLst>
          </a:prstGeom>
          <a:solidFill>
            <a:srgbClr val="0D948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3" name="Google Shape;173;p8"/>
          <p:cNvSpPr/>
          <p:nvPr/>
        </p:nvSpPr>
        <p:spPr>
          <a:xfrm>
            <a:off x="8183880" y="475488"/>
            <a:ext cx="100584" cy="100584"/>
          </a:xfrm>
          <a:prstGeom prst="roundRect">
            <a:avLst>
              <a:gd fmla="val 16000" name="adj"/>
            </a:avLst>
          </a:prstGeom>
          <a:solidFill>
            <a:srgbClr val="0D948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4" name="Google Shape;174;p8"/>
          <p:cNvSpPr/>
          <p:nvPr/>
        </p:nvSpPr>
        <p:spPr>
          <a:xfrm>
            <a:off x="8046720" y="612648"/>
            <a:ext cx="100584" cy="100584"/>
          </a:xfrm>
          <a:prstGeom prst="roundRect">
            <a:avLst>
              <a:gd fmla="val 16000" name="adj"/>
            </a:avLst>
          </a:prstGeom>
          <a:solidFill>
            <a:srgbClr val="0D948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5" name="Google Shape;175;p8"/>
          <p:cNvSpPr/>
          <p:nvPr/>
        </p:nvSpPr>
        <p:spPr>
          <a:xfrm>
            <a:off x="8183880" y="612648"/>
            <a:ext cx="100584" cy="100584"/>
          </a:xfrm>
          <a:prstGeom prst="roundRect">
            <a:avLst>
              <a:gd fmla="val 16000" name="adj"/>
            </a:avLst>
          </a:prstGeom>
          <a:solidFill>
            <a:srgbClr val="0D948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6" name="Google Shape;176;p8"/>
          <p:cNvSpPr/>
          <p:nvPr/>
        </p:nvSpPr>
        <p:spPr>
          <a:xfrm>
            <a:off x="457200" y="1481328"/>
            <a:ext cx="4892040" cy="877824"/>
          </a:xfrm>
          <a:prstGeom prst="roundRect">
            <a:avLst>
              <a:gd fmla="val 9677" name="adj"/>
            </a:avLst>
          </a:prstGeom>
          <a:solidFill>
            <a:srgbClr val="F0FDFA"/>
          </a:solidFill>
          <a:ln cap="flat" cmpd="sng" w="15225">
            <a:solidFill>
              <a:srgbClr val="0D948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7" name="Google Shape;177;p8"/>
          <p:cNvSpPr txBox="1"/>
          <p:nvPr/>
        </p:nvSpPr>
        <p:spPr>
          <a:xfrm>
            <a:off x="640080" y="1545336"/>
            <a:ext cx="452627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50" u="none" cap="none" strike="noStrike">
                <a:solidFill>
                  <a:srgbClr val="0F766E"/>
                </a:solidFill>
                <a:latin typeface="Bookman Old Style"/>
                <a:ea typeface="Bookman Old Style"/>
                <a:cs typeface="Bookman Old Style"/>
                <a:sym typeface="Bookman Old Style"/>
              </a:rPr>
              <a:t>Type 1 — bare-metal</a:t>
            </a:r>
            <a:endParaRPr/>
          </a:p>
        </p:txBody>
      </p:sp>
      <p:sp>
        <p:nvSpPr>
          <p:cNvPr id="178" name="Google Shape;178;p8"/>
          <p:cNvSpPr txBox="1"/>
          <p:nvPr/>
        </p:nvSpPr>
        <p:spPr>
          <a:xfrm>
            <a:off x="640080" y="1819656"/>
            <a:ext cx="4526279" cy="512063"/>
          </a:xfrm>
          <a:prstGeom prst="rect">
            <a:avLst/>
          </a:prstGeom>
          <a:noFill/>
          <a:ln>
            <a:noFill/>
          </a:ln>
        </p:spPr>
        <p:txBody>
          <a:bodyPr anchorCtr="0" anchor="t" bIns="0" lIns="0" spcFirstLastPara="1" rIns="0" wrap="square" tIns="0">
            <a:spAutoFit/>
          </a:bodyPr>
          <a:lstStyle/>
          <a:p>
            <a:pPr indent="0" lvl="0" marL="0" marR="0" rtl="0" algn="l">
              <a:lnSpc>
                <a:spcPct val="104000"/>
              </a:lnSpc>
              <a:spcBef>
                <a:spcPts val="0"/>
              </a:spcBef>
              <a:spcAft>
                <a:spcPts val="0"/>
              </a:spcAft>
              <a:buNone/>
            </a:pPr>
            <a:r>
              <a:rPr b="0" i="0" lang="en-US" sz="1000" u="none" cap="none" strike="noStrike">
                <a:solidFill>
                  <a:srgbClr val="1E293B"/>
                </a:solidFill>
                <a:latin typeface="Calibri"/>
                <a:ea typeface="Calibri"/>
                <a:cs typeface="Calibri"/>
                <a:sym typeface="Calibri"/>
              </a:rPr>
              <a:t>Runs </a:t>
            </a:r>
            <a:r>
              <a:rPr b="1" i="0" lang="en-US" sz="1000" u="none" cap="none" strike="noStrike">
                <a:solidFill>
                  <a:srgbClr val="1E293B"/>
                </a:solidFill>
                <a:latin typeface="Calibri"/>
                <a:ea typeface="Calibri"/>
                <a:cs typeface="Calibri"/>
                <a:sym typeface="Calibri"/>
              </a:rPr>
              <a:t>directly on the hardware</a:t>
            </a:r>
            <a:r>
              <a:rPr b="0" i="0" lang="en-US" sz="1000" u="none" cap="none" strike="noStrike">
                <a:solidFill>
                  <a:srgbClr val="1E293B"/>
                </a:solidFill>
                <a:latin typeface="Calibri"/>
                <a:ea typeface="Calibri"/>
                <a:cs typeface="Calibri"/>
                <a:sym typeface="Calibri"/>
              </a:rPr>
              <a:t>. Fast, data-center grade. KVM, VMware ESXi, Hyper-V, Xen. Every EC2 instance lives here.</a:t>
            </a:r>
            <a:endParaRPr/>
          </a:p>
        </p:txBody>
      </p:sp>
      <p:sp>
        <p:nvSpPr>
          <p:cNvPr id="179" name="Google Shape;179;p8"/>
          <p:cNvSpPr/>
          <p:nvPr/>
        </p:nvSpPr>
        <p:spPr>
          <a:xfrm>
            <a:off x="457200" y="2468880"/>
            <a:ext cx="4892040" cy="877824"/>
          </a:xfrm>
          <a:prstGeom prst="roundRect">
            <a:avLst>
              <a:gd fmla="val 9677" name="adj"/>
            </a:avLst>
          </a:prstGeom>
          <a:solidFill>
            <a:srgbClr val="FFFFFF"/>
          </a:solidFill>
          <a:ln cap="flat" cmpd="sng" w="15225">
            <a:solidFill>
              <a:srgbClr val="CBD5E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0" name="Google Shape;180;p8"/>
          <p:cNvSpPr txBox="1"/>
          <p:nvPr/>
        </p:nvSpPr>
        <p:spPr>
          <a:xfrm>
            <a:off x="640080" y="2532888"/>
            <a:ext cx="452627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50" u="none" cap="none" strike="noStrike">
                <a:solidFill>
                  <a:srgbClr val="0F172A"/>
                </a:solidFill>
                <a:latin typeface="Bookman Old Style"/>
                <a:ea typeface="Bookman Old Style"/>
                <a:cs typeface="Bookman Old Style"/>
                <a:sym typeface="Bookman Old Style"/>
              </a:rPr>
              <a:t>Type 2 — hosted</a:t>
            </a:r>
            <a:endParaRPr/>
          </a:p>
        </p:txBody>
      </p:sp>
      <p:sp>
        <p:nvSpPr>
          <p:cNvPr id="181" name="Google Shape;181;p8"/>
          <p:cNvSpPr txBox="1"/>
          <p:nvPr/>
        </p:nvSpPr>
        <p:spPr>
          <a:xfrm>
            <a:off x="640080" y="2807208"/>
            <a:ext cx="4526279" cy="512063"/>
          </a:xfrm>
          <a:prstGeom prst="rect">
            <a:avLst/>
          </a:prstGeom>
          <a:noFill/>
          <a:ln>
            <a:noFill/>
          </a:ln>
        </p:spPr>
        <p:txBody>
          <a:bodyPr anchorCtr="0" anchor="t" bIns="0" lIns="0" spcFirstLastPara="1" rIns="0" wrap="square" tIns="0">
            <a:spAutoFit/>
          </a:bodyPr>
          <a:lstStyle/>
          <a:p>
            <a:pPr indent="0" lvl="0" marL="0" marR="0" rtl="0" algn="l">
              <a:lnSpc>
                <a:spcPct val="104000"/>
              </a:lnSpc>
              <a:spcBef>
                <a:spcPts val="0"/>
              </a:spcBef>
              <a:spcAft>
                <a:spcPts val="0"/>
              </a:spcAft>
              <a:buNone/>
            </a:pPr>
            <a:r>
              <a:rPr b="0" i="0" lang="en-US" sz="1000" u="none" cap="none" strike="noStrike">
                <a:solidFill>
                  <a:srgbClr val="1E293B"/>
                </a:solidFill>
                <a:latin typeface="Calibri"/>
                <a:ea typeface="Calibri"/>
                <a:cs typeface="Calibri"/>
                <a:sym typeface="Calibri"/>
              </a:rPr>
              <a:t>Runs </a:t>
            </a:r>
            <a:r>
              <a:rPr b="1" i="0" lang="en-US" sz="1000" u="none" cap="none" strike="noStrike">
                <a:solidFill>
                  <a:srgbClr val="1E293B"/>
                </a:solidFill>
                <a:latin typeface="Calibri"/>
                <a:ea typeface="Calibri"/>
                <a:cs typeface="Calibri"/>
                <a:sym typeface="Calibri"/>
              </a:rPr>
              <a:t>as an app on top of a normal OS</a:t>
            </a:r>
            <a:r>
              <a:rPr b="0" i="0" lang="en-US" sz="1000" u="none" cap="none" strike="noStrike">
                <a:solidFill>
                  <a:srgbClr val="1E293B"/>
                </a:solidFill>
                <a:latin typeface="Calibri"/>
                <a:ea typeface="Calibri"/>
                <a:cs typeface="Calibri"/>
                <a:sym typeface="Calibri"/>
              </a:rPr>
              <a:t>. Great for dev. VirtualBox, VMware Workstation. Slower — there's a whole OS underneath it.</a:t>
            </a:r>
            <a:endParaRPr/>
          </a:p>
        </p:txBody>
      </p:sp>
      <p:sp>
        <p:nvSpPr>
          <p:cNvPr id="182" name="Google Shape;182;p8"/>
          <p:cNvSpPr/>
          <p:nvPr/>
        </p:nvSpPr>
        <p:spPr>
          <a:xfrm>
            <a:off x="457200" y="3456432"/>
            <a:ext cx="4892040" cy="969264"/>
          </a:xfrm>
          <a:prstGeom prst="roundRect">
            <a:avLst>
              <a:gd fmla="val 9677" name="adj"/>
            </a:avLst>
          </a:prstGeom>
          <a:solidFill>
            <a:srgbClr val="F1F5F9"/>
          </a:solidFill>
          <a:ln cap="flat" cmpd="sng" w="15225">
            <a:solidFill>
              <a:srgbClr val="CBD5E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3" name="Google Shape;183;p8"/>
          <p:cNvSpPr txBox="1"/>
          <p:nvPr/>
        </p:nvSpPr>
        <p:spPr>
          <a:xfrm>
            <a:off x="640080" y="3520439"/>
            <a:ext cx="452627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350" u="none" cap="none" strike="noStrike">
                <a:solidFill>
                  <a:srgbClr val="0F172A"/>
                </a:solidFill>
                <a:latin typeface="Bookman Old Style"/>
                <a:ea typeface="Bookman Old Style"/>
                <a:cs typeface="Bookman Old Style"/>
                <a:sym typeface="Bookman Old Style"/>
              </a:rPr>
              <a:t>Not the same as a container</a:t>
            </a:r>
            <a:endParaRPr/>
          </a:p>
        </p:txBody>
      </p:sp>
      <p:sp>
        <p:nvSpPr>
          <p:cNvPr id="184" name="Google Shape;184;p8"/>
          <p:cNvSpPr txBox="1"/>
          <p:nvPr/>
        </p:nvSpPr>
        <p:spPr>
          <a:xfrm>
            <a:off x="640080" y="3794759"/>
            <a:ext cx="4526279" cy="603504"/>
          </a:xfrm>
          <a:prstGeom prst="rect">
            <a:avLst/>
          </a:prstGeom>
          <a:noFill/>
          <a:ln>
            <a:noFill/>
          </a:ln>
        </p:spPr>
        <p:txBody>
          <a:bodyPr anchorCtr="0" anchor="t" bIns="0" lIns="0" spcFirstLastPara="1" rIns="0" wrap="square" tIns="0">
            <a:spAutoFit/>
          </a:bodyPr>
          <a:lstStyle/>
          <a:p>
            <a:pPr indent="0" lvl="0" marL="0" marR="0" rtl="0" algn="l">
              <a:lnSpc>
                <a:spcPct val="104000"/>
              </a:lnSpc>
              <a:spcBef>
                <a:spcPts val="0"/>
              </a:spcBef>
              <a:spcAft>
                <a:spcPts val="0"/>
              </a:spcAft>
              <a:buNone/>
            </a:pPr>
            <a:r>
              <a:rPr b="0" i="0" lang="en-US" sz="1000" u="none" cap="none" strike="noStrike">
                <a:solidFill>
                  <a:srgbClr val="1E293B"/>
                </a:solidFill>
                <a:latin typeface="Calibri"/>
                <a:ea typeface="Calibri"/>
                <a:cs typeface="Calibri"/>
                <a:sym typeface="Calibri"/>
              </a:rPr>
              <a:t>A VM virtualizes </a:t>
            </a:r>
            <a:r>
              <a:rPr b="1" i="0" lang="en-US" sz="1000" u="none" cap="none" strike="noStrike">
                <a:solidFill>
                  <a:srgbClr val="0F766E"/>
                </a:solidFill>
                <a:latin typeface="Calibri"/>
                <a:ea typeface="Calibri"/>
                <a:cs typeface="Calibri"/>
                <a:sym typeface="Calibri"/>
              </a:rPr>
              <a:t>hardware</a:t>
            </a:r>
            <a:r>
              <a:rPr b="0" i="0" lang="en-US" sz="1000" u="none" cap="none" strike="noStrike">
                <a:solidFill>
                  <a:srgbClr val="1E293B"/>
                </a:solidFill>
                <a:latin typeface="Calibri"/>
                <a:ea typeface="Calibri"/>
                <a:cs typeface="Calibri"/>
                <a:sym typeface="Calibri"/>
              </a:rPr>
              <a:t> (full guest OS, GBs, boots in minutes). A container virtualizes the </a:t>
            </a:r>
            <a:r>
              <a:rPr b="1" i="0" lang="en-US" sz="1000" u="none" cap="none" strike="noStrike">
                <a:solidFill>
                  <a:srgbClr val="C2410C"/>
                </a:solidFill>
                <a:latin typeface="Calibri"/>
                <a:ea typeface="Calibri"/>
                <a:cs typeface="Calibri"/>
                <a:sym typeface="Calibri"/>
              </a:rPr>
              <a:t>OS</a:t>
            </a:r>
            <a:r>
              <a:rPr b="0" i="0" lang="en-US" sz="1000" u="none" cap="none" strike="noStrike">
                <a:solidFill>
                  <a:srgbClr val="1E293B"/>
                </a:solidFill>
                <a:latin typeface="Calibri"/>
                <a:ea typeface="Calibri"/>
                <a:cs typeface="Calibri"/>
                <a:sym typeface="Calibri"/>
              </a:rPr>
              <a:t> (shares the host kernel, MBs, starts in seconds). Containers often run inside VMs.</a:t>
            </a:r>
            <a:endParaRPr/>
          </a:p>
        </p:txBody>
      </p:sp>
      <p:sp>
        <p:nvSpPr>
          <p:cNvPr id="185" name="Google Shape;185;p8"/>
          <p:cNvSpPr/>
          <p:nvPr/>
        </p:nvSpPr>
        <p:spPr>
          <a:xfrm>
            <a:off x="5577840" y="1481328"/>
            <a:ext cx="3108960" cy="3200400"/>
          </a:xfrm>
          <a:prstGeom prst="roundRect">
            <a:avLst>
              <a:gd fmla="val 2059" name="adj"/>
            </a:avLst>
          </a:prstGeom>
          <a:solidFill>
            <a:srgbClr val="0F172A"/>
          </a:solidFill>
          <a:ln cap="flat" cmpd="sng" w="12700">
            <a:solidFill>
              <a:srgbClr val="1E29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6" name="Google Shape;186;p8"/>
          <p:cNvSpPr txBox="1"/>
          <p:nvPr/>
        </p:nvSpPr>
        <p:spPr>
          <a:xfrm>
            <a:off x="5779007" y="1609344"/>
            <a:ext cx="2706624"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200" u="none" cap="none" strike="noStrike">
                <a:solidFill>
                  <a:srgbClr val="F97316"/>
                </a:solidFill>
                <a:latin typeface="Calibri"/>
                <a:ea typeface="Calibri"/>
                <a:cs typeface="Calibri"/>
                <a:sym typeface="Calibri"/>
              </a:rPr>
              <a:t>WHY DEVOPS CARES</a:t>
            </a:r>
            <a:endParaRPr/>
          </a:p>
        </p:txBody>
      </p:sp>
      <p:sp>
        <p:nvSpPr>
          <p:cNvPr id="187" name="Google Shape;187;p8"/>
          <p:cNvSpPr txBox="1"/>
          <p:nvPr/>
        </p:nvSpPr>
        <p:spPr>
          <a:xfrm>
            <a:off x="5779007" y="1975104"/>
            <a:ext cx="2706624"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34D399"/>
                </a:solidFill>
                <a:latin typeface="Calibri"/>
                <a:ea typeface="Calibri"/>
                <a:cs typeface="Calibri"/>
                <a:sym typeface="Calibri"/>
              </a:rPr>
              <a:t>Consolidation</a:t>
            </a:r>
            <a:endParaRPr/>
          </a:p>
        </p:txBody>
      </p:sp>
      <p:sp>
        <p:nvSpPr>
          <p:cNvPr id="188" name="Google Shape;188;p8"/>
          <p:cNvSpPr txBox="1"/>
          <p:nvPr/>
        </p:nvSpPr>
        <p:spPr>
          <a:xfrm>
            <a:off x="5779007" y="2189988"/>
            <a:ext cx="2706624" cy="384048"/>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b="0" i="0" lang="en-US" sz="1050" u="none" cap="none" strike="noStrike">
                <a:solidFill>
                  <a:srgbClr val="CBD5E1"/>
                </a:solidFill>
                <a:latin typeface="Calibri"/>
                <a:ea typeface="Calibri"/>
                <a:cs typeface="Calibri"/>
                <a:sym typeface="Calibri"/>
              </a:rPr>
              <a:t>one beefy server runs many workloads, not idle boxes</a:t>
            </a:r>
            <a:endParaRPr/>
          </a:p>
        </p:txBody>
      </p:sp>
      <p:sp>
        <p:nvSpPr>
          <p:cNvPr id="189" name="Google Shape;189;p8"/>
          <p:cNvSpPr txBox="1"/>
          <p:nvPr/>
        </p:nvSpPr>
        <p:spPr>
          <a:xfrm>
            <a:off x="5779007" y="2615184"/>
            <a:ext cx="2706624"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34D399"/>
                </a:solidFill>
                <a:latin typeface="Calibri"/>
                <a:ea typeface="Calibri"/>
                <a:cs typeface="Calibri"/>
                <a:sym typeface="Calibri"/>
              </a:rPr>
              <a:t>Isolation</a:t>
            </a:r>
            <a:endParaRPr/>
          </a:p>
        </p:txBody>
      </p:sp>
      <p:sp>
        <p:nvSpPr>
          <p:cNvPr id="190" name="Google Shape;190;p8"/>
          <p:cNvSpPr txBox="1"/>
          <p:nvPr/>
        </p:nvSpPr>
        <p:spPr>
          <a:xfrm>
            <a:off x="5779007" y="2830068"/>
            <a:ext cx="2706624" cy="384048"/>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b="0" i="0" lang="en-US" sz="1050" u="none" cap="none" strike="noStrike">
                <a:solidFill>
                  <a:srgbClr val="CBD5E1"/>
                </a:solidFill>
                <a:latin typeface="Calibri"/>
                <a:ea typeface="Calibri"/>
                <a:cs typeface="Calibri"/>
                <a:sym typeface="Calibri"/>
              </a:rPr>
              <a:t>one VM crashes or is breached, the neighbours survive</a:t>
            </a:r>
            <a:endParaRPr/>
          </a:p>
        </p:txBody>
      </p:sp>
      <p:sp>
        <p:nvSpPr>
          <p:cNvPr id="191" name="Google Shape;191;p8"/>
          <p:cNvSpPr txBox="1"/>
          <p:nvPr/>
        </p:nvSpPr>
        <p:spPr>
          <a:xfrm>
            <a:off x="5779007" y="3255264"/>
            <a:ext cx="2706624"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34D399"/>
                </a:solidFill>
                <a:latin typeface="Calibri"/>
                <a:ea typeface="Calibri"/>
                <a:cs typeface="Calibri"/>
                <a:sym typeface="Calibri"/>
              </a:rPr>
              <a:t>Snapshots + clones</a:t>
            </a:r>
            <a:endParaRPr/>
          </a:p>
        </p:txBody>
      </p:sp>
      <p:sp>
        <p:nvSpPr>
          <p:cNvPr id="192" name="Google Shape;192;p8"/>
          <p:cNvSpPr txBox="1"/>
          <p:nvPr/>
        </p:nvSpPr>
        <p:spPr>
          <a:xfrm>
            <a:off x="5779007" y="3470148"/>
            <a:ext cx="2706624" cy="384048"/>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b="0" i="0" lang="en-US" sz="1050" u="none" cap="none" strike="noStrike">
                <a:solidFill>
                  <a:srgbClr val="CBD5E1"/>
                </a:solidFill>
                <a:latin typeface="Calibri"/>
                <a:ea typeface="Calibri"/>
                <a:cs typeface="Calibri"/>
                <a:sym typeface="Calibri"/>
              </a:rPr>
              <a:t>freeze state, roll back, or clone a box in seconds</a:t>
            </a:r>
            <a:endParaRPr/>
          </a:p>
        </p:txBody>
      </p:sp>
      <p:sp>
        <p:nvSpPr>
          <p:cNvPr id="193" name="Google Shape;193;p8"/>
          <p:cNvSpPr txBox="1"/>
          <p:nvPr/>
        </p:nvSpPr>
        <p:spPr>
          <a:xfrm>
            <a:off x="5779007" y="3895344"/>
            <a:ext cx="2706624" cy="21945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34D399"/>
                </a:solidFill>
                <a:latin typeface="Calibri"/>
                <a:ea typeface="Calibri"/>
                <a:cs typeface="Calibri"/>
                <a:sym typeface="Calibri"/>
              </a:rPr>
              <a:t>The cloud itself</a:t>
            </a:r>
            <a:endParaRPr/>
          </a:p>
        </p:txBody>
      </p:sp>
      <p:sp>
        <p:nvSpPr>
          <p:cNvPr id="194" name="Google Shape;194;p8"/>
          <p:cNvSpPr txBox="1"/>
          <p:nvPr/>
        </p:nvSpPr>
        <p:spPr>
          <a:xfrm>
            <a:off x="5779007" y="4110228"/>
            <a:ext cx="2706624" cy="384048"/>
          </a:xfrm>
          <a:prstGeom prst="rect">
            <a:avLst/>
          </a:prstGeom>
          <a:noFill/>
          <a:ln>
            <a:noFill/>
          </a:ln>
        </p:spPr>
        <p:txBody>
          <a:bodyPr anchorCtr="0" anchor="t" bIns="0" lIns="0" spcFirstLastPara="1" rIns="0" wrap="square" tIns="0">
            <a:spAutoFit/>
          </a:bodyPr>
          <a:lstStyle/>
          <a:p>
            <a:pPr indent="0" lvl="0" marL="0" marR="0" rtl="0" algn="l">
              <a:lnSpc>
                <a:spcPct val="103000"/>
              </a:lnSpc>
              <a:spcBef>
                <a:spcPts val="0"/>
              </a:spcBef>
              <a:spcAft>
                <a:spcPts val="0"/>
              </a:spcAft>
              <a:buNone/>
            </a:pPr>
            <a:r>
              <a:rPr b="0" i="0" lang="en-US" sz="1050" u="none" cap="none" strike="noStrike">
                <a:solidFill>
                  <a:srgbClr val="CBD5E1"/>
                </a:solidFill>
                <a:latin typeface="Calibri"/>
                <a:ea typeface="Calibri"/>
                <a:cs typeface="Calibri"/>
                <a:sym typeface="Calibri"/>
              </a:rPr>
              <a:t>AWS, Azure, GCP are virtualization farms you rent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99" name="Shape 199"/>
        <p:cNvGrpSpPr/>
        <p:nvPr/>
      </p:nvGrpSpPr>
      <p:grpSpPr>
        <a:xfrm>
          <a:off x="0" y="0"/>
          <a:ext cx="0" cy="0"/>
          <a:chOff x="0" y="0"/>
          <a:chExt cx="0" cy="0"/>
        </a:xfrm>
      </p:grpSpPr>
      <p:sp>
        <p:nvSpPr>
          <p:cNvPr id="200" name="Google Shape;200;p9"/>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What is a distribution ("distro")?</a:t>
            </a:r>
            <a:endParaRPr b="0" i="0" sz="2900" u="none" cap="none" strike="noStrike">
              <a:solidFill>
                <a:schemeClr val="dk1"/>
              </a:solidFill>
              <a:latin typeface="Calibri"/>
              <a:ea typeface="Calibri"/>
              <a:cs typeface="Calibri"/>
              <a:sym typeface="Calibri"/>
            </a:endParaRPr>
          </a:p>
        </p:txBody>
      </p:sp>
      <p:sp>
        <p:nvSpPr>
          <p:cNvPr id="201" name="Google Shape;201;p9"/>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2" name="Google Shape;202;p9"/>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203" name="Google Shape;203;p9"/>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apt works on Ubuntu but not on Alpine — the distro decides your package manager, your libc, and your base image.</a:t>
            </a:r>
            <a:endParaRPr b="0" i="0" sz="1300" u="none" cap="none" strike="noStrike">
              <a:solidFill>
                <a:schemeClr val="dk1"/>
              </a:solidFill>
              <a:latin typeface="Calibri"/>
              <a:ea typeface="Calibri"/>
              <a:cs typeface="Calibri"/>
              <a:sym typeface="Calibri"/>
            </a:endParaRPr>
          </a:p>
        </p:txBody>
      </p:sp>
      <p:sp>
        <p:nvSpPr>
          <p:cNvPr id="204" name="Google Shape;204;p9"/>
          <p:cNvSpPr/>
          <p:nvPr/>
        </p:nvSpPr>
        <p:spPr>
          <a:xfrm>
            <a:off x="457200" y="1371600"/>
            <a:ext cx="4160520" cy="2633472"/>
          </a:xfrm>
          <a:prstGeom prst="roundRect">
            <a:avLst>
              <a:gd fmla="val 2083"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9"/>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A DISTRO BUNDLES</a:t>
            </a:r>
            <a:endParaRPr b="0" i="0" sz="1250" u="none" cap="none" strike="noStrike">
              <a:solidFill>
                <a:schemeClr val="dk1"/>
              </a:solidFill>
              <a:latin typeface="Calibri"/>
              <a:ea typeface="Calibri"/>
              <a:cs typeface="Calibri"/>
              <a:sym typeface="Calibri"/>
            </a:endParaRPr>
          </a:p>
        </p:txBody>
      </p:sp>
      <p:sp>
        <p:nvSpPr>
          <p:cNvPr id="206" name="Google Shape;206;p9"/>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kernel</a:t>
            </a:r>
            <a:endParaRPr b="0" i="0" sz="1150" u="none" cap="none" strike="noStrike">
              <a:solidFill>
                <a:schemeClr val="dk1"/>
              </a:solidFill>
              <a:latin typeface="Calibri"/>
              <a:ea typeface="Calibri"/>
              <a:cs typeface="Calibri"/>
              <a:sym typeface="Calibri"/>
            </a:endParaRPr>
          </a:p>
        </p:txBody>
      </p:sp>
      <p:sp>
        <p:nvSpPr>
          <p:cNvPr id="207" name="Google Shape;207;p9"/>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the Linux kernel (shared by all)</a:t>
            </a:r>
            <a:endParaRPr b="0" i="0" sz="1100" u="none" cap="none" strike="noStrike">
              <a:solidFill>
                <a:schemeClr val="dk1"/>
              </a:solidFill>
              <a:latin typeface="Calibri"/>
              <a:ea typeface="Calibri"/>
              <a:cs typeface="Calibri"/>
              <a:sym typeface="Calibri"/>
            </a:endParaRPr>
          </a:p>
        </p:txBody>
      </p:sp>
      <p:sp>
        <p:nvSpPr>
          <p:cNvPr id="208" name="Google Shape;208;p9"/>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userland</a:t>
            </a:r>
            <a:endParaRPr b="0" i="0" sz="1150" u="none" cap="none" strike="noStrike">
              <a:solidFill>
                <a:schemeClr val="dk1"/>
              </a:solidFill>
              <a:latin typeface="Calibri"/>
              <a:ea typeface="Calibri"/>
              <a:cs typeface="Calibri"/>
              <a:sym typeface="Calibri"/>
            </a:endParaRPr>
          </a:p>
        </p:txBody>
      </p:sp>
      <p:sp>
        <p:nvSpPr>
          <p:cNvPr id="209" name="Google Shape;209;p9"/>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coreutils + libc (GNU, or musl)</a:t>
            </a:r>
            <a:endParaRPr b="0" i="0" sz="1100" u="none" cap="none" strike="noStrike">
              <a:solidFill>
                <a:schemeClr val="dk1"/>
              </a:solidFill>
              <a:latin typeface="Calibri"/>
              <a:ea typeface="Calibri"/>
              <a:cs typeface="Calibri"/>
              <a:sym typeface="Calibri"/>
            </a:endParaRPr>
          </a:p>
        </p:txBody>
      </p:sp>
      <p:sp>
        <p:nvSpPr>
          <p:cNvPr id="210" name="Google Shape;210;p9"/>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pkg manager</a:t>
            </a:r>
            <a:endParaRPr b="0" i="0" sz="1150" u="none" cap="none" strike="noStrike">
              <a:solidFill>
                <a:schemeClr val="dk1"/>
              </a:solidFill>
              <a:latin typeface="Calibri"/>
              <a:ea typeface="Calibri"/>
              <a:cs typeface="Calibri"/>
              <a:sym typeface="Calibri"/>
            </a:endParaRPr>
          </a:p>
        </p:txBody>
      </p:sp>
      <p:sp>
        <p:nvSpPr>
          <p:cNvPr id="211" name="Google Shape;211;p9"/>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apt · dnf · apk · pacman</a:t>
            </a:r>
            <a:endParaRPr b="0" i="0" sz="1100" u="none" cap="none" strike="noStrike">
              <a:solidFill>
                <a:schemeClr val="dk1"/>
              </a:solidFill>
              <a:latin typeface="Calibri"/>
              <a:ea typeface="Calibri"/>
              <a:cs typeface="Calibri"/>
              <a:sym typeface="Calibri"/>
            </a:endParaRPr>
          </a:p>
        </p:txBody>
      </p:sp>
      <p:sp>
        <p:nvSpPr>
          <p:cNvPr id="212" name="Google Shape;212;p9"/>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init</a:t>
            </a:r>
            <a:endParaRPr b="0" i="0" sz="1150" u="none" cap="none" strike="noStrike">
              <a:solidFill>
                <a:schemeClr val="dk1"/>
              </a:solidFill>
              <a:latin typeface="Calibri"/>
              <a:ea typeface="Calibri"/>
              <a:cs typeface="Calibri"/>
              <a:sym typeface="Calibri"/>
            </a:endParaRPr>
          </a:p>
        </p:txBody>
      </p:sp>
      <p:sp>
        <p:nvSpPr>
          <p:cNvPr id="213" name="Google Shape;213;p9"/>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usually systemd</a:t>
            </a:r>
            <a:endParaRPr b="0" i="0" sz="1100" u="none" cap="none" strike="noStrike">
              <a:solidFill>
                <a:schemeClr val="dk1"/>
              </a:solidFill>
              <a:latin typeface="Calibri"/>
              <a:ea typeface="Calibri"/>
              <a:cs typeface="Calibri"/>
              <a:sym typeface="Calibri"/>
            </a:endParaRPr>
          </a:p>
        </p:txBody>
      </p:sp>
      <p:sp>
        <p:nvSpPr>
          <p:cNvPr id="214" name="Google Shape;214;p9"/>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defaults</a:t>
            </a:r>
            <a:endParaRPr b="0" i="0" sz="1150" u="none" cap="none" strike="noStrike">
              <a:solidFill>
                <a:schemeClr val="dk1"/>
              </a:solidFill>
              <a:latin typeface="Calibri"/>
              <a:ea typeface="Calibri"/>
              <a:cs typeface="Calibri"/>
              <a:sym typeface="Calibri"/>
            </a:endParaRPr>
          </a:p>
        </p:txBody>
      </p:sp>
      <p:sp>
        <p:nvSpPr>
          <p:cNvPr id="215" name="Google Shape;215;p9"/>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file layout, configs, release cadence</a:t>
            </a:r>
            <a:endParaRPr b="0" i="0" sz="1100" u="none" cap="none" strike="noStrike">
              <a:solidFill>
                <a:schemeClr val="dk1"/>
              </a:solidFill>
              <a:latin typeface="Calibri"/>
              <a:ea typeface="Calibri"/>
              <a:cs typeface="Calibri"/>
              <a:sym typeface="Calibri"/>
            </a:endParaRPr>
          </a:p>
        </p:txBody>
      </p:sp>
      <p:sp>
        <p:nvSpPr>
          <p:cNvPr id="216" name="Google Shape;216;p9"/>
          <p:cNvSpPr/>
          <p:nvPr/>
        </p:nvSpPr>
        <p:spPr>
          <a:xfrm>
            <a:off x="4800600" y="1371600"/>
            <a:ext cx="3886200" cy="1783080"/>
          </a:xfrm>
          <a:prstGeom prst="roundRect">
            <a:avLst>
              <a:gd fmla="val 4103"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9"/>
          <p:cNvSpPr/>
          <p:nvPr/>
        </p:nvSpPr>
        <p:spPr>
          <a:xfrm>
            <a:off x="49834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9"/>
          <p:cNvSpPr/>
          <p:nvPr/>
        </p:nvSpPr>
        <p:spPr>
          <a:xfrm>
            <a:off x="51297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9"/>
          <p:cNvSpPr/>
          <p:nvPr/>
        </p:nvSpPr>
        <p:spPr>
          <a:xfrm>
            <a:off x="52760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9"/>
          <p:cNvSpPr/>
          <p:nvPr/>
        </p:nvSpPr>
        <p:spPr>
          <a:xfrm>
            <a:off x="5440680" y="144475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you@server</a:t>
            </a:r>
            <a:endParaRPr b="0" i="0" sz="900" u="none" cap="none" strike="noStrike">
              <a:solidFill>
                <a:schemeClr val="dk1"/>
              </a:solidFill>
              <a:latin typeface="Calibri"/>
              <a:ea typeface="Calibri"/>
              <a:cs typeface="Calibri"/>
              <a:sym typeface="Calibri"/>
            </a:endParaRPr>
          </a:p>
        </p:txBody>
      </p:sp>
      <p:cxnSp>
        <p:nvCxnSpPr>
          <p:cNvPr id="221" name="Google Shape;221;p9"/>
          <p:cNvCxnSpPr/>
          <p:nvPr/>
        </p:nvCxnSpPr>
        <p:spPr>
          <a:xfrm>
            <a:off x="4800600" y="1737360"/>
            <a:ext cx="3886200" cy="0"/>
          </a:xfrm>
          <a:prstGeom prst="straightConnector1">
            <a:avLst/>
          </a:prstGeom>
          <a:noFill/>
          <a:ln cap="flat" cmpd="sng" w="12700">
            <a:solidFill>
              <a:srgbClr val="1E293B"/>
            </a:solidFill>
            <a:prstDash val="solid"/>
            <a:round/>
            <a:headEnd len="sm" w="sm" type="none"/>
            <a:tailEnd len="sm" w="sm" type="none"/>
          </a:ln>
        </p:spPr>
      </p:cxnSp>
      <p:sp>
        <p:nvSpPr>
          <p:cNvPr id="222" name="Google Shape;222;p9"/>
          <p:cNvSpPr/>
          <p:nvPr/>
        </p:nvSpPr>
        <p:spPr>
          <a:xfrm>
            <a:off x="5001768" y="1847088"/>
            <a:ext cx="3483864" cy="119786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cat /etc/os-release</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NAME="Ubuntu"</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VERSION="24.04 LTS"</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uname -srm</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Linux 6.8.0-31 x86_64</a:t>
            </a:r>
            <a:r>
              <a:rPr b="0" i="0" lang="en-US" sz="1050" u="none" cap="none" strike="noStrike">
                <a:solidFill>
                  <a:srgbClr val="64748B"/>
                </a:solidFill>
                <a:latin typeface="Courier New"/>
                <a:ea typeface="Courier New"/>
                <a:cs typeface="Courier New"/>
                <a:sym typeface="Courier New"/>
              </a:rPr>
              <a:t>  # the kernel</a:t>
            </a:r>
            <a:endParaRPr b="0" i="0" sz="1050" u="none" cap="none" strike="noStrike">
              <a:solidFill>
                <a:schemeClr val="dk1"/>
              </a:solidFill>
              <a:latin typeface="Calibri"/>
              <a:ea typeface="Calibri"/>
              <a:cs typeface="Calibri"/>
              <a:sym typeface="Calibri"/>
            </a:endParaRPr>
          </a:p>
        </p:txBody>
      </p:sp>
      <p:sp>
        <p:nvSpPr>
          <p:cNvPr id="223" name="Google Shape;223;p9"/>
          <p:cNvSpPr/>
          <p:nvPr/>
        </p:nvSpPr>
        <p:spPr>
          <a:xfrm>
            <a:off x="4800600" y="3291840"/>
            <a:ext cx="3886200" cy="1371600"/>
          </a:xfrm>
          <a:prstGeom prst="roundRect">
            <a:avLst>
              <a:gd fmla="val 4667" name="adj"/>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9"/>
          <p:cNvSpPr/>
          <p:nvPr/>
        </p:nvSpPr>
        <p:spPr>
          <a:xfrm>
            <a:off x="4983480" y="3383280"/>
            <a:ext cx="35204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Same kernel, different wrapping</a:t>
            </a:r>
            <a:endParaRPr b="0" i="0" sz="1250" u="none" cap="none" strike="noStrike">
              <a:solidFill>
                <a:schemeClr val="dk1"/>
              </a:solidFill>
              <a:latin typeface="Calibri"/>
              <a:ea typeface="Calibri"/>
              <a:cs typeface="Calibri"/>
              <a:sym typeface="Calibri"/>
            </a:endParaRPr>
          </a:p>
        </p:txBody>
      </p:sp>
      <p:sp>
        <p:nvSpPr>
          <p:cNvPr id="225" name="Google Shape;225;p9"/>
          <p:cNvSpPr/>
          <p:nvPr/>
        </p:nvSpPr>
        <p:spPr>
          <a:xfrm>
            <a:off x="4983480" y="3675888"/>
            <a:ext cx="352044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Your Docker base image — </a:t>
            </a:r>
            <a:r>
              <a:rPr b="1" i="0" lang="en-US" sz="1050" u="none" cap="none" strike="noStrike">
                <a:solidFill>
                  <a:srgbClr val="0F766E"/>
                </a:solidFill>
                <a:latin typeface="Calibri"/>
                <a:ea typeface="Calibri"/>
                <a:cs typeface="Calibri"/>
                <a:sym typeface="Calibri"/>
              </a:rPr>
              <a:t>ubuntu, debian, alpine</a:t>
            </a:r>
            <a:r>
              <a:rPr b="0" i="0" lang="en-US" sz="1050" u="none" cap="none" strike="noStrike">
                <a:solidFill>
                  <a:srgbClr val="1E293B"/>
                </a:solidFill>
                <a:latin typeface="Calibri"/>
                <a:ea typeface="Calibri"/>
                <a:cs typeface="Calibri"/>
                <a:sym typeface="Calibri"/>
              </a:rPr>
              <a:t> — IS a distro choice. Families: </a:t>
            </a:r>
            <a:r>
              <a:rPr b="1" i="0" lang="en-US" sz="1050" u="none" cap="none" strike="noStrike">
                <a:solidFill>
                  <a:srgbClr val="1E293B"/>
                </a:solidFill>
                <a:latin typeface="Calibri"/>
                <a:ea typeface="Calibri"/>
                <a:cs typeface="Calibri"/>
                <a:sym typeface="Calibri"/>
              </a:rPr>
              <a:t>Debian/Ubuntu→apt · RHEL/Fedora→dnf · Alpine→apk · Arch→pacman</a:t>
            </a:r>
            <a:endParaRPr b="0" i="0" sz="1050" u="none" cap="none" strike="noStrike">
              <a:solidFill>
                <a:schemeClr val="dk1"/>
              </a:solidFill>
              <a:latin typeface="Calibri"/>
              <a:ea typeface="Calibri"/>
              <a:cs typeface="Calibri"/>
              <a:sym typeface="Calibri"/>
            </a:endParaRPr>
          </a:p>
        </p:txBody>
      </p:sp>
      <p:sp>
        <p:nvSpPr>
          <p:cNvPr id="226" name="Google Shape;226;p9"/>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227" name="Google Shape;227;p9"/>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1 · Filesystem</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32" name="Shape 232"/>
        <p:cNvGrpSpPr/>
        <p:nvPr/>
      </p:nvGrpSpPr>
      <p:grpSpPr>
        <a:xfrm>
          <a:off x="0" y="0"/>
          <a:ext cx="0" cy="0"/>
          <a:chOff x="0" y="0"/>
          <a:chExt cx="0" cy="0"/>
        </a:xfrm>
      </p:grpSpPr>
      <p:sp>
        <p:nvSpPr>
          <p:cNvPr id="233" name="Google Shape;233;p10"/>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Orient &amp; inspect</a:t>
            </a:r>
            <a:endParaRPr b="0" i="0" sz="2900" u="none" cap="none" strike="noStrike">
              <a:solidFill>
                <a:schemeClr val="dk1"/>
              </a:solidFill>
              <a:latin typeface="Calibri"/>
              <a:ea typeface="Calibri"/>
              <a:cs typeface="Calibri"/>
              <a:sym typeface="Calibri"/>
            </a:endParaRPr>
          </a:p>
        </p:txBody>
      </p:sp>
      <p:sp>
        <p:nvSpPr>
          <p:cNvPr id="234" name="Google Shape;234;p10"/>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35" name="Google Shape;235;p10"/>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236" name="Google Shape;236;p10"/>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You SSH into an unfamiliar server — first you need to know where you are and what's there.</a:t>
            </a:r>
            <a:endParaRPr b="0" i="0" sz="1300" u="none" cap="none" strike="noStrike">
              <a:solidFill>
                <a:schemeClr val="dk1"/>
              </a:solidFill>
              <a:latin typeface="Calibri"/>
              <a:ea typeface="Calibri"/>
              <a:cs typeface="Calibri"/>
              <a:sym typeface="Calibri"/>
            </a:endParaRPr>
          </a:p>
        </p:txBody>
      </p:sp>
      <p:sp>
        <p:nvSpPr>
          <p:cNvPr id="237" name="Google Shape;237;p10"/>
          <p:cNvSpPr/>
          <p:nvPr/>
        </p:nvSpPr>
        <p:spPr>
          <a:xfrm>
            <a:off x="457200" y="1371600"/>
            <a:ext cx="4160520" cy="2633472"/>
          </a:xfrm>
          <a:prstGeom prst="roundRect">
            <a:avLst>
              <a:gd fmla="val 2083"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0"/>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LOOK AROUND</a:t>
            </a:r>
            <a:endParaRPr b="0" i="0" sz="1250" u="none" cap="none" strike="noStrike">
              <a:solidFill>
                <a:schemeClr val="dk1"/>
              </a:solidFill>
              <a:latin typeface="Calibri"/>
              <a:ea typeface="Calibri"/>
              <a:cs typeface="Calibri"/>
              <a:sym typeface="Calibri"/>
            </a:endParaRPr>
          </a:p>
        </p:txBody>
      </p:sp>
      <p:sp>
        <p:nvSpPr>
          <p:cNvPr id="239" name="Google Shape;239;p10"/>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pwd</a:t>
            </a:r>
            <a:endParaRPr b="0" i="0" sz="1150" u="none" cap="none" strike="noStrike">
              <a:solidFill>
                <a:schemeClr val="dk1"/>
              </a:solidFill>
              <a:latin typeface="Calibri"/>
              <a:ea typeface="Calibri"/>
              <a:cs typeface="Calibri"/>
              <a:sym typeface="Calibri"/>
            </a:endParaRPr>
          </a:p>
        </p:txBody>
      </p:sp>
      <p:sp>
        <p:nvSpPr>
          <p:cNvPr id="240" name="Google Shape;240;p10"/>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print working directory</a:t>
            </a:r>
            <a:endParaRPr b="0" i="0" sz="1100" u="none" cap="none" strike="noStrike">
              <a:solidFill>
                <a:schemeClr val="dk1"/>
              </a:solidFill>
              <a:latin typeface="Calibri"/>
              <a:ea typeface="Calibri"/>
              <a:cs typeface="Calibri"/>
              <a:sym typeface="Calibri"/>
            </a:endParaRPr>
          </a:p>
        </p:txBody>
      </p:sp>
      <p:sp>
        <p:nvSpPr>
          <p:cNvPr id="241" name="Google Shape;241;p10"/>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ls -lah</a:t>
            </a:r>
            <a:endParaRPr b="0" i="0" sz="1150" u="none" cap="none" strike="noStrike">
              <a:solidFill>
                <a:schemeClr val="dk1"/>
              </a:solidFill>
              <a:latin typeface="Calibri"/>
              <a:ea typeface="Calibri"/>
              <a:cs typeface="Calibri"/>
              <a:sym typeface="Calibri"/>
            </a:endParaRPr>
          </a:p>
        </p:txBody>
      </p:sp>
      <p:sp>
        <p:nvSpPr>
          <p:cNvPr id="242" name="Google Shape;242;p10"/>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long list, all, human sizes</a:t>
            </a:r>
            <a:endParaRPr b="0" i="0" sz="1100" u="none" cap="none" strike="noStrike">
              <a:solidFill>
                <a:schemeClr val="dk1"/>
              </a:solidFill>
              <a:latin typeface="Calibri"/>
              <a:ea typeface="Calibri"/>
              <a:cs typeface="Calibri"/>
              <a:sym typeface="Calibri"/>
            </a:endParaRPr>
          </a:p>
        </p:txBody>
      </p:sp>
      <p:sp>
        <p:nvSpPr>
          <p:cNvPr id="243" name="Google Shape;243;p10"/>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tree -L 2</a:t>
            </a:r>
            <a:endParaRPr b="0" i="0" sz="1150" u="none" cap="none" strike="noStrike">
              <a:solidFill>
                <a:schemeClr val="dk1"/>
              </a:solidFill>
              <a:latin typeface="Calibri"/>
              <a:ea typeface="Calibri"/>
              <a:cs typeface="Calibri"/>
              <a:sym typeface="Calibri"/>
            </a:endParaRPr>
          </a:p>
        </p:txBody>
      </p:sp>
      <p:sp>
        <p:nvSpPr>
          <p:cNvPr id="244" name="Google Shape;244;p10"/>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directory tree, 2 levels deep</a:t>
            </a:r>
            <a:endParaRPr b="0" i="0" sz="1100" u="none" cap="none" strike="noStrike">
              <a:solidFill>
                <a:schemeClr val="dk1"/>
              </a:solidFill>
              <a:latin typeface="Calibri"/>
              <a:ea typeface="Calibri"/>
              <a:cs typeface="Calibri"/>
              <a:sym typeface="Calibri"/>
            </a:endParaRPr>
          </a:p>
        </p:txBody>
      </p:sp>
      <p:sp>
        <p:nvSpPr>
          <p:cNvPr id="245" name="Google Shape;245;p10"/>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date</a:t>
            </a:r>
            <a:endParaRPr b="0" i="0" sz="1150" u="none" cap="none" strike="noStrike">
              <a:solidFill>
                <a:schemeClr val="dk1"/>
              </a:solidFill>
              <a:latin typeface="Calibri"/>
              <a:ea typeface="Calibri"/>
              <a:cs typeface="Calibri"/>
              <a:sym typeface="Calibri"/>
            </a:endParaRPr>
          </a:p>
        </p:txBody>
      </p:sp>
      <p:sp>
        <p:nvSpPr>
          <p:cNvPr id="246" name="Google Shape;246;p10"/>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current date/time (logs, naming)</a:t>
            </a:r>
            <a:endParaRPr b="0" i="0" sz="1100" u="none" cap="none" strike="noStrike">
              <a:solidFill>
                <a:schemeClr val="dk1"/>
              </a:solidFill>
              <a:latin typeface="Calibri"/>
              <a:ea typeface="Calibri"/>
              <a:cs typeface="Calibri"/>
              <a:sym typeface="Calibri"/>
            </a:endParaRPr>
          </a:p>
        </p:txBody>
      </p:sp>
      <p:sp>
        <p:nvSpPr>
          <p:cNvPr id="247" name="Google Shape;247;p10"/>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df -h</a:t>
            </a:r>
            <a:endParaRPr b="0" i="0" sz="1150" u="none" cap="none" strike="noStrike">
              <a:solidFill>
                <a:schemeClr val="dk1"/>
              </a:solidFill>
              <a:latin typeface="Calibri"/>
              <a:ea typeface="Calibri"/>
              <a:cs typeface="Calibri"/>
              <a:sym typeface="Calibri"/>
            </a:endParaRPr>
          </a:p>
        </p:txBody>
      </p:sp>
      <p:sp>
        <p:nvSpPr>
          <p:cNvPr id="248" name="Google Shape;248;p10"/>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disk free per mount, human-readable</a:t>
            </a:r>
            <a:endParaRPr b="0" i="0" sz="1100" u="none" cap="none" strike="noStrike">
              <a:solidFill>
                <a:schemeClr val="dk1"/>
              </a:solidFill>
              <a:latin typeface="Calibri"/>
              <a:ea typeface="Calibri"/>
              <a:cs typeface="Calibri"/>
              <a:sym typeface="Calibri"/>
            </a:endParaRPr>
          </a:p>
        </p:txBody>
      </p:sp>
      <p:sp>
        <p:nvSpPr>
          <p:cNvPr id="249" name="Google Shape;249;p10"/>
          <p:cNvSpPr/>
          <p:nvPr/>
        </p:nvSpPr>
        <p:spPr>
          <a:xfrm>
            <a:off x="4800600" y="1371600"/>
            <a:ext cx="3886200" cy="3246120"/>
          </a:xfrm>
          <a:prstGeom prst="roundRect">
            <a:avLst>
              <a:gd fmla="val 225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10"/>
          <p:cNvSpPr/>
          <p:nvPr/>
        </p:nvSpPr>
        <p:spPr>
          <a:xfrm>
            <a:off x="49834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10"/>
          <p:cNvSpPr/>
          <p:nvPr/>
        </p:nvSpPr>
        <p:spPr>
          <a:xfrm>
            <a:off x="51297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10"/>
          <p:cNvSpPr/>
          <p:nvPr/>
        </p:nvSpPr>
        <p:spPr>
          <a:xfrm>
            <a:off x="52760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10"/>
          <p:cNvSpPr/>
          <p:nvPr/>
        </p:nvSpPr>
        <p:spPr>
          <a:xfrm>
            <a:off x="5440680" y="144475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you@server: ~</a:t>
            </a:r>
            <a:endParaRPr b="0" i="0" sz="900" u="none" cap="none" strike="noStrike">
              <a:solidFill>
                <a:schemeClr val="dk1"/>
              </a:solidFill>
              <a:latin typeface="Calibri"/>
              <a:ea typeface="Calibri"/>
              <a:cs typeface="Calibri"/>
              <a:sym typeface="Calibri"/>
            </a:endParaRPr>
          </a:p>
        </p:txBody>
      </p:sp>
      <p:cxnSp>
        <p:nvCxnSpPr>
          <p:cNvPr id="254" name="Google Shape;254;p10"/>
          <p:cNvCxnSpPr/>
          <p:nvPr/>
        </p:nvCxnSpPr>
        <p:spPr>
          <a:xfrm>
            <a:off x="4800600" y="1737360"/>
            <a:ext cx="3886200" cy="0"/>
          </a:xfrm>
          <a:prstGeom prst="straightConnector1">
            <a:avLst/>
          </a:prstGeom>
          <a:noFill/>
          <a:ln cap="flat" cmpd="sng" w="12700">
            <a:solidFill>
              <a:srgbClr val="1E293B"/>
            </a:solidFill>
            <a:prstDash val="solid"/>
            <a:round/>
            <a:headEnd len="sm" w="sm" type="none"/>
            <a:tailEnd len="sm" w="sm" type="none"/>
          </a:ln>
        </p:spPr>
      </p:cxnSp>
      <p:sp>
        <p:nvSpPr>
          <p:cNvPr id="255" name="Google Shape;255;p10"/>
          <p:cNvSpPr/>
          <p:nvPr/>
        </p:nvSpPr>
        <p:spPr>
          <a:xfrm>
            <a:off x="5001768" y="1847088"/>
            <a:ext cx="3483864" cy="26609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df -h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050"/>
              <a:buFont typeface="Courier New"/>
              <a:buNone/>
            </a:pPr>
            <a:r>
              <a:rPr b="0" i="0" lang="en-US" sz="1050" u="none" cap="none" strike="noStrike">
                <a:solidFill>
                  <a:srgbClr val="64748B"/>
                </a:solidFill>
                <a:latin typeface="Courier New"/>
                <a:ea typeface="Courier New"/>
                <a:cs typeface="Courier New"/>
                <a:sym typeface="Courier New"/>
              </a:rPr>
              <a:t>Filesystem  Size Used Avail Use%</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/dev/sda1    40G  31G  9.2G  78%</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ls -lah /var/log</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050"/>
              <a:buFont typeface="Courier New"/>
              <a:buNone/>
            </a:pPr>
            <a:r>
              <a:rPr b="0" i="0" lang="en-US" sz="1050" u="none" cap="none" strike="noStrike">
                <a:solidFill>
                  <a:srgbClr val="64748B"/>
                </a:solidFill>
                <a:latin typeface="Courier New"/>
                <a:ea typeface="Courier New"/>
                <a:cs typeface="Courier New"/>
                <a:sym typeface="Courier New"/>
              </a:rPr>
              <a:t>-rw-r----- syslog  2.1M nginx</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050"/>
              <a:buFont typeface="Courier New"/>
              <a:buNone/>
            </a:pPr>
            <a:r>
              <a:rPr b="0" i="0" lang="en-US" sz="1050" u="none" cap="none" strike="noStrike">
                <a:solidFill>
                  <a:srgbClr val="64748B"/>
                </a:solidFill>
                <a:latin typeface="Courier New"/>
                <a:ea typeface="Courier New"/>
                <a:cs typeface="Courier New"/>
                <a:sym typeface="Courier New"/>
              </a:rPr>
              <a:t>-rw-r----- syslog  118K auth.log</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78% disk + huge logs = a clue</a:t>
            </a:r>
            <a:endParaRPr b="0" i="0" sz="1050" u="none" cap="none" strike="noStrike">
              <a:solidFill>
                <a:schemeClr val="dk1"/>
              </a:solidFill>
              <a:latin typeface="Calibri"/>
              <a:ea typeface="Calibri"/>
              <a:cs typeface="Calibri"/>
              <a:sym typeface="Calibri"/>
            </a:endParaRPr>
          </a:p>
        </p:txBody>
      </p:sp>
      <p:sp>
        <p:nvSpPr>
          <p:cNvPr id="256" name="Google Shape;256;p10"/>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257" name="Google Shape;257;p10"/>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1 · Filesystem</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62" name="Shape 262"/>
        <p:cNvGrpSpPr/>
        <p:nvPr/>
      </p:nvGrpSpPr>
      <p:grpSpPr>
        <a:xfrm>
          <a:off x="0" y="0"/>
          <a:ext cx="0" cy="0"/>
          <a:chOff x="0" y="0"/>
          <a:chExt cx="0" cy="0"/>
        </a:xfrm>
      </p:grpSpPr>
      <p:sp>
        <p:nvSpPr>
          <p:cNvPr id="263" name="Google Shape;263;p11"/>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Create, copy &amp; move</a:t>
            </a:r>
            <a:endParaRPr b="0" i="0" sz="2900" u="none" cap="none" strike="noStrike">
              <a:solidFill>
                <a:schemeClr val="dk1"/>
              </a:solidFill>
              <a:latin typeface="Calibri"/>
              <a:ea typeface="Calibri"/>
              <a:cs typeface="Calibri"/>
              <a:sym typeface="Calibri"/>
            </a:endParaRPr>
          </a:p>
        </p:txBody>
      </p:sp>
      <p:sp>
        <p:nvSpPr>
          <p:cNvPr id="264" name="Google Shape;264;p11"/>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65" name="Google Shape;265;p11"/>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266" name="Google Shape;266;p11"/>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Setting up a deploy: you scaffold directories, drop in files, and copy a config into place.</a:t>
            </a:r>
            <a:endParaRPr b="0" i="0" sz="1300" u="none" cap="none" strike="noStrike">
              <a:solidFill>
                <a:schemeClr val="dk1"/>
              </a:solidFill>
              <a:latin typeface="Calibri"/>
              <a:ea typeface="Calibri"/>
              <a:cs typeface="Calibri"/>
              <a:sym typeface="Calibri"/>
            </a:endParaRPr>
          </a:p>
        </p:txBody>
      </p:sp>
      <p:sp>
        <p:nvSpPr>
          <p:cNvPr id="267" name="Google Shape;267;p11"/>
          <p:cNvSpPr/>
          <p:nvPr/>
        </p:nvSpPr>
        <p:spPr>
          <a:xfrm>
            <a:off x="457200" y="1371600"/>
            <a:ext cx="4160520" cy="3035808"/>
          </a:xfrm>
          <a:prstGeom prst="roundRect">
            <a:avLst>
              <a:gd fmla="val 180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11"/>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MAKE &amp; MOVE</a:t>
            </a:r>
            <a:endParaRPr b="0" i="0" sz="1250" u="none" cap="none" strike="noStrike">
              <a:solidFill>
                <a:schemeClr val="dk1"/>
              </a:solidFill>
              <a:latin typeface="Calibri"/>
              <a:ea typeface="Calibri"/>
              <a:cs typeface="Calibri"/>
              <a:sym typeface="Calibri"/>
            </a:endParaRPr>
          </a:p>
        </p:txBody>
      </p:sp>
      <p:sp>
        <p:nvSpPr>
          <p:cNvPr id="269" name="Google Shape;269;p11"/>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touch f</a:t>
            </a:r>
            <a:endParaRPr b="0" i="0" sz="1150" u="none" cap="none" strike="noStrike">
              <a:solidFill>
                <a:schemeClr val="dk1"/>
              </a:solidFill>
              <a:latin typeface="Calibri"/>
              <a:ea typeface="Calibri"/>
              <a:cs typeface="Calibri"/>
              <a:sym typeface="Calibri"/>
            </a:endParaRPr>
          </a:p>
        </p:txBody>
      </p:sp>
      <p:sp>
        <p:nvSpPr>
          <p:cNvPr id="270" name="Google Shape;270;p11"/>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create empty file / update mtime</a:t>
            </a:r>
            <a:endParaRPr b="0" i="0" sz="1100" u="none" cap="none" strike="noStrike">
              <a:solidFill>
                <a:schemeClr val="dk1"/>
              </a:solidFill>
              <a:latin typeface="Calibri"/>
              <a:ea typeface="Calibri"/>
              <a:cs typeface="Calibri"/>
              <a:sym typeface="Calibri"/>
            </a:endParaRPr>
          </a:p>
        </p:txBody>
      </p:sp>
      <p:sp>
        <p:nvSpPr>
          <p:cNvPr id="271" name="Google Shape;271;p11"/>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mkdir -p</a:t>
            </a:r>
            <a:endParaRPr b="0" i="0" sz="1150" u="none" cap="none" strike="noStrike">
              <a:solidFill>
                <a:schemeClr val="dk1"/>
              </a:solidFill>
              <a:latin typeface="Calibri"/>
              <a:ea typeface="Calibri"/>
              <a:cs typeface="Calibri"/>
              <a:sym typeface="Calibri"/>
            </a:endParaRPr>
          </a:p>
        </p:txBody>
      </p:sp>
      <p:sp>
        <p:nvSpPr>
          <p:cNvPr id="272" name="Google Shape;272;p11"/>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make dirs, parents as needed</a:t>
            </a:r>
            <a:endParaRPr b="0" i="0" sz="1100" u="none" cap="none" strike="noStrike">
              <a:solidFill>
                <a:schemeClr val="dk1"/>
              </a:solidFill>
              <a:latin typeface="Calibri"/>
              <a:ea typeface="Calibri"/>
              <a:cs typeface="Calibri"/>
              <a:sym typeface="Calibri"/>
            </a:endParaRPr>
          </a:p>
        </p:txBody>
      </p:sp>
      <p:sp>
        <p:nvSpPr>
          <p:cNvPr id="273" name="Google Shape;273;p11"/>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cp -r a b</a:t>
            </a:r>
            <a:endParaRPr b="0" i="0" sz="1150" u="none" cap="none" strike="noStrike">
              <a:solidFill>
                <a:schemeClr val="dk1"/>
              </a:solidFill>
              <a:latin typeface="Calibri"/>
              <a:ea typeface="Calibri"/>
              <a:cs typeface="Calibri"/>
              <a:sym typeface="Calibri"/>
            </a:endParaRPr>
          </a:p>
        </p:txBody>
      </p:sp>
      <p:sp>
        <p:nvSpPr>
          <p:cNvPr id="274" name="Google Shape;274;p11"/>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copy recursively (dirs)</a:t>
            </a:r>
            <a:endParaRPr b="0" i="0" sz="1100" u="none" cap="none" strike="noStrike">
              <a:solidFill>
                <a:schemeClr val="dk1"/>
              </a:solidFill>
              <a:latin typeface="Calibri"/>
              <a:ea typeface="Calibri"/>
              <a:cs typeface="Calibri"/>
              <a:sym typeface="Calibri"/>
            </a:endParaRPr>
          </a:p>
        </p:txBody>
      </p:sp>
      <p:sp>
        <p:nvSpPr>
          <p:cNvPr id="275" name="Google Shape;275;p11"/>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cp -a</a:t>
            </a:r>
            <a:endParaRPr b="0" i="0" sz="1150" u="none" cap="none" strike="noStrike">
              <a:solidFill>
                <a:schemeClr val="dk1"/>
              </a:solidFill>
              <a:latin typeface="Calibri"/>
              <a:ea typeface="Calibri"/>
              <a:cs typeface="Calibri"/>
              <a:sym typeface="Calibri"/>
            </a:endParaRPr>
          </a:p>
        </p:txBody>
      </p:sp>
      <p:sp>
        <p:nvSpPr>
          <p:cNvPr id="276" name="Google Shape;276;p11"/>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copy + preserve perms/owner/time</a:t>
            </a:r>
            <a:endParaRPr b="0" i="0" sz="1100" u="none" cap="none" strike="noStrike">
              <a:solidFill>
                <a:schemeClr val="dk1"/>
              </a:solidFill>
              <a:latin typeface="Calibri"/>
              <a:ea typeface="Calibri"/>
              <a:cs typeface="Calibri"/>
              <a:sym typeface="Calibri"/>
            </a:endParaRPr>
          </a:p>
        </p:txBody>
      </p:sp>
      <p:sp>
        <p:nvSpPr>
          <p:cNvPr id="277" name="Google Shape;277;p11"/>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mv a b</a:t>
            </a:r>
            <a:endParaRPr b="0" i="0" sz="1150" u="none" cap="none" strike="noStrike">
              <a:solidFill>
                <a:schemeClr val="dk1"/>
              </a:solidFill>
              <a:latin typeface="Calibri"/>
              <a:ea typeface="Calibri"/>
              <a:cs typeface="Calibri"/>
              <a:sym typeface="Calibri"/>
            </a:endParaRPr>
          </a:p>
        </p:txBody>
      </p:sp>
      <p:sp>
        <p:nvSpPr>
          <p:cNvPr id="278" name="Google Shape;278;p11"/>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move or rename (same command)</a:t>
            </a:r>
            <a:endParaRPr b="0" i="0" sz="1100" u="none" cap="none" strike="noStrike">
              <a:solidFill>
                <a:schemeClr val="dk1"/>
              </a:solidFill>
              <a:latin typeface="Calibri"/>
              <a:ea typeface="Calibri"/>
              <a:cs typeface="Calibri"/>
              <a:sym typeface="Calibri"/>
            </a:endParaRPr>
          </a:p>
        </p:txBody>
      </p:sp>
      <p:sp>
        <p:nvSpPr>
          <p:cNvPr id="279" name="Google Shape;279;p11"/>
          <p:cNvSpPr/>
          <p:nvPr/>
        </p:nvSpPr>
        <p:spPr>
          <a:xfrm>
            <a:off x="65836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rm -r</a:t>
            </a:r>
            <a:endParaRPr b="0" i="0" sz="1150" u="none" cap="none" strike="noStrike">
              <a:solidFill>
                <a:schemeClr val="dk1"/>
              </a:solidFill>
              <a:latin typeface="Calibri"/>
              <a:ea typeface="Calibri"/>
              <a:cs typeface="Calibri"/>
              <a:sym typeface="Calibri"/>
            </a:endParaRPr>
          </a:p>
        </p:txBody>
      </p:sp>
      <p:sp>
        <p:nvSpPr>
          <p:cNvPr id="280" name="Google Shape;280;p11"/>
          <p:cNvSpPr/>
          <p:nvPr/>
        </p:nvSpPr>
        <p:spPr>
          <a:xfrm>
            <a:off x="2468880" y="391363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remove recursively — no undo</a:t>
            </a:r>
            <a:endParaRPr b="0" i="0" sz="1100" u="none" cap="none" strike="noStrike">
              <a:solidFill>
                <a:schemeClr val="dk1"/>
              </a:solidFill>
              <a:latin typeface="Calibri"/>
              <a:ea typeface="Calibri"/>
              <a:cs typeface="Calibri"/>
              <a:sym typeface="Calibri"/>
            </a:endParaRPr>
          </a:p>
        </p:txBody>
      </p:sp>
      <p:sp>
        <p:nvSpPr>
          <p:cNvPr id="281" name="Google Shape;281;p11"/>
          <p:cNvSpPr/>
          <p:nvPr/>
        </p:nvSpPr>
        <p:spPr>
          <a:xfrm>
            <a:off x="4800600" y="1371600"/>
            <a:ext cx="3886200" cy="3246120"/>
          </a:xfrm>
          <a:prstGeom prst="roundRect">
            <a:avLst>
              <a:gd fmla="val 225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1"/>
          <p:cNvSpPr/>
          <p:nvPr/>
        </p:nvSpPr>
        <p:spPr>
          <a:xfrm>
            <a:off x="49834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11"/>
          <p:cNvSpPr/>
          <p:nvPr/>
        </p:nvSpPr>
        <p:spPr>
          <a:xfrm>
            <a:off x="51297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11"/>
          <p:cNvSpPr/>
          <p:nvPr/>
        </p:nvSpPr>
        <p:spPr>
          <a:xfrm>
            <a:off x="52760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11"/>
          <p:cNvSpPr/>
          <p:nvPr/>
        </p:nvSpPr>
        <p:spPr>
          <a:xfrm>
            <a:off x="5440680" y="144475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you@server: ~</a:t>
            </a:r>
            <a:endParaRPr b="0" i="0" sz="900" u="none" cap="none" strike="noStrike">
              <a:solidFill>
                <a:schemeClr val="dk1"/>
              </a:solidFill>
              <a:latin typeface="Calibri"/>
              <a:ea typeface="Calibri"/>
              <a:cs typeface="Calibri"/>
              <a:sym typeface="Calibri"/>
            </a:endParaRPr>
          </a:p>
        </p:txBody>
      </p:sp>
      <p:cxnSp>
        <p:nvCxnSpPr>
          <p:cNvPr id="286" name="Google Shape;286;p11"/>
          <p:cNvCxnSpPr/>
          <p:nvPr/>
        </p:nvCxnSpPr>
        <p:spPr>
          <a:xfrm>
            <a:off x="4800600" y="1737360"/>
            <a:ext cx="3886200" cy="0"/>
          </a:xfrm>
          <a:prstGeom prst="straightConnector1">
            <a:avLst/>
          </a:prstGeom>
          <a:noFill/>
          <a:ln cap="flat" cmpd="sng" w="12700">
            <a:solidFill>
              <a:srgbClr val="1E293B"/>
            </a:solidFill>
            <a:prstDash val="solid"/>
            <a:round/>
            <a:headEnd len="sm" w="sm" type="none"/>
            <a:tailEnd len="sm" w="sm" type="none"/>
          </a:ln>
        </p:spPr>
      </p:cxnSp>
      <p:sp>
        <p:nvSpPr>
          <p:cNvPr id="287" name="Google Shape;287;p11"/>
          <p:cNvSpPr/>
          <p:nvPr/>
        </p:nvSpPr>
        <p:spPr>
          <a:xfrm>
            <a:off x="5001768" y="1847088"/>
            <a:ext cx="3483864" cy="26609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mkdir -p app/{conf,logs}</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touch app/conf/app.env</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cp -a /tmp/nginx.conf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       app/conf/</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tree app</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app</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050"/>
              <a:buFont typeface="Courier New"/>
              <a:buNone/>
            </a:pPr>
            <a:r>
              <a:rPr b="0" i="0" lang="en-US" sz="1050" u="none" cap="none" strike="noStrike">
                <a:solidFill>
                  <a:srgbClr val="64748B"/>
                </a:solidFill>
                <a:latin typeface="Courier New"/>
                <a:ea typeface="Courier New"/>
                <a:cs typeface="Courier New"/>
                <a:sym typeface="Courier New"/>
              </a:rPr>
              <a:t>├── conf</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050"/>
              <a:buFont typeface="Courier New"/>
              <a:buNone/>
            </a:pPr>
            <a:r>
              <a:rPr b="0" i="0" lang="en-US" sz="1050" u="none" cap="none" strike="noStrike">
                <a:solidFill>
                  <a:srgbClr val="64748B"/>
                </a:solidFill>
                <a:latin typeface="Courier New"/>
                <a:ea typeface="Courier New"/>
                <a:cs typeface="Courier New"/>
                <a:sym typeface="Courier New"/>
              </a:rPr>
              <a:t>│   ├── app.env</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050"/>
              <a:buFont typeface="Courier New"/>
              <a:buNone/>
            </a:pPr>
            <a:r>
              <a:rPr b="0" i="0" lang="en-US" sz="1050" u="none" cap="none" strike="noStrike">
                <a:solidFill>
                  <a:srgbClr val="64748B"/>
                </a:solidFill>
                <a:latin typeface="Courier New"/>
                <a:ea typeface="Courier New"/>
                <a:cs typeface="Courier New"/>
                <a:sym typeface="Courier New"/>
              </a:rPr>
              <a:t>│   └── nginx.conf</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050"/>
              <a:buFont typeface="Courier New"/>
              <a:buNone/>
            </a:pPr>
            <a:r>
              <a:rPr b="0" i="0" lang="en-US" sz="1050" u="none" cap="none" strike="noStrike">
                <a:solidFill>
                  <a:srgbClr val="64748B"/>
                </a:solidFill>
                <a:latin typeface="Courier New"/>
                <a:ea typeface="Courier New"/>
                <a:cs typeface="Courier New"/>
                <a:sym typeface="Courier New"/>
              </a:rPr>
              <a:t>└── logs</a:t>
            </a:r>
            <a:endParaRPr b="0" i="0" sz="1050" u="none" cap="none" strike="noStrike">
              <a:solidFill>
                <a:schemeClr val="dk1"/>
              </a:solidFill>
              <a:latin typeface="Calibri"/>
              <a:ea typeface="Calibri"/>
              <a:cs typeface="Calibri"/>
              <a:sym typeface="Calibri"/>
            </a:endParaRPr>
          </a:p>
        </p:txBody>
      </p:sp>
      <p:sp>
        <p:nvSpPr>
          <p:cNvPr id="288" name="Google Shape;288;p11"/>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289" name="Google Shape;289;p11"/>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1 · Filesystem</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294" name="Shape 294"/>
        <p:cNvGrpSpPr/>
        <p:nvPr/>
      </p:nvGrpSpPr>
      <p:grpSpPr>
        <a:xfrm>
          <a:off x="0" y="0"/>
          <a:ext cx="0" cy="0"/>
          <a:chOff x="0" y="0"/>
          <a:chExt cx="0" cy="0"/>
        </a:xfrm>
      </p:grpSpPr>
      <p:sp>
        <p:nvSpPr>
          <p:cNvPr id="295" name="Google Shape;295;p12"/>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Where things live: the filesystem hierarchy</a:t>
            </a:r>
            <a:endParaRPr b="0" i="0" sz="2900" u="none" cap="none" strike="noStrike">
              <a:solidFill>
                <a:schemeClr val="dk1"/>
              </a:solidFill>
              <a:latin typeface="Calibri"/>
              <a:ea typeface="Calibri"/>
              <a:cs typeface="Calibri"/>
              <a:sym typeface="Calibri"/>
            </a:endParaRPr>
          </a:p>
        </p:txBody>
      </p:sp>
      <p:sp>
        <p:nvSpPr>
          <p:cNvPr id="296" name="Google Shape;296;p12"/>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97" name="Google Shape;297;p12"/>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298" name="Google Shape;298;p12"/>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Logs, configs, and binaries live in predictable places — knowing the map is half of troubleshooting.</a:t>
            </a:r>
            <a:endParaRPr b="0" i="0" sz="1300" u="none" cap="none" strike="noStrike">
              <a:solidFill>
                <a:schemeClr val="dk1"/>
              </a:solidFill>
              <a:latin typeface="Calibri"/>
              <a:ea typeface="Calibri"/>
              <a:cs typeface="Calibri"/>
              <a:sym typeface="Calibri"/>
            </a:endParaRPr>
          </a:p>
        </p:txBody>
      </p:sp>
      <p:sp>
        <p:nvSpPr>
          <p:cNvPr id="299" name="Google Shape;299;p12"/>
          <p:cNvSpPr/>
          <p:nvPr/>
        </p:nvSpPr>
        <p:spPr>
          <a:xfrm>
            <a:off x="457200" y="1481328"/>
            <a:ext cx="3977640" cy="475488"/>
          </a:xfrm>
          <a:prstGeom prst="roundRect">
            <a:avLst>
              <a:gd fmla="val 9615" name="adj"/>
            </a:avLst>
          </a:prstGeom>
          <a:solidFill>
            <a:srgbClr val="FFFFFF"/>
          </a:solidFill>
          <a:ln cap="flat" cmpd="sng" w="12700">
            <a:solidFill>
              <a:srgbClr val="E2E8F0"/>
            </a:solidFill>
            <a:prstDash val="solid"/>
            <a:round/>
            <a:headEnd len="sm" w="sm" type="none"/>
            <a:tailEnd len="sm" w="sm" type="none"/>
          </a:ln>
          <a:effectLst>
            <a:outerShdw blurRad="50800" rotWithShape="0" algn="bl" dir="2700000" dist="25400">
              <a:srgbClr val="475569">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12"/>
          <p:cNvSpPr/>
          <p:nvPr/>
        </p:nvSpPr>
        <p:spPr>
          <a:xfrm>
            <a:off x="621792" y="1517904"/>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00"/>
              <a:buFont typeface="Courier New"/>
              <a:buNone/>
            </a:pPr>
            <a:r>
              <a:rPr b="1" i="0" lang="en-US" sz="1200" u="none" cap="none" strike="noStrike">
                <a:solidFill>
                  <a:srgbClr val="0F766E"/>
                </a:solidFill>
                <a:latin typeface="Courier New"/>
                <a:ea typeface="Courier New"/>
                <a:cs typeface="Courier New"/>
                <a:sym typeface="Courier New"/>
              </a:rPr>
              <a:t>/etc</a:t>
            </a:r>
            <a:endParaRPr b="0" i="0" sz="1200" u="none" cap="none" strike="noStrike">
              <a:solidFill>
                <a:schemeClr val="dk1"/>
              </a:solidFill>
              <a:latin typeface="Calibri"/>
              <a:ea typeface="Calibri"/>
              <a:cs typeface="Calibri"/>
              <a:sym typeface="Calibri"/>
            </a:endParaRPr>
          </a:p>
        </p:txBody>
      </p:sp>
      <p:sp>
        <p:nvSpPr>
          <p:cNvPr id="301" name="Google Shape;301;p12"/>
          <p:cNvSpPr/>
          <p:nvPr/>
        </p:nvSpPr>
        <p:spPr>
          <a:xfrm>
            <a:off x="621792" y="172821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system &amp; service config — what you edit</a:t>
            </a:r>
            <a:endParaRPr b="0" i="0" sz="950" u="none" cap="none" strike="noStrike">
              <a:solidFill>
                <a:schemeClr val="dk1"/>
              </a:solidFill>
              <a:latin typeface="Calibri"/>
              <a:ea typeface="Calibri"/>
              <a:cs typeface="Calibri"/>
              <a:sym typeface="Calibri"/>
            </a:endParaRPr>
          </a:p>
        </p:txBody>
      </p:sp>
      <p:sp>
        <p:nvSpPr>
          <p:cNvPr id="302" name="Google Shape;302;p12"/>
          <p:cNvSpPr/>
          <p:nvPr/>
        </p:nvSpPr>
        <p:spPr>
          <a:xfrm>
            <a:off x="457200" y="2011680"/>
            <a:ext cx="3977640" cy="475488"/>
          </a:xfrm>
          <a:prstGeom prst="roundRect">
            <a:avLst>
              <a:gd fmla="val 9615" name="adj"/>
            </a:avLst>
          </a:prstGeom>
          <a:solidFill>
            <a:srgbClr val="FFFFFF"/>
          </a:solidFill>
          <a:ln cap="flat" cmpd="sng" w="12700">
            <a:solidFill>
              <a:srgbClr val="E2E8F0"/>
            </a:solidFill>
            <a:prstDash val="solid"/>
            <a:round/>
            <a:headEnd len="sm" w="sm" type="none"/>
            <a:tailEnd len="sm" w="sm" type="none"/>
          </a:ln>
          <a:effectLst>
            <a:outerShdw blurRad="50800" rotWithShape="0" algn="bl" dir="2700000" dist="25400">
              <a:srgbClr val="475569">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12"/>
          <p:cNvSpPr/>
          <p:nvPr/>
        </p:nvSpPr>
        <p:spPr>
          <a:xfrm>
            <a:off x="621792" y="2048256"/>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00"/>
              <a:buFont typeface="Courier New"/>
              <a:buNone/>
            </a:pPr>
            <a:r>
              <a:rPr b="1" i="0" lang="en-US" sz="1200" u="none" cap="none" strike="noStrike">
                <a:solidFill>
                  <a:srgbClr val="0F766E"/>
                </a:solidFill>
                <a:latin typeface="Courier New"/>
                <a:ea typeface="Courier New"/>
                <a:cs typeface="Courier New"/>
                <a:sym typeface="Courier New"/>
              </a:rPr>
              <a:t>/var/log</a:t>
            </a:r>
            <a:endParaRPr b="0" i="0" sz="1200" u="none" cap="none" strike="noStrike">
              <a:solidFill>
                <a:schemeClr val="dk1"/>
              </a:solidFill>
              <a:latin typeface="Calibri"/>
              <a:ea typeface="Calibri"/>
              <a:cs typeface="Calibri"/>
              <a:sym typeface="Calibri"/>
            </a:endParaRPr>
          </a:p>
        </p:txBody>
      </p:sp>
      <p:sp>
        <p:nvSpPr>
          <p:cNvPr id="304" name="Google Shape;304;p12"/>
          <p:cNvSpPr/>
          <p:nvPr/>
        </p:nvSpPr>
        <p:spPr>
          <a:xfrm>
            <a:off x="621792" y="2258568"/>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log files — first stop when it breaks</a:t>
            </a:r>
            <a:endParaRPr b="0" i="0" sz="950" u="none" cap="none" strike="noStrike">
              <a:solidFill>
                <a:schemeClr val="dk1"/>
              </a:solidFill>
              <a:latin typeface="Calibri"/>
              <a:ea typeface="Calibri"/>
              <a:cs typeface="Calibri"/>
              <a:sym typeface="Calibri"/>
            </a:endParaRPr>
          </a:p>
        </p:txBody>
      </p:sp>
      <p:sp>
        <p:nvSpPr>
          <p:cNvPr id="305" name="Google Shape;305;p12"/>
          <p:cNvSpPr/>
          <p:nvPr/>
        </p:nvSpPr>
        <p:spPr>
          <a:xfrm>
            <a:off x="457200" y="2542032"/>
            <a:ext cx="3977640" cy="475488"/>
          </a:xfrm>
          <a:prstGeom prst="roundRect">
            <a:avLst>
              <a:gd fmla="val 9615" name="adj"/>
            </a:avLst>
          </a:prstGeom>
          <a:solidFill>
            <a:srgbClr val="FFFFFF"/>
          </a:solidFill>
          <a:ln cap="flat" cmpd="sng" w="12700">
            <a:solidFill>
              <a:srgbClr val="E2E8F0"/>
            </a:solidFill>
            <a:prstDash val="solid"/>
            <a:round/>
            <a:headEnd len="sm" w="sm" type="none"/>
            <a:tailEnd len="sm" w="sm" type="none"/>
          </a:ln>
          <a:effectLst>
            <a:outerShdw blurRad="50800" rotWithShape="0" algn="bl" dir="2700000" dist="25400">
              <a:srgbClr val="475569">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12"/>
          <p:cNvSpPr/>
          <p:nvPr/>
        </p:nvSpPr>
        <p:spPr>
          <a:xfrm>
            <a:off x="621792" y="2578608"/>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00"/>
              <a:buFont typeface="Courier New"/>
              <a:buNone/>
            </a:pPr>
            <a:r>
              <a:rPr b="1" i="0" lang="en-US" sz="1200" u="none" cap="none" strike="noStrike">
                <a:solidFill>
                  <a:srgbClr val="0F766E"/>
                </a:solidFill>
                <a:latin typeface="Courier New"/>
                <a:ea typeface="Courier New"/>
                <a:cs typeface="Courier New"/>
                <a:sym typeface="Courier New"/>
              </a:rPr>
              <a:t>/var/lib</a:t>
            </a:r>
            <a:endParaRPr b="0" i="0" sz="1200" u="none" cap="none" strike="noStrike">
              <a:solidFill>
                <a:schemeClr val="dk1"/>
              </a:solidFill>
              <a:latin typeface="Calibri"/>
              <a:ea typeface="Calibri"/>
              <a:cs typeface="Calibri"/>
              <a:sym typeface="Calibri"/>
            </a:endParaRPr>
          </a:p>
        </p:txBody>
      </p:sp>
      <p:sp>
        <p:nvSpPr>
          <p:cNvPr id="307" name="Google Shape;307;p12"/>
          <p:cNvSpPr/>
          <p:nvPr/>
        </p:nvSpPr>
        <p:spPr>
          <a:xfrm>
            <a:off x="621792" y="2788920"/>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service state &amp; data (db files, etc.)</a:t>
            </a:r>
            <a:endParaRPr b="0" i="0" sz="950" u="none" cap="none" strike="noStrike">
              <a:solidFill>
                <a:schemeClr val="dk1"/>
              </a:solidFill>
              <a:latin typeface="Calibri"/>
              <a:ea typeface="Calibri"/>
              <a:cs typeface="Calibri"/>
              <a:sym typeface="Calibri"/>
            </a:endParaRPr>
          </a:p>
        </p:txBody>
      </p:sp>
      <p:sp>
        <p:nvSpPr>
          <p:cNvPr id="308" name="Google Shape;308;p12"/>
          <p:cNvSpPr/>
          <p:nvPr/>
        </p:nvSpPr>
        <p:spPr>
          <a:xfrm>
            <a:off x="457200" y="3072384"/>
            <a:ext cx="3977640" cy="475488"/>
          </a:xfrm>
          <a:prstGeom prst="roundRect">
            <a:avLst>
              <a:gd fmla="val 9615" name="adj"/>
            </a:avLst>
          </a:prstGeom>
          <a:solidFill>
            <a:srgbClr val="FFFFFF"/>
          </a:solidFill>
          <a:ln cap="flat" cmpd="sng" w="12700">
            <a:solidFill>
              <a:srgbClr val="E2E8F0"/>
            </a:solidFill>
            <a:prstDash val="solid"/>
            <a:round/>
            <a:headEnd len="sm" w="sm" type="none"/>
            <a:tailEnd len="sm" w="sm" type="none"/>
          </a:ln>
          <a:effectLst>
            <a:outerShdw blurRad="50800" rotWithShape="0" algn="bl" dir="2700000" dist="25400">
              <a:srgbClr val="475569">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12"/>
          <p:cNvSpPr/>
          <p:nvPr/>
        </p:nvSpPr>
        <p:spPr>
          <a:xfrm>
            <a:off x="621792" y="3108960"/>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00"/>
              <a:buFont typeface="Courier New"/>
              <a:buNone/>
            </a:pPr>
            <a:r>
              <a:rPr b="1" i="0" lang="en-US" sz="1200" u="none" cap="none" strike="noStrike">
                <a:solidFill>
                  <a:srgbClr val="0F766E"/>
                </a:solidFill>
                <a:latin typeface="Courier New"/>
                <a:ea typeface="Courier New"/>
                <a:cs typeface="Courier New"/>
                <a:sym typeface="Courier New"/>
              </a:rPr>
              <a:t>/home</a:t>
            </a:r>
            <a:endParaRPr b="0" i="0" sz="1200" u="none" cap="none" strike="noStrike">
              <a:solidFill>
                <a:schemeClr val="dk1"/>
              </a:solidFill>
              <a:latin typeface="Calibri"/>
              <a:ea typeface="Calibri"/>
              <a:cs typeface="Calibri"/>
              <a:sym typeface="Calibri"/>
            </a:endParaRPr>
          </a:p>
        </p:txBody>
      </p:sp>
      <p:sp>
        <p:nvSpPr>
          <p:cNvPr id="310" name="Google Shape;310;p12"/>
          <p:cNvSpPr/>
          <p:nvPr/>
        </p:nvSpPr>
        <p:spPr>
          <a:xfrm>
            <a:off x="621792" y="3319272"/>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per-user home directories</a:t>
            </a:r>
            <a:endParaRPr b="0" i="0" sz="950" u="none" cap="none" strike="noStrike">
              <a:solidFill>
                <a:schemeClr val="dk1"/>
              </a:solidFill>
              <a:latin typeface="Calibri"/>
              <a:ea typeface="Calibri"/>
              <a:cs typeface="Calibri"/>
              <a:sym typeface="Calibri"/>
            </a:endParaRPr>
          </a:p>
        </p:txBody>
      </p:sp>
      <p:sp>
        <p:nvSpPr>
          <p:cNvPr id="311" name="Google Shape;311;p12"/>
          <p:cNvSpPr/>
          <p:nvPr/>
        </p:nvSpPr>
        <p:spPr>
          <a:xfrm>
            <a:off x="457200" y="3602736"/>
            <a:ext cx="3977640" cy="475488"/>
          </a:xfrm>
          <a:prstGeom prst="roundRect">
            <a:avLst>
              <a:gd fmla="val 9615" name="adj"/>
            </a:avLst>
          </a:prstGeom>
          <a:solidFill>
            <a:srgbClr val="FFFFFF"/>
          </a:solidFill>
          <a:ln cap="flat" cmpd="sng" w="12700">
            <a:solidFill>
              <a:srgbClr val="E2E8F0"/>
            </a:solidFill>
            <a:prstDash val="solid"/>
            <a:round/>
            <a:headEnd len="sm" w="sm" type="none"/>
            <a:tailEnd len="sm" w="sm" type="none"/>
          </a:ln>
          <a:effectLst>
            <a:outerShdw blurRad="50800" rotWithShape="0" algn="bl" dir="2700000" dist="25400">
              <a:srgbClr val="475569">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12"/>
          <p:cNvSpPr/>
          <p:nvPr/>
        </p:nvSpPr>
        <p:spPr>
          <a:xfrm>
            <a:off x="621792" y="3639312"/>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00"/>
              <a:buFont typeface="Courier New"/>
              <a:buNone/>
            </a:pPr>
            <a:r>
              <a:rPr b="1" i="0" lang="en-US" sz="1200" u="none" cap="none" strike="noStrike">
                <a:solidFill>
                  <a:srgbClr val="0F766E"/>
                </a:solidFill>
                <a:latin typeface="Courier New"/>
                <a:ea typeface="Courier New"/>
                <a:cs typeface="Courier New"/>
                <a:sym typeface="Courier New"/>
              </a:rPr>
              <a:t>/root</a:t>
            </a:r>
            <a:endParaRPr b="0" i="0" sz="1200" u="none" cap="none" strike="noStrike">
              <a:solidFill>
                <a:schemeClr val="dk1"/>
              </a:solidFill>
              <a:latin typeface="Calibri"/>
              <a:ea typeface="Calibri"/>
              <a:cs typeface="Calibri"/>
              <a:sym typeface="Calibri"/>
            </a:endParaRPr>
          </a:p>
        </p:txBody>
      </p:sp>
      <p:sp>
        <p:nvSpPr>
          <p:cNvPr id="313" name="Google Shape;313;p12"/>
          <p:cNvSpPr/>
          <p:nvPr/>
        </p:nvSpPr>
        <p:spPr>
          <a:xfrm>
            <a:off x="621792" y="3849624"/>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the root user's home</a:t>
            </a:r>
            <a:endParaRPr b="0" i="0" sz="950" u="none" cap="none" strike="noStrike">
              <a:solidFill>
                <a:schemeClr val="dk1"/>
              </a:solidFill>
              <a:latin typeface="Calibri"/>
              <a:ea typeface="Calibri"/>
              <a:cs typeface="Calibri"/>
              <a:sym typeface="Calibri"/>
            </a:endParaRPr>
          </a:p>
        </p:txBody>
      </p:sp>
      <p:sp>
        <p:nvSpPr>
          <p:cNvPr id="314" name="Google Shape;314;p12"/>
          <p:cNvSpPr/>
          <p:nvPr/>
        </p:nvSpPr>
        <p:spPr>
          <a:xfrm>
            <a:off x="457200" y="4133088"/>
            <a:ext cx="3977640" cy="475488"/>
          </a:xfrm>
          <a:prstGeom prst="roundRect">
            <a:avLst>
              <a:gd fmla="val 9615" name="adj"/>
            </a:avLst>
          </a:prstGeom>
          <a:solidFill>
            <a:srgbClr val="FFFFFF"/>
          </a:solidFill>
          <a:ln cap="flat" cmpd="sng" w="12700">
            <a:solidFill>
              <a:srgbClr val="E2E8F0"/>
            </a:solidFill>
            <a:prstDash val="solid"/>
            <a:round/>
            <a:headEnd len="sm" w="sm" type="none"/>
            <a:tailEnd len="sm" w="sm" type="none"/>
          </a:ln>
          <a:effectLst>
            <a:outerShdw blurRad="50800" rotWithShape="0" algn="bl" dir="2700000" dist="25400">
              <a:srgbClr val="475569">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2"/>
          <p:cNvSpPr/>
          <p:nvPr/>
        </p:nvSpPr>
        <p:spPr>
          <a:xfrm>
            <a:off x="621792" y="4169664"/>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00"/>
              <a:buFont typeface="Courier New"/>
              <a:buNone/>
            </a:pPr>
            <a:r>
              <a:rPr b="1" i="0" lang="en-US" sz="1200" u="none" cap="none" strike="noStrike">
                <a:solidFill>
                  <a:srgbClr val="0F766E"/>
                </a:solidFill>
                <a:latin typeface="Courier New"/>
                <a:ea typeface="Courier New"/>
                <a:cs typeface="Courier New"/>
                <a:sym typeface="Courier New"/>
              </a:rPr>
              <a:t>/tmp</a:t>
            </a:r>
            <a:endParaRPr b="0" i="0" sz="1200" u="none" cap="none" strike="noStrike">
              <a:solidFill>
                <a:schemeClr val="dk1"/>
              </a:solidFill>
              <a:latin typeface="Calibri"/>
              <a:ea typeface="Calibri"/>
              <a:cs typeface="Calibri"/>
              <a:sym typeface="Calibri"/>
            </a:endParaRPr>
          </a:p>
        </p:txBody>
      </p:sp>
      <p:sp>
        <p:nvSpPr>
          <p:cNvPr id="316" name="Google Shape;316;p12"/>
          <p:cNvSpPr/>
          <p:nvPr/>
        </p:nvSpPr>
        <p:spPr>
          <a:xfrm>
            <a:off x="621792" y="437997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scratch space — cleared on reboot</a:t>
            </a:r>
            <a:endParaRPr b="0" i="0" sz="950" u="none" cap="none" strike="noStrike">
              <a:solidFill>
                <a:schemeClr val="dk1"/>
              </a:solidFill>
              <a:latin typeface="Calibri"/>
              <a:ea typeface="Calibri"/>
              <a:cs typeface="Calibri"/>
              <a:sym typeface="Calibri"/>
            </a:endParaRPr>
          </a:p>
        </p:txBody>
      </p:sp>
      <p:sp>
        <p:nvSpPr>
          <p:cNvPr id="317" name="Google Shape;317;p12"/>
          <p:cNvSpPr/>
          <p:nvPr/>
        </p:nvSpPr>
        <p:spPr>
          <a:xfrm>
            <a:off x="4709160" y="1481328"/>
            <a:ext cx="3977640" cy="475488"/>
          </a:xfrm>
          <a:prstGeom prst="roundRect">
            <a:avLst>
              <a:gd fmla="val 9615" name="adj"/>
            </a:avLst>
          </a:prstGeom>
          <a:solidFill>
            <a:srgbClr val="FFFFFF"/>
          </a:solidFill>
          <a:ln cap="flat" cmpd="sng" w="12700">
            <a:solidFill>
              <a:srgbClr val="E2E8F0"/>
            </a:solidFill>
            <a:prstDash val="solid"/>
            <a:round/>
            <a:headEnd len="sm" w="sm" type="none"/>
            <a:tailEnd len="sm" w="sm" type="none"/>
          </a:ln>
          <a:effectLst>
            <a:outerShdw blurRad="50800" rotWithShape="0" algn="bl" dir="2700000" dist="25400">
              <a:srgbClr val="475569">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12"/>
          <p:cNvSpPr/>
          <p:nvPr/>
        </p:nvSpPr>
        <p:spPr>
          <a:xfrm>
            <a:off x="4873752" y="1517904"/>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00"/>
              <a:buFont typeface="Courier New"/>
              <a:buNone/>
            </a:pPr>
            <a:r>
              <a:rPr b="1" i="0" lang="en-US" sz="1200" u="none" cap="none" strike="noStrike">
                <a:solidFill>
                  <a:srgbClr val="0F766E"/>
                </a:solidFill>
                <a:latin typeface="Courier New"/>
                <a:ea typeface="Courier New"/>
                <a:cs typeface="Courier New"/>
                <a:sym typeface="Courier New"/>
              </a:rPr>
              <a:t>/usr/bin · /bin</a:t>
            </a:r>
            <a:endParaRPr b="0" i="0" sz="1200" u="none" cap="none" strike="noStrike">
              <a:solidFill>
                <a:schemeClr val="dk1"/>
              </a:solidFill>
              <a:latin typeface="Calibri"/>
              <a:ea typeface="Calibri"/>
              <a:cs typeface="Calibri"/>
              <a:sym typeface="Calibri"/>
            </a:endParaRPr>
          </a:p>
        </p:txBody>
      </p:sp>
      <p:sp>
        <p:nvSpPr>
          <p:cNvPr id="319" name="Google Shape;319;p12"/>
          <p:cNvSpPr/>
          <p:nvPr/>
        </p:nvSpPr>
        <p:spPr>
          <a:xfrm>
            <a:off x="4873752" y="172821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installed command binaries</a:t>
            </a:r>
            <a:endParaRPr b="0" i="0" sz="950" u="none" cap="none" strike="noStrike">
              <a:solidFill>
                <a:schemeClr val="dk1"/>
              </a:solidFill>
              <a:latin typeface="Calibri"/>
              <a:ea typeface="Calibri"/>
              <a:cs typeface="Calibri"/>
              <a:sym typeface="Calibri"/>
            </a:endParaRPr>
          </a:p>
        </p:txBody>
      </p:sp>
      <p:sp>
        <p:nvSpPr>
          <p:cNvPr id="320" name="Google Shape;320;p12"/>
          <p:cNvSpPr/>
          <p:nvPr/>
        </p:nvSpPr>
        <p:spPr>
          <a:xfrm>
            <a:off x="4709160" y="2011680"/>
            <a:ext cx="3977640" cy="475488"/>
          </a:xfrm>
          <a:prstGeom prst="roundRect">
            <a:avLst>
              <a:gd fmla="val 9615" name="adj"/>
            </a:avLst>
          </a:prstGeom>
          <a:solidFill>
            <a:srgbClr val="FFFFFF"/>
          </a:solidFill>
          <a:ln cap="flat" cmpd="sng" w="12700">
            <a:solidFill>
              <a:srgbClr val="E2E8F0"/>
            </a:solidFill>
            <a:prstDash val="solid"/>
            <a:round/>
            <a:headEnd len="sm" w="sm" type="none"/>
            <a:tailEnd len="sm" w="sm" type="none"/>
          </a:ln>
          <a:effectLst>
            <a:outerShdw blurRad="50800" rotWithShape="0" algn="bl" dir="2700000" dist="25400">
              <a:srgbClr val="475569">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12"/>
          <p:cNvSpPr/>
          <p:nvPr/>
        </p:nvSpPr>
        <p:spPr>
          <a:xfrm>
            <a:off x="4873752" y="2048256"/>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00"/>
              <a:buFont typeface="Courier New"/>
              <a:buNone/>
            </a:pPr>
            <a:r>
              <a:rPr b="1" i="0" lang="en-US" sz="1200" u="none" cap="none" strike="noStrike">
                <a:solidFill>
                  <a:srgbClr val="0F766E"/>
                </a:solidFill>
                <a:latin typeface="Courier New"/>
                <a:ea typeface="Courier New"/>
                <a:cs typeface="Courier New"/>
                <a:sym typeface="Courier New"/>
              </a:rPr>
              <a:t>/usr/local · /opt</a:t>
            </a:r>
            <a:endParaRPr b="0" i="0" sz="1200" u="none" cap="none" strike="noStrike">
              <a:solidFill>
                <a:schemeClr val="dk1"/>
              </a:solidFill>
              <a:latin typeface="Calibri"/>
              <a:ea typeface="Calibri"/>
              <a:cs typeface="Calibri"/>
              <a:sym typeface="Calibri"/>
            </a:endParaRPr>
          </a:p>
        </p:txBody>
      </p:sp>
      <p:sp>
        <p:nvSpPr>
          <p:cNvPr id="322" name="Google Shape;322;p12"/>
          <p:cNvSpPr/>
          <p:nvPr/>
        </p:nvSpPr>
        <p:spPr>
          <a:xfrm>
            <a:off x="4873752" y="2258568"/>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third-party &amp; locally-installed software</a:t>
            </a:r>
            <a:endParaRPr b="0" i="0" sz="950" u="none" cap="none" strike="noStrike">
              <a:solidFill>
                <a:schemeClr val="dk1"/>
              </a:solidFill>
              <a:latin typeface="Calibri"/>
              <a:ea typeface="Calibri"/>
              <a:cs typeface="Calibri"/>
              <a:sym typeface="Calibri"/>
            </a:endParaRPr>
          </a:p>
        </p:txBody>
      </p:sp>
      <p:sp>
        <p:nvSpPr>
          <p:cNvPr id="323" name="Google Shape;323;p12"/>
          <p:cNvSpPr/>
          <p:nvPr/>
        </p:nvSpPr>
        <p:spPr>
          <a:xfrm>
            <a:off x="4709160" y="2542032"/>
            <a:ext cx="3977640" cy="475488"/>
          </a:xfrm>
          <a:prstGeom prst="roundRect">
            <a:avLst>
              <a:gd fmla="val 9615" name="adj"/>
            </a:avLst>
          </a:prstGeom>
          <a:solidFill>
            <a:srgbClr val="FFFFFF"/>
          </a:solidFill>
          <a:ln cap="flat" cmpd="sng" w="12700">
            <a:solidFill>
              <a:srgbClr val="E2E8F0"/>
            </a:solidFill>
            <a:prstDash val="solid"/>
            <a:round/>
            <a:headEnd len="sm" w="sm" type="none"/>
            <a:tailEnd len="sm" w="sm" type="none"/>
          </a:ln>
          <a:effectLst>
            <a:outerShdw blurRad="50800" rotWithShape="0" algn="bl" dir="2700000" dist="25400">
              <a:srgbClr val="475569">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12"/>
          <p:cNvSpPr/>
          <p:nvPr/>
        </p:nvSpPr>
        <p:spPr>
          <a:xfrm>
            <a:off x="4873752" y="2578608"/>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00"/>
              <a:buFont typeface="Courier New"/>
              <a:buNone/>
            </a:pPr>
            <a:r>
              <a:rPr b="1" i="0" lang="en-US" sz="1200" u="none" cap="none" strike="noStrike">
                <a:solidFill>
                  <a:srgbClr val="0F766E"/>
                </a:solidFill>
                <a:latin typeface="Courier New"/>
                <a:ea typeface="Courier New"/>
                <a:cs typeface="Courier New"/>
                <a:sym typeface="Courier New"/>
              </a:rPr>
              <a:t>/boot</a:t>
            </a:r>
            <a:endParaRPr b="0" i="0" sz="1200" u="none" cap="none" strike="noStrike">
              <a:solidFill>
                <a:schemeClr val="dk1"/>
              </a:solidFill>
              <a:latin typeface="Calibri"/>
              <a:ea typeface="Calibri"/>
              <a:cs typeface="Calibri"/>
              <a:sym typeface="Calibri"/>
            </a:endParaRPr>
          </a:p>
        </p:txBody>
      </p:sp>
      <p:sp>
        <p:nvSpPr>
          <p:cNvPr id="325" name="Google Shape;325;p12"/>
          <p:cNvSpPr/>
          <p:nvPr/>
        </p:nvSpPr>
        <p:spPr>
          <a:xfrm>
            <a:off x="4873752" y="2788920"/>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kernel + bootloader files</a:t>
            </a:r>
            <a:endParaRPr b="0" i="0" sz="950" u="none" cap="none" strike="noStrike">
              <a:solidFill>
                <a:schemeClr val="dk1"/>
              </a:solidFill>
              <a:latin typeface="Calibri"/>
              <a:ea typeface="Calibri"/>
              <a:cs typeface="Calibri"/>
              <a:sym typeface="Calibri"/>
            </a:endParaRPr>
          </a:p>
        </p:txBody>
      </p:sp>
      <p:sp>
        <p:nvSpPr>
          <p:cNvPr id="326" name="Google Shape;326;p12"/>
          <p:cNvSpPr/>
          <p:nvPr/>
        </p:nvSpPr>
        <p:spPr>
          <a:xfrm>
            <a:off x="4709160" y="3072384"/>
            <a:ext cx="3977640" cy="475488"/>
          </a:xfrm>
          <a:prstGeom prst="roundRect">
            <a:avLst>
              <a:gd fmla="val 9615" name="adj"/>
            </a:avLst>
          </a:prstGeom>
          <a:solidFill>
            <a:srgbClr val="FFFFFF"/>
          </a:solidFill>
          <a:ln cap="flat" cmpd="sng" w="12700">
            <a:solidFill>
              <a:srgbClr val="E2E8F0"/>
            </a:solidFill>
            <a:prstDash val="solid"/>
            <a:round/>
            <a:headEnd len="sm" w="sm" type="none"/>
            <a:tailEnd len="sm" w="sm" type="none"/>
          </a:ln>
          <a:effectLst>
            <a:outerShdw blurRad="50800" rotWithShape="0" algn="bl" dir="2700000" dist="25400">
              <a:srgbClr val="475569">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p12"/>
          <p:cNvSpPr/>
          <p:nvPr/>
        </p:nvSpPr>
        <p:spPr>
          <a:xfrm>
            <a:off x="4873752" y="3108960"/>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00"/>
              <a:buFont typeface="Courier New"/>
              <a:buNone/>
            </a:pPr>
            <a:r>
              <a:rPr b="1" i="0" lang="en-US" sz="1200" u="none" cap="none" strike="noStrike">
                <a:solidFill>
                  <a:srgbClr val="0F766E"/>
                </a:solidFill>
                <a:latin typeface="Courier New"/>
                <a:ea typeface="Courier New"/>
                <a:cs typeface="Courier New"/>
                <a:sym typeface="Courier New"/>
              </a:rPr>
              <a:t>/dev</a:t>
            </a:r>
            <a:endParaRPr b="0" i="0" sz="1200" u="none" cap="none" strike="noStrike">
              <a:solidFill>
                <a:schemeClr val="dk1"/>
              </a:solidFill>
              <a:latin typeface="Calibri"/>
              <a:ea typeface="Calibri"/>
              <a:cs typeface="Calibri"/>
              <a:sym typeface="Calibri"/>
            </a:endParaRPr>
          </a:p>
        </p:txBody>
      </p:sp>
      <p:sp>
        <p:nvSpPr>
          <p:cNvPr id="328" name="Google Shape;328;p12"/>
          <p:cNvSpPr/>
          <p:nvPr/>
        </p:nvSpPr>
        <p:spPr>
          <a:xfrm>
            <a:off x="4873752" y="3319272"/>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device files (disks, terminals)</a:t>
            </a:r>
            <a:endParaRPr b="0" i="0" sz="950" u="none" cap="none" strike="noStrike">
              <a:solidFill>
                <a:schemeClr val="dk1"/>
              </a:solidFill>
              <a:latin typeface="Calibri"/>
              <a:ea typeface="Calibri"/>
              <a:cs typeface="Calibri"/>
              <a:sym typeface="Calibri"/>
            </a:endParaRPr>
          </a:p>
        </p:txBody>
      </p:sp>
      <p:sp>
        <p:nvSpPr>
          <p:cNvPr id="329" name="Google Shape;329;p12"/>
          <p:cNvSpPr/>
          <p:nvPr/>
        </p:nvSpPr>
        <p:spPr>
          <a:xfrm>
            <a:off x="4709160" y="3602736"/>
            <a:ext cx="3977640" cy="475488"/>
          </a:xfrm>
          <a:prstGeom prst="roundRect">
            <a:avLst>
              <a:gd fmla="val 9615" name="adj"/>
            </a:avLst>
          </a:prstGeom>
          <a:solidFill>
            <a:srgbClr val="FFFFFF"/>
          </a:solidFill>
          <a:ln cap="flat" cmpd="sng" w="12700">
            <a:solidFill>
              <a:srgbClr val="E2E8F0"/>
            </a:solidFill>
            <a:prstDash val="solid"/>
            <a:round/>
            <a:headEnd len="sm" w="sm" type="none"/>
            <a:tailEnd len="sm" w="sm" type="none"/>
          </a:ln>
          <a:effectLst>
            <a:outerShdw blurRad="50800" rotWithShape="0" algn="bl" dir="2700000" dist="25400">
              <a:srgbClr val="475569">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12"/>
          <p:cNvSpPr/>
          <p:nvPr/>
        </p:nvSpPr>
        <p:spPr>
          <a:xfrm>
            <a:off x="4873752" y="3639312"/>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00"/>
              <a:buFont typeface="Courier New"/>
              <a:buNone/>
            </a:pPr>
            <a:r>
              <a:rPr b="1" i="0" lang="en-US" sz="1200" u="none" cap="none" strike="noStrike">
                <a:solidFill>
                  <a:srgbClr val="0F766E"/>
                </a:solidFill>
                <a:latin typeface="Courier New"/>
                <a:ea typeface="Courier New"/>
                <a:cs typeface="Courier New"/>
                <a:sym typeface="Courier New"/>
              </a:rPr>
              <a:t>/proc · /sys</a:t>
            </a:r>
            <a:endParaRPr b="0" i="0" sz="1200" u="none" cap="none" strike="noStrike">
              <a:solidFill>
                <a:schemeClr val="dk1"/>
              </a:solidFill>
              <a:latin typeface="Calibri"/>
              <a:ea typeface="Calibri"/>
              <a:cs typeface="Calibri"/>
              <a:sym typeface="Calibri"/>
            </a:endParaRPr>
          </a:p>
        </p:txBody>
      </p:sp>
      <p:sp>
        <p:nvSpPr>
          <p:cNvPr id="331" name="Google Shape;331;p12"/>
          <p:cNvSpPr/>
          <p:nvPr/>
        </p:nvSpPr>
        <p:spPr>
          <a:xfrm>
            <a:off x="4873752" y="3849624"/>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virtual: live kernel &amp; process state</a:t>
            </a:r>
            <a:endParaRPr b="0" i="0" sz="950" u="none" cap="none" strike="noStrike">
              <a:solidFill>
                <a:schemeClr val="dk1"/>
              </a:solidFill>
              <a:latin typeface="Calibri"/>
              <a:ea typeface="Calibri"/>
              <a:cs typeface="Calibri"/>
              <a:sym typeface="Calibri"/>
            </a:endParaRPr>
          </a:p>
        </p:txBody>
      </p:sp>
      <p:sp>
        <p:nvSpPr>
          <p:cNvPr id="332" name="Google Shape;332;p12"/>
          <p:cNvSpPr/>
          <p:nvPr/>
        </p:nvSpPr>
        <p:spPr>
          <a:xfrm>
            <a:off x="4709160" y="4133088"/>
            <a:ext cx="3977640" cy="475488"/>
          </a:xfrm>
          <a:prstGeom prst="roundRect">
            <a:avLst>
              <a:gd fmla="val 9615" name="adj"/>
            </a:avLst>
          </a:prstGeom>
          <a:solidFill>
            <a:srgbClr val="FFFFFF"/>
          </a:solidFill>
          <a:ln cap="flat" cmpd="sng" w="12700">
            <a:solidFill>
              <a:srgbClr val="E2E8F0"/>
            </a:solidFill>
            <a:prstDash val="solid"/>
            <a:round/>
            <a:headEnd len="sm" w="sm" type="none"/>
            <a:tailEnd len="sm" w="sm" type="none"/>
          </a:ln>
          <a:effectLst>
            <a:outerShdw blurRad="50800" rotWithShape="0" algn="bl" dir="2700000" dist="25400">
              <a:srgbClr val="475569">
                <a:alpha val="784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12"/>
          <p:cNvSpPr/>
          <p:nvPr/>
        </p:nvSpPr>
        <p:spPr>
          <a:xfrm>
            <a:off x="4873752" y="4169664"/>
            <a:ext cx="36576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00"/>
              <a:buFont typeface="Courier New"/>
              <a:buNone/>
            </a:pPr>
            <a:r>
              <a:rPr b="1" i="0" lang="en-US" sz="1200" u="none" cap="none" strike="noStrike">
                <a:solidFill>
                  <a:srgbClr val="0F766E"/>
                </a:solidFill>
                <a:latin typeface="Courier New"/>
                <a:ea typeface="Courier New"/>
                <a:cs typeface="Courier New"/>
                <a:sym typeface="Courier New"/>
              </a:rPr>
              <a:t>/mnt · /media</a:t>
            </a:r>
            <a:endParaRPr b="0" i="0" sz="1200" u="none" cap="none" strike="noStrike">
              <a:solidFill>
                <a:schemeClr val="dk1"/>
              </a:solidFill>
              <a:latin typeface="Calibri"/>
              <a:ea typeface="Calibri"/>
              <a:cs typeface="Calibri"/>
              <a:sym typeface="Calibri"/>
            </a:endParaRPr>
          </a:p>
        </p:txBody>
      </p:sp>
      <p:sp>
        <p:nvSpPr>
          <p:cNvPr id="334" name="Google Shape;334;p12"/>
          <p:cNvSpPr/>
          <p:nvPr/>
        </p:nvSpPr>
        <p:spPr>
          <a:xfrm>
            <a:off x="4873752" y="437997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950"/>
              <a:buFont typeface="Calibri"/>
              <a:buNone/>
            </a:pPr>
            <a:r>
              <a:rPr b="0" i="0" lang="en-US" sz="950" u="none" cap="none" strike="noStrike">
                <a:solidFill>
                  <a:srgbClr val="1E293B"/>
                </a:solidFill>
                <a:latin typeface="Calibri"/>
                <a:ea typeface="Calibri"/>
                <a:cs typeface="Calibri"/>
                <a:sym typeface="Calibri"/>
              </a:rPr>
              <a:t>mount points for extra/removable disks</a:t>
            </a:r>
            <a:endParaRPr b="0" i="0" sz="950" u="none" cap="none" strike="noStrike">
              <a:solidFill>
                <a:schemeClr val="dk1"/>
              </a:solidFill>
              <a:latin typeface="Calibri"/>
              <a:ea typeface="Calibri"/>
              <a:cs typeface="Calibri"/>
              <a:sym typeface="Calibri"/>
            </a:endParaRPr>
          </a:p>
        </p:txBody>
      </p:sp>
      <p:sp>
        <p:nvSpPr>
          <p:cNvPr id="335" name="Google Shape;335;p12"/>
          <p:cNvSpPr/>
          <p:nvPr/>
        </p:nvSpPr>
        <p:spPr>
          <a:xfrm>
            <a:off x="457200" y="4645152"/>
            <a:ext cx="82296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050"/>
              <a:buFont typeface="Calibri"/>
              <a:buNone/>
            </a:pPr>
            <a:r>
              <a:rPr b="0" i="1" lang="en-US" sz="1050" u="none" cap="none" strike="noStrike">
                <a:solidFill>
                  <a:srgbClr val="64748B"/>
                </a:solidFill>
                <a:latin typeface="Calibri"/>
                <a:ea typeface="Calibri"/>
                <a:cs typeface="Calibri"/>
                <a:sym typeface="Calibri"/>
              </a:rPr>
              <a:t>Everything is a file in Linux — including devices (/dev) and live kernel state (/proc).</a:t>
            </a:r>
            <a:endParaRPr b="0" i="0" sz="1050" u="none" cap="none" strike="noStrike">
              <a:solidFill>
                <a:schemeClr val="dk1"/>
              </a:solidFill>
              <a:latin typeface="Calibri"/>
              <a:ea typeface="Calibri"/>
              <a:cs typeface="Calibri"/>
              <a:sym typeface="Calibri"/>
            </a:endParaRPr>
          </a:p>
        </p:txBody>
      </p:sp>
      <p:sp>
        <p:nvSpPr>
          <p:cNvPr id="336" name="Google Shape;336;p12"/>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337" name="Google Shape;337;p12"/>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1 · Filesystem</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42" name="Shape 342"/>
        <p:cNvGrpSpPr/>
        <p:nvPr/>
      </p:nvGrpSpPr>
      <p:grpSpPr>
        <a:xfrm>
          <a:off x="0" y="0"/>
          <a:ext cx="0" cy="0"/>
          <a:chOff x="0" y="0"/>
          <a:chExt cx="0" cy="0"/>
        </a:xfrm>
      </p:grpSpPr>
      <p:sp>
        <p:nvSpPr>
          <p:cNvPr id="343" name="Google Shape;343;p13"/>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The whole tree at a glance</a:t>
            </a:r>
            <a:endParaRPr b="0" i="0" sz="2900" u="none" cap="none" strike="noStrike">
              <a:solidFill>
                <a:schemeClr val="dk1"/>
              </a:solidFill>
              <a:latin typeface="Calibri"/>
              <a:ea typeface="Calibri"/>
              <a:cs typeface="Calibri"/>
              <a:sym typeface="Calibri"/>
            </a:endParaRPr>
          </a:p>
        </p:txBody>
      </p:sp>
      <p:sp>
        <p:nvSpPr>
          <p:cNvPr id="344" name="Google Shape;344;p13"/>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45" name="Google Shape;345;p13"/>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346" name="Google Shape;346;p13"/>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One picture of the root filesystem — so the paths from the last slide click into place.</a:t>
            </a:r>
            <a:endParaRPr b="0" i="0" sz="1300" u="none" cap="none" strike="noStrike">
              <a:solidFill>
                <a:schemeClr val="dk1"/>
              </a:solidFill>
              <a:latin typeface="Calibri"/>
              <a:ea typeface="Calibri"/>
              <a:cs typeface="Calibri"/>
              <a:sym typeface="Calibri"/>
            </a:endParaRPr>
          </a:p>
        </p:txBody>
      </p:sp>
      <p:sp>
        <p:nvSpPr>
          <p:cNvPr id="347" name="Google Shape;347;p13"/>
          <p:cNvSpPr/>
          <p:nvPr/>
        </p:nvSpPr>
        <p:spPr>
          <a:xfrm>
            <a:off x="457200" y="1371600"/>
            <a:ext cx="5074920" cy="3246120"/>
          </a:xfrm>
          <a:prstGeom prst="roundRect">
            <a:avLst>
              <a:gd fmla="val 225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13"/>
          <p:cNvSpPr/>
          <p:nvPr/>
        </p:nvSpPr>
        <p:spPr>
          <a:xfrm>
            <a:off x="6400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13"/>
          <p:cNvSpPr/>
          <p:nvPr/>
        </p:nvSpPr>
        <p:spPr>
          <a:xfrm>
            <a:off x="7863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13"/>
          <p:cNvSpPr/>
          <p:nvPr/>
        </p:nvSpPr>
        <p:spPr>
          <a:xfrm>
            <a:off x="9326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13"/>
          <p:cNvSpPr/>
          <p:nvPr/>
        </p:nvSpPr>
        <p:spPr>
          <a:xfrm>
            <a:off x="1097280" y="1444752"/>
            <a:ext cx="416052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you@server:~$  tree -L 1 /</a:t>
            </a:r>
            <a:endParaRPr b="0" i="0" sz="900" u="none" cap="none" strike="noStrike">
              <a:solidFill>
                <a:schemeClr val="dk1"/>
              </a:solidFill>
              <a:latin typeface="Calibri"/>
              <a:ea typeface="Calibri"/>
              <a:cs typeface="Calibri"/>
              <a:sym typeface="Calibri"/>
            </a:endParaRPr>
          </a:p>
        </p:txBody>
      </p:sp>
      <p:cxnSp>
        <p:nvCxnSpPr>
          <p:cNvPr id="352" name="Google Shape;352;p13"/>
          <p:cNvCxnSpPr/>
          <p:nvPr/>
        </p:nvCxnSpPr>
        <p:spPr>
          <a:xfrm>
            <a:off x="457200" y="1737360"/>
            <a:ext cx="5074920" cy="0"/>
          </a:xfrm>
          <a:prstGeom prst="straightConnector1">
            <a:avLst/>
          </a:prstGeom>
          <a:noFill/>
          <a:ln cap="flat" cmpd="sng" w="12700">
            <a:solidFill>
              <a:srgbClr val="1E293B"/>
            </a:solidFill>
            <a:prstDash val="solid"/>
            <a:round/>
            <a:headEnd len="sm" w="sm" type="none"/>
            <a:tailEnd len="sm" w="sm" type="none"/>
          </a:ln>
        </p:spPr>
      </p:cxnSp>
      <p:sp>
        <p:nvSpPr>
          <p:cNvPr id="353" name="Google Shape;353;p13"/>
          <p:cNvSpPr/>
          <p:nvPr/>
        </p:nvSpPr>
        <p:spPr>
          <a:xfrm>
            <a:off x="658368" y="1847088"/>
            <a:ext cx="4672584" cy="26609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38BDF8"/>
              </a:buClr>
              <a:buSzPts val="1100"/>
              <a:buFont typeface="Courier New"/>
              <a:buNone/>
            </a:pPr>
            <a:r>
              <a:rPr b="1" i="0" lang="en-US" sz="1100" u="none" cap="none" strike="noStrike">
                <a:solidFill>
                  <a:srgbClr val="38BDF8"/>
                </a:solidFill>
                <a:latin typeface="Courier New"/>
                <a:ea typeface="Courier New"/>
                <a:cs typeface="Courier New"/>
                <a:sym typeface="Courier New"/>
              </a:rPr>
              <a:t>/</a:t>
            </a:r>
            <a:endParaRPr b="0" i="0" sz="11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100"/>
              <a:buFont typeface="Courier New"/>
              <a:buNone/>
            </a:pPr>
            <a:r>
              <a:rPr b="0" i="0" lang="en-US" sz="1100" u="none" cap="none" strike="noStrike">
                <a:solidFill>
                  <a:srgbClr val="64748B"/>
                </a:solidFill>
                <a:latin typeface="Courier New"/>
                <a:ea typeface="Courier New"/>
                <a:cs typeface="Courier New"/>
                <a:sym typeface="Courier New"/>
              </a:rPr>
              <a:t>├── </a:t>
            </a:r>
            <a:r>
              <a:rPr b="0" i="0" lang="en-US" sz="1100" u="none" cap="none" strike="noStrike">
                <a:solidFill>
                  <a:srgbClr val="FFFFFF"/>
                </a:solidFill>
                <a:latin typeface="Courier New"/>
                <a:ea typeface="Courier New"/>
                <a:cs typeface="Courier New"/>
                <a:sym typeface="Courier New"/>
              </a:rPr>
              <a:t>bin</a:t>
            </a:r>
            <a:r>
              <a:rPr b="0" i="0" lang="en-US" sz="1100" u="none" cap="none" strike="noStrike">
                <a:solidFill>
                  <a:srgbClr val="64748B"/>
                </a:solidFill>
                <a:latin typeface="Courier New"/>
                <a:ea typeface="Courier New"/>
                <a:cs typeface="Courier New"/>
                <a:sym typeface="Courier New"/>
              </a:rPr>
              <a:t>   → </a:t>
            </a:r>
            <a:r>
              <a:rPr b="0" i="0" lang="en-US" sz="1100" u="none" cap="none" strike="noStrike">
                <a:solidFill>
                  <a:srgbClr val="34D399"/>
                </a:solidFill>
                <a:latin typeface="Courier New"/>
                <a:ea typeface="Courier New"/>
                <a:cs typeface="Courier New"/>
                <a:sym typeface="Courier New"/>
              </a:rPr>
              <a:t>/usr/bin</a:t>
            </a:r>
            <a:r>
              <a:rPr b="0" i="0" lang="en-US" sz="1100" u="none" cap="none" strike="noStrike">
                <a:solidFill>
                  <a:srgbClr val="64748B"/>
                </a:solidFill>
                <a:latin typeface="Courier New"/>
                <a:ea typeface="Courier New"/>
                <a:cs typeface="Courier New"/>
                <a:sym typeface="Courier New"/>
              </a:rPr>
              <a:t>  commands</a:t>
            </a:r>
            <a:endParaRPr b="0" i="0" sz="11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100"/>
              <a:buFont typeface="Courier New"/>
              <a:buNone/>
            </a:pPr>
            <a:r>
              <a:rPr b="0" i="0" lang="en-US" sz="1100" u="none" cap="none" strike="noStrike">
                <a:solidFill>
                  <a:srgbClr val="64748B"/>
                </a:solidFill>
                <a:latin typeface="Courier New"/>
                <a:ea typeface="Courier New"/>
                <a:cs typeface="Courier New"/>
                <a:sym typeface="Courier New"/>
              </a:rPr>
              <a:t>├── </a:t>
            </a:r>
            <a:r>
              <a:rPr b="0" i="0" lang="en-US" sz="1100" u="none" cap="none" strike="noStrike">
                <a:solidFill>
                  <a:srgbClr val="FFFFFF"/>
                </a:solidFill>
                <a:latin typeface="Courier New"/>
                <a:ea typeface="Courier New"/>
                <a:cs typeface="Courier New"/>
                <a:sym typeface="Courier New"/>
              </a:rPr>
              <a:t>boot</a:t>
            </a:r>
            <a:r>
              <a:rPr b="0" i="0" lang="en-US" sz="1100" u="none" cap="none" strike="noStrike">
                <a:solidFill>
                  <a:srgbClr val="64748B"/>
                </a:solidFill>
                <a:latin typeface="Courier New"/>
                <a:ea typeface="Courier New"/>
                <a:cs typeface="Courier New"/>
                <a:sym typeface="Courier New"/>
              </a:rPr>
              <a:t>       kernel + GRUB</a:t>
            </a:r>
            <a:endParaRPr b="0" i="0" sz="11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100"/>
              <a:buFont typeface="Courier New"/>
              <a:buNone/>
            </a:pPr>
            <a:r>
              <a:rPr b="0" i="0" lang="en-US" sz="1100" u="none" cap="none" strike="noStrike">
                <a:solidFill>
                  <a:srgbClr val="64748B"/>
                </a:solidFill>
                <a:latin typeface="Courier New"/>
                <a:ea typeface="Courier New"/>
                <a:cs typeface="Courier New"/>
                <a:sym typeface="Courier New"/>
              </a:rPr>
              <a:t>├── </a:t>
            </a:r>
            <a:r>
              <a:rPr b="0" i="0" lang="en-US" sz="1100" u="none" cap="none" strike="noStrike">
                <a:solidFill>
                  <a:srgbClr val="FFFFFF"/>
                </a:solidFill>
                <a:latin typeface="Courier New"/>
                <a:ea typeface="Courier New"/>
                <a:cs typeface="Courier New"/>
                <a:sym typeface="Courier New"/>
              </a:rPr>
              <a:t>dev</a:t>
            </a:r>
            <a:r>
              <a:rPr b="0" i="0" lang="en-US" sz="1100" u="none" cap="none" strike="noStrike">
                <a:solidFill>
                  <a:srgbClr val="64748B"/>
                </a:solidFill>
                <a:latin typeface="Courier New"/>
                <a:ea typeface="Courier New"/>
                <a:cs typeface="Courier New"/>
                <a:sym typeface="Courier New"/>
              </a:rPr>
              <a:t>        devices (disks, tty)</a:t>
            </a:r>
            <a:endParaRPr b="0" i="0" sz="11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100"/>
              <a:buFont typeface="Courier New"/>
              <a:buNone/>
            </a:pPr>
            <a:r>
              <a:rPr b="0" i="0" lang="en-US" sz="1100" u="none" cap="none" strike="noStrike">
                <a:solidFill>
                  <a:srgbClr val="64748B"/>
                </a:solidFill>
                <a:latin typeface="Courier New"/>
                <a:ea typeface="Courier New"/>
                <a:cs typeface="Courier New"/>
                <a:sym typeface="Courier New"/>
              </a:rPr>
              <a:t>├── </a:t>
            </a:r>
            <a:r>
              <a:rPr b="1" i="0" lang="en-US" sz="1100" u="none" cap="none" strike="noStrike">
                <a:solidFill>
                  <a:srgbClr val="F97316"/>
                </a:solidFill>
                <a:latin typeface="Courier New"/>
                <a:ea typeface="Courier New"/>
                <a:cs typeface="Courier New"/>
                <a:sym typeface="Courier New"/>
              </a:rPr>
              <a:t>etc</a:t>
            </a:r>
            <a:r>
              <a:rPr b="0" i="0" lang="en-US" sz="1100" u="none" cap="none" strike="noStrike">
                <a:solidFill>
                  <a:srgbClr val="64748B"/>
                </a:solidFill>
                <a:latin typeface="Courier New"/>
                <a:ea typeface="Courier New"/>
                <a:cs typeface="Courier New"/>
                <a:sym typeface="Courier New"/>
              </a:rPr>
              <a:t>        config you edit</a:t>
            </a:r>
            <a:endParaRPr b="0" i="0" sz="11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100"/>
              <a:buFont typeface="Courier New"/>
              <a:buNone/>
            </a:pPr>
            <a:r>
              <a:rPr b="0" i="0" lang="en-US" sz="1100" u="none" cap="none" strike="noStrike">
                <a:solidFill>
                  <a:srgbClr val="64748B"/>
                </a:solidFill>
                <a:latin typeface="Courier New"/>
                <a:ea typeface="Courier New"/>
                <a:cs typeface="Courier New"/>
                <a:sym typeface="Courier New"/>
              </a:rPr>
              <a:t>├── </a:t>
            </a:r>
            <a:r>
              <a:rPr b="0" i="0" lang="en-US" sz="1100" u="none" cap="none" strike="noStrike">
                <a:solidFill>
                  <a:srgbClr val="FFFFFF"/>
                </a:solidFill>
                <a:latin typeface="Courier New"/>
                <a:ea typeface="Courier New"/>
                <a:cs typeface="Courier New"/>
                <a:sym typeface="Courier New"/>
              </a:rPr>
              <a:t>home</a:t>
            </a:r>
            <a:r>
              <a:rPr b="0" i="0" lang="en-US" sz="1100" u="none" cap="none" strike="noStrike">
                <a:solidFill>
                  <a:srgbClr val="64748B"/>
                </a:solidFill>
                <a:latin typeface="Courier New"/>
                <a:ea typeface="Courier New"/>
                <a:cs typeface="Courier New"/>
                <a:sym typeface="Courier New"/>
              </a:rPr>
              <a:t>       user homes</a:t>
            </a:r>
            <a:endParaRPr b="0" i="0" sz="11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100"/>
              <a:buFont typeface="Courier New"/>
              <a:buNone/>
            </a:pPr>
            <a:r>
              <a:rPr b="0" i="0" lang="en-US" sz="1100" u="none" cap="none" strike="noStrike">
                <a:solidFill>
                  <a:srgbClr val="64748B"/>
                </a:solidFill>
                <a:latin typeface="Courier New"/>
                <a:ea typeface="Courier New"/>
                <a:cs typeface="Courier New"/>
                <a:sym typeface="Courier New"/>
              </a:rPr>
              <a:t>├── </a:t>
            </a:r>
            <a:r>
              <a:rPr b="0" i="0" lang="en-US" sz="1100" u="none" cap="none" strike="noStrike">
                <a:solidFill>
                  <a:srgbClr val="FFFFFF"/>
                </a:solidFill>
                <a:latin typeface="Courier New"/>
                <a:ea typeface="Courier New"/>
                <a:cs typeface="Courier New"/>
                <a:sym typeface="Courier New"/>
              </a:rPr>
              <a:t>opt</a:t>
            </a:r>
            <a:r>
              <a:rPr b="0" i="0" lang="en-US" sz="1100" u="none" cap="none" strike="noStrike">
                <a:solidFill>
                  <a:srgbClr val="64748B"/>
                </a:solidFill>
                <a:latin typeface="Courier New"/>
                <a:ea typeface="Courier New"/>
                <a:cs typeface="Courier New"/>
                <a:sym typeface="Courier New"/>
              </a:rPr>
              <a:t>        3rd-party software</a:t>
            </a:r>
            <a:endParaRPr b="0" i="0" sz="11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100"/>
              <a:buFont typeface="Courier New"/>
              <a:buNone/>
            </a:pPr>
            <a:r>
              <a:rPr b="0" i="0" lang="en-US" sz="1100" u="none" cap="none" strike="noStrike">
                <a:solidFill>
                  <a:srgbClr val="64748B"/>
                </a:solidFill>
                <a:latin typeface="Courier New"/>
                <a:ea typeface="Courier New"/>
                <a:cs typeface="Courier New"/>
                <a:sym typeface="Courier New"/>
              </a:rPr>
              <a:t>├── </a:t>
            </a:r>
            <a:r>
              <a:rPr b="0" i="0" lang="en-US" sz="1100" u="none" cap="none" strike="noStrike">
                <a:solidFill>
                  <a:srgbClr val="FFFFFF"/>
                </a:solidFill>
                <a:latin typeface="Courier New"/>
                <a:ea typeface="Courier New"/>
                <a:cs typeface="Courier New"/>
                <a:sym typeface="Courier New"/>
              </a:rPr>
              <a:t>proc</a:t>
            </a:r>
            <a:r>
              <a:rPr b="0" i="0" lang="en-US" sz="1100" u="none" cap="none" strike="noStrike">
                <a:solidFill>
                  <a:srgbClr val="64748B"/>
                </a:solidFill>
                <a:latin typeface="Courier New"/>
                <a:ea typeface="Courier New"/>
                <a:cs typeface="Courier New"/>
                <a:sym typeface="Courier New"/>
              </a:rPr>
              <a:t>       live kernel state</a:t>
            </a:r>
            <a:endParaRPr b="0" i="0" sz="11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100"/>
              <a:buFont typeface="Courier New"/>
              <a:buNone/>
            </a:pPr>
            <a:r>
              <a:rPr b="0" i="0" lang="en-US" sz="1100" u="none" cap="none" strike="noStrike">
                <a:solidFill>
                  <a:srgbClr val="64748B"/>
                </a:solidFill>
                <a:latin typeface="Courier New"/>
                <a:ea typeface="Courier New"/>
                <a:cs typeface="Courier New"/>
                <a:sym typeface="Courier New"/>
              </a:rPr>
              <a:t>├── </a:t>
            </a:r>
            <a:r>
              <a:rPr b="0" i="0" lang="en-US" sz="1100" u="none" cap="none" strike="noStrike">
                <a:solidFill>
                  <a:srgbClr val="FFFFFF"/>
                </a:solidFill>
                <a:latin typeface="Courier New"/>
                <a:ea typeface="Courier New"/>
                <a:cs typeface="Courier New"/>
                <a:sym typeface="Courier New"/>
              </a:rPr>
              <a:t>root</a:t>
            </a:r>
            <a:r>
              <a:rPr b="0" i="0" lang="en-US" sz="1100" u="none" cap="none" strike="noStrike">
                <a:solidFill>
                  <a:srgbClr val="64748B"/>
                </a:solidFill>
                <a:latin typeface="Courier New"/>
                <a:ea typeface="Courier New"/>
                <a:cs typeface="Courier New"/>
                <a:sym typeface="Courier New"/>
              </a:rPr>
              <a:t>       root's home</a:t>
            </a:r>
            <a:endParaRPr b="0" i="0" sz="11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100"/>
              <a:buFont typeface="Courier New"/>
              <a:buNone/>
            </a:pPr>
            <a:r>
              <a:rPr b="0" i="0" lang="en-US" sz="1100" u="none" cap="none" strike="noStrike">
                <a:solidFill>
                  <a:srgbClr val="64748B"/>
                </a:solidFill>
                <a:latin typeface="Courier New"/>
                <a:ea typeface="Courier New"/>
                <a:cs typeface="Courier New"/>
                <a:sym typeface="Courier New"/>
              </a:rPr>
              <a:t>├── </a:t>
            </a:r>
            <a:r>
              <a:rPr b="0" i="0" lang="en-US" sz="1100" u="none" cap="none" strike="noStrike">
                <a:solidFill>
                  <a:srgbClr val="FFFFFF"/>
                </a:solidFill>
                <a:latin typeface="Courier New"/>
                <a:ea typeface="Courier New"/>
                <a:cs typeface="Courier New"/>
                <a:sym typeface="Courier New"/>
              </a:rPr>
              <a:t>tmp</a:t>
            </a:r>
            <a:r>
              <a:rPr b="0" i="0" lang="en-US" sz="1100" u="none" cap="none" strike="noStrike">
                <a:solidFill>
                  <a:srgbClr val="64748B"/>
                </a:solidFill>
                <a:latin typeface="Courier New"/>
                <a:ea typeface="Courier New"/>
                <a:cs typeface="Courier New"/>
                <a:sym typeface="Courier New"/>
              </a:rPr>
              <a:t>        scratch (wiped on boot)</a:t>
            </a:r>
            <a:endParaRPr b="0" i="0" sz="11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100"/>
              <a:buFont typeface="Courier New"/>
              <a:buNone/>
            </a:pPr>
            <a:r>
              <a:rPr b="0" i="0" lang="en-US" sz="1100" u="none" cap="none" strike="noStrike">
                <a:solidFill>
                  <a:srgbClr val="64748B"/>
                </a:solidFill>
                <a:latin typeface="Courier New"/>
                <a:ea typeface="Courier New"/>
                <a:cs typeface="Courier New"/>
                <a:sym typeface="Courier New"/>
              </a:rPr>
              <a:t>├── </a:t>
            </a:r>
            <a:r>
              <a:rPr b="0" i="0" lang="en-US" sz="1100" u="none" cap="none" strike="noStrike">
                <a:solidFill>
                  <a:srgbClr val="FFFFFF"/>
                </a:solidFill>
                <a:latin typeface="Courier New"/>
                <a:ea typeface="Courier New"/>
                <a:cs typeface="Courier New"/>
                <a:sym typeface="Courier New"/>
              </a:rPr>
              <a:t>usr</a:t>
            </a:r>
            <a:r>
              <a:rPr b="0" i="0" lang="en-US" sz="1100" u="none" cap="none" strike="noStrike">
                <a:solidFill>
                  <a:srgbClr val="64748B"/>
                </a:solidFill>
                <a:latin typeface="Courier New"/>
                <a:ea typeface="Courier New"/>
                <a:cs typeface="Courier New"/>
                <a:sym typeface="Courier New"/>
              </a:rPr>
              <a:t>        programs + libraries</a:t>
            </a:r>
            <a:endParaRPr b="0" i="0" sz="11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100"/>
              <a:buFont typeface="Courier New"/>
              <a:buNone/>
            </a:pPr>
            <a:r>
              <a:rPr b="0" i="0" lang="en-US" sz="1100" u="none" cap="none" strike="noStrike">
                <a:solidFill>
                  <a:srgbClr val="64748B"/>
                </a:solidFill>
                <a:latin typeface="Courier New"/>
                <a:ea typeface="Courier New"/>
                <a:cs typeface="Courier New"/>
                <a:sym typeface="Courier New"/>
              </a:rPr>
              <a:t>└── </a:t>
            </a:r>
            <a:r>
              <a:rPr b="1" i="0" lang="en-US" sz="1100" u="none" cap="none" strike="noStrike">
                <a:solidFill>
                  <a:srgbClr val="F97316"/>
                </a:solidFill>
                <a:latin typeface="Courier New"/>
                <a:ea typeface="Courier New"/>
                <a:cs typeface="Courier New"/>
                <a:sym typeface="Courier New"/>
              </a:rPr>
              <a:t>var</a:t>
            </a:r>
            <a:r>
              <a:rPr b="0" i="0" lang="en-US" sz="1100" u="none" cap="none" strike="noStrike">
                <a:solidFill>
                  <a:srgbClr val="64748B"/>
                </a:solidFill>
                <a:latin typeface="Courier New"/>
                <a:ea typeface="Courier New"/>
                <a:cs typeface="Courier New"/>
                <a:sym typeface="Courier New"/>
              </a:rPr>
              <a:t>        logs, data, spool</a:t>
            </a:r>
            <a:endParaRPr b="0" i="0" sz="1100" u="none" cap="none" strike="noStrike">
              <a:solidFill>
                <a:schemeClr val="dk1"/>
              </a:solidFill>
              <a:latin typeface="Calibri"/>
              <a:ea typeface="Calibri"/>
              <a:cs typeface="Calibri"/>
              <a:sym typeface="Calibri"/>
            </a:endParaRPr>
          </a:p>
        </p:txBody>
      </p:sp>
      <p:sp>
        <p:nvSpPr>
          <p:cNvPr id="354" name="Google Shape;354;p13"/>
          <p:cNvSpPr/>
          <p:nvPr/>
        </p:nvSpPr>
        <p:spPr>
          <a:xfrm>
            <a:off x="5715000" y="1371600"/>
            <a:ext cx="2971800" cy="1508760"/>
          </a:xfrm>
          <a:prstGeom prst="roundRect">
            <a:avLst>
              <a:gd fmla="val 4242" name="adj"/>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13"/>
          <p:cNvSpPr/>
          <p:nvPr/>
        </p:nvSpPr>
        <p:spPr>
          <a:xfrm>
            <a:off x="5897880" y="1481328"/>
            <a:ext cx="26060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Reading it</a:t>
            </a:r>
            <a:endParaRPr b="0" i="0" sz="1250" u="none" cap="none" strike="noStrike">
              <a:solidFill>
                <a:schemeClr val="dk1"/>
              </a:solidFill>
              <a:latin typeface="Calibri"/>
              <a:ea typeface="Calibri"/>
              <a:cs typeface="Calibri"/>
              <a:sym typeface="Calibri"/>
            </a:endParaRPr>
          </a:p>
        </p:txBody>
      </p:sp>
      <p:sp>
        <p:nvSpPr>
          <p:cNvPr id="356" name="Google Shape;356;p13"/>
          <p:cNvSpPr/>
          <p:nvPr/>
        </p:nvSpPr>
        <p:spPr>
          <a:xfrm>
            <a:off x="5897880" y="1773936"/>
            <a:ext cx="2606040"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93B"/>
              </a:buClr>
              <a:buSzPts val="1050"/>
              <a:buFont typeface="Calibri"/>
              <a:buNone/>
            </a:pPr>
            <a:r>
              <a:rPr b="0" i="0" lang="en-US" sz="1050" u="none" cap="none" strike="noStrike">
                <a:solidFill>
                  <a:srgbClr val="1E293B"/>
                </a:solidFill>
                <a:latin typeface="Calibri"/>
                <a:ea typeface="Calibri"/>
                <a:cs typeface="Calibri"/>
                <a:sym typeface="Calibri"/>
              </a:rPr>
              <a:t>Everything hangs off </a:t>
            </a:r>
            <a:r>
              <a:rPr b="1" i="0" lang="en-US" sz="1050" u="none" cap="none" strike="noStrike">
                <a:solidFill>
                  <a:srgbClr val="0F766E"/>
                </a:solidFill>
                <a:latin typeface="Calibri"/>
                <a:ea typeface="Calibri"/>
                <a:cs typeface="Calibri"/>
                <a:sym typeface="Calibri"/>
              </a:rPr>
              <a:t>/</a:t>
            </a:r>
            <a:r>
              <a:rPr b="0" i="0" lang="en-US" sz="1050" u="none" cap="none" strike="noStrike">
                <a:solidFill>
                  <a:srgbClr val="1E293B"/>
                </a:solidFill>
                <a:latin typeface="Calibri"/>
                <a:ea typeface="Calibri"/>
                <a:cs typeface="Calibri"/>
                <a:sym typeface="Calibri"/>
              </a:rPr>
              <a:t> ("root") — there are no drive letters. </a:t>
            </a:r>
            <a:r>
              <a:rPr b="1" i="0" lang="en-US" sz="1050" u="none" cap="none" strike="noStrike">
                <a:solidFill>
                  <a:srgbClr val="0F766E"/>
                </a:solidFill>
                <a:latin typeface="Calibri"/>
                <a:ea typeface="Calibri"/>
                <a:cs typeface="Calibri"/>
                <a:sym typeface="Calibri"/>
              </a:rPr>
              <a:t>tree -L 1 /</a:t>
            </a:r>
            <a:r>
              <a:rPr b="0" i="0" lang="en-US" sz="1050" u="none" cap="none" strike="noStrike">
                <a:solidFill>
                  <a:srgbClr val="1E293B"/>
                </a:solidFill>
                <a:latin typeface="Calibri"/>
                <a:ea typeface="Calibri"/>
                <a:cs typeface="Calibri"/>
                <a:sym typeface="Calibri"/>
              </a:rPr>
              <a:t> shows the top level; raise </a:t>
            </a:r>
            <a:r>
              <a:rPr b="1" i="0" lang="en-US" sz="1050" u="none" cap="none" strike="noStrike">
                <a:solidFill>
                  <a:srgbClr val="0F766E"/>
                </a:solidFill>
                <a:latin typeface="Calibri"/>
                <a:ea typeface="Calibri"/>
                <a:cs typeface="Calibri"/>
                <a:sym typeface="Calibri"/>
              </a:rPr>
              <a:t>-L</a:t>
            </a:r>
            <a:r>
              <a:rPr b="0" i="0" lang="en-US" sz="1050" u="none" cap="none" strike="noStrike">
                <a:solidFill>
                  <a:srgbClr val="1E293B"/>
                </a:solidFill>
                <a:latin typeface="Calibri"/>
                <a:ea typeface="Calibri"/>
                <a:cs typeface="Calibri"/>
                <a:sym typeface="Calibri"/>
              </a:rPr>
              <a:t> to go deeper.</a:t>
            </a:r>
            <a:endParaRPr b="0" i="0" sz="1050" u="none" cap="none" strike="noStrike">
              <a:solidFill>
                <a:schemeClr val="dk1"/>
              </a:solidFill>
              <a:latin typeface="Calibri"/>
              <a:ea typeface="Calibri"/>
              <a:cs typeface="Calibri"/>
              <a:sym typeface="Calibri"/>
            </a:endParaRPr>
          </a:p>
        </p:txBody>
      </p:sp>
      <p:sp>
        <p:nvSpPr>
          <p:cNvPr id="357" name="Google Shape;357;p13"/>
          <p:cNvSpPr/>
          <p:nvPr/>
        </p:nvSpPr>
        <p:spPr>
          <a:xfrm>
            <a:off x="5715000" y="3063240"/>
            <a:ext cx="2971800" cy="1554480"/>
          </a:xfrm>
          <a:prstGeom prst="roundRect">
            <a:avLst>
              <a:gd fmla="val 4118" name="adj"/>
            </a:avLst>
          </a:prstGeom>
          <a:solidFill>
            <a:srgbClr val="FFF7ED"/>
          </a:solidFill>
          <a:ln cap="flat" cmpd="sng" w="12700">
            <a:solidFill>
              <a:srgbClr val="F97316"/>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13"/>
          <p:cNvSpPr/>
          <p:nvPr/>
        </p:nvSpPr>
        <p:spPr>
          <a:xfrm>
            <a:off x="5897880" y="3172968"/>
            <a:ext cx="26060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250"/>
              <a:buFont typeface="Calibri"/>
              <a:buNone/>
            </a:pPr>
            <a:r>
              <a:rPr b="1" i="0" lang="en-US" sz="1250" u="none" cap="none" strike="noStrike">
                <a:solidFill>
                  <a:srgbClr val="C2410C"/>
                </a:solidFill>
                <a:latin typeface="Calibri"/>
                <a:ea typeface="Calibri"/>
                <a:cs typeface="Calibri"/>
                <a:sym typeface="Calibri"/>
              </a:rPr>
              <a:t>The two in orange</a:t>
            </a:r>
            <a:endParaRPr b="0" i="0" sz="1250" u="none" cap="none" strike="noStrike">
              <a:solidFill>
                <a:schemeClr val="dk1"/>
              </a:solidFill>
              <a:latin typeface="Calibri"/>
              <a:ea typeface="Calibri"/>
              <a:cs typeface="Calibri"/>
              <a:sym typeface="Calibri"/>
            </a:endParaRPr>
          </a:p>
        </p:txBody>
      </p:sp>
      <p:sp>
        <p:nvSpPr>
          <p:cNvPr id="359" name="Google Shape;359;p13"/>
          <p:cNvSpPr/>
          <p:nvPr/>
        </p:nvSpPr>
        <p:spPr>
          <a:xfrm>
            <a:off x="5897880" y="3465576"/>
            <a:ext cx="2606040" cy="10515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2410C"/>
              </a:buClr>
              <a:buSzPts val="1050"/>
              <a:buFont typeface="Calibri"/>
              <a:buNone/>
            </a:pPr>
            <a:r>
              <a:rPr b="1" i="0" lang="en-US" sz="1050" u="none" cap="none" strike="noStrike">
                <a:solidFill>
                  <a:srgbClr val="C2410C"/>
                </a:solidFill>
                <a:latin typeface="Calibri"/>
                <a:ea typeface="Calibri"/>
                <a:cs typeface="Calibri"/>
                <a:sym typeface="Calibri"/>
              </a:rPr>
              <a:t>/etc</a:t>
            </a:r>
            <a:r>
              <a:rPr b="0" i="0" lang="en-US" sz="1050" u="none" cap="none" strike="noStrike">
                <a:solidFill>
                  <a:srgbClr val="1E293B"/>
                </a:solidFill>
                <a:latin typeface="Calibri"/>
                <a:ea typeface="Calibri"/>
                <a:cs typeface="Calibri"/>
                <a:sym typeface="Calibri"/>
              </a:rPr>
              <a:t> and </a:t>
            </a:r>
            <a:r>
              <a:rPr b="1" i="0" lang="en-US" sz="1050" u="none" cap="none" strike="noStrike">
                <a:solidFill>
                  <a:srgbClr val="C2410C"/>
                </a:solidFill>
                <a:latin typeface="Calibri"/>
                <a:ea typeface="Calibri"/>
                <a:cs typeface="Calibri"/>
                <a:sym typeface="Calibri"/>
              </a:rPr>
              <a:t>/var</a:t>
            </a:r>
            <a:r>
              <a:rPr b="0" i="0" lang="en-US" sz="1050" u="none" cap="none" strike="noStrike">
                <a:solidFill>
                  <a:srgbClr val="1E293B"/>
                </a:solidFill>
                <a:latin typeface="Calibri"/>
                <a:ea typeface="Calibri"/>
                <a:cs typeface="Calibri"/>
                <a:sym typeface="Calibri"/>
              </a:rPr>
              <a:t> are where you'll spend nearly all your time — configs in one, logs and data in the other.</a:t>
            </a:r>
            <a:endParaRPr b="0" i="0" sz="1050" u="none" cap="none" strike="noStrike">
              <a:solidFill>
                <a:schemeClr val="dk1"/>
              </a:solidFill>
              <a:latin typeface="Calibri"/>
              <a:ea typeface="Calibri"/>
              <a:cs typeface="Calibri"/>
              <a:sym typeface="Calibri"/>
            </a:endParaRPr>
          </a:p>
        </p:txBody>
      </p:sp>
      <p:sp>
        <p:nvSpPr>
          <p:cNvPr id="360" name="Google Shape;360;p13"/>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361" name="Google Shape;361;p13"/>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1 · Filesystem</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366" name="Shape 366"/>
        <p:cNvGrpSpPr/>
        <p:nvPr/>
      </p:nvGrpSpPr>
      <p:grpSpPr>
        <a:xfrm>
          <a:off x="0" y="0"/>
          <a:ext cx="0" cy="0"/>
          <a:chOff x="0" y="0"/>
          <a:chExt cx="0" cy="0"/>
        </a:xfrm>
      </p:grpSpPr>
      <p:sp>
        <p:nvSpPr>
          <p:cNvPr id="367" name="Google Shape;367;p14"/>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vim — it's on every server</a:t>
            </a:r>
            <a:endParaRPr b="0" i="0" sz="2900" u="none" cap="none" strike="noStrike">
              <a:solidFill>
                <a:schemeClr val="dk1"/>
              </a:solidFill>
              <a:latin typeface="Calibri"/>
              <a:ea typeface="Calibri"/>
              <a:cs typeface="Calibri"/>
              <a:sym typeface="Calibri"/>
            </a:endParaRPr>
          </a:p>
        </p:txBody>
      </p:sp>
      <p:sp>
        <p:nvSpPr>
          <p:cNvPr id="368" name="Google Shape;368;p14"/>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69" name="Google Shape;369;p14"/>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370" name="Google Shape;370;p14"/>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There's no GUI on a production box. vim is installed everywhere, so you must be able to escape it.</a:t>
            </a:r>
            <a:endParaRPr b="0" i="0" sz="1300" u="none" cap="none" strike="noStrike">
              <a:solidFill>
                <a:schemeClr val="dk1"/>
              </a:solidFill>
              <a:latin typeface="Calibri"/>
              <a:ea typeface="Calibri"/>
              <a:cs typeface="Calibri"/>
              <a:sym typeface="Calibri"/>
            </a:endParaRPr>
          </a:p>
        </p:txBody>
      </p:sp>
      <p:sp>
        <p:nvSpPr>
          <p:cNvPr id="371" name="Google Shape;371;p14"/>
          <p:cNvSpPr/>
          <p:nvPr/>
        </p:nvSpPr>
        <p:spPr>
          <a:xfrm>
            <a:off x="457200" y="1371600"/>
            <a:ext cx="4160520" cy="3438144"/>
          </a:xfrm>
          <a:prstGeom prst="roundRect">
            <a:avLst>
              <a:gd fmla="val 1596"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14"/>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SURVIVAL KIT</a:t>
            </a:r>
            <a:endParaRPr b="0" i="0" sz="1250" u="none" cap="none" strike="noStrike">
              <a:solidFill>
                <a:schemeClr val="dk1"/>
              </a:solidFill>
              <a:latin typeface="Calibri"/>
              <a:ea typeface="Calibri"/>
              <a:cs typeface="Calibri"/>
              <a:sym typeface="Calibri"/>
            </a:endParaRPr>
          </a:p>
        </p:txBody>
      </p:sp>
      <p:sp>
        <p:nvSpPr>
          <p:cNvPr id="373" name="Google Shape;373;p14"/>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i</a:t>
            </a:r>
            <a:endParaRPr b="0" i="0" sz="1150" u="none" cap="none" strike="noStrike">
              <a:solidFill>
                <a:schemeClr val="dk1"/>
              </a:solidFill>
              <a:latin typeface="Calibri"/>
              <a:ea typeface="Calibri"/>
              <a:cs typeface="Calibri"/>
              <a:sym typeface="Calibri"/>
            </a:endParaRPr>
          </a:p>
        </p:txBody>
      </p:sp>
      <p:sp>
        <p:nvSpPr>
          <p:cNvPr id="374" name="Google Shape;374;p14"/>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INSERT mode — start typing</a:t>
            </a:r>
            <a:endParaRPr b="0" i="0" sz="1100" u="none" cap="none" strike="noStrike">
              <a:solidFill>
                <a:schemeClr val="dk1"/>
              </a:solidFill>
              <a:latin typeface="Calibri"/>
              <a:ea typeface="Calibri"/>
              <a:cs typeface="Calibri"/>
              <a:sym typeface="Calibri"/>
            </a:endParaRPr>
          </a:p>
        </p:txBody>
      </p:sp>
      <p:sp>
        <p:nvSpPr>
          <p:cNvPr id="375" name="Google Shape;375;p14"/>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Esc</a:t>
            </a:r>
            <a:endParaRPr b="0" i="0" sz="1150" u="none" cap="none" strike="noStrike">
              <a:solidFill>
                <a:schemeClr val="dk1"/>
              </a:solidFill>
              <a:latin typeface="Calibri"/>
              <a:ea typeface="Calibri"/>
              <a:cs typeface="Calibri"/>
              <a:sym typeface="Calibri"/>
            </a:endParaRPr>
          </a:p>
        </p:txBody>
      </p:sp>
      <p:sp>
        <p:nvSpPr>
          <p:cNvPr id="376" name="Google Shape;376;p14"/>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back to NORMAL mode</a:t>
            </a:r>
            <a:endParaRPr b="0" i="0" sz="1100" u="none" cap="none" strike="noStrike">
              <a:solidFill>
                <a:schemeClr val="dk1"/>
              </a:solidFill>
              <a:latin typeface="Calibri"/>
              <a:ea typeface="Calibri"/>
              <a:cs typeface="Calibri"/>
              <a:sym typeface="Calibri"/>
            </a:endParaRPr>
          </a:p>
        </p:txBody>
      </p:sp>
      <p:sp>
        <p:nvSpPr>
          <p:cNvPr id="377" name="Google Shape;377;p14"/>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:w</a:t>
            </a:r>
            <a:endParaRPr b="0" i="0" sz="1150" u="none" cap="none" strike="noStrike">
              <a:solidFill>
                <a:schemeClr val="dk1"/>
              </a:solidFill>
              <a:latin typeface="Calibri"/>
              <a:ea typeface="Calibri"/>
              <a:cs typeface="Calibri"/>
              <a:sym typeface="Calibri"/>
            </a:endParaRPr>
          </a:p>
        </p:txBody>
      </p:sp>
      <p:sp>
        <p:nvSpPr>
          <p:cNvPr id="378" name="Google Shape;378;p14"/>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write (save)</a:t>
            </a:r>
            <a:endParaRPr b="0" i="0" sz="1100" u="none" cap="none" strike="noStrike">
              <a:solidFill>
                <a:schemeClr val="dk1"/>
              </a:solidFill>
              <a:latin typeface="Calibri"/>
              <a:ea typeface="Calibri"/>
              <a:cs typeface="Calibri"/>
              <a:sym typeface="Calibri"/>
            </a:endParaRPr>
          </a:p>
        </p:txBody>
      </p:sp>
      <p:sp>
        <p:nvSpPr>
          <p:cNvPr id="379" name="Google Shape;379;p14"/>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:q   :q!</a:t>
            </a:r>
            <a:endParaRPr b="0" i="0" sz="1150" u="none" cap="none" strike="noStrike">
              <a:solidFill>
                <a:schemeClr val="dk1"/>
              </a:solidFill>
              <a:latin typeface="Calibri"/>
              <a:ea typeface="Calibri"/>
              <a:cs typeface="Calibri"/>
              <a:sym typeface="Calibri"/>
            </a:endParaRPr>
          </a:p>
        </p:txBody>
      </p:sp>
      <p:sp>
        <p:nvSpPr>
          <p:cNvPr id="380" name="Google Shape;380;p14"/>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quit / quit without saving</a:t>
            </a:r>
            <a:endParaRPr b="0" i="0" sz="1100" u="none" cap="none" strike="noStrike">
              <a:solidFill>
                <a:schemeClr val="dk1"/>
              </a:solidFill>
              <a:latin typeface="Calibri"/>
              <a:ea typeface="Calibri"/>
              <a:cs typeface="Calibri"/>
              <a:sym typeface="Calibri"/>
            </a:endParaRPr>
          </a:p>
        </p:txBody>
      </p:sp>
      <p:sp>
        <p:nvSpPr>
          <p:cNvPr id="381" name="Google Shape;381;p14"/>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:wq  ZZ</a:t>
            </a:r>
            <a:endParaRPr b="0" i="0" sz="1150" u="none" cap="none" strike="noStrike">
              <a:solidFill>
                <a:schemeClr val="dk1"/>
              </a:solidFill>
              <a:latin typeface="Calibri"/>
              <a:ea typeface="Calibri"/>
              <a:cs typeface="Calibri"/>
              <a:sym typeface="Calibri"/>
            </a:endParaRPr>
          </a:p>
        </p:txBody>
      </p:sp>
      <p:sp>
        <p:nvSpPr>
          <p:cNvPr id="382" name="Google Shape;382;p14"/>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save and quit</a:t>
            </a:r>
            <a:endParaRPr b="0" i="0" sz="1100" u="none" cap="none" strike="noStrike">
              <a:solidFill>
                <a:schemeClr val="dk1"/>
              </a:solidFill>
              <a:latin typeface="Calibri"/>
              <a:ea typeface="Calibri"/>
              <a:cs typeface="Calibri"/>
              <a:sym typeface="Calibri"/>
            </a:endParaRPr>
          </a:p>
        </p:txBody>
      </p:sp>
      <p:sp>
        <p:nvSpPr>
          <p:cNvPr id="383" name="Google Shape;383;p14"/>
          <p:cNvSpPr/>
          <p:nvPr/>
        </p:nvSpPr>
        <p:spPr>
          <a:xfrm>
            <a:off x="65836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/text</a:t>
            </a:r>
            <a:endParaRPr b="0" i="0" sz="1150" u="none" cap="none" strike="noStrike">
              <a:solidFill>
                <a:schemeClr val="dk1"/>
              </a:solidFill>
              <a:latin typeface="Calibri"/>
              <a:ea typeface="Calibri"/>
              <a:cs typeface="Calibri"/>
              <a:sym typeface="Calibri"/>
            </a:endParaRPr>
          </a:p>
        </p:txBody>
      </p:sp>
      <p:sp>
        <p:nvSpPr>
          <p:cNvPr id="384" name="Google Shape;384;p14"/>
          <p:cNvSpPr/>
          <p:nvPr/>
        </p:nvSpPr>
        <p:spPr>
          <a:xfrm>
            <a:off x="2468880" y="391363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search;  n = next match</a:t>
            </a:r>
            <a:endParaRPr b="0" i="0" sz="1100" u="none" cap="none" strike="noStrike">
              <a:solidFill>
                <a:schemeClr val="dk1"/>
              </a:solidFill>
              <a:latin typeface="Calibri"/>
              <a:ea typeface="Calibri"/>
              <a:cs typeface="Calibri"/>
              <a:sym typeface="Calibri"/>
            </a:endParaRPr>
          </a:p>
        </p:txBody>
      </p:sp>
      <p:sp>
        <p:nvSpPr>
          <p:cNvPr id="385" name="Google Shape;385;p14"/>
          <p:cNvSpPr/>
          <p:nvPr/>
        </p:nvSpPr>
        <p:spPr>
          <a:xfrm>
            <a:off x="658368" y="431596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dd  yy  p</a:t>
            </a:r>
            <a:endParaRPr b="0" i="0" sz="1150" u="none" cap="none" strike="noStrike">
              <a:solidFill>
                <a:schemeClr val="dk1"/>
              </a:solidFill>
              <a:latin typeface="Calibri"/>
              <a:ea typeface="Calibri"/>
              <a:cs typeface="Calibri"/>
              <a:sym typeface="Calibri"/>
            </a:endParaRPr>
          </a:p>
        </p:txBody>
      </p:sp>
      <p:sp>
        <p:nvSpPr>
          <p:cNvPr id="386" name="Google Shape;386;p14"/>
          <p:cNvSpPr/>
          <p:nvPr/>
        </p:nvSpPr>
        <p:spPr>
          <a:xfrm>
            <a:off x="2468880" y="431596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delete / yank / paste a line</a:t>
            </a:r>
            <a:endParaRPr b="0" i="0" sz="1100" u="none" cap="none" strike="noStrike">
              <a:solidFill>
                <a:schemeClr val="dk1"/>
              </a:solidFill>
              <a:latin typeface="Calibri"/>
              <a:ea typeface="Calibri"/>
              <a:cs typeface="Calibri"/>
              <a:sym typeface="Calibri"/>
            </a:endParaRPr>
          </a:p>
        </p:txBody>
      </p:sp>
      <p:sp>
        <p:nvSpPr>
          <p:cNvPr id="387" name="Google Shape;387;p14"/>
          <p:cNvSpPr/>
          <p:nvPr/>
        </p:nvSpPr>
        <p:spPr>
          <a:xfrm>
            <a:off x="4800600" y="1371600"/>
            <a:ext cx="3886200" cy="1417320"/>
          </a:xfrm>
          <a:prstGeom prst="roundRect">
            <a:avLst>
              <a:gd fmla="val 4516" name="adj"/>
            </a:avLst>
          </a:prstGeom>
          <a:solidFill>
            <a:srgbClr val="FFF7ED"/>
          </a:solidFill>
          <a:ln cap="flat" cmpd="sng" w="12700">
            <a:solidFill>
              <a:srgbClr val="F97316"/>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14"/>
          <p:cNvSpPr/>
          <p:nvPr/>
        </p:nvSpPr>
        <p:spPr>
          <a:xfrm>
            <a:off x="4983480" y="1481328"/>
            <a:ext cx="35661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200"/>
              <a:buFont typeface="Calibri"/>
              <a:buNone/>
            </a:pPr>
            <a:r>
              <a:rPr b="1" i="0" lang="en-US" sz="1200" u="none" cap="none" strike="noStrike">
                <a:solidFill>
                  <a:srgbClr val="C2410C"/>
                </a:solidFill>
                <a:latin typeface="Calibri"/>
                <a:ea typeface="Calibri"/>
                <a:cs typeface="Calibri"/>
                <a:sym typeface="Calibri"/>
              </a:rPr>
              <a:t>The one idea that unlocks vim</a:t>
            </a:r>
            <a:endParaRPr b="0" i="0" sz="1200" u="none" cap="none" strike="noStrike">
              <a:solidFill>
                <a:schemeClr val="dk1"/>
              </a:solidFill>
              <a:latin typeface="Calibri"/>
              <a:ea typeface="Calibri"/>
              <a:cs typeface="Calibri"/>
              <a:sym typeface="Calibri"/>
            </a:endParaRPr>
          </a:p>
        </p:txBody>
      </p:sp>
      <p:sp>
        <p:nvSpPr>
          <p:cNvPr id="389" name="Google Shape;389;p14"/>
          <p:cNvSpPr/>
          <p:nvPr/>
        </p:nvSpPr>
        <p:spPr>
          <a:xfrm>
            <a:off x="4983480" y="1783080"/>
            <a:ext cx="356616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vim is modal. You're either typing text (INSERT) or issuing commands (NORMAL). Stuck? Press Esc, then :q! to bail.</a:t>
            </a:r>
            <a:endParaRPr b="0" i="0" sz="1250" u="none" cap="none" strike="noStrike">
              <a:solidFill>
                <a:schemeClr val="dk1"/>
              </a:solidFill>
              <a:latin typeface="Calibri"/>
              <a:ea typeface="Calibri"/>
              <a:cs typeface="Calibri"/>
              <a:sym typeface="Calibri"/>
            </a:endParaRPr>
          </a:p>
        </p:txBody>
      </p:sp>
      <p:sp>
        <p:nvSpPr>
          <p:cNvPr id="390" name="Google Shape;390;p14"/>
          <p:cNvSpPr/>
          <p:nvPr/>
        </p:nvSpPr>
        <p:spPr>
          <a:xfrm>
            <a:off x="4800600" y="2926080"/>
            <a:ext cx="3886200" cy="1691640"/>
          </a:xfrm>
          <a:prstGeom prst="roundRect">
            <a:avLst>
              <a:gd fmla="val 432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14"/>
          <p:cNvSpPr/>
          <p:nvPr/>
        </p:nvSpPr>
        <p:spPr>
          <a:xfrm>
            <a:off x="4983480" y="307238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14"/>
          <p:cNvSpPr/>
          <p:nvPr/>
        </p:nvSpPr>
        <p:spPr>
          <a:xfrm>
            <a:off x="5129784" y="307238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3" name="Google Shape;393;p14"/>
          <p:cNvSpPr/>
          <p:nvPr/>
        </p:nvSpPr>
        <p:spPr>
          <a:xfrm>
            <a:off x="5276088" y="307238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14"/>
          <p:cNvSpPr/>
          <p:nvPr/>
        </p:nvSpPr>
        <p:spPr>
          <a:xfrm>
            <a:off x="5440680" y="299923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vim app.env</a:t>
            </a:r>
            <a:endParaRPr b="0" i="0" sz="900" u="none" cap="none" strike="noStrike">
              <a:solidFill>
                <a:schemeClr val="dk1"/>
              </a:solidFill>
              <a:latin typeface="Calibri"/>
              <a:ea typeface="Calibri"/>
              <a:cs typeface="Calibri"/>
              <a:sym typeface="Calibri"/>
            </a:endParaRPr>
          </a:p>
        </p:txBody>
      </p:sp>
      <p:cxnSp>
        <p:nvCxnSpPr>
          <p:cNvPr id="395" name="Google Shape;395;p14"/>
          <p:cNvCxnSpPr/>
          <p:nvPr/>
        </p:nvCxnSpPr>
        <p:spPr>
          <a:xfrm>
            <a:off x="4800600" y="3291840"/>
            <a:ext cx="3886200" cy="0"/>
          </a:xfrm>
          <a:prstGeom prst="straightConnector1">
            <a:avLst/>
          </a:prstGeom>
          <a:noFill/>
          <a:ln cap="flat" cmpd="sng" w="12700">
            <a:solidFill>
              <a:srgbClr val="1E293B"/>
            </a:solidFill>
            <a:prstDash val="solid"/>
            <a:round/>
            <a:headEnd len="sm" w="sm" type="none"/>
            <a:tailEnd len="sm" w="sm" type="none"/>
          </a:ln>
        </p:spPr>
      </p:cxnSp>
      <p:sp>
        <p:nvSpPr>
          <p:cNvPr id="396" name="Google Shape;396;p14"/>
          <p:cNvSpPr/>
          <p:nvPr/>
        </p:nvSpPr>
        <p:spPr>
          <a:xfrm>
            <a:off x="5001768" y="3401568"/>
            <a:ext cx="3483864" cy="110642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DB_HOST=localhost</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DB_PORT=5432</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050"/>
              <a:buFont typeface="Courier New"/>
              <a:buNone/>
            </a:pPr>
            <a:r>
              <a:rPr b="0" i="0" lang="en-US" sz="1050" u="none" cap="none" strike="noStrike">
                <a:solidFill>
                  <a:srgbClr val="64748B"/>
                </a:solidFill>
                <a:latin typeface="Courier New"/>
                <a:ea typeface="Courier New"/>
                <a:cs typeface="Courier New"/>
                <a:sym typeface="Courier New"/>
              </a:rPr>
              <a:t>~</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 INSERT --            2,13  All</a:t>
            </a:r>
            <a:endParaRPr b="0" i="0" sz="1050" u="none" cap="none" strike="noStrike">
              <a:solidFill>
                <a:schemeClr val="dk1"/>
              </a:solidFill>
              <a:latin typeface="Calibri"/>
              <a:ea typeface="Calibri"/>
              <a:cs typeface="Calibri"/>
              <a:sym typeface="Calibri"/>
            </a:endParaRPr>
          </a:p>
        </p:txBody>
      </p:sp>
      <p:sp>
        <p:nvSpPr>
          <p:cNvPr id="397" name="Google Shape;397;p14"/>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398" name="Google Shape;398;p14"/>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1 · Filesystem</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15"/>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Search with your fingers, not your eyes</a:t>
            </a:r>
            <a:endParaRPr b="0" i="0" sz="2900" u="none" cap="none" strike="noStrike">
              <a:solidFill>
                <a:schemeClr val="dk1"/>
              </a:solidFill>
              <a:latin typeface="Calibri"/>
              <a:ea typeface="Calibri"/>
              <a:cs typeface="Calibri"/>
              <a:sym typeface="Calibri"/>
            </a:endParaRPr>
          </a:p>
        </p:txBody>
      </p:sp>
      <p:sp>
        <p:nvSpPr>
          <p:cNvPr id="405" name="Google Shape;405;p15"/>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06" name="Google Shape;406;p15"/>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407" name="Google Shape;407;p15"/>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Beginners hunt with their eyes and arrow keys — vim lets you name a target and jump straight to it.</a:t>
            </a:r>
            <a:endParaRPr b="0" i="0" sz="1300" u="none" cap="none" strike="noStrike">
              <a:solidFill>
                <a:schemeClr val="dk1"/>
              </a:solidFill>
              <a:latin typeface="Calibri"/>
              <a:ea typeface="Calibri"/>
              <a:cs typeface="Calibri"/>
              <a:sym typeface="Calibri"/>
            </a:endParaRPr>
          </a:p>
        </p:txBody>
      </p:sp>
      <p:sp>
        <p:nvSpPr>
          <p:cNvPr id="408" name="Google Shape;408;p15"/>
          <p:cNvSpPr/>
          <p:nvPr/>
        </p:nvSpPr>
        <p:spPr>
          <a:xfrm>
            <a:off x="457200" y="1371600"/>
            <a:ext cx="4160520" cy="3438144"/>
          </a:xfrm>
          <a:prstGeom prst="roundRect">
            <a:avLst>
              <a:gd fmla="val 1596"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15"/>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JUMP, DON'T SCAN</a:t>
            </a:r>
            <a:endParaRPr b="0" i="0" sz="1250" u="none" cap="none" strike="noStrike">
              <a:solidFill>
                <a:schemeClr val="dk1"/>
              </a:solidFill>
              <a:latin typeface="Calibri"/>
              <a:ea typeface="Calibri"/>
              <a:cs typeface="Calibri"/>
              <a:sym typeface="Calibri"/>
            </a:endParaRPr>
          </a:p>
        </p:txBody>
      </p:sp>
      <p:sp>
        <p:nvSpPr>
          <p:cNvPr id="410" name="Google Shape;410;p15"/>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/text  ?text</a:t>
            </a:r>
            <a:endParaRPr b="0" i="0" sz="1150" u="none" cap="none" strike="noStrike">
              <a:solidFill>
                <a:schemeClr val="dk1"/>
              </a:solidFill>
              <a:latin typeface="Calibri"/>
              <a:ea typeface="Calibri"/>
              <a:cs typeface="Calibri"/>
              <a:sym typeface="Calibri"/>
            </a:endParaRPr>
          </a:p>
        </p:txBody>
      </p:sp>
      <p:sp>
        <p:nvSpPr>
          <p:cNvPr id="411" name="Google Shape;411;p15"/>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search forward / back</a:t>
            </a:r>
            <a:endParaRPr b="0" i="0" sz="1100" u="none" cap="none" strike="noStrike">
              <a:solidFill>
                <a:schemeClr val="dk1"/>
              </a:solidFill>
              <a:latin typeface="Calibri"/>
              <a:ea typeface="Calibri"/>
              <a:cs typeface="Calibri"/>
              <a:sym typeface="Calibri"/>
            </a:endParaRPr>
          </a:p>
        </p:txBody>
      </p:sp>
      <p:sp>
        <p:nvSpPr>
          <p:cNvPr id="412" name="Google Shape;412;p15"/>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n   N</a:t>
            </a:r>
            <a:endParaRPr b="0" i="0" sz="1150" u="none" cap="none" strike="noStrike">
              <a:solidFill>
                <a:schemeClr val="dk1"/>
              </a:solidFill>
              <a:latin typeface="Calibri"/>
              <a:ea typeface="Calibri"/>
              <a:cs typeface="Calibri"/>
              <a:sym typeface="Calibri"/>
            </a:endParaRPr>
          </a:p>
        </p:txBody>
      </p:sp>
      <p:sp>
        <p:nvSpPr>
          <p:cNvPr id="413" name="Google Shape;413;p15"/>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next / previous match</a:t>
            </a:r>
            <a:endParaRPr b="0" i="0" sz="1100" u="none" cap="none" strike="noStrike">
              <a:solidFill>
                <a:schemeClr val="dk1"/>
              </a:solidFill>
              <a:latin typeface="Calibri"/>
              <a:ea typeface="Calibri"/>
              <a:cs typeface="Calibri"/>
              <a:sym typeface="Calibri"/>
            </a:endParaRPr>
          </a:p>
        </p:txBody>
      </p:sp>
      <p:sp>
        <p:nvSpPr>
          <p:cNvPr id="414" name="Google Shape;414;p15"/>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   #</a:t>
            </a:r>
            <a:endParaRPr b="0" i="0" sz="1150" u="none" cap="none" strike="noStrike">
              <a:solidFill>
                <a:schemeClr val="dk1"/>
              </a:solidFill>
              <a:latin typeface="Calibri"/>
              <a:ea typeface="Calibri"/>
              <a:cs typeface="Calibri"/>
              <a:sym typeface="Calibri"/>
            </a:endParaRPr>
          </a:p>
        </p:txBody>
      </p:sp>
      <p:sp>
        <p:nvSpPr>
          <p:cNvPr id="415" name="Google Shape;415;p15"/>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search word under cursor</a:t>
            </a:r>
            <a:endParaRPr b="0" i="0" sz="1100" u="none" cap="none" strike="noStrike">
              <a:solidFill>
                <a:schemeClr val="dk1"/>
              </a:solidFill>
              <a:latin typeface="Calibri"/>
              <a:ea typeface="Calibri"/>
              <a:cs typeface="Calibri"/>
              <a:sym typeface="Calibri"/>
            </a:endParaRPr>
          </a:p>
        </p:txBody>
      </p:sp>
      <p:sp>
        <p:nvSpPr>
          <p:cNvPr id="416" name="Google Shape;416;p15"/>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f{c}   ;</a:t>
            </a:r>
            <a:endParaRPr b="0" i="0" sz="1150" u="none" cap="none" strike="noStrike">
              <a:solidFill>
                <a:schemeClr val="dk1"/>
              </a:solidFill>
              <a:latin typeface="Calibri"/>
              <a:ea typeface="Calibri"/>
              <a:cs typeface="Calibri"/>
              <a:sym typeface="Calibri"/>
            </a:endParaRPr>
          </a:p>
        </p:txBody>
      </p:sp>
      <p:sp>
        <p:nvSpPr>
          <p:cNvPr id="417" name="Google Shape;417;p15"/>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jump to char; ; repeats</a:t>
            </a:r>
            <a:endParaRPr b="0" i="0" sz="1100" u="none" cap="none" strike="noStrike">
              <a:solidFill>
                <a:schemeClr val="dk1"/>
              </a:solidFill>
              <a:latin typeface="Calibri"/>
              <a:ea typeface="Calibri"/>
              <a:cs typeface="Calibri"/>
              <a:sym typeface="Calibri"/>
            </a:endParaRPr>
          </a:p>
        </p:txBody>
      </p:sp>
      <p:sp>
        <p:nvSpPr>
          <p:cNvPr id="418" name="Google Shape;418;p15"/>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t{c}   ,</a:t>
            </a:r>
            <a:endParaRPr b="0" i="0" sz="1150" u="none" cap="none" strike="noStrike">
              <a:solidFill>
                <a:schemeClr val="dk1"/>
              </a:solidFill>
              <a:latin typeface="Calibri"/>
              <a:ea typeface="Calibri"/>
              <a:cs typeface="Calibri"/>
              <a:sym typeface="Calibri"/>
            </a:endParaRPr>
          </a:p>
        </p:txBody>
      </p:sp>
      <p:sp>
        <p:nvSpPr>
          <p:cNvPr id="419" name="Google Shape;419;p15"/>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till before char; , back</a:t>
            </a:r>
            <a:endParaRPr b="0" i="0" sz="1100" u="none" cap="none" strike="noStrike">
              <a:solidFill>
                <a:schemeClr val="dk1"/>
              </a:solidFill>
              <a:latin typeface="Calibri"/>
              <a:ea typeface="Calibri"/>
              <a:cs typeface="Calibri"/>
              <a:sym typeface="Calibri"/>
            </a:endParaRPr>
          </a:p>
        </p:txBody>
      </p:sp>
      <p:sp>
        <p:nvSpPr>
          <p:cNvPr id="420" name="Google Shape;420;p15"/>
          <p:cNvSpPr/>
          <p:nvPr/>
        </p:nvSpPr>
        <p:spPr>
          <a:xfrm>
            <a:off x="65836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w  b  e</a:t>
            </a:r>
            <a:endParaRPr b="0" i="0" sz="1150" u="none" cap="none" strike="noStrike">
              <a:solidFill>
                <a:schemeClr val="dk1"/>
              </a:solidFill>
              <a:latin typeface="Calibri"/>
              <a:ea typeface="Calibri"/>
              <a:cs typeface="Calibri"/>
              <a:sym typeface="Calibri"/>
            </a:endParaRPr>
          </a:p>
        </p:txBody>
      </p:sp>
      <p:sp>
        <p:nvSpPr>
          <p:cNvPr id="421" name="Google Shape;421;p15"/>
          <p:cNvSpPr/>
          <p:nvPr/>
        </p:nvSpPr>
        <p:spPr>
          <a:xfrm>
            <a:off x="2468880" y="391363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word: next / back / end</a:t>
            </a:r>
            <a:endParaRPr b="0" i="0" sz="1100" u="none" cap="none" strike="noStrike">
              <a:solidFill>
                <a:schemeClr val="dk1"/>
              </a:solidFill>
              <a:latin typeface="Calibri"/>
              <a:ea typeface="Calibri"/>
              <a:cs typeface="Calibri"/>
              <a:sym typeface="Calibri"/>
            </a:endParaRPr>
          </a:p>
        </p:txBody>
      </p:sp>
      <p:sp>
        <p:nvSpPr>
          <p:cNvPr id="422" name="Google Shape;422;p15"/>
          <p:cNvSpPr/>
          <p:nvPr/>
        </p:nvSpPr>
        <p:spPr>
          <a:xfrm>
            <a:off x="658368" y="431596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:42  gg  G</a:t>
            </a:r>
            <a:endParaRPr b="0" i="0" sz="1150" u="none" cap="none" strike="noStrike">
              <a:solidFill>
                <a:schemeClr val="dk1"/>
              </a:solidFill>
              <a:latin typeface="Calibri"/>
              <a:ea typeface="Calibri"/>
              <a:cs typeface="Calibri"/>
              <a:sym typeface="Calibri"/>
            </a:endParaRPr>
          </a:p>
        </p:txBody>
      </p:sp>
      <p:sp>
        <p:nvSpPr>
          <p:cNvPr id="423" name="Google Shape;423;p15"/>
          <p:cNvSpPr/>
          <p:nvPr/>
        </p:nvSpPr>
        <p:spPr>
          <a:xfrm>
            <a:off x="2468880" y="431596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go to line / top / bottom</a:t>
            </a:r>
            <a:endParaRPr b="0" i="0" sz="1100" u="none" cap="none" strike="noStrike">
              <a:solidFill>
                <a:schemeClr val="dk1"/>
              </a:solidFill>
              <a:latin typeface="Calibri"/>
              <a:ea typeface="Calibri"/>
              <a:cs typeface="Calibri"/>
              <a:sym typeface="Calibri"/>
            </a:endParaRPr>
          </a:p>
        </p:txBody>
      </p:sp>
      <p:sp>
        <p:nvSpPr>
          <p:cNvPr id="424" name="Google Shape;424;p15"/>
          <p:cNvSpPr/>
          <p:nvPr/>
        </p:nvSpPr>
        <p:spPr>
          <a:xfrm>
            <a:off x="4800600" y="1371600"/>
            <a:ext cx="3886200" cy="1417320"/>
          </a:xfrm>
          <a:prstGeom prst="roundRect">
            <a:avLst>
              <a:gd fmla="val 4516" name="adj"/>
            </a:avLst>
          </a:prstGeom>
          <a:solidFill>
            <a:srgbClr val="FFF7ED"/>
          </a:solidFill>
          <a:ln cap="flat" cmpd="sng" w="12700">
            <a:solidFill>
              <a:srgbClr val="F97316"/>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15"/>
          <p:cNvSpPr/>
          <p:nvPr/>
        </p:nvSpPr>
        <p:spPr>
          <a:xfrm>
            <a:off x="4983480" y="1481328"/>
            <a:ext cx="35661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200"/>
              <a:buFont typeface="Calibri"/>
              <a:buNone/>
            </a:pPr>
            <a:r>
              <a:rPr b="1" i="0" lang="en-US" sz="1200" u="none" cap="none" strike="noStrike">
                <a:solidFill>
                  <a:srgbClr val="C2410C"/>
                </a:solidFill>
                <a:latin typeface="Calibri"/>
                <a:ea typeface="Calibri"/>
                <a:cs typeface="Calibri"/>
                <a:sym typeface="Calibri"/>
              </a:rPr>
              <a:t>The shift: declare, don't drive</a:t>
            </a:r>
            <a:endParaRPr b="0" i="0" sz="1200" u="none" cap="none" strike="noStrike">
              <a:solidFill>
                <a:schemeClr val="dk1"/>
              </a:solidFill>
              <a:latin typeface="Calibri"/>
              <a:ea typeface="Calibri"/>
              <a:cs typeface="Calibri"/>
              <a:sym typeface="Calibri"/>
            </a:endParaRPr>
          </a:p>
        </p:txBody>
      </p:sp>
      <p:sp>
        <p:nvSpPr>
          <p:cNvPr id="426" name="Google Shape;426;p15"/>
          <p:cNvSpPr/>
          <p:nvPr/>
        </p:nvSpPr>
        <p:spPr>
          <a:xfrm>
            <a:off x="4983480" y="1783080"/>
            <a:ext cx="356616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Don't arrow over and hunt with your eyes. Name the target — a word, a character, a line — and let vim jump straight to it.</a:t>
            </a:r>
            <a:endParaRPr b="0" i="0" sz="1250" u="none" cap="none" strike="noStrike">
              <a:solidFill>
                <a:schemeClr val="dk1"/>
              </a:solidFill>
              <a:latin typeface="Calibri"/>
              <a:ea typeface="Calibri"/>
              <a:cs typeface="Calibri"/>
              <a:sym typeface="Calibri"/>
            </a:endParaRPr>
          </a:p>
        </p:txBody>
      </p:sp>
      <p:sp>
        <p:nvSpPr>
          <p:cNvPr id="427" name="Google Shape;427;p15"/>
          <p:cNvSpPr/>
          <p:nvPr/>
        </p:nvSpPr>
        <p:spPr>
          <a:xfrm>
            <a:off x="4800600" y="2926080"/>
            <a:ext cx="3886200" cy="1691640"/>
          </a:xfrm>
          <a:prstGeom prst="roundRect">
            <a:avLst>
              <a:gd fmla="val 432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15"/>
          <p:cNvSpPr/>
          <p:nvPr/>
        </p:nvSpPr>
        <p:spPr>
          <a:xfrm>
            <a:off x="4983480" y="307238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15"/>
          <p:cNvSpPr/>
          <p:nvPr/>
        </p:nvSpPr>
        <p:spPr>
          <a:xfrm>
            <a:off x="5129784" y="307238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15"/>
          <p:cNvSpPr/>
          <p:nvPr/>
        </p:nvSpPr>
        <p:spPr>
          <a:xfrm>
            <a:off x="5276088" y="307238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15"/>
          <p:cNvSpPr/>
          <p:nvPr/>
        </p:nvSpPr>
        <p:spPr>
          <a:xfrm>
            <a:off x="5440680" y="299923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vim nginx.conf</a:t>
            </a:r>
            <a:endParaRPr b="0" i="0" sz="900" u="none" cap="none" strike="noStrike">
              <a:solidFill>
                <a:schemeClr val="dk1"/>
              </a:solidFill>
              <a:latin typeface="Calibri"/>
              <a:ea typeface="Calibri"/>
              <a:cs typeface="Calibri"/>
              <a:sym typeface="Calibri"/>
            </a:endParaRPr>
          </a:p>
        </p:txBody>
      </p:sp>
      <p:cxnSp>
        <p:nvCxnSpPr>
          <p:cNvPr id="432" name="Google Shape;432;p15"/>
          <p:cNvCxnSpPr/>
          <p:nvPr/>
        </p:nvCxnSpPr>
        <p:spPr>
          <a:xfrm>
            <a:off x="4800600" y="3291840"/>
            <a:ext cx="3886200" cy="0"/>
          </a:xfrm>
          <a:prstGeom prst="straightConnector1">
            <a:avLst/>
          </a:prstGeom>
          <a:noFill/>
          <a:ln cap="flat" cmpd="sng" w="12700">
            <a:solidFill>
              <a:srgbClr val="1E293B"/>
            </a:solidFill>
            <a:prstDash val="solid"/>
            <a:round/>
            <a:headEnd len="sm" w="sm" type="none"/>
            <a:tailEnd len="sm" w="sm" type="none"/>
          </a:ln>
        </p:spPr>
      </p:cxnSp>
      <p:sp>
        <p:nvSpPr>
          <p:cNvPr id="433" name="Google Shape;433;p15"/>
          <p:cNvSpPr/>
          <p:nvPr/>
        </p:nvSpPr>
        <p:spPr>
          <a:xfrm>
            <a:off x="5001768" y="3401568"/>
            <a:ext cx="3483864" cy="110642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server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  listen 443 ssl;   &lt;- /443 jumps</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050"/>
              <a:buFont typeface="Courier New"/>
              <a:buNone/>
            </a:pPr>
            <a:r>
              <a:rPr b="0" i="0" lang="en-US" sz="1050" u="none" cap="none" strike="noStrike">
                <a:solidFill>
                  <a:srgbClr val="64748B"/>
                </a:solidFill>
                <a:latin typeface="Courier New"/>
                <a:ea typeface="Courier New"/>
                <a:cs typeface="Courier New"/>
                <a:sym typeface="Courier New"/>
              </a:rPr>
              <a:t>~</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/443                  2,3  All</a:t>
            </a:r>
            <a:endParaRPr b="0" i="0" sz="1050" u="none" cap="none" strike="noStrike">
              <a:solidFill>
                <a:schemeClr val="dk1"/>
              </a:solidFill>
              <a:latin typeface="Calibri"/>
              <a:ea typeface="Calibri"/>
              <a:cs typeface="Calibri"/>
              <a:sym typeface="Calibri"/>
            </a:endParaRPr>
          </a:p>
        </p:txBody>
      </p:sp>
      <p:sp>
        <p:nvSpPr>
          <p:cNvPr id="434" name="Google Shape;434;p15"/>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435" name="Google Shape;435;p15"/>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1 · Filesystem</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40" name="Shape 440"/>
        <p:cNvGrpSpPr/>
        <p:nvPr/>
      </p:nvGrpSpPr>
      <p:grpSpPr>
        <a:xfrm>
          <a:off x="0" y="0"/>
          <a:ext cx="0" cy="0"/>
          <a:chOff x="0" y="0"/>
          <a:chExt cx="0" cy="0"/>
        </a:xfrm>
      </p:grpSpPr>
      <p:sp>
        <p:nvSpPr>
          <p:cNvPr id="441" name="Google Shape;441;p16"/>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nano — the friendly fallback</a:t>
            </a:r>
            <a:endParaRPr b="0" i="0" sz="2900" u="none" cap="none" strike="noStrike">
              <a:solidFill>
                <a:schemeClr val="dk1"/>
              </a:solidFill>
              <a:latin typeface="Calibri"/>
              <a:ea typeface="Calibri"/>
              <a:cs typeface="Calibri"/>
              <a:sym typeface="Calibri"/>
            </a:endParaRPr>
          </a:p>
        </p:txBody>
      </p:sp>
      <p:sp>
        <p:nvSpPr>
          <p:cNvPr id="442" name="Google Shape;442;p16"/>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43" name="Google Shape;443;p16"/>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444" name="Google Shape;444;p16"/>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Quick one-line config edit and you don't want to think? nano shows its shortcuts on screen.</a:t>
            </a:r>
            <a:endParaRPr b="0" i="0" sz="1300" u="none" cap="none" strike="noStrike">
              <a:solidFill>
                <a:schemeClr val="dk1"/>
              </a:solidFill>
              <a:latin typeface="Calibri"/>
              <a:ea typeface="Calibri"/>
              <a:cs typeface="Calibri"/>
              <a:sym typeface="Calibri"/>
            </a:endParaRPr>
          </a:p>
        </p:txBody>
      </p:sp>
      <p:sp>
        <p:nvSpPr>
          <p:cNvPr id="445" name="Google Shape;445;p16"/>
          <p:cNvSpPr/>
          <p:nvPr/>
        </p:nvSpPr>
        <p:spPr>
          <a:xfrm>
            <a:off x="457200" y="1371600"/>
            <a:ext cx="4160520" cy="2633472"/>
          </a:xfrm>
          <a:prstGeom prst="roundRect">
            <a:avLst>
              <a:gd fmla="val 2083"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16"/>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NANO KEYS  (^ = Ctrl)</a:t>
            </a:r>
            <a:endParaRPr b="0" i="0" sz="1250" u="none" cap="none" strike="noStrike">
              <a:solidFill>
                <a:schemeClr val="dk1"/>
              </a:solidFill>
              <a:latin typeface="Calibri"/>
              <a:ea typeface="Calibri"/>
              <a:cs typeface="Calibri"/>
              <a:sym typeface="Calibri"/>
            </a:endParaRPr>
          </a:p>
        </p:txBody>
      </p:sp>
      <p:sp>
        <p:nvSpPr>
          <p:cNvPr id="447" name="Google Shape;447;p16"/>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nano f</a:t>
            </a:r>
            <a:endParaRPr b="0" i="0" sz="1150" u="none" cap="none" strike="noStrike">
              <a:solidFill>
                <a:schemeClr val="dk1"/>
              </a:solidFill>
              <a:latin typeface="Calibri"/>
              <a:ea typeface="Calibri"/>
              <a:cs typeface="Calibri"/>
              <a:sym typeface="Calibri"/>
            </a:endParaRPr>
          </a:p>
        </p:txBody>
      </p:sp>
      <p:sp>
        <p:nvSpPr>
          <p:cNvPr id="448" name="Google Shape;448;p16"/>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open/create file f</a:t>
            </a:r>
            <a:endParaRPr b="0" i="0" sz="1100" u="none" cap="none" strike="noStrike">
              <a:solidFill>
                <a:schemeClr val="dk1"/>
              </a:solidFill>
              <a:latin typeface="Calibri"/>
              <a:ea typeface="Calibri"/>
              <a:cs typeface="Calibri"/>
              <a:sym typeface="Calibri"/>
            </a:endParaRPr>
          </a:p>
        </p:txBody>
      </p:sp>
      <p:sp>
        <p:nvSpPr>
          <p:cNvPr id="449" name="Google Shape;449;p16"/>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^O</a:t>
            </a:r>
            <a:endParaRPr b="0" i="0" sz="1150" u="none" cap="none" strike="noStrike">
              <a:solidFill>
                <a:schemeClr val="dk1"/>
              </a:solidFill>
              <a:latin typeface="Calibri"/>
              <a:ea typeface="Calibri"/>
              <a:cs typeface="Calibri"/>
              <a:sym typeface="Calibri"/>
            </a:endParaRPr>
          </a:p>
        </p:txBody>
      </p:sp>
      <p:sp>
        <p:nvSpPr>
          <p:cNvPr id="450" name="Google Shape;450;p16"/>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write Out (save)</a:t>
            </a:r>
            <a:endParaRPr b="0" i="0" sz="1100" u="none" cap="none" strike="noStrike">
              <a:solidFill>
                <a:schemeClr val="dk1"/>
              </a:solidFill>
              <a:latin typeface="Calibri"/>
              <a:ea typeface="Calibri"/>
              <a:cs typeface="Calibri"/>
              <a:sym typeface="Calibri"/>
            </a:endParaRPr>
          </a:p>
        </p:txBody>
      </p:sp>
      <p:sp>
        <p:nvSpPr>
          <p:cNvPr id="451" name="Google Shape;451;p16"/>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^X</a:t>
            </a:r>
            <a:endParaRPr b="0" i="0" sz="1150" u="none" cap="none" strike="noStrike">
              <a:solidFill>
                <a:schemeClr val="dk1"/>
              </a:solidFill>
              <a:latin typeface="Calibri"/>
              <a:ea typeface="Calibri"/>
              <a:cs typeface="Calibri"/>
              <a:sym typeface="Calibri"/>
            </a:endParaRPr>
          </a:p>
        </p:txBody>
      </p:sp>
      <p:sp>
        <p:nvSpPr>
          <p:cNvPr id="452" name="Google Shape;452;p16"/>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exit</a:t>
            </a:r>
            <a:endParaRPr b="0" i="0" sz="1100" u="none" cap="none" strike="noStrike">
              <a:solidFill>
                <a:schemeClr val="dk1"/>
              </a:solidFill>
              <a:latin typeface="Calibri"/>
              <a:ea typeface="Calibri"/>
              <a:cs typeface="Calibri"/>
              <a:sym typeface="Calibri"/>
            </a:endParaRPr>
          </a:p>
        </p:txBody>
      </p:sp>
      <p:sp>
        <p:nvSpPr>
          <p:cNvPr id="453" name="Google Shape;453;p16"/>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^W</a:t>
            </a:r>
            <a:endParaRPr b="0" i="0" sz="1150" u="none" cap="none" strike="noStrike">
              <a:solidFill>
                <a:schemeClr val="dk1"/>
              </a:solidFill>
              <a:latin typeface="Calibri"/>
              <a:ea typeface="Calibri"/>
              <a:cs typeface="Calibri"/>
              <a:sym typeface="Calibri"/>
            </a:endParaRPr>
          </a:p>
        </p:txBody>
      </p:sp>
      <p:sp>
        <p:nvSpPr>
          <p:cNvPr id="454" name="Google Shape;454;p16"/>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where is (search)</a:t>
            </a:r>
            <a:endParaRPr b="0" i="0" sz="1100" u="none" cap="none" strike="noStrike">
              <a:solidFill>
                <a:schemeClr val="dk1"/>
              </a:solidFill>
              <a:latin typeface="Calibri"/>
              <a:ea typeface="Calibri"/>
              <a:cs typeface="Calibri"/>
              <a:sym typeface="Calibri"/>
            </a:endParaRPr>
          </a:p>
        </p:txBody>
      </p:sp>
      <p:sp>
        <p:nvSpPr>
          <p:cNvPr id="455" name="Google Shape;455;p16"/>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^K  ^U</a:t>
            </a:r>
            <a:endParaRPr b="0" i="0" sz="1150" u="none" cap="none" strike="noStrike">
              <a:solidFill>
                <a:schemeClr val="dk1"/>
              </a:solidFill>
              <a:latin typeface="Calibri"/>
              <a:ea typeface="Calibri"/>
              <a:cs typeface="Calibri"/>
              <a:sym typeface="Calibri"/>
            </a:endParaRPr>
          </a:p>
        </p:txBody>
      </p:sp>
      <p:sp>
        <p:nvSpPr>
          <p:cNvPr id="456" name="Google Shape;456;p16"/>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cut line / paste (uncut)</a:t>
            </a:r>
            <a:endParaRPr b="0" i="0" sz="1100" u="none" cap="none" strike="noStrike">
              <a:solidFill>
                <a:schemeClr val="dk1"/>
              </a:solidFill>
              <a:latin typeface="Calibri"/>
              <a:ea typeface="Calibri"/>
              <a:cs typeface="Calibri"/>
              <a:sym typeface="Calibri"/>
            </a:endParaRPr>
          </a:p>
        </p:txBody>
      </p:sp>
      <p:sp>
        <p:nvSpPr>
          <p:cNvPr id="457" name="Google Shape;457;p16"/>
          <p:cNvSpPr/>
          <p:nvPr/>
        </p:nvSpPr>
        <p:spPr>
          <a:xfrm>
            <a:off x="4800600" y="1371600"/>
            <a:ext cx="3886200" cy="1554480"/>
          </a:xfrm>
          <a:prstGeom prst="roundRect">
            <a:avLst>
              <a:gd fmla="val 4118" name="adj"/>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16"/>
          <p:cNvSpPr/>
          <p:nvPr/>
        </p:nvSpPr>
        <p:spPr>
          <a:xfrm>
            <a:off x="4983480" y="1481328"/>
            <a:ext cx="35661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00"/>
              <a:buFont typeface="Calibri"/>
              <a:buNone/>
            </a:pPr>
            <a:r>
              <a:rPr b="1" i="0" lang="en-US" sz="1200" u="none" cap="none" strike="noStrike">
                <a:solidFill>
                  <a:srgbClr val="0F766E"/>
                </a:solidFill>
                <a:latin typeface="Calibri"/>
                <a:ea typeface="Calibri"/>
                <a:cs typeface="Calibri"/>
                <a:sym typeface="Calibri"/>
              </a:rPr>
              <a:t>Which editor, when?</a:t>
            </a:r>
            <a:endParaRPr b="0" i="0" sz="1200" u="none" cap="none" strike="noStrike">
              <a:solidFill>
                <a:schemeClr val="dk1"/>
              </a:solidFill>
              <a:latin typeface="Calibri"/>
              <a:ea typeface="Calibri"/>
              <a:cs typeface="Calibri"/>
              <a:sym typeface="Calibri"/>
            </a:endParaRPr>
          </a:p>
        </p:txBody>
      </p:sp>
      <p:sp>
        <p:nvSpPr>
          <p:cNvPr id="459" name="Google Shape;459;p16"/>
          <p:cNvSpPr/>
          <p:nvPr/>
        </p:nvSpPr>
        <p:spPr>
          <a:xfrm>
            <a:off x="4983480" y="1792224"/>
            <a:ext cx="356616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766E"/>
              </a:buClr>
              <a:buSzPts val="1200"/>
              <a:buFont typeface="Calibri"/>
              <a:buNone/>
            </a:pPr>
            <a:r>
              <a:rPr b="1" i="0" lang="en-US" sz="1200" u="none" cap="none" strike="noStrike">
                <a:solidFill>
                  <a:srgbClr val="0F766E"/>
                </a:solidFill>
                <a:latin typeface="Calibri"/>
                <a:ea typeface="Calibri"/>
                <a:cs typeface="Calibri"/>
                <a:sym typeface="Calibri"/>
              </a:rPr>
              <a:t>nano</a:t>
            </a:r>
            <a:r>
              <a:rPr b="0" i="0" lang="en-US" sz="1200" u="none" cap="none" strike="noStrike">
                <a:solidFill>
                  <a:srgbClr val="1E293B"/>
                </a:solidFill>
                <a:latin typeface="Calibri"/>
                <a:ea typeface="Calibri"/>
                <a:cs typeface="Calibri"/>
                <a:sym typeface="Calibri"/>
              </a:rPr>
              <a:t> — quick edits, beginners, when shortcuts-on-screen help.</a:t>
            </a:r>
            <a:endParaRPr b="0" i="0" sz="1200" u="none" cap="none" strike="noStrike">
              <a:solidFill>
                <a:schemeClr val="dk1"/>
              </a:solidFill>
              <a:latin typeface="Calibri"/>
              <a:ea typeface="Calibri"/>
              <a:cs typeface="Calibri"/>
              <a:sym typeface="Calibri"/>
            </a:endParaRPr>
          </a:p>
        </p:txBody>
      </p:sp>
      <p:sp>
        <p:nvSpPr>
          <p:cNvPr id="460" name="Google Shape;460;p16"/>
          <p:cNvSpPr/>
          <p:nvPr/>
        </p:nvSpPr>
        <p:spPr>
          <a:xfrm>
            <a:off x="4983480" y="2331720"/>
            <a:ext cx="3566160"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2410C"/>
              </a:buClr>
              <a:buSzPts val="1200"/>
              <a:buFont typeface="Calibri"/>
              <a:buNone/>
            </a:pPr>
            <a:r>
              <a:rPr b="1" i="0" lang="en-US" sz="1200" u="none" cap="none" strike="noStrike">
                <a:solidFill>
                  <a:srgbClr val="C2410C"/>
                </a:solidFill>
                <a:latin typeface="Calibri"/>
                <a:ea typeface="Calibri"/>
                <a:cs typeface="Calibri"/>
                <a:sym typeface="Calibri"/>
              </a:rPr>
              <a:t>vim</a:t>
            </a:r>
            <a:r>
              <a:rPr b="0" i="0" lang="en-US" sz="1200" u="none" cap="none" strike="noStrike">
                <a:solidFill>
                  <a:srgbClr val="1E293B"/>
                </a:solidFill>
                <a:latin typeface="Calibri"/>
                <a:ea typeface="Calibri"/>
                <a:cs typeface="Calibri"/>
                <a:sym typeface="Calibri"/>
              </a:rPr>
              <a:t> — the only one guaranteed present; worth real fluency over time.</a:t>
            </a:r>
            <a:endParaRPr b="0" i="0" sz="1200" u="none" cap="none" strike="noStrike">
              <a:solidFill>
                <a:schemeClr val="dk1"/>
              </a:solidFill>
              <a:latin typeface="Calibri"/>
              <a:ea typeface="Calibri"/>
              <a:cs typeface="Calibri"/>
              <a:sym typeface="Calibri"/>
            </a:endParaRPr>
          </a:p>
        </p:txBody>
      </p:sp>
      <p:sp>
        <p:nvSpPr>
          <p:cNvPr id="461" name="Google Shape;461;p16"/>
          <p:cNvSpPr/>
          <p:nvPr/>
        </p:nvSpPr>
        <p:spPr>
          <a:xfrm>
            <a:off x="4800600" y="3063240"/>
            <a:ext cx="3886200" cy="1554480"/>
          </a:xfrm>
          <a:prstGeom prst="roundRect">
            <a:avLst>
              <a:gd fmla="val 4706"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16"/>
          <p:cNvSpPr/>
          <p:nvPr/>
        </p:nvSpPr>
        <p:spPr>
          <a:xfrm>
            <a:off x="4983480" y="320954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p16"/>
          <p:cNvSpPr/>
          <p:nvPr/>
        </p:nvSpPr>
        <p:spPr>
          <a:xfrm>
            <a:off x="5129784" y="320954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p16"/>
          <p:cNvSpPr/>
          <p:nvPr/>
        </p:nvSpPr>
        <p:spPr>
          <a:xfrm>
            <a:off x="5276088" y="320954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5" name="Google Shape;465;p16"/>
          <p:cNvSpPr/>
          <p:nvPr/>
        </p:nvSpPr>
        <p:spPr>
          <a:xfrm>
            <a:off x="5440680" y="313639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nano app.env</a:t>
            </a:r>
            <a:endParaRPr b="0" i="0" sz="900" u="none" cap="none" strike="noStrike">
              <a:solidFill>
                <a:schemeClr val="dk1"/>
              </a:solidFill>
              <a:latin typeface="Calibri"/>
              <a:ea typeface="Calibri"/>
              <a:cs typeface="Calibri"/>
              <a:sym typeface="Calibri"/>
            </a:endParaRPr>
          </a:p>
        </p:txBody>
      </p:sp>
      <p:cxnSp>
        <p:nvCxnSpPr>
          <p:cNvPr id="466" name="Google Shape;466;p16"/>
          <p:cNvCxnSpPr/>
          <p:nvPr/>
        </p:nvCxnSpPr>
        <p:spPr>
          <a:xfrm>
            <a:off x="4800600" y="3429000"/>
            <a:ext cx="3886200" cy="0"/>
          </a:xfrm>
          <a:prstGeom prst="straightConnector1">
            <a:avLst/>
          </a:prstGeom>
          <a:noFill/>
          <a:ln cap="flat" cmpd="sng" w="12700">
            <a:solidFill>
              <a:srgbClr val="1E293B"/>
            </a:solidFill>
            <a:prstDash val="solid"/>
            <a:round/>
            <a:headEnd len="sm" w="sm" type="none"/>
            <a:tailEnd len="sm" w="sm" type="none"/>
          </a:ln>
        </p:spPr>
      </p:cxnSp>
      <p:sp>
        <p:nvSpPr>
          <p:cNvPr id="467" name="Google Shape;467;p16"/>
          <p:cNvSpPr/>
          <p:nvPr/>
        </p:nvSpPr>
        <p:spPr>
          <a:xfrm>
            <a:off x="5001768" y="3538728"/>
            <a:ext cx="3483864" cy="96926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DB_HOST=localhost</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^G Help   ^O Write Out   ^W Where</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^X Exit   ^K Cut         ^U Paste</a:t>
            </a:r>
            <a:endParaRPr b="0" i="0" sz="1050" u="none" cap="none" strike="noStrike">
              <a:solidFill>
                <a:schemeClr val="dk1"/>
              </a:solidFill>
              <a:latin typeface="Calibri"/>
              <a:ea typeface="Calibri"/>
              <a:cs typeface="Calibri"/>
              <a:sym typeface="Calibri"/>
            </a:endParaRPr>
          </a:p>
        </p:txBody>
      </p:sp>
      <p:sp>
        <p:nvSpPr>
          <p:cNvPr id="468" name="Google Shape;468;p16"/>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469" name="Google Shape;469;p16"/>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1 · Filesystem</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74" name="Shape 474"/>
        <p:cNvGrpSpPr/>
        <p:nvPr/>
      </p:nvGrpSpPr>
      <p:grpSpPr>
        <a:xfrm>
          <a:off x="0" y="0"/>
          <a:ext cx="0" cy="0"/>
          <a:chOff x="0" y="0"/>
          <a:chExt cx="0" cy="0"/>
        </a:xfrm>
      </p:grpSpPr>
      <p:sp>
        <p:nvSpPr>
          <p:cNvPr id="475" name="Google Shape;475;p17"/>
          <p:cNvSpPr/>
          <p:nvPr/>
        </p:nvSpPr>
        <p:spPr>
          <a:xfrm>
            <a:off x="640080" y="960120"/>
            <a:ext cx="3657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97316"/>
              </a:buClr>
              <a:buSzPts val="1700"/>
              <a:buFont typeface="Calibri"/>
              <a:buNone/>
            </a:pPr>
            <a:r>
              <a:rPr b="1" i="0" lang="en-US" sz="1700" u="none" cap="none" strike="noStrike">
                <a:solidFill>
                  <a:srgbClr val="F97316"/>
                </a:solidFill>
                <a:latin typeface="Calibri"/>
                <a:ea typeface="Calibri"/>
                <a:cs typeface="Calibri"/>
                <a:sym typeface="Calibri"/>
              </a:rPr>
              <a:t>DAY 2</a:t>
            </a:r>
            <a:endParaRPr b="0" i="0" sz="1700" u="none" cap="none" strike="noStrike">
              <a:solidFill>
                <a:schemeClr val="dk1"/>
              </a:solidFill>
              <a:latin typeface="Calibri"/>
              <a:ea typeface="Calibri"/>
              <a:cs typeface="Calibri"/>
              <a:sym typeface="Calibri"/>
            </a:endParaRPr>
          </a:p>
        </p:txBody>
      </p:sp>
      <p:sp>
        <p:nvSpPr>
          <p:cNvPr id="476" name="Google Shape;476;p17"/>
          <p:cNvSpPr/>
          <p:nvPr/>
        </p:nvSpPr>
        <p:spPr>
          <a:xfrm>
            <a:off x="640080" y="1417320"/>
            <a:ext cx="676656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900"/>
              <a:buFont typeface="Bookman Old Style"/>
              <a:buNone/>
            </a:pPr>
            <a:r>
              <a:rPr b="1" i="0" lang="en-US" sz="3900" u="none" cap="none" strike="noStrike">
                <a:solidFill>
                  <a:srgbClr val="FFFFFF"/>
                </a:solidFill>
                <a:latin typeface="Bookman Old Style"/>
                <a:ea typeface="Bookman Old Style"/>
                <a:cs typeface="Bookman Old Style"/>
                <a:sym typeface="Bookman Old Style"/>
              </a:rPr>
              <a:t>Users, Groups &amp; Permissions</a:t>
            </a:r>
            <a:endParaRPr b="0" i="0" sz="3900" u="none" cap="none" strike="noStrike">
              <a:solidFill>
                <a:schemeClr val="dk1"/>
              </a:solidFill>
              <a:latin typeface="Calibri"/>
              <a:ea typeface="Calibri"/>
              <a:cs typeface="Calibri"/>
              <a:sym typeface="Calibri"/>
            </a:endParaRPr>
          </a:p>
        </p:txBody>
      </p:sp>
      <p:sp>
        <p:nvSpPr>
          <p:cNvPr id="477" name="Google Shape;477;p17"/>
          <p:cNvSpPr/>
          <p:nvPr/>
        </p:nvSpPr>
        <p:spPr>
          <a:xfrm>
            <a:off x="658368" y="2487168"/>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500"/>
              <a:buFont typeface="Calibri"/>
              <a:buNone/>
            </a:pPr>
            <a:r>
              <a:rPr b="0" i="1" lang="en-US" sz="1500" u="none" cap="none" strike="noStrike">
                <a:solidFill>
                  <a:srgbClr val="94A3B8"/>
                </a:solidFill>
                <a:latin typeface="Calibri"/>
                <a:ea typeface="Calibri"/>
                <a:cs typeface="Calibri"/>
                <a:sym typeface="Calibri"/>
              </a:rPr>
              <a:t>Who is allowed to do what — the foundation of every security decision on the box.</a:t>
            </a:r>
            <a:endParaRPr b="0" i="0" sz="1500" u="none" cap="none" strike="noStrike">
              <a:solidFill>
                <a:schemeClr val="dk1"/>
              </a:solidFill>
              <a:latin typeface="Calibri"/>
              <a:ea typeface="Calibri"/>
              <a:cs typeface="Calibri"/>
              <a:sym typeface="Calibri"/>
            </a:endParaRPr>
          </a:p>
        </p:txBody>
      </p:sp>
      <p:sp>
        <p:nvSpPr>
          <p:cNvPr id="478" name="Google Shape;478;p17"/>
          <p:cNvSpPr/>
          <p:nvPr/>
        </p:nvSpPr>
        <p:spPr>
          <a:xfrm>
            <a:off x="7315200" y="914400"/>
            <a:ext cx="1280160" cy="1280160"/>
          </a:xfrm>
          <a:prstGeom prst="ellipse">
            <a:avLst/>
          </a:prstGeom>
          <a:solidFill>
            <a:srgbClr val="1E293B"/>
          </a:solidFill>
          <a:ln cap="flat" cmpd="sng" w="1905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79" name="Google Shape;479;p17"/>
          <p:cNvPicPr preferRelativeResize="0"/>
          <p:nvPr/>
        </p:nvPicPr>
        <p:blipFill rotWithShape="1">
          <a:blip r:embed="rId3">
            <a:alphaModFix/>
          </a:blip>
          <a:srcRect b="0" l="0" r="0" t="0"/>
          <a:stretch/>
        </p:blipFill>
        <p:spPr>
          <a:xfrm>
            <a:off x="7680960" y="1280160"/>
            <a:ext cx="548640" cy="548640"/>
          </a:xfrm>
          <a:prstGeom prst="rect">
            <a:avLst/>
          </a:prstGeom>
          <a:noFill/>
          <a:ln>
            <a:noFill/>
          </a:ln>
        </p:spPr>
      </p:pic>
      <p:sp>
        <p:nvSpPr>
          <p:cNvPr id="480" name="Google Shape;480;p17"/>
          <p:cNvSpPr/>
          <p:nvPr/>
        </p:nvSpPr>
        <p:spPr>
          <a:xfrm>
            <a:off x="640080" y="3383280"/>
            <a:ext cx="713232"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17"/>
          <p:cNvSpPr/>
          <p:nvPr/>
        </p:nvSpPr>
        <p:spPr>
          <a:xfrm>
            <a:off x="640080" y="3383280"/>
            <a:ext cx="71323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users</a:t>
            </a:r>
            <a:endParaRPr b="0" i="0" sz="1250" u="none" cap="none" strike="noStrike">
              <a:solidFill>
                <a:schemeClr val="dk1"/>
              </a:solidFill>
              <a:latin typeface="Calibri"/>
              <a:ea typeface="Calibri"/>
              <a:cs typeface="Calibri"/>
              <a:sym typeface="Calibri"/>
            </a:endParaRPr>
          </a:p>
        </p:txBody>
      </p:sp>
      <p:sp>
        <p:nvSpPr>
          <p:cNvPr id="482" name="Google Shape;482;p17"/>
          <p:cNvSpPr/>
          <p:nvPr/>
        </p:nvSpPr>
        <p:spPr>
          <a:xfrm>
            <a:off x="1517904" y="3383280"/>
            <a:ext cx="797357"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17"/>
          <p:cNvSpPr/>
          <p:nvPr/>
        </p:nvSpPr>
        <p:spPr>
          <a:xfrm>
            <a:off x="1517904" y="3383280"/>
            <a:ext cx="797357"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groups</a:t>
            </a:r>
            <a:endParaRPr b="0" i="0" sz="1250" u="none" cap="none" strike="noStrike">
              <a:solidFill>
                <a:schemeClr val="dk1"/>
              </a:solidFill>
              <a:latin typeface="Calibri"/>
              <a:ea typeface="Calibri"/>
              <a:cs typeface="Calibri"/>
              <a:sym typeface="Calibri"/>
            </a:endParaRPr>
          </a:p>
        </p:txBody>
      </p:sp>
      <p:sp>
        <p:nvSpPr>
          <p:cNvPr id="484" name="Google Shape;484;p17"/>
          <p:cNvSpPr/>
          <p:nvPr/>
        </p:nvSpPr>
        <p:spPr>
          <a:xfrm>
            <a:off x="2479853" y="3383280"/>
            <a:ext cx="1049731"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17"/>
          <p:cNvSpPr/>
          <p:nvPr/>
        </p:nvSpPr>
        <p:spPr>
          <a:xfrm>
            <a:off x="2479853" y="3383280"/>
            <a:ext cx="1049731"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ownership</a:t>
            </a:r>
            <a:endParaRPr b="0" i="0" sz="1250" u="none" cap="none" strike="noStrike">
              <a:solidFill>
                <a:schemeClr val="dk1"/>
              </a:solidFill>
              <a:latin typeface="Calibri"/>
              <a:ea typeface="Calibri"/>
              <a:cs typeface="Calibri"/>
              <a:sym typeface="Calibri"/>
            </a:endParaRPr>
          </a:p>
        </p:txBody>
      </p:sp>
      <p:sp>
        <p:nvSpPr>
          <p:cNvPr id="486" name="Google Shape;486;p17"/>
          <p:cNvSpPr/>
          <p:nvPr/>
        </p:nvSpPr>
        <p:spPr>
          <a:xfrm>
            <a:off x="3694176" y="3383280"/>
            <a:ext cx="713232"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7" name="Google Shape;487;p17"/>
          <p:cNvSpPr/>
          <p:nvPr/>
        </p:nvSpPr>
        <p:spPr>
          <a:xfrm>
            <a:off x="3694176" y="3383280"/>
            <a:ext cx="71323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chmod</a:t>
            </a:r>
            <a:endParaRPr b="0" i="0" sz="1250" u="none" cap="none" strike="noStrike">
              <a:solidFill>
                <a:schemeClr val="dk1"/>
              </a:solidFill>
              <a:latin typeface="Calibri"/>
              <a:ea typeface="Calibri"/>
              <a:cs typeface="Calibri"/>
              <a:sym typeface="Calibri"/>
            </a:endParaRPr>
          </a:p>
        </p:txBody>
      </p:sp>
      <p:sp>
        <p:nvSpPr>
          <p:cNvPr id="488" name="Google Shape;488;p17"/>
          <p:cNvSpPr/>
          <p:nvPr/>
        </p:nvSpPr>
        <p:spPr>
          <a:xfrm>
            <a:off x="4572000" y="3383280"/>
            <a:ext cx="713232"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9" name="Google Shape;489;p17"/>
          <p:cNvSpPr/>
          <p:nvPr/>
        </p:nvSpPr>
        <p:spPr>
          <a:xfrm>
            <a:off x="4572000" y="3383280"/>
            <a:ext cx="71323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chown</a:t>
            </a:r>
            <a:endParaRPr b="0" i="0" sz="1250" u="none" cap="none" strike="noStrike">
              <a:solidFill>
                <a:schemeClr val="dk1"/>
              </a:solidFill>
              <a:latin typeface="Calibri"/>
              <a:ea typeface="Calibri"/>
              <a:cs typeface="Calibri"/>
              <a:sym typeface="Calibri"/>
            </a:endParaRPr>
          </a:p>
        </p:txBody>
      </p:sp>
      <p:sp>
        <p:nvSpPr>
          <p:cNvPr id="490" name="Google Shape;490;p17"/>
          <p:cNvSpPr/>
          <p:nvPr/>
        </p:nvSpPr>
        <p:spPr>
          <a:xfrm>
            <a:off x="5449824" y="3383280"/>
            <a:ext cx="1302106"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17"/>
          <p:cNvSpPr/>
          <p:nvPr/>
        </p:nvSpPr>
        <p:spPr>
          <a:xfrm>
            <a:off x="5449824" y="3383280"/>
            <a:ext cx="130210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special bits</a:t>
            </a:r>
            <a:endParaRPr b="0" i="0" sz="1250" u="none" cap="none" strike="noStrike">
              <a:solidFill>
                <a:schemeClr val="dk1"/>
              </a:solidFill>
              <a:latin typeface="Calibri"/>
              <a:ea typeface="Calibri"/>
              <a:cs typeface="Calibri"/>
              <a:sym typeface="Calibri"/>
            </a:endParaRPr>
          </a:p>
        </p:txBody>
      </p:sp>
      <p:sp>
        <p:nvSpPr>
          <p:cNvPr id="492" name="Google Shape;492;p17"/>
          <p:cNvSpPr/>
          <p:nvPr/>
        </p:nvSpPr>
        <p:spPr>
          <a:xfrm>
            <a:off x="640080" y="457200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the command line is the DevOps workplace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497" name="Shape 497"/>
        <p:cNvGrpSpPr/>
        <p:nvPr/>
      </p:nvGrpSpPr>
      <p:grpSpPr>
        <a:xfrm>
          <a:off x="0" y="0"/>
          <a:ext cx="0" cy="0"/>
          <a:chOff x="0" y="0"/>
          <a:chExt cx="0" cy="0"/>
        </a:xfrm>
      </p:grpSpPr>
      <p:sp>
        <p:nvSpPr>
          <p:cNvPr id="498" name="Google Shape;498;p18"/>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Why a server has many users</a:t>
            </a:r>
            <a:endParaRPr b="0" i="0" sz="2900" u="none" cap="none" strike="noStrike">
              <a:solidFill>
                <a:schemeClr val="dk1"/>
              </a:solidFill>
              <a:latin typeface="Calibri"/>
              <a:ea typeface="Calibri"/>
              <a:cs typeface="Calibri"/>
              <a:sym typeface="Calibri"/>
            </a:endParaRPr>
          </a:p>
        </p:txBody>
      </p:sp>
      <p:sp>
        <p:nvSpPr>
          <p:cNvPr id="499" name="Google Shape;499;p18"/>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00" name="Google Shape;500;p18"/>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501" name="Google Shape;501;p18"/>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nginx, postgres, your deploy bot — each runs as its own user so a compromise stays contained.</a:t>
            </a:r>
            <a:endParaRPr b="0" i="0" sz="1300" u="none" cap="none" strike="noStrike">
              <a:solidFill>
                <a:schemeClr val="dk1"/>
              </a:solidFill>
              <a:latin typeface="Calibri"/>
              <a:ea typeface="Calibri"/>
              <a:cs typeface="Calibri"/>
              <a:sym typeface="Calibri"/>
            </a:endParaRPr>
          </a:p>
        </p:txBody>
      </p:sp>
      <p:sp>
        <p:nvSpPr>
          <p:cNvPr id="502" name="Google Shape;502;p18"/>
          <p:cNvSpPr/>
          <p:nvPr/>
        </p:nvSpPr>
        <p:spPr>
          <a:xfrm>
            <a:off x="457200" y="1463040"/>
            <a:ext cx="2706624" cy="1828800"/>
          </a:xfrm>
          <a:prstGeom prst="roundRect">
            <a:avLst>
              <a:gd fmla="val 3500" name="adj"/>
            </a:avLst>
          </a:prstGeom>
          <a:solidFill>
            <a:srgbClr val="FFF7ED"/>
          </a:solidFill>
          <a:ln cap="flat" cmpd="sng" w="12700">
            <a:solidFill>
              <a:srgbClr val="F97316"/>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18"/>
          <p:cNvSpPr/>
          <p:nvPr/>
        </p:nvSpPr>
        <p:spPr>
          <a:xfrm>
            <a:off x="640080" y="1627632"/>
            <a:ext cx="234086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600"/>
              <a:buFont typeface="Bookman Old Style"/>
              <a:buNone/>
            </a:pPr>
            <a:r>
              <a:rPr b="1" i="0" lang="en-US" sz="1600" u="none" cap="none" strike="noStrike">
                <a:solidFill>
                  <a:srgbClr val="C2410C"/>
                </a:solidFill>
                <a:latin typeface="Bookman Old Style"/>
                <a:ea typeface="Bookman Old Style"/>
                <a:cs typeface="Bookman Old Style"/>
                <a:sym typeface="Bookman Old Style"/>
              </a:rPr>
              <a:t>root (uid 0)</a:t>
            </a:r>
            <a:endParaRPr b="0" i="0" sz="1600" u="none" cap="none" strike="noStrike">
              <a:solidFill>
                <a:schemeClr val="dk1"/>
              </a:solidFill>
              <a:latin typeface="Calibri"/>
              <a:ea typeface="Calibri"/>
              <a:cs typeface="Calibri"/>
              <a:sym typeface="Calibri"/>
            </a:endParaRPr>
          </a:p>
        </p:txBody>
      </p:sp>
      <p:sp>
        <p:nvSpPr>
          <p:cNvPr id="504" name="Google Shape;504;p18"/>
          <p:cNvSpPr/>
          <p:nvPr/>
        </p:nvSpPr>
        <p:spPr>
          <a:xfrm>
            <a:off x="640080" y="2103120"/>
            <a:ext cx="2340864"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The superuser. Can do anything — which is exactly why services should NOT run as root.</a:t>
            </a:r>
            <a:endParaRPr b="0" i="0" sz="1250" u="none" cap="none" strike="noStrike">
              <a:solidFill>
                <a:schemeClr val="dk1"/>
              </a:solidFill>
              <a:latin typeface="Calibri"/>
              <a:ea typeface="Calibri"/>
              <a:cs typeface="Calibri"/>
              <a:sym typeface="Calibri"/>
            </a:endParaRPr>
          </a:p>
        </p:txBody>
      </p:sp>
      <p:sp>
        <p:nvSpPr>
          <p:cNvPr id="505" name="Google Shape;505;p18"/>
          <p:cNvSpPr/>
          <p:nvPr/>
        </p:nvSpPr>
        <p:spPr>
          <a:xfrm>
            <a:off x="3264408" y="1463040"/>
            <a:ext cx="2706624" cy="1828800"/>
          </a:xfrm>
          <a:prstGeom prst="roundRect">
            <a:avLst>
              <a:gd fmla="val 3500" name="adj"/>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6" name="Google Shape;506;p18"/>
          <p:cNvSpPr/>
          <p:nvPr/>
        </p:nvSpPr>
        <p:spPr>
          <a:xfrm>
            <a:off x="3447288" y="1627632"/>
            <a:ext cx="234086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600"/>
              <a:buFont typeface="Bookman Old Style"/>
              <a:buNone/>
            </a:pPr>
            <a:r>
              <a:rPr b="1" i="0" lang="en-US" sz="1600" u="none" cap="none" strike="noStrike">
                <a:solidFill>
                  <a:srgbClr val="0F766E"/>
                </a:solidFill>
                <a:latin typeface="Bookman Old Style"/>
                <a:ea typeface="Bookman Old Style"/>
                <a:cs typeface="Bookman Old Style"/>
                <a:sym typeface="Bookman Old Style"/>
              </a:rPr>
              <a:t>Service users</a:t>
            </a:r>
            <a:endParaRPr b="0" i="0" sz="1600" u="none" cap="none" strike="noStrike">
              <a:solidFill>
                <a:schemeClr val="dk1"/>
              </a:solidFill>
              <a:latin typeface="Calibri"/>
              <a:ea typeface="Calibri"/>
              <a:cs typeface="Calibri"/>
              <a:sym typeface="Calibri"/>
            </a:endParaRPr>
          </a:p>
        </p:txBody>
      </p:sp>
      <p:sp>
        <p:nvSpPr>
          <p:cNvPr id="507" name="Google Shape;507;p18"/>
          <p:cNvSpPr/>
          <p:nvPr/>
        </p:nvSpPr>
        <p:spPr>
          <a:xfrm>
            <a:off x="3447288" y="2103120"/>
            <a:ext cx="2340864"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nginx, postgres, redis… no login shell, minimal rights. Least privilege in action.</a:t>
            </a:r>
            <a:endParaRPr b="0" i="0" sz="1250" u="none" cap="none" strike="noStrike">
              <a:solidFill>
                <a:schemeClr val="dk1"/>
              </a:solidFill>
              <a:latin typeface="Calibri"/>
              <a:ea typeface="Calibri"/>
              <a:cs typeface="Calibri"/>
              <a:sym typeface="Calibri"/>
            </a:endParaRPr>
          </a:p>
        </p:txBody>
      </p:sp>
      <p:sp>
        <p:nvSpPr>
          <p:cNvPr id="508" name="Google Shape;508;p18"/>
          <p:cNvSpPr/>
          <p:nvPr/>
        </p:nvSpPr>
        <p:spPr>
          <a:xfrm>
            <a:off x="6071616" y="1463040"/>
            <a:ext cx="2706624" cy="1828800"/>
          </a:xfrm>
          <a:prstGeom prst="roundRect">
            <a:avLst>
              <a:gd fmla="val 350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9" name="Google Shape;509;p18"/>
          <p:cNvSpPr/>
          <p:nvPr/>
        </p:nvSpPr>
        <p:spPr>
          <a:xfrm>
            <a:off x="6254496" y="1627632"/>
            <a:ext cx="2340864"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1600"/>
              <a:buFont typeface="Bookman Old Style"/>
              <a:buNone/>
            </a:pPr>
            <a:r>
              <a:rPr b="1" i="0" lang="en-US" sz="1600" u="none" cap="none" strike="noStrike">
                <a:solidFill>
                  <a:srgbClr val="0F172A"/>
                </a:solidFill>
                <a:latin typeface="Bookman Old Style"/>
                <a:ea typeface="Bookman Old Style"/>
                <a:cs typeface="Bookman Old Style"/>
                <a:sym typeface="Bookman Old Style"/>
              </a:rPr>
              <a:t>Human users</a:t>
            </a:r>
            <a:endParaRPr b="0" i="0" sz="1600" u="none" cap="none" strike="noStrike">
              <a:solidFill>
                <a:schemeClr val="dk1"/>
              </a:solidFill>
              <a:latin typeface="Calibri"/>
              <a:ea typeface="Calibri"/>
              <a:cs typeface="Calibri"/>
              <a:sym typeface="Calibri"/>
            </a:endParaRPr>
          </a:p>
        </p:txBody>
      </p:sp>
      <p:sp>
        <p:nvSpPr>
          <p:cNvPr id="510" name="Google Shape;510;p18"/>
          <p:cNvSpPr/>
          <p:nvPr/>
        </p:nvSpPr>
        <p:spPr>
          <a:xfrm>
            <a:off x="6254496" y="2103120"/>
            <a:ext cx="2340864" cy="10972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93B"/>
              </a:buClr>
              <a:buSzPts val="1250"/>
              <a:buFont typeface="Calibri"/>
              <a:buNone/>
            </a:pPr>
            <a:r>
              <a:rPr b="0" i="0" lang="en-US" sz="1250" u="none" cap="none" strike="noStrike">
                <a:solidFill>
                  <a:srgbClr val="1E293B"/>
                </a:solidFill>
                <a:latin typeface="Calibri"/>
                <a:ea typeface="Calibri"/>
                <a:cs typeface="Calibri"/>
                <a:sym typeface="Calibri"/>
              </a:rPr>
              <a:t>You and your team. Get root only when needed, via sudo — never log in as root.</a:t>
            </a:r>
            <a:endParaRPr b="0" i="0" sz="1250" u="none" cap="none" strike="noStrike">
              <a:solidFill>
                <a:schemeClr val="dk1"/>
              </a:solidFill>
              <a:latin typeface="Calibri"/>
              <a:ea typeface="Calibri"/>
              <a:cs typeface="Calibri"/>
              <a:sym typeface="Calibri"/>
            </a:endParaRPr>
          </a:p>
        </p:txBody>
      </p:sp>
      <p:sp>
        <p:nvSpPr>
          <p:cNvPr id="511" name="Google Shape;511;p18"/>
          <p:cNvSpPr/>
          <p:nvPr/>
        </p:nvSpPr>
        <p:spPr>
          <a:xfrm>
            <a:off x="457200" y="3520440"/>
            <a:ext cx="8229600" cy="1097280"/>
          </a:xfrm>
          <a:prstGeom prst="roundRect">
            <a:avLst>
              <a:gd fmla="val 6667"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18"/>
          <p:cNvSpPr/>
          <p:nvPr/>
        </p:nvSpPr>
        <p:spPr>
          <a:xfrm>
            <a:off x="640080" y="366674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18"/>
          <p:cNvSpPr/>
          <p:nvPr/>
        </p:nvSpPr>
        <p:spPr>
          <a:xfrm>
            <a:off x="786384" y="366674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18"/>
          <p:cNvSpPr/>
          <p:nvPr/>
        </p:nvSpPr>
        <p:spPr>
          <a:xfrm>
            <a:off x="932688" y="366674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18"/>
          <p:cNvSpPr/>
          <p:nvPr/>
        </p:nvSpPr>
        <p:spPr>
          <a:xfrm>
            <a:off x="1097280" y="3593592"/>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you@server</a:t>
            </a:r>
            <a:endParaRPr b="0" i="0" sz="900" u="none" cap="none" strike="noStrike">
              <a:solidFill>
                <a:schemeClr val="dk1"/>
              </a:solidFill>
              <a:latin typeface="Calibri"/>
              <a:ea typeface="Calibri"/>
              <a:cs typeface="Calibri"/>
              <a:sym typeface="Calibri"/>
            </a:endParaRPr>
          </a:p>
        </p:txBody>
      </p:sp>
      <p:cxnSp>
        <p:nvCxnSpPr>
          <p:cNvPr id="516" name="Google Shape;516;p18"/>
          <p:cNvCxnSpPr/>
          <p:nvPr/>
        </p:nvCxnSpPr>
        <p:spPr>
          <a:xfrm>
            <a:off x="457200" y="3886200"/>
            <a:ext cx="8229600" cy="0"/>
          </a:xfrm>
          <a:prstGeom prst="straightConnector1">
            <a:avLst/>
          </a:prstGeom>
          <a:noFill/>
          <a:ln cap="flat" cmpd="sng" w="12700">
            <a:solidFill>
              <a:srgbClr val="1E293B"/>
            </a:solidFill>
            <a:prstDash val="solid"/>
            <a:round/>
            <a:headEnd len="sm" w="sm" type="none"/>
            <a:tailEnd len="sm" w="sm" type="none"/>
          </a:ln>
        </p:spPr>
      </p:cxnSp>
      <p:sp>
        <p:nvSpPr>
          <p:cNvPr id="517" name="Google Shape;517;p18"/>
          <p:cNvSpPr/>
          <p:nvPr/>
        </p:nvSpPr>
        <p:spPr>
          <a:xfrm>
            <a:off x="658368" y="3995928"/>
            <a:ext cx="7827264" cy="51206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id</a:t>
            </a:r>
            <a:r>
              <a:rPr b="0" i="0" lang="en-US" sz="1050" u="none" cap="none" strike="noStrike">
                <a:solidFill>
                  <a:srgbClr val="64748B"/>
                </a:solidFill>
                <a:latin typeface="Courier New"/>
                <a:ea typeface="Courier New"/>
                <a:cs typeface="Courier New"/>
                <a:sym typeface="Courier New"/>
              </a:rPr>
              <a:t>          # who am I, what groups am I in?</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uid=1000(sagyam) gid=1000(sagyam) groups=1000(sagyam),27(sudo),999(docker)</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ps -u postgres</a:t>
            </a:r>
            <a:r>
              <a:rPr b="0" i="0" lang="en-US" sz="1050" u="none" cap="none" strike="noStrike">
                <a:solidFill>
                  <a:srgbClr val="64748B"/>
                </a:solidFill>
                <a:latin typeface="Courier New"/>
                <a:ea typeface="Courier New"/>
                <a:cs typeface="Courier New"/>
                <a:sym typeface="Courier New"/>
              </a:rPr>
              <a:t>   # postgres runs as its own user, not root</a:t>
            </a:r>
            <a:endParaRPr b="0" i="0" sz="1050" u="none" cap="none" strike="noStrike">
              <a:solidFill>
                <a:schemeClr val="dk1"/>
              </a:solidFill>
              <a:latin typeface="Calibri"/>
              <a:ea typeface="Calibri"/>
              <a:cs typeface="Calibri"/>
              <a:sym typeface="Calibri"/>
            </a:endParaRPr>
          </a:p>
        </p:txBody>
      </p:sp>
      <p:sp>
        <p:nvSpPr>
          <p:cNvPr id="518" name="Google Shape;518;p18"/>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519" name="Google Shape;519;p18"/>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2 · Permissions</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24" name="Shape 524"/>
        <p:cNvGrpSpPr/>
        <p:nvPr/>
      </p:nvGrpSpPr>
      <p:grpSpPr>
        <a:xfrm>
          <a:off x="0" y="0"/>
          <a:ext cx="0" cy="0"/>
          <a:chOff x="0" y="0"/>
          <a:chExt cx="0" cy="0"/>
        </a:xfrm>
      </p:grpSpPr>
      <p:sp>
        <p:nvSpPr>
          <p:cNvPr id="525" name="Google Shape;525;p19"/>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Managing users &amp; groups</a:t>
            </a:r>
            <a:endParaRPr b="0" i="0" sz="2900" u="none" cap="none" strike="noStrike">
              <a:solidFill>
                <a:schemeClr val="dk1"/>
              </a:solidFill>
              <a:latin typeface="Calibri"/>
              <a:ea typeface="Calibri"/>
              <a:cs typeface="Calibri"/>
              <a:sym typeface="Calibri"/>
            </a:endParaRPr>
          </a:p>
        </p:txBody>
      </p:sp>
      <p:sp>
        <p:nvSpPr>
          <p:cNvPr id="526" name="Google Shape;526;p19"/>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27" name="Google Shape;527;p19"/>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528" name="Google Shape;528;p19"/>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Onboarding a teammate or creating a service account is a routine, scriptable task.</a:t>
            </a:r>
            <a:endParaRPr b="0" i="0" sz="1300" u="none" cap="none" strike="noStrike">
              <a:solidFill>
                <a:schemeClr val="dk1"/>
              </a:solidFill>
              <a:latin typeface="Calibri"/>
              <a:ea typeface="Calibri"/>
              <a:cs typeface="Calibri"/>
              <a:sym typeface="Calibri"/>
            </a:endParaRPr>
          </a:p>
        </p:txBody>
      </p:sp>
      <p:sp>
        <p:nvSpPr>
          <p:cNvPr id="529" name="Google Shape;529;p19"/>
          <p:cNvSpPr/>
          <p:nvPr/>
        </p:nvSpPr>
        <p:spPr>
          <a:xfrm>
            <a:off x="457200" y="1371600"/>
            <a:ext cx="4160520" cy="3035808"/>
          </a:xfrm>
          <a:prstGeom prst="roundRect">
            <a:avLst>
              <a:gd fmla="val 180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19"/>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ACCOUNTS</a:t>
            </a:r>
            <a:endParaRPr b="0" i="0" sz="1250" u="none" cap="none" strike="noStrike">
              <a:solidFill>
                <a:schemeClr val="dk1"/>
              </a:solidFill>
              <a:latin typeface="Calibri"/>
              <a:ea typeface="Calibri"/>
              <a:cs typeface="Calibri"/>
              <a:sym typeface="Calibri"/>
            </a:endParaRPr>
          </a:p>
        </p:txBody>
      </p:sp>
      <p:sp>
        <p:nvSpPr>
          <p:cNvPr id="531" name="Google Shape;531;p19"/>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adduser bob</a:t>
            </a:r>
            <a:endParaRPr b="0" i="0" sz="1150" u="none" cap="none" strike="noStrike">
              <a:solidFill>
                <a:schemeClr val="dk1"/>
              </a:solidFill>
              <a:latin typeface="Calibri"/>
              <a:ea typeface="Calibri"/>
              <a:cs typeface="Calibri"/>
              <a:sym typeface="Calibri"/>
            </a:endParaRPr>
          </a:p>
        </p:txBody>
      </p:sp>
      <p:sp>
        <p:nvSpPr>
          <p:cNvPr id="532" name="Google Shape;532;p19"/>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interactive: user + home + group</a:t>
            </a:r>
            <a:endParaRPr b="0" i="0" sz="1100" u="none" cap="none" strike="noStrike">
              <a:solidFill>
                <a:schemeClr val="dk1"/>
              </a:solidFill>
              <a:latin typeface="Calibri"/>
              <a:ea typeface="Calibri"/>
              <a:cs typeface="Calibri"/>
              <a:sym typeface="Calibri"/>
            </a:endParaRPr>
          </a:p>
        </p:txBody>
      </p:sp>
      <p:sp>
        <p:nvSpPr>
          <p:cNvPr id="533" name="Google Shape;533;p19"/>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useradd -r</a:t>
            </a:r>
            <a:endParaRPr b="0" i="0" sz="1150" u="none" cap="none" strike="noStrike">
              <a:solidFill>
                <a:schemeClr val="dk1"/>
              </a:solidFill>
              <a:latin typeface="Calibri"/>
              <a:ea typeface="Calibri"/>
              <a:cs typeface="Calibri"/>
              <a:sym typeface="Calibri"/>
            </a:endParaRPr>
          </a:p>
        </p:txBody>
      </p:sp>
      <p:sp>
        <p:nvSpPr>
          <p:cNvPr id="534" name="Google Shape;534;p19"/>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low-level: -r = system acct</a:t>
            </a:r>
            <a:endParaRPr b="0" i="0" sz="1100" u="none" cap="none" strike="noStrike">
              <a:solidFill>
                <a:schemeClr val="dk1"/>
              </a:solidFill>
              <a:latin typeface="Calibri"/>
              <a:ea typeface="Calibri"/>
              <a:cs typeface="Calibri"/>
              <a:sym typeface="Calibri"/>
            </a:endParaRPr>
          </a:p>
        </p:txBody>
      </p:sp>
      <p:sp>
        <p:nvSpPr>
          <p:cNvPr id="535" name="Google Shape;535;p19"/>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passwd bob</a:t>
            </a:r>
            <a:endParaRPr b="0" i="0" sz="1150" u="none" cap="none" strike="noStrike">
              <a:solidFill>
                <a:schemeClr val="dk1"/>
              </a:solidFill>
              <a:latin typeface="Calibri"/>
              <a:ea typeface="Calibri"/>
              <a:cs typeface="Calibri"/>
              <a:sym typeface="Calibri"/>
            </a:endParaRPr>
          </a:p>
        </p:txBody>
      </p:sp>
      <p:sp>
        <p:nvSpPr>
          <p:cNvPr id="536" name="Google Shape;536;p19"/>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set/change a password</a:t>
            </a:r>
            <a:endParaRPr b="0" i="0" sz="1100" u="none" cap="none" strike="noStrike">
              <a:solidFill>
                <a:schemeClr val="dk1"/>
              </a:solidFill>
              <a:latin typeface="Calibri"/>
              <a:ea typeface="Calibri"/>
              <a:cs typeface="Calibri"/>
              <a:sym typeface="Calibri"/>
            </a:endParaRPr>
          </a:p>
        </p:txBody>
      </p:sp>
      <p:sp>
        <p:nvSpPr>
          <p:cNvPr id="537" name="Google Shape;537;p19"/>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usermod -aG</a:t>
            </a:r>
            <a:endParaRPr b="0" i="0" sz="1150" u="none" cap="none" strike="noStrike">
              <a:solidFill>
                <a:schemeClr val="dk1"/>
              </a:solidFill>
              <a:latin typeface="Calibri"/>
              <a:ea typeface="Calibri"/>
              <a:cs typeface="Calibri"/>
              <a:sym typeface="Calibri"/>
            </a:endParaRPr>
          </a:p>
        </p:txBody>
      </p:sp>
      <p:sp>
        <p:nvSpPr>
          <p:cNvPr id="538" name="Google Shape;538;p19"/>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ADD to a group (-a is vital!)</a:t>
            </a:r>
            <a:endParaRPr b="0" i="0" sz="1100" u="none" cap="none" strike="noStrike">
              <a:solidFill>
                <a:schemeClr val="dk1"/>
              </a:solidFill>
              <a:latin typeface="Calibri"/>
              <a:ea typeface="Calibri"/>
              <a:cs typeface="Calibri"/>
              <a:sym typeface="Calibri"/>
            </a:endParaRPr>
          </a:p>
        </p:txBody>
      </p:sp>
      <p:sp>
        <p:nvSpPr>
          <p:cNvPr id="539" name="Google Shape;539;p19"/>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groupadd dev</a:t>
            </a:r>
            <a:endParaRPr b="0" i="0" sz="1150" u="none" cap="none" strike="noStrike">
              <a:solidFill>
                <a:schemeClr val="dk1"/>
              </a:solidFill>
              <a:latin typeface="Calibri"/>
              <a:ea typeface="Calibri"/>
              <a:cs typeface="Calibri"/>
              <a:sym typeface="Calibri"/>
            </a:endParaRPr>
          </a:p>
        </p:txBody>
      </p:sp>
      <p:sp>
        <p:nvSpPr>
          <p:cNvPr id="540" name="Google Shape;540;p19"/>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create a group</a:t>
            </a:r>
            <a:endParaRPr b="0" i="0" sz="1100" u="none" cap="none" strike="noStrike">
              <a:solidFill>
                <a:schemeClr val="dk1"/>
              </a:solidFill>
              <a:latin typeface="Calibri"/>
              <a:ea typeface="Calibri"/>
              <a:cs typeface="Calibri"/>
              <a:sym typeface="Calibri"/>
            </a:endParaRPr>
          </a:p>
        </p:txBody>
      </p:sp>
      <p:sp>
        <p:nvSpPr>
          <p:cNvPr id="541" name="Google Shape;541;p19"/>
          <p:cNvSpPr/>
          <p:nvPr/>
        </p:nvSpPr>
        <p:spPr>
          <a:xfrm>
            <a:off x="65836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deluser bob</a:t>
            </a:r>
            <a:endParaRPr b="0" i="0" sz="1150" u="none" cap="none" strike="noStrike">
              <a:solidFill>
                <a:schemeClr val="dk1"/>
              </a:solidFill>
              <a:latin typeface="Calibri"/>
              <a:ea typeface="Calibri"/>
              <a:cs typeface="Calibri"/>
              <a:sym typeface="Calibri"/>
            </a:endParaRPr>
          </a:p>
        </p:txBody>
      </p:sp>
      <p:sp>
        <p:nvSpPr>
          <p:cNvPr id="542" name="Google Shape;542;p19"/>
          <p:cNvSpPr/>
          <p:nvPr/>
        </p:nvSpPr>
        <p:spPr>
          <a:xfrm>
            <a:off x="2468880" y="391363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remove a user</a:t>
            </a:r>
            <a:endParaRPr b="0" i="0" sz="1100" u="none" cap="none" strike="noStrike">
              <a:solidFill>
                <a:schemeClr val="dk1"/>
              </a:solidFill>
              <a:latin typeface="Calibri"/>
              <a:ea typeface="Calibri"/>
              <a:cs typeface="Calibri"/>
              <a:sym typeface="Calibri"/>
            </a:endParaRPr>
          </a:p>
        </p:txBody>
      </p:sp>
      <p:sp>
        <p:nvSpPr>
          <p:cNvPr id="543" name="Google Shape;543;p19"/>
          <p:cNvSpPr/>
          <p:nvPr/>
        </p:nvSpPr>
        <p:spPr>
          <a:xfrm>
            <a:off x="4800600" y="1371600"/>
            <a:ext cx="3886200" cy="3246120"/>
          </a:xfrm>
          <a:prstGeom prst="roundRect">
            <a:avLst>
              <a:gd fmla="val 225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19"/>
          <p:cNvSpPr/>
          <p:nvPr/>
        </p:nvSpPr>
        <p:spPr>
          <a:xfrm>
            <a:off x="49834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19"/>
          <p:cNvSpPr/>
          <p:nvPr/>
        </p:nvSpPr>
        <p:spPr>
          <a:xfrm>
            <a:off x="51297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19"/>
          <p:cNvSpPr/>
          <p:nvPr/>
        </p:nvSpPr>
        <p:spPr>
          <a:xfrm>
            <a:off x="52760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19"/>
          <p:cNvSpPr/>
          <p:nvPr/>
        </p:nvSpPr>
        <p:spPr>
          <a:xfrm>
            <a:off x="5440680" y="144475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root@server</a:t>
            </a:r>
            <a:endParaRPr b="0" i="0" sz="900" u="none" cap="none" strike="noStrike">
              <a:solidFill>
                <a:schemeClr val="dk1"/>
              </a:solidFill>
              <a:latin typeface="Calibri"/>
              <a:ea typeface="Calibri"/>
              <a:cs typeface="Calibri"/>
              <a:sym typeface="Calibri"/>
            </a:endParaRPr>
          </a:p>
        </p:txBody>
      </p:sp>
      <p:cxnSp>
        <p:nvCxnSpPr>
          <p:cNvPr id="548" name="Google Shape;548;p19"/>
          <p:cNvCxnSpPr/>
          <p:nvPr/>
        </p:nvCxnSpPr>
        <p:spPr>
          <a:xfrm>
            <a:off x="4800600" y="1737360"/>
            <a:ext cx="3886200" cy="0"/>
          </a:xfrm>
          <a:prstGeom prst="straightConnector1">
            <a:avLst/>
          </a:prstGeom>
          <a:noFill/>
          <a:ln cap="flat" cmpd="sng" w="12700">
            <a:solidFill>
              <a:srgbClr val="1E293B"/>
            </a:solidFill>
            <a:prstDash val="solid"/>
            <a:round/>
            <a:headEnd len="sm" w="sm" type="none"/>
            <a:tailEnd len="sm" w="sm" type="none"/>
          </a:ln>
        </p:spPr>
      </p:cxnSp>
      <p:sp>
        <p:nvSpPr>
          <p:cNvPr id="549" name="Google Shape;549;p19"/>
          <p:cNvSpPr/>
          <p:nvPr/>
        </p:nvSpPr>
        <p:spPr>
          <a:xfrm>
            <a:off x="5001768" y="1847088"/>
            <a:ext cx="3483864" cy="26609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add deploy user, no password login</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useradd -m -s /bin/bash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       -G docker deploy</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grant an existing user sudo</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usermod -aG sudo sagyam</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verify</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groups deploy</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deploy : deploy docker</a:t>
            </a:r>
            <a:endParaRPr b="0" i="0" sz="1050" u="none" cap="none" strike="noStrike">
              <a:solidFill>
                <a:schemeClr val="dk1"/>
              </a:solidFill>
              <a:latin typeface="Calibri"/>
              <a:ea typeface="Calibri"/>
              <a:cs typeface="Calibri"/>
              <a:sym typeface="Calibri"/>
            </a:endParaRPr>
          </a:p>
        </p:txBody>
      </p:sp>
      <p:sp>
        <p:nvSpPr>
          <p:cNvPr id="550" name="Google Shape;550;p19"/>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551" name="Google Shape;551;p19"/>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2 · Permissions</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56" name="Shape 556"/>
        <p:cNvGrpSpPr/>
        <p:nvPr/>
      </p:nvGrpSpPr>
      <p:grpSpPr>
        <a:xfrm>
          <a:off x="0" y="0"/>
          <a:ext cx="0" cy="0"/>
          <a:chOff x="0" y="0"/>
          <a:chExt cx="0" cy="0"/>
        </a:xfrm>
      </p:grpSpPr>
      <p:sp>
        <p:nvSpPr>
          <p:cNvPr id="557" name="Google Shape;557;p20"/>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Reading permissions: the rwx model</a:t>
            </a:r>
            <a:endParaRPr b="0" i="0" sz="2900" u="none" cap="none" strike="noStrike">
              <a:solidFill>
                <a:schemeClr val="dk1"/>
              </a:solidFill>
              <a:latin typeface="Calibri"/>
              <a:ea typeface="Calibri"/>
              <a:cs typeface="Calibri"/>
              <a:sym typeface="Calibri"/>
            </a:endParaRPr>
          </a:p>
        </p:txBody>
      </p:sp>
      <p:sp>
        <p:nvSpPr>
          <p:cNvPr id="558" name="Google Shape;558;p20"/>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59" name="Google Shape;559;p20"/>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560" name="Google Shape;560;p20"/>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Every 'permission denied' is solved by reading one line of ls -l correctly.</a:t>
            </a:r>
            <a:endParaRPr b="0" i="0" sz="1300" u="none" cap="none" strike="noStrike">
              <a:solidFill>
                <a:schemeClr val="dk1"/>
              </a:solidFill>
              <a:latin typeface="Calibri"/>
              <a:ea typeface="Calibri"/>
              <a:cs typeface="Calibri"/>
              <a:sym typeface="Calibri"/>
            </a:endParaRPr>
          </a:p>
        </p:txBody>
      </p:sp>
      <p:sp>
        <p:nvSpPr>
          <p:cNvPr id="561" name="Google Shape;561;p20"/>
          <p:cNvSpPr/>
          <p:nvPr/>
        </p:nvSpPr>
        <p:spPr>
          <a:xfrm>
            <a:off x="457200" y="1417320"/>
            <a:ext cx="8229600" cy="1051560"/>
          </a:xfrm>
          <a:prstGeom prst="roundRect">
            <a:avLst>
              <a:gd fmla="val 6087"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20"/>
          <p:cNvSpPr/>
          <p:nvPr/>
        </p:nvSpPr>
        <p:spPr>
          <a:xfrm>
            <a:off x="685800" y="1481328"/>
            <a:ext cx="777240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900"/>
              <a:buFont typeface="Courier New"/>
              <a:buNone/>
            </a:pPr>
            <a:r>
              <a:rPr b="0" i="0" lang="en-US" sz="1900" u="none" cap="none" strike="noStrike">
                <a:solidFill>
                  <a:srgbClr val="94A3B8"/>
                </a:solidFill>
                <a:latin typeface="Courier New"/>
                <a:ea typeface="Courier New"/>
                <a:cs typeface="Courier New"/>
                <a:sym typeface="Courier New"/>
              </a:rPr>
              <a:t>-</a:t>
            </a:r>
            <a:r>
              <a:rPr b="1" i="0" lang="en-US" sz="1900" u="none" cap="none" strike="noStrike">
                <a:solidFill>
                  <a:srgbClr val="34D399"/>
                </a:solidFill>
                <a:latin typeface="Courier New"/>
                <a:ea typeface="Courier New"/>
                <a:cs typeface="Courier New"/>
                <a:sym typeface="Courier New"/>
              </a:rPr>
              <a:t>rwx</a:t>
            </a:r>
            <a:r>
              <a:rPr b="1" i="0" lang="en-US" sz="1900" u="none" cap="none" strike="noStrike">
                <a:solidFill>
                  <a:srgbClr val="38BDF8"/>
                </a:solidFill>
                <a:latin typeface="Courier New"/>
                <a:ea typeface="Courier New"/>
                <a:cs typeface="Courier New"/>
                <a:sym typeface="Courier New"/>
              </a:rPr>
              <a:t>r-x</a:t>
            </a:r>
            <a:r>
              <a:rPr b="1" i="0" lang="en-US" sz="1900" u="none" cap="none" strike="noStrike">
                <a:solidFill>
                  <a:srgbClr val="F97316"/>
                </a:solidFill>
                <a:latin typeface="Courier New"/>
                <a:ea typeface="Courier New"/>
                <a:cs typeface="Courier New"/>
                <a:sym typeface="Courier New"/>
              </a:rPr>
              <a:t>r--</a:t>
            </a:r>
            <a:r>
              <a:rPr b="0" i="0" lang="en-US" sz="1900" u="none" cap="none" strike="noStrike">
                <a:solidFill>
                  <a:srgbClr val="94A3B8"/>
                </a:solidFill>
                <a:latin typeface="Courier New"/>
                <a:ea typeface="Courier New"/>
                <a:cs typeface="Courier New"/>
                <a:sym typeface="Courier New"/>
              </a:rPr>
              <a:t>  1 </a:t>
            </a:r>
            <a:r>
              <a:rPr b="0" i="0" lang="en-US" sz="1900" u="none" cap="none" strike="noStrike">
                <a:solidFill>
                  <a:srgbClr val="FFFFFF"/>
                </a:solidFill>
                <a:latin typeface="Courier New"/>
                <a:ea typeface="Courier New"/>
                <a:cs typeface="Courier New"/>
                <a:sym typeface="Courier New"/>
              </a:rPr>
              <a:t>deploy www-data  deploy.sh</a:t>
            </a:r>
            <a:endParaRPr b="0" i="0" sz="1900" u="none" cap="none" strike="noStrike">
              <a:solidFill>
                <a:schemeClr val="dk1"/>
              </a:solidFill>
              <a:latin typeface="Calibri"/>
              <a:ea typeface="Calibri"/>
              <a:cs typeface="Calibri"/>
              <a:sym typeface="Calibri"/>
            </a:endParaRPr>
          </a:p>
        </p:txBody>
      </p:sp>
      <p:sp>
        <p:nvSpPr>
          <p:cNvPr id="563" name="Google Shape;563;p20"/>
          <p:cNvSpPr/>
          <p:nvPr/>
        </p:nvSpPr>
        <p:spPr>
          <a:xfrm>
            <a:off x="685800" y="1993392"/>
            <a:ext cx="77724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200"/>
              <a:buFont typeface="Courier New"/>
              <a:buNone/>
            </a:pPr>
            <a:r>
              <a:rPr b="0" i="0" lang="en-US" sz="1200" u="none" cap="none" strike="noStrike">
                <a:solidFill>
                  <a:srgbClr val="94A3B8"/>
                </a:solidFill>
                <a:latin typeface="Courier New"/>
                <a:ea typeface="Courier New"/>
                <a:cs typeface="Courier New"/>
                <a:sym typeface="Courier New"/>
              </a:rPr>
              <a:t>type   </a:t>
            </a:r>
            <a:r>
              <a:rPr b="1" i="0" lang="en-US" sz="1200" u="none" cap="none" strike="noStrike">
                <a:solidFill>
                  <a:srgbClr val="34D399"/>
                </a:solidFill>
                <a:latin typeface="Courier New"/>
                <a:ea typeface="Courier New"/>
                <a:cs typeface="Courier New"/>
                <a:sym typeface="Courier New"/>
              </a:rPr>
              <a:t>user </a:t>
            </a:r>
            <a:r>
              <a:rPr b="1" i="0" lang="en-US" sz="1200" u="none" cap="none" strike="noStrike">
                <a:solidFill>
                  <a:srgbClr val="38BDF8"/>
                </a:solidFill>
                <a:latin typeface="Courier New"/>
                <a:ea typeface="Courier New"/>
                <a:cs typeface="Courier New"/>
                <a:sym typeface="Courier New"/>
              </a:rPr>
              <a:t>group </a:t>
            </a:r>
            <a:r>
              <a:rPr b="1" i="0" lang="en-US" sz="1200" u="none" cap="none" strike="noStrike">
                <a:solidFill>
                  <a:srgbClr val="F97316"/>
                </a:solidFill>
                <a:latin typeface="Courier New"/>
                <a:ea typeface="Courier New"/>
                <a:cs typeface="Courier New"/>
                <a:sym typeface="Courier New"/>
              </a:rPr>
              <a:t>other      owner   group</a:t>
            </a:r>
            <a:endParaRPr b="0" i="0" sz="1200" u="none" cap="none" strike="noStrike">
              <a:solidFill>
                <a:schemeClr val="dk1"/>
              </a:solidFill>
              <a:latin typeface="Calibri"/>
              <a:ea typeface="Calibri"/>
              <a:cs typeface="Calibri"/>
              <a:sym typeface="Calibri"/>
            </a:endParaRPr>
          </a:p>
        </p:txBody>
      </p:sp>
      <p:sp>
        <p:nvSpPr>
          <p:cNvPr id="564" name="Google Shape;564;p20"/>
          <p:cNvSpPr/>
          <p:nvPr/>
        </p:nvSpPr>
        <p:spPr>
          <a:xfrm>
            <a:off x="457200" y="2697480"/>
            <a:ext cx="2706624" cy="914400"/>
          </a:xfrm>
          <a:prstGeom prst="roundRect">
            <a:avLst>
              <a:gd fmla="val 700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20"/>
          <p:cNvSpPr/>
          <p:nvPr/>
        </p:nvSpPr>
        <p:spPr>
          <a:xfrm>
            <a:off x="640080" y="2816352"/>
            <a:ext cx="2286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700"/>
              <a:buFont typeface="Courier New"/>
              <a:buNone/>
            </a:pPr>
            <a:r>
              <a:rPr b="1" i="0" lang="en-US" sz="1700" u="none" cap="none" strike="noStrike">
                <a:solidFill>
                  <a:srgbClr val="0F766E"/>
                </a:solidFill>
                <a:latin typeface="Courier New"/>
                <a:ea typeface="Courier New"/>
                <a:cs typeface="Courier New"/>
                <a:sym typeface="Courier New"/>
              </a:rPr>
              <a:t>r = 4</a:t>
            </a:r>
            <a:endParaRPr b="0" i="0" sz="1700" u="none" cap="none" strike="noStrike">
              <a:solidFill>
                <a:schemeClr val="dk1"/>
              </a:solidFill>
              <a:latin typeface="Calibri"/>
              <a:ea typeface="Calibri"/>
              <a:cs typeface="Calibri"/>
              <a:sym typeface="Calibri"/>
            </a:endParaRPr>
          </a:p>
        </p:txBody>
      </p:sp>
      <p:sp>
        <p:nvSpPr>
          <p:cNvPr id="566" name="Google Shape;566;p20"/>
          <p:cNvSpPr/>
          <p:nvPr/>
        </p:nvSpPr>
        <p:spPr>
          <a:xfrm>
            <a:off x="640080" y="3163824"/>
            <a:ext cx="237744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93B"/>
              </a:buClr>
              <a:buSzPts val="1150"/>
              <a:buFont typeface="Calibri"/>
              <a:buNone/>
            </a:pPr>
            <a:r>
              <a:rPr b="0" i="0" lang="en-US" sz="1150" u="none" cap="none" strike="noStrike">
                <a:solidFill>
                  <a:srgbClr val="1E293B"/>
                </a:solidFill>
                <a:latin typeface="Calibri"/>
                <a:ea typeface="Calibri"/>
                <a:cs typeface="Calibri"/>
                <a:sym typeface="Calibri"/>
              </a:rPr>
              <a:t>read — view file / list directory</a:t>
            </a:r>
            <a:endParaRPr b="0" i="0" sz="1150" u="none" cap="none" strike="noStrike">
              <a:solidFill>
                <a:schemeClr val="dk1"/>
              </a:solidFill>
              <a:latin typeface="Calibri"/>
              <a:ea typeface="Calibri"/>
              <a:cs typeface="Calibri"/>
              <a:sym typeface="Calibri"/>
            </a:endParaRPr>
          </a:p>
        </p:txBody>
      </p:sp>
      <p:sp>
        <p:nvSpPr>
          <p:cNvPr id="567" name="Google Shape;567;p20"/>
          <p:cNvSpPr/>
          <p:nvPr/>
        </p:nvSpPr>
        <p:spPr>
          <a:xfrm>
            <a:off x="3264408" y="2697480"/>
            <a:ext cx="2706624" cy="914400"/>
          </a:xfrm>
          <a:prstGeom prst="roundRect">
            <a:avLst>
              <a:gd fmla="val 700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20"/>
          <p:cNvSpPr/>
          <p:nvPr/>
        </p:nvSpPr>
        <p:spPr>
          <a:xfrm>
            <a:off x="3447288" y="2816352"/>
            <a:ext cx="2286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369A1"/>
              </a:buClr>
              <a:buSzPts val="1700"/>
              <a:buFont typeface="Courier New"/>
              <a:buNone/>
            </a:pPr>
            <a:r>
              <a:rPr b="1" i="0" lang="en-US" sz="1700" u="none" cap="none" strike="noStrike">
                <a:solidFill>
                  <a:srgbClr val="0369A1"/>
                </a:solidFill>
                <a:latin typeface="Courier New"/>
                <a:ea typeface="Courier New"/>
                <a:cs typeface="Courier New"/>
                <a:sym typeface="Courier New"/>
              </a:rPr>
              <a:t>w = 2</a:t>
            </a:r>
            <a:endParaRPr b="0" i="0" sz="1700" u="none" cap="none" strike="noStrike">
              <a:solidFill>
                <a:schemeClr val="dk1"/>
              </a:solidFill>
              <a:latin typeface="Calibri"/>
              <a:ea typeface="Calibri"/>
              <a:cs typeface="Calibri"/>
              <a:sym typeface="Calibri"/>
            </a:endParaRPr>
          </a:p>
        </p:txBody>
      </p:sp>
      <p:sp>
        <p:nvSpPr>
          <p:cNvPr id="569" name="Google Shape;569;p20"/>
          <p:cNvSpPr/>
          <p:nvPr/>
        </p:nvSpPr>
        <p:spPr>
          <a:xfrm>
            <a:off x="3447288" y="3163824"/>
            <a:ext cx="237744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93B"/>
              </a:buClr>
              <a:buSzPts val="1150"/>
              <a:buFont typeface="Calibri"/>
              <a:buNone/>
            </a:pPr>
            <a:r>
              <a:rPr b="0" i="0" lang="en-US" sz="1150" u="none" cap="none" strike="noStrike">
                <a:solidFill>
                  <a:srgbClr val="1E293B"/>
                </a:solidFill>
                <a:latin typeface="Calibri"/>
                <a:ea typeface="Calibri"/>
                <a:cs typeface="Calibri"/>
                <a:sym typeface="Calibri"/>
              </a:rPr>
              <a:t>write — modify file / add-remove in dir</a:t>
            </a:r>
            <a:endParaRPr b="0" i="0" sz="1150" u="none" cap="none" strike="noStrike">
              <a:solidFill>
                <a:schemeClr val="dk1"/>
              </a:solidFill>
              <a:latin typeface="Calibri"/>
              <a:ea typeface="Calibri"/>
              <a:cs typeface="Calibri"/>
              <a:sym typeface="Calibri"/>
            </a:endParaRPr>
          </a:p>
        </p:txBody>
      </p:sp>
      <p:sp>
        <p:nvSpPr>
          <p:cNvPr id="570" name="Google Shape;570;p20"/>
          <p:cNvSpPr/>
          <p:nvPr/>
        </p:nvSpPr>
        <p:spPr>
          <a:xfrm>
            <a:off x="6071616" y="2697480"/>
            <a:ext cx="2706624" cy="914400"/>
          </a:xfrm>
          <a:prstGeom prst="roundRect">
            <a:avLst>
              <a:gd fmla="val 700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20"/>
          <p:cNvSpPr/>
          <p:nvPr/>
        </p:nvSpPr>
        <p:spPr>
          <a:xfrm>
            <a:off x="6254496" y="2816352"/>
            <a:ext cx="228600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700"/>
              <a:buFont typeface="Courier New"/>
              <a:buNone/>
            </a:pPr>
            <a:r>
              <a:rPr b="1" i="0" lang="en-US" sz="1700" u="none" cap="none" strike="noStrike">
                <a:solidFill>
                  <a:srgbClr val="C2410C"/>
                </a:solidFill>
                <a:latin typeface="Courier New"/>
                <a:ea typeface="Courier New"/>
                <a:cs typeface="Courier New"/>
                <a:sym typeface="Courier New"/>
              </a:rPr>
              <a:t>x = 1</a:t>
            </a:r>
            <a:endParaRPr b="0" i="0" sz="1700" u="none" cap="none" strike="noStrike">
              <a:solidFill>
                <a:schemeClr val="dk1"/>
              </a:solidFill>
              <a:latin typeface="Calibri"/>
              <a:ea typeface="Calibri"/>
              <a:cs typeface="Calibri"/>
              <a:sym typeface="Calibri"/>
            </a:endParaRPr>
          </a:p>
        </p:txBody>
      </p:sp>
      <p:sp>
        <p:nvSpPr>
          <p:cNvPr id="572" name="Google Shape;572;p20"/>
          <p:cNvSpPr/>
          <p:nvPr/>
        </p:nvSpPr>
        <p:spPr>
          <a:xfrm>
            <a:off x="6254496" y="3163824"/>
            <a:ext cx="2377440"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93B"/>
              </a:buClr>
              <a:buSzPts val="1150"/>
              <a:buFont typeface="Calibri"/>
              <a:buNone/>
            </a:pPr>
            <a:r>
              <a:rPr b="0" i="0" lang="en-US" sz="1150" u="none" cap="none" strike="noStrike">
                <a:solidFill>
                  <a:srgbClr val="1E293B"/>
                </a:solidFill>
                <a:latin typeface="Calibri"/>
                <a:ea typeface="Calibri"/>
                <a:cs typeface="Calibri"/>
                <a:sym typeface="Calibri"/>
              </a:rPr>
              <a:t>execute — run file / enter (cd) a dir</a:t>
            </a:r>
            <a:endParaRPr b="0" i="0" sz="1150" u="none" cap="none" strike="noStrike">
              <a:solidFill>
                <a:schemeClr val="dk1"/>
              </a:solidFill>
              <a:latin typeface="Calibri"/>
              <a:ea typeface="Calibri"/>
              <a:cs typeface="Calibri"/>
              <a:sym typeface="Calibri"/>
            </a:endParaRPr>
          </a:p>
        </p:txBody>
      </p:sp>
      <p:sp>
        <p:nvSpPr>
          <p:cNvPr id="573" name="Google Shape;573;p20"/>
          <p:cNvSpPr/>
          <p:nvPr/>
        </p:nvSpPr>
        <p:spPr>
          <a:xfrm>
            <a:off x="457200" y="3794760"/>
            <a:ext cx="8229600" cy="749808"/>
          </a:xfrm>
          <a:prstGeom prst="roundRect">
            <a:avLst>
              <a:gd fmla="val 7317" name="adj"/>
            </a:avLst>
          </a:prstGeom>
          <a:solidFill>
            <a:srgbClr val="FFF7ED"/>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20"/>
          <p:cNvSpPr/>
          <p:nvPr/>
        </p:nvSpPr>
        <p:spPr>
          <a:xfrm>
            <a:off x="640080" y="3794760"/>
            <a:ext cx="786384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250"/>
              <a:buFont typeface="Calibri"/>
              <a:buNone/>
            </a:pPr>
            <a:r>
              <a:rPr b="1" i="0" lang="en-US" sz="1250" u="none" cap="none" strike="noStrike">
                <a:solidFill>
                  <a:srgbClr val="C2410C"/>
                </a:solidFill>
                <a:latin typeface="Calibri"/>
                <a:ea typeface="Calibri"/>
                <a:cs typeface="Calibri"/>
                <a:sym typeface="Calibri"/>
              </a:rPr>
              <a:t>The trap:  </a:t>
            </a:r>
            <a:r>
              <a:rPr b="0" i="0" lang="en-US" sz="1250" u="none" cap="none" strike="noStrike">
                <a:solidFill>
                  <a:srgbClr val="1E293B"/>
                </a:solidFill>
                <a:latin typeface="Calibri"/>
                <a:ea typeface="Calibri"/>
                <a:cs typeface="Calibri"/>
                <a:sym typeface="Calibri"/>
              </a:rPr>
              <a:t>on a directory, </a:t>
            </a:r>
            <a:r>
              <a:rPr b="1" i="0" lang="en-US" sz="1250" u="none" cap="none" strike="noStrike">
                <a:solidFill>
                  <a:srgbClr val="C2410C"/>
                </a:solidFill>
                <a:latin typeface="Calibri"/>
                <a:ea typeface="Calibri"/>
                <a:cs typeface="Calibri"/>
                <a:sym typeface="Calibri"/>
              </a:rPr>
              <a:t>x</a:t>
            </a:r>
            <a:r>
              <a:rPr b="0" i="0" lang="en-US" sz="1250" u="none" cap="none" strike="noStrike">
                <a:solidFill>
                  <a:srgbClr val="1E293B"/>
                </a:solidFill>
                <a:latin typeface="Calibri"/>
                <a:ea typeface="Calibri"/>
                <a:cs typeface="Calibri"/>
                <a:sym typeface="Calibri"/>
              </a:rPr>
              <a:t> doesn't mean "run" — it means "enter". Without it you can't cd in, even with r.</a:t>
            </a:r>
            <a:endParaRPr b="0" i="0" sz="1250" u="none" cap="none" strike="noStrike">
              <a:solidFill>
                <a:schemeClr val="dk1"/>
              </a:solidFill>
              <a:latin typeface="Calibri"/>
              <a:ea typeface="Calibri"/>
              <a:cs typeface="Calibri"/>
              <a:sym typeface="Calibri"/>
            </a:endParaRPr>
          </a:p>
        </p:txBody>
      </p:sp>
      <p:sp>
        <p:nvSpPr>
          <p:cNvPr id="575" name="Google Shape;575;p20"/>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576" name="Google Shape;576;p20"/>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2 · Permissions</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581" name="Shape 581"/>
        <p:cNvGrpSpPr/>
        <p:nvPr/>
      </p:nvGrpSpPr>
      <p:grpSpPr>
        <a:xfrm>
          <a:off x="0" y="0"/>
          <a:ext cx="0" cy="0"/>
          <a:chOff x="0" y="0"/>
          <a:chExt cx="0" cy="0"/>
        </a:xfrm>
      </p:grpSpPr>
      <p:sp>
        <p:nvSpPr>
          <p:cNvPr id="582" name="Google Shape;582;p21"/>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chmod — changing permissions</a:t>
            </a:r>
            <a:endParaRPr b="0" i="0" sz="2900" u="none" cap="none" strike="noStrike">
              <a:solidFill>
                <a:schemeClr val="dk1"/>
              </a:solidFill>
              <a:latin typeface="Calibri"/>
              <a:ea typeface="Calibri"/>
              <a:cs typeface="Calibri"/>
              <a:sym typeface="Calibri"/>
            </a:endParaRPr>
          </a:p>
        </p:txBody>
      </p:sp>
      <p:sp>
        <p:nvSpPr>
          <p:cNvPr id="583" name="Google Shape;583;p21"/>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84" name="Google Shape;584;p21"/>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585" name="Google Shape;585;p21"/>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Your deploy script isn't running, or a key is world-readable — chmod is the fix.</a:t>
            </a:r>
            <a:endParaRPr b="0" i="0" sz="1300" u="none" cap="none" strike="noStrike">
              <a:solidFill>
                <a:schemeClr val="dk1"/>
              </a:solidFill>
              <a:latin typeface="Calibri"/>
              <a:ea typeface="Calibri"/>
              <a:cs typeface="Calibri"/>
              <a:sym typeface="Calibri"/>
            </a:endParaRPr>
          </a:p>
        </p:txBody>
      </p:sp>
      <p:sp>
        <p:nvSpPr>
          <p:cNvPr id="586" name="Google Shape;586;p21"/>
          <p:cNvSpPr/>
          <p:nvPr/>
        </p:nvSpPr>
        <p:spPr>
          <a:xfrm>
            <a:off x="457200" y="1371600"/>
            <a:ext cx="4160520" cy="3035808"/>
          </a:xfrm>
          <a:prstGeom prst="roundRect">
            <a:avLst>
              <a:gd fmla="val 180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21"/>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TWO NOTATIONS</a:t>
            </a:r>
            <a:endParaRPr b="0" i="0" sz="1250" u="none" cap="none" strike="noStrike">
              <a:solidFill>
                <a:schemeClr val="dk1"/>
              </a:solidFill>
              <a:latin typeface="Calibri"/>
              <a:ea typeface="Calibri"/>
              <a:cs typeface="Calibri"/>
              <a:sym typeface="Calibri"/>
            </a:endParaRPr>
          </a:p>
        </p:txBody>
      </p:sp>
      <p:sp>
        <p:nvSpPr>
          <p:cNvPr id="588" name="Google Shape;588;p21"/>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chmod +x f</a:t>
            </a:r>
            <a:endParaRPr b="0" i="0" sz="1150" u="none" cap="none" strike="noStrike">
              <a:solidFill>
                <a:schemeClr val="dk1"/>
              </a:solidFill>
              <a:latin typeface="Calibri"/>
              <a:ea typeface="Calibri"/>
              <a:cs typeface="Calibri"/>
              <a:sym typeface="Calibri"/>
            </a:endParaRPr>
          </a:p>
        </p:txBody>
      </p:sp>
      <p:sp>
        <p:nvSpPr>
          <p:cNvPr id="589" name="Google Shape;589;p21"/>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symbolic: make executable</a:t>
            </a:r>
            <a:endParaRPr b="0" i="0" sz="1100" u="none" cap="none" strike="noStrike">
              <a:solidFill>
                <a:schemeClr val="dk1"/>
              </a:solidFill>
              <a:latin typeface="Calibri"/>
              <a:ea typeface="Calibri"/>
              <a:cs typeface="Calibri"/>
              <a:sym typeface="Calibri"/>
            </a:endParaRPr>
          </a:p>
        </p:txBody>
      </p:sp>
      <p:sp>
        <p:nvSpPr>
          <p:cNvPr id="590" name="Google Shape;590;p21"/>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chmod u+w</a:t>
            </a:r>
            <a:endParaRPr b="0" i="0" sz="1150" u="none" cap="none" strike="noStrike">
              <a:solidFill>
                <a:schemeClr val="dk1"/>
              </a:solidFill>
              <a:latin typeface="Calibri"/>
              <a:ea typeface="Calibri"/>
              <a:cs typeface="Calibri"/>
              <a:sym typeface="Calibri"/>
            </a:endParaRPr>
          </a:p>
        </p:txBody>
      </p:sp>
      <p:sp>
        <p:nvSpPr>
          <p:cNvPr id="591" name="Google Shape;591;p21"/>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owner gains write</a:t>
            </a:r>
            <a:endParaRPr b="0" i="0" sz="1100" u="none" cap="none" strike="noStrike">
              <a:solidFill>
                <a:schemeClr val="dk1"/>
              </a:solidFill>
              <a:latin typeface="Calibri"/>
              <a:ea typeface="Calibri"/>
              <a:cs typeface="Calibri"/>
              <a:sym typeface="Calibri"/>
            </a:endParaRPr>
          </a:p>
        </p:txBody>
      </p:sp>
      <p:sp>
        <p:nvSpPr>
          <p:cNvPr id="592" name="Google Shape;592;p21"/>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chmod go-r</a:t>
            </a:r>
            <a:endParaRPr b="0" i="0" sz="1150" u="none" cap="none" strike="noStrike">
              <a:solidFill>
                <a:schemeClr val="dk1"/>
              </a:solidFill>
              <a:latin typeface="Calibri"/>
              <a:ea typeface="Calibri"/>
              <a:cs typeface="Calibri"/>
              <a:sym typeface="Calibri"/>
            </a:endParaRPr>
          </a:p>
        </p:txBody>
      </p:sp>
      <p:sp>
        <p:nvSpPr>
          <p:cNvPr id="593" name="Google Shape;593;p21"/>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group+other lose read</a:t>
            </a:r>
            <a:endParaRPr b="0" i="0" sz="1100" u="none" cap="none" strike="noStrike">
              <a:solidFill>
                <a:schemeClr val="dk1"/>
              </a:solidFill>
              <a:latin typeface="Calibri"/>
              <a:ea typeface="Calibri"/>
              <a:cs typeface="Calibri"/>
              <a:sym typeface="Calibri"/>
            </a:endParaRPr>
          </a:p>
        </p:txBody>
      </p:sp>
      <p:sp>
        <p:nvSpPr>
          <p:cNvPr id="594" name="Google Shape;594;p21"/>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chmod 755</a:t>
            </a:r>
            <a:endParaRPr b="0" i="0" sz="1150" u="none" cap="none" strike="noStrike">
              <a:solidFill>
                <a:schemeClr val="dk1"/>
              </a:solidFill>
              <a:latin typeface="Calibri"/>
              <a:ea typeface="Calibri"/>
              <a:cs typeface="Calibri"/>
              <a:sym typeface="Calibri"/>
            </a:endParaRPr>
          </a:p>
        </p:txBody>
      </p:sp>
      <p:sp>
        <p:nvSpPr>
          <p:cNvPr id="595" name="Google Shape;595;p21"/>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numeric: rwx r-x r-x</a:t>
            </a:r>
            <a:endParaRPr b="0" i="0" sz="1100" u="none" cap="none" strike="noStrike">
              <a:solidFill>
                <a:schemeClr val="dk1"/>
              </a:solidFill>
              <a:latin typeface="Calibri"/>
              <a:ea typeface="Calibri"/>
              <a:cs typeface="Calibri"/>
              <a:sym typeface="Calibri"/>
            </a:endParaRPr>
          </a:p>
        </p:txBody>
      </p:sp>
      <p:sp>
        <p:nvSpPr>
          <p:cNvPr id="596" name="Google Shape;596;p21"/>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chmod 644</a:t>
            </a:r>
            <a:endParaRPr b="0" i="0" sz="1150" u="none" cap="none" strike="noStrike">
              <a:solidFill>
                <a:schemeClr val="dk1"/>
              </a:solidFill>
              <a:latin typeface="Calibri"/>
              <a:ea typeface="Calibri"/>
              <a:cs typeface="Calibri"/>
              <a:sym typeface="Calibri"/>
            </a:endParaRPr>
          </a:p>
        </p:txBody>
      </p:sp>
      <p:sp>
        <p:nvSpPr>
          <p:cNvPr id="597" name="Google Shape;597;p21"/>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numeric: rw- r-- r--</a:t>
            </a:r>
            <a:endParaRPr b="0" i="0" sz="1100" u="none" cap="none" strike="noStrike">
              <a:solidFill>
                <a:schemeClr val="dk1"/>
              </a:solidFill>
              <a:latin typeface="Calibri"/>
              <a:ea typeface="Calibri"/>
              <a:cs typeface="Calibri"/>
              <a:sym typeface="Calibri"/>
            </a:endParaRPr>
          </a:p>
        </p:txBody>
      </p:sp>
      <p:sp>
        <p:nvSpPr>
          <p:cNvPr id="598" name="Google Shape;598;p21"/>
          <p:cNvSpPr/>
          <p:nvPr/>
        </p:nvSpPr>
        <p:spPr>
          <a:xfrm>
            <a:off x="65836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chmod -R</a:t>
            </a:r>
            <a:endParaRPr b="0" i="0" sz="1150" u="none" cap="none" strike="noStrike">
              <a:solidFill>
                <a:schemeClr val="dk1"/>
              </a:solidFill>
              <a:latin typeface="Calibri"/>
              <a:ea typeface="Calibri"/>
              <a:cs typeface="Calibri"/>
              <a:sym typeface="Calibri"/>
            </a:endParaRPr>
          </a:p>
        </p:txBody>
      </p:sp>
      <p:sp>
        <p:nvSpPr>
          <p:cNvPr id="599" name="Google Shape;599;p21"/>
          <p:cNvSpPr/>
          <p:nvPr/>
        </p:nvSpPr>
        <p:spPr>
          <a:xfrm>
            <a:off x="2468880" y="391363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recurse into a directory</a:t>
            </a:r>
            <a:endParaRPr b="0" i="0" sz="1100" u="none" cap="none" strike="noStrike">
              <a:solidFill>
                <a:schemeClr val="dk1"/>
              </a:solidFill>
              <a:latin typeface="Calibri"/>
              <a:ea typeface="Calibri"/>
              <a:cs typeface="Calibri"/>
              <a:sym typeface="Calibri"/>
            </a:endParaRPr>
          </a:p>
        </p:txBody>
      </p:sp>
      <p:sp>
        <p:nvSpPr>
          <p:cNvPr id="600" name="Google Shape;600;p21"/>
          <p:cNvSpPr/>
          <p:nvPr/>
        </p:nvSpPr>
        <p:spPr>
          <a:xfrm>
            <a:off x="4800600" y="1371600"/>
            <a:ext cx="3886200" cy="1371600"/>
          </a:xfrm>
          <a:prstGeom prst="roundRect">
            <a:avLst>
              <a:gd fmla="val 4667" name="adj"/>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21"/>
          <p:cNvSpPr/>
          <p:nvPr/>
        </p:nvSpPr>
        <p:spPr>
          <a:xfrm>
            <a:off x="4983480" y="1481328"/>
            <a:ext cx="35661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Add the numbers: r4 + w2 + x1</a:t>
            </a:r>
            <a:endParaRPr b="0" i="0" sz="1250" u="none" cap="none" strike="noStrike">
              <a:solidFill>
                <a:schemeClr val="dk1"/>
              </a:solidFill>
              <a:latin typeface="Calibri"/>
              <a:ea typeface="Calibri"/>
              <a:cs typeface="Calibri"/>
              <a:sym typeface="Calibri"/>
            </a:endParaRPr>
          </a:p>
        </p:txBody>
      </p:sp>
      <p:sp>
        <p:nvSpPr>
          <p:cNvPr id="602" name="Google Shape;602;p21"/>
          <p:cNvSpPr/>
          <p:nvPr/>
        </p:nvSpPr>
        <p:spPr>
          <a:xfrm>
            <a:off x="4983480" y="1810512"/>
            <a:ext cx="356616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300"/>
              <a:buFont typeface="Courier New"/>
              <a:buNone/>
            </a:pPr>
            <a:r>
              <a:rPr b="1" i="0" lang="en-US" sz="1300" u="none" cap="none" strike="noStrike">
                <a:solidFill>
                  <a:srgbClr val="0F766E"/>
                </a:solidFill>
                <a:latin typeface="Courier New"/>
                <a:ea typeface="Courier New"/>
                <a:cs typeface="Courier New"/>
                <a:sym typeface="Courier New"/>
              </a:rPr>
              <a:t>7</a:t>
            </a:r>
            <a:r>
              <a:rPr b="0" i="0" lang="en-US" sz="1300" u="none" cap="none" strike="noStrike">
                <a:solidFill>
                  <a:srgbClr val="1E293B"/>
                </a:solidFill>
                <a:latin typeface="Courier New"/>
                <a:ea typeface="Courier New"/>
                <a:cs typeface="Courier New"/>
                <a:sym typeface="Courier New"/>
              </a:rPr>
              <a:t>=rwx   </a:t>
            </a:r>
            <a:r>
              <a:rPr b="1" i="0" lang="en-US" sz="1300" u="none" cap="none" strike="noStrike">
                <a:solidFill>
                  <a:srgbClr val="0F766E"/>
                </a:solidFill>
                <a:latin typeface="Courier New"/>
                <a:ea typeface="Courier New"/>
                <a:cs typeface="Courier New"/>
                <a:sym typeface="Courier New"/>
              </a:rPr>
              <a:t>6</a:t>
            </a:r>
            <a:r>
              <a:rPr b="0" i="0" lang="en-US" sz="1300" u="none" cap="none" strike="noStrike">
                <a:solidFill>
                  <a:srgbClr val="1E293B"/>
                </a:solidFill>
                <a:latin typeface="Courier New"/>
                <a:ea typeface="Courier New"/>
                <a:cs typeface="Courier New"/>
                <a:sym typeface="Courier New"/>
              </a:rPr>
              <a:t>=rw-   </a:t>
            </a:r>
            <a:r>
              <a:rPr b="1" i="0" lang="en-US" sz="1300" u="none" cap="none" strike="noStrike">
                <a:solidFill>
                  <a:srgbClr val="0F766E"/>
                </a:solidFill>
                <a:latin typeface="Courier New"/>
                <a:ea typeface="Courier New"/>
                <a:cs typeface="Courier New"/>
                <a:sym typeface="Courier New"/>
              </a:rPr>
              <a:t>5</a:t>
            </a:r>
            <a:r>
              <a:rPr b="0" i="0" lang="en-US" sz="1300" u="none" cap="none" strike="noStrike">
                <a:solidFill>
                  <a:srgbClr val="1E293B"/>
                </a:solidFill>
                <a:latin typeface="Courier New"/>
                <a:ea typeface="Courier New"/>
                <a:cs typeface="Courier New"/>
                <a:sym typeface="Courier New"/>
              </a:rPr>
              <a:t>=r-x   </a:t>
            </a:r>
            <a:r>
              <a:rPr b="1" i="0" lang="en-US" sz="1300" u="none" cap="none" strike="noStrike">
                <a:solidFill>
                  <a:srgbClr val="0F766E"/>
                </a:solidFill>
                <a:latin typeface="Courier New"/>
                <a:ea typeface="Courier New"/>
                <a:cs typeface="Courier New"/>
                <a:sym typeface="Courier New"/>
              </a:rPr>
              <a:t>4</a:t>
            </a:r>
            <a:r>
              <a:rPr b="0" i="0" lang="en-US" sz="1300" u="none" cap="none" strike="noStrike">
                <a:solidFill>
                  <a:srgbClr val="1E293B"/>
                </a:solidFill>
                <a:latin typeface="Courier New"/>
                <a:ea typeface="Courier New"/>
                <a:cs typeface="Courier New"/>
                <a:sym typeface="Courier New"/>
              </a:rPr>
              <a:t>=r--</a:t>
            </a:r>
            <a:endParaRPr b="0" i="0" sz="1300" u="none" cap="none" strike="noStrike">
              <a:solidFill>
                <a:schemeClr val="dk1"/>
              </a:solidFill>
              <a:latin typeface="Calibri"/>
              <a:ea typeface="Calibri"/>
              <a:cs typeface="Calibri"/>
              <a:sym typeface="Calibri"/>
            </a:endParaRPr>
          </a:p>
        </p:txBody>
      </p:sp>
      <p:sp>
        <p:nvSpPr>
          <p:cNvPr id="603" name="Google Shape;603;p21"/>
          <p:cNvSpPr/>
          <p:nvPr/>
        </p:nvSpPr>
        <p:spPr>
          <a:xfrm>
            <a:off x="4983480" y="2194560"/>
            <a:ext cx="356616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93B"/>
              </a:buClr>
              <a:buSzPts val="1150"/>
              <a:buFont typeface="Calibri"/>
              <a:buNone/>
            </a:pPr>
            <a:r>
              <a:rPr b="0" i="1" lang="en-US" sz="1150" u="none" cap="none" strike="noStrike">
                <a:solidFill>
                  <a:srgbClr val="1E293B"/>
                </a:solidFill>
                <a:latin typeface="Calibri"/>
                <a:ea typeface="Calibri"/>
                <a:cs typeface="Calibri"/>
                <a:sym typeface="Calibri"/>
              </a:rPr>
              <a:t>755 = owner full, everyone else read+enter.  644 = owner edits, others read.</a:t>
            </a:r>
            <a:endParaRPr b="0" i="0" sz="1150" u="none" cap="none" strike="noStrike">
              <a:solidFill>
                <a:schemeClr val="dk1"/>
              </a:solidFill>
              <a:latin typeface="Calibri"/>
              <a:ea typeface="Calibri"/>
              <a:cs typeface="Calibri"/>
              <a:sym typeface="Calibri"/>
            </a:endParaRPr>
          </a:p>
        </p:txBody>
      </p:sp>
      <p:sp>
        <p:nvSpPr>
          <p:cNvPr id="604" name="Google Shape;604;p21"/>
          <p:cNvSpPr/>
          <p:nvPr/>
        </p:nvSpPr>
        <p:spPr>
          <a:xfrm>
            <a:off x="4800600" y="2880360"/>
            <a:ext cx="3886200" cy="1737360"/>
          </a:xfrm>
          <a:prstGeom prst="roundRect">
            <a:avLst>
              <a:gd fmla="val 4211"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21"/>
          <p:cNvSpPr/>
          <p:nvPr/>
        </p:nvSpPr>
        <p:spPr>
          <a:xfrm>
            <a:off x="4983480" y="302666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21"/>
          <p:cNvSpPr/>
          <p:nvPr/>
        </p:nvSpPr>
        <p:spPr>
          <a:xfrm>
            <a:off x="5129784" y="302666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21"/>
          <p:cNvSpPr/>
          <p:nvPr/>
        </p:nvSpPr>
        <p:spPr>
          <a:xfrm>
            <a:off x="5276088" y="302666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21"/>
          <p:cNvSpPr/>
          <p:nvPr/>
        </p:nvSpPr>
        <p:spPr>
          <a:xfrm>
            <a:off x="5440680" y="295351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you@server</a:t>
            </a:r>
            <a:endParaRPr b="0" i="0" sz="900" u="none" cap="none" strike="noStrike">
              <a:solidFill>
                <a:schemeClr val="dk1"/>
              </a:solidFill>
              <a:latin typeface="Calibri"/>
              <a:ea typeface="Calibri"/>
              <a:cs typeface="Calibri"/>
              <a:sym typeface="Calibri"/>
            </a:endParaRPr>
          </a:p>
        </p:txBody>
      </p:sp>
      <p:cxnSp>
        <p:nvCxnSpPr>
          <p:cNvPr id="609" name="Google Shape;609;p21"/>
          <p:cNvCxnSpPr/>
          <p:nvPr/>
        </p:nvCxnSpPr>
        <p:spPr>
          <a:xfrm>
            <a:off x="4800600" y="3246120"/>
            <a:ext cx="3886200" cy="0"/>
          </a:xfrm>
          <a:prstGeom prst="straightConnector1">
            <a:avLst/>
          </a:prstGeom>
          <a:noFill/>
          <a:ln cap="flat" cmpd="sng" w="12700">
            <a:solidFill>
              <a:srgbClr val="1E293B"/>
            </a:solidFill>
            <a:prstDash val="solid"/>
            <a:round/>
            <a:headEnd len="sm" w="sm" type="none"/>
            <a:tailEnd len="sm" w="sm" type="none"/>
          </a:ln>
        </p:spPr>
      </p:cxnSp>
      <p:sp>
        <p:nvSpPr>
          <p:cNvPr id="610" name="Google Shape;610;p21"/>
          <p:cNvSpPr/>
          <p:nvPr/>
        </p:nvSpPr>
        <p:spPr>
          <a:xfrm>
            <a:off x="5001768" y="3355848"/>
            <a:ext cx="3483864" cy="115214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chmod +x deploy.sh</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./deploy.sh</a:t>
            </a:r>
            <a:r>
              <a:rPr b="0" i="0" lang="en-US" sz="1050" u="none" cap="none" strike="noStrike">
                <a:solidFill>
                  <a:srgbClr val="64748B"/>
                </a:solidFill>
                <a:latin typeface="Courier New"/>
                <a:ea typeface="Courier New"/>
                <a:cs typeface="Courier New"/>
                <a:sym typeface="Courier New"/>
              </a:rPr>
              <a:t>   # now it runs</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SSH refuses keys that others can read</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chmod 600 ~/.ssh/id_ed25519</a:t>
            </a:r>
            <a:endParaRPr b="0" i="0" sz="1050" u="none" cap="none" strike="noStrike">
              <a:solidFill>
                <a:schemeClr val="dk1"/>
              </a:solidFill>
              <a:latin typeface="Calibri"/>
              <a:ea typeface="Calibri"/>
              <a:cs typeface="Calibri"/>
              <a:sym typeface="Calibri"/>
            </a:endParaRPr>
          </a:p>
        </p:txBody>
      </p:sp>
      <p:sp>
        <p:nvSpPr>
          <p:cNvPr id="611" name="Google Shape;611;p21"/>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612" name="Google Shape;612;p21"/>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2 · Permissions</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17" name="Shape 617"/>
        <p:cNvGrpSpPr/>
        <p:nvPr/>
      </p:nvGrpSpPr>
      <p:grpSpPr>
        <a:xfrm>
          <a:off x="0" y="0"/>
          <a:ext cx="0" cy="0"/>
          <a:chOff x="0" y="0"/>
          <a:chExt cx="0" cy="0"/>
        </a:xfrm>
      </p:grpSpPr>
      <p:sp>
        <p:nvSpPr>
          <p:cNvPr id="618" name="Google Shape;618;p22"/>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Ownership &amp; the special bits</a:t>
            </a:r>
            <a:endParaRPr b="0" i="0" sz="2900" u="none" cap="none" strike="noStrike">
              <a:solidFill>
                <a:schemeClr val="dk1"/>
              </a:solidFill>
              <a:latin typeface="Calibri"/>
              <a:ea typeface="Calibri"/>
              <a:cs typeface="Calibri"/>
              <a:sym typeface="Calibri"/>
            </a:endParaRPr>
          </a:p>
        </p:txBody>
      </p:sp>
      <p:sp>
        <p:nvSpPr>
          <p:cNvPr id="619" name="Google Shape;619;p22"/>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20" name="Google Shape;620;p22"/>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621" name="Google Shape;621;p22"/>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Your web server can't write uploads — usually it's the wrong owner, not the wrong mode.</a:t>
            </a:r>
            <a:endParaRPr b="0" i="0" sz="1300" u="none" cap="none" strike="noStrike">
              <a:solidFill>
                <a:schemeClr val="dk1"/>
              </a:solidFill>
              <a:latin typeface="Calibri"/>
              <a:ea typeface="Calibri"/>
              <a:cs typeface="Calibri"/>
              <a:sym typeface="Calibri"/>
            </a:endParaRPr>
          </a:p>
        </p:txBody>
      </p:sp>
      <p:sp>
        <p:nvSpPr>
          <p:cNvPr id="622" name="Google Shape;622;p22"/>
          <p:cNvSpPr/>
          <p:nvPr/>
        </p:nvSpPr>
        <p:spPr>
          <a:xfrm>
            <a:off x="457200" y="1371600"/>
            <a:ext cx="4160520" cy="2633472"/>
          </a:xfrm>
          <a:prstGeom prst="roundRect">
            <a:avLst>
              <a:gd fmla="val 2083"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3" name="Google Shape;623;p22"/>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OWNERSHIP</a:t>
            </a:r>
            <a:endParaRPr b="0" i="0" sz="1250" u="none" cap="none" strike="noStrike">
              <a:solidFill>
                <a:schemeClr val="dk1"/>
              </a:solidFill>
              <a:latin typeface="Calibri"/>
              <a:ea typeface="Calibri"/>
              <a:cs typeface="Calibri"/>
              <a:sym typeface="Calibri"/>
            </a:endParaRPr>
          </a:p>
        </p:txBody>
      </p:sp>
      <p:sp>
        <p:nvSpPr>
          <p:cNvPr id="624" name="Google Shape;624;p22"/>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chown u f</a:t>
            </a:r>
            <a:endParaRPr b="0" i="0" sz="1150" u="none" cap="none" strike="noStrike">
              <a:solidFill>
                <a:schemeClr val="dk1"/>
              </a:solidFill>
              <a:latin typeface="Calibri"/>
              <a:ea typeface="Calibri"/>
              <a:cs typeface="Calibri"/>
              <a:sym typeface="Calibri"/>
            </a:endParaRPr>
          </a:p>
        </p:txBody>
      </p:sp>
      <p:sp>
        <p:nvSpPr>
          <p:cNvPr id="625" name="Google Shape;625;p22"/>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change owner</a:t>
            </a:r>
            <a:endParaRPr b="0" i="0" sz="1100" u="none" cap="none" strike="noStrike">
              <a:solidFill>
                <a:schemeClr val="dk1"/>
              </a:solidFill>
              <a:latin typeface="Calibri"/>
              <a:ea typeface="Calibri"/>
              <a:cs typeface="Calibri"/>
              <a:sym typeface="Calibri"/>
            </a:endParaRPr>
          </a:p>
        </p:txBody>
      </p:sp>
      <p:sp>
        <p:nvSpPr>
          <p:cNvPr id="626" name="Google Shape;626;p22"/>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chown u:g f</a:t>
            </a:r>
            <a:endParaRPr b="0" i="0" sz="1150" u="none" cap="none" strike="noStrike">
              <a:solidFill>
                <a:schemeClr val="dk1"/>
              </a:solidFill>
              <a:latin typeface="Calibri"/>
              <a:ea typeface="Calibri"/>
              <a:cs typeface="Calibri"/>
              <a:sym typeface="Calibri"/>
            </a:endParaRPr>
          </a:p>
        </p:txBody>
      </p:sp>
      <p:sp>
        <p:nvSpPr>
          <p:cNvPr id="627" name="Google Shape;627;p22"/>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change owner AND group</a:t>
            </a:r>
            <a:endParaRPr b="0" i="0" sz="1100" u="none" cap="none" strike="noStrike">
              <a:solidFill>
                <a:schemeClr val="dk1"/>
              </a:solidFill>
              <a:latin typeface="Calibri"/>
              <a:ea typeface="Calibri"/>
              <a:cs typeface="Calibri"/>
              <a:sym typeface="Calibri"/>
            </a:endParaRPr>
          </a:p>
        </p:txBody>
      </p:sp>
      <p:sp>
        <p:nvSpPr>
          <p:cNvPr id="628" name="Google Shape;628;p22"/>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chown -R</a:t>
            </a:r>
            <a:endParaRPr b="0" i="0" sz="1150" u="none" cap="none" strike="noStrike">
              <a:solidFill>
                <a:schemeClr val="dk1"/>
              </a:solidFill>
              <a:latin typeface="Calibri"/>
              <a:ea typeface="Calibri"/>
              <a:cs typeface="Calibri"/>
              <a:sym typeface="Calibri"/>
            </a:endParaRPr>
          </a:p>
        </p:txBody>
      </p:sp>
      <p:sp>
        <p:nvSpPr>
          <p:cNvPr id="629" name="Google Shape;629;p22"/>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recurse (whole tree)</a:t>
            </a:r>
            <a:endParaRPr b="0" i="0" sz="1100" u="none" cap="none" strike="noStrike">
              <a:solidFill>
                <a:schemeClr val="dk1"/>
              </a:solidFill>
              <a:latin typeface="Calibri"/>
              <a:ea typeface="Calibri"/>
              <a:cs typeface="Calibri"/>
              <a:sym typeface="Calibri"/>
            </a:endParaRPr>
          </a:p>
        </p:txBody>
      </p:sp>
      <p:sp>
        <p:nvSpPr>
          <p:cNvPr id="630" name="Google Shape;630;p22"/>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chgrp g f</a:t>
            </a:r>
            <a:endParaRPr b="0" i="0" sz="1150" u="none" cap="none" strike="noStrike">
              <a:solidFill>
                <a:schemeClr val="dk1"/>
              </a:solidFill>
              <a:latin typeface="Calibri"/>
              <a:ea typeface="Calibri"/>
              <a:cs typeface="Calibri"/>
              <a:sym typeface="Calibri"/>
            </a:endParaRPr>
          </a:p>
        </p:txBody>
      </p:sp>
      <p:sp>
        <p:nvSpPr>
          <p:cNvPr id="631" name="Google Shape;631;p22"/>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change group only</a:t>
            </a:r>
            <a:endParaRPr b="0" i="0" sz="1100" u="none" cap="none" strike="noStrike">
              <a:solidFill>
                <a:schemeClr val="dk1"/>
              </a:solidFill>
              <a:latin typeface="Calibri"/>
              <a:ea typeface="Calibri"/>
              <a:cs typeface="Calibri"/>
              <a:sym typeface="Calibri"/>
            </a:endParaRPr>
          </a:p>
        </p:txBody>
      </p:sp>
      <p:sp>
        <p:nvSpPr>
          <p:cNvPr id="632" name="Google Shape;632;p22"/>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umask 022</a:t>
            </a:r>
            <a:endParaRPr b="0" i="0" sz="1150" u="none" cap="none" strike="noStrike">
              <a:solidFill>
                <a:schemeClr val="dk1"/>
              </a:solidFill>
              <a:latin typeface="Calibri"/>
              <a:ea typeface="Calibri"/>
              <a:cs typeface="Calibri"/>
              <a:sym typeface="Calibri"/>
            </a:endParaRPr>
          </a:p>
        </p:txBody>
      </p:sp>
      <p:sp>
        <p:nvSpPr>
          <p:cNvPr id="633" name="Google Shape;633;p22"/>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default perms for new files</a:t>
            </a:r>
            <a:endParaRPr b="0" i="0" sz="1100" u="none" cap="none" strike="noStrike">
              <a:solidFill>
                <a:schemeClr val="dk1"/>
              </a:solidFill>
              <a:latin typeface="Calibri"/>
              <a:ea typeface="Calibri"/>
              <a:cs typeface="Calibri"/>
              <a:sym typeface="Calibri"/>
            </a:endParaRPr>
          </a:p>
        </p:txBody>
      </p:sp>
      <p:sp>
        <p:nvSpPr>
          <p:cNvPr id="634" name="Google Shape;634;p22"/>
          <p:cNvSpPr/>
          <p:nvPr/>
        </p:nvSpPr>
        <p:spPr>
          <a:xfrm>
            <a:off x="4800600" y="1371600"/>
            <a:ext cx="3886200" cy="1874520"/>
          </a:xfrm>
          <a:prstGeom prst="roundRect">
            <a:avLst>
              <a:gd fmla="val 3415"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5" name="Google Shape;635;p22"/>
          <p:cNvSpPr/>
          <p:nvPr/>
        </p:nvSpPr>
        <p:spPr>
          <a:xfrm>
            <a:off x="4983480" y="1481328"/>
            <a:ext cx="35661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1250"/>
              <a:buFont typeface="Calibri"/>
              <a:buNone/>
            </a:pPr>
            <a:r>
              <a:rPr b="1" i="0" lang="en-US" sz="1250" u="none" cap="none" strike="noStrike">
                <a:solidFill>
                  <a:srgbClr val="0F172A"/>
                </a:solidFill>
                <a:latin typeface="Calibri"/>
                <a:ea typeface="Calibri"/>
                <a:cs typeface="Calibri"/>
                <a:sym typeface="Calibri"/>
              </a:rPr>
              <a:t>Special bits (advanced)</a:t>
            </a:r>
            <a:endParaRPr b="0" i="0" sz="1250" u="none" cap="none" strike="noStrike">
              <a:solidFill>
                <a:schemeClr val="dk1"/>
              </a:solidFill>
              <a:latin typeface="Calibri"/>
              <a:ea typeface="Calibri"/>
              <a:cs typeface="Calibri"/>
              <a:sym typeface="Calibri"/>
            </a:endParaRPr>
          </a:p>
        </p:txBody>
      </p:sp>
      <p:sp>
        <p:nvSpPr>
          <p:cNvPr id="636" name="Google Shape;636;p22"/>
          <p:cNvSpPr/>
          <p:nvPr/>
        </p:nvSpPr>
        <p:spPr>
          <a:xfrm>
            <a:off x="4983480" y="1810512"/>
            <a:ext cx="3566160" cy="1371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766E"/>
              </a:buClr>
              <a:buSzPts val="1200"/>
              <a:buFont typeface="Calibri"/>
              <a:buNone/>
            </a:pPr>
            <a:r>
              <a:rPr b="1" i="0" lang="en-US" sz="1200" u="none" cap="none" strike="noStrike">
                <a:solidFill>
                  <a:srgbClr val="0F766E"/>
                </a:solidFill>
                <a:latin typeface="Calibri"/>
                <a:ea typeface="Calibri"/>
                <a:cs typeface="Calibri"/>
                <a:sym typeface="Calibri"/>
              </a:rPr>
              <a:t>setuid (4)</a:t>
            </a:r>
            <a:r>
              <a:rPr b="0" i="0" lang="en-US" sz="1200" u="none" cap="none" strike="noStrike">
                <a:solidFill>
                  <a:srgbClr val="1E293B"/>
                </a:solidFill>
                <a:latin typeface="Calibri"/>
                <a:ea typeface="Calibri"/>
                <a:cs typeface="Calibri"/>
                <a:sym typeface="Calibri"/>
              </a:rPr>
              <a:t> run as file's owner (e.g. </a:t>
            </a:r>
            <a:r>
              <a:rPr b="0" i="0" lang="en-US" sz="1200" u="none" cap="none" strike="noStrike">
                <a:solidFill>
                  <a:srgbClr val="1E293B"/>
                </a:solidFill>
                <a:latin typeface="Courier New"/>
                <a:ea typeface="Courier New"/>
                <a:cs typeface="Courier New"/>
                <a:sym typeface="Courier New"/>
              </a:rPr>
              <a:t>passwd</a:t>
            </a:r>
            <a:r>
              <a:rPr b="0" i="0" lang="en-US" sz="1200" u="none" cap="none" strike="noStrike">
                <a:solidFill>
                  <a:srgbClr val="1E293B"/>
                </a:solidFill>
                <a:latin typeface="Calibri"/>
                <a:ea typeface="Calibri"/>
                <a:cs typeface="Calibri"/>
                <a:sym typeface="Calibri"/>
              </a:rPr>
              <a:t>)</a:t>
            </a:r>
            <a:br>
              <a:rPr b="0" i="0" lang="en-US" sz="1200" u="none" cap="none" strike="noStrike">
                <a:solidFill>
                  <a:srgbClr val="1E293B"/>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F766E"/>
              </a:buClr>
              <a:buSzPts val="1200"/>
              <a:buFont typeface="Calibri"/>
              <a:buNone/>
            </a:pPr>
            <a:r>
              <a:rPr b="1" i="0" lang="en-US" sz="1200" u="none" cap="none" strike="noStrike">
                <a:solidFill>
                  <a:srgbClr val="0F766E"/>
                </a:solidFill>
                <a:latin typeface="Calibri"/>
                <a:ea typeface="Calibri"/>
                <a:cs typeface="Calibri"/>
                <a:sym typeface="Calibri"/>
              </a:rPr>
              <a:t>setgid (2)</a:t>
            </a:r>
            <a:r>
              <a:rPr b="0" i="0" lang="en-US" sz="1200" u="none" cap="none" strike="noStrike">
                <a:solidFill>
                  <a:srgbClr val="1E293B"/>
                </a:solidFill>
                <a:latin typeface="Calibri"/>
                <a:ea typeface="Calibri"/>
                <a:cs typeface="Calibri"/>
                <a:sym typeface="Calibri"/>
              </a:rPr>
              <a:t> new files inherit the dir's group</a:t>
            </a:r>
            <a:br>
              <a:rPr b="0" i="0" lang="en-US" sz="1200" u="none" cap="none" strike="noStrike">
                <a:solidFill>
                  <a:srgbClr val="1E293B"/>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F766E"/>
              </a:buClr>
              <a:buSzPts val="1200"/>
              <a:buFont typeface="Calibri"/>
              <a:buNone/>
            </a:pPr>
            <a:r>
              <a:rPr b="1" i="0" lang="en-US" sz="1200" u="none" cap="none" strike="noStrike">
                <a:solidFill>
                  <a:srgbClr val="0F766E"/>
                </a:solidFill>
                <a:latin typeface="Calibri"/>
                <a:ea typeface="Calibri"/>
                <a:cs typeface="Calibri"/>
                <a:sym typeface="Calibri"/>
              </a:rPr>
              <a:t>sticky (1)</a:t>
            </a:r>
            <a:r>
              <a:rPr b="0" i="0" lang="en-US" sz="1200" u="none" cap="none" strike="noStrike">
                <a:solidFill>
                  <a:srgbClr val="1E293B"/>
                </a:solidFill>
                <a:latin typeface="Calibri"/>
                <a:ea typeface="Calibri"/>
                <a:cs typeface="Calibri"/>
                <a:sym typeface="Calibri"/>
              </a:rPr>
              <a:t> only owner can delete (e.g. </a:t>
            </a:r>
            <a:r>
              <a:rPr b="0" i="0" lang="en-US" sz="1200" u="none" cap="none" strike="noStrike">
                <a:solidFill>
                  <a:srgbClr val="1E293B"/>
                </a:solidFill>
                <a:latin typeface="Courier New"/>
                <a:ea typeface="Courier New"/>
                <a:cs typeface="Courier New"/>
                <a:sym typeface="Courier New"/>
              </a:rPr>
              <a:t>/tmp</a:t>
            </a:r>
            <a:r>
              <a:rPr b="0" i="0" lang="en-US" sz="1200" u="none" cap="none" strike="noStrike">
                <a:solidFill>
                  <a:srgbClr val="1E293B"/>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637" name="Google Shape;637;p22"/>
          <p:cNvSpPr/>
          <p:nvPr/>
        </p:nvSpPr>
        <p:spPr>
          <a:xfrm>
            <a:off x="457200" y="3383280"/>
            <a:ext cx="8229600" cy="1234440"/>
          </a:xfrm>
          <a:prstGeom prst="roundRect">
            <a:avLst>
              <a:gd fmla="val 5926"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8" name="Google Shape;638;p22"/>
          <p:cNvSpPr/>
          <p:nvPr/>
        </p:nvSpPr>
        <p:spPr>
          <a:xfrm>
            <a:off x="640080" y="352958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22"/>
          <p:cNvSpPr/>
          <p:nvPr/>
        </p:nvSpPr>
        <p:spPr>
          <a:xfrm>
            <a:off x="786384" y="352958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0" name="Google Shape;640;p22"/>
          <p:cNvSpPr/>
          <p:nvPr/>
        </p:nvSpPr>
        <p:spPr>
          <a:xfrm>
            <a:off x="932688" y="352958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1" name="Google Shape;641;p22"/>
          <p:cNvSpPr/>
          <p:nvPr/>
        </p:nvSpPr>
        <p:spPr>
          <a:xfrm>
            <a:off x="1097280" y="3456432"/>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root@server</a:t>
            </a:r>
            <a:endParaRPr b="0" i="0" sz="900" u="none" cap="none" strike="noStrike">
              <a:solidFill>
                <a:schemeClr val="dk1"/>
              </a:solidFill>
              <a:latin typeface="Calibri"/>
              <a:ea typeface="Calibri"/>
              <a:cs typeface="Calibri"/>
              <a:sym typeface="Calibri"/>
            </a:endParaRPr>
          </a:p>
        </p:txBody>
      </p:sp>
      <p:cxnSp>
        <p:nvCxnSpPr>
          <p:cNvPr id="642" name="Google Shape;642;p22"/>
          <p:cNvCxnSpPr/>
          <p:nvPr/>
        </p:nvCxnSpPr>
        <p:spPr>
          <a:xfrm>
            <a:off x="457200" y="3749040"/>
            <a:ext cx="8229600" cy="0"/>
          </a:xfrm>
          <a:prstGeom prst="straightConnector1">
            <a:avLst/>
          </a:prstGeom>
          <a:noFill/>
          <a:ln cap="flat" cmpd="sng" w="12700">
            <a:solidFill>
              <a:srgbClr val="1E293B"/>
            </a:solidFill>
            <a:prstDash val="solid"/>
            <a:round/>
            <a:headEnd len="sm" w="sm" type="none"/>
            <a:tailEnd len="sm" w="sm" type="none"/>
          </a:ln>
        </p:spPr>
      </p:cxnSp>
      <p:sp>
        <p:nvSpPr>
          <p:cNvPr id="643" name="Google Shape;643;p22"/>
          <p:cNvSpPr/>
          <p:nvPr/>
        </p:nvSpPr>
        <p:spPr>
          <a:xfrm>
            <a:off x="658368" y="3858768"/>
            <a:ext cx="7827264" cy="64922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hand the web root to the nginx user</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chown -R www-data:www-data /var/www/app</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ls -ld /var/www/app</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drwxr-xr-x  www-data www-data  /var/www/app</a:t>
            </a:r>
            <a:endParaRPr b="0" i="0" sz="1050" u="none" cap="none" strike="noStrike">
              <a:solidFill>
                <a:schemeClr val="dk1"/>
              </a:solidFill>
              <a:latin typeface="Calibri"/>
              <a:ea typeface="Calibri"/>
              <a:cs typeface="Calibri"/>
              <a:sym typeface="Calibri"/>
            </a:endParaRPr>
          </a:p>
        </p:txBody>
      </p:sp>
      <p:sp>
        <p:nvSpPr>
          <p:cNvPr id="644" name="Google Shape;644;p22"/>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645" name="Google Shape;645;p22"/>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2 · Permissions</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650" name="Shape 650"/>
        <p:cNvGrpSpPr/>
        <p:nvPr/>
      </p:nvGrpSpPr>
      <p:grpSpPr>
        <a:xfrm>
          <a:off x="0" y="0"/>
          <a:ext cx="0" cy="0"/>
          <a:chOff x="0" y="0"/>
          <a:chExt cx="0" cy="0"/>
        </a:xfrm>
      </p:grpSpPr>
      <p:sp>
        <p:nvSpPr>
          <p:cNvPr id="651" name="Google Shape;651;p23"/>
          <p:cNvSpPr/>
          <p:nvPr/>
        </p:nvSpPr>
        <p:spPr>
          <a:xfrm>
            <a:off x="640080" y="960120"/>
            <a:ext cx="3657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97316"/>
              </a:buClr>
              <a:buSzPts val="1700"/>
              <a:buFont typeface="Calibri"/>
              <a:buNone/>
            </a:pPr>
            <a:r>
              <a:rPr b="1" i="0" lang="en-US" sz="1700" u="none" cap="none" strike="noStrike">
                <a:solidFill>
                  <a:srgbClr val="F97316"/>
                </a:solidFill>
                <a:latin typeface="Calibri"/>
                <a:ea typeface="Calibri"/>
                <a:cs typeface="Calibri"/>
                <a:sym typeface="Calibri"/>
              </a:rPr>
              <a:t>DAY 3</a:t>
            </a:r>
            <a:endParaRPr b="0" i="0" sz="1700" u="none" cap="none" strike="noStrike">
              <a:solidFill>
                <a:schemeClr val="dk1"/>
              </a:solidFill>
              <a:latin typeface="Calibri"/>
              <a:ea typeface="Calibri"/>
              <a:cs typeface="Calibri"/>
              <a:sym typeface="Calibri"/>
            </a:endParaRPr>
          </a:p>
        </p:txBody>
      </p:sp>
      <p:sp>
        <p:nvSpPr>
          <p:cNvPr id="652" name="Google Shape;652;p23"/>
          <p:cNvSpPr/>
          <p:nvPr/>
        </p:nvSpPr>
        <p:spPr>
          <a:xfrm>
            <a:off x="640080" y="1417320"/>
            <a:ext cx="676656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900"/>
              <a:buFont typeface="Bookman Old Style"/>
              <a:buNone/>
            </a:pPr>
            <a:r>
              <a:rPr b="1" i="0" lang="en-US" sz="3900" u="none" cap="none" strike="noStrike">
                <a:solidFill>
                  <a:srgbClr val="FFFFFF"/>
                </a:solidFill>
                <a:latin typeface="Bookman Old Style"/>
                <a:ea typeface="Bookman Old Style"/>
                <a:cs typeface="Bookman Old Style"/>
                <a:sym typeface="Bookman Old Style"/>
              </a:rPr>
              <a:t>Text Processing &amp; Filtering</a:t>
            </a:r>
            <a:endParaRPr b="0" i="0" sz="3900" u="none" cap="none" strike="noStrike">
              <a:solidFill>
                <a:schemeClr val="dk1"/>
              </a:solidFill>
              <a:latin typeface="Calibri"/>
              <a:ea typeface="Calibri"/>
              <a:cs typeface="Calibri"/>
              <a:sym typeface="Calibri"/>
            </a:endParaRPr>
          </a:p>
        </p:txBody>
      </p:sp>
      <p:sp>
        <p:nvSpPr>
          <p:cNvPr id="653" name="Google Shape;653;p23"/>
          <p:cNvSpPr/>
          <p:nvPr/>
        </p:nvSpPr>
        <p:spPr>
          <a:xfrm>
            <a:off x="658368" y="2487168"/>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500"/>
              <a:buFont typeface="Calibri"/>
              <a:buNone/>
            </a:pPr>
            <a:r>
              <a:rPr b="0" i="1" lang="en-US" sz="1500" u="none" cap="none" strike="noStrike">
                <a:solidFill>
                  <a:srgbClr val="94A3B8"/>
                </a:solidFill>
                <a:latin typeface="Calibri"/>
                <a:ea typeface="Calibri"/>
                <a:cs typeface="Calibri"/>
                <a:sym typeface="Calibri"/>
              </a:rPr>
              <a:t>Logs, configs, API responses — it's all text. The engineer who can slice text wins.</a:t>
            </a:r>
            <a:endParaRPr b="0" i="0" sz="1500" u="none" cap="none" strike="noStrike">
              <a:solidFill>
                <a:schemeClr val="dk1"/>
              </a:solidFill>
              <a:latin typeface="Calibri"/>
              <a:ea typeface="Calibri"/>
              <a:cs typeface="Calibri"/>
              <a:sym typeface="Calibri"/>
            </a:endParaRPr>
          </a:p>
        </p:txBody>
      </p:sp>
      <p:sp>
        <p:nvSpPr>
          <p:cNvPr id="654" name="Google Shape;654;p23"/>
          <p:cNvSpPr/>
          <p:nvPr/>
        </p:nvSpPr>
        <p:spPr>
          <a:xfrm>
            <a:off x="7315200" y="914400"/>
            <a:ext cx="1280160" cy="1280160"/>
          </a:xfrm>
          <a:prstGeom prst="ellipse">
            <a:avLst/>
          </a:prstGeom>
          <a:solidFill>
            <a:srgbClr val="1E293B"/>
          </a:solidFill>
          <a:ln cap="flat" cmpd="sng" w="1905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55" name="Google Shape;655;p23"/>
          <p:cNvPicPr preferRelativeResize="0"/>
          <p:nvPr/>
        </p:nvPicPr>
        <p:blipFill rotWithShape="1">
          <a:blip r:embed="rId3">
            <a:alphaModFix/>
          </a:blip>
          <a:srcRect b="0" l="0" r="0" t="0"/>
          <a:stretch/>
        </p:blipFill>
        <p:spPr>
          <a:xfrm>
            <a:off x="7680960" y="1280160"/>
            <a:ext cx="548640" cy="548640"/>
          </a:xfrm>
          <a:prstGeom prst="rect">
            <a:avLst/>
          </a:prstGeom>
          <a:noFill/>
          <a:ln>
            <a:noFill/>
          </a:ln>
        </p:spPr>
      </p:pic>
      <p:sp>
        <p:nvSpPr>
          <p:cNvPr id="656" name="Google Shape;656;p23"/>
          <p:cNvSpPr/>
          <p:nvPr/>
        </p:nvSpPr>
        <p:spPr>
          <a:xfrm>
            <a:off x="640080" y="3383280"/>
            <a:ext cx="713232"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7" name="Google Shape;657;p23"/>
          <p:cNvSpPr/>
          <p:nvPr/>
        </p:nvSpPr>
        <p:spPr>
          <a:xfrm>
            <a:off x="640080" y="3383280"/>
            <a:ext cx="71323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pipes</a:t>
            </a:r>
            <a:endParaRPr b="0" i="0" sz="1250" u="none" cap="none" strike="noStrike">
              <a:solidFill>
                <a:schemeClr val="dk1"/>
              </a:solidFill>
              <a:latin typeface="Calibri"/>
              <a:ea typeface="Calibri"/>
              <a:cs typeface="Calibri"/>
              <a:sym typeface="Calibri"/>
            </a:endParaRPr>
          </a:p>
        </p:txBody>
      </p:sp>
      <p:sp>
        <p:nvSpPr>
          <p:cNvPr id="658" name="Google Shape;658;p23"/>
          <p:cNvSpPr/>
          <p:nvPr/>
        </p:nvSpPr>
        <p:spPr>
          <a:xfrm>
            <a:off x="1517904" y="3383280"/>
            <a:ext cx="629107"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9" name="Google Shape;659;p23"/>
          <p:cNvSpPr/>
          <p:nvPr/>
        </p:nvSpPr>
        <p:spPr>
          <a:xfrm>
            <a:off x="1517904" y="3383280"/>
            <a:ext cx="629107"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grep</a:t>
            </a:r>
            <a:endParaRPr b="0" i="0" sz="1250" u="none" cap="none" strike="noStrike">
              <a:solidFill>
                <a:schemeClr val="dk1"/>
              </a:solidFill>
              <a:latin typeface="Calibri"/>
              <a:ea typeface="Calibri"/>
              <a:cs typeface="Calibri"/>
              <a:sym typeface="Calibri"/>
            </a:endParaRPr>
          </a:p>
        </p:txBody>
      </p:sp>
      <p:sp>
        <p:nvSpPr>
          <p:cNvPr id="660" name="Google Shape;660;p23"/>
          <p:cNvSpPr/>
          <p:nvPr/>
        </p:nvSpPr>
        <p:spPr>
          <a:xfrm>
            <a:off x="2311603" y="3383280"/>
            <a:ext cx="544982"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23"/>
          <p:cNvSpPr/>
          <p:nvPr/>
        </p:nvSpPr>
        <p:spPr>
          <a:xfrm>
            <a:off x="2311603" y="3383280"/>
            <a:ext cx="54498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cut</a:t>
            </a:r>
            <a:endParaRPr b="0" i="0" sz="1250" u="none" cap="none" strike="noStrike">
              <a:solidFill>
                <a:schemeClr val="dk1"/>
              </a:solidFill>
              <a:latin typeface="Calibri"/>
              <a:ea typeface="Calibri"/>
              <a:cs typeface="Calibri"/>
              <a:sym typeface="Calibri"/>
            </a:endParaRPr>
          </a:p>
        </p:txBody>
      </p:sp>
      <p:sp>
        <p:nvSpPr>
          <p:cNvPr id="662" name="Google Shape;662;p23"/>
          <p:cNvSpPr/>
          <p:nvPr/>
        </p:nvSpPr>
        <p:spPr>
          <a:xfrm>
            <a:off x="3021178" y="3383280"/>
            <a:ext cx="544982"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23"/>
          <p:cNvSpPr/>
          <p:nvPr/>
        </p:nvSpPr>
        <p:spPr>
          <a:xfrm>
            <a:off x="3021178" y="3383280"/>
            <a:ext cx="54498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sed</a:t>
            </a:r>
            <a:endParaRPr b="0" i="0" sz="1250" u="none" cap="none" strike="noStrike">
              <a:solidFill>
                <a:schemeClr val="dk1"/>
              </a:solidFill>
              <a:latin typeface="Calibri"/>
              <a:ea typeface="Calibri"/>
              <a:cs typeface="Calibri"/>
              <a:sym typeface="Calibri"/>
            </a:endParaRPr>
          </a:p>
        </p:txBody>
      </p:sp>
      <p:sp>
        <p:nvSpPr>
          <p:cNvPr id="664" name="Google Shape;664;p23"/>
          <p:cNvSpPr/>
          <p:nvPr/>
        </p:nvSpPr>
        <p:spPr>
          <a:xfrm>
            <a:off x="3730752" y="3383280"/>
            <a:ext cx="544982"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23"/>
          <p:cNvSpPr/>
          <p:nvPr/>
        </p:nvSpPr>
        <p:spPr>
          <a:xfrm>
            <a:off x="3730752" y="3383280"/>
            <a:ext cx="54498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awk</a:t>
            </a:r>
            <a:endParaRPr b="0" i="0" sz="1250" u="none" cap="none" strike="noStrike">
              <a:solidFill>
                <a:schemeClr val="dk1"/>
              </a:solidFill>
              <a:latin typeface="Calibri"/>
              <a:ea typeface="Calibri"/>
              <a:cs typeface="Calibri"/>
              <a:sym typeface="Calibri"/>
            </a:endParaRPr>
          </a:p>
        </p:txBody>
      </p:sp>
      <p:sp>
        <p:nvSpPr>
          <p:cNvPr id="666" name="Google Shape;666;p23"/>
          <p:cNvSpPr/>
          <p:nvPr/>
        </p:nvSpPr>
        <p:spPr>
          <a:xfrm>
            <a:off x="4440326" y="3383280"/>
            <a:ext cx="460858"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23"/>
          <p:cNvSpPr/>
          <p:nvPr/>
        </p:nvSpPr>
        <p:spPr>
          <a:xfrm>
            <a:off x="4440326" y="3383280"/>
            <a:ext cx="460858"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jq</a:t>
            </a:r>
            <a:endParaRPr b="0" i="0" sz="1250" u="none" cap="none" strike="noStrike">
              <a:solidFill>
                <a:schemeClr val="dk1"/>
              </a:solidFill>
              <a:latin typeface="Calibri"/>
              <a:ea typeface="Calibri"/>
              <a:cs typeface="Calibri"/>
              <a:sym typeface="Calibri"/>
            </a:endParaRPr>
          </a:p>
        </p:txBody>
      </p:sp>
      <p:sp>
        <p:nvSpPr>
          <p:cNvPr id="668" name="Google Shape;668;p23"/>
          <p:cNvSpPr/>
          <p:nvPr/>
        </p:nvSpPr>
        <p:spPr>
          <a:xfrm>
            <a:off x="5065776" y="3383280"/>
            <a:ext cx="460858"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23"/>
          <p:cNvSpPr/>
          <p:nvPr/>
        </p:nvSpPr>
        <p:spPr>
          <a:xfrm>
            <a:off x="5065776" y="3383280"/>
            <a:ext cx="460858"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yq</a:t>
            </a:r>
            <a:endParaRPr b="0" i="0" sz="1250" u="none" cap="none" strike="noStrike">
              <a:solidFill>
                <a:schemeClr val="dk1"/>
              </a:solidFill>
              <a:latin typeface="Calibri"/>
              <a:ea typeface="Calibri"/>
              <a:cs typeface="Calibri"/>
              <a:sym typeface="Calibri"/>
            </a:endParaRPr>
          </a:p>
        </p:txBody>
      </p:sp>
      <p:sp>
        <p:nvSpPr>
          <p:cNvPr id="670" name="Google Shape;670;p23"/>
          <p:cNvSpPr/>
          <p:nvPr/>
        </p:nvSpPr>
        <p:spPr>
          <a:xfrm>
            <a:off x="640080" y="457200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the command line is the DevOps workplace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675" name="Shape 675"/>
        <p:cNvGrpSpPr/>
        <p:nvPr/>
      </p:nvGrpSpPr>
      <p:grpSpPr>
        <a:xfrm>
          <a:off x="0" y="0"/>
          <a:ext cx="0" cy="0"/>
          <a:chOff x="0" y="0"/>
          <a:chExt cx="0" cy="0"/>
        </a:xfrm>
      </p:grpSpPr>
      <p:sp>
        <p:nvSpPr>
          <p:cNvPr id="676" name="Google Shape;676;p24"/>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The Unix philosophy: small tools, piped</a:t>
            </a:r>
            <a:endParaRPr b="0" i="0" sz="2900" u="none" cap="none" strike="noStrike">
              <a:solidFill>
                <a:schemeClr val="dk1"/>
              </a:solidFill>
              <a:latin typeface="Calibri"/>
              <a:ea typeface="Calibri"/>
              <a:cs typeface="Calibri"/>
              <a:sym typeface="Calibri"/>
            </a:endParaRPr>
          </a:p>
        </p:txBody>
      </p:sp>
      <p:sp>
        <p:nvSpPr>
          <p:cNvPr id="677" name="Google Shape;677;p24"/>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78" name="Google Shape;678;p24"/>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679" name="Google Shape;679;p24"/>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One giant command rarely exists — you build the answer by chaining simple tools.</a:t>
            </a:r>
            <a:endParaRPr b="0" i="0" sz="1300" u="none" cap="none" strike="noStrike">
              <a:solidFill>
                <a:schemeClr val="dk1"/>
              </a:solidFill>
              <a:latin typeface="Calibri"/>
              <a:ea typeface="Calibri"/>
              <a:cs typeface="Calibri"/>
              <a:sym typeface="Calibri"/>
            </a:endParaRPr>
          </a:p>
        </p:txBody>
      </p:sp>
      <p:sp>
        <p:nvSpPr>
          <p:cNvPr id="680" name="Google Shape;680;p24"/>
          <p:cNvSpPr/>
          <p:nvPr/>
        </p:nvSpPr>
        <p:spPr>
          <a:xfrm>
            <a:off x="457200" y="1508760"/>
            <a:ext cx="1874520" cy="685800"/>
          </a:xfrm>
          <a:prstGeom prst="roundRect">
            <a:avLst>
              <a:gd fmla="val 1066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24"/>
          <p:cNvSpPr/>
          <p:nvPr/>
        </p:nvSpPr>
        <p:spPr>
          <a:xfrm>
            <a:off x="502920" y="1508760"/>
            <a:ext cx="178308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E293B"/>
              </a:buClr>
              <a:buSzPts val="1100"/>
              <a:buFont typeface="Courier New"/>
              <a:buNone/>
            </a:pPr>
            <a:r>
              <a:rPr b="1" i="0" lang="en-US" sz="1100" u="none" cap="none" strike="noStrike">
                <a:solidFill>
                  <a:srgbClr val="1E293B"/>
                </a:solidFill>
                <a:latin typeface="Courier New"/>
                <a:ea typeface="Courier New"/>
                <a:cs typeface="Courier New"/>
                <a:sym typeface="Courier New"/>
              </a:rPr>
              <a:t>cat access.log</a:t>
            </a:r>
            <a:endParaRPr b="0" i="0" sz="1100" u="none" cap="none" strike="noStrike">
              <a:solidFill>
                <a:schemeClr val="dk1"/>
              </a:solidFill>
              <a:latin typeface="Calibri"/>
              <a:ea typeface="Calibri"/>
              <a:cs typeface="Calibri"/>
              <a:sym typeface="Calibri"/>
            </a:endParaRPr>
          </a:p>
        </p:txBody>
      </p:sp>
      <p:sp>
        <p:nvSpPr>
          <p:cNvPr id="682" name="Google Shape;682;p24"/>
          <p:cNvSpPr/>
          <p:nvPr/>
        </p:nvSpPr>
        <p:spPr>
          <a:xfrm>
            <a:off x="2313432" y="1508760"/>
            <a:ext cx="256032"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97316"/>
              </a:buClr>
              <a:buSzPts val="2200"/>
              <a:buFont typeface="Courier New"/>
              <a:buNone/>
            </a:pPr>
            <a:r>
              <a:rPr b="1" i="0" lang="en-US" sz="2200" u="none" cap="none" strike="noStrike">
                <a:solidFill>
                  <a:srgbClr val="F97316"/>
                </a:solidFill>
                <a:latin typeface="Courier New"/>
                <a:ea typeface="Courier New"/>
                <a:cs typeface="Courier New"/>
                <a:sym typeface="Courier New"/>
              </a:rPr>
              <a:t>|</a:t>
            </a:r>
            <a:endParaRPr b="0" i="0" sz="2200" u="none" cap="none" strike="noStrike">
              <a:solidFill>
                <a:schemeClr val="dk1"/>
              </a:solidFill>
              <a:latin typeface="Calibri"/>
              <a:ea typeface="Calibri"/>
              <a:cs typeface="Calibri"/>
              <a:sym typeface="Calibri"/>
            </a:endParaRPr>
          </a:p>
        </p:txBody>
      </p:sp>
      <p:sp>
        <p:nvSpPr>
          <p:cNvPr id="683" name="Google Shape;683;p24"/>
          <p:cNvSpPr/>
          <p:nvPr/>
        </p:nvSpPr>
        <p:spPr>
          <a:xfrm>
            <a:off x="2569464" y="1508760"/>
            <a:ext cx="1874520" cy="685800"/>
          </a:xfrm>
          <a:prstGeom prst="roundRect">
            <a:avLst>
              <a:gd fmla="val 10667" name="adj"/>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24"/>
          <p:cNvSpPr/>
          <p:nvPr/>
        </p:nvSpPr>
        <p:spPr>
          <a:xfrm>
            <a:off x="2615184" y="1508760"/>
            <a:ext cx="178308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66E"/>
              </a:buClr>
              <a:buSzPts val="1100"/>
              <a:buFont typeface="Courier New"/>
              <a:buNone/>
            </a:pPr>
            <a:r>
              <a:rPr b="1" i="0" lang="en-US" sz="1100" u="none" cap="none" strike="noStrike">
                <a:solidFill>
                  <a:srgbClr val="0F766E"/>
                </a:solidFill>
                <a:latin typeface="Courier New"/>
                <a:ea typeface="Courier New"/>
                <a:cs typeface="Courier New"/>
                <a:sym typeface="Courier New"/>
              </a:rPr>
              <a:t>grep ' 500 '</a:t>
            </a:r>
            <a:endParaRPr b="0" i="0" sz="1100" u="none" cap="none" strike="noStrike">
              <a:solidFill>
                <a:schemeClr val="dk1"/>
              </a:solidFill>
              <a:latin typeface="Calibri"/>
              <a:ea typeface="Calibri"/>
              <a:cs typeface="Calibri"/>
              <a:sym typeface="Calibri"/>
            </a:endParaRPr>
          </a:p>
        </p:txBody>
      </p:sp>
      <p:sp>
        <p:nvSpPr>
          <p:cNvPr id="685" name="Google Shape;685;p24"/>
          <p:cNvSpPr/>
          <p:nvPr/>
        </p:nvSpPr>
        <p:spPr>
          <a:xfrm>
            <a:off x="4425696" y="1508760"/>
            <a:ext cx="256032"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97316"/>
              </a:buClr>
              <a:buSzPts val="2200"/>
              <a:buFont typeface="Courier New"/>
              <a:buNone/>
            </a:pPr>
            <a:r>
              <a:rPr b="1" i="0" lang="en-US" sz="2200" u="none" cap="none" strike="noStrike">
                <a:solidFill>
                  <a:srgbClr val="F97316"/>
                </a:solidFill>
                <a:latin typeface="Courier New"/>
                <a:ea typeface="Courier New"/>
                <a:cs typeface="Courier New"/>
                <a:sym typeface="Courier New"/>
              </a:rPr>
              <a:t>|</a:t>
            </a:r>
            <a:endParaRPr b="0" i="0" sz="2200" u="none" cap="none" strike="noStrike">
              <a:solidFill>
                <a:schemeClr val="dk1"/>
              </a:solidFill>
              <a:latin typeface="Calibri"/>
              <a:ea typeface="Calibri"/>
              <a:cs typeface="Calibri"/>
              <a:sym typeface="Calibri"/>
            </a:endParaRPr>
          </a:p>
        </p:txBody>
      </p:sp>
      <p:sp>
        <p:nvSpPr>
          <p:cNvPr id="686" name="Google Shape;686;p24"/>
          <p:cNvSpPr/>
          <p:nvPr/>
        </p:nvSpPr>
        <p:spPr>
          <a:xfrm>
            <a:off x="4681728" y="1508760"/>
            <a:ext cx="1874520" cy="685800"/>
          </a:xfrm>
          <a:prstGeom prst="roundRect">
            <a:avLst>
              <a:gd fmla="val 10667" name="adj"/>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7" name="Google Shape;687;p24"/>
          <p:cNvSpPr/>
          <p:nvPr/>
        </p:nvSpPr>
        <p:spPr>
          <a:xfrm>
            <a:off x="4727448" y="1508760"/>
            <a:ext cx="178308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66E"/>
              </a:buClr>
              <a:buSzPts val="1100"/>
              <a:buFont typeface="Courier New"/>
              <a:buNone/>
            </a:pPr>
            <a:r>
              <a:rPr b="1" i="0" lang="en-US" sz="1100" u="none" cap="none" strike="noStrike">
                <a:solidFill>
                  <a:srgbClr val="0F766E"/>
                </a:solidFill>
                <a:latin typeface="Courier New"/>
                <a:ea typeface="Courier New"/>
                <a:cs typeface="Courier New"/>
                <a:sym typeface="Courier New"/>
              </a:rPr>
              <a:t>awk '{print $1}'</a:t>
            </a:r>
            <a:endParaRPr b="0" i="0" sz="1100" u="none" cap="none" strike="noStrike">
              <a:solidFill>
                <a:schemeClr val="dk1"/>
              </a:solidFill>
              <a:latin typeface="Calibri"/>
              <a:ea typeface="Calibri"/>
              <a:cs typeface="Calibri"/>
              <a:sym typeface="Calibri"/>
            </a:endParaRPr>
          </a:p>
        </p:txBody>
      </p:sp>
      <p:sp>
        <p:nvSpPr>
          <p:cNvPr id="688" name="Google Shape;688;p24"/>
          <p:cNvSpPr/>
          <p:nvPr/>
        </p:nvSpPr>
        <p:spPr>
          <a:xfrm>
            <a:off x="6537960" y="1508760"/>
            <a:ext cx="256032"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97316"/>
              </a:buClr>
              <a:buSzPts val="2200"/>
              <a:buFont typeface="Courier New"/>
              <a:buNone/>
            </a:pPr>
            <a:r>
              <a:rPr b="1" i="0" lang="en-US" sz="2200" u="none" cap="none" strike="noStrike">
                <a:solidFill>
                  <a:srgbClr val="F97316"/>
                </a:solidFill>
                <a:latin typeface="Courier New"/>
                <a:ea typeface="Courier New"/>
                <a:cs typeface="Courier New"/>
                <a:sym typeface="Courier New"/>
              </a:rPr>
              <a:t>|</a:t>
            </a:r>
            <a:endParaRPr b="0" i="0" sz="2200" u="none" cap="none" strike="noStrike">
              <a:solidFill>
                <a:schemeClr val="dk1"/>
              </a:solidFill>
              <a:latin typeface="Calibri"/>
              <a:ea typeface="Calibri"/>
              <a:cs typeface="Calibri"/>
              <a:sym typeface="Calibri"/>
            </a:endParaRPr>
          </a:p>
        </p:txBody>
      </p:sp>
      <p:sp>
        <p:nvSpPr>
          <p:cNvPr id="689" name="Google Shape;689;p24"/>
          <p:cNvSpPr/>
          <p:nvPr/>
        </p:nvSpPr>
        <p:spPr>
          <a:xfrm>
            <a:off x="6793992" y="1508760"/>
            <a:ext cx="1874520" cy="685800"/>
          </a:xfrm>
          <a:prstGeom prst="roundRect">
            <a:avLst>
              <a:gd fmla="val 10667" name="adj"/>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0" name="Google Shape;690;p24"/>
          <p:cNvSpPr/>
          <p:nvPr/>
        </p:nvSpPr>
        <p:spPr>
          <a:xfrm>
            <a:off x="6839712" y="1508760"/>
            <a:ext cx="1783080" cy="685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66E"/>
              </a:buClr>
              <a:buSzPts val="1100"/>
              <a:buFont typeface="Courier New"/>
              <a:buNone/>
            </a:pPr>
            <a:r>
              <a:rPr b="1" i="0" lang="en-US" sz="1100" u="none" cap="none" strike="noStrike">
                <a:solidFill>
                  <a:srgbClr val="0F766E"/>
                </a:solidFill>
                <a:latin typeface="Courier New"/>
                <a:ea typeface="Courier New"/>
                <a:cs typeface="Courier New"/>
                <a:sym typeface="Courier New"/>
              </a:rPr>
              <a:t>sort | uniq -c</a:t>
            </a:r>
            <a:endParaRPr b="0" i="0" sz="1100" u="none" cap="none" strike="noStrike">
              <a:solidFill>
                <a:schemeClr val="dk1"/>
              </a:solidFill>
              <a:latin typeface="Calibri"/>
              <a:ea typeface="Calibri"/>
              <a:cs typeface="Calibri"/>
              <a:sym typeface="Calibri"/>
            </a:endParaRPr>
          </a:p>
        </p:txBody>
      </p:sp>
      <p:sp>
        <p:nvSpPr>
          <p:cNvPr id="691" name="Google Shape;691;p24"/>
          <p:cNvSpPr/>
          <p:nvPr/>
        </p:nvSpPr>
        <p:spPr>
          <a:xfrm>
            <a:off x="457200" y="2331720"/>
            <a:ext cx="822960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2410C"/>
              </a:buClr>
              <a:buSzPts val="1250"/>
              <a:buFont typeface="Calibri"/>
              <a:buNone/>
            </a:pPr>
            <a:r>
              <a:rPr b="0" i="1" lang="en-US" sz="1250" u="none" cap="none" strike="noStrike">
                <a:solidFill>
                  <a:srgbClr val="C2410C"/>
                </a:solidFill>
                <a:latin typeface="Calibri"/>
                <a:ea typeface="Calibri"/>
                <a:cs typeface="Calibri"/>
                <a:sym typeface="Calibri"/>
              </a:rPr>
              <a:t>"count how many distinct IPs hit my server with a 500 error" — assembled from four small tools.</a:t>
            </a:r>
            <a:endParaRPr b="0" i="0" sz="1250" u="none" cap="none" strike="noStrike">
              <a:solidFill>
                <a:schemeClr val="dk1"/>
              </a:solidFill>
              <a:latin typeface="Calibri"/>
              <a:ea typeface="Calibri"/>
              <a:cs typeface="Calibri"/>
              <a:sym typeface="Calibri"/>
            </a:endParaRPr>
          </a:p>
        </p:txBody>
      </p:sp>
      <p:sp>
        <p:nvSpPr>
          <p:cNvPr id="692" name="Google Shape;692;p24"/>
          <p:cNvSpPr/>
          <p:nvPr/>
        </p:nvSpPr>
        <p:spPr>
          <a:xfrm>
            <a:off x="457200" y="2926080"/>
            <a:ext cx="2706624" cy="1600200"/>
          </a:xfrm>
          <a:prstGeom prst="roundRect">
            <a:avLst>
              <a:gd fmla="val 400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3" name="Google Shape;693;p24"/>
          <p:cNvSpPr/>
          <p:nvPr/>
        </p:nvSpPr>
        <p:spPr>
          <a:xfrm>
            <a:off x="640080" y="3063240"/>
            <a:ext cx="2340864"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300"/>
              <a:buFont typeface="Courier New"/>
              <a:buNone/>
            </a:pPr>
            <a:r>
              <a:rPr b="1" i="0" lang="en-US" sz="1300" u="none" cap="none" strike="noStrike">
                <a:solidFill>
                  <a:srgbClr val="0F766E"/>
                </a:solidFill>
                <a:latin typeface="Courier New"/>
                <a:ea typeface="Courier New"/>
                <a:cs typeface="Courier New"/>
                <a:sym typeface="Courier New"/>
              </a:rPr>
              <a:t>stdin / stdout</a:t>
            </a:r>
            <a:endParaRPr b="0" i="0" sz="1300" u="none" cap="none" strike="noStrike">
              <a:solidFill>
                <a:schemeClr val="dk1"/>
              </a:solidFill>
              <a:latin typeface="Calibri"/>
              <a:ea typeface="Calibri"/>
              <a:cs typeface="Calibri"/>
              <a:sym typeface="Calibri"/>
            </a:endParaRPr>
          </a:p>
        </p:txBody>
      </p:sp>
      <p:sp>
        <p:nvSpPr>
          <p:cNvPr id="694" name="Google Shape;694;p24"/>
          <p:cNvSpPr/>
          <p:nvPr/>
        </p:nvSpPr>
        <p:spPr>
          <a:xfrm>
            <a:off x="640080" y="3456432"/>
            <a:ext cx="2340864"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93B"/>
              </a:buClr>
              <a:buSzPts val="1150"/>
              <a:buFont typeface="Calibri"/>
              <a:buNone/>
            </a:pPr>
            <a:r>
              <a:rPr b="0" i="0" lang="en-US" sz="1150" u="none" cap="none" strike="noStrike">
                <a:solidFill>
                  <a:srgbClr val="1E293B"/>
                </a:solidFill>
                <a:latin typeface="Calibri"/>
                <a:ea typeface="Calibri"/>
                <a:cs typeface="Calibri"/>
                <a:sym typeface="Calibri"/>
              </a:rPr>
              <a:t>Tools read from input, write to output. The pipe | wires one's output to the next's input.</a:t>
            </a:r>
            <a:endParaRPr b="0" i="0" sz="1150" u="none" cap="none" strike="noStrike">
              <a:solidFill>
                <a:schemeClr val="dk1"/>
              </a:solidFill>
              <a:latin typeface="Calibri"/>
              <a:ea typeface="Calibri"/>
              <a:cs typeface="Calibri"/>
              <a:sym typeface="Calibri"/>
            </a:endParaRPr>
          </a:p>
        </p:txBody>
      </p:sp>
      <p:sp>
        <p:nvSpPr>
          <p:cNvPr id="695" name="Google Shape;695;p24"/>
          <p:cNvSpPr/>
          <p:nvPr/>
        </p:nvSpPr>
        <p:spPr>
          <a:xfrm>
            <a:off x="3264408" y="2926080"/>
            <a:ext cx="2706624" cy="1600200"/>
          </a:xfrm>
          <a:prstGeom prst="roundRect">
            <a:avLst>
              <a:gd fmla="val 400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24"/>
          <p:cNvSpPr/>
          <p:nvPr/>
        </p:nvSpPr>
        <p:spPr>
          <a:xfrm>
            <a:off x="3447288" y="3063240"/>
            <a:ext cx="2340864"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300"/>
              <a:buFont typeface="Courier New"/>
              <a:buNone/>
            </a:pPr>
            <a:r>
              <a:rPr b="1" i="0" lang="en-US" sz="1300" u="none" cap="none" strike="noStrike">
                <a:solidFill>
                  <a:srgbClr val="0F766E"/>
                </a:solidFill>
                <a:latin typeface="Courier New"/>
                <a:ea typeface="Courier New"/>
                <a:cs typeface="Courier New"/>
                <a:sym typeface="Courier New"/>
              </a:rPr>
              <a:t>stderr</a:t>
            </a:r>
            <a:endParaRPr b="0" i="0" sz="1300" u="none" cap="none" strike="noStrike">
              <a:solidFill>
                <a:schemeClr val="dk1"/>
              </a:solidFill>
              <a:latin typeface="Calibri"/>
              <a:ea typeface="Calibri"/>
              <a:cs typeface="Calibri"/>
              <a:sym typeface="Calibri"/>
            </a:endParaRPr>
          </a:p>
        </p:txBody>
      </p:sp>
      <p:sp>
        <p:nvSpPr>
          <p:cNvPr id="697" name="Google Shape;697;p24"/>
          <p:cNvSpPr/>
          <p:nvPr/>
        </p:nvSpPr>
        <p:spPr>
          <a:xfrm>
            <a:off x="3447288" y="3456432"/>
            <a:ext cx="2340864"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93B"/>
              </a:buClr>
              <a:buSzPts val="1150"/>
              <a:buFont typeface="Calibri"/>
              <a:buNone/>
            </a:pPr>
            <a:r>
              <a:rPr b="0" i="0" lang="en-US" sz="1150" u="none" cap="none" strike="noStrike">
                <a:solidFill>
                  <a:srgbClr val="1E293B"/>
                </a:solidFill>
                <a:latin typeface="Calibri"/>
                <a:ea typeface="Calibri"/>
                <a:cs typeface="Calibri"/>
                <a:sym typeface="Calibri"/>
              </a:rPr>
              <a:t>Errors flow on a separate channel (2) so they don't pollute your data. Redirect with 2&gt;.</a:t>
            </a:r>
            <a:endParaRPr b="0" i="0" sz="1150" u="none" cap="none" strike="noStrike">
              <a:solidFill>
                <a:schemeClr val="dk1"/>
              </a:solidFill>
              <a:latin typeface="Calibri"/>
              <a:ea typeface="Calibri"/>
              <a:cs typeface="Calibri"/>
              <a:sym typeface="Calibri"/>
            </a:endParaRPr>
          </a:p>
        </p:txBody>
      </p:sp>
      <p:sp>
        <p:nvSpPr>
          <p:cNvPr id="698" name="Google Shape;698;p24"/>
          <p:cNvSpPr/>
          <p:nvPr/>
        </p:nvSpPr>
        <p:spPr>
          <a:xfrm>
            <a:off x="6071616" y="2926080"/>
            <a:ext cx="2706624" cy="1600200"/>
          </a:xfrm>
          <a:prstGeom prst="roundRect">
            <a:avLst>
              <a:gd fmla="val 400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24"/>
          <p:cNvSpPr/>
          <p:nvPr/>
        </p:nvSpPr>
        <p:spPr>
          <a:xfrm>
            <a:off x="6254496" y="3063240"/>
            <a:ext cx="2340864"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300"/>
              <a:buFont typeface="Courier New"/>
              <a:buNone/>
            </a:pPr>
            <a:r>
              <a:rPr b="1" i="0" lang="en-US" sz="1300" u="none" cap="none" strike="noStrike">
                <a:solidFill>
                  <a:srgbClr val="0F766E"/>
                </a:solidFill>
                <a:latin typeface="Courier New"/>
                <a:ea typeface="Courier New"/>
                <a:cs typeface="Courier New"/>
                <a:sym typeface="Courier New"/>
              </a:rPr>
              <a:t>redirection</a:t>
            </a:r>
            <a:endParaRPr b="0" i="0" sz="1300" u="none" cap="none" strike="noStrike">
              <a:solidFill>
                <a:schemeClr val="dk1"/>
              </a:solidFill>
              <a:latin typeface="Calibri"/>
              <a:ea typeface="Calibri"/>
              <a:cs typeface="Calibri"/>
              <a:sym typeface="Calibri"/>
            </a:endParaRPr>
          </a:p>
        </p:txBody>
      </p:sp>
      <p:sp>
        <p:nvSpPr>
          <p:cNvPr id="700" name="Google Shape;700;p24"/>
          <p:cNvSpPr/>
          <p:nvPr/>
        </p:nvSpPr>
        <p:spPr>
          <a:xfrm>
            <a:off x="6254496" y="3456432"/>
            <a:ext cx="2340864" cy="10058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93B"/>
              </a:buClr>
              <a:buSzPts val="1150"/>
              <a:buFont typeface="Calibri"/>
              <a:buNone/>
            </a:pPr>
            <a:r>
              <a:rPr b="0" i="0" lang="en-US" sz="1150" u="none" cap="none" strike="noStrike">
                <a:solidFill>
                  <a:srgbClr val="1E293B"/>
                </a:solidFill>
                <a:latin typeface="Calibri"/>
                <a:ea typeface="Calibri"/>
                <a:cs typeface="Calibri"/>
                <a:sym typeface="Calibri"/>
              </a:rPr>
              <a:t>&gt; writes to a file, &gt;&gt; appends, &lt; reads from a file. Combine with pipes freely.</a:t>
            </a:r>
            <a:endParaRPr b="0" i="0" sz="1150" u="none" cap="none" strike="noStrike">
              <a:solidFill>
                <a:schemeClr val="dk1"/>
              </a:solidFill>
              <a:latin typeface="Calibri"/>
              <a:ea typeface="Calibri"/>
              <a:cs typeface="Calibri"/>
              <a:sym typeface="Calibri"/>
            </a:endParaRPr>
          </a:p>
        </p:txBody>
      </p:sp>
      <p:sp>
        <p:nvSpPr>
          <p:cNvPr id="701" name="Google Shape;701;p24"/>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702" name="Google Shape;702;p24"/>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3 · Text Processing</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07" name="Shape 707"/>
        <p:cNvGrpSpPr/>
        <p:nvPr/>
      </p:nvGrpSpPr>
      <p:grpSpPr>
        <a:xfrm>
          <a:off x="0" y="0"/>
          <a:ext cx="0" cy="0"/>
          <a:chOff x="0" y="0"/>
          <a:chExt cx="0" cy="0"/>
        </a:xfrm>
      </p:grpSpPr>
      <p:sp>
        <p:nvSpPr>
          <p:cNvPr id="708" name="Google Shape;708;p25"/>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grep — find lines that match</a:t>
            </a:r>
            <a:endParaRPr b="0" i="0" sz="2900" u="none" cap="none" strike="noStrike">
              <a:solidFill>
                <a:schemeClr val="dk1"/>
              </a:solidFill>
              <a:latin typeface="Calibri"/>
              <a:ea typeface="Calibri"/>
              <a:cs typeface="Calibri"/>
              <a:sym typeface="Calibri"/>
            </a:endParaRPr>
          </a:p>
        </p:txBody>
      </p:sp>
      <p:sp>
        <p:nvSpPr>
          <p:cNvPr id="709" name="Google Shape;709;p25"/>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10" name="Google Shape;710;p25"/>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711" name="Google Shape;711;p25"/>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Something failed at 14:32. grep is how you find the needle in a 2-million-line log.</a:t>
            </a:r>
            <a:endParaRPr b="0" i="0" sz="1300" u="none" cap="none" strike="noStrike">
              <a:solidFill>
                <a:schemeClr val="dk1"/>
              </a:solidFill>
              <a:latin typeface="Calibri"/>
              <a:ea typeface="Calibri"/>
              <a:cs typeface="Calibri"/>
              <a:sym typeface="Calibri"/>
            </a:endParaRPr>
          </a:p>
        </p:txBody>
      </p:sp>
      <p:sp>
        <p:nvSpPr>
          <p:cNvPr id="712" name="Google Shape;712;p25"/>
          <p:cNvSpPr/>
          <p:nvPr/>
        </p:nvSpPr>
        <p:spPr>
          <a:xfrm>
            <a:off x="457200" y="1371600"/>
            <a:ext cx="4160520" cy="3438144"/>
          </a:xfrm>
          <a:prstGeom prst="roundRect">
            <a:avLst>
              <a:gd fmla="val 1596"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25"/>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grep [opts] pattern file</a:t>
            </a:r>
            <a:endParaRPr b="0" i="0" sz="1250" u="none" cap="none" strike="noStrike">
              <a:solidFill>
                <a:schemeClr val="dk1"/>
              </a:solidFill>
              <a:latin typeface="Calibri"/>
              <a:ea typeface="Calibri"/>
              <a:cs typeface="Calibri"/>
              <a:sym typeface="Calibri"/>
            </a:endParaRPr>
          </a:p>
        </p:txBody>
      </p:sp>
      <p:sp>
        <p:nvSpPr>
          <p:cNvPr id="714" name="Google Shape;714;p25"/>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-i</a:t>
            </a:r>
            <a:endParaRPr b="0" i="0" sz="1150" u="none" cap="none" strike="noStrike">
              <a:solidFill>
                <a:schemeClr val="dk1"/>
              </a:solidFill>
              <a:latin typeface="Calibri"/>
              <a:ea typeface="Calibri"/>
              <a:cs typeface="Calibri"/>
              <a:sym typeface="Calibri"/>
            </a:endParaRPr>
          </a:p>
        </p:txBody>
      </p:sp>
      <p:sp>
        <p:nvSpPr>
          <p:cNvPr id="715" name="Google Shape;715;p25"/>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case-insensitive</a:t>
            </a:r>
            <a:endParaRPr b="0" i="0" sz="1100" u="none" cap="none" strike="noStrike">
              <a:solidFill>
                <a:schemeClr val="dk1"/>
              </a:solidFill>
              <a:latin typeface="Calibri"/>
              <a:ea typeface="Calibri"/>
              <a:cs typeface="Calibri"/>
              <a:sym typeface="Calibri"/>
            </a:endParaRPr>
          </a:p>
        </p:txBody>
      </p:sp>
      <p:sp>
        <p:nvSpPr>
          <p:cNvPr id="716" name="Google Shape;716;p25"/>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-r</a:t>
            </a:r>
            <a:endParaRPr b="0" i="0" sz="1150" u="none" cap="none" strike="noStrike">
              <a:solidFill>
                <a:schemeClr val="dk1"/>
              </a:solidFill>
              <a:latin typeface="Calibri"/>
              <a:ea typeface="Calibri"/>
              <a:cs typeface="Calibri"/>
              <a:sym typeface="Calibri"/>
            </a:endParaRPr>
          </a:p>
        </p:txBody>
      </p:sp>
      <p:sp>
        <p:nvSpPr>
          <p:cNvPr id="717" name="Google Shape;717;p25"/>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recurse through directories</a:t>
            </a:r>
            <a:endParaRPr b="0" i="0" sz="1100" u="none" cap="none" strike="noStrike">
              <a:solidFill>
                <a:schemeClr val="dk1"/>
              </a:solidFill>
              <a:latin typeface="Calibri"/>
              <a:ea typeface="Calibri"/>
              <a:cs typeface="Calibri"/>
              <a:sym typeface="Calibri"/>
            </a:endParaRPr>
          </a:p>
        </p:txBody>
      </p:sp>
      <p:sp>
        <p:nvSpPr>
          <p:cNvPr id="718" name="Google Shape;718;p25"/>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-n</a:t>
            </a:r>
            <a:endParaRPr b="0" i="0" sz="1150" u="none" cap="none" strike="noStrike">
              <a:solidFill>
                <a:schemeClr val="dk1"/>
              </a:solidFill>
              <a:latin typeface="Calibri"/>
              <a:ea typeface="Calibri"/>
              <a:cs typeface="Calibri"/>
              <a:sym typeface="Calibri"/>
            </a:endParaRPr>
          </a:p>
        </p:txBody>
      </p:sp>
      <p:sp>
        <p:nvSpPr>
          <p:cNvPr id="719" name="Google Shape;719;p25"/>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show line numbers</a:t>
            </a:r>
            <a:endParaRPr b="0" i="0" sz="1100" u="none" cap="none" strike="noStrike">
              <a:solidFill>
                <a:schemeClr val="dk1"/>
              </a:solidFill>
              <a:latin typeface="Calibri"/>
              <a:ea typeface="Calibri"/>
              <a:cs typeface="Calibri"/>
              <a:sym typeface="Calibri"/>
            </a:endParaRPr>
          </a:p>
        </p:txBody>
      </p:sp>
      <p:sp>
        <p:nvSpPr>
          <p:cNvPr id="720" name="Google Shape;720;p25"/>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-v</a:t>
            </a:r>
            <a:endParaRPr b="0" i="0" sz="1150" u="none" cap="none" strike="noStrike">
              <a:solidFill>
                <a:schemeClr val="dk1"/>
              </a:solidFill>
              <a:latin typeface="Calibri"/>
              <a:ea typeface="Calibri"/>
              <a:cs typeface="Calibri"/>
              <a:sym typeface="Calibri"/>
            </a:endParaRPr>
          </a:p>
        </p:txBody>
      </p:sp>
      <p:sp>
        <p:nvSpPr>
          <p:cNvPr id="721" name="Google Shape;721;p25"/>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invert: lines that DON'T match</a:t>
            </a:r>
            <a:endParaRPr b="0" i="0" sz="1100" u="none" cap="none" strike="noStrike">
              <a:solidFill>
                <a:schemeClr val="dk1"/>
              </a:solidFill>
              <a:latin typeface="Calibri"/>
              <a:ea typeface="Calibri"/>
              <a:cs typeface="Calibri"/>
              <a:sym typeface="Calibri"/>
            </a:endParaRPr>
          </a:p>
        </p:txBody>
      </p:sp>
      <p:sp>
        <p:nvSpPr>
          <p:cNvPr id="722" name="Google Shape;722;p25"/>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a:t>
            </a:r>
            <a:endParaRPr b="0" i="0" sz="1150" u="none" cap="none" strike="noStrike">
              <a:solidFill>
                <a:schemeClr val="dk1"/>
              </a:solidFill>
              <a:latin typeface="Calibri"/>
              <a:ea typeface="Calibri"/>
              <a:cs typeface="Calibri"/>
              <a:sym typeface="Calibri"/>
            </a:endParaRPr>
          </a:p>
        </p:txBody>
      </p:sp>
      <p:sp>
        <p:nvSpPr>
          <p:cNvPr id="723" name="Google Shape;723;p25"/>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count matching lines</a:t>
            </a:r>
            <a:endParaRPr b="0" i="0" sz="1100" u="none" cap="none" strike="noStrike">
              <a:solidFill>
                <a:schemeClr val="dk1"/>
              </a:solidFill>
              <a:latin typeface="Calibri"/>
              <a:ea typeface="Calibri"/>
              <a:cs typeface="Calibri"/>
              <a:sym typeface="Calibri"/>
            </a:endParaRPr>
          </a:p>
        </p:txBody>
      </p:sp>
      <p:sp>
        <p:nvSpPr>
          <p:cNvPr id="724" name="Google Shape;724;p25"/>
          <p:cNvSpPr/>
          <p:nvPr/>
        </p:nvSpPr>
        <p:spPr>
          <a:xfrm>
            <a:off x="65836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-E</a:t>
            </a:r>
            <a:endParaRPr b="0" i="0" sz="1150" u="none" cap="none" strike="noStrike">
              <a:solidFill>
                <a:schemeClr val="dk1"/>
              </a:solidFill>
              <a:latin typeface="Calibri"/>
              <a:ea typeface="Calibri"/>
              <a:cs typeface="Calibri"/>
              <a:sym typeface="Calibri"/>
            </a:endParaRPr>
          </a:p>
        </p:txBody>
      </p:sp>
      <p:sp>
        <p:nvSpPr>
          <p:cNvPr id="725" name="Google Shape;725;p25"/>
          <p:cNvSpPr/>
          <p:nvPr/>
        </p:nvSpPr>
        <p:spPr>
          <a:xfrm>
            <a:off x="2468880" y="391363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extended regex (or use egrep)</a:t>
            </a:r>
            <a:endParaRPr b="0" i="0" sz="1100" u="none" cap="none" strike="noStrike">
              <a:solidFill>
                <a:schemeClr val="dk1"/>
              </a:solidFill>
              <a:latin typeface="Calibri"/>
              <a:ea typeface="Calibri"/>
              <a:cs typeface="Calibri"/>
              <a:sym typeface="Calibri"/>
            </a:endParaRPr>
          </a:p>
        </p:txBody>
      </p:sp>
      <p:sp>
        <p:nvSpPr>
          <p:cNvPr id="726" name="Google Shape;726;p25"/>
          <p:cNvSpPr/>
          <p:nvPr/>
        </p:nvSpPr>
        <p:spPr>
          <a:xfrm>
            <a:off x="658368" y="431596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-A2 -B2</a:t>
            </a:r>
            <a:endParaRPr b="0" i="0" sz="1150" u="none" cap="none" strike="noStrike">
              <a:solidFill>
                <a:schemeClr val="dk1"/>
              </a:solidFill>
              <a:latin typeface="Calibri"/>
              <a:ea typeface="Calibri"/>
              <a:cs typeface="Calibri"/>
              <a:sym typeface="Calibri"/>
            </a:endParaRPr>
          </a:p>
        </p:txBody>
      </p:sp>
      <p:sp>
        <p:nvSpPr>
          <p:cNvPr id="727" name="Google Shape;727;p25"/>
          <p:cNvSpPr/>
          <p:nvPr/>
        </p:nvSpPr>
        <p:spPr>
          <a:xfrm>
            <a:off x="2468880" y="431596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show lines After / Before</a:t>
            </a:r>
            <a:endParaRPr b="0" i="0" sz="1100" u="none" cap="none" strike="noStrike">
              <a:solidFill>
                <a:schemeClr val="dk1"/>
              </a:solidFill>
              <a:latin typeface="Calibri"/>
              <a:ea typeface="Calibri"/>
              <a:cs typeface="Calibri"/>
              <a:sym typeface="Calibri"/>
            </a:endParaRPr>
          </a:p>
        </p:txBody>
      </p:sp>
      <p:sp>
        <p:nvSpPr>
          <p:cNvPr id="728" name="Google Shape;728;p25"/>
          <p:cNvSpPr/>
          <p:nvPr/>
        </p:nvSpPr>
        <p:spPr>
          <a:xfrm>
            <a:off x="4800600" y="1371600"/>
            <a:ext cx="3886200" cy="3246120"/>
          </a:xfrm>
          <a:prstGeom prst="roundRect">
            <a:avLst>
              <a:gd fmla="val 225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25"/>
          <p:cNvSpPr/>
          <p:nvPr/>
        </p:nvSpPr>
        <p:spPr>
          <a:xfrm>
            <a:off x="49834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0" name="Google Shape;730;p25"/>
          <p:cNvSpPr/>
          <p:nvPr/>
        </p:nvSpPr>
        <p:spPr>
          <a:xfrm>
            <a:off x="51297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25"/>
          <p:cNvSpPr/>
          <p:nvPr/>
        </p:nvSpPr>
        <p:spPr>
          <a:xfrm>
            <a:off x="52760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p25"/>
          <p:cNvSpPr/>
          <p:nvPr/>
        </p:nvSpPr>
        <p:spPr>
          <a:xfrm>
            <a:off x="5440680" y="144475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you@server</a:t>
            </a:r>
            <a:endParaRPr b="0" i="0" sz="900" u="none" cap="none" strike="noStrike">
              <a:solidFill>
                <a:schemeClr val="dk1"/>
              </a:solidFill>
              <a:latin typeface="Calibri"/>
              <a:ea typeface="Calibri"/>
              <a:cs typeface="Calibri"/>
              <a:sym typeface="Calibri"/>
            </a:endParaRPr>
          </a:p>
        </p:txBody>
      </p:sp>
      <p:cxnSp>
        <p:nvCxnSpPr>
          <p:cNvPr id="733" name="Google Shape;733;p25"/>
          <p:cNvCxnSpPr/>
          <p:nvPr/>
        </p:nvCxnSpPr>
        <p:spPr>
          <a:xfrm>
            <a:off x="4800600" y="1737360"/>
            <a:ext cx="3886200" cy="0"/>
          </a:xfrm>
          <a:prstGeom prst="straightConnector1">
            <a:avLst/>
          </a:prstGeom>
          <a:noFill/>
          <a:ln cap="flat" cmpd="sng" w="12700">
            <a:solidFill>
              <a:srgbClr val="1E293B"/>
            </a:solidFill>
            <a:prstDash val="solid"/>
            <a:round/>
            <a:headEnd len="sm" w="sm" type="none"/>
            <a:tailEnd len="sm" w="sm" type="none"/>
          </a:ln>
        </p:spPr>
      </p:cxnSp>
      <p:sp>
        <p:nvSpPr>
          <p:cNvPr id="734" name="Google Shape;734;p25"/>
          <p:cNvSpPr/>
          <p:nvPr/>
        </p:nvSpPr>
        <p:spPr>
          <a:xfrm>
            <a:off x="5001768" y="1847088"/>
            <a:ext cx="3483864" cy="26609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all errors, case-insensitive</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grep -i error app.log</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errors with 2 lines of context</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grep -n -A2 ERROR app.log</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412:ERROR db timeout</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050"/>
              <a:buFont typeface="Courier New"/>
              <a:buNone/>
            </a:pPr>
            <a:r>
              <a:rPr b="0" i="0" lang="en-US" sz="1050" u="none" cap="none" strike="noStrike">
                <a:solidFill>
                  <a:srgbClr val="64748B"/>
                </a:solidFill>
                <a:latin typeface="Courier New"/>
                <a:ea typeface="Courier New"/>
                <a:cs typeface="Courier New"/>
                <a:sym typeface="Courier New"/>
              </a:rPr>
              <a:t>413-  retrying in 5s</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pipe: 500s, excluding health checks</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grep ' 500 ' a.log | grep -v /health</a:t>
            </a:r>
            <a:endParaRPr b="0" i="0" sz="1050" u="none" cap="none" strike="noStrike">
              <a:solidFill>
                <a:schemeClr val="dk1"/>
              </a:solidFill>
              <a:latin typeface="Calibri"/>
              <a:ea typeface="Calibri"/>
              <a:cs typeface="Calibri"/>
              <a:sym typeface="Calibri"/>
            </a:endParaRPr>
          </a:p>
        </p:txBody>
      </p:sp>
      <p:sp>
        <p:nvSpPr>
          <p:cNvPr id="735" name="Google Shape;735;p25"/>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736" name="Google Shape;736;p25"/>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3 · Text Processing</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41" name="Shape 741"/>
        <p:cNvGrpSpPr/>
        <p:nvPr/>
      </p:nvGrpSpPr>
      <p:grpSpPr>
        <a:xfrm>
          <a:off x="0" y="0"/>
          <a:ext cx="0" cy="0"/>
          <a:chOff x="0" y="0"/>
          <a:chExt cx="0" cy="0"/>
        </a:xfrm>
      </p:grpSpPr>
      <p:sp>
        <p:nvSpPr>
          <p:cNvPr id="742" name="Google Shape;742;p26"/>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cut, sort, uniq — columns &amp; counting</a:t>
            </a:r>
            <a:endParaRPr b="0" i="0" sz="2900" u="none" cap="none" strike="noStrike">
              <a:solidFill>
                <a:schemeClr val="dk1"/>
              </a:solidFill>
              <a:latin typeface="Calibri"/>
              <a:ea typeface="Calibri"/>
              <a:cs typeface="Calibri"/>
              <a:sym typeface="Calibri"/>
            </a:endParaRPr>
          </a:p>
        </p:txBody>
      </p:sp>
      <p:sp>
        <p:nvSpPr>
          <p:cNvPr id="743" name="Google Shape;743;p26"/>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44" name="Google Shape;744;p26"/>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745" name="Google Shape;745;p26"/>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A CSV or colon-delimited file, and you need just one field, deduped and counted.</a:t>
            </a:r>
            <a:endParaRPr b="0" i="0" sz="1300" u="none" cap="none" strike="noStrike">
              <a:solidFill>
                <a:schemeClr val="dk1"/>
              </a:solidFill>
              <a:latin typeface="Calibri"/>
              <a:ea typeface="Calibri"/>
              <a:cs typeface="Calibri"/>
              <a:sym typeface="Calibri"/>
            </a:endParaRPr>
          </a:p>
        </p:txBody>
      </p:sp>
      <p:sp>
        <p:nvSpPr>
          <p:cNvPr id="746" name="Google Shape;746;p26"/>
          <p:cNvSpPr/>
          <p:nvPr/>
        </p:nvSpPr>
        <p:spPr>
          <a:xfrm>
            <a:off x="457200" y="1371600"/>
            <a:ext cx="4160520" cy="3035808"/>
          </a:xfrm>
          <a:prstGeom prst="roundRect">
            <a:avLst>
              <a:gd fmla="val 180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26"/>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FIELD TOOLS</a:t>
            </a:r>
            <a:endParaRPr b="0" i="0" sz="1250" u="none" cap="none" strike="noStrike">
              <a:solidFill>
                <a:schemeClr val="dk1"/>
              </a:solidFill>
              <a:latin typeface="Calibri"/>
              <a:ea typeface="Calibri"/>
              <a:cs typeface="Calibri"/>
              <a:sym typeface="Calibri"/>
            </a:endParaRPr>
          </a:p>
        </p:txBody>
      </p:sp>
      <p:sp>
        <p:nvSpPr>
          <p:cNvPr id="748" name="Google Shape;748;p26"/>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cut -d: -f1</a:t>
            </a:r>
            <a:endParaRPr b="0" i="0" sz="1150" u="none" cap="none" strike="noStrike">
              <a:solidFill>
                <a:schemeClr val="dk1"/>
              </a:solidFill>
              <a:latin typeface="Calibri"/>
              <a:ea typeface="Calibri"/>
              <a:cs typeface="Calibri"/>
              <a:sym typeface="Calibri"/>
            </a:endParaRPr>
          </a:p>
        </p:txBody>
      </p:sp>
      <p:sp>
        <p:nvSpPr>
          <p:cNvPr id="749" name="Google Shape;749;p26"/>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field 1, ':' delimiter</a:t>
            </a:r>
            <a:endParaRPr b="0" i="0" sz="1100" u="none" cap="none" strike="noStrike">
              <a:solidFill>
                <a:schemeClr val="dk1"/>
              </a:solidFill>
              <a:latin typeface="Calibri"/>
              <a:ea typeface="Calibri"/>
              <a:cs typeface="Calibri"/>
              <a:sym typeface="Calibri"/>
            </a:endParaRPr>
          </a:p>
        </p:txBody>
      </p:sp>
      <p:sp>
        <p:nvSpPr>
          <p:cNvPr id="750" name="Google Shape;750;p26"/>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cut -f2,5</a:t>
            </a:r>
            <a:endParaRPr b="0" i="0" sz="1150" u="none" cap="none" strike="noStrike">
              <a:solidFill>
                <a:schemeClr val="dk1"/>
              </a:solidFill>
              <a:latin typeface="Calibri"/>
              <a:ea typeface="Calibri"/>
              <a:cs typeface="Calibri"/>
              <a:sym typeface="Calibri"/>
            </a:endParaRPr>
          </a:p>
        </p:txBody>
      </p:sp>
      <p:sp>
        <p:nvSpPr>
          <p:cNvPr id="751" name="Google Shape;751;p26"/>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fields 2 and 5 (tab default)</a:t>
            </a:r>
            <a:endParaRPr b="0" i="0" sz="1100" u="none" cap="none" strike="noStrike">
              <a:solidFill>
                <a:schemeClr val="dk1"/>
              </a:solidFill>
              <a:latin typeface="Calibri"/>
              <a:ea typeface="Calibri"/>
              <a:cs typeface="Calibri"/>
              <a:sym typeface="Calibri"/>
            </a:endParaRPr>
          </a:p>
        </p:txBody>
      </p:sp>
      <p:sp>
        <p:nvSpPr>
          <p:cNvPr id="752" name="Google Shape;752;p26"/>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sort</a:t>
            </a:r>
            <a:endParaRPr b="0" i="0" sz="1150" u="none" cap="none" strike="noStrike">
              <a:solidFill>
                <a:schemeClr val="dk1"/>
              </a:solidFill>
              <a:latin typeface="Calibri"/>
              <a:ea typeface="Calibri"/>
              <a:cs typeface="Calibri"/>
              <a:sym typeface="Calibri"/>
            </a:endParaRPr>
          </a:p>
        </p:txBody>
      </p:sp>
      <p:sp>
        <p:nvSpPr>
          <p:cNvPr id="753" name="Google Shape;753;p26"/>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sort lines;  -n numeric, -r reverse</a:t>
            </a:r>
            <a:endParaRPr b="0" i="0" sz="1100" u="none" cap="none" strike="noStrike">
              <a:solidFill>
                <a:schemeClr val="dk1"/>
              </a:solidFill>
              <a:latin typeface="Calibri"/>
              <a:ea typeface="Calibri"/>
              <a:cs typeface="Calibri"/>
              <a:sym typeface="Calibri"/>
            </a:endParaRPr>
          </a:p>
        </p:txBody>
      </p:sp>
      <p:sp>
        <p:nvSpPr>
          <p:cNvPr id="754" name="Google Shape;754;p26"/>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uniq -c</a:t>
            </a:r>
            <a:endParaRPr b="0" i="0" sz="1150" u="none" cap="none" strike="noStrike">
              <a:solidFill>
                <a:schemeClr val="dk1"/>
              </a:solidFill>
              <a:latin typeface="Calibri"/>
              <a:ea typeface="Calibri"/>
              <a:cs typeface="Calibri"/>
              <a:sym typeface="Calibri"/>
            </a:endParaRPr>
          </a:p>
        </p:txBody>
      </p:sp>
      <p:sp>
        <p:nvSpPr>
          <p:cNvPr id="755" name="Google Shape;755;p26"/>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collapse dupes + count (needs sort)</a:t>
            </a:r>
            <a:endParaRPr b="0" i="0" sz="1100" u="none" cap="none" strike="noStrike">
              <a:solidFill>
                <a:schemeClr val="dk1"/>
              </a:solidFill>
              <a:latin typeface="Calibri"/>
              <a:ea typeface="Calibri"/>
              <a:cs typeface="Calibri"/>
              <a:sym typeface="Calibri"/>
            </a:endParaRPr>
          </a:p>
        </p:txBody>
      </p:sp>
      <p:sp>
        <p:nvSpPr>
          <p:cNvPr id="756" name="Google Shape;756;p26"/>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wc -l</a:t>
            </a:r>
            <a:endParaRPr b="0" i="0" sz="1150" u="none" cap="none" strike="noStrike">
              <a:solidFill>
                <a:schemeClr val="dk1"/>
              </a:solidFill>
              <a:latin typeface="Calibri"/>
              <a:ea typeface="Calibri"/>
              <a:cs typeface="Calibri"/>
              <a:sym typeface="Calibri"/>
            </a:endParaRPr>
          </a:p>
        </p:txBody>
      </p:sp>
      <p:sp>
        <p:nvSpPr>
          <p:cNvPr id="757" name="Google Shape;757;p26"/>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count lines</a:t>
            </a:r>
            <a:endParaRPr b="0" i="0" sz="1100" u="none" cap="none" strike="noStrike">
              <a:solidFill>
                <a:schemeClr val="dk1"/>
              </a:solidFill>
              <a:latin typeface="Calibri"/>
              <a:ea typeface="Calibri"/>
              <a:cs typeface="Calibri"/>
              <a:sym typeface="Calibri"/>
            </a:endParaRPr>
          </a:p>
        </p:txBody>
      </p:sp>
      <p:sp>
        <p:nvSpPr>
          <p:cNvPr id="758" name="Google Shape;758;p26"/>
          <p:cNvSpPr/>
          <p:nvPr/>
        </p:nvSpPr>
        <p:spPr>
          <a:xfrm>
            <a:off x="65836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head / tail</a:t>
            </a:r>
            <a:endParaRPr b="0" i="0" sz="1150" u="none" cap="none" strike="noStrike">
              <a:solidFill>
                <a:schemeClr val="dk1"/>
              </a:solidFill>
              <a:latin typeface="Calibri"/>
              <a:ea typeface="Calibri"/>
              <a:cs typeface="Calibri"/>
              <a:sym typeface="Calibri"/>
            </a:endParaRPr>
          </a:p>
        </p:txBody>
      </p:sp>
      <p:sp>
        <p:nvSpPr>
          <p:cNvPr id="759" name="Google Shape;759;p26"/>
          <p:cNvSpPr/>
          <p:nvPr/>
        </p:nvSpPr>
        <p:spPr>
          <a:xfrm>
            <a:off x="2468880" y="391363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first / last N;  tail -f follows</a:t>
            </a:r>
            <a:endParaRPr b="0" i="0" sz="1100" u="none" cap="none" strike="noStrike">
              <a:solidFill>
                <a:schemeClr val="dk1"/>
              </a:solidFill>
              <a:latin typeface="Calibri"/>
              <a:ea typeface="Calibri"/>
              <a:cs typeface="Calibri"/>
              <a:sym typeface="Calibri"/>
            </a:endParaRPr>
          </a:p>
        </p:txBody>
      </p:sp>
      <p:sp>
        <p:nvSpPr>
          <p:cNvPr id="760" name="Google Shape;760;p26"/>
          <p:cNvSpPr/>
          <p:nvPr/>
        </p:nvSpPr>
        <p:spPr>
          <a:xfrm>
            <a:off x="4800600" y="1371600"/>
            <a:ext cx="3886200" cy="3246120"/>
          </a:xfrm>
          <a:prstGeom prst="roundRect">
            <a:avLst>
              <a:gd fmla="val 225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26"/>
          <p:cNvSpPr/>
          <p:nvPr/>
        </p:nvSpPr>
        <p:spPr>
          <a:xfrm>
            <a:off x="49834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26"/>
          <p:cNvSpPr/>
          <p:nvPr/>
        </p:nvSpPr>
        <p:spPr>
          <a:xfrm>
            <a:off x="51297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3" name="Google Shape;763;p26"/>
          <p:cNvSpPr/>
          <p:nvPr/>
        </p:nvSpPr>
        <p:spPr>
          <a:xfrm>
            <a:off x="52760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26"/>
          <p:cNvSpPr/>
          <p:nvPr/>
        </p:nvSpPr>
        <p:spPr>
          <a:xfrm>
            <a:off x="5440680" y="144475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you@server</a:t>
            </a:r>
            <a:endParaRPr b="0" i="0" sz="900" u="none" cap="none" strike="noStrike">
              <a:solidFill>
                <a:schemeClr val="dk1"/>
              </a:solidFill>
              <a:latin typeface="Calibri"/>
              <a:ea typeface="Calibri"/>
              <a:cs typeface="Calibri"/>
              <a:sym typeface="Calibri"/>
            </a:endParaRPr>
          </a:p>
        </p:txBody>
      </p:sp>
      <p:cxnSp>
        <p:nvCxnSpPr>
          <p:cNvPr id="765" name="Google Shape;765;p26"/>
          <p:cNvCxnSpPr/>
          <p:nvPr/>
        </p:nvCxnSpPr>
        <p:spPr>
          <a:xfrm>
            <a:off x="4800600" y="1737360"/>
            <a:ext cx="3886200" cy="0"/>
          </a:xfrm>
          <a:prstGeom prst="straightConnector1">
            <a:avLst/>
          </a:prstGeom>
          <a:noFill/>
          <a:ln cap="flat" cmpd="sng" w="12700">
            <a:solidFill>
              <a:srgbClr val="1E293B"/>
            </a:solidFill>
            <a:prstDash val="solid"/>
            <a:round/>
            <a:headEnd len="sm" w="sm" type="none"/>
            <a:tailEnd len="sm" w="sm" type="none"/>
          </a:ln>
        </p:spPr>
      </p:cxnSp>
      <p:sp>
        <p:nvSpPr>
          <p:cNvPr id="766" name="Google Shape;766;p26"/>
          <p:cNvSpPr/>
          <p:nvPr/>
        </p:nvSpPr>
        <p:spPr>
          <a:xfrm>
            <a:off x="5001768" y="1847088"/>
            <a:ext cx="3483864" cy="26609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all usernames on the box</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cut -d: -f1 /etc/passwd</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root</a:t>
            </a:r>
            <a:r>
              <a:rPr b="0" i="0" lang="en-US" sz="1050" u="none" cap="none" strike="noStrike">
                <a:solidFill>
                  <a:srgbClr val="64748B"/>
                </a:solidFill>
                <a:latin typeface="Courier New"/>
                <a:ea typeface="Courier New"/>
                <a:cs typeface="Courier New"/>
                <a:sym typeface="Courier New"/>
              </a:rPr>
              <a:t>  daemon  nginx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top 3 IPs by request count</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cut -d' ' -f1 access.log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   | sort | uniq -c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   | sort -rn | head -3</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  812 203.0.113.7</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  344 198.51.100.2</a:t>
            </a:r>
            <a:endParaRPr b="0" i="0" sz="1050" u="none" cap="none" strike="noStrike">
              <a:solidFill>
                <a:schemeClr val="dk1"/>
              </a:solidFill>
              <a:latin typeface="Calibri"/>
              <a:ea typeface="Calibri"/>
              <a:cs typeface="Calibri"/>
              <a:sym typeface="Calibri"/>
            </a:endParaRPr>
          </a:p>
        </p:txBody>
      </p:sp>
      <p:sp>
        <p:nvSpPr>
          <p:cNvPr id="767" name="Google Shape;767;p26"/>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768" name="Google Shape;768;p26"/>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3 · Text Processing</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773" name="Shape 773"/>
        <p:cNvGrpSpPr/>
        <p:nvPr/>
      </p:nvGrpSpPr>
      <p:grpSpPr>
        <a:xfrm>
          <a:off x="0" y="0"/>
          <a:ext cx="0" cy="0"/>
          <a:chOff x="0" y="0"/>
          <a:chExt cx="0" cy="0"/>
        </a:xfrm>
      </p:grpSpPr>
      <p:sp>
        <p:nvSpPr>
          <p:cNvPr id="774" name="Google Shape;774;p27"/>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sed — edit a stream</a:t>
            </a:r>
            <a:endParaRPr b="0" i="0" sz="2900" u="none" cap="none" strike="noStrike">
              <a:solidFill>
                <a:schemeClr val="dk1"/>
              </a:solidFill>
              <a:latin typeface="Calibri"/>
              <a:ea typeface="Calibri"/>
              <a:cs typeface="Calibri"/>
              <a:sym typeface="Calibri"/>
            </a:endParaRPr>
          </a:p>
        </p:txBody>
      </p:sp>
      <p:sp>
        <p:nvSpPr>
          <p:cNvPr id="775" name="Google Shape;775;p27"/>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76" name="Google Shape;776;p27"/>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777" name="Google Shape;777;p27"/>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Flip a config flag across 50 files in CI, without opening an editor.</a:t>
            </a:r>
            <a:endParaRPr b="0" i="0" sz="1300" u="none" cap="none" strike="noStrike">
              <a:solidFill>
                <a:schemeClr val="dk1"/>
              </a:solidFill>
              <a:latin typeface="Calibri"/>
              <a:ea typeface="Calibri"/>
              <a:cs typeface="Calibri"/>
              <a:sym typeface="Calibri"/>
            </a:endParaRPr>
          </a:p>
        </p:txBody>
      </p:sp>
      <p:sp>
        <p:nvSpPr>
          <p:cNvPr id="778" name="Google Shape;778;p27"/>
          <p:cNvSpPr/>
          <p:nvPr/>
        </p:nvSpPr>
        <p:spPr>
          <a:xfrm>
            <a:off x="457200" y="1371600"/>
            <a:ext cx="4160520" cy="3438144"/>
          </a:xfrm>
          <a:prstGeom prst="roundRect">
            <a:avLst>
              <a:gd fmla="val 1596"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27"/>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sed 'script' file</a:t>
            </a:r>
            <a:endParaRPr b="0" i="0" sz="1250" u="none" cap="none" strike="noStrike">
              <a:solidFill>
                <a:schemeClr val="dk1"/>
              </a:solidFill>
              <a:latin typeface="Calibri"/>
              <a:ea typeface="Calibri"/>
              <a:cs typeface="Calibri"/>
              <a:sym typeface="Calibri"/>
            </a:endParaRPr>
          </a:p>
        </p:txBody>
      </p:sp>
      <p:sp>
        <p:nvSpPr>
          <p:cNvPr id="780" name="Google Shape;780;p27"/>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s/a/b/</a:t>
            </a:r>
            <a:endParaRPr b="0" i="0" sz="1150" u="none" cap="none" strike="noStrike">
              <a:solidFill>
                <a:schemeClr val="dk1"/>
              </a:solidFill>
              <a:latin typeface="Calibri"/>
              <a:ea typeface="Calibri"/>
              <a:cs typeface="Calibri"/>
              <a:sym typeface="Calibri"/>
            </a:endParaRPr>
          </a:p>
        </p:txBody>
      </p:sp>
      <p:sp>
        <p:nvSpPr>
          <p:cNvPr id="781" name="Google Shape;781;p27"/>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substitute first a → b per line</a:t>
            </a:r>
            <a:endParaRPr b="0" i="0" sz="1100" u="none" cap="none" strike="noStrike">
              <a:solidFill>
                <a:schemeClr val="dk1"/>
              </a:solidFill>
              <a:latin typeface="Calibri"/>
              <a:ea typeface="Calibri"/>
              <a:cs typeface="Calibri"/>
              <a:sym typeface="Calibri"/>
            </a:endParaRPr>
          </a:p>
        </p:txBody>
      </p:sp>
      <p:sp>
        <p:nvSpPr>
          <p:cNvPr id="782" name="Google Shape;782;p27"/>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s/a/b/g</a:t>
            </a:r>
            <a:endParaRPr b="0" i="0" sz="1150" u="none" cap="none" strike="noStrike">
              <a:solidFill>
                <a:schemeClr val="dk1"/>
              </a:solidFill>
              <a:latin typeface="Calibri"/>
              <a:ea typeface="Calibri"/>
              <a:cs typeface="Calibri"/>
              <a:sym typeface="Calibri"/>
            </a:endParaRPr>
          </a:p>
        </p:txBody>
      </p:sp>
      <p:sp>
        <p:nvSpPr>
          <p:cNvPr id="783" name="Google Shape;783;p27"/>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substitute ALL on the line</a:t>
            </a:r>
            <a:endParaRPr b="0" i="0" sz="1100" u="none" cap="none" strike="noStrike">
              <a:solidFill>
                <a:schemeClr val="dk1"/>
              </a:solidFill>
              <a:latin typeface="Calibri"/>
              <a:ea typeface="Calibri"/>
              <a:cs typeface="Calibri"/>
              <a:sym typeface="Calibri"/>
            </a:endParaRPr>
          </a:p>
        </p:txBody>
      </p:sp>
      <p:sp>
        <p:nvSpPr>
          <p:cNvPr id="784" name="Google Shape;784;p27"/>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s/a/b/gi</a:t>
            </a:r>
            <a:endParaRPr b="0" i="0" sz="1150" u="none" cap="none" strike="noStrike">
              <a:solidFill>
                <a:schemeClr val="dk1"/>
              </a:solidFill>
              <a:latin typeface="Calibri"/>
              <a:ea typeface="Calibri"/>
              <a:cs typeface="Calibri"/>
              <a:sym typeface="Calibri"/>
            </a:endParaRPr>
          </a:p>
        </p:txBody>
      </p:sp>
      <p:sp>
        <p:nvSpPr>
          <p:cNvPr id="785" name="Google Shape;785;p27"/>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...case-insensitive too</a:t>
            </a:r>
            <a:endParaRPr b="0" i="0" sz="1100" u="none" cap="none" strike="noStrike">
              <a:solidFill>
                <a:schemeClr val="dk1"/>
              </a:solidFill>
              <a:latin typeface="Calibri"/>
              <a:ea typeface="Calibri"/>
              <a:cs typeface="Calibri"/>
              <a:sym typeface="Calibri"/>
            </a:endParaRPr>
          </a:p>
        </p:txBody>
      </p:sp>
      <p:sp>
        <p:nvSpPr>
          <p:cNvPr id="786" name="Google Shape;786;p27"/>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-i</a:t>
            </a:r>
            <a:endParaRPr b="0" i="0" sz="1150" u="none" cap="none" strike="noStrike">
              <a:solidFill>
                <a:schemeClr val="dk1"/>
              </a:solidFill>
              <a:latin typeface="Calibri"/>
              <a:ea typeface="Calibri"/>
              <a:cs typeface="Calibri"/>
              <a:sym typeface="Calibri"/>
            </a:endParaRPr>
          </a:p>
        </p:txBody>
      </p:sp>
      <p:sp>
        <p:nvSpPr>
          <p:cNvPr id="787" name="Google Shape;787;p27"/>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edit file IN PLACE (careful)</a:t>
            </a:r>
            <a:endParaRPr b="0" i="0" sz="1100" u="none" cap="none" strike="noStrike">
              <a:solidFill>
                <a:schemeClr val="dk1"/>
              </a:solidFill>
              <a:latin typeface="Calibri"/>
              <a:ea typeface="Calibri"/>
              <a:cs typeface="Calibri"/>
              <a:sym typeface="Calibri"/>
            </a:endParaRPr>
          </a:p>
        </p:txBody>
      </p:sp>
      <p:sp>
        <p:nvSpPr>
          <p:cNvPr id="788" name="Google Shape;788;p27"/>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-i.bak</a:t>
            </a:r>
            <a:endParaRPr b="0" i="0" sz="1150" u="none" cap="none" strike="noStrike">
              <a:solidFill>
                <a:schemeClr val="dk1"/>
              </a:solidFill>
              <a:latin typeface="Calibri"/>
              <a:ea typeface="Calibri"/>
              <a:cs typeface="Calibri"/>
              <a:sym typeface="Calibri"/>
            </a:endParaRPr>
          </a:p>
        </p:txBody>
      </p:sp>
      <p:sp>
        <p:nvSpPr>
          <p:cNvPr id="789" name="Google Shape;789;p27"/>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...keep a .bak backup</a:t>
            </a:r>
            <a:endParaRPr b="0" i="0" sz="1100" u="none" cap="none" strike="noStrike">
              <a:solidFill>
                <a:schemeClr val="dk1"/>
              </a:solidFill>
              <a:latin typeface="Calibri"/>
              <a:ea typeface="Calibri"/>
              <a:cs typeface="Calibri"/>
              <a:sym typeface="Calibri"/>
            </a:endParaRPr>
          </a:p>
        </p:txBody>
      </p:sp>
      <p:sp>
        <p:nvSpPr>
          <p:cNvPr id="790" name="Google Shape;790;p27"/>
          <p:cNvSpPr/>
          <p:nvPr/>
        </p:nvSpPr>
        <p:spPr>
          <a:xfrm>
            <a:off x="65836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/re/d</a:t>
            </a:r>
            <a:endParaRPr b="0" i="0" sz="1150" u="none" cap="none" strike="noStrike">
              <a:solidFill>
                <a:schemeClr val="dk1"/>
              </a:solidFill>
              <a:latin typeface="Calibri"/>
              <a:ea typeface="Calibri"/>
              <a:cs typeface="Calibri"/>
              <a:sym typeface="Calibri"/>
            </a:endParaRPr>
          </a:p>
        </p:txBody>
      </p:sp>
      <p:sp>
        <p:nvSpPr>
          <p:cNvPr id="791" name="Google Shape;791;p27"/>
          <p:cNvSpPr/>
          <p:nvPr/>
        </p:nvSpPr>
        <p:spPr>
          <a:xfrm>
            <a:off x="2468880" y="391363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delete matching lines</a:t>
            </a:r>
            <a:endParaRPr b="0" i="0" sz="1100" u="none" cap="none" strike="noStrike">
              <a:solidFill>
                <a:schemeClr val="dk1"/>
              </a:solidFill>
              <a:latin typeface="Calibri"/>
              <a:ea typeface="Calibri"/>
              <a:cs typeface="Calibri"/>
              <a:sym typeface="Calibri"/>
            </a:endParaRPr>
          </a:p>
        </p:txBody>
      </p:sp>
      <p:sp>
        <p:nvSpPr>
          <p:cNvPr id="792" name="Google Shape;792;p27"/>
          <p:cNvSpPr/>
          <p:nvPr/>
        </p:nvSpPr>
        <p:spPr>
          <a:xfrm>
            <a:off x="658368" y="431596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-n '5,8p'</a:t>
            </a:r>
            <a:endParaRPr b="0" i="0" sz="1150" u="none" cap="none" strike="noStrike">
              <a:solidFill>
                <a:schemeClr val="dk1"/>
              </a:solidFill>
              <a:latin typeface="Calibri"/>
              <a:ea typeface="Calibri"/>
              <a:cs typeface="Calibri"/>
              <a:sym typeface="Calibri"/>
            </a:endParaRPr>
          </a:p>
        </p:txBody>
      </p:sp>
      <p:sp>
        <p:nvSpPr>
          <p:cNvPr id="793" name="Google Shape;793;p27"/>
          <p:cNvSpPr/>
          <p:nvPr/>
        </p:nvSpPr>
        <p:spPr>
          <a:xfrm>
            <a:off x="2468880" y="431596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print only lines 5–8</a:t>
            </a:r>
            <a:endParaRPr b="0" i="0" sz="1100" u="none" cap="none" strike="noStrike">
              <a:solidFill>
                <a:schemeClr val="dk1"/>
              </a:solidFill>
              <a:latin typeface="Calibri"/>
              <a:ea typeface="Calibri"/>
              <a:cs typeface="Calibri"/>
              <a:sym typeface="Calibri"/>
            </a:endParaRPr>
          </a:p>
        </p:txBody>
      </p:sp>
      <p:sp>
        <p:nvSpPr>
          <p:cNvPr id="794" name="Google Shape;794;p27"/>
          <p:cNvSpPr/>
          <p:nvPr/>
        </p:nvSpPr>
        <p:spPr>
          <a:xfrm>
            <a:off x="4800600" y="1371600"/>
            <a:ext cx="3886200" cy="3246120"/>
          </a:xfrm>
          <a:prstGeom prst="roundRect">
            <a:avLst>
              <a:gd fmla="val 225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27"/>
          <p:cNvSpPr/>
          <p:nvPr/>
        </p:nvSpPr>
        <p:spPr>
          <a:xfrm>
            <a:off x="49834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27"/>
          <p:cNvSpPr/>
          <p:nvPr/>
        </p:nvSpPr>
        <p:spPr>
          <a:xfrm>
            <a:off x="51297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27"/>
          <p:cNvSpPr/>
          <p:nvPr/>
        </p:nvSpPr>
        <p:spPr>
          <a:xfrm>
            <a:off x="52760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8" name="Google Shape;798;p27"/>
          <p:cNvSpPr/>
          <p:nvPr/>
        </p:nvSpPr>
        <p:spPr>
          <a:xfrm>
            <a:off x="5440680" y="144475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you@server</a:t>
            </a:r>
            <a:endParaRPr b="0" i="0" sz="900" u="none" cap="none" strike="noStrike">
              <a:solidFill>
                <a:schemeClr val="dk1"/>
              </a:solidFill>
              <a:latin typeface="Calibri"/>
              <a:ea typeface="Calibri"/>
              <a:cs typeface="Calibri"/>
              <a:sym typeface="Calibri"/>
            </a:endParaRPr>
          </a:p>
        </p:txBody>
      </p:sp>
      <p:cxnSp>
        <p:nvCxnSpPr>
          <p:cNvPr id="799" name="Google Shape;799;p27"/>
          <p:cNvCxnSpPr/>
          <p:nvPr/>
        </p:nvCxnSpPr>
        <p:spPr>
          <a:xfrm>
            <a:off x="4800600" y="1737360"/>
            <a:ext cx="3886200" cy="0"/>
          </a:xfrm>
          <a:prstGeom prst="straightConnector1">
            <a:avLst/>
          </a:prstGeom>
          <a:noFill/>
          <a:ln cap="flat" cmpd="sng" w="12700">
            <a:solidFill>
              <a:srgbClr val="1E293B"/>
            </a:solidFill>
            <a:prstDash val="solid"/>
            <a:round/>
            <a:headEnd len="sm" w="sm" type="none"/>
            <a:tailEnd len="sm" w="sm" type="none"/>
          </a:ln>
        </p:spPr>
      </p:cxnSp>
      <p:sp>
        <p:nvSpPr>
          <p:cNvPr id="800" name="Google Shape;800;p27"/>
          <p:cNvSpPr/>
          <p:nvPr/>
        </p:nvSpPr>
        <p:spPr>
          <a:xfrm>
            <a:off x="5001768" y="1847088"/>
            <a:ext cx="3483864" cy="26609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preview (no -i): debug -&gt; info</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sed 's/debug/info/' app.conf</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apply in place, keep a backup</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sed -i.bak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   's/^ENV=.*/ENV=prod/' app.env</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strip blank lines and comments</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sed '/^#/d; /^$/d' nginx.conf</a:t>
            </a:r>
            <a:endParaRPr b="0" i="0" sz="1050" u="none" cap="none" strike="noStrike">
              <a:solidFill>
                <a:schemeClr val="dk1"/>
              </a:solidFill>
              <a:latin typeface="Calibri"/>
              <a:ea typeface="Calibri"/>
              <a:cs typeface="Calibri"/>
              <a:sym typeface="Calibri"/>
            </a:endParaRPr>
          </a:p>
        </p:txBody>
      </p:sp>
      <p:sp>
        <p:nvSpPr>
          <p:cNvPr id="801" name="Google Shape;801;p27"/>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802" name="Google Shape;802;p27"/>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3 · Text Processing</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07" name="Shape 807"/>
        <p:cNvGrpSpPr/>
        <p:nvPr/>
      </p:nvGrpSpPr>
      <p:grpSpPr>
        <a:xfrm>
          <a:off x="0" y="0"/>
          <a:ext cx="0" cy="0"/>
          <a:chOff x="0" y="0"/>
          <a:chExt cx="0" cy="0"/>
        </a:xfrm>
      </p:grpSpPr>
      <p:sp>
        <p:nvSpPr>
          <p:cNvPr id="808" name="Google Shape;808;p28"/>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awk — field-aware processing</a:t>
            </a:r>
            <a:endParaRPr b="0" i="0" sz="2900" u="none" cap="none" strike="noStrike">
              <a:solidFill>
                <a:schemeClr val="dk1"/>
              </a:solidFill>
              <a:latin typeface="Calibri"/>
              <a:ea typeface="Calibri"/>
              <a:cs typeface="Calibri"/>
              <a:sym typeface="Calibri"/>
            </a:endParaRPr>
          </a:p>
        </p:txBody>
      </p:sp>
      <p:sp>
        <p:nvSpPr>
          <p:cNvPr id="809" name="Google Shape;809;p28"/>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10" name="Google Shape;810;p28"/>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811" name="Google Shape;811;p28"/>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You need column 4 summed, or a quick report from a log — awk is a tiny language for tables.</a:t>
            </a:r>
            <a:endParaRPr b="0" i="0" sz="1300" u="none" cap="none" strike="noStrike">
              <a:solidFill>
                <a:schemeClr val="dk1"/>
              </a:solidFill>
              <a:latin typeface="Calibri"/>
              <a:ea typeface="Calibri"/>
              <a:cs typeface="Calibri"/>
              <a:sym typeface="Calibri"/>
            </a:endParaRPr>
          </a:p>
        </p:txBody>
      </p:sp>
      <p:sp>
        <p:nvSpPr>
          <p:cNvPr id="812" name="Google Shape;812;p28"/>
          <p:cNvSpPr/>
          <p:nvPr/>
        </p:nvSpPr>
        <p:spPr>
          <a:xfrm>
            <a:off x="457200" y="1371600"/>
            <a:ext cx="4160520" cy="3035808"/>
          </a:xfrm>
          <a:prstGeom prst="roundRect">
            <a:avLst>
              <a:gd fmla="val 180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28"/>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awk 'pattern{action}'</a:t>
            </a:r>
            <a:endParaRPr b="0" i="0" sz="1250" u="none" cap="none" strike="noStrike">
              <a:solidFill>
                <a:schemeClr val="dk1"/>
              </a:solidFill>
              <a:latin typeface="Calibri"/>
              <a:ea typeface="Calibri"/>
              <a:cs typeface="Calibri"/>
              <a:sym typeface="Calibri"/>
            </a:endParaRPr>
          </a:p>
        </p:txBody>
      </p:sp>
      <p:sp>
        <p:nvSpPr>
          <p:cNvPr id="814" name="Google Shape;814;p28"/>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{print $1}</a:t>
            </a:r>
            <a:endParaRPr b="0" i="0" sz="1150" u="none" cap="none" strike="noStrike">
              <a:solidFill>
                <a:schemeClr val="dk1"/>
              </a:solidFill>
              <a:latin typeface="Calibri"/>
              <a:ea typeface="Calibri"/>
              <a:cs typeface="Calibri"/>
              <a:sym typeface="Calibri"/>
            </a:endParaRPr>
          </a:p>
        </p:txBody>
      </p:sp>
      <p:sp>
        <p:nvSpPr>
          <p:cNvPr id="815" name="Google Shape;815;p28"/>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first field of each line</a:t>
            </a:r>
            <a:endParaRPr b="0" i="0" sz="1100" u="none" cap="none" strike="noStrike">
              <a:solidFill>
                <a:schemeClr val="dk1"/>
              </a:solidFill>
              <a:latin typeface="Calibri"/>
              <a:ea typeface="Calibri"/>
              <a:cs typeface="Calibri"/>
              <a:sym typeface="Calibri"/>
            </a:endParaRPr>
          </a:p>
        </p:txBody>
      </p:sp>
      <p:sp>
        <p:nvSpPr>
          <p:cNvPr id="816" name="Google Shape;816;p28"/>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$NF</a:t>
            </a:r>
            <a:endParaRPr b="0" i="0" sz="1150" u="none" cap="none" strike="noStrike">
              <a:solidFill>
                <a:schemeClr val="dk1"/>
              </a:solidFill>
              <a:latin typeface="Calibri"/>
              <a:ea typeface="Calibri"/>
              <a:cs typeface="Calibri"/>
              <a:sym typeface="Calibri"/>
            </a:endParaRPr>
          </a:p>
        </p:txBody>
      </p:sp>
      <p:sp>
        <p:nvSpPr>
          <p:cNvPr id="817" name="Google Shape;817;p28"/>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the LAST field</a:t>
            </a:r>
            <a:endParaRPr b="0" i="0" sz="1100" u="none" cap="none" strike="noStrike">
              <a:solidFill>
                <a:schemeClr val="dk1"/>
              </a:solidFill>
              <a:latin typeface="Calibri"/>
              <a:ea typeface="Calibri"/>
              <a:cs typeface="Calibri"/>
              <a:sym typeface="Calibri"/>
            </a:endParaRPr>
          </a:p>
        </p:txBody>
      </p:sp>
      <p:sp>
        <p:nvSpPr>
          <p:cNvPr id="818" name="Google Shape;818;p28"/>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-F:</a:t>
            </a:r>
            <a:endParaRPr b="0" i="0" sz="1150" u="none" cap="none" strike="noStrike">
              <a:solidFill>
                <a:schemeClr val="dk1"/>
              </a:solidFill>
              <a:latin typeface="Calibri"/>
              <a:ea typeface="Calibri"/>
              <a:cs typeface="Calibri"/>
              <a:sym typeface="Calibri"/>
            </a:endParaRPr>
          </a:p>
        </p:txBody>
      </p:sp>
      <p:sp>
        <p:nvSpPr>
          <p:cNvPr id="819" name="Google Shape;819;p28"/>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set field separator to ':'</a:t>
            </a:r>
            <a:endParaRPr b="0" i="0" sz="1100" u="none" cap="none" strike="noStrike">
              <a:solidFill>
                <a:schemeClr val="dk1"/>
              </a:solidFill>
              <a:latin typeface="Calibri"/>
              <a:ea typeface="Calibri"/>
              <a:cs typeface="Calibri"/>
              <a:sym typeface="Calibri"/>
            </a:endParaRPr>
          </a:p>
        </p:txBody>
      </p:sp>
      <p:sp>
        <p:nvSpPr>
          <p:cNvPr id="820" name="Google Shape;820;p28"/>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$3&gt;100</a:t>
            </a:r>
            <a:endParaRPr b="0" i="0" sz="1150" u="none" cap="none" strike="noStrike">
              <a:solidFill>
                <a:schemeClr val="dk1"/>
              </a:solidFill>
              <a:latin typeface="Calibri"/>
              <a:ea typeface="Calibri"/>
              <a:cs typeface="Calibri"/>
              <a:sym typeface="Calibri"/>
            </a:endParaRPr>
          </a:p>
        </p:txBody>
      </p:sp>
      <p:sp>
        <p:nvSpPr>
          <p:cNvPr id="821" name="Google Shape;821;p28"/>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pattern: rows where col 3 &gt; 100</a:t>
            </a:r>
            <a:endParaRPr b="0" i="0" sz="1100" u="none" cap="none" strike="noStrike">
              <a:solidFill>
                <a:schemeClr val="dk1"/>
              </a:solidFill>
              <a:latin typeface="Calibri"/>
              <a:ea typeface="Calibri"/>
              <a:cs typeface="Calibri"/>
              <a:sym typeface="Calibri"/>
            </a:endParaRPr>
          </a:p>
        </p:txBody>
      </p:sp>
      <p:sp>
        <p:nvSpPr>
          <p:cNvPr id="822" name="Google Shape;822;p28"/>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{s+=$4}END</a:t>
            </a:r>
            <a:endParaRPr b="0" i="0" sz="1150" u="none" cap="none" strike="noStrike">
              <a:solidFill>
                <a:schemeClr val="dk1"/>
              </a:solidFill>
              <a:latin typeface="Calibri"/>
              <a:ea typeface="Calibri"/>
              <a:cs typeface="Calibri"/>
              <a:sym typeface="Calibri"/>
            </a:endParaRPr>
          </a:p>
        </p:txBody>
      </p:sp>
      <p:sp>
        <p:nvSpPr>
          <p:cNvPr id="823" name="Google Shape;823;p28"/>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accumulate; END runs at finish</a:t>
            </a:r>
            <a:endParaRPr b="0" i="0" sz="1100" u="none" cap="none" strike="noStrike">
              <a:solidFill>
                <a:schemeClr val="dk1"/>
              </a:solidFill>
              <a:latin typeface="Calibri"/>
              <a:ea typeface="Calibri"/>
              <a:cs typeface="Calibri"/>
              <a:sym typeface="Calibri"/>
            </a:endParaRPr>
          </a:p>
        </p:txBody>
      </p:sp>
      <p:sp>
        <p:nvSpPr>
          <p:cNvPr id="824" name="Google Shape;824;p28"/>
          <p:cNvSpPr/>
          <p:nvPr/>
        </p:nvSpPr>
        <p:spPr>
          <a:xfrm>
            <a:off x="65836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NR==1</a:t>
            </a:r>
            <a:endParaRPr b="0" i="0" sz="1150" u="none" cap="none" strike="noStrike">
              <a:solidFill>
                <a:schemeClr val="dk1"/>
              </a:solidFill>
              <a:latin typeface="Calibri"/>
              <a:ea typeface="Calibri"/>
              <a:cs typeface="Calibri"/>
              <a:sym typeface="Calibri"/>
            </a:endParaRPr>
          </a:p>
        </p:txBody>
      </p:sp>
      <p:sp>
        <p:nvSpPr>
          <p:cNvPr id="825" name="Google Shape;825;p28"/>
          <p:cNvSpPr/>
          <p:nvPr/>
        </p:nvSpPr>
        <p:spPr>
          <a:xfrm>
            <a:off x="2468880" y="391363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act only on line number 1</a:t>
            </a:r>
            <a:endParaRPr b="0" i="0" sz="1100" u="none" cap="none" strike="noStrike">
              <a:solidFill>
                <a:schemeClr val="dk1"/>
              </a:solidFill>
              <a:latin typeface="Calibri"/>
              <a:ea typeface="Calibri"/>
              <a:cs typeface="Calibri"/>
              <a:sym typeface="Calibri"/>
            </a:endParaRPr>
          </a:p>
        </p:txBody>
      </p:sp>
      <p:sp>
        <p:nvSpPr>
          <p:cNvPr id="826" name="Google Shape;826;p28"/>
          <p:cNvSpPr/>
          <p:nvPr/>
        </p:nvSpPr>
        <p:spPr>
          <a:xfrm>
            <a:off x="4800600" y="1371600"/>
            <a:ext cx="3886200" cy="3246120"/>
          </a:xfrm>
          <a:prstGeom prst="roundRect">
            <a:avLst>
              <a:gd fmla="val 225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7" name="Google Shape;827;p28"/>
          <p:cNvSpPr/>
          <p:nvPr/>
        </p:nvSpPr>
        <p:spPr>
          <a:xfrm>
            <a:off x="49834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8" name="Google Shape;828;p28"/>
          <p:cNvSpPr/>
          <p:nvPr/>
        </p:nvSpPr>
        <p:spPr>
          <a:xfrm>
            <a:off x="51297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9" name="Google Shape;829;p28"/>
          <p:cNvSpPr/>
          <p:nvPr/>
        </p:nvSpPr>
        <p:spPr>
          <a:xfrm>
            <a:off x="52760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p28"/>
          <p:cNvSpPr/>
          <p:nvPr/>
        </p:nvSpPr>
        <p:spPr>
          <a:xfrm>
            <a:off x="5440680" y="144475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you@server</a:t>
            </a:r>
            <a:endParaRPr b="0" i="0" sz="900" u="none" cap="none" strike="noStrike">
              <a:solidFill>
                <a:schemeClr val="dk1"/>
              </a:solidFill>
              <a:latin typeface="Calibri"/>
              <a:ea typeface="Calibri"/>
              <a:cs typeface="Calibri"/>
              <a:sym typeface="Calibri"/>
            </a:endParaRPr>
          </a:p>
        </p:txBody>
      </p:sp>
      <p:cxnSp>
        <p:nvCxnSpPr>
          <p:cNvPr id="831" name="Google Shape;831;p28"/>
          <p:cNvCxnSpPr/>
          <p:nvPr/>
        </p:nvCxnSpPr>
        <p:spPr>
          <a:xfrm>
            <a:off x="4800600" y="1737360"/>
            <a:ext cx="3886200" cy="0"/>
          </a:xfrm>
          <a:prstGeom prst="straightConnector1">
            <a:avLst/>
          </a:prstGeom>
          <a:noFill/>
          <a:ln cap="flat" cmpd="sng" w="12700">
            <a:solidFill>
              <a:srgbClr val="1E293B"/>
            </a:solidFill>
            <a:prstDash val="solid"/>
            <a:round/>
            <a:headEnd len="sm" w="sm" type="none"/>
            <a:tailEnd len="sm" w="sm" type="none"/>
          </a:ln>
        </p:spPr>
      </p:cxnSp>
      <p:sp>
        <p:nvSpPr>
          <p:cNvPr id="832" name="Google Shape;832;p28"/>
          <p:cNvSpPr/>
          <p:nvPr/>
        </p:nvSpPr>
        <p:spPr>
          <a:xfrm>
            <a:off x="5001768" y="1847088"/>
            <a:ext cx="3483864" cy="26609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sum bytes sent (field 10)</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awk '{s+=$10} END{print s}'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      access.log</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48213776</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status code + URL, only 5xx</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awk '$9&gt;=500 {print $9,$7}'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      access.log</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503 /api/checkout</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500 /api/orders</a:t>
            </a:r>
            <a:endParaRPr b="0" i="0" sz="1050" u="none" cap="none" strike="noStrike">
              <a:solidFill>
                <a:schemeClr val="dk1"/>
              </a:solidFill>
              <a:latin typeface="Calibri"/>
              <a:ea typeface="Calibri"/>
              <a:cs typeface="Calibri"/>
              <a:sym typeface="Calibri"/>
            </a:endParaRPr>
          </a:p>
        </p:txBody>
      </p:sp>
      <p:sp>
        <p:nvSpPr>
          <p:cNvPr id="833" name="Google Shape;833;p28"/>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834" name="Google Shape;834;p28"/>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3 · Text Processing</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39" name="Shape 839"/>
        <p:cNvGrpSpPr/>
        <p:nvPr/>
      </p:nvGrpSpPr>
      <p:grpSpPr>
        <a:xfrm>
          <a:off x="0" y="0"/>
          <a:ext cx="0" cy="0"/>
          <a:chOff x="0" y="0"/>
          <a:chExt cx="0" cy="0"/>
        </a:xfrm>
      </p:grpSpPr>
      <p:sp>
        <p:nvSpPr>
          <p:cNvPr id="840" name="Google Shape;840;p29"/>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jq — query &amp; transform JSON</a:t>
            </a:r>
            <a:endParaRPr b="0" i="0" sz="2900" u="none" cap="none" strike="noStrike">
              <a:solidFill>
                <a:schemeClr val="dk1"/>
              </a:solidFill>
              <a:latin typeface="Calibri"/>
              <a:ea typeface="Calibri"/>
              <a:cs typeface="Calibri"/>
              <a:sym typeface="Calibri"/>
            </a:endParaRPr>
          </a:p>
        </p:txBody>
      </p:sp>
      <p:sp>
        <p:nvSpPr>
          <p:cNvPr id="841" name="Google Shape;841;p29"/>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42" name="Google Shape;842;p29"/>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843" name="Google Shape;843;p29"/>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Every API and most cloud CLIs return JSON. jq turns that wall of braces into the one value you want.</a:t>
            </a:r>
            <a:endParaRPr b="0" i="0" sz="1300" u="none" cap="none" strike="noStrike">
              <a:solidFill>
                <a:schemeClr val="dk1"/>
              </a:solidFill>
              <a:latin typeface="Calibri"/>
              <a:ea typeface="Calibri"/>
              <a:cs typeface="Calibri"/>
              <a:sym typeface="Calibri"/>
            </a:endParaRPr>
          </a:p>
        </p:txBody>
      </p:sp>
      <p:sp>
        <p:nvSpPr>
          <p:cNvPr id="844" name="Google Shape;844;p29"/>
          <p:cNvSpPr/>
          <p:nvPr/>
        </p:nvSpPr>
        <p:spPr>
          <a:xfrm>
            <a:off x="457200" y="1371600"/>
            <a:ext cx="4160520" cy="3438144"/>
          </a:xfrm>
          <a:prstGeom prst="roundRect">
            <a:avLst>
              <a:gd fmla="val 1596"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5" name="Google Shape;845;p29"/>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curl ... | jq 'filter'</a:t>
            </a:r>
            <a:endParaRPr b="0" i="0" sz="1250" u="none" cap="none" strike="noStrike">
              <a:solidFill>
                <a:schemeClr val="dk1"/>
              </a:solidFill>
              <a:latin typeface="Calibri"/>
              <a:ea typeface="Calibri"/>
              <a:cs typeface="Calibri"/>
              <a:sym typeface="Calibri"/>
            </a:endParaRPr>
          </a:p>
        </p:txBody>
      </p:sp>
      <p:sp>
        <p:nvSpPr>
          <p:cNvPr id="846" name="Google Shape;846;p29"/>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a:t>
            </a:r>
            <a:endParaRPr b="0" i="0" sz="1150" u="none" cap="none" strike="noStrike">
              <a:solidFill>
                <a:schemeClr val="dk1"/>
              </a:solidFill>
              <a:latin typeface="Calibri"/>
              <a:ea typeface="Calibri"/>
              <a:cs typeface="Calibri"/>
              <a:sym typeface="Calibri"/>
            </a:endParaRPr>
          </a:p>
        </p:txBody>
      </p:sp>
      <p:sp>
        <p:nvSpPr>
          <p:cNvPr id="847" name="Google Shape;847;p29"/>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the whole input (pretty-print)</a:t>
            </a:r>
            <a:endParaRPr b="0" i="0" sz="1100" u="none" cap="none" strike="noStrike">
              <a:solidFill>
                <a:schemeClr val="dk1"/>
              </a:solidFill>
              <a:latin typeface="Calibri"/>
              <a:ea typeface="Calibri"/>
              <a:cs typeface="Calibri"/>
              <a:sym typeface="Calibri"/>
            </a:endParaRPr>
          </a:p>
        </p:txBody>
      </p:sp>
      <p:sp>
        <p:nvSpPr>
          <p:cNvPr id="848" name="Google Shape;848;p29"/>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.name</a:t>
            </a:r>
            <a:endParaRPr b="0" i="0" sz="1150" u="none" cap="none" strike="noStrike">
              <a:solidFill>
                <a:schemeClr val="dk1"/>
              </a:solidFill>
              <a:latin typeface="Calibri"/>
              <a:ea typeface="Calibri"/>
              <a:cs typeface="Calibri"/>
              <a:sym typeface="Calibri"/>
            </a:endParaRPr>
          </a:p>
        </p:txBody>
      </p:sp>
      <p:sp>
        <p:nvSpPr>
          <p:cNvPr id="849" name="Google Shape;849;p29"/>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value of key 'name'</a:t>
            </a:r>
            <a:endParaRPr b="0" i="0" sz="1100" u="none" cap="none" strike="noStrike">
              <a:solidFill>
                <a:schemeClr val="dk1"/>
              </a:solidFill>
              <a:latin typeface="Calibri"/>
              <a:ea typeface="Calibri"/>
              <a:cs typeface="Calibri"/>
              <a:sym typeface="Calibri"/>
            </a:endParaRPr>
          </a:p>
        </p:txBody>
      </p:sp>
      <p:sp>
        <p:nvSpPr>
          <p:cNvPr id="850" name="Google Shape;850;p29"/>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.items[]</a:t>
            </a:r>
            <a:endParaRPr b="0" i="0" sz="1150" u="none" cap="none" strike="noStrike">
              <a:solidFill>
                <a:schemeClr val="dk1"/>
              </a:solidFill>
              <a:latin typeface="Calibri"/>
              <a:ea typeface="Calibri"/>
              <a:cs typeface="Calibri"/>
              <a:sym typeface="Calibri"/>
            </a:endParaRPr>
          </a:p>
        </p:txBody>
      </p:sp>
      <p:sp>
        <p:nvSpPr>
          <p:cNvPr id="851" name="Google Shape;851;p29"/>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iterate array elements</a:t>
            </a:r>
            <a:endParaRPr b="0" i="0" sz="1100" u="none" cap="none" strike="noStrike">
              <a:solidFill>
                <a:schemeClr val="dk1"/>
              </a:solidFill>
              <a:latin typeface="Calibri"/>
              <a:ea typeface="Calibri"/>
              <a:cs typeface="Calibri"/>
              <a:sym typeface="Calibri"/>
            </a:endParaRPr>
          </a:p>
        </p:txBody>
      </p:sp>
      <p:sp>
        <p:nvSpPr>
          <p:cNvPr id="852" name="Google Shape;852;p29"/>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.items[].id</a:t>
            </a:r>
            <a:endParaRPr b="0" i="0" sz="1150" u="none" cap="none" strike="noStrike">
              <a:solidFill>
                <a:schemeClr val="dk1"/>
              </a:solidFill>
              <a:latin typeface="Calibri"/>
              <a:ea typeface="Calibri"/>
              <a:cs typeface="Calibri"/>
              <a:sym typeface="Calibri"/>
            </a:endParaRPr>
          </a:p>
        </p:txBody>
      </p:sp>
      <p:sp>
        <p:nvSpPr>
          <p:cNvPr id="853" name="Google Shape;853;p29"/>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id of every item</a:t>
            </a:r>
            <a:endParaRPr b="0" i="0" sz="1100" u="none" cap="none" strike="noStrike">
              <a:solidFill>
                <a:schemeClr val="dk1"/>
              </a:solidFill>
              <a:latin typeface="Calibri"/>
              <a:ea typeface="Calibri"/>
              <a:cs typeface="Calibri"/>
              <a:sym typeface="Calibri"/>
            </a:endParaRPr>
          </a:p>
        </p:txBody>
      </p:sp>
      <p:sp>
        <p:nvSpPr>
          <p:cNvPr id="854" name="Google Shape;854;p29"/>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select(.x&gt;3)</a:t>
            </a:r>
            <a:endParaRPr b="0" i="0" sz="1150" u="none" cap="none" strike="noStrike">
              <a:solidFill>
                <a:schemeClr val="dk1"/>
              </a:solidFill>
              <a:latin typeface="Calibri"/>
              <a:ea typeface="Calibri"/>
              <a:cs typeface="Calibri"/>
              <a:sym typeface="Calibri"/>
            </a:endParaRPr>
          </a:p>
        </p:txBody>
      </p:sp>
      <p:sp>
        <p:nvSpPr>
          <p:cNvPr id="855" name="Google Shape;855;p29"/>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keep matching elements</a:t>
            </a:r>
            <a:endParaRPr b="0" i="0" sz="1100" u="none" cap="none" strike="noStrike">
              <a:solidFill>
                <a:schemeClr val="dk1"/>
              </a:solidFill>
              <a:latin typeface="Calibri"/>
              <a:ea typeface="Calibri"/>
              <a:cs typeface="Calibri"/>
              <a:sym typeface="Calibri"/>
            </a:endParaRPr>
          </a:p>
        </p:txBody>
      </p:sp>
      <p:sp>
        <p:nvSpPr>
          <p:cNvPr id="856" name="Google Shape;856;p29"/>
          <p:cNvSpPr/>
          <p:nvPr/>
        </p:nvSpPr>
        <p:spPr>
          <a:xfrm>
            <a:off x="65836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-r</a:t>
            </a:r>
            <a:endParaRPr b="0" i="0" sz="1150" u="none" cap="none" strike="noStrike">
              <a:solidFill>
                <a:schemeClr val="dk1"/>
              </a:solidFill>
              <a:latin typeface="Calibri"/>
              <a:ea typeface="Calibri"/>
              <a:cs typeface="Calibri"/>
              <a:sym typeface="Calibri"/>
            </a:endParaRPr>
          </a:p>
        </p:txBody>
      </p:sp>
      <p:sp>
        <p:nvSpPr>
          <p:cNvPr id="857" name="Google Shape;857;p29"/>
          <p:cNvSpPr/>
          <p:nvPr/>
        </p:nvSpPr>
        <p:spPr>
          <a:xfrm>
            <a:off x="2468880" y="391363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raw output (no quotes) — for scripts</a:t>
            </a:r>
            <a:endParaRPr b="0" i="0" sz="1100" u="none" cap="none" strike="noStrike">
              <a:solidFill>
                <a:schemeClr val="dk1"/>
              </a:solidFill>
              <a:latin typeface="Calibri"/>
              <a:ea typeface="Calibri"/>
              <a:cs typeface="Calibri"/>
              <a:sym typeface="Calibri"/>
            </a:endParaRPr>
          </a:p>
        </p:txBody>
      </p:sp>
      <p:sp>
        <p:nvSpPr>
          <p:cNvPr id="858" name="Google Shape;858;p29"/>
          <p:cNvSpPr/>
          <p:nvPr/>
        </p:nvSpPr>
        <p:spPr>
          <a:xfrm>
            <a:off x="658368" y="431596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map(.) | length</a:t>
            </a:r>
            <a:endParaRPr b="0" i="0" sz="1150" u="none" cap="none" strike="noStrike">
              <a:solidFill>
                <a:schemeClr val="dk1"/>
              </a:solidFill>
              <a:latin typeface="Calibri"/>
              <a:ea typeface="Calibri"/>
              <a:cs typeface="Calibri"/>
              <a:sym typeface="Calibri"/>
            </a:endParaRPr>
          </a:p>
        </p:txBody>
      </p:sp>
      <p:sp>
        <p:nvSpPr>
          <p:cNvPr id="859" name="Google Shape;859;p29"/>
          <p:cNvSpPr/>
          <p:nvPr/>
        </p:nvSpPr>
        <p:spPr>
          <a:xfrm>
            <a:off x="2468880" y="431596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transform / count</a:t>
            </a:r>
            <a:endParaRPr b="0" i="0" sz="1100" u="none" cap="none" strike="noStrike">
              <a:solidFill>
                <a:schemeClr val="dk1"/>
              </a:solidFill>
              <a:latin typeface="Calibri"/>
              <a:ea typeface="Calibri"/>
              <a:cs typeface="Calibri"/>
              <a:sym typeface="Calibri"/>
            </a:endParaRPr>
          </a:p>
        </p:txBody>
      </p:sp>
      <p:sp>
        <p:nvSpPr>
          <p:cNvPr id="860" name="Google Shape;860;p29"/>
          <p:cNvSpPr/>
          <p:nvPr/>
        </p:nvSpPr>
        <p:spPr>
          <a:xfrm>
            <a:off x="4800600" y="1371600"/>
            <a:ext cx="3886200" cy="3246120"/>
          </a:xfrm>
          <a:prstGeom prst="roundRect">
            <a:avLst>
              <a:gd fmla="val 225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1" name="Google Shape;861;p29"/>
          <p:cNvSpPr/>
          <p:nvPr/>
        </p:nvSpPr>
        <p:spPr>
          <a:xfrm>
            <a:off x="49834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2" name="Google Shape;862;p29"/>
          <p:cNvSpPr/>
          <p:nvPr/>
        </p:nvSpPr>
        <p:spPr>
          <a:xfrm>
            <a:off x="51297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3" name="Google Shape;863;p29"/>
          <p:cNvSpPr/>
          <p:nvPr/>
        </p:nvSpPr>
        <p:spPr>
          <a:xfrm>
            <a:off x="52760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4" name="Google Shape;864;p29"/>
          <p:cNvSpPr/>
          <p:nvPr/>
        </p:nvSpPr>
        <p:spPr>
          <a:xfrm>
            <a:off x="5440680" y="144475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you@server</a:t>
            </a:r>
            <a:endParaRPr b="0" i="0" sz="900" u="none" cap="none" strike="noStrike">
              <a:solidFill>
                <a:schemeClr val="dk1"/>
              </a:solidFill>
              <a:latin typeface="Calibri"/>
              <a:ea typeface="Calibri"/>
              <a:cs typeface="Calibri"/>
              <a:sym typeface="Calibri"/>
            </a:endParaRPr>
          </a:p>
        </p:txBody>
      </p:sp>
      <p:cxnSp>
        <p:nvCxnSpPr>
          <p:cNvPr id="865" name="Google Shape;865;p29"/>
          <p:cNvCxnSpPr/>
          <p:nvPr/>
        </p:nvCxnSpPr>
        <p:spPr>
          <a:xfrm>
            <a:off x="4800600" y="1737360"/>
            <a:ext cx="3886200" cy="0"/>
          </a:xfrm>
          <a:prstGeom prst="straightConnector1">
            <a:avLst/>
          </a:prstGeom>
          <a:noFill/>
          <a:ln cap="flat" cmpd="sng" w="12700">
            <a:solidFill>
              <a:srgbClr val="1E293B"/>
            </a:solidFill>
            <a:prstDash val="solid"/>
            <a:round/>
            <a:headEnd len="sm" w="sm" type="none"/>
            <a:tailEnd len="sm" w="sm" type="none"/>
          </a:ln>
        </p:spPr>
      </p:cxnSp>
      <p:sp>
        <p:nvSpPr>
          <p:cNvPr id="866" name="Google Shape;866;p29"/>
          <p:cNvSpPr/>
          <p:nvPr/>
        </p:nvSpPr>
        <p:spPr>
          <a:xfrm>
            <a:off x="5001768" y="1847088"/>
            <a:ext cx="3483864" cy="26609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names of all running pods</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kubectl get pods -o json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   | jq -r '.items[].metadata.name'</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web-7d9f</a:t>
            </a:r>
            <a:r>
              <a:rPr b="0" i="0" lang="en-US" sz="1050" u="none" cap="none" strike="noStrike">
                <a:solidFill>
                  <a:srgbClr val="64748B"/>
                </a:solidFill>
                <a:latin typeface="Courier New"/>
                <a:ea typeface="Courier New"/>
                <a:cs typeface="Courier New"/>
                <a:sym typeface="Courier New"/>
              </a:rPr>
              <a:t>  api-55c8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only unhealthy items, as a table</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cat health.json | jq -r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  '.svc[]|select(.up==false)|.name'</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payments</a:t>
            </a:r>
            <a:endParaRPr b="0" i="0" sz="1050" u="none" cap="none" strike="noStrike">
              <a:solidFill>
                <a:schemeClr val="dk1"/>
              </a:solidFill>
              <a:latin typeface="Calibri"/>
              <a:ea typeface="Calibri"/>
              <a:cs typeface="Calibri"/>
              <a:sym typeface="Calibri"/>
            </a:endParaRPr>
          </a:p>
        </p:txBody>
      </p:sp>
      <p:sp>
        <p:nvSpPr>
          <p:cNvPr id="867" name="Google Shape;867;p29"/>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868" name="Google Shape;868;p29"/>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3 · Text Processing</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873" name="Shape 873"/>
        <p:cNvGrpSpPr/>
        <p:nvPr/>
      </p:nvGrpSpPr>
      <p:grpSpPr>
        <a:xfrm>
          <a:off x="0" y="0"/>
          <a:ext cx="0" cy="0"/>
          <a:chOff x="0" y="0"/>
          <a:chExt cx="0" cy="0"/>
        </a:xfrm>
      </p:grpSpPr>
      <p:sp>
        <p:nvSpPr>
          <p:cNvPr id="874" name="Google Shape;874;p30"/>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yq — jq, but for YAML</a:t>
            </a:r>
            <a:endParaRPr b="0" i="0" sz="2900" u="none" cap="none" strike="noStrike">
              <a:solidFill>
                <a:schemeClr val="dk1"/>
              </a:solidFill>
              <a:latin typeface="Calibri"/>
              <a:ea typeface="Calibri"/>
              <a:cs typeface="Calibri"/>
              <a:sym typeface="Calibri"/>
            </a:endParaRPr>
          </a:p>
        </p:txBody>
      </p:sp>
      <p:sp>
        <p:nvSpPr>
          <p:cNvPr id="875" name="Google Shape;875;p30"/>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876" name="Google Shape;876;p30"/>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877" name="Google Shape;877;p30"/>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Kubernetes manifests, CI pipelines, docker-compose, Ansible — DevOps config is YAML.</a:t>
            </a:r>
            <a:endParaRPr b="0" i="0" sz="1300" u="none" cap="none" strike="noStrike">
              <a:solidFill>
                <a:schemeClr val="dk1"/>
              </a:solidFill>
              <a:latin typeface="Calibri"/>
              <a:ea typeface="Calibri"/>
              <a:cs typeface="Calibri"/>
              <a:sym typeface="Calibri"/>
            </a:endParaRPr>
          </a:p>
        </p:txBody>
      </p:sp>
      <p:sp>
        <p:nvSpPr>
          <p:cNvPr id="878" name="Google Shape;878;p30"/>
          <p:cNvSpPr/>
          <p:nvPr/>
        </p:nvSpPr>
        <p:spPr>
          <a:xfrm>
            <a:off x="457200" y="1371600"/>
            <a:ext cx="4160520" cy="2633472"/>
          </a:xfrm>
          <a:prstGeom prst="roundRect">
            <a:avLst>
              <a:gd fmla="val 2083"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p30"/>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yq 'expr' file.yaml</a:t>
            </a:r>
            <a:endParaRPr b="0" i="0" sz="1250" u="none" cap="none" strike="noStrike">
              <a:solidFill>
                <a:schemeClr val="dk1"/>
              </a:solidFill>
              <a:latin typeface="Calibri"/>
              <a:ea typeface="Calibri"/>
              <a:cs typeface="Calibri"/>
              <a:sym typeface="Calibri"/>
            </a:endParaRPr>
          </a:p>
        </p:txBody>
      </p:sp>
      <p:sp>
        <p:nvSpPr>
          <p:cNvPr id="880" name="Google Shape;880;p30"/>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.spec.replicas</a:t>
            </a:r>
            <a:endParaRPr b="0" i="0" sz="1150" u="none" cap="none" strike="noStrike">
              <a:solidFill>
                <a:schemeClr val="dk1"/>
              </a:solidFill>
              <a:latin typeface="Calibri"/>
              <a:ea typeface="Calibri"/>
              <a:cs typeface="Calibri"/>
              <a:sym typeface="Calibri"/>
            </a:endParaRPr>
          </a:p>
        </p:txBody>
      </p:sp>
      <p:sp>
        <p:nvSpPr>
          <p:cNvPr id="881" name="Google Shape;881;p30"/>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read a nested value</a:t>
            </a:r>
            <a:endParaRPr b="0" i="0" sz="1100" u="none" cap="none" strike="noStrike">
              <a:solidFill>
                <a:schemeClr val="dk1"/>
              </a:solidFill>
              <a:latin typeface="Calibri"/>
              <a:ea typeface="Calibri"/>
              <a:cs typeface="Calibri"/>
              <a:sym typeface="Calibri"/>
            </a:endParaRPr>
          </a:p>
        </p:txBody>
      </p:sp>
      <p:sp>
        <p:nvSpPr>
          <p:cNvPr id="882" name="Google Shape;882;p30"/>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-i '...=3'</a:t>
            </a:r>
            <a:endParaRPr b="0" i="0" sz="1150" u="none" cap="none" strike="noStrike">
              <a:solidFill>
                <a:schemeClr val="dk1"/>
              </a:solidFill>
              <a:latin typeface="Calibri"/>
              <a:ea typeface="Calibri"/>
              <a:cs typeface="Calibri"/>
              <a:sym typeface="Calibri"/>
            </a:endParaRPr>
          </a:p>
        </p:txBody>
      </p:sp>
      <p:sp>
        <p:nvSpPr>
          <p:cNvPr id="883" name="Google Shape;883;p30"/>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edit YAML in place</a:t>
            </a:r>
            <a:endParaRPr b="0" i="0" sz="1100" u="none" cap="none" strike="noStrike">
              <a:solidFill>
                <a:schemeClr val="dk1"/>
              </a:solidFill>
              <a:latin typeface="Calibri"/>
              <a:ea typeface="Calibri"/>
              <a:cs typeface="Calibri"/>
              <a:sym typeface="Calibri"/>
            </a:endParaRPr>
          </a:p>
        </p:txBody>
      </p:sp>
      <p:sp>
        <p:nvSpPr>
          <p:cNvPr id="884" name="Google Shape;884;p30"/>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e '.a.b'</a:t>
            </a:r>
            <a:endParaRPr b="0" i="0" sz="1150" u="none" cap="none" strike="noStrike">
              <a:solidFill>
                <a:schemeClr val="dk1"/>
              </a:solidFill>
              <a:latin typeface="Calibri"/>
              <a:ea typeface="Calibri"/>
              <a:cs typeface="Calibri"/>
              <a:sym typeface="Calibri"/>
            </a:endParaRPr>
          </a:p>
        </p:txBody>
      </p:sp>
      <p:sp>
        <p:nvSpPr>
          <p:cNvPr id="885" name="Google Shape;885;p30"/>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evaluate an expression</a:t>
            </a:r>
            <a:endParaRPr b="0" i="0" sz="1100" u="none" cap="none" strike="noStrike">
              <a:solidFill>
                <a:schemeClr val="dk1"/>
              </a:solidFill>
              <a:latin typeface="Calibri"/>
              <a:ea typeface="Calibri"/>
              <a:cs typeface="Calibri"/>
              <a:sym typeface="Calibri"/>
            </a:endParaRPr>
          </a:p>
        </p:txBody>
      </p:sp>
      <p:sp>
        <p:nvSpPr>
          <p:cNvPr id="886" name="Google Shape;886;p30"/>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-o=json</a:t>
            </a:r>
            <a:endParaRPr b="0" i="0" sz="1150" u="none" cap="none" strike="noStrike">
              <a:solidFill>
                <a:schemeClr val="dk1"/>
              </a:solidFill>
              <a:latin typeface="Calibri"/>
              <a:ea typeface="Calibri"/>
              <a:cs typeface="Calibri"/>
              <a:sym typeface="Calibri"/>
            </a:endParaRPr>
          </a:p>
        </p:txBody>
      </p:sp>
      <p:sp>
        <p:nvSpPr>
          <p:cNvPr id="887" name="Google Shape;887;p30"/>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convert YAML → JSON</a:t>
            </a:r>
            <a:endParaRPr b="0" i="0" sz="1100" u="none" cap="none" strike="noStrike">
              <a:solidFill>
                <a:schemeClr val="dk1"/>
              </a:solidFill>
              <a:latin typeface="Calibri"/>
              <a:ea typeface="Calibri"/>
              <a:cs typeface="Calibri"/>
              <a:sym typeface="Calibri"/>
            </a:endParaRPr>
          </a:p>
        </p:txBody>
      </p:sp>
      <p:sp>
        <p:nvSpPr>
          <p:cNvPr id="888" name="Google Shape;888;p30"/>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ea 'sel...'</a:t>
            </a:r>
            <a:endParaRPr b="0" i="0" sz="1150" u="none" cap="none" strike="noStrike">
              <a:solidFill>
                <a:schemeClr val="dk1"/>
              </a:solidFill>
              <a:latin typeface="Calibri"/>
              <a:ea typeface="Calibri"/>
              <a:cs typeface="Calibri"/>
              <a:sym typeface="Calibri"/>
            </a:endParaRPr>
          </a:p>
        </p:txBody>
      </p:sp>
      <p:sp>
        <p:nvSpPr>
          <p:cNvPr id="889" name="Google Shape;889;p30"/>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across multiple docs (---)</a:t>
            </a:r>
            <a:endParaRPr b="0" i="0" sz="1100" u="none" cap="none" strike="noStrike">
              <a:solidFill>
                <a:schemeClr val="dk1"/>
              </a:solidFill>
              <a:latin typeface="Calibri"/>
              <a:ea typeface="Calibri"/>
              <a:cs typeface="Calibri"/>
              <a:sym typeface="Calibri"/>
            </a:endParaRPr>
          </a:p>
        </p:txBody>
      </p:sp>
      <p:sp>
        <p:nvSpPr>
          <p:cNvPr id="890" name="Google Shape;890;p30"/>
          <p:cNvSpPr/>
          <p:nvPr/>
        </p:nvSpPr>
        <p:spPr>
          <a:xfrm>
            <a:off x="4800600" y="1371600"/>
            <a:ext cx="3886200" cy="868680"/>
          </a:xfrm>
          <a:prstGeom prst="roundRect">
            <a:avLst>
              <a:gd fmla="val 6316" name="adj"/>
            </a:avLst>
          </a:prstGeom>
          <a:solidFill>
            <a:srgbClr val="FFF7ED"/>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1" name="Google Shape;891;p30"/>
          <p:cNvSpPr/>
          <p:nvPr/>
        </p:nvSpPr>
        <p:spPr>
          <a:xfrm>
            <a:off x="4983480" y="1444752"/>
            <a:ext cx="3566160" cy="7315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200"/>
              <a:buFont typeface="Calibri"/>
              <a:buNone/>
            </a:pPr>
            <a:r>
              <a:rPr b="1" i="0" lang="en-US" sz="1200" u="none" cap="none" strike="noStrike">
                <a:solidFill>
                  <a:srgbClr val="C2410C"/>
                </a:solidFill>
                <a:latin typeface="Calibri"/>
                <a:ea typeface="Calibri"/>
                <a:cs typeface="Calibri"/>
                <a:sym typeface="Calibri"/>
              </a:rPr>
              <a:t>Heads-up:  </a:t>
            </a:r>
            <a:r>
              <a:rPr b="0" i="0" lang="en-US" sz="1200" u="none" cap="none" strike="noStrike">
                <a:solidFill>
                  <a:srgbClr val="1E293B"/>
                </a:solidFill>
                <a:latin typeface="Calibri"/>
                <a:ea typeface="Calibri"/>
                <a:cs typeface="Calibri"/>
                <a:sym typeface="Calibri"/>
              </a:rPr>
              <a:t>use mikefarah's Go </a:t>
            </a:r>
            <a:r>
              <a:rPr b="0" i="0" lang="en-US" sz="1200" u="none" cap="none" strike="noStrike">
                <a:solidFill>
                  <a:srgbClr val="1E293B"/>
                </a:solidFill>
                <a:latin typeface="Courier New"/>
                <a:ea typeface="Courier New"/>
                <a:cs typeface="Courier New"/>
                <a:sym typeface="Courier New"/>
              </a:rPr>
              <a:t>yq</a:t>
            </a:r>
            <a:r>
              <a:rPr b="0" i="0" lang="en-US" sz="1200" u="none" cap="none" strike="noStrike">
                <a:solidFill>
                  <a:srgbClr val="1E293B"/>
                </a:solidFill>
                <a:latin typeface="Calibri"/>
                <a:ea typeface="Calibri"/>
                <a:cs typeface="Calibri"/>
                <a:sym typeface="Calibri"/>
              </a:rPr>
              <a:t> (the syntax here). The pip/Python </a:t>
            </a:r>
            <a:r>
              <a:rPr b="0" i="0" lang="en-US" sz="1200" u="none" cap="none" strike="noStrike">
                <a:solidFill>
                  <a:srgbClr val="1E293B"/>
                </a:solidFill>
                <a:latin typeface="Courier New"/>
                <a:ea typeface="Courier New"/>
                <a:cs typeface="Courier New"/>
                <a:sym typeface="Courier New"/>
              </a:rPr>
              <a:t>yq</a:t>
            </a:r>
            <a:r>
              <a:rPr b="0" i="0" lang="en-US" sz="1200" u="none" cap="none" strike="noStrike">
                <a:solidFill>
                  <a:srgbClr val="1E293B"/>
                </a:solidFill>
                <a:latin typeface="Calibri"/>
                <a:ea typeface="Calibri"/>
                <a:cs typeface="Calibri"/>
                <a:sym typeface="Calibri"/>
              </a:rPr>
              <a:t> is different.</a:t>
            </a:r>
            <a:endParaRPr b="0" i="0" sz="1200" u="none" cap="none" strike="noStrike">
              <a:solidFill>
                <a:schemeClr val="dk1"/>
              </a:solidFill>
              <a:latin typeface="Calibri"/>
              <a:ea typeface="Calibri"/>
              <a:cs typeface="Calibri"/>
              <a:sym typeface="Calibri"/>
            </a:endParaRPr>
          </a:p>
        </p:txBody>
      </p:sp>
      <p:sp>
        <p:nvSpPr>
          <p:cNvPr id="892" name="Google Shape;892;p30"/>
          <p:cNvSpPr/>
          <p:nvPr/>
        </p:nvSpPr>
        <p:spPr>
          <a:xfrm>
            <a:off x="4800600" y="2377440"/>
            <a:ext cx="3886200" cy="2240280"/>
          </a:xfrm>
          <a:prstGeom prst="roundRect">
            <a:avLst>
              <a:gd fmla="val 3265"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3" name="Google Shape;893;p30"/>
          <p:cNvSpPr/>
          <p:nvPr/>
        </p:nvSpPr>
        <p:spPr>
          <a:xfrm>
            <a:off x="4983480" y="252374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4" name="Google Shape;894;p30"/>
          <p:cNvSpPr/>
          <p:nvPr/>
        </p:nvSpPr>
        <p:spPr>
          <a:xfrm>
            <a:off x="5129784" y="252374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5" name="Google Shape;895;p30"/>
          <p:cNvSpPr/>
          <p:nvPr/>
        </p:nvSpPr>
        <p:spPr>
          <a:xfrm>
            <a:off x="5276088" y="252374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6" name="Google Shape;896;p30"/>
          <p:cNvSpPr/>
          <p:nvPr/>
        </p:nvSpPr>
        <p:spPr>
          <a:xfrm>
            <a:off x="5440680" y="245059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you@server</a:t>
            </a:r>
            <a:endParaRPr b="0" i="0" sz="900" u="none" cap="none" strike="noStrike">
              <a:solidFill>
                <a:schemeClr val="dk1"/>
              </a:solidFill>
              <a:latin typeface="Calibri"/>
              <a:ea typeface="Calibri"/>
              <a:cs typeface="Calibri"/>
              <a:sym typeface="Calibri"/>
            </a:endParaRPr>
          </a:p>
        </p:txBody>
      </p:sp>
      <p:cxnSp>
        <p:nvCxnSpPr>
          <p:cNvPr id="897" name="Google Shape;897;p30"/>
          <p:cNvCxnSpPr/>
          <p:nvPr/>
        </p:nvCxnSpPr>
        <p:spPr>
          <a:xfrm>
            <a:off x="4800600" y="2743200"/>
            <a:ext cx="3886200" cy="0"/>
          </a:xfrm>
          <a:prstGeom prst="straightConnector1">
            <a:avLst/>
          </a:prstGeom>
          <a:noFill/>
          <a:ln cap="flat" cmpd="sng" w="12700">
            <a:solidFill>
              <a:srgbClr val="1E293B"/>
            </a:solidFill>
            <a:prstDash val="solid"/>
            <a:round/>
            <a:headEnd len="sm" w="sm" type="none"/>
            <a:tailEnd len="sm" w="sm" type="none"/>
          </a:ln>
        </p:spPr>
      </p:cxnSp>
      <p:sp>
        <p:nvSpPr>
          <p:cNvPr id="898" name="Google Shape;898;p30"/>
          <p:cNvSpPr/>
          <p:nvPr/>
        </p:nvSpPr>
        <p:spPr>
          <a:xfrm>
            <a:off x="5001768" y="2852928"/>
            <a:ext cx="3483864" cy="165506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read replica count from a manifest</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yq '.spec.replicas' deploy.yaml</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3</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bump it to 5, in place</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yq -i '.spec.replicas=5'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      deploy.yaml</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convert to JSON for jq</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yq -o=json deploy.yaml | jq .</a:t>
            </a:r>
            <a:endParaRPr b="0" i="0" sz="1050" u="none" cap="none" strike="noStrike">
              <a:solidFill>
                <a:schemeClr val="dk1"/>
              </a:solidFill>
              <a:latin typeface="Calibri"/>
              <a:ea typeface="Calibri"/>
              <a:cs typeface="Calibri"/>
              <a:sym typeface="Calibri"/>
            </a:endParaRPr>
          </a:p>
        </p:txBody>
      </p:sp>
      <p:sp>
        <p:nvSpPr>
          <p:cNvPr id="899" name="Google Shape;899;p30"/>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900" name="Google Shape;900;p30"/>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3 · Text Processing</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05" name="Shape 905"/>
        <p:cNvGrpSpPr/>
        <p:nvPr/>
      </p:nvGrpSpPr>
      <p:grpSpPr>
        <a:xfrm>
          <a:off x="0" y="0"/>
          <a:ext cx="0" cy="0"/>
          <a:chOff x="0" y="0"/>
          <a:chExt cx="0" cy="0"/>
        </a:xfrm>
      </p:grpSpPr>
      <p:sp>
        <p:nvSpPr>
          <p:cNvPr id="906" name="Google Shape;906;p31"/>
          <p:cNvSpPr/>
          <p:nvPr/>
        </p:nvSpPr>
        <p:spPr>
          <a:xfrm>
            <a:off x="640080" y="960120"/>
            <a:ext cx="3657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97316"/>
              </a:buClr>
              <a:buSzPts val="1700"/>
              <a:buFont typeface="Calibri"/>
              <a:buNone/>
            </a:pPr>
            <a:r>
              <a:rPr b="1" i="0" lang="en-US" sz="1700" u="none" cap="none" strike="noStrike">
                <a:solidFill>
                  <a:srgbClr val="F97316"/>
                </a:solidFill>
                <a:latin typeface="Calibri"/>
                <a:ea typeface="Calibri"/>
                <a:cs typeface="Calibri"/>
                <a:sym typeface="Calibri"/>
              </a:rPr>
              <a:t>DAY 4</a:t>
            </a:r>
            <a:endParaRPr b="0" i="0" sz="1700" u="none" cap="none" strike="noStrike">
              <a:solidFill>
                <a:schemeClr val="dk1"/>
              </a:solidFill>
              <a:latin typeface="Calibri"/>
              <a:ea typeface="Calibri"/>
              <a:cs typeface="Calibri"/>
              <a:sym typeface="Calibri"/>
            </a:endParaRPr>
          </a:p>
        </p:txBody>
      </p:sp>
      <p:sp>
        <p:nvSpPr>
          <p:cNvPr id="907" name="Google Shape;907;p31"/>
          <p:cNvSpPr/>
          <p:nvPr/>
        </p:nvSpPr>
        <p:spPr>
          <a:xfrm>
            <a:off x="640080" y="1417320"/>
            <a:ext cx="676656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900"/>
              <a:buFont typeface="Bookman Old Style"/>
              <a:buNone/>
            </a:pPr>
            <a:r>
              <a:rPr b="1" i="0" lang="en-US" sz="3900" u="none" cap="none" strike="noStrike">
                <a:solidFill>
                  <a:srgbClr val="FFFFFF"/>
                </a:solidFill>
                <a:latin typeface="Bookman Old Style"/>
                <a:ea typeface="Bookman Old Style"/>
                <a:cs typeface="Bookman Old Style"/>
                <a:sym typeface="Bookman Old Style"/>
              </a:rPr>
              <a:t>Administering the System</a:t>
            </a:r>
            <a:endParaRPr b="0" i="0" sz="3900" u="none" cap="none" strike="noStrike">
              <a:solidFill>
                <a:schemeClr val="dk1"/>
              </a:solidFill>
              <a:latin typeface="Calibri"/>
              <a:ea typeface="Calibri"/>
              <a:cs typeface="Calibri"/>
              <a:sym typeface="Calibri"/>
            </a:endParaRPr>
          </a:p>
        </p:txBody>
      </p:sp>
      <p:sp>
        <p:nvSpPr>
          <p:cNvPr id="908" name="Google Shape;908;p31"/>
          <p:cNvSpPr/>
          <p:nvPr/>
        </p:nvSpPr>
        <p:spPr>
          <a:xfrm>
            <a:off x="658368" y="2487168"/>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500"/>
              <a:buFont typeface="Calibri"/>
              <a:buNone/>
            </a:pPr>
            <a:r>
              <a:rPr b="0" i="1" lang="en-US" sz="1500" u="none" cap="none" strike="noStrike">
                <a:solidFill>
                  <a:srgbClr val="94A3B8"/>
                </a:solidFill>
                <a:latin typeface="Calibri"/>
                <a:ea typeface="Calibri"/>
                <a:cs typeface="Calibri"/>
                <a:sym typeface="Calibri"/>
              </a:rPr>
              <a:t>Install software, watch processes, run services, read logs, and schedule work.</a:t>
            </a:r>
            <a:endParaRPr b="0" i="0" sz="1500" u="none" cap="none" strike="noStrike">
              <a:solidFill>
                <a:schemeClr val="dk1"/>
              </a:solidFill>
              <a:latin typeface="Calibri"/>
              <a:ea typeface="Calibri"/>
              <a:cs typeface="Calibri"/>
              <a:sym typeface="Calibri"/>
            </a:endParaRPr>
          </a:p>
        </p:txBody>
      </p:sp>
      <p:sp>
        <p:nvSpPr>
          <p:cNvPr id="909" name="Google Shape;909;p31"/>
          <p:cNvSpPr/>
          <p:nvPr/>
        </p:nvSpPr>
        <p:spPr>
          <a:xfrm>
            <a:off x="7315200" y="914400"/>
            <a:ext cx="1280160" cy="1280160"/>
          </a:xfrm>
          <a:prstGeom prst="ellipse">
            <a:avLst/>
          </a:prstGeom>
          <a:solidFill>
            <a:srgbClr val="1E293B"/>
          </a:solidFill>
          <a:ln cap="flat" cmpd="sng" w="1905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10" name="Google Shape;910;p31"/>
          <p:cNvPicPr preferRelativeResize="0"/>
          <p:nvPr/>
        </p:nvPicPr>
        <p:blipFill rotWithShape="1">
          <a:blip r:embed="rId3">
            <a:alphaModFix/>
          </a:blip>
          <a:srcRect b="0" l="0" r="0" t="0"/>
          <a:stretch/>
        </p:blipFill>
        <p:spPr>
          <a:xfrm>
            <a:off x="7680960" y="1280160"/>
            <a:ext cx="548640" cy="548640"/>
          </a:xfrm>
          <a:prstGeom prst="rect">
            <a:avLst/>
          </a:prstGeom>
          <a:noFill/>
          <a:ln>
            <a:noFill/>
          </a:ln>
        </p:spPr>
      </p:pic>
      <p:sp>
        <p:nvSpPr>
          <p:cNvPr id="911" name="Google Shape;911;p31"/>
          <p:cNvSpPr/>
          <p:nvPr/>
        </p:nvSpPr>
        <p:spPr>
          <a:xfrm>
            <a:off x="640080" y="3383280"/>
            <a:ext cx="544982"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p31"/>
          <p:cNvSpPr/>
          <p:nvPr/>
        </p:nvSpPr>
        <p:spPr>
          <a:xfrm>
            <a:off x="640080" y="3383280"/>
            <a:ext cx="54498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apt</a:t>
            </a:r>
            <a:endParaRPr b="0" i="0" sz="1250" u="none" cap="none" strike="noStrike">
              <a:solidFill>
                <a:schemeClr val="dk1"/>
              </a:solidFill>
              <a:latin typeface="Calibri"/>
              <a:ea typeface="Calibri"/>
              <a:cs typeface="Calibri"/>
              <a:sym typeface="Calibri"/>
            </a:endParaRPr>
          </a:p>
        </p:txBody>
      </p:sp>
      <p:sp>
        <p:nvSpPr>
          <p:cNvPr id="913" name="Google Shape;913;p31"/>
          <p:cNvSpPr/>
          <p:nvPr/>
        </p:nvSpPr>
        <p:spPr>
          <a:xfrm>
            <a:off x="1349654" y="3383280"/>
            <a:ext cx="1049731"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4" name="Google Shape;914;p31"/>
          <p:cNvSpPr/>
          <p:nvPr/>
        </p:nvSpPr>
        <p:spPr>
          <a:xfrm>
            <a:off x="1349654" y="3383280"/>
            <a:ext cx="1049731"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ps / btop</a:t>
            </a:r>
            <a:endParaRPr b="0" i="0" sz="1250" u="none" cap="none" strike="noStrike">
              <a:solidFill>
                <a:schemeClr val="dk1"/>
              </a:solidFill>
              <a:latin typeface="Calibri"/>
              <a:ea typeface="Calibri"/>
              <a:cs typeface="Calibri"/>
              <a:sym typeface="Calibri"/>
            </a:endParaRPr>
          </a:p>
        </p:txBody>
      </p:sp>
      <p:sp>
        <p:nvSpPr>
          <p:cNvPr id="915" name="Google Shape;915;p31"/>
          <p:cNvSpPr/>
          <p:nvPr/>
        </p:nvSpPr>
        <p:spPr>
          <a:xfrm>
            <a:off x="2563978" y="3383280"/>
            <a:ext cx="1049731"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6" name="Google Shape;916;p31"/>
          <p:cNvSpPr/>
          <p:nvPr/>
        </p:nvSpPr>
        <p:spPr>
          <a:xfrm>
            <a:off x="2563978" y="3383280"/>
            <a:ext cx="1049731"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systemctl</a:t>
            </a:r>
            <a:endParaRPr b="0" i="0" sz="1250" u="none" cap="none" strike="noStrike">
              <a:solidFill>
                <a:schemeClr val="dk1"/>
              </a:solidFill>
              <a:latin typeface="Calibri"/>
              <a:ea typeface="Calibri"/>
              <a:cs typeface="Calibri"/>
              <a:sym typeface="Calibri"/>
            </a:endParaRPr>
          </a:p>
        </p:txBody>
      </p:sp>
      <p:sp>
        <p:nvSpPr>
          <p:cNvPr id="917" name="Google Shape;917;p31"/>
          <p:cNvSpPr/>
          <p:nvPr/>
        </p:nvSpPr>
        <p:spPr>
          <a:xfrm>
            <a:off x="3778301" y="3383280"/>
            <a:ext cx="965606"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8" name="Google Shape;918;p31"/>
          <p:cNvSpPr/>
          <p:nvPr/>
        </p:nvSpPr>
        <p:spPr>
          <a:xfrm>
            <a:off x="3778301" y="3383280"/>
            <a:ext cx="96560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services</a:t>
            </a:r>
            <a:endParaRPr b="0" i="0" sz="1250" u="none" cap="none" strike="noStrike">
              <a:solidFill>
                <a:schemeClr val="dk1"/>
              </a:solidFill>
              <a:latin typeface="Calibri"/>
              <a:ea typeface="Calibri"/>
              <a:cs typeface="Calibri"/>
              <a:sym typeface="Calibri"/>
            </a:endParaRPr>
          </a:p>
        </p:txBody>
      </p:sp>
      <p:sp>
        <p:nvSpPr>
          <p:cNvPr id="919" name="Google Shape;919;p31"/>
          <p:cNvSpPr/>
          <p:nvPr/>
        </p:nvSpPr>
        <p:spPr>
          <a:xfrm>
            <a:off x="4908499" y="3383280"/>
            <a:ext cx="1133856"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0" name="Google Shape;920;p31"/>
          <p:cNvSpPr/>
          <p:nvPr/>
        </p:nvSpPr>
        <p:spPr>
          <a:xfrm>
            <a:off x="4908499" y="3383280"/>
            <a:ext cx="113385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journalctl</a:t>
            </a:r>
            <a:endParaRPr b="0" i="0" sz="1250" u="none" cap="none" strike="noStrike">
              <a:solidFill>
                <a:schemeClr val="dk1"/>
              </a:solidFill>
              <a:latin typeface="Calibri"/>
              <a:ea typeface="Calibri"/>
              <a:cs typeface="Calibri"/>
              <a:sym typeface="Calibri"/>
            </a:endParaRPr>
          </a:p>
        </p:txBody>
      </p:sp>
      <p:sp>
        <p:nvSpPr>
          <p:cNvPr id="921" name="Google Shape;921;p31"/>
          <p:cNvSpPr/>
          <p:nvPr/>
        </p:nvSpPr>
        <p:spPr>
          <a:xfrm>
            <a:off x="6206947" y="3383280"/>
            <a:ext cx="629107"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31"/>
          <p:cNvSpPr/>
          <p:nvPr/>
        </p:nvSpPr>
        <p:spPr>
          <a:xfrm>
            <a:off x="6206947" y="3383280"/>
            <a:ext cx="629107"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cron</a:t>
            </a:r>
            <a:endParaRPr b="0" i="0" sz="1250" u="none" cap="none" strike="noStrike">
              <a:solidFill>
                <a:schemeClr val="dk1"/>
              </a:solidFill>
              <a:latin typeface="Calibri"/>
              <a:ea typeface="Calibri"/>
              <a:cs typeface="Calibri"/>
              <a:sym typeface="Calibri"/>
            </a:endParaRPr>
          </a:p>
        </p:txBody>
      </p:sp>
      <p:sp>
        <p:nvSpPr>
          <p:cNvPr id="923" name="Google Shape;923;p31"/>
          <p:cNvSpPr/>
          <p:nvPr/>
        </p:nvSpPr>
        <p:spPr>
          <a:xfrm>
            <a:off x="7000646" y="3383280"/>
            <a:ext cx="797357"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4" name="Google Shape;924;p31"/>
          <p:cNvSpPr/>
          <p:nvPr/>
        </p:nvSpPr>
        <p:spPr>
          <a:xfrm>
            <a:off x="7000646" y="3383280"/>
            <a:ext cx="797357"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timers</a:t>
            </a:r>
            <a:endParaRPr b="0" i="0" sz="1250" u="none" cap="none" strike="noStrike">
              <a:solidFill>
                <a:schemeClr val="dk1"/>
              </a:solidFill>
              <a:latin typeface="Calibri"/>
              <a:ea typeface="Calibri"/>
              <a:cs typeface="Calibri"/>
              <a:sym typeface="Calibri"/>
            </a:endParaRPr>
          </a:p>
        </p:txBody>
      </p:sp>
      <p:sp>
        <p:nvSpPr>
          <p:cNvPr id="925" name="Google Shape;925;p31"/>
          <p:cNvSpPr/>
          <p:nvPr/>
        </p:nvSpPr>
        <p:spPr>
          <a:xfrm>
            <a:off x="640080" y="457200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the command line is the DevOps workplace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930" name="Shape 930"/>
        <p:cNvGrpSpPr/>
        <p:nvPr/>
      </p:nvGrpSpPr>
      <p:grpSpPr>
        <a:xfrm>
          <a:off x="0" y="0"/>
          <a:ext cx="0" cy="0"/>
          <a:chOff x="0" y="0"/>
          <a:chExt cx="0" cy="0"/>
        </a:xfrm>
      </p:grpSpPr>
      <p:sp>
        <p:nvSpPr>
          <p:cNvPr id="931" name="Google Shape;931;p32"/>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apt — installing software (Ubuntu/Debian)</a:t>
            </a:r>
            <a:endParaRPr b="0" i="0" sz="2900" u="none" cap="none" strike="noStrike">
              <a:solidFill>
                <a:schemeClr val="dk1"/>
              </a:solidFill>
              <a:latin typeface="Calibri"/>
              <a:ea typeface="Calibri"/>
              <a:cs typeface="Calibri"/>
              <a:sym typeface="Calibri"/>
            </a:endParaRPr>
          </a:p>
        </p:txBody>
      </p:sp>
      <p:sp>
        <p:nvSpPr>
          <p:cNvPr id="932" name="Google Shape;932;p32"/>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33" name="Google Shape;933;p32"/>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934" name="Google Shape;934;p32"/>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Step one on any fresh box: update the index and install the tools you need.</a:t>
            </a:r>
            <a:endParaRPr b="0" i="0" sz="1300" u="none" cap="none" strike="noStrike">
              <a:solidFill>
                <a:schemeClr val="dk1"/>
              </a:solidFill>
              <a:latin typeface="Calibri"/>
              <a:ea typeface="Calibri"/>
              <a:cs typeface="Calibri"/>
              <a:sym typeface="Calibri"/>
            </a:endParaRPr>
          </a:p>
        </p:txBody>
      </p:sp>
      <p:sp>
        <p:nvSpPr>
          <p:cNvPr id="935" name="Google Shape;935;p32"/>
          <p:cNvSpPr/>
          <p:nvPr/>
        </p:nvSpPr>
        <p:spPr>
          <a:xfrm>
            <a:off x="457200" y="1371600"/>
            <a:ext cx="4160520" cy="3438144"/>
          </a:xfrm>
          <a:prstGeom prst="roundRect">
            <a:avLst>
              <a:gd fmla="val 1596"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6" name="Google Shape;936;p32"/>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apt &lt;subcommand&gt;</a:t>
            </a:r>
            <a:endParaRPr b="0" i="0" sz="1250" u="none" cap="none" strike="noStrike">
              <a:solidFill>
                <a:schemeClr val="dk1"/>
              </a:solidFill>
              <a:latin typeface="Calibri"/>
              <a:ea typeface="Calibri"/>
              <a:cs typeface="Calibri"/>
              <a:sym typeface="Calibri"/>
            </a:endParaRPr>
          </a:p>
        </p:txBody>
      </p:sp>
      <p:sp>
        <p:nvSpPr>
          <p:cNvPr id="937" name="Google Shape;937;p32"/>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apt update</a:t>
            </a:r>
            <a:endParaRPr b="0" i="0" sz="1150" u="none" cap="none" strike="noStrike">
              <a:solidFill>
                <a:schemeClr val="dk1"/>
              </a:solidFill>
              <a:latin typeface="Calibri"/>
              <a:ea typeface="Calibri"/>
              <a:cs typeface="Calibri"/>
              <a:sym typeface="Calibri"/>
            </a:endParaRPr>
          </a:p>
        </p:txBody>
      </p:sp>
      <p:sp>
        <p:nvSpPr>
          <p:cNvPr id="938" name="Google Shape;938;p32"/>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refresh package index (do first)</a:t>
            </a:r>
            <a:endParaRPr b="0" i="0" sz="1100" u="none" cap="none" strike="noStrike">
              <a:solidFill>
                <a:schemeClr val="dk1"/>
              </a:solidFill>
              <a:latin typeface="Calibri"/>
              <a:ea typeface="Calibri"/>
              <a:cs typeface="Calibri"/>
              <a:sym typeface="Calibri"/>
            </a:endParaRPr>
          </a:p>
        </p:txBody>
      </p:sp>
      <p:sp>
        <p:nvSpPr>
          <p:cNvPr id="939" name="Google Shape;939;p32"/>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apt upgrade</a:t>
            </a:r>
            <a:endParaRPr b="0" i="0" sz="1150" u="none" cap="none" strike="noStrike">
              <a:solidFill>
                <a:schemeClr val="dk1"/>
              </a:solidFill>
              <a:latin typeface="Calibri"/>
              <a:ea typeface="Calibri"/>
              <a:cs typeface="Calibri"/>
              <a:sym typeface="Calibri"/>
            </a:endParaRPr>
          </a:p>
        </p:txBody>
      </p:sp>
      <p:sp>
        <p:nvSpPr>
          <p:cNvPr id="940" name="Google Shape;940;p32"/>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install available updates</a:t>
            </a:r>
            <a:endParaRPr b="0" i="0" sz="1100" u="none" cap="none" strike="noStrike">
              <a:solidFill>
                <a:schemeClr val="dk1"/>
              </a:solidFill>
              <a:latin typeface="Calibri"/>
              <a:ea typeface="Calibri"/>
              <a:cs typeface="Calibri"/>
              <a:sym typeface="Calibri"/>
            </a:endParaRPr>
          </a:p>
        </p:txBody>
      </p:sp>
      <p:sp>
        <p:nvSpPr>
          <p:cNvPr id="941" name="Google Shape;941;p32"/>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apt install</a:t>
            </a:r>
            <a:endParaRPr b="0" i="0" sz="1150" u="none" cap="none" strike="noStrike">
              <a:solidFill>
                <a:schemeClr val="dk1"/>
              </a:solidFill>
              <a:latin typeface="Calibri"/>
              <a:ea typeface="Calibri"/>
              <a:cs typeface="Calibri"/>
              <a:sym typeface="Calibri"/>
            </a:endParaRPr>
          </a:p>
        </p:txBody>
      </p:sp>
      <p:sp>
        <p:nvSpPr>
          <p:cNvPr id="942" name="Google Shape;942;p32"/>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install a package</a:t>
            </a:r>
            <a:endParaRPr b="0" i="0" sz="1100" u="none" cap="none" strike="noStrike">
              <a:solidFill>
                <a:schemeClr val="dk1"/>
              </a:solidFill>
              <a:latin typeface="Calibri"/>
              <a:ea typeface="Calibri"/>
              <a:cs typeface="Calibri"/>
              <a:sym typeface="Calibri"/>
            </a:endParaRPr>
          </a:p>
        </p:txBody>
      </p:sp>
      <p:sp>
        <p:nvSpPr>
          <p:cNvPr id="943" name="Google Shape;943;p32"/>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apt remove</a:t>
            </a:r>
            <a:endParaRPr b="0" i="0" sz="1150" u="none" cap="none" strike="noStrike">
              <a:solidFill>
                <a:schemeClr val="dk1"/>
              </a:solidFill>
              <a:latin typeface="Calibri"/>
              <a:ea typeface="Calibri"/>
              <a:cs typeface="Calibri"/>
              <a:sym typeface="Calibri"/>
            </a:endParaRPr>
          </a:p>
        </p:txBody>
      </p:sp>
      <p:sp>
        <p:nvSpPr>
          <p:cNvPr id="944" name="Google Shape;944;p32"/>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remove (purge also drops config)</a:t>
            </a:r>
            <a:endParaRPr b="0" i="0" sz="1100" u="none" cap="none" strike="noStrike">
              <a:solidFill>
                <a:schemeClr val="dk1"/>
              </a:solidFill>
              <a:latin typeface="Calibri"/>
              <a:ea typeface="Calibri"/>
              <a:cs typeface="Calibri"/>
              <a:sym typeface="Calibri"/>
            </a:endParaRPr>
          </a:p>
        </p:txBody>
      </p:sp>
      <p:sp>
        <p:nvSpPr>
          <p:cNvPr id="945" name="Google Shape;945;p32"/>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apt search</a:t>
            </a:r>
            <a:endParaRPr b="0" i="0" sz="1150" u="none" cap="none" strike="noStrike">
              <a:solidFill>
                <a:schemeClr val="dk1"/>
              </a:solidFill>
              <a:latin typeface="Calibri"/>
              <a:ea typeface="Calibri"/>
              <a:cs typeface="Calibri"/>
              <a:sym typeface="Calibri"/>
            </a:endParaRPr>
          </a:p>
        </p:txBody>
      </p:sp>
      <p:sp>
        <p:nvSpPr>
          <p:cNvPr id="946" name="Google Shape;946;p32"/>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find a package by keyword</a:t>
            </a:r>
            <a:endParaRPr b="0" i="0" sz="1100" u="none" cap="none" strike="noStrike">
              <a:solidFill>
                <a:schemeClr val="dk1"/>
              </a:solidFill>
              <a:latin typeface="Calibri"/>
              <a:ea typeface="Calibri"/>
              <a:cs typeface="Calibri"/>
              <a:sym typeface="Calibri"/>
            </a:endParaRPr>
          </a:p>
        </p:txBody>
      </p:sp>
      <p:sp>
        <p:nvSpPr>
          <p:cNvPr id="947" name="Google Shape;947;p32"/>
          <p:cNvSpPr/>
          <p:nvPr/>
        </p:nvSpPr>
        <p:spPr>
          <a:xfrm>
            <a:off x="65836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apt show</a:t>
            </a:r>
            <a:endParaRPr b="0" i="0" sz="1150" u="none" cap="none" strike="noStrike">
              <a:solidFill>
                <a:schemeClr val="dk1"/>
              </a:solidFill>
              <a:latin typeface="Calibri"/>
              <a:ea typeface="Calibri"/>
              <a:cs typeface="Calibri"/>
              <a:sym typeface="Calibri"/>
            </a:endParaRPr>
          </a:p>
        </p:txBody>
      </p:sp>
      <p:sp>
        <p:nvSpPr>
          <p:cNvPr id="948" name="Google Shape;948;p32"/>
          <p:cNvSpPr/>
          <p:nvPr/>
        </p:nvSpPr>
        <p:spPr>
          <a:xfrm>
            <a:off x="2468880" y="391363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details about a package</a:t>
            </a:r>
            <a:endParaRPr b="0" i="0" sz="1100" u="none" cap="none" strike="noStrike">
              <a:solidFill>
                <a:schemeClr val="dk1"/>
              </a:solidFill>
              <a:latin typeface="Calibri"/>
              <a:ea typeface="Calibri"/>
              <a:cs typeface="Calibri"/>
              <a:sym typeface="Calibri"/>
            </a:endParaRPr>
          </a:p>
        </p:txBody>
      </p:sp>
      <p:sp>
        <p:nvSpPr>
          <p:cNvPr id="949" name="Google Shape;949;p32"/>
          <p:cNvSpPr/>
          <p:nvPr/>
        </p:nvSpPr>
        <p:spPr>
          <a:xfrm>
            <a:off x="658368" y="431596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apt list --installed</a:t>
            </a:r>
            <a:endParaRPr b="0" i="0" sz="1150" u="none" cap="none" strike="noStrike">
              <a:solidFill>
                <a:schemeClr val="dk1"/>
              </a:solidFill>
              <a:latin typeface="Calibri"/>
              <a:ea typeface="Calibri"/>
              <a:cs typeface="Calibri"/>
              <a:sym typeface="Calibri"/>
            </a:endParaRPr>
          </a:p>
        </p:txBody>
      </p:sp>
      <p:sp>
        <p:nvSpPr>
          <p:cNvPr id="950" name="Google Shape;950;p32"/>
          <p:cNvSpPr/>
          <p:nvPr/>
        </p:nvSpPr>
        <p:spPr>
          <a:xfrm>
            <a:off x="2468880" y="431596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what's installed</a:t>
            </a:r>
            <a:endParaRPr b="0" i="0" sz="1100" u="none" cap="none" strike="noStrike">
              <a:solidFill>
                <a:schemeClr val="dk1"/>
              </a:solidFill>
              <a:latin typeface="Calibri"/>
              <a:ea typeface="Calibri"/>
              <a:cs typeface="Calibri"/>
              <a:sym typeface="Calibri"/>
            </a:endParaRPr>
          </a:p>
        </p:txBody>
      </p:sp>
      <p:sp>
        <p:nvSpPr>
          <p:cNvPr id="951" name="Google Shape;951;p32"/>
          <p:cNvSpPr/>
          <p:nvPr/>
        </p:nvSpPr>
        <p:spPr>
          <a:xfrm>
            <a:off x="4800600" y="1371600"/>
            <a:ext cx="3886200" cy="3246120"/>
          </a:xfrm>
          <a:prstGeom prst="roundRect">
            <a:avLst>
              <a:gd fmla="val 225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2" name="Google Shape;952;p32"/>
          <p:cNvSpPr/>
          <p:nvPr/>
        </p:nvSpPr>
        <p:spPr>
          <a:xfrm>
            <a:off x="49834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3" name="Google Shape;953;p32"/>
          <p:cNvSpPr/>
          <p:nvPr/>
        </p:nvSpPr>
        <p:spPr>
          <a:xfrm>
            <a:off x="51297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4" name="Google Shape;954;p32"/>
          <p:cNvSpPr/>
          <p:nvPr/>
        </p:nvSpPr>
        <p:spPr>
          <a:xfrm>
            <a:off x="52760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5" name="Google Shape;955;p32"/>
          <p:cNvSpPr/>
          <p:nvPr/>
        </p:nvSpPr>
        <p:spPr>
          <a:xfrm>
            <a:off x="5440680" y="144475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root@server</a:t>
            </a:r>
            <a:endParaRPr b="0" i="0" sz="900" u="none" cap="none" strike="noStrike">
              <a:solidFill>
                <a:schemeClr val="dk1"/>
              </a:solidFill>
              <a:latin typeface="Calibri"/>
              <a:ea typeface="Calibri"/>
              <a:cs typeface="Calibri"/>
              <a:sym typeface="Calibri"/>
            </a:endParaRPr>
          </a:p>
        </p:txBody>
      </p:sp>
      <p:cxnSp>
        <p:nvCxnSpPr>
          <p:cNvPr id="956" name="Google Shape;956;p32"/>
          <p:cNvCxnSpPr/>
          <p:nvPr/>
        </p:nvCxnSpPr>
        <p:spPr>
          <a:xfrm>
            <a:off x="4800600" y="1737360"/>
            <a:ext cx="3886200" cy="0"/>
          </a:xfrm>
          <a:prstGeom prst="straightConnector1">
            <a:avLst/>
          </a:prstGeom>
          <a:noFill/>
          <a:ln cap="flat" cmpd="sng" w="12700">
            <a:solidFill>
              <a:srgbClr val="1E293B"/>
            </a:solidFill>
            <a:prstDash val="solid"/>
            <a:round/>
            <a:headEnd len="sm" w="sm" type="none"/>
            <a:tailEnd len="sm" w="sm" type="none"/>
          </a:ln>
        </p:spPr>
      </p:cxnSp>
      <p:sp>
        <p:nvSpPr>
          <p:cNvPr id="957" name="Google Shape;957;p32"/>
          <p:cNvSpPr/>
          <p:nvPr/>
        </p:nvSpPr>
        <p:spPr>
          <a:xfrm>
            <a:off x="5001768" y="1847088"/>
            <a:ext cx="3483864" cy="26609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the canonical first two lines</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apt update &amp;&amp; apt -y upgrade</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apt install -y nginx jq curl</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Setting up nginx (1.24)...</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why is this command missing?</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apt search ^htop$</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htop - interactive process viewer</a:t>
            </a:r>
            <a:endParaRPr b="0" i="0" sz="1050" u="none" cap="none" strike="noStrike">
              <a:solidFill>
                <a:schemeClr val="dk1"/>
              </a:solidFill>
              <a:latin typeface="Calibri"/>
              <a:ea typeface="Calibri"/>
              <a:cs typeface="Calibri"/>
              <a:sym typeface="Calibri"/>
            </a:endParaRPr>
          </a:p>
        </p:txBody>
      </p:sp>
      <p:sp>
        <p:nvSpPr>
          <p:cNvPr id="958" name="Google Shape;958;p32"/>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959" name="Google Shape;959;p32"/>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4 · System Admin</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964" name="Shape 964"/>
        <p:cNvGrpSpPr/>
        <p:nvPr/>
      </p:nvGrpSpPr>
      <p:grpSpPr>
        <a:xfrm>
          <a:off x="0" y="0"/>
          <a:ext cx="0" cy="0"/>
          <a:chOff x="0" y="0"/>
          <a:chExt cx="0" cy="0"/>
        </a:xfrm>
      </p:grpSpPr>
      <p:sp>
        <p:nvSpPr>
          <p:cNvPr id="965" name="Google Shape;965;p33"/>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Watching processes: ps &amp; btop</a:t>
            </a:r>
            <a:endParaRPr b="0" i="0" sz="2900" u="none" cap="none" strike="noStrike">
              <a:solidFill>
                <a:schemeClr val="dk1"/>
              </a:solidFill>
              <a:latin typeface="Calibri"/>
              <a:ea typeface="Calibri"/>
              <a:cs typeface="Calibri"/>
              <a:sym typeface="Calibri"/>
            </a:endParaRPr>
          </a:p>
        </p:txBody>
      </p:sp>
      <p:sp>
        <p:nvSpPr>
          <p:cNvPr id="966" name="Google Shape;966;p33"/>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67" name="Google Shape;967;p33"/>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968" name="Google Shape;968;p33"/>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CPU is pinned or memory's gone — you need to see what's running and kill the culprit.</a:t>
            </a:r>
            <a:endParaRPr b="0" i="0" sz="1300" u="none" cap="none" strike="noStrike">
              <a:solidFill>
                <a:schemeClr val="dk1"/>
              </a:solidFill>
              <a:latin typeface="Calibri"/>
              <a:ea typeface="Calibri"/>
              <a:cs typeface="Calibri"/>
              <a:sym typeface="Calibri"/>
            </a:endParaRPr>
          </a:p>
        </p:txBody>
      </p:sp>
      <p:sp>
        <p:nvSpPr>
          <p:cNvPr id="969" name="Google Shape;969;p33"/>
          <p:cNvSpPr/>
          <p:nvPr/>
        </p:nvSpPr>
        <p:spPr>
          <a:xfrm>
            <a:off x="457200" y="1371600"/>
            <a:ext cx="4160520" cy="3035808"/>
          </a:xfrm>
          <a:prstGeom prst="roundRect">
            <a:avLst>
              <a:gd fmla="val 180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0" name="Google Shape;970;p33"/>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PROCESSES</a:t>
            </a:r>
            <a:endParaRPr b="0" i="0" sz="1250" u="none" cap="none" strike="noStrike">
              <a:solidFill>
                <a:schemeClr val="dk1"/>
              </a:solidFill>
              <a:latin typeface="Calibri"/>
              <a:ea typeface="Calibri"/>
              <a:cs typeface="Calibri"/>
              <a:sym typeface="Calibri"/>
            </a:endParaRPr>
          </a:p>
        </p:txBody>
      </p:sp>
      <p:sp>
        <p:nvSpPr>
          <p:cNvPr id="971" name="Google Shape;971;p33"/>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ps aux</a:t>
            </a:r>
            <a:endParaRPr b="0" i="0" sz="1150" u="none" cap="none" strike="noStrike">
              <a:solidFill>
                <a:schemeClr val="dk1"/>
              </a:solidFill>
              <a:latin typeface="Calibri"/>
              <a:ea typeface="Calibri"/>
              <a:cs typeface="Calibri"/>
              <a:sym typeface="Calibri"/>
            </a:endParaRPr>
          </a:p>
        </p:txBody>
      </p:sp>
      <p:sp>
        <p:nvSpPr>
          <p:cNvPr id="972" name="Google Shape;972;p33"/>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every process + CPU/MEM</a:t>
            </a:r>
            <a:endParaRPr b="0" i="0" sz="1100" u="none" cap="none" strike="noStrike">
              <a:solidFill>
                <a:schemeClr val="dk1"/>
              </a:solidFill>
              <a:latin typeface="Calibri"/>
              <a:ea typeface="Calibri"/>
              <a:cs typeface="Calibri"/>
              <a:sym typeface="Calibri"/>
            </a:endParaRPr>
          </a:p>
        </p:txBody>
      </p:sp>
      <p:sp>
        <p:nvSpPr>
          <p:cNvPr id="973" name="Google Shape;973;p33"/>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ps -ef</a:t>
            </a:r>
            <a:endParaRPr b="0" i="0" sz="1150" u="none" cap="none" strike="noStrike">
              <a:solidFill>
                <a:schemeClr val="dk1"/>
              </a:solidFill>
              <a:latin typeface="Calibri"/>
              <a:ea typeface="Calibri"/>
              <a:cs typeface="Calibri"/>
              <a:sym typeface="Calibri"/>
            </a:endParaRPr>
          </a:p>
        </p:txBody>
      </p:sp>
      <p:sp>
        <p:nvSpPr>
          <p:cNvPr id="974" name="Google Shape;974;p33"/>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every process + parent PID</a:t>
            </a:r>
            <a:endParaRPr b="0" i="0" sz="1100" u="none" cap="none" strike="noStrike">
              <a:solidFill>
                <a:schemeClr val="dk1"/>
              </a:solidFill>
              <a:latin typeface="Calibri"/>
              <a:ea typeface="Calibri"/>
              <a:cs typeface="Calibri"/>
              <a:sym typeface="Calibri"/>
            </a:endParaRPr>
          </a:p>
        </p:txBody>
      </p:sp>
      <p:sp>
        <p:nvSpPr>
          <p:cNvPr id="975" name="Google Shape;975;p33"/>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pgrep -f x</a:t>
            </a:r>
            <a:endParaRPr b="0" i="0" sz="1150" u="none" cap="none" strike="noStrike">
              <a:solidFill>
                <a:schemeClr val="dk1"/>
              </a:solidFill>
              <a:latin typeface="Calibri"/>
              <a:ea typeface="Calibri"/>
              <a:cs typeface="Calibri"/>
              <a:sym typeface="Calibri"/>
            </a:endParaRPr>
          </a:p>
        </p:txBody>
      </p:sp>
      <p:sp>
        <p:nvSpPr>
          <p:cNvPr id="976" name="Google Shape;976;p33"/>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find PIDs by name/cmdline</a:t>
            </a:r>
            <a:endParaRPr b="0" i="0" sz="1100" u="none" cap="none" strike="noStrike">
              <a:solidFill>
                <a:schemeClr val="dk1"/>
              </a:solidFill>
              <a:latin typeface="Calibri"/>
              <a:ea typeface="Calibri"/>
              <a:cs typeface="Calibri"/>
              <a:sym typeface="Calibri"/>
            </a:endParaRPr>
          </a:p>
        </p:txBody>
      </p:sp>
      <p:sp>
        <p:nvSpPr>
          <p:cNvPr id="977" name="Google Shape;977;p33"/>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kill PID</a:t>
            </a:r>
            <a:endParaRPr b="0" i="0" sz="1150" u="none" cap="none" strike="noStrike">
              <a:solidFill>
                <a:schemeClr val="dk1"/>
              </a:solidFill>
              <a:latin typeface="Calibri"/>
              <a:ea typeface="Calibri"/>
              <a:cs typeface="Calibri"/>
              <a:sym typeface="Calibri"/>
            </a:endParaRPr>
          </a:p>
        </p:txBody>
      </p:sp>
      <p:sp>
        <p:nvSpPr>
          <p:cNvPr id="978" name="Google Shape;978;p33"/>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send TERM (graceful stop)</a:t>
            </a:r>
            <a:endParaRPr b="0" i="0" sz="1100" u="none" cap="none" strike="noStrike">
              <a:solidFill>
                <a:schemeClr val="dk1"/>
              </a:solidFill>
              <a:latin typeface="Calibri"/>
              <a:ea typeface="Calibri"/>
              <a:cs typeface="Calibri"/>
              <a:sym typeface="Calibri"/>
            </a:endParaRPr>
          </a:p>
        </p:txBody>
      </p:sp>
      <p:sp>
        <p:nvSpPr>
          <p:cNvPr id="979" name="Google Shape;979;p33"/>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kill -9 PID</a:t>
            </a:r>
            <a:endParaRPr b="0" i="0" sz="1150" u="none" cap="none" strike="noStrike">
              <a:solidFill>
                <a:schemeClr val="dk1"/>
              </a:solidFill>
              <a:latin typeface="Calibri"/>
              <a:ea typeface="Calibri"/>
              <a:cs typeface="Calibri"/>
              <a:sym typeface="Calibri"/>
            </a:endParaRPr>
          </a:p>
        </p:txBody>
      </p:sp>
      <p:sp>
        <p:nvSpPr>
          <p:cNvPr id="980" name="Google Shape;980;p33"/>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send KILL (force; last resort)</a:t>
            </a:r>
            <a:endParaRPr b="0" i="0" sz="1100" u="none" cap="none" strike="noStrike">
              <a:solidFill>
                <a:schemeClr val="dk1"/>
              </a:solidFill>
              <a:latin typeface="Calibri"/>
              <a:ea typeface="Calibri"/>
              <a:cs typeface="Calibri"/>
              <a:sym typeface="Calibri"/>
            </a:endParaRPr>
          </a:p>
        </p:txBody>
      </p:sp>
      <p:sp>
        <p:nvSpPr>
          <p:cNvPr id="981" name="Google Shape;981;p33"/>
          <p:cNvSpPr/>
          <p:nvPr/>
        </p:nvSpPr>
        <p:spPr>
          <a:xfrm>
            <a:off x="65836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btop</a:t>
            </a:r>
            <a:endParaRPr b="0" i="0" sz="1150" u="none" cap="none" strike="noStrike">
              <a:solidFill>
                <a:schemeClr val="dk1"/>
              </a:solidFill>
              <a:latin typeface="Calibri"/>
              <a:ea typeface="Calibri"/>
              <a:cs typeface="Calibri"/>
              <a:sym typeface="Calibri"/>
            </a:endParaRPr>
          </a:p>
        </p:txBody>
      </p:sp>
      <p:sp>
        <p:nvSpPr>
          <p:cNvPr id="982" name="Google Shape;982;p33"/>
          <p:cNvSpPr/>
          <p:nvPr/>
        </p:nvSpPr>
        <p:spPr>
          <a:xfrm>
            <a:off x="2468880" y="391363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live dashboard (CPU/mem/net/proc)</a:t>
            </a:r>
            <a:endParaRPr b="0" i="0" sz="1100" u="none" cap="none" strike="noStrike">
              <a:solidFill>
                <a:schemeClr val="dk1"/>
              </a:solidFill>
              <a:latin typeface="Calibri"/>
              <a:ea typeface="Calibri"/>
              <a:cs typeface="Calibri"/>
              <a:sym typeface="Calibri"/>
            </a:endParaRPr>
          </a:p>
        </p:txBody>
      </p:sp>
      <p:sp>
        <p:nvSpPr>
          <p:cNvPr id="983" name="Google Shape;983;p33"/>
          <p:cNvSpPr/>
          <p:nvPr/>
        </p:nvSpPr>
        <p:spPr>
          <a:xfrm>
            <a:off x="4800600" y="1371600"/>
            <a:ext cx="3886200" cy="3246120"/>
          </a:xfrm>
          <a:prstGeom prst="roundRect">
            <a:avLst>
              <a:gd fmla="val 225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4" name="Google Shape;984;p33"/>
          <p:cNvSpPr/>
          <p:nvPr/>
        </p:nvSpPr>
        <p:spPr>
          <a:xfrm>
            <a:off x="49834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33"/>
          <p:cNvSpPr/>
          <p:nvPr/>
        </p:nvSpPr>
        <p:spPr>
          <a:xfrm>
            <a:off x="51297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33"/>
          <p:cNvSpPr/>
          <p:nvPr/>
        </p:nvSpPr>
        <p:spPr>
          <a:xfrm>
            <a:off x="52760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7" name="Google Shape;987;p33"/>
          <p:cNvSpPr/>
          <p:nvPr/>
        </p:nvSpPr>
        <p:spPr>
          <a:xfrm>
            <a:off x="5440680" y="144475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you@server</a:t>
            </a:r>
            <a:endParaRPr b="0" i="0" sz="900" u="none" cap="none" strike="noStrike">
              <a:solidFill>
                <a:schemeClr val="dk1"/>
              </a:solidFill>
              <a:latin typeface="Calibri"/>
              <a:ea typeface="Calibri"/>
              <a:cs typeface="Calibri"/>
              <a:sym typeface="Calibri"/>
            </a:endParaRPr>
          </a:p>
        </p:txBody>
      </p:sp>
      <p:cxnSp>
        <p:nvCxnSpPr>
          <p:cNvPr id="988" name="Google Shape;988;p33"/>
          <p:cNvCxnSpPr/>
          <p:nvPr/>
        </p:nvCxnSpPr>
        <p:spPr>
          <a:xfrm>
            <a:off x="4800600" y="1737360"/>
            <a:ext cx="3886200" cy="0"/>
          </a:xfrm>
          <a:prstGeom prst="straightConnector1">
            <a:avLst/>
          </a:prstGeom>
          <a:noFill/>
          <a:ln cap="flat" cmpd="sng" w="12700">
            <a:solidFill>
              <a:srgbClr val="1E293B"/>
            </a:solidFill>
            <a:prstDash val="solid"/>
            <a:round/>
            <a:headEnd len="sm" w="sm" type="none"/>
            <a:tailEnd len="sm" w="sm" type="none"/>
          </a:ln>
        </p:spPr>
      </p:cxnSp>
      <p:sp>
        <p:nvSpPr>
          <p:cNvPr id="989" name="Google Shape;989;p33"/>
          <p:cNvSpPr/>
          <p:nvPr/>
        </p:nvSpPr>
        <p:spPr>
          <a:xfrm>
            <a:off x="5001768" y="1847088"/>
            <a:ext cx="3483864" cy="26609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top memory hogs</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ps aux --sort=-%mem | head -4</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050"/>
              <a:buFont typeface="Courier New"/>
              <a:buNone/>
            </a:pPr>
            <a:r>
              <a:rPr b="0" i="0" lang="en-US" sz="1050" u="none" cap="none" strike="noStrike">
                <a:solidFill>
                  <a:srgbClr val="64748B"/>
                </a:solidFill>
                <a:latin typeface="Courier New"/>
                <a:ea typeface="Courier New"/>
                <a:cs typeface="Courier New"/>
                <a:sym typeface="Courier New"/>
              </a:rPr>
              <a:t>USER  PID %CPU %MEM  COMMAND</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app  9241  2.0 41.3  java</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app  7180  0.4  6.1  node</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find and stop a runaway</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pgrep -f stress</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9412</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kill 9412</a:t>
            </a:r>
            <a:endParaRPr b="0" i="0" sz="1050" u="none" cap="none" strike="noStrike">
              <a:solidFill>
                <a:schemeClr val="dk1"/>
              </a:solidFill>
              <a:latin typeface="Calibri"/>
              <a:ea typeface="Calibri"/>
              <a:cs typeface="Calibri"/>
              <a:sym typeface="Calibri"/>
            </a:endParaRPr>
          </a:p>
        </p:txBody>
      </p:sp>
      <p:sp>
        <p:nvSpPr>
          <p:cNvPr id="990" name="Google Shape;990;p33"/>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991" name="Google Shape;991;p33"/>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4 · System Admin</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996" name="Shape 996"/>
        <p:cNvGrpSpPr/>
        <p:nvPr/>
      </p:nvGrpSpPr>
      <p:grpSpPr>
        <a:xfrm>
          <a:off x="0" y="0"/>
          <a:ext cx="0" cy="0"/>
          <a:chOff x="0" y="0"/>
          <a:chExt cx="0" cy="0"/>
        </a:xfrm>
      </p:grpSpPr>
      <p:sp>
        <p:nvSpPr>
          <p:cNvPr id="997" name="Google Shape;997;p34"/>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systemd: the thing that runs everything</a:t>
            </a:r>
            <a:endParaRPr b="0" i="0" sz="2900" u="none" cap="none" strike="noStrike">
              <a:solidFill>
                <a:schemeClr val="dk1"/>
              </a:solidFill>
              <a:latin typeface="Calibri"/>
              <a:ea typeface="Calibri"/>
              <a:cs typeface="Calibri"/>
              <a:sym typeface="Calibri"/>
            </a:endParaRPr>
          </a:p>
        </p:txBody>
      </p:sp>
      <p:sp>
        <p:nvSpPr>
          <p:cNvPr id="998" name="Google Shape;998;p34"/>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999" name="Google Shape;999;p34"/>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1000" name="Google Shape;1000;p34"/>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Why does nginx restart on boot and come back after a crash? Because systemd manages it.</a:t>
            </a:r>
            <a:endParaRPr b="0" i="0" sz="1300" u="none" cap="none" strike="noStrike">
              <a:solidFill>
                <a:schemeClr val="dk1"/>
              </a:solidFill>
              <a:latin typeface="Calibri"/>
              <a:ea typeface="Calibri"/>
              <a:cs typeface="Calibri"/>
              <a:sym typeface="Calibri"/>
            </a:endParaRPr>
          </a:p>
        </p:txBody>
      </p:sp>
      <p:sp>
        <p:nvSpPr>
          <p:cNvPr id="1001" name="Google Shape;1001;p34"/>
          <p:cNvSpPr/>
          <p:nvPr/>
        </p:nvSpPr>
        <p:spPr>
          <a:xfrm>
            <a:off x="457200" y="1463040"/>
            <a:ext cx="2706624" cy="1371600"/>
          </a:xfrm>
          <a:prstGeom prst="roundRect">
            <a:avLst>
              <a:gd fmla="val 466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02" name="Google Shape;1002;p34"/>
          <p:cNvPicPr preferRelativeResize="0"/>
          <p:nvPr/>
        </p:nvPicPr>
        <p:blipFill rotWithShape="1">
          <a:blip r:embed="rId4">
            <a:alphaModFix/>
          </a:blip>
          <a:srcRect b="0" l="0" r="0" t="0"/>
          <a:stretch/>
        </p:blipFill>
        <p:spPr>
          <a:xfrm>
            <a:off x="640080" y="1609344"/>
            <a:ext cx="274320" cy="274320"/>
          </a:xfrm>
          <a:prstGeom prst="rect">
            <a:avLst/>
          </a:prstGeom>
          <a:noFill/>
          <a:ln>
            <a:noFill/>
          </a:ln>
        </p:spPr>
      </p:pic>
      <p:sp>
        <p:nvSpPr>
          <p:cNvPr id="1003" name="Google Shape;1003;p34"/>
          <p:cNvSpPr/>
          <p:nvPr/>
        </p:nvSpPr>
        <p:spPr>
          <a:xfrm>
            <a:off x="987552" y="1591056"/>
            <a:ext cx="2011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It's the init system</a:t>
            </a:r>
            <a:endParaRPr b="0" i="0" sz="1300" u="none" cap="none" strike="noStrike">
              <a:solidFill>
                <a:schemeClr val="dk1"/>
              </a:solidFill>
              <a:latin typeface="Calibri"/>
              <a:ea typeface="Calibri"/>
              <a:cs typeface="Calibri"/>
              <a:sym typeface="Calibri"/>
            </a:endParaRPr>
          </a:p>
        </p:txBody>
      </p:sp>
      <p:sp>
        <p:nvSpPr>
          <p:cNvPr id="1004" name="Google Shape;1004;p34"/>
          <p:cNvSpPr/>
          <p:nvPr/>
        </p:nvSpPr>
        <p:spPr>
          <a:xfrm>
            <a:off x="640080" y="1993392"/>
            <a:ext cx="2340864"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93B"/>
              </a:buClr>
              <a:buSzPts val="1150"/>
              <a:buFont typeface="Calibri"/>
              <a:buNone/>
            </a:pPr>
            <a:r>
              <a:rPr b="0" i="0" lang="en-US" sz="1150" u="none" cap="none" strike="noStrike">
                <a:solidFill>
                  <a:srgbClr val="1E293B"/>
                </a:solidFill>
                <a:latin typeface="Calibri"/>
                <a:ea typeface="Calibri"/>
                <a:cs typeface="Calibri"/>
                <a:sym typeface="Calibri"/>
              </a:rPr>
              <a:t>PID 1. Starts everything at boot and supervises it after.</a:t>
            </a:r>
            <a:endParaRPr b="0" i="0" sz="1150" u="none" cap="none" strike="noStrike">
              <a:solidFill>
                <a:schemeClr val="dk1"/>
              </a:solidFill>
              <a:latin typeface="Calibri"/>
              <a:ea typeface="Calibri"/>
              <a:cs typeface="Calibri"/>
              <a:sym typeface="Calibri"/>
            </a:endParaRPr>
          </a:p>
        </p:txBody>
      </p:sp>
      <p:sp>
        <p:nvSpPr>
          <p:cNvPr id="1005" name="Google Shape;1005;p34"/>
          <p:cNvSpPr/>
          <p:nvPr/>
        </p:nvSpPr>
        <p:spPr>
          <a:xfrm>
            <a:off x="3264408" y="1463040"/>
            <a:ext cx="2706624" cy="1371600"/>
          </a:xfrm>
          <a:prstGeom prst="roundRect">
            <a:avLst>
              <a:gd fmla="val 466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06" name="Google Shape;1006;p34"/>
          <p:cNvPicPr preferRelativeResize="0"/>
          <p:nvPr/>
        </p:nvPicPr>
        <p:blipFill rotWithShape="1">
          <a:blip r:embed="rId4">
            <a:alphaModFix/>
          </a:blip>
          <a:srcRect b="0" l="0" r="0" t="0"/>
          <a:stretch/>
        </p:blipFill>
        <p:spPr>
          <a:xfrm>
            <a:off x="3447288" y="1609344"/>
            <a:ext cx="274320" cy="274320"/>
          </a:xfrm>
          <a:prstGeom prst="rect">
            <a:avLst/>
          </a:prstGeom>
          <a:noFill/>
          <a:ln>
            <a:noFill/>
          </a:ln>
        </p:spPr>
      </p:pic>
      <p:sp>
        <p:nvSpPr>
          <p:cNvPr id="1007" name="Google Shape;1007;p34"/>
          <p:cNvSpPr/>
          <p:nvPr/>
        </p:nvSpPr>
        <p:spPr>
          <a:xfrm>
            <a:off x="3794760" y="1591056"/>
            <a:ext cx="2011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Everything is a unit</a:t>
            </a:r>
            <a:endParaRPr b="0" i="0" sz="1300" u="none" cap="none" strike="noStrike">
              <a:solidFill>
                <a:schemeClr val="dk1"/>
              </a:solidFill>
              <a:latin typeface="Calibri"/>
              <a:ea typeface="Calibri"/>
              <a:cs typeface="Calibri"/>
              <a:sym typeface="Calibri"/>
            </a:endParaRPr>
          </a:p>
        </p:txBody>
      </p:sp>
      <p:sp>
        <p:nvSpPr>
          <p:cNvPr id="1008" name="Google Shape;1008;p34"/>
          <p:cNvSpPr/>
          <p:nvPr/>
        </p:nvSpPr>
        <p:spPr>
          <a:xfrm>
            <a:off x="3447288" y="1993392"/>
            <a:ext cx="2340864"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93B"/>
              </a:buClr>
              <a:buSzPts val="1150"/>
              <a:buFont typeface="Calibri"/>
              <a:buNone/>
            </a:pPr>
            <a:r>
              <a:rPr b="0" i="0" lang="en-US" sz="1150" u="none" cap="none" strike="noStrike">
                <a:solidFill>
                  <a:srgbClr val="1E293B"/>
                </a:solidFill>
                <a:latin typeface="Calibri"/>
                <a:ea typeface="Calibri"/>
                <a:cs typeface="Calibri"/>
                <a:sym typeface="Calibri"/>
              </a:rPr>
              <a:t>.service (daemons), .timer (schedules), .socket, .mount…</a:t>
            </a:r>
            <a:endParaRPr b="0" i="0" sz="1150" u="none" cap="none" strike="noStrike">
              <a:solidFill>
                <a:schemeClr val="dk1"/>
              </a:solidFill>
              <a:latin typeface="Calibri"/>
              <a:ea typeface="Calibri"/>
              <a:cs typeface="Calibri"/>
              <a:sym typeface="Calibri"/>
            </a:endParaRPr>
          </a:p>
        </p:txBody>
      </p:sp>
      <p:sp>
        <p:nvSpPr>
          <p:cNvPr id="1009" name="Google Shape;1009;p34"/>
          <p:cNvSpPr/>
          <p:nvPr/>
        </p:nvSpPr>
        <p:spPr>
          <a:xfrm>
            <a:off x="6071616" y="1463040"/>
            <a:ext cx="2706624" cy="1371600"/>
          </a:xfrm>
          <a:prstGeom prst="roundRect">
            <a:avLst>
              <a:gd fmla="val 466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10" name="Google Shape;1010;p34"/>
          <p:cNvPicPr preferRelativeResize="0"/>
          <p:nvPr/>
        </p:nvPicPr>
        <p:blipFill rotWithShape="1">
          <a:blip r:embed="rId4">
            <a:alphaModFix/>
          </a:blip>
          <a:srcRect b="0" l="0" r="0" t="0"/>
          <a:stretch/>
        </p:blipFill>
        <p:spPr>
          <a:xfrm>
            <a:off x="6254496" y="1609344"/>
            <a:ext cx="274320" cy="274320"/>
          </a:xfrm>
          <a:prstGeom prst="rect">
            <a:avLst/>
          </a:prstGeom>
          <a:noFill/>
          <a:ln>
            <a:noFill/>
          </a:ln>
        </p:spPr>
      </p:pic>
      <p:sp>
        <p:nvSpPr>
          <p:cNvPr id="1011" name="Google Shape;1011;p34"/>
          <p:cNvSpPr/>
          <p:nvPr/>
        </p:nvSpPr>
        <p:spPr>
          <a:xfrm>
            <a:off x="6601968" y="1591056"/>
            <a:ext cx="20116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1300"/>
              <a:buFont typeface="Calibri"/>
              <a:buNone/>
            </a:pPr>
            <a:r>
              <a:rPr b="1" i="0" lang="en-US" sz="1300" u="none" cap="none" strike="noStrike">
                <a:solidFill>
                  <a:srgbClr val="0F172A"/>
                </a:solidFill>
                <a:latin typeface="Calibri"/>
                <a:ea typeface="Calibri"/>
                <a:cs typeface="Calibri"/>
                <a:sym typeface="Calibri"/>
              </a:rPr>
              <a:t>It restarts &amp; orders</a:t>
            </a:r>
            <a:endParaRPr b="0" i="0" sz="1300" u="none" cap="none" strike="noStrike">
              <a:solidFill>
                <a:schemeClr val="dk1"/>
              </a:solidFill>
              <a:latin typeface="Calibri"/>
              <a:ea typeface="Calibri"/>
              <a:cs typeface="Calibri"/>
              <a:sym typeface="Calibri"/>
            </a:endParaRPr>
          </a:p>
        </p:txBody>
      </p:sp>
      <p:sp>
        <p:nvSpPr>
          <p:cNvPr id="1012" name="Google Shape;1012;p34"/>
          <p:cNvSpPr/>
          <p:nvPr/>
        </p:nvSpPr>
        <p:spPr>
          <a:xfrm>
            <a:off x="6254496" y="1993392"/>
            <a:ext cx="2340864" cy="7772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93B"/>
              </a:buClr>
              <a:buSzPts val="1150"/>
              <a:buFont typeface="Calibri"/>
              <a:buNone/>
            </a:pPr>
            <a:r>
              <a:rPr b="0" i="0" lang="en-US" sz="1150" u="none" cap="none" strike="noStrike">
                <a:solidFill>
                  <a:srgbClr val="1E293B"/>
                </a:solidFill>
                <a:latin typeface="Calibri"/>
                <a:ea typeface="Calibri"/>
                <a:cs typeface="Calibri"/>
                <a:sym typeface="Calibri"/>
              </a:rPr>
              <a:t>Auto-restart on failure, dependency ordering, resource limits.</a:t>
            </a:r>
            <a:endParaRPr b="0" i="0" sz="1150" u="none" cap="none" strike="noStrike">
              <a:solidFill>
                <a:schemeClr val="dk1"/>
              </a:solidFill>
              <a:latin typeface="Calibri"/>
              <a:ea typeface="Calibri"/>
              <a:cs typeface="Calibri"/>
              <a:sym typeface="Calibri"/>
            </a:endParaRPr>
          </a:p>
        </p:txBody>
      </p:sp>
      <p:sp>
        <p:nvSpPr>
          <p:cNvPr id="1013" name="Google Shape;1013;p34"/>
          <p:cNvSpPr/>
          <p:nvPr/>
        </p:nvSpPr>
        <p:spPr>
          <a:xfrm>
            <a:off x="457200" y="3017520"/>
            <a:ext cx="8229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250"/>
              <a:buFont typeface="Calibri"/>
              <a:buNone/>
            </a:pPr>
            <a:r>
              <a:rPr b="1" i="0" lang="en-US" sz="1250" u="none" cap="none" strike="noStrike">
                <a:solidFill>
                  <a:srgbClr val="C2410C"/>
                </a:solidFill>
                <a:latin typeface="Calibri"/>
                <a:ea typeface="Calibri"/>
                <a:cs typeface="Calibri"/>
                <a:sym typeface="Calibri"/>
              </a:rPr>
              <a:t>Service lifecycle you'll drive:</a:t>
            </a:r>
            <a:endParaRPr b="0" i="0" sz="1250" u="none" cap="none" strike="noStrike">
              <a:solidFill>
                <a:schemeClr val="dk1"/>
              </a:solidFill>
              <a:latin typeface="Calibri"/>
              <a:ea typeface="Calibri"/>
              <a:cs typeface="Calibri"/>
              <a:sym typeface="Calibri"/>
            </a:endParaRPr>
          </a:p>
        </p:txBody>
      </p:sp>
      <p:sp>
        <p:nvSpPr>
          <p:cNvPr id="1014" name="Google Shape;1014;p34"/>
          <p:cNvSpPr/>
          <p:nvPr/>
        </p:nvSpPr>
        <p:spPr>
          <a:xfrm>
            <a:off x="457200" y="3383280"/>
            <a:ext cx="1417320" cy="548640"/>
          </a:xfrm>
          <a:prstGeom prst="roundRect">
            <a:avLst>
              <a:gd fmla="val 16667" name="adj"/>
            </a:avLst>
          </a:prstGeom>
          <a:solidFill>
            <a:srgbClr val="F0FDFA"/>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34"/>
          <p:cNvSpPr/>
          <p:nvPr/>
        </p:nvSpPr>
        <p:spPr>
          <a:xfrm>
            <a:off x="457200" y="3383280"/>
            <a:ext cx="141732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66E"/>
              </a:buClr>
              <a:buSzPts val="1050"/>
              <a:buFont typeface="Calibri"/>
              <a:buNone/>
            </a:pPr>
            <a:r>
              <a:rPr b="0" i="0" lang="en-US" sz="1050" u="none" cap="none" strike="noStrike">
                <a:solidFill>
                  <a:srgbClr val="0F766E"/>
                </a:solidFill>
                <a:latin typeface="Calibri"/>
                <a:ea typeface="Calibri"/>
                <a:cs typeface="Calibri"/>
                <a:sym typeface="Calibri"/>
              </a:rPr>
              <a:t>enabled (boot)</a:t>
            </a:r>
            <a:endParaRPr b="0" i="0" sz="1050" u="none" cap="none" strike="noStrike">
              <a:solidFill>
                <a:schemeClr val="dk1"/>
              </a:solidFill>
              <a:latin typeface="Calibri"/>
              <a:ea typeface="Calibri"/>
              <a:cs typeface="Calibri"/>
              <a:sym typeface="Calibri"/>
            </a:endParaRPr>
          </a:p>
        </p:txBody>
      </p:sp>
      <p:pic>
        <p:nvPicPr>
          <p:cNvPr descr="preencoded.png" id="1016" name="Google Shape;1016;p34"/>
          <p:cNvPicPr preferRelativeResize="0"/>
          <p:nvPr/>
        </p:nvPicPr>
        <p:blipFill rotWithShape="1">
          <a:blip r:embed="rId4">
            <a:alphaModFix/>
          </a:blip>
          <a:srcRect b="0" l="0" r="0" t="0"/>
          <a:stretch/>
        </p:blipFill>
        <p:spPr>
          <a:xfrm>
            <a:off x="1892808" y="3529584"/>
            <a:ext cx="914400" cy="914400"/>
          </a:xfrm>
          <a:prstGeom prst="rect">
            <a:avLst/>
          </a:prstGeom>
          <a:noFill/>
          <a:ln>
            <a:noFill/>
          </a:ln>
        </p:spPr>
      </p:pic>
      <p:sp>
        <p:nvSpPr>
          <p:cNvPr id="1017" name="Google Shape;1017;p34"/>
          <p:cNvSpPr/>
          <p:nvPr/>
        </p:nvSpPr>
        <p:spPr>
          <a:xfrm>
            <a:off x="2121408" y="3383280"/>
            <a:ext cx="1417320" cy="548640"/>
          </a:xfrm>
          <a:prstGeom prst="roundRect">
            <a:avLst>
              <a:gd fmla="val 16667" name="adj"/>
            </a:avLst>
          </a:prstGeom>
          <a:solidFill>
            <a:srgbClr val="F0FDFA"/>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8" name="Google Shape;1018;p34"/>
          <p:cNvSpPr/>
          <p:nvPr/>
        </p:nvSpPr>
        <p:spPr>
          <a:xfrm>
            <a:off x="2121408" y="3383280"/>
            <a:ext cx="141732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66E"/>
              </a:buClr>
              <a:buSzPts val="1050"/>
              <a:buFont typeface="Calibri"/>
              <a:buNone/>
            </a:pPr>
            <a:r>
              <a:rPr b="0" i="0" lang="en-US" sz="1050" u="none" cap="none" strike="noStrike">
                <a:solidFill>
                  <a:srgbClr val="0F766E"/>
                </a:solidFill>
                <a:latin typeface="Calibri"/>
                <a:ea typeface="Calibri"/>
                <a:cs typeface="Calibri"/>
                <a:sym typeface="Calibri"/>
              </a:rPr>
              <a:t>started (now)</a:t>
            </a:r>
            <a:endParaRPr b="0" i="0" sz="1050" u="none" cap="none" strike="noStrike">
              <a:solidFill>
                <a:schemeClr val="dk1"/>
              </a:solidFill>
              <a:latin typeface="Calibri"/>
              <a:ea typeface="Calibri"/>
              <a:cs typeface="Calibri"/>
              <a:sym typeface="Calibri"/>
            </a:endParaRPr>
          </a:p>
        </p:txBody>
      </p:sp>
      <p:pic>
        <p:nvPicPr>
          <p:cNvPr descr="preencoded.png" id="1019" name="Google Shape;1019;p34"/>
          <p:cNvPicPr preferRelativeResize="0"/>
          <p:nvPr/>
        </p:nvPicPr>
        <p:blipFill rotWithShape="1">
          <a:blip r:embed="rId4">
            <a:alphaModFix/>
          </a:blip>
          <a:srcRect b="0" l="0" r="0" t="0"/>
          <a:stretch/>
        </p:blipFill>
        <p:spPr>
          <a:xfrm>
            <a:off x="3557016" y="3529584"/>
            <a:ext cx="914400" cy="914400"/>
          </a:xfrm>
          <a:prstGeom prst="rect">
            <a:avLst/>
          </a:prstGeom>
          <a:noFill/>
          <a:ln>
            <a:noFill/>
          </a:ln>
        </p:spPr>
      </p:pic>
      <p:sp>
        <p:nvSpPr>
          <p:cNvPr id="1020" name="Google Shape;1020;p34"/>
          <p:cNvSpPr/>
          <p:nvPr/>
        </p:nvSpPr>
        <p:spPr>
          <a:xfrm>
            <a:off x="3785616" y="3383280"/>
            <a:ext cx="1417320" cy="548640"/>
          </a:xfrm>
          <a:prstGeom prst="roundRect">
            <a:avLst>
              <a:gd fmla="val 16667" name="adj"/>
            </a:avLst>
          </a:prstGeom>
          <a:solidFill>
            <a:srgbClr val="F0FDFA"/>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1" name="Google Shape;1021;p34"/>
          <p:cNvSpPr/>
          <p:nvPr/>
        </p:nvSpPr>
        <p:spPr>
          <a:xfrm>
            <a:off x="3785616" y="3383280"/>
            <a:ext cx="141732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66E"/>
              </a:buClr>
              <a:buSzPts val="1050"/>
              <a:buFont typeface="Calibri"/>
              <a:buNone/>
            </a:pPr>
            <a:r>
              <a:rPr b="0" i="0" lang="en-US" sz="1050" u="none" cap="none" strike="noStrike">
                <a:solidFill>
                  <a:srgbClr val="0F766E"/>
                </a:solidFill>
                <a:latin typeface="Calibri"/>
                <a:ea typeface="Calibri"/>
                <a:cs typeface="Calibri"/>
                <a:sym typeface="Calibri"/>
              </a:rPr>
              <a:t>running</a:t>
            </a:r>
            <a:endParaRPr b="0" i="0" sz="1050" u="none" cap="none" strike="noStrike">
              <a:solidFill>
                <a:schemeClr val="dk1"/>
              </a:solidFill>
              <a:latin typeface="Calibri"/>
              <a:ea typeface="Calibri"/>
              <a:cs typeface="Calibri"/>
              <a:sym typeface="Calibri"/>
            </a:endParaRPr>
          </a:p>
        </p:txBody>
      </p:sp>
      <p:pic>
        <p:nvPicPr>
          <p:cNvPr descr="preencoded.png" id="1022" name="Google Shape;1022;p34"/>
          <p:cNvPicPr preferRelativeResize="0"/>
          <p:nvPr/>
        </p:nvPicPr>
        <p:blipFill rotWithShape="1">
          <a:blip r:embed="rId4">
            <a:alphaModFix/>
          </a:blip>
          <a:srcRect b="0" l="0" r="0" t="0"/>
          <a:stretch/>
        </p:blipFill>
        <p:spPr>
          <a:xfrm>
            <a:off x="5221224" y="3529584"/>
            <a:ext cx="914400" cy="914400"/>
          </a:xfrm>
          <a:prstGeom prst="rect">
            <a:avLst/>
          </a:prstGeom>
          <a:noFill/>
          <a:ln>
            <a:noFill/>
          </a:ln>
        </p:spPr>
      </p:pic>
      <p:sp>
        <p:nvSpPr>
          <p:cNvPr id="1023" name="Google Shape;1023;p34"/>
          <p:cNvSpPr/>
          <p:nvPr/>
        </p:nvSpPr>
        <p:spPr>
          <a:xfrm>
            <a:off x="5449824" y="3383280"/>
            <a:ext cx="1417320" cy="548640"/>
          </a:xfrm>
          <a:prstGeom prst="roundRect">
            <a:avLst>
              <a:gd fmla="val 16667" name="adj"/>
            </a:avLst>
          </a:prstGeom>
          <a:solidFill>
            <a:srgbClr val="F0FDFA"/>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4" name="Google Shape;1024;p34"/>
          <p:cNvSpPr/>
          <p:nvPr/>
        </p:nvSpPr>
        <p:spPr>
          <a:xfrm>
            <a:off x="5449824" y="3383280"/>
            <a:ext cx="141732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66E"/>
              </a:buClr>
              <a:buSzPts val="1050"/>
              <a:buFont typeface="Calibri"/>
              <a:buNone/>
            </a:pPr>
            <a:r>
              <a:rPr b="0" i="0" lang="en-US" sz="1050" u="none" cap="none" strike="noStrike">
                <a:solidFill>
                  <a:srgbClr val="0F766E"/>
                </a:solidFill>
                <a:latin typeface="Calibri"/>
                <a:ea typeface="Calibri"/>
                <a:cs typeface="Calibri"/>
                <a:sym typeface="Calibri"/>
              </a:rPr>
              <a:t>reload / restart</a:t>
            </a:r>
            <a:endParaRPr b="0" i="0" sz="1050" u="none" cap="none" strike="noStrike">
              <a:solidFill>
                <a:schemeClr val="dk1"/>
              </a:solidFill>
              <a:latin typeface="Calibri"/>
              <a:ea typeface="Calibri"/>
              <a:cs typeface="Calibri"/>
              <a:sym typeface="Calibri"/>
            </a:endParaRPr>
          </a:p>
        </p:txBody>
      </p:sp>
      <p:pic>
        <p:nvPicPr>
          <p:cNvPr descr="preencoded.png" id="1025" name="Google Shape;1025;p34"/>
          <p:cNvPicPr preferRelativeResize="0"/>
          <p:nvPr/>
        </p:nvPicPr>
        <p:blipFill rotWithShape="1">
          <a:blip r:embed="rId4">
            <a:alphaModFix/>
          </a:blip>
          <a:srcRect b="0" l="0" r="0" t="0"/>
          <a:stretch/>
        </p:blipFill>
        <p:spPr>
          <a:xfrm>
            <a:off x="6885432" y="3529584"/>
            <a:ext cx="914400" cy="914400"/>
          </a:xfrm>
          <a:prstGeom prst="rect">
            <a:avLst/>
          </a:prstGeom>
          <a:noFill/>
          <a:ln>
            <a:noFill/>
          </a:ln>
        </p:spPr>
      </p:pic>
      <p:sp>
        <p:nvSpPr>
          <p:cNvPr id="1026" name="Google Shape;1026;p34"/>
          <p:cNvSpPr/>
          <p:nvPr/>
        </p:nvSpPr>
        <p:spPr>
          <a:xfrm>
            <a:off x="7114032" y="3383280"/>
            <a:ext cx="1417320" cy="548640"/>
          </a:xfrm>
          <a:prstGeom prst="roundRect">
            <a:avLst>
              <a:gd fmla="val 16667" name="adj"/>
            </a:avLst>
          </a:prstGeom>
          <a:solidFill>
            <a:srgbClr val="F0FDFA"/>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7" name="Google Shape;1027;p34"/>
          <p:cNvSpPr/>
          <p:nvPr/>
        </p:nvSpPr>
        <p:spPr>
          <a:xfrm>
            <a:off x="7114032" y="3383280"/>
            <a:ext cx="1417320" cy="5486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766E"/>
              </a:buClr>
              <a:buSzPts val="1050"/>
              <a:buFont typeface="Calibri"/>
              <a:buNone/>
            </a:pPr>
            <a:r>
              <a:rPr b="0" i="0" lang="en-US" sz="1050" u="none" cap="none" strike="noStrike">
                <a:solidFill>
                  <a:srgbClr val="0F766E"/>
                </a:solidFill>
                <a:latin typeface="Calibri"/>
                <a:ea typeface="Calibri"/>
                <a:cs typeface="Calibri"/>
                <a:sym typeface="Calibri"/>
              </a:rPr>
              <a:t>stopped</a:t>
            </a:r>
            <a:endParaRPr b="0" i="0" sz="1050" u="none" cap="none" strike="noStrike">
              <a:solidFill>
                <a:schemeClr val="dk1"/>
              </a:solidFill>
              <a:latin typeface="Calibri"/>
              <a:ea typeface="Calibri"/>
              <a:cs typeface="Calibri"/>
              <a:sym typeface="Calibri"/>
            </a:endParaRPr>
          </a:p>
        </p:txBody>
      </p:sp>
      <p:sp>
        <p:nvSpPr>
          <p:cNvPr id="1028" name="Google Shape;1028;p34"/>
          <p:cNvSpPr/>
          <p:nvPr/>
        </p:nvSpPr>
        <p:spPr>
          <a:xfrm>
            <a:off x="457200" y="4114800"/>
            <a:ext cx="8229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200"/>
              <a:buFont typeface="Calibri"/>
              <a:buNone/>
            </a:pPr>
            <a:r>
              <a:rPr b="0" i="1" lang="en-US" sz="1200" u="none" cap="none" strike="noStrike">
                <a:solidFill>
                  <a:srgbClr val="1E293B"/>
                </a:solidFill>
                <a:latin typeface="Calibri"/>
                <a:ea typeface="Calibri"/>
                <a:cs typeface="Calibri"/>
                <a:sym typeface="Calibri"/>
              </a:rPr>
              <a:t>"enabled" = starts at boot.   "started/active" = running right now.   They are independent — know which one you mean.</a:t>
            </a:r>
            <a:endParaRPr b="0" i="0" sz="1200" u="none" cap="none" strike="noStrike">
              <a:solidFill>
                <a:schemeClr val="dk1"/>
              </a:solidFill>
              <a:latin typeface="Calibri"/>
              <a:ea typeface="Calibri"/>
              <a:cs typeface="Calibri"/>
              <a:sym typeface="Calibri"/>
            </a:endParaRPr>
          </a:p>
        </p:txBody>
      </p:sp>
      <p:sp>
        <p:nvSpPr>
          <p:cNvPr id="1029" name="Google Shape;1029;p34"/>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1030" name="Google Shape;1030;p34"/>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4 · System Admin</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35" name="Shape 1035"/>
        <p:cNvGrpSpPr/>
        <p:nvPr/>
      </p:nvGrpSpPr>
      <p:grpSpPr>
        <a:xfrm>
          <a:off x="0" y="0"/>
          <a:ext cx="0" cy="0"/>
          <a:chOff x="0" y="0"/>
          <a:chExt cx="0" cy="0"/>
        </a:xfrm>
      </p:grpSpPr>
      <p:sp>
        <p:nvSpPr>
          <p:cNvPr id="1036" name="Google Shape;1036;p35"/>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systemctl — controlling services</a:t>
            </a:r>
            <a:endParaRPr b="0" i="0" sz="2900" u="none" cap="none" strike="noStrike">
              <a:solidFill>
                <a:schemeClr val="dk1"/>
              </a:solidFill>
              <a:latin typeface="Calibri"/>
              <a:ea typeface="Calibri"/>
              <a:cs typeface="Calibri"/>
              <a:sym typeface="Calibri"/>
            </a:endParaRPr>
          </a:p>
        </p:txBody>
      </p:sp>
      <p:sp>
        <p:nvSpPr>
          <p:cNvPr id="1037" name="Google Shape;1037;p35"/>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38" name="Google Shape;1038;p35"/>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1039" name="Google Shape;1039;p35"/>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Deploy a new build and you need to restart the service and confirm it actually came back.</a:t>
            </a:r>
            <a:endParaRPr b="0" i="0" sz="1300" u="none" cap="none" strike="noStrike">
              <a:solidFill>
                <a:schemeClr val="dk1"/>
              </a:solidFill>
              <a:latin typeface="Calibri"/>
              <a:ea typeface="Calibri"/>
              <a:cs typeface="Calibri"/>
              <a:sym typeface="Calibri"/>
            </a:endParaRPr>
          </a:p>
        </p:txBody>
      </p:sp>
      <p:sp>
        <p:nvSpPr>
          <p:cNvPr id="1040" name="Google Shape;1040;p35"/>
          <p:cNvSpPr/>
          <p:nvPr/>
        </p:nvSpPr>
        <p:spPr>
          <a:xfrm>
            <a:off x="457200" y="1371600"/>
            <a:ext cx="4160520" cy="3438144"/>
          </a:xfrm>
          <a:prstGeom prst="roundRect">
            <a:avLst>
              <a:gd fmla="val 1596"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1" name="Google Shape;1041;p35"/>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systemctl &lt;verb&gt; &lt;unit&gt;</a:t>
            </a:r>
            <a:endParaRPr b="0" i="0" sz="1250" u="none" cap="none" strike="noStrike">
              <a:solidFill>
                <a:schemeClr val="dk1"/>
              </a:solidFill>
              <a:latin typeface="Calibri"/>
              <a:ea typeface="Calibri"/>
              <a:cs typeface="Calibri"/>
              <a:sym typeface="Calibri"/>
            </a:endParaRPr>
          </a:p>
        </p:txBody>
      </p:sp>
      <p:sp>
        <p:nvSpPr>
          <p:cNvPr id="1042" name="Google Shape;1042;p35"/>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status nginx</a:t>
            </a:r>
            <a:endParaRPr b="0" i="0" sz="1150" u="none" cap="none" strike="noStrike">
              <a:solidFill>
                <a:schemeClr val="dk1"/>
              </a:solidFill>
              <a:latin typeface="Calibri"/>
              <a:ea typeface="Calibri"/>
              <a:cs typeface="Calibri"/>
              <a:sym typeface="Calibri"/>
            </a:endParaRPr>
          </a:p>
        </p:txBody>
      </p:sp>
      <p:sp>
        <p:nvSpPr>
          <p:cNvPr id="1043" name="Google Shape;1043;p35"/>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state + recent log lines</a:t>
            </a:r>
            <a:endParaRPr b="0" i="0" sz="1100" u="none" cap="none" strike="noStrike">
              <a:solidFill>
                <a:schemeClr val="dk1"/>
              </a:solidFill>
              <a:latin typeface="Calibri"/>
              <a:ea typeface="Calibri"/>
              <a:cs typeface="Calibri"/>
              <a:sym typeface="Calibri"/>
            </a:endParaRPr>
          </a:p>
        </p:txBody>
      </p:sp>
      <p:sp>
        <p:nvSpPr>
          <p:cNvPr id="1044" name="Google Shape;1044;p35"/>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start / stop</a:t>
            </a:r>
            <a:endParaRPr b="0" i="0" sz="1150" u="none" cap="none" strike="noStrike">
              <a:solidFill>
                <a:schemeClr val="dk1"/>
              </a:solidFill>
              <a:latin typeface="Calibri"/>
              <a:ea typeface="Calibri"/>
              <a:cs typeface="Calibri"/>
              <a:sym typeface="Calibri"/>
            </a:endParaRPr>
          </a:p>
        </p:txBody>
      </p:sp>
      <p:sp>
        <p:nvSpPr>
          <p:cNvPr id="1045" name="Google Shape;1045;p35"/>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run / halt now</a:t>
            </a:r>
            <a:endParaRPr b="0" i="0" sz="1100" u="none" cap="none" strike="noStrike">
              <a:solidFill>
                <a:schemeClr val="dk1"/>
              </a:solidFill>
              <a:latin typeface="Calibri"/>
              <a:ea typeface="Calibri"/>
              <a:cs typeface="Calibri"/>
              <a:sym typeface="Calibri"/>
            </a:endParaRPr>
          </a:p>
        </p:txBody>
      </p:sp>
      <p:sp>
        <p:nvSpPr>
          <p:cNvPr id="1046" name="Google Shape;1046;p35"/>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restart</a:t>
            </a:r>
            <a:endParaRPr b="0" i="0" sz="1150" u="none" cap="none" strike="noStrike">
              <a:solidFill>
                <a:schemeClr val="dk1"/>
              </a:solidFill>
              <a:latin typeface="Calibri"/>
              <a:ea typeface="Calibri"/>
              <a:cs typeface="Calibri"/>
              <a:sym typeface="Calibri"/>
            </a:endParaRPr>
          </a:p>
        </p:txBody>
      </p:sp>
      <p:sp>
        <p:nvSpPr>
          <p:cNvPr id="1047" name="Google Shape;1047;p35"/>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stop then start</a:t>
            </a:r>
            <a:endParaRPr b="0" i="0" sz="1100" u="none" cap="none" strike="noStrike">
              <a:solidFill>
                <a:schemeClr val="dk1"/>
              </a:solidFill>
              <a:latin typeface="Calibri"/>
              <a:ea typeface="Calibri"/>
              <a:cs typeface="Calibri"/>
              <a:sym typeface="Calibri"/>
            </a:endParaRPr>
          </a:p>
        </p:txBody>
      </p:sp>
      <p:sp>
        <p:nvSpPr>
          <p:cNvPr id="1048" name="Google Shape;1048;p35"/>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reload</a:t>
            </a:r>
            <a:endParaRPr b="0" i="0" sz="1150" u="none" cap="none" strike="noStrike">
              <a:solidFill>
                <a:schemeClr val="dk1"/>
              </a:solidFill>
              <a:latin typeface="Calibri"/>
              <a:ea typeface="Calibri"/>
              <a:cs typeface="Calibri"/>
              <a:sym typeface="Calibri"/>
            </a:endParaRPr>
          </a:p>
        </p:txBody>
      </p:sp>
      <p:sp>
        <p:nvSpPr>
          <p:cNvPr id="1049" name="Google Shape;1049;p35"/>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re-read config, no downtime</a:t>
            </a:r>
            <a:endParaRPr b="0" i="0" sz="1100" u="none" cap="none" strike="noStrike">
              <a:solidFill>
                <a:schemeClr val="dk1"/>
              </a:solidFill>
              <a:latin typeface="Calibri"/>
              <a:ea typeface="Calibri"/>
              <a:cs typeface="Calibri"/>
              <a:sym typeface="Calibri"/>
            </a:endParaRPr>
          </a:p>
        </p:txBody>
      </p:sp>
      <p:sp>
        <p:nvSpPr>
          <p:cNvPr id="1050" name="Google Shape;1050;p35"/>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enable --now</a:t>
            </a:r>
            <a:endParaRPr b="0" i="0" sz="1150" u="none" cap="none" strike="noStrike">
              <a:solidFill>
                <a:schemeClr val="dk1"/>
              </a:solidFill>
              <a:latin typeface="Calibri"/>
              <a:ea typeface="Calibri"/>
              <a:cs typeface="Calibri"/>
              <a:sym typeface="Calibri"/>
            </a:endParaRPr>
          </a:p>
        </p:txBody>
      </p:sp>
      <p:sp>
        <p:nvSpPr>
          <p:cNvPr id="1051" name="Google Shape;1051;p35"/>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start now AND on boot</a:t>
            </a:r>
            <a:endParaRPr b="0" i="0" sz="1100" u="none" cap="none" strike="noStrike">
              <a:solidFill>
                <a:schemeClr val="dk1"/>
              </a:solidFill>
              <a:latin typeface="Calibri"/>
              <a:ea typeface="Calibri"/>
              <a:cs typeface="Calibri"/>
              <a:sym typeface="Calibri"/>
            </a:endParaRPr>
          </a:p>
        </p:txBody>
      </p:sp>
      <p:sp>
        <p:nvSpPr>
          <p:cNvPr id="1052" name="Google Shape;1052;p35"/>
          <p:cNvSpPr/>
          <p:nvPr/>
        </p:nvSpPr>
        <p:spPr>
          <a:xfrm>
            <a:off x="65836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disable</a:t>
            </a:r>
            <a:endParaRPr b="0" i="0" sz="1150" u="none" cap="none" strike="noStrike">
              <a:solidFill>
                <a:schemeClr val="dk1"/>
              </a:solidFill>
              <a:latin typeface="Calibri"/>
              <a:ea typeface="Calibri"/>
              <a:cs typeface="Calibri"/>
              <a:sym typeface="Calibri"/>
            </a:endParaRPr>
          </a:p>
        </p:txBody>
      </p:sp>
      <p:sp>
        <p:nvSpPr>
          <p:cNvPr id="1053" name="Google Shape;1053;p35"/>
          <p:cNvSpPr/>
          <p:nvPr/>
        </p:nvSpPr>
        <p:spPr>
          <a:xfrm>
            <a:off x="2468880" y="391363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don't start on boot</a:t>
            </a:r>
            <a:endParaRPr b="0" i="0" sz="1100" u="none" cap="none" strike="noStrike">
              <a:solidFill>
                <a:schemeClr val="dk1"/>
              </a:solidFill>
              <a:latin typeface="Calibri"/>
              <a:ea typeface="Calibri"/>
              <a:cs typeface="Calibri"/>
              <a:sym typeface="Calibri"/>
            </a:endParaRPr>
          </a:p>
        </p:txBody>
      </p:sp>
      <p:sp>
        <p:nvSpPr>
          <p:cNvPr id="1054" name="Google Shape;1054;p35"/>
          <p:cNvSpPr/>
          <p:nvPr/>
        </p:nvSpPr>
        <p:spPr>
          <a:xfrm>
            <a:off x="658368" y="431596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is-active</a:t>
            </a:r>
            <a:endParaRPr b="0" i="0" sz="1150" u="none" cap="none" strike="noStrike">
              <a:solidFill>
                <a:schemeClr val="dk1"/>
              </a:solidFill>
              <a:latin typeface="Calibri"/>
              <a:ea typeface="Calibri"/>
              <a:cs typeface="Calibri"/>
              <a:sym typeface="Calibri"/>
            </a:endParaRPr>
          </a:p>
        </p:txBody>
      </p:sp>
      <p:sp>
        <p:nvSpPr>
          <p:cNvPr id="1055" name="Google Shape;1055;p35"/>
          <p:cNvSpPr/>
          <p:nvPr/>
        </p:nvSpPr>
        <p:spPr>
          <a:xfrm>
            <a:off x="2468880" y="431596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scripts: running? (exit code)</a:t>
            </a:r>
            <a:endParaRPr b="0" i="0" sz="1100" u="none" cap="none" strike="noStrike">
              <a:solidFill>
                <a:schemeClr val="dk1"/>
              </a:solidFill>
              <a:latin typeface="Calibri"/>
              <a:ea typeface="Calibri"/>
              <a:cs typeface="Calibri"/>
              <a:sym typeface="Calibri"/>
            </a:endParaRPr>
          </a:p>
        </p:txBody>
      </p:sp>
      <p:sp>
        <p:nvSpPr>
          <p:cNvPr id="1056" name="Google Shape;1056;p35"/>
          <p:cNvSpPr/>
          <p:nvPr/>
        </p:nvSpPr>
        <p:spPr>
          <a:xfrm>
            <a:off x="4800600" y="1371600"/>
            <a:ext cx="3886200" cy="3246120"/>
          </a:xfrm>
          <a:prstGeom prst="roundRect">
            <a:avLst>
              <a:gd fmla="val 225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7" name="Google Shape;1057;p35"/>
          <p:cNvSpPr/>
          <p:nvPr/>
        </p:nvSpPr>
        <p:spPr>
          <a:xfrm>
            <a:off x="49834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p35"/>
          <p:cNvSpPr/>
          <p:nvPr/>
        </p:nvSpPr>
        <p:spPr>
          <a:xfrm>
            <a:off x="51297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9" name="Google Shape;1059;p35"/>
          <p:cNvSpPr/>
          <p:nvPr/>
        </p:nvSpPr>
        <p:spPr>
          <a:xfrm>
            <a:off x="52760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0" name="Google Shape;1060;p35"/>
          <p:cNvSpPr/>
          <p:nvPr/>
        </p:nvSpPr>
        <p:spPr>
          <a:xfrm>
            <a:off x="5440680" y="144475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you@server</a:t>
            </a:r>
            <a:endParaRPr b="0" i="0" sz="900" u="none" cap="none" strike="noStrike">
              <a:solidFill>
                <a:schemeClr val="dk1"/>
              </a:solidFill>
              <a:latin typeface="Calibri"/>
              <a:ea typeface="Calibri"/>
              <a:cs typeface="Calibri"/>
              <a:sym typeface="Calibri"/>
            </a:endParaRPr>
          </a:p>
        </p:txBody>
      </p:sp>
      <p:cxnSp>
        <p:nvCxnSpPr>
          <p:cNvPr id="1061" name="Google Shape;1061;p35"/>
          <p:cNvCxnSpPr/>
          <p:nvPr/>
        </p:nvCxnSpPr>
        <p:spPr>
          <a:xfrm>
            <a:off x="4800600" y="1737360"/>
            <a:ext cx="3886200" cy="0"/>
          </a:xfrm>
          <a:prstGeom prst="straightConnector1">
            <a:avLst/>
          </a:prstGeom>
          <a:noFill/>
          <a:ln cap="flat" cmpd="sng" w="12700">
            <a:solidFill>
              <a:srgbClr val="1E293B"/>
            </a:solidFill>
            <a:prstDash val="solid"/>
            <a:round/>
            <a:headEnd len="sm" w="sm" type="none"/>
            <a:tailEnd len="sm" w="sm" type="none"/>
          </a:ln>
        </p:spPr>
      </p:cxnSp>
      <p:sp>
        <p:nvSpPr>
          <p:cNvPr id="1062" name="Google Shape;1062;p35"/>
          <p:cNvSpPr/>
          <p:nvPr/>
        </p:nvSpPr>
        <p:spPr>
          <a:xfrm>
            <a:off x="5001768" y="1847088"/>
            <a:ext cx="3483864" cy="26609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systemctl restart nginx</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systemctl status nginx</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 nginx.service - high perf web</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050"/>
              <a:buFont typeface="Courier New"/>
              <a:buNone/>
            </a:pPr>
            <a:r>
              <a:rPr b="0" i="0" lang="en-US" sz="1050" u="none" cap="none" strike="noStrike">
                <a:solidFill>
                  <a:srgbClr val="64748B"/>
                </a:solidFill>
                <a:latin typeface="Courier New"/>
                <a:ea typeface="Courier New"/>
                <a:cs typeface="Courier New"/>
                <a:sym typeface="Courier New"/>
              </a:rPr>
              <a:t>  Active: </a:t>
            </a:r>
            <a:r>
              <a:rPr b="0" i="0" lang="en-US" sz="1050" u="none" cap="none" strike="noStrike">
                <a:solidFill>
                  <a:srgbClr val="34D399"/>
                </a:solidFill>
                <a:latin typeface="Courier New"/>
                <a:ea typeface="Courier New"/>
                <a:cs typeface="Courier New"/>
                <a:sym typeface="Courier New"/>
              </a:rPr>
              <a:t>active (running)</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050"/>
              <a:buFont typeface="Courier New"/>
              <a:buNone/>
            </a:pPr>
            <a:r>
              <a:rPr b="0" i="0" lang="en-US" sz="1050" u="none" cap="none" strike="noStrike">
                <a:solidFill>
                  <a:srgbClr val="64748B"/>
                </a:solidFill>
                <a:latin typeface="Courier New"/>
                <a:ea typeface="Courier New"/>
                <a:cs typeface="Courier New"/>
                <a:sym typeface="Courier New"/>
              </a:rPr>
              <a:t>  Main PID: 9821 (nginx)</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survive reboots too</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systemctl enable --now nginx</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systemctl is-active nginx</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active</a:t>
            </a:r>
            <a:endParaRPr b="0" i="0" sz="1050" u="none" cap="none" strike="noStrike">
              <a:solidFill>
                <a:schemeClr val="dk1"/>
              </a:solidFill>
              <a:latin typeface="Calibri"/>
              <a:ea typeface="Calibri"/>
              <a:cs typeface="Calibri"/>
              <a:sym typeface="Calibri"/>
            </a:endParaRPr>
          </a:p>
        </p:txBody>
      </p:sp>
      <p:sp>
        <p:nvSpPr>
          <p:cNvPr id="1063" name="Google Shape;1063;p35"/>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1064" name="Google Shape;1064;p35"/>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4 · System Admin</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69" name="Shape 1069"/>
        <p:cNvGrpSpPr/>
        <p:nvPr/>
      </p:nvGrpSpPr>
      <p:grpSpPr>
        <a:xfrm>
          <a:off x="0" y="0"/>
          <a:ext cx="0" cy="0"/>
          <a:chOff x="0" y="0"/>
          <a:chExt cx="0" cy="0"/>
        </a:xfrm>
      </p:grpSpPr>
      <p:sp>
        <p:nvSpPr>
          <p:cNvPr id="1070" name="Google Shape;1070;p36"/>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Creating your own service</a:t>
            </a:r>
            <a:endParaRPr b="0" i="0" sz="2900" u="none" cap="none" strike="noStrike">
              <a:solidFill>
                <a:schemeClr val="dk1"/>
              </a:solidFill>
              <a:latin typeface="Calibri"/>
              <a:ea typeface="Calibri"/>
              <a:cs typeface="Calibri"/>
              <a:sym typeface="Calibri"/>
            </a:endParaRPr>
          </a:p>
        </p:txBody>
      </p:sp>
      <p:sp>
        <p:nvSpPr>
          <p:cNvPr id="1071" name="Google Shape;1071;p36"/>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72" name="Google Shape;1072;p36"/>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1073" name="Google Shape;1073;p36"/>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You wrote an app or a worker — wrap it in a unit so systemd keeps it alive.</a:t>
            </a:r>
            <a:endParaRPr b="0" i="0" sz="1300" u="none" cap="none" strike="noStrike">
              <a:solidFill>
                <a:schemeClr val="dk1"/>
              </a:solidFill>
              <a:latin typeface="Calibri"/>
              <a:ea typeface="Calibri"/>
              <a:cs typeface="Calibri"/>
              <a:sym typeface="Calibri"/>
            </a:endParaRPr>
          </a:p>
        </p:txBody>
      </p:sp>
      <p:sp>
        <p:nvSpPr>
          <p:cNvPr id="1074" name="Google Shape;1074;p36"/>
          <p:cNvSpPr/>
          <p:nvPr/>
        </p:nvSpPr>
        <p:spPr>
          <a:xfrm>
            <a:off x="457200" y="1371600"/>
            <a:ext cx="4297680" cy="3246120"/>
          </a:xfrm>
          <a:prstGeom prst="roundRect">
            <a:avLst>
              <a:gd fmla="val 225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5" name="Google Shape;1075;p36"/>
          <p:cNvSpPr/>
          <p:nvPr/>
        </p:nvSpPr>
        <p:spPr>
          <a:xfrm>
            <a:off x="6400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p36"/>
          <p:cNvSpPr/>
          <p:nvPr/>
        </p:nvSpPr>
        <p:spPr>
          <a:xfrm>
            <a:off x="7863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7" name="Google Shape;1077;p36"/>
          <p:cNvSpPr/>
          <p:nvPr/>
        </p:nvSpPr>
        <p:spPr>
          <a:xfrm>
            <a:off x="9326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p36"/>
          <p:cNvSpPr/>
          <p:nvPr/>
        </p:nvSpPr>
        <p:spPr>
          <a:xfrm>
            <a:off x="1097280" y="1444752"/>
            <a:ext cx="338328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/etc/systemd/system/myapp.service</a:t>
            </a:r>
            <a:endParaRPr b="0" i="0" sz="900" u="none" cap="none" strike="noStrike">
              <a:solidFill>
                <a:schemeClr val="dk1"/>
              </a:solidFill>
              <a:latin typeface="Calibri"/>
              <a:ea typeface="Calibri"/>
              <a:cs typeface="Calibri"/>
              <a:sym typeface="Calibri"/>
            </a:endParaRPr>
          </a:p>
        </p:txBody>
      </p:sp>
      <p:cxnSp>
        <p:nvCxnSpPr>
          <p:cNvPr id="1079" name="Google Shape;1079;p36"/>
          <p:cNvCxnSpPr/>
          <p:nvPr/>
        </p:nvCxnSpPr>
        <p:spPr>
          <a:xfrm>
            <a:off x="457200" y="1737360"/>
            <a:ext cx="4297680" cy="0"/>
          </a:xfrm>
          <a:prstGeom prst="straightConnector1">
            <a:avLst/>
          </a:prstGeom>
          <a:noFill/>
          <a:ln cap="flat" cmpd="sng" w="12700">
            <a:solidFill>
              <a:srgbClr val="1E293B"/>
            </a:solidFill>
            <a:prstDash val="solid"/>
            <a:round/>
            <a:headEnd len="sm" w="sm" type="none"/>
            <a:tailEnd len="sm" w="sm" type="none"/>
          </a:ln>
        </p:spPr>
      </p:cxnSp>
      <p:sp>
        <p:nvSpPr>
          <p:cNvPr id="1080" name="Google Shape;1080;p36"/>
          <p:cNvSpPr/>
          <p:nvPr/>
        </p:nvSpPr>
        <p:spPr>
          <a:xfrm>
            <a:off x="658368" y="1847088"/>
            <a:ext cx="3895344" cy="26609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F97316"/>
              </a:buClr>
              <a:buSzPts val="1000"/>
              <a:buFont typeface="Courier New"/>
              <a:buNone/>
            </a:pPr>
            <a:r>
              <a:rPr b="1" i="0" lang="en-US" sz="1000" u="none" cap="none" strike="noStrike">
                <a:solidFill>
                  <a:srgbClr val="F97316"/>
                </a:solidFill>
                <a:latin typeface="Courier New"/>
                <a:ea typeface="Courier New"/>
                <a:cs typeface="Courier New"/>
                <a:sym typeface="Courier New"/>
              </a:rPr>
              <a:t>[Unit]</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00"/>
              <a:buFont typeface="Courier New"/>
              <a:buNone/>
            </a:pPr>
            <a:r>
              <a:rPr b="0" i="0" lang="en-US" sz="1000" u="none" cap="none" strike="noStrike">
                <a:solidFill>
                  <a:srgbClr val="FFFFFF"/>
                </a:solidFill>
                <a:latin typeface="Courier New"/>
                <a:ea typeface="Courier New"/>
                <a:cs typeface="Courier New"/>
                <a:sym typeface="Courier New"/>
              </a:rPr>
              <a:t>Description=My API</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00"/>
              <a:buFont typeface="Courier New"/>
              <a:buNone/>
            </a:pPr>
            <a:r>
              <a:rPr b="0" i="0" lang="en-US" sz="1000" u="none" cap="none" strike="noStrike">
                <a:solidFill>
                  <a:srgbClr val="FFFFFF"/>
                </a:solidFill>
                <a:latin typeface="Courier New"/>
                <a:ea typeface="Courier New"/>
                <a:cs typeface="Courier New"/>
                <a:sym typeface="Courier New"/>
              </a:rPr>
              <a:t>After=network.target</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00"/>
              <a:buFont typeface="Courier New"/>
              <a:buNone/>
            </a:pPr>
            <a:r>
              <a:rPr b="1" i="0" lang="en-US" sz="1000" u="none" cap="none" strike="noStrike">
                <a:solidFill>
                  <a:srgbClr val="F97316"/>
                </a:solidFill>
                <a:latin typeface="Courier New"/>
                <a:ea typeface="Courier New"/>
                <a:cs typeface="Courier New"/>
                <a:sym typeface="Courier New"/>
              </a:rPr>
              <a:t>[Service]</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00"/>
              <a:buFont typeface="Courier New"/>
              <a:buNone/>
            </a:pPr>
            <a:r>
              <a:rPr b="0" i="0" lang="en-US" sz="1000" u="none" cap="none" strike="noStrike">
                <a:solidFill>
                  <a:srgbClr val="FFFFFF"/>
                </a:solidFill>
                <a:latin typeface="Courier New"/>
                <a:ea typeface="Courier New"/>
                <a:cs typeface="Courier New"/>
                <a:sym typeface="Courier New"/>
              </a:rPr>
              <a:t>User=app</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00"/>
              <a:buFont typeface="Courier New"/>
              <a:buNone/>
            </a:pPr>
            <a:r>
              <a:rPr b="0" i="0" lang="en-US" sz="1000" u="none" cap="none" strike="noStrike">
                <a:solidFill>
                  <a:srgbClr val="FFFFFF"/>
                </a:solidFill>
                <a:latin typeface="Courier New"/>
                <a:ea typeface="Courier New"/>
                <a:cs typeface="Courier New"/>
                <a:sym typeface="Courier New"/>
              </a:rPr>
              <a:t>WorkingDirectory=/opt/myapp</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00"/>
              <a:buFont typeface="Courier New"/>
              <a:buNone/>
            </a:pPr>
            <a:r>
              <a:rPr b="0" i="0" lang="en-US" sz="1000" u="none" cap="none" strike="noStrike">
                <a:solidFill>
                  <a:srgbClr val="FFFFFF"/>
                </a:solidFill>
                <a:latin typeface="Courier New"/>
                <a:ea typeface="Courier New"/>
                <a:cs typeface="Courier New"/>
                <a:sym typeface="Courier New"/>
              </a:rPr>
              <a:t>ExecStart=/opt/myapp/run</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00"/>
              <a:buFont typeface="Courier New"/>
              <a:buNone/>
            </a:pPr>
            <a:r>
              <a:rPr b="0" i="0" lang="en-US" sz="1000" u="none" cap="none" strike="noStrike">
                <a:solidFill>
                  <a:srgbClr val="FFFFFF"/>
                </a:solidFill>
                <a:latin typeface="Courier New"/>
                <a:ea typeface="Courier New"/>
                <a:cs typeface="Courier New"/>
                <a:sym typeface="Courier New"/>
              </a:rPr>
              <a:t>Restart=on-failure</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00"/>
              <a:buFont typeface="Courier New"/>
              <a:buNone/>
            </a:pPr>
            <a:r>
              <a:rPr b="1" i="0" lang="en-US" sz="1000" u="none" cap="none" strike="noStrike">
                <a:solidFill>
                  <a:srgbClr val="F97316"/>
                </a:solidFill>
                <a:latin typeface="Courier New"/>
                <a:ea typeface="Courier New"/>
                <a:cs typeface="Courier New"/>
                <a:sym typeface="Courier New"/>
              </a:rPr>
              <a:t>[Install]</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00"/>
              <a:buFont typeface="Courier New"/>
              <a:buNone/>
            </a:pPr>
            <a:r>
              <a:rPr b="0" i="0" lang="en-US" sz="1000" u="none" cap="none" strike="noStrike">
                <a:solidFill>
                  <a:srgbClr val="FFFFFF"/>
                </a:solidFill>
                <a:latin typeface="Courier New"/>
                <a:ea typeface="Courier New"/>
                <a:cs typeface="Courier New"/>
                <a:sym typeface="Courier New"/>
              </a:rPr>
              <a:t>WantedBy=multi-user.target</a:t>
            </a:r>
            <a:endParaRPr b="0" i="0" sz="1000" u="none" cap="none" strike="noStrike">
              <a:solidFill>
                <a:schemeClr val="dk1"/>
              </a:solidFill>
              <a:latin typeface="Calibri"/>
              <a:ea typeface="Calibri"/>
              <a:cs typeface="Calibri"/>
              <a:sym typeface="Calibri"/>
            </a:endParaRPr>
          </a:p>
        </p:txBody>
      </p:sp>
      <p:sp>
        <p:nvSpPr>
          <p:cNvPr id="1081" name="Google Shape;1081;p36"/>
          <p:cNvSpPr/>
          <p:nvPr/>
        </p:nvSpPr>
        <p:spPr>
          <a:xfrm>
            <a:off x="4937760" y="1371600"/>
            <a:ext cx="3749040" cy="1828800"/>
          </a:xfrm>
          <a:prstGeom prst="roundRect">
            <a:avLst>
              <a:gd fmla="val 300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p36"/>
          <p:cNvSpPr/>
          <p:nvPr/>
        </p:nvSpPr>
        <p:spPr>
          <a:xfrm>
            <a:off x="5138928" y="1517904"/>
            <a:ext cx="33832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THEN ACTIVATE IT</a:t>
            </a:r>
            <a:endParaRPr b="0" i="0" sz="1250" u="none" cap="none" strike="noStrike">
              <a:solidFill>
                <a:schemeClr val="dk1"/>
              </a:solidFill>
              <a:latin typeface="Calibri"/>
              <a:ea typeface="Calibri"/>
              <a:cs typeface="Calibri"/>
              <a:sym typeface="Calibri"/>
            </a:endParaRPr>
          </a:p>
        </p:txBody>
      </p:sp>
      <p:sp>
        <p:nvSpPr>
          <p:cNvPr id="1083" name="Google Shape;1083;p36"/>
          <p:cNvSpPr/>
          <p:nvPr/>
        </p:nvSpPr>
        <p:spPr>
          <a:xfrm>
            <a:off x="513892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daemon-reload</a:t>
            </a:r>
            <a:endParaRPr b="0" i="0" sz="1150" u="none" cap="none" strike="noStrike">
              <a:solidFill>
                <a:schemeClr val="dk1"/>
              </a:solidFill>
              <a:latin typeface="Calibri"/>
              <a:ea typeface="Calibri"/>
              <a:cs typeface="Calibri"/>
              <a:sym typeface="Calibri"/>
            </a:endParaRPr>
          </a:p>
        </p:txBody>
      </p:sp>
      <p:sp>
        <p:nvSpPr>
          <p:cNvPr id="1084" name="Google Shape;1084;p36"/>
          <p:cNvSpPr/>
          <p:nvPr/>
        </p:nvSpPr>
        <p:spPr>
          <a:xfrm>
            <a:off x="6949440" y="1901952"/>
            <a:ext cx="149047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re-read unit files</a:t>
            </a:r>
            <a:endParaRPr b="0" i="0" sz="1100" u="none" cap="none" strike="noStrike">
              <a:solidFill>
                <a:schemeClr val="dk1"/>
              </a:solidFill>
              <a:latin typeface="Calibri"/>
              <a:ea typeface="Calibri"/>
              <a:cs typeface="Calibri"/>
              <a:sym typeface="Calibri"/>
            </a:endParaRPr>
          </a:p>
        </p:txBody>
      </p:sp>
      <p:sp>
        <p:nvSpPr>
          <p:cNvPr id="1085" name="Google Shape;1085;p36"/>
          <p:cNvSpPr/>
          <p:nvPr/>
        </p:nvSpPr>
        <p:spPr>
          <a:xfrm>
            <a:off x="513892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enable --now</a:t>
            </a:r>
            <a:endParaRPr b="0" i="0" sz="1150" u="none" cap="none" strike="noStrike">
              <a:solidFill>
                <a:schemeClr val="dk1"/>
              </a:solidFill>
              <a:latin typeface="Calibri"/>
              <a:ea typeface="Calibri"/>
              <a:cs typeface="Calibri"/>
              <a:sym typeface="Calibri"/>
            </a:endParaRPr>
          </a:p>
        </p:txBody>
      </p:sp>
      <p:sp>
        <p:nvSpPr>
          <p:cNvPr id="1086" name="Google Shape;1086;p36"/>
          <p:cNvSpPr/>
          <p:nvPr/>
        </p:nvSpPr>
        <p:spPr>
          <a:xfrm>
            <a:off x="6949440" y="2304288"/>
            <a:ext cx="149047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start + run on boot</a:t>
            </a:r>
            <a:endParaRPr b="0" i="0" sz="1100" u="none" cap="none" strike="noStrike">
              <a:solidFill>
                <a:schemeClr val="dk1"/>
              </a:solidFill>
              <a:latin typeface="Calibri"/>
              <a:ea typeface="Calibri"/>
              <a:cs typeface="Calibri"/>
              <a:sym typeface="Calibri"/>
            </a:endParaRPr>
          </a:p>
        </p:txBody>
      </p:sp>
      <p:sp>
        <p:nvSpPr>
          <p:cNvPr id="1087" name="Google Shape;1087;p36"/>
          <p:cNvSpPr/>
          <p:nvPr/>
        </p:nvSpPr>
        <p:spPr>
          <a:xfrm>
            <a:off x="513892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status myapp</a:t>
            </a:r>
            <a:endParaRPr b="0" i="0" sz="1150" u="none" cap="none" strike="noStrike">
              <a:solidFill>
                <a:schemeClr val="dk1"/>
              </a:solidFill>
              <a:latin typeface="Calibri"/>
              <a:ea typeface="Calibri"/>
              <a:cs typeface="Calibri"/>
              <a:sym typeface="Calibri"/>
            </a:endParaRPr>
          </a:p>
        </p:txBody>
      </p:sp>
      <p:sp>
        <p:nvSpPr>
          <p:cNvPr id="1088" name="Google Shape;1088;p36"/>
          <p:cNvSpPr/>
          <p:nvPr/>
        </p:nvSpPr>
        <p:spPr>
          <a:xfrm>
            <a:off x="6949440" y="2706624"/>
            <a:ext cx="149047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confirm it's active</a:t>
            </a:r>
            <a:endParaRPr b="0" i="0" sz="1100" u="none" cap="none" strike="noStrike">
              <a:solidFill>
                <a:schemeClr val="dk1"/>
              </a:solidFill>
              <a:latin typeface="Calibri"/>
              <a:ea typeface="Calibri"/>
              <a:cs typeface="Calibri"/>
              <a:sym typeface="Calibri"/>
            </a:endParaRPr>
          </a:p>
        </p:txBody>
      </p:sp>
      <p:sp>
        <p:nvSpPr>
          <p:cNvPr id="1089" name="Google Shape;1089;p36"/>
          <p:cNvSpPr/>
          <p:nvPr/>
        </p:nvSpPr>
        <p:spPr>
          <a:xfrm>
            <a:off x="4937760" y="3200400"/>
            <a:ext cx="3749040" cy="1417320"/>
          </a:xfrm>
          <a:prstGeom prst="roundRect">
            <a:avLst>
              <a:gd fmla="val 4516" name="adj"/>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p36"/>
          <p:cNvSpPr/>
          <p:nvPr/>
        </p:nvSpPr>
        <p:spPr>
          <a:xfrm>
            <a:off x="5120640" y="3291840"/>
            <a:ext cx="33832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Three sections</a:t>
            </a:r>
            <a:endParaRPr b="0" i="0" sz="1250" u="none" cap="none" strike="noStrike">
              <a:solidFill>
                <a:schemeClr val="dk1"/>
              </a:solidFill>
              <a:latin typeface="Calibri"/>
              <a:ea typeface="Calibri"/>
              <a:cs typeface="Calibri"/>
              <a:sym typeface="Calibri"/>
            </a:endParaRPr>
          </a:p>
        </p:txBody>
      </p:sp>
      <p:sp>
        <p:nvSpPr>
          <p:cNvPr id="1091" name="Google Shape;1091;p36"/>
          <p:cNvSpPr/>
          <p:nvPr/>
        </p:nvSpPr>
        <p:spPr>
          <a:xfrm>
            <a:off x="5120640" y="3611880"/>
            <a:ext cx="3383280" cy="960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2410C"/>
              </a:buClr>
              <a:buSzPts val="1150"/>
              <a:buFont typeface="Courier New"/>
              <a:buNone/>
            </a:pPr>
            <a:r>
              <a:rPr b="1" i="0" lang="en-US" sz="1150" u="none" cap="none" strike="noStrike">
                <a:solidFill>
                  <a:srgbClr val="C2410C"/>
                </a:solidFill>
                <a:latin typeface="Courier New"/>
                <a:ea typeface="Courier New"/>
                <a:cs typeface="Courier New"/>
                <a:sym typeface="Courier New"/>
              </a:rPr>
              <a:t>[Unit]</a:t>
            </a:r>
            <a:r>
              <a:rPr b="0" i="0" lang="en-US" sz="1150" u="none" cap="none" strike="noStrike">
                <a:solidFill>
                  <a:srgbClr val="1E293B"/>
                </a:solidFill>
                <a:latin typeface="Calibri"/>
                <a:ea typeface="Calibri"/>
                <a:cs typeface="Calibri"/>
                <a:sym typeface="Calibri"/>
              </a:rPr>
              <a:t> what &amp; ordering   </a:t>
            </a:r>
            <a:r>
              <a:rPr b="1" i="0" lang="en-US" sz="1150" u="none" cap="none" strike="noStrike">
                <a:solidFill>
                  <a:srgbClr val="C2410C"/>
                </a:solidFill>
                <a:latin typeface="Courier New"/>
                <a:ea typeface="Courier New"/>
                <a:cs typeface="Courier New"/>
                <a:sym typeface="Courier New"/>
              </a:rPr>
              <a:t>[Service]</a:t>
            </a:r>
            <a:r>
              <a:rPr b="0" i="0" lang="en-US" sz="1150" u="none" cap="none" strike="noStrike">
                <a:solidFill>
                  <a:srgbClr val="1E293B"/>
                </a:solidFill>
                <a:latin typeface="Calibri"/>
                <a:ea typeface="Calibri"/>
                <a:cs typeface="Calibri"/>
                <a:sym typeface="Calibri"/>
              </a:rPr>
              <a:t> how to run (incl. </a:t>
            </a:r>
            <a:r>
              <a:rPr b="0" i="0" lang="en-US" sz="1150" u="none" cap="none" strike="noStrike">
                <a:solidFill>
                  <a:srgbClr val="1E293B"/>
                </a:solidFill>
                <a:latin typeface="Courier New"/>
                <a:ea typeface="Courier New"/>
                <a:cs typeface="Courier New"/>
                <a:sym typeface="Courier New"/>
              </a:rPr>
              <a:t>Restart</a:t>
            </a:r>
            <a:r>
              <a:rPr b="0" i="0" lang="en-US" sz="1150" u="none" cap="none" strike="noStrike">
                <a:solidFill>
                  <a:srgbClr val="1E293B"/>
                </a:solidFill>
                <a:latin typeface="Calibri"/>
                <a:ea typeface="Calibri"/>
                <a:cs typeface="Calibri"/>
                <a:sym typeface="Calibri"/>
              </a:rPr>
              <a:t>)   </a:t>
            </a:r>
            <a:r>
              <a:rPr b="1" i="0" lang="en-US" sz="1150" u="none" cap="none" strike="noStrike">
                <a:solidFill>
                  <a:srgbClr val="C2410C"/>
                </a:solidFill>
                <a:latin typeface="Courier New"/>
                <a:ea typeface="Courier New"/>
                <a:cs typeface="Courier New"/>
                <a:sym typeface="Courier New"/>
              </a:rPr>
              <a:t>[Install]</a:t>
            </a:r>
            <a:r>
              <a:rPr b="0" i="0" lang="en-US" sz="1150" u="none" cap="none" strike="noStrike">
                <a:solidFill>
                  <a:srgbClr val="1E293B"/>
                </a:solidFill>
                <a:latin typeface="Calibri"/>
                <a:ea typeface="Calibri"/>
                <a:cs typeface="Calibri"/>
                <a:sym typeface="Calibri"/>
              </a:rPr>
              <a:t> how it's enabled</a:t>
            </a:r>
            <a:endParaRPr b="0" i="0" sz="1150" u="none" cap="none" strike="noStrike">
              <a:solidFill>
                <a:schemeClr val="dk1"/>
              </a:solidFill>
              <a:latin typeface="Calibri"/>
              <a:ea typeface="Calibri"/>
              <a:cs typeface="Calibri"/>
              <a:sym typeface="Calibri"/>
            </a:endParaRPr>
          </a:p>
        </p:txBody>
      </p:sp>
      <p:sp>
        <p:nvSpPr>
          <p:cNvPr id="1092" name="Google Shape;1092;p36"/>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1093" name="Google Shape;1093;p36"/>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4 · System Admin</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098" name="Shape 1098"/>
        <p:cNvGrpSpPr/>
        <p:nvPr/>
      </p:nvGrpSpPr>
      <p:grpSpPr>
        <a:xfrm>
          <a:off x="0" y="0"/>
          <a:ext cx="0" cy="0"/>
          <a:chOff x="0" y="0"/>
          <a:chExt cx="0" cy="0"/>
        </a:xfrm>
      </p:grpSpPr>
      <p:sp>
        <p:nvSpPr>
          <p:cNvPr id="1099" name="Google Shape;1099;p37"/>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journalctl — reading the logs</a:t>
            </a:r>
            <a:endParaRPr b="0" i="0" sz="2900" u="none" cap="none" strike="noStrike">
              <a:solidFill>
                <a:schemeClr val="dk1"/>
              </a:solidFill>
              <a:latin typeface="Calibri"/>
              <a:ea typeface="Calibri"/>
              <a:cs typeface="Calibri"/>
              <a:sym typeface="Calibri"/>
            </a:endParaRPr>
          </a:p>
        </p:txBody>
      </p:sp>
      <p:sp>
        <p:nvSpPr>
          <p:cNvPr id="1100" name="Google Shape;1100;p37"/>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01" name="Google Shape;1101;p37"/>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1102" name="Google Shape;1102;p37"/>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A service is failing on boot. journalctl is how you ask systemd exactly why.</a:t>
            </a:r>
            <a:endParaRPr b="0" i="0" sz="1300" u="none" cap="none" strike="noStrike">
              <a:solidFill>
                <a:schemeClr val="dk1"/>
              </a:solidFill>
              <a:latin typeface="Calibri"/>
              <a:ea typeface="Calibri"/>
              <a:cs typeface="Calibri"/>
              <a:sym typeface="Calibri"/>
            </a:endParaRPr>
          </a:p>
        </p:txBody>
      </p:sp>
      <p:sp>
        <p:nvSpPr>
          <p:cNvPr id="1103" name="Google Shape;1103;p37"/>
          <p:cNvSpPr/>
          <p:nvPr/>
        </p:nvSpPr>
        <p:spPr>
          <a:xfrm>
            <a:off x="457200" y="1371600"/>
            <a:ext cx="4160520" cy="3438144"/>
          </a:xfrm>
          <a:prstGeom prst="roundRect">
            <a:avLst>
              <a:gd fmla="val 1596"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4" name="Google Shape;1104;p37"/>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journalctl [opts]</a:t>
            </a:r>
            <a:endParaRPr b="0" i="0" sz="1250" u="none" cap="none" strike="noStrike">
              <a:solidFill>
                <a:schemeClr val="dk1"/>
              </a:solidFill>
              <a:latin typeface="Calibri"/>
              <a:ea typeface="Calibri"/>
              <a:cs typeface="Calibri"/>
              <a:sym typeface="Calibri"/>
            </a:endParaRPr>
          </a:p>
        </p:txBody>
      </p:sp>
      <p:sp>
        <p:nvSpPr>
          <p:cNvPr id="1105" name="Google Shape;1105;p37"/>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-u nginx</a:t>
            </a:r>
            <a:endParaRPr b="0" i="0" sz="1150" u="none" cap="none" strike="noStrike">
              <a:solidFill>
                <a:schemeClr val="dk1"/>
              </a:solidFill>
              <a:latin typeface="Calibri"/>
              <a:ea typeface="Calibri"/>
              <a:cs typeface="Calibri"/>
              <a:sym typeface="Calibri"/>
            </a:endParaRPr>
          </a:p>
        </p:txBody>
      </p:sp>
      <p:sp>
        <p:nvSpPr>
          <p:cNvPr id="1106" name="Google Shape;1106;p37"/>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logs for one unit</a:t>
            </a:r>
            <a:endParaRPr b="0" i="0" sz="1100" u="none" cap="none" strike="noStrike">
              <a:solidFill>
                <a:schemeClr val="dk1"/>
              </a:solidFill>
              <a:latin typeface="Calibri"/>
              <a:ea typeface="Calibri"/>
              <a:cs typeface="Calibri"/>
              <a:sym typeface="Calibri"/>
            </a:endParaRPr>
          </a:p>
        </p:txBody>
      </p:sp>
      <p:sp>
        <p:nvSpPr>
          <p:cNvPr id="1107" name="Google Shape;1107;p37"/>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-f</a:t>
            </a:r>
            <a:endParaRPr b="0" i="0" sz="1150" u="none" cap="none" strike="noStrike">
              <a:solidFill>
                <a:schemeClr val="dk1"/>
              </a:solidFill>
              <a:latin typeface="Calibri"/>
              <a:ea typeface="Calibri"/>
              <a:cs typeface="Calibri"/>
              <a:sym typeface="Calibri"/>
            </a:endParaRPr>
          </a:p>
        </p:txBody>
      </p:sp>
      <p:sp>
        <p:nvSpPr>
          <p:cNvPr id="1108" name="Google Shape;1108;p37"/>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follow live (like tail -f)</a:t>
            </a:r>
            <a:endParaRPr b="0" i="0" sz="1100" u="none" cap="none" strike="noStrike">
              <a:solidFill>
                <a:schemeClr val="dk1"/>
              </a:solidFill>
              <a:latin typeface="Calibri"/>
              <a:ea typeface="Calibri"/>
              <a:cs typeface="Calibri"/>
              <a:sym typeface="Calibri"/>
            </a:endParaRPr>
          </a:p>
        </p:txBody>
      </p:sp>
      <p:sp>
        <p:nvSpPr>
          <p:cNvPr id="1109" name="Google Shape;1109;p37"/>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-e</a:t>
            </a:r>
            <a:endParaRPr b="0" i="0" sz="1150" u="none" cap="none" strike="noStrike">
              <a:solidFill>
                <a:schemeClr val="dk1"/>
              </a:solidFill>
              <a:latin typeface="Calibri"/>
              <a:ea typeface="Calibri"/>
              <a:cs typeface="Calibri"/>
              <a:sym typeface="Calibri"/>
            </a:endParaRPr>
          </a:p>
        </p:txBody>
      </p:sp>
      <p:sp>
        <p:nvSpPr>
          <p:cNvPr id="1110" name="Google Shape;1110;p37"/>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jump to the end</a:t>
            </a:r>
            <a:endParaRPr b="0" i="0" sz="1100" u="none" cap="none" strike="noStrike">
              <a:solidFill>
                <a:schemeClr val="dk1"/>
              </a:solidFill>
              <a:latin typeface="Calibri"/>
              <a:ea typeface="Calibri"/>
              <a:cs typeface="Calibri"/>
              <a:sym typeface="Calibri"/>
            </a:endParaRPr>
          </a:p>
        </p:txBody>
      </p:sp>
      <p:sp>
        <p:nvSpPr>
          <p:cNvPr id="1111" name="Google Shape;1111;p37"/>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--since '1h ago'</a:t>
            </a:r>
            <a:endParaRPr b="0" i="0" sz="1150" u="none" cap="none" strike="noStrike">
              <a:solidFill>
                <a:schemeClr val="dk1"/>
              </a:solidFill>
              <a:latin typeface="Calibri"/>
              <a:ea typeface="Calibri"/>
              <a:cs typeface="Calibri"/>
              <a:sym typeface="Calibri"/>
            </a:endParaRPr>
          </a:p>
        </p:txBody>
      </p:sp>
      <p:sp>
        <p:nvSpPr>
          <p:cNvPr id="1112" name="Google Shape;1112;p37"/>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time-filter</a:t>
            </a:r>
            <a:endParaRPr b="0" i="0" sz="1100" u="none" cap="none" strike="noStrike">
              <a:solidFill>
                <a:schemeClr val="dk1"/>
              </a:solidFill>
              <a:latin typeface="Calibri"/>
              <a:ea typeface="Calibri"/>
              <a:cs typeface="Calibri"/>
              <a:sym typeface="Calibri"/>
            </a:endParaRPr>
          </a:p>
        </p:txBody>
      </p:sp>
      <p:sp>
        <p:nvSpPr>
          <p:cNvPr id="1113" name="Google Shape;1113;p37"/>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-p err</a:t>
            </a:r>
            <a:endParaRPr b="0" i="0" sz="1150" u="none" cap="none" strike="noStrike">
              <a:solidFill>
                <a:schemeClr val="dk1"/>
              </a:solidFill>
              <a:latin typeface="Calibri"/>
              <a:ea typeface="Calibri"/>
              <a:cs typeface="Calibri"/>
              <a:sym typeface="Calibri"/>
            </a:endParaRPr>
          </a:p>
        </p:txBody>
      </p:sp>
      <p:sp>
        <p:nvSpPr>
          <p:cNvPr id="1114" name="Google Shape;1114;p37"/>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priority: errors and worse</a:t>
            </a:r>
            <a:endParaRPr b="0" i="0" sz="1100" u="none" cap="none" strike="noStrike">
              <a:solidFill>
                <a:schemeClr val="dk1"/>
              </a:solidFill>
              <a:latin typeface="Calibri"/>
              <a:ea typeface="Calibri"/>
              <a:cs typeface="Calibri"/>
              <a:sym typeface="Calibri"/>
            </a:endParaRPr>
          </a:p>
        </p:txBody>
      </p:sp>
      <p:sp>
        <p:nvSpPr>
          <p:cNvPr id="1115" name="Google Shape;1115;p37"/>
          <p:cNvSpPr/>
          <p:nvPr/>
        </p:nvSpPr>
        <p:spPr>
          <a:xfrm>
            <a:off x="65836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-b</a:t>
            </a:r>
            <a:endParaRPr b="0" i="0" sz="1150" u="none" cap="none" strike="noStrike">
              <a:solidFill>
                <a:schemeClr val="dk1"/>
              </a:solidFill>
              <a:latin typeface="Calibri"/>
              <a:ea typeface="Calibri"/>
              <a:cs typeface="Calibri"/>
              <a:sym typeface="Calibri"/>
            </a:endParaRPr>
          </a:p>
        </p:txBody>
      </p:sp>
      <p:sp>
        <p:nvSpPr>
          <p:cNvPr id="1116" name="Google Shape;1116;p37"/>
          <p:cNvSpPr/>
          <p:nvPr/>
        </p:nvSpPr>
        <p:spPr>
          <a:xfrm>
            <a:off x="2468880" y="391363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this boot only;  -b -1 = previous</a:t>
            </a:r>
            <a:endParaRPr b="0" i="0" sz="1100" u="none" cap="none" strike="noStrike">
              <a:solidFill>
                <a:schemeClr val="dk1"/>
              </a:solidFill>
              <a:latin typeface="Calibri"/>
              <a:ea typeface="Calibri"/>
              <a:cs typeface="Calibri"/>
              <a:sym typeface="Calibri"/>
            </a:endParaRPr>
          </a:p>
        </p:txBody>
      </p:sp>
      <p:sp>
        <p:nvSpPr>
          <p:cNvPr id="1117" name="Google Shape;1117;p37"/>
          <p:cNvSpPr/>
          <p:nvPr/>
        </p:nvSpPr>
        <p:spPr>
          <a:xfrm>
            <a:off x="658368" y="431596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-n 50</a:t>
            </a:r>
            <a:endParaRPr b="0" i="0" sz="1150" u="none" cap="none" strike="noStrike">
              <a:solidFill>
                <a:schemeClr val="dk1"/>
              </a:solidFill>
              <a:latin typeface="Calibri"/>
              <a:ea typeface="Calibri"/>
              <a:cs typeface="Calibri"/>
              <a:sym typeface="Calibri"/>
            </a:endParaRPr>
          </a:p>
        </p:txBody>
      </p:sp>
      <p:sp>
        <p:nvSpPr>
          <p:cNvPr id="1118" name="Google Shape;1118;p37"/>
          <p:cNvSpPr/>
          <p:nvPr/>
        </p:nvSpPr>
        <p:spPr>
          <a:xfrm>
            <a:off x="2468880" y="431596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last 50 lines</a:t>
            </a:r>
            <a:endParaRPr b="0" i="0" sz="1100" u="none" cap="none" strike="noStrike">
              <a:solidFill>
                <a:schemeClr val="dk1"/>
              </a:solidFill>
              <a:latin typeface="Calibri"/>
              <a:ea typeface="Calibri"/>
              <a:cs typeface="Calibri"/>
              <a:sym typeface="Calibri"/>
            </a:endParaRPr>
          </a:p>
        </p:txBody>
      </p:sp>
      <p:sp>
        <p:nvSpPr>
          <p:cNvPr id="1119" name="Google Shape;1119;p37"/>
          <p:cNvSpPr/>
          <p:nvPr/>
        </p:nvSpPr>
        <p:spPr>
          <a:xfrm>
            <a:off x="4800600" y="1371600"/>
            <a:ext cx="3886200" cy="3246120"/>
          </a:xfrm>
          <a:prstGeom prst="roundRect">
            <a:avLst>
              <a:gd fmla="val 225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0" name="Google Shape;1120;p37"/>
          <p:cNvSpPr/>
          <p:nvPr/>
        </p:nvSpPr>
        <p:spPr>
          <a:xfrm>
            <a:off x="49834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1" name="Google Shape;1121;p37"/>
          <p:cNvSpPr/>
          <p:nvPr/>
        </p:nvSpPr>
        <p:spPr>
          <a:xfrm>
            <a:off x="51297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2" name="Google Shape;1122;p37"/>
          <p:cNvSpPr/>
          <p:nvPr/>
        </p:nvSpPr>
        <p:spPr>
          <a:xfrm>
            <a:off x="52760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3" name="Google Shape;1123;p37"/>
          <p:cNvSpPr/>
          <p:nvPr/>
        </p:nvSpPr>
        <p:spPr>
          <a:xfrm>
            <a:off x="5440680" y="144475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you@server</a:t>
            </a:r>
            <a:endParaRPr b="0" i="0" sz="900" u="none" cap="none" strike="noStrike">
              <a:solidFill>
                <a:schemeClr val="dk1"/>
              </a:solidFill>
              <a:latin typeface="Calibri"/>
              <a:ea typeface="Calibri"/>
              <a:cs typeface="Calibri"/>
              <a:sym typeface="Calibri"/>
            </a:endParaRPr>
          </a:p>
        </p:txBody>
      </p:sp>
      <p:cxnSp>
        <p:nvCxnSpPr>
          <p:cNvPr id="1124" name="Google Shape;1124;p37"/>
          <p:cNvCxnSpPr/>
          <p:nvPr/>
        </p:nvCxnSpPr>
        <p:spPr>
          <a:xfrm>
            <a:off x="4800600" y="1737360"/>
            <a:ext cx="3886200" cy="0"/>
          </a:xfrm>
          <a:prstGeom prst="straightConnector1">
            <a:avLst/>
          </a:prstGeom>
          <a:noFill/>
          <a:ln cap="flat" cmpd="sng" w="12700">
            <a:solidFill>
              <a:srgbClr val="1E293B"/>
            </a:solidFill>
            <a:prstDash val="solid"/>
            <a:round/>
            <a:headEnd len="sm" w="sm" type="none"/>
            <a:tailEnd len="sm" w="sm" type="none"/>
          </a:ln>
        </p:spPr>
      </p:cxnSp>
      <p:sp>
        <p:nvSpPr>
          <p:cNvPr id="1125" name="Google Shape;1125;p37"/>
          <p:cNvSpPr/>
          <p:nvPr/>
        </p:nvSpPr>
        <p:spPr>
          <a:xfrm>
            <a:off x="5001768" y="1847088"/>
            <a:ext cx="3483864" cy="26609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why did myapp fail? errors, this boot</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journalctl -u myapp -p err -b</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myapp[9412]: FATAL: port 8080 in use</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watch a deploy live</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journalctl -u myapp -f</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myapp[9650]: listening on :8080</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everything since 9am</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journalctl --since 09:00</a:t>
            </a:r>
            <a:endParaRPr b="0" i="0" sz="1050" u="none" cap="none" strike="noStrike">
              <a:solidFill>
                <a:schemeClr val="dk1"/>
              </a:solidFill>
              <a:latin typeface="Calibri"/>
              <a:ea typeface="Calibri"/>
              <a:cs typeface="Calibri"/>
              <a:sym typeface="Calibri"/>
            </a:endParaRPr>
          </a:p>
        </p:txBody>
      </p:sp>
      <p:sp>
        <p:nvSpPr>
          <p:cNvPr id="1126" name="Google Shape;1126;p37"/>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1127" name="Google Shape;1127;p37"/>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4 · System Admin</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132" name="Shape 1132"/>
        <p:cNvGrpSpPr/>
        <p:nvPr/>
      </p:nvGrpSpPr>
      <p:grpSpPr>
        <a:xfrm>
          <a:off x="0" y="0"/>
          <a:ext cx="0" cy="0"/>
          <a:chOff x="0" y="0"/>
          <a:chExt cx="0" cy="0"/>
        </a:xfrm>
      </p:grpSpPr>
      <p:sp>
        <p:nvSpPr>
          <p:cNvPr id="1133" name="Google Shape;1133;p38"/>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cron — classic scheduled jobs</a:t>
            </a:r>
            <a:endParaRPr b="0" i="0" sz="2900" u="none" cap="none" strike="noStrike">
              <a:solidFill>
                <a:schemeClr val="dk1"/>
              </a:solidFill>
              <a:latin typeface="Calibri"/>
              <a:ea typeface="Calibri"/>
              <a:cs typeface="Calibri"/>
              <a:sym typeface="Calibri"/>
            </a:endParaRPr>
          </a:p>
        </p:txBody>
      </p:sp>
      <p:sp>
        <p:nvSpPr>
          <p:cNvPr id="1134" name="Google Shape;1134;p38"/>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35" name="Google Shape;1135;p38"/>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1136" name="Google Shape;1136;p38"/>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Nightly backups, hourly cleanup, a health check every 5 minutes — cron has run these for decades.</a:t>
            </a:r>
            <a:endParaRPr b="0" i="0" sz="1300" u="none" cap="none" strike="noStrike">
              <a:solidFill>
                <a:schemeClr val="dk1"/>
              </a:solidFill>
              <a:latin typeface="Calibri"/>
              <a:ea typeface="Calibri"/>
              <a:cs typeface="Calibri"/>
              <a:sym typeface="Calibri"/>
            </a:endParaRPr>
          </a:p>
        </p:txBody>
      </p:sp>
      <p:sp>
        <p:nvSpPr>
          <p:cNvPr id="1137" name="Google Shape;1137;p38"/>
          <p:cNvSpPr/>
          <p:nvPr/>
        </p:nvSpPr>
        <p:spPr>
          <a:xfrm>
            <a:off x="457200" y="1371600"/>
            <a:ext cx="4160520" cy="3035808"/>
          </a:xfrm>
          <a:prstGeom prst="roundRect">
            <a:avLst>
              <a:gd fmla="val 180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8" name="Google Shape;1138;p38"/>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crontab -e</a:t>
            </a:r>
            <a:endParaRPr b="0" i="0" sz="1250" u="none" cap="none" strike="noStrike">
              <a:solidFill>
                <a:schemeClr val="dk1"/>
              </a:solidFill>
              <a:latin typeface="Calibri"/>
              <a:ea typeface="Calibri"/>
              <a:cs typeface="Calibri"/>
              <a:sym typeface="Calibri"/>
            </a:endParaRPr>
          </a:p>
        </p:txBody>
      </p:sp>
      <p:sp>
        <p:nvSpPr>
          <p:cNvPr id="1139" name="Google Shape;1139;p38"/>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crontab -e</a:t>
            </a:r>
            <a:endParaRPr b="0" i="0" sz="1150" u="none" cap="none" strike="noStrike">
              <a:solidFill>
                <a:schemeClr val="dk1"/>
              </a:solidFill>
              <a:latin typeface="Calibri"/>
              <a:ea typeface="Calibri"/>
              <a:cs typeface="Calibri"/>
              <a:sym typeface="Calibri"/>
            </a:endParaRPr>
          </a:p>
        </p:txBody>
      </p:sp>
      <p:sp>
        <p:nvSpPr>
          <p:cNvPr id="1140" name="Google Shape;1140;p38"/>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edit YOUR jobs</a:t>
            </a:r>
            <a:endParaRPr b="0" i="0" sz="1100" u="none" cap="none" strike="noStrike">
              <a:solidFill>
                <a:schemeClr val="dk1"/>
              </a:solidFill>
              <a:latin typeface="Calibri"/>
              <a:ea typeface="Calibri"/>
              <a:cs typeface="Calibri"/>
              <a:sym typeface="Calibri"/>
            </a:endParaRPr>
          </a:p>
        </p:txBody>
      </p:sp>
      <p:sp>
        <p:nvSpPr>
          <p:cNvPr id="1141" name="Google Shape;1141;p38"/>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crontab -l</a:t>
            </a:r>
            <a:endParaRPr b="0" i="0" sz="1150" u="none" cap="none" strike="noStrike">
              <a:solidFill>
                <a:schemeClr val="dk1"/>
              </a:solidFill>
              <a:latin typeface="Calibri"/>
              <a:ea typeface="Calibri"/>
              <a:cs typeface="Calibri"/>
              <a:sym typeface="Calibri"/>
            </a:endParaRPr>
          </a:p>
        </p:txBody>
      </p:sp>
      <p:sp>
        <p:nvSpPr>
          <p:cNvPr id="1142" name="Google Shape;1142;p38"/>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list your jobs</a:t>
            </a:r>
            <a:endParaRPr b="0" i="0" sz="1100" u="none" cap="none" strike="noStrike">
              <a:solidFill>
                <a:schemeClr val="dk1"/>
              </a:solidFill>
              <a:latin typeface="Calibri"/>
              <a:ea typeface="Calibri"/>
              <a:cs typeface="Calibri"/>
              <a:sym typeface="Calibri"/>
            </a:endParaRPr>
          </a:p>
        </p:txBody>
      </p:sp>
      <p:sp>
        <p:nvSpPr>
          <p:cNvPr id="1143" name="Google Shape;1143;p38"/>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 * * * *</a:t>
            </a:r>
            <a:endParaRPr b="0" i="0" sz="1150" u="none" cap="none" strike="noStrike">
              <a:solidFill>
                <a:schemeClr val="dk1"/>
              </a:solidFill>
              <a:latin typeface="Calibri"/>
              <a:ea typeface="Calibri"/>
              <a:cs typeface="Calibri"/>
              <a:sym typeface="Calibri"/>
            </a:endParaRPr>
          </a:p>
        </p:txBody>
      </p:sp>
      <p:sp>
        <p:nvSpPr>
          <p:cNvPr id="1144" name="Google Shape;1144;p38"/>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min hr dom mon dow → cmd</a:t>
            </a:r>
            <a:endParaRPr b="0" i="0" sz="1100" u="none" cap="none" strike="noStrike">
              <a:solidFill>
                <a:schemeClr val="dk1"/>
              </a:solidFill>
              <a:latin typeface="Calibri"/>
              <a:ea typeface="Calibri"/>
              <a:cs typeface="Calibri"/>
              <a:sym typeface="Calibri"/>
            </a:endParaRPr>
          </a:p>
        </p:txBody>
      </p:sp>
      <p:sp>
        <p:nvSpPr>
          <p:cNvPr id="1145" name="Google Shape;1145;p38"/>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*/5 * * * *</a:t>
            </a:r>
            <a:endParaRPr b="0" i="0" sz="1150" u="none" cap="none" strike="noStrike">
              <a:solidFill>
                <a:schemeClr val="dk1"/>
              </a:solidFill>
              <a:latin typeface="Calibri"/>
              <a:ea typeface="Calibri"/>
              <a:cs typeface="Calibri"/>
              <a:sym typeface="Calibri"/>
            </a:endParaRPr>
          </a:p>
        </p:txBody>
      </p:sp>
      <p:sp>
        <p:nvSpPr>
          <p:cNvPr id="1146" name="Google Shape;1146;p38"/>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every 5 minutes</a:t>
            </a:r>
            <a:endParaRPr b="0" i="0" sz="1100" u="none" cap="none" strike="noStrike">
              <a:solidFill>
                <a:schemeClr val="dk1"/>
              </a:solidFill>
              <a:latin typeface="Calibri"/>
              <a:ea typeface="Calibri"/>
              <a:cs typeface="Calibri"/>
              <a:sym typeface="Calibri"/>
            </a:endParaRPr>
          </a:p>
        </p:txBody>
      </p:sp>
      <p:sp>
        <p:nvSpPr>
          <p:cNvPr id="1147" name="Google Shape;1147;p38"/>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0 2 * * *</a:t>
            </a:r>
            <a:endParaRPr b="0" i="0" sz="1150" u="none" cap="none" strike="noStrike">
              <a:solidFill>
                <a:schemeClr val="dk1"/>
              </a:solidFill>
              <a:latin typeface="Calibri"/>
              <a:ea typeface="Calibri"/>
              <a:cs typeface="Calibri"/>
              <a:sym typeface="Calibri"/>
            </a:endParaRPr>
          </a:p>
        </p:txBody>
      </p:sp>
      <p:sp>
        <p:nvSpPr>
          <p:cNvPr id="1148" name="Google Shape;1148;p38"/>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every day at 02:00</a:t>
            </a:r>
            <a:endParaRPr b="0" i="0" sz="1100" u="none" cap="none" strike="noStrike">
              <a:solidFill>
                <a:schemeClr val="dk1"/>
              </a:solidFill>
              <a:latin typeface="Calibri"/>
              <a:ea typeface="Calibri"/>
              <a:cs typeface="Calibri"/>
              <a:sym typeface="Calibri"/>
            </a:endParaRPr>
          </a:p>
        </p:txBody>
      </p:sp>
      <p:sp>
        <p:nvSpPr>
          <p:cNvPr id="1149" name="Google Shape;1149;p38"/>
          <p:cNvSpPr/>
          <p:nvPr/>
        </p:nvSpPr>
        <p:spPr>
          <a:xfrm>
            <a:off x="65836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@reboot</a:t>
            </a:r>
            <a:endParaRPr b="0" i="0" sz="1150" u="none" cap="none" strike="noStrike">
              <a:solidFill>
                <a:schemeClr val="dk1"/>
              </a:solidFill>
              <a:latin typeface="Calibri"/>
              <a:ea typeface="Calibri"/>
              <a:cs typeface="Calibri"/>
              <a:sym typeface="Calibri"/>
            </a:endParaRPr>
          </a:p>
        </p:txBody>
      </p:sp>
      <p:sp>
        <p:nvSpPr>
          <p:cNvPr id="1150" name="Google Shape;1150;p38"/>
          <p:cNvSpPr/>
          <p:nvPr/>
        </p:nvSpPr>
        <p:spPr>
          <a:xfrm>
            <a:off x="2468880" y="391363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once, at boot</a:t>
            </a:r>
            <a:endParaRPr b="0" i="0" sz="1100" u="none" cap="none" strike="noStrike">
              <a:solidFill>
                <a:schemeClr val="dk1"/>
              </a:solidFill>
              <a:latin typeface="Calibri"/>
              <a:ea typeface="Calibri"/>
              <a:cs typeface="Calibri"/>
              <a:sym typeface="Calibri"/>
            </a:endParaRPr>
          </a:p>
        </p:txBody>
      </p:sp>
      <p:sp>
        <p:nvSpPr>
          <p:cNvPr id="1151" name="Google Shape;1151;p38"/>
          <p:cNvSpPr/>
          <p:nvPr/>
        </p:nvSpPr>
        <p:spPr>
          <a:xfrm>
            <a:off x="4800600" y="1371600"/>
            <a:ext cx="3886200" cy="1234440"/>
          </a:xfrm>
          <a:prstGeom prst="roundRect">
            <a:avLst>
              <a:gd fmla="val 5185"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2" name="Google Shape;1152;p38"/>
          <p:cNvSpPr/>
          <p:nvPr/>
        </p:nvSpPr>
        <p:spPr>
          <a:xfrm>
            <a:off x="4983480" y="1463040"/>
            <a:ext cx="35661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1250"/>
              <a:buFont typeface="Calibri"/>
              <a:buNone/>
            </a:pPr>
            <a:r>
              <a:rPr b="1" i="0" lang="en-US" sz="1250" u="none" cap="none" strike="noStrike">
                <a:solidFill>
                  <a:srgbClr val="0F172A"/>
                </a:solidFill>
                <a:latin typeface="Calibri"/>
                <a:ea typeface="Calibri"/>
                <a:cs typeface="Calibri"/>
                <a:sym typeface="Calibri"/>
              </a:rPr>
              <a:t>The five fields</a:t>
            </a:r>
            <a:endParaRPr b="0" i="0" sz="1250" u="none" cap="none" strike="noStrike">
              <a:solidFill>
                <a:schemeClr val="dk1"/>
              </a:solidFill>
              <a:latin typeface="Calibri"/>
              <a:ea typeface="Calibri"/>
              <a:cs typeface="Calibri"/>
              <a:sym typeface="Calibri"/>
            </a:endParaRPr>
          </a:p>
        </p:txBody>
      </p:sp>
      <p:sp>
        <p:nvSpPr>
          <p:cNvPr id="1153" name="Google Shape;1153;p38"/>
          <p:cNvSpPr/>
          <p:nvPr/>
        </p:nvSpPr>
        <p:spPr>
          <a:xfrm>
            <a:off x="4983480" y="1773936"/>
            <a:ext cx="356616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min</a:t>
            </a:r>
            <a:r>
              <a:rPr b="0" i="0" lang="en-US" sz="1150" u="none" cap="none" strike="noStrike">
                <a:solidFill>
                  <a:srgbClr val="1E293B"/>
                </a:solidFill>
                <a:latin typeface="Courier New"/>
                <a:ea typeface="Courier New"/>
                <a:cs typeface="Courier New"/>
                <a:sym typeface="Courier New"/>
              </a:rPr>
              <a:t> (0-59)  </a:t>
            </a:r>
            <a:r>
              <a:rPr b="1" i="0" lang="en-US" sz="1150" u="none" cap="none" strike="noStrike">
                <a:solidFill>
                  <a:srgbClr val="0F766E"/>
                </a:solidFill>
                <a:latin typeface="Courier New"/>
                <a:ea typeface="Courier New"/>
                <a:cs typeface="Courier New"/>
                <a:sym typeface="Courier New"/>
              </a:rPr>
              <a:t>hr</a:t>
            </a:r>
            <a:r>
              <a:rPr b="0" i="0" lang="en-US" sz="1150" u="none" cap="none" strike="noStrike">
                <a:solidFill>
                  <a:srgbClr val="1E293B"/>
                </a:solidFill>
                <a:latin typeface="Courier New"/>
                <a:ea typeface="Courier New"/>
                <a:cs typeface="Courier New"/>
                <a:sym typeface="Courier New"/>
              </a:rPr>
              <a:t> (0-23)  </a:t>
            </a:r>
            <a:r>
              <a:rPr b="1" i="0" lang="en-US" sz="1150" u="none" cap="none" strike="noStrike">
                <a:solidFill>
                  <a:srgbClr val="0F766E"/>
                </a:solidFill>
                <a:latin typeface="Courier New"/>
                <a:ea typeface="Courier New"/>
                <a:cs typeface="Courier New"/>
                <a:sym typeface="Courier New"/>
              </a:rPr>
              <a:t>dom</a:t>
            </a:r>
            <a:r>
              <a:rPr b="0" i="0" lang="en-US" sz="1150" u="none" cap="none" strike="noStrike">
                <a:solidFill>
                  <a:srgbClr val="1E293B"/>
                </a:solidFill>
                <a:latin typeface="Courier New"/>
                <a:ea typeface="Courier New"/>
                <a:cs typeface="Courier New"/>
                <a:sym typeface="Courier New"/>
              </a:rPr>
              <a:t> (1-31)</a:t>
            </a:r>
            <a:br>
              <a:rPr b="0" i="0" lang="en-US" sz="1150" u="none" cap="none" strike="noStrike">
                <a:solidFill>
                  <a:srgbClr val="1E293B"/>
                </a:solidFill>
                <a:latin typeface="Courier New"/>
                <a:ea typeface="Courier New"/>
                <a:cs typeface="Courier New"/>
                <a:sym typeface="Courier New"/>
              </a:rPr>
            </a:br>
            <a:endParaRPr b="0" i="0" sz="115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mon</a:t>
            </a:r>
            <a:r>
              <a:rPr b="0" i="0" lang="en-US" sz="1150" u="none" cap="none" strike="noStrike">
                <a:solidFill>
                  <a:srgbClr val="1E293B"/>
                </a:solidFill>
                <a:latin typeface="Courier New"/>
                <a:ea typeface="Courier New"/>
                <a:cs typeface="Courier New"/>
                <a:sym typeface="Courier New"/>
              </a:rPr>
              <a:t> (1-12)  </a:t>
            </a:r>
            <a:r>
              <a:rPr b="1" i="0" lang="en-US" sz="1150" u="none" cap="none" strike="noStrike">
                <a:solidFill>
                  <a:srgbClr val="0F766E"/>
                </a:solidFill>
                <a:latin typeface="Courier New"/>
                <a:ea typeface="Courier New"/>
                <a:cs typeface="Courier New"/>
                <a:sym typeface="Courier New"/>
              </a:rPr>
              <a:t>dow</a:t>
            </a:r>
            <a:r>
              <a:rPr b="0" i="0" lang="en-US" sz="1150" u="none" cap="none" strike="noStrike">
                <a:solidFill>
                  <a:srgbClr val="1E293B"/>
                </a:solidFill>
                <a:latin typeface="Courier New"/>
                <a:ea typeface="Courier New"/>
                <a:cs typeface="Courier New"/>
                <a:sym typeface="Courier New"/>
              </a:rPr>
              <a:t> (0-6, Sun=0)</a:t>
            </a:r>
            <a:endParaRPr b="0" i="0" sz="1150" u="none" cap="none" strike="noStrike">
              <a:solidFill>
                <a:schemeClr val="dk1"/>
              </a:solidFill>
              <a:latin typeface="Calibri"/>
              <a:ea typeface="Calibri"/>
              <a:cs typeface="Calibri"/>
              <a:sym typeface="Calibri"/>
            </a:endParaRPr>
          </a:p>
        </p:txBody>
      </p:sp>
      <p:sp>
        <p:nvSpPr>
          <p:cNvPr id="1154" name="Google Shape;1154;p38"/>
          <p:cNvSpPr/>
          <p:nvPr/>
        </p:nvSpPr>
        <p:spPr>
          <a:xfrm>
            <a:off x="4800600" y="2743200"/>
            <a:ext cx="3886200" cy="1874520"/>
          </a:xfrm>
          <a:prstGeom prst="roundRect">
            <a:avLst>
              <a:gd fmla="val 3902"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5" name="Google Shape;1155;p38"/>
          <p:cNvSpPr/>
          <p:nvPr/>
        </p:nvSpPr>
        <p:spPr>
          <a:xfrm>
            <a:off x="4983480" y="28895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6" name="Google Shape;1156;p38"/>
          <p:cNvSpPr/>
          <p:nvPr/>
        </p:nvSpPr>
        <p:spPr>
          <a:xfrm>
            <a:off x="5129784" y="28895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7" name="Google Shape;1157;p38"/>
          <p:cNvSpPr/>
          <p:nvPr/>
        </p:nvSpPr>
        <p:spPr>
          <a:xfrm>
            <a:off x="5276088" y="28895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8" name="Google Shape;1158;p38"/>
          <p:cNvSpPr/>
          <p:nvPr/>
        </p:nvSpPr>
        <p:spPr>
          <a:xfrm>
            <a:off x="5440680" y="281635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crontab -e</a:t>
            </a:r>
            <a:endParaRPr b="0" i="0" sz="900" u="none" cap="none" strike="noStrike">
              <a:solidFill>
                <a:schemeClr val="dk1"/>
              </a:solidFill>
              <a:latin typeface="Calibri"/>
              <a:ea typeface="Calibri"/>
              <a:cs typeface="Calibri"/>
              <a:sym typeface="Calibri"/>
            </a:endParaRPr>
          </a:p>
        </p:txBody>
      </p:sp>
      <p:cxnSp>
        <p:nvCxnSpPr>
          <p:cNvPr id="1159" name="Google Shape;1159;p38"/>
          <p:cNvCxnSpPr/>
          <p:nvPr/>
        </p:nvCxnSpPr>
        <p:spPr>
          <a:xfrm>
            <a:off x="4800600" y="3108960"/>
            <a:ext cx="3886200" cy="0"/>
          </a:xfrm>
          <a:prstGeom prst="straightConnector1">
            <a:avLst/>
          </a:prstGeom>
          <a:noFill/>
          <a:ln cap="flat" cmpd="sng" w="12700">
            <a:solidFill>
              <a:srgbClr val="1E293B"/>
            </a:solidFill>
            <a:prstDash val="solid"/>
            <a:round/>
            <a:headEnd len="sm" w="sm" type="none"/>
            <a:tailEnd len="sm" w="sm" type="none"/>
          </a:ln>
        </p:spPr>
      </p:cxnSp>
      <p:sp>
        <p:nvSpPr>
          <p:cNvPr id="1160" name="Google Shape;1160;p38"/>
          <p:cNvSpPr/>
          <p:nvPr/>
        </p:nvSpPr>
        <p:spPr>
          <a:xfrm>
            <a:off x="5001768" y="3218688"/>
            <a:ext cx="3483864" cy="12893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backup db nightly at 2am</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0 2 * * * </a:t>
            </a:r>
            <a:r>
              <a:rPr b="0" i="0" lang="en-US" sz="1050" u="none" cap="none" strike="noStrike">
                <a:solidFill>
                  <a:srgbClr val="FFFFFF"/>
                </a:solidFill>
                <a:latin typeface="Courier New"/>
                <a:ea typeface="Courier New"/>
                <a:cs typeface="Courier New"/>
                <a:sym typeface="Courier New"/>
              </a:rPr>
              <a:t>/opt/backup.sh</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health check every 5 min</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*/5 * * * * </a:t>
            </a:r>
            <a:r>
              <a:rPr b="0" i="0" lang="en-US" sz="1050" u="none" cap="none" strike="noStrike">
                <a:solidFill>
                  <a:srgbClr val="FFFFFF"/>
                </a:solidFill>
                <a:latin typeface="Courier New"/>
                <a:ea typeface="Courier New"/>
                <a:cs typeface="Courier New"/>
                <a:sym typeface="Courier New"/>
              </a:rPr>
              <a:t>/opt/check.sh</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&gt;&gt; /var/log/check.log 2&gt;&amp;1</a:t>
            </a:r>
            <a:endParaRPr b="0" i="0" sz="1050" u="none" cap="none" strike="noStrike">
              <a:solidFill>
                <a:schemeClr val="dk1"/>
              </a:solidFill>
              <a:latin typeface="Calibri"/>
              <a:ea typeface="Calibri"/>
              <a:cs typeface="Calibri"/>
              <a:sym typeface="Calibri"/>
            </a:endParaRPr>
          </a:p>
        </p:txBody>
      </p:sp>
      <p:sp>
        <p:nvSpPr>
          <p:cNvPr id="1161" name="Google Shape;1161;p38"/>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1162" name="Google Shape;1162;p38"/>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4 · System Admin</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167" name="Shape 1167"/>
        <p:cNvGrpSpPr/>
        <p:nvPr/>
      </p:nvGrpSpPr>
      <p:grpSpPr>
        <a:xfrm>
          <a:off x="0" y="0"/>
          <a:ext cx="0" cy="0"/>
          <a:chOff x="0" y="0"/>
          <a:chExt cx="0" cy="0"/>
        </a:xfrm>
      </p:grpSpPr>
      <p:sp>
        <p:nvSpPr>
          <p:cNvPr id="1168" name="Google Shape;1168;p39"/>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systemd timers — the modern scheduler</a:t>
            </a:r>
            <a:endParaRPr b="0" i="0" sz="2900" u="none" cap="none" strike="noStrike">
              <a:solidFill>
                <a:schemeClr val="dk1"/>
              </a:solidFill>
              <a:latin typeface="Calibri"/>
              <a:ea typeface="Calibri"/>
              <a:cs typeface="Calibri"/>
              <a:sym typeface="Calibri"/>
            </a:endParaRPr>
          </a:p>
        </p:txBody>
      </p:sp>
      <p:sp>
        <p:nvSpPr>
          <p:cNvPr id="1169" name="Google Shape;1169;p39"/>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70" name="Google Shape;1170;p39"/>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1171" name="Google Shape;1171;p39"/>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Same job as cron, but with logging, dependencies, and catch-up for missed runs.</a:t>
            </a:r>
            <a:endParaRPr b="0" i="0" sz="1300" u="none" cap="none" strike="noStrike">
              <a:solidFill>
                <a:schemeClr val="dk1"/>
              </a:solidFill>
              <a:latin typeface="Calibri"/>
              <a:ea typeface="Calibri"/>
              <a:cs typeface="Calibri"/>
              <a:sym typeface="Calibri"/>
            </a:endParaRPr>
          </a:p>
        </p:txBody>
      </p:sp>
      <p:sp>
        <p:nvSpPr>
          <p:cNvPr id="1172" name="Google Shape;1172;p39"/>
          <p:cNvSpPr/>
          <p:nvPr/>
        </p:nvSpPr>
        <p:spPr>
          <a:xfrm>
            <a:off x="457200" y="1371600"/>
            <a:ext cx="4160520" cy="3246120"/>
          </a:xfrm>
          <a:prstGeom prst="roundRect">
            <a:avLst>
              <a:gd fmla="val 225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3" name="Google Shape;1173;p39"/>
          <p:cNvSpPr/>
          <p:nvPr/>
        </p:nvSpPr>
        <p:spPr>
          <a:xfrm>
            <a:off x="6400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4" name="Google Shape;1174;p39"/>
          <p:cNvSpPr/>
          <p:nvPr/>
        </p:nvSpPr>
        <p:spPr>
          <a:xfrm>
            <a:off x="7863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5" name="Google Shape;1175;p39"/>
          <p:cNvSpPr/>
          <p:nvPr/>
        </p:nvSpPr>
        <p:spPr>
          <a:xfrm>
            <a:off x="9326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6" name="Google Shape;1176;p39"/>
          <p:cNvSpPr/>
          <p:nvPr/>
        </p:nvSpPr>
        <p:spPr>
          <a:xfrm>
            <a:off x="1097280" y="1444752"/>
            <a:ext cx="324612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backup.timer  +  backup.service</a:t>
            </a:r>
            <a:endParaRPr b="0" i="0" sz="900" u="none" cap="none" strike="noStrike">
              <a:solidFill>
                <a:schemeClr val="dk1"/>
              </a:solidFill>
              <a:latin typeface="Calibri"/>
              <a:ea typeface="Calibri"/>
              <a:cs typeface="Calibri"/>
              <a:sym typeface="Calibri"/>
            </a:endParaRPr>
          </a:p>
        </p:txBody>
      </p:sp>
      <p:cxnSp>
        <p:nvCxnSpPr>
          <p:cNvPr id="1177" name="Google Shape;1177;p39"/>
          <p:cNvCxnSpPr/>
          <p:nvPr/>
        </p:nvCxnSpPr>
        <p:spPr>
          <a:xfrm>
            <a:off x="457200" y="1737360"/>
            <a:ext cx="4160520" cy="0"/>
          </a:xfrm>
          <a:prstGeom prst="straightConnector1">
            <a:avLst/>
          </a:prstGeom>
          <a:noFill/>
          <a:ln cap="flat" cmpd="sng" w="12700">
            <a:solidFill>
              <a:srgbClr val="1E293B"/>
            </a:solidFill>
            <a:prstDash val="solid"/>
            <a:round/>
            <a:headEnd len="sm" w="sm" type="none"/>
            <a:tailEnd len="sm" w="sm" type="none"/>
          </a:ln>
        </p:spPr>
      </p:cxnSp>
      <p:sp>
        <p:nvSpPr>
          <p:cNvPr id="1178" name="Google Shape;1178;p39"/>
          <p:cNvSpPr/>
          <p:nvPr/>
        </p:nvSpPr>
        <p:spPr>
          <a:xfrm>
            <a:off x="658368" y="1847088"/>
            <a:ext cx="3758184" cy="26609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38BDF8"/>
              </a:buClr>
              <a:buSzPts val="1000"/>
              <a:buFont typeface="Courier New"/>
              <a:buNone/>
            </a:pPr>
            <a:r>
              <a:rPr b="0" i="0" lang="en-US" sz="1000" u="none" cap="none" strike="noStrike">
                <a:solidFill>
                  <a:srgbClr val="38BDF8"/>
                </a:solidFill>
                <a:latin typeface="Courier New"/>
                <a:ea typeface="Courier New"/>
                <a:cs typeface="Courier New"/>
                <a:sym typeface="Courier New"/>
              </a:rPr>
              <a:t># backup.timer</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00"/>
              <a:buFont typeface="Courier New"/>
              <a:buNone/>
            </a:pPr>
            <a:r>
              <a:rPr b="1" i="0" lang="en-US" sz="1000" u="none" cap="none" strike="noStrike">
                <a:solidFill>
                  <a:srgbClr val="F97316"/>
                </a:solidFill>
                <a:latin typeface="Courier New"/>
                <a:ea typeface="Courier New"/>
                <a:cs typeface="Courier New"/>
                <a:sym typeface="Courier New"/>
              </a:rPr>
              <a:t>[Unit]</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00"/>
              <a:buFont typeface="Courier New"/>
              <a:buNone/>
            </a:pPr>
            <a:r>
              <a:rPr b="0" i="0" lang="en-US" sz="1000" u="none" cap="none" strike="noStrike">
                <a:solidFill>
                  <a:srgbClr val="FFFFFF"/>
                </a:solidFill>
                <a:latin typeface="Courier New"/>
                <a:ea typeface="Courier New"/>
                <a:cs typeface="Courier New"/>
                <a:sym typeface="Courier New"/>
              </a:rPr>
              <a:t>Description=Nightly backup</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00"/>
              <a:buFont typeface="Courier New"/>
              <a:buNone/>
            </a:pPr>
            <a:r>
              <a:rPr b="1" i="0" lang="en-US" sz="1000" u="none" cap="none" strike="noStrike">
                <a:solidFill>
                  <a:srgbClr val="F97316"/>
                </a:solidFill>
                <a:latin typeface="Courier New"/>
                <a:ea typeface="Courier New"/>
                <a:cs typeface="Courier New"/>
                <a:sym typeface="Courier New"/>
              </a:rPr>
              <a:t>[Timer]</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00"/>
              <a:buFont typeface="Courier New"/>
              <a:buNone/>
            </a:pPr>
            <a:r>
              <a:rPr b="0" i="0" lang="en-US" sz="1000" u="none" cap="none" strike="noStrike">
                <a:solidFill>
                  <a:srgbClr val="FFFFFF"/>
                </a:solidFill>
                <a:latin typeface="Courier New"/>
                <a:ea typeface="Courier New"/>
                <a:cs typeface="Courier New"/>
                <a:sym typeface="Courier New"/>
              </a:rPr>
              <a:t>OnCalendar=*-*-* 02:00:00</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00"/>
              <a:buFont typeface="Courier New"/>
              <a:buNone/>
            </a:pPr>
            <a:r>
              <a:rPr b="0" i="0" lang="en-US" sz="1000" u="none" cap="none" strike="noStrike">
                <a:solidFill>
                  <a:srgbClr val="FFFFFF"/>
                </a:solidFill>
                <a:latin typeface="Courier New"/>
                <a:ea typeface="Courier New"/>
                <a:cs typeface="Courier New"/>
                <a:sym typeface="Courier New"/>
              </a:rPr>
              <a:t>Persistent=true</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00"/>
              <a:buFont typeface="Courier New"/>
              <a:buNone/>
            </a:pPr>
            <a:r>
              <a:rPr b="1" i="0" lang="en-US" sz="1000" u="none" cap="none" strike="noStrike">
                <a:solidFill>
                  <a:srgbClr val="F97316"/>
                </a:solidFill>
                <a:latin typeface="Courier New"/>
                <a:ea typeface="Courier New"/>
                <a:cs typeface="Courier New"/>
                <a:sym typeface="Courier New"/>
              </a:rPr>
              <a:t>[Install]</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00"/>
              <a:buFont typeface="Courier New"/>
              <a:buNone/>
            </a:pPr>
            <a:r>
              <a:rPr b="0" i="0" lang="en-US" sz="1000" u="none" cap="none" strike="noStrike">
                <a:solidFill>
                  <a:srgbClr val="FFFFFF"/>
                </a:solidFill>
                <a:latin typeface="Courier New"/>
                <a:ea typeface="Courier New"/>
                <a:cs typeface="Courier New"/>
                <a:sym typeface="Courier New"/>
              </a:rPr>
              <a:t>WantedBy=timers.target</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00"/>
              <a:buFont typeface="Calibri"/>
              <a:buNone/>
            </a:pPr>
            <a:r>
              <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00"/>
              <a:buFont typeface="Courier New"/>
              <a:buNone/>
            </a:pPr>
            <a:r>
              <a:rPr b="0" i="0" lang="en-US" sz="1000" u="none" cap="none" strike="noStrike">
                <a:solidFill>
                  <a:srgbClr val="38BDF8"/>
                </a:solidFill>
                <a:latin typeface="Courier New"/>
                <a:ea typeface="Courier New"/>
                <a:cs typeface="Courier New"/>
                <a:sym typeface="Courier New"/>
              </a:rPr>
              <a:t># backup.service runs the work</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00"/>
              <a:buFont typeface="Courier New"/>
              <a:buNone/>
            </a:pPr>
            <a:r>
              <a:rPr b="1" i="0" lang="en-US" sz="1000" u="none" cap="none" strike="noStrike">
                <a:solidFill>
                  <a:srgbClr val="F97316"/>
                </a:solidFill>
                <a:latin typeface="Courier New"/>
                <a:ea typeface="Courier New"/>
                <a:cs typeface="Courier New"/>
                <a:sym typeface="Courier New"/>
              </a:rPr>
              <a:t>[Service]</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00"/>
              <a:buFont typeface="Courier New"/>
              <a:buNone/>
            </a:pPr>
            <a:r>
              <a:rPr b="0" i="0" lang="en-US" sz="1000" u="none" cap="none" strike="noStrike">
                <a:solidFill>
                  <a:srgbClr val="FFFFFF"/>
                </a:solidFill>
                <a:latin typeface="Courier New"/>
                <a:ea typeface="Courier New"/>
                <a:cs typeface="Courier New"/>
                <a:sym typeface="Courier New"/>
              </a:rPr>
              <a:t>ExecStart=/opt/backup.sh</a:t>
            </a:r>
            <a:endParaRPr b="0" i="0" sz="1000" u="none" cap="none" strike="noStrike">
              <a:solidFill>
                <a:schemeClr val="dk1"/>
              </a:solidFill>
              <a:latin typeface="Calibri"/>
              <a:ea typeface="Calibri"/>
              <a:cs typeface="Calibri"/>
              <a:sym typeface="Calibri"/>
            </a:endParaRPr>
          </a:p>
        </p:txBody>
      </p:sp>
      <p:sp>
        <p:nvSpPr>
          <p:cNvPr id="1179" name="Google Shape;1179;p39"/>
          <p:cNvSpPr/>
          <p:nvPr/>
        </p:nvSpPr>
        <p:spPr>
          <a:xfrm>
            <a:off x="4846320" y="1371600"/>
            <a:ext cx="3840480" cy="2231136"/>
          </a:xfrm>
          <a:prstGeom prst="roundRect">
            <a:avLst>
              <a:gd fmla="val 2459"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39"/>
          <p:cNvSpPr/>
          <p:nvPr/>
        </p:nvSpPr>
        <p:spPr>
          <a:xfrm>
            <a:off x="5047488" y="1517904"/>
            <a:ext cx="34747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MANAGE &amp; INSPECT</a:t>
            </a:r>
            <a:endParaRPr b="0" i="0" sz="1250" u="none" cap="none" strike="noStrike">
              <a:solidFill>
                <a:schemeClr val="dk1"/>
              </a:solidFill>
              <a:latin typeface="Calibri"/>
              <a:ea typeface="Calibri"/>
              <a:cs typeface="Calibri"/>
              <a:sym typeface="Calibri"/>
            </a:endParaRPr>
          </a:p>
        </p:txBody>
      </p:sp>
      <p:sp>
        <p:nvSpPr>
          <p:cNvPr id="1181" name="Google Shape;1181;p39"/>
          <p:cNvSpPr/>
          <p:nvPr/>
        </p:nvSpPr>
        <p:spPr>
          <a:xfrm>
            <a:off x="504748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enable --now</a:t>
            </a:r>
            <a:endParaRPr b="0" i="0" sz="1150" u="none" cap="none" strike="noStrike">
              <a:solidFill>
                <a:schemeClr val="dk1"/>
              </a:solidFill>
              <a:latin typeface="Calibri"/>
              <a:ea typeface="Calibri"/>
              <a:cs typeface="Calibri"/>
              <a:sym typeface="Calibri"/>
            </a:endParaRPr>
          </a:p>
        </p:txBody>
      </p:sp>
      <p:sp>
        <p:nvSpPr>
          <p:cNvPr id="1182" name="Google Shape;1182;p39"/>
          <p:cNvSpPr/>
          <p:nvPr/>
        </p:nvSpPr>
        <p:spPr>
          <a:xfrm>
            <a:off x="6858000" y="1901952"/>
            <a:ext cx="158191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activate backup.timer</a:t>
            </a:r>
            <a:endParaRPr b="0" i="0" sz="1100" u="none" cap="none" strike="noStrike">
              <a:solidFill>
                <a:schemeClr val="dk1"/>
              </a:solidFill>
              <a:latin typeface="Calibri"/>
              <a:ea typeface="Calibri"/>
              <a:cs typeface="Calibri"/>
              <a:sym typeface="Calibri"/>
            </a:endParaRPr>
          </a:p>
        </p:txBody>
      </p:sp>
      <p:sp>
        <p:nvSpPr>
          <p:cNvPr id="1183" name="Google Shape;1183;p39"/>
          <p:cNvSpPr/>
          <p:nvPr/>
        </p:nvSpPr>
        <p:spPr>
          <a:xfrm>
            <a:off x="504748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list-timers</a:t>
            </a:r>
            <a:endParaRPr b="0" i="0" sz="1150" u="none" cap="none" strike="noStrike">
              <a:solidFill>
                <a:schemeClr val="dk1"/>
              </a:solidFill>
              <a:latin typeface="Calibri"/>
              <a:ea typeface="Calibri"/>
              <a:cs typeface="Calibri"/>
              <a:sym typeface="Calibri"/>
            </a:endParaRPr>
          </a:p>
        </p:txBody>
      </p:sp>
      <p:sp>
        <p:nvSpPr>
          <p:cNvPr id="1184" name="Google Shape;1184;p39"/>
          <p:cNvSpPr/>
          <p:nvPr/>
        </p:nvSpPr>
        <p:spPr>
          <a:xfrm>
            <a:off x="6858000" y="2304288"/>
            <a:ext cx="158191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next + last run of all timers</a:t>
            </a:r>
            <a:endParaRPr b="0" i="0" sz="1100" u="none" cap="none" strike="noStrike">
              <a:solidFill>
                <a:schemeClr val="dk1"/>
              </a:solidFill>
              <a:latin typeface="Calibri"/>
              <a:ea typeface="Calibri"/>
              <a:cs typeface="Calibri"/>
              <a:sym typeface="Calibri"/>
            </a:endParaRPr>
          </a:p>
        </p:txBody>
      </p:sp>
      <p:sp>
        <p:nvSpPr>
          <p:cNvPr id="1185" name="Google Shape;1185;p39"/>
          <p:cNvSpPr/>
          <p:nvPr/>
        </p:nvSpPr>
        <p:spPr>
          <a:xfrm>
            <a:off x="504748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OnCalendar=</a:t>
            </a:r>
            <a:endParaRPr b="0" i="0" sz="1150" u="none" cap="none" strike="noStrike">
              <a:solidFill>
                <a:schemeClr val="dk1"/>
              </a:solidFill>
              <a:latin typeface="Calibri"/>
              <a:ea typeface="Calibri"/>
              <a:cs typeface="Calibri"/>
              <a:sym typeface="Calibri"/>
            </a:endParaRPr>
          </a:p>
        </p:txBody>
      </p:sp>
      <p:sp>
        <p:nvSpPr>
          <p:cNvPr id="1186" name="Google Shape;1186;p39"/>
          <p:cNvSpPr/>
          <p:nvPr/>
        </p:nvSpPr>
        <p:spPr>
          <a:xfrm>
            <a:off x="6858000" y="2706624"/>
            <a:ext cx="158191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when (rich calendar syntax)</a:t>
            </a:r>
            <a:endParaRPr b="0" i="0" sz="1100" u="none" cap="none" strike="noStrike">
              <a:solidFill>
                <a:schemeClr val="dk1"/>
              </a:solidFill>
              <a:latin typeface="Calibri"/>
              <a:ea typeface="Calibri"/>
              <a:cs typeface="Calibri"/>
              <a:sym typeface="Calibri"/>
            </a:endParaRPr>
          </a:p>
        </p:txBody>
      </p:sp>
      <p:sp>
        <p:nvSpPr>
          <p:cNvPr id="1187" name="Google Shape;1187;p39"/>
          <p:cNvSpPr/>
          <p:nvPr/>
        </p:nvSpPr>
        <p:spPr>
          <a:xfrm>
            <a:off x="504748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Persistent=</a:t>
            </a:r>
            <a:endParaRPr b="0" i="0" sz="1150" u="none" cap="none" strike="noStrike">
              <a:solidFill>
                <a:schemeClr val="dk1"/>
              </a:solidFill>
              <a:latin typeface="Calibri"/>
              <a:ea typeface="Calibri"/>
              <a:cs typeface="Calibri"/>
              <a:sym typeface="Calibri"/>
            </a:endParaRPr>
          </a:p>
        </p:txBody>
      </p:sp>
      <p:sp>
        <p:nvSpPr>
          <p:cNvPr id="1188" name="Google Shape;1188;p39"/>
          <p:cNvSpPr/>
          <p:nvPr/>
        </p:nvSpPr>
        <p:spPr>
          <a:xfrm>
            <a:off x="6858000" y="3108960"/>
            <a:ext cx="158191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run missed jobs after downtime</a:t>
            </a:r>
            <a:endParaRPr b="0" i="0" sz="1100" u="none" cap="none" strike="noStrike">
              <a:solidFill>
                <a:schemeClr val="dk1"/>
              </a:solidFill>
              <a:latin typeface="Calibri"/>
              <a:ea typeface="Calibri"/>
              <a:cs typeface="Calibri"/>
              <a:sym typeface="Calibri"/>
            </a:endParaRPr>
          </a:p>
        </p:txBody>
      </p:sp>
      <p:sp>
        <p:nvSpPr>
          <p:cNvPr id="1189" name="Google Shape;1189;p39"/>
          <p:cNvSpPr/>
          <p:nvPr/>
        </p:nvSpPr>
        <p:spPr>
          <a:xfrm>
            <a:off x="4846320" y="3246120"/>
            <a:ext cx="3840480" cy="1371600"/>
          </a:xfrm>
          <a:prstGeom prst="roundRect">
            <a:avLst>
              <a:gd fmla="val 4667" name="adj"/>
            </a:avLst>
          </a:prstGeom>
          <a:solidFill>
            <a:srgbClr val="FFF7ED"/>
          </a:solidFill>
          <a:ln cap="flat" cmpd="sng" w="12700">
            <a:solidFill>
              <a:srgbClr val="F97316"/>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0" name="Google Shape;1190;p39"/>
          <p:cNvSpPr/>
          <p:nvPr/>
        </p:nvSpPr>
        <p:spPr>
          <a:xfrm>
            <a:off x="5029200" y="3337560"/>
            <a:ext cx="347472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250"/>
              <a:buFont typeface="Calibri"/>
              <a:buNone/>
            </a:pPr>
            <a:r>
              <a:rPr b="1" i="0" lang="en-US" sz="1250" u="none" cap="none" strike="noStrike">
                <a:solidFill>
                  <a:srgbClr val="C2410C"/>
                </a:solidFill>
                <a:latin typeface="Calibri"/>
                <a:ea typeface="Calibri"/>
                <a:cs typeface="Calibri"/>
                <a:sym typeface="Calibri"/>
              </a:rPr>
              <a:t>Why timers over cron?</a:t>
            </a:r>
            <a:endParaRPr b="0" i="0" sz="1250" u="none" cap="none" strike="noStrike">
              <a:solidFill>
                <a:schemeClr val="dk1"/>
              </a:solidFill>
              <a:latin typeface="Calibri"/>
              <a:ea typeface="Calibri"/>
              <a:cs typeface="Calibri"/>
              <a:sym typeface="Calibri"/>
            </a:endParaRPr>
          </a:p>
        </p:txBody>
      </p:sp>
      <p:sp>
        <p:nvSpPr>
          <p:cNvPr id="1191" name="Google Shape;1191;p39"/>
          <p:cNvSpPr/>
          <p:nvPr/>
        </p:nvSpPr>
        <p:spPr>
          <a:xfrm>
            <a:off x="5029200" y="3639312"/>
            <a:ext cx="3474720" cy="914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93B"/>
              </a:buClr>
              <a:buSzPts val="1150"/>
              <a:buFont typeface="Calibri"/>
              <a:buNone/>
            </a:pPr>
            <a:r>
              <a:rPr b="0" i="0" lang="en-US" sz="1150" u="none" cap="none" strike="noStrike">
                <a:solidFill>
                  <a:srgbClr val="1E293B"/>
                </a:solidFill>
                <a:latin typeface="Calibri"/>
                <a:ea typeface="Calibri"/>
                <a:cs typeface="Calibri"/>
                <a:sym typeface="Calibri"/>
              </a:rPr>
              <a:t>Logs go to journald, jobs can depend on other units, Persistent=true catches up missed runs, and OnCalendar is far more readable.</a:t>
            </a:r>
            <a:endParaRPr b="0" i="0" sz="1150" u="none" cap="none" strike="noStrike">
              <a:solidFill>
                <a:schemeClr val="dk1"/>
              </a:solidFill>
              <a:latin typeface="Calibri"/>
              <a:ea typeface="Calibri"/>
              <a:cs typeface="Calibri"/>
              <a:sym typeface="Calibri"/>
            </a:endParaRPr>
          </a:p>
        </p:txBody>
      </p:sp>
      <p:sp>
        <p:nvSpPr>
          <p:cNvPr id="1192" name="Google Shape;1192;p39"/>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1193" name="Google Shape;1193;p39"/>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4 · System Admin</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198" name="Shape 1198"/>
        <p:cNvGrpSpPr/>
        <p:nvPr/>
      </p:nvGrpSpPr>
      <p:grpSpPr>
        <a:xfrm>
          <a:off x="0" y="0"/>
          <a:ext cx="0" cy="0"/>
          <a:chOff x="0" y="0"/>
          <a:chExt cx="0" cy="0"/>
        </a:xfrm>
      </p:grpSpPr>
      <p:sp>
        <p:nvSpPr>
          <p:cNvPr id="1199" name="Google Shape;1199;p40"/>
          <p:cNvSpPr/>
          <p:nvPr/>
        </p:nvSpPr>
        <p:spPr>
          <a:xfrm>
            <a:off x="640080" y="960120"/>
            <a:ext cx="3657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97316"/>
              </a:buClr>
              <a:buSzPts val="1700"/>
              <a:buFont typeface="Calibri"/>
              <a:buNone/>
            </a:pPr>
            <a:r>
              <a:rPr b="1" i="0" lang="en-US" sz="1700" u="none" cap="none" strike="noStrike">
                <a:solidFill>
                  <a:srgbClr val="F97316"/>
                </a:solidFill>
                <a:latin typeface="Calibri"/>
                <a:ea typeface="Calibri"/>
                <a:cs typeface="Calibri"/>
                <a:sym typeface="Calibri"/>
              </a:rPr>
              <a:t>DAY 5</a:t>
            </a:r>
            <a:endParaRPr b="0" i="0" sz="1700" u="none" cap="none" strike="noStrike">
              <a:solidFill>
                <a:schemeClr val="dk1"/>
              </a:solidFill>
              <a:latin typeface="Calibri"/>
              <a:ea typeface="Calibri"/>
              <a:cs typeface="Calibri"/>
              <a:sym typeface="Calibri"/>
            </a:endParaRPr>
          </a:p>
        </p:txBody>
      </p:sp>
      <p:sp>
        <p:nvSpPr>
          <p:cNvPr id="1200" name="Google Shape;1200;p40"/>
          <p:cNvSpPr/>
          <p:nvPr/>
        </p:nvSpPr>
        <p:spPr>
          <a:xfrm>
            <a:off x="640080" y="1417320"/>
            <a:ext cx="676656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900"/>
              <a:buFont typeface="Bookman Old Style"/>
              <a:buNone/>
            </a:pPr>
            <a:r>
              <a:rPr b="1" i="0" lang="en-US" sz="3900" u="none" cap="none" strike="noStrike">
                <a:solidFill>
                  <a:srgbClr val="FFFFFF"/>
                </a:solidFill>
                <a:latin typeface="Bookman Old Style"/>
                <a:ea typeface="Bookman Old Style"/>
                <a:cs typeface="Bookman Old Style"/>
                <a:sym typeface="Bookman Old Style"/>
              </a:rPr>
              <a:t>Networking, Remote &amp; Transfer</a:t>
            </a:r>
            <a:endParaRPr b="0" i="0" sz="3900" u="none" cap="none" strike="noStrike">
              <a:solidFill>
                <a:schemeClr val="dk1"/>
              </a:solidFill>
              <a:latin typeface="Calibri"/>
              <a:ea typeface="Calibri"/>
              <a:cs typeface="Calibri"/>
              <a:sym typeface="Calibri"/>
            </a:endParaRPr>
          </a:p>
        </p:txBody>
      </p:sp>
      <p:sp>
        <p:nvSpPr>
          <p:cNvPr id="1201" name="Google Shape;1201;p40"/>
          <p:cNvSpPr/>
          <p:nvPr/>
        </p:nvSpPr>
        <p:spPr>
          <a:xfrm>
            <a:off x="658368" y="2487168"/>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500"/>
              <a:buFont typeface="Calibri"/>
              <a:buNone/>
            </a:pPr>
            <a:r>
              <a:rPr b="0" i="1" lang="en-US" sz="1500" u="none" cap="none" strike="noStrike">
                <a:solidFill>
                  <a:srgbClr val="94A3B8"/>
                </a:solidFill>
                <a:latin typeface="Calibri"/>
                <a:ea typeface="Calibri"/>
                <a:cs typeface="Calibri"/>
                <a:sym typeface="Calibri"/>
              </a:rPr>
              <a:t>Inspect the network, reach other machines safely, lock the door, and move files.</a:t>
            </a:r>
            <a:endParaRPr b="0" i="0" sz="1500" u="none" cap="none" strike="noStrike">
              <a:solidFill>
                <a:schemeClr val="dk1"/>
              </a:solidFill>
              <a:latin typeface="Calibri"/>
              <a:ea typeface="Calibri"/>
              <a:cs typeface="Calibri"/>
              <a:sym typeface="Calibri"/>
            </a:endParaRPr>
          </a:p>
        </p:txBody>
      </p:sp>
      <p:sp>
        <p:nvSpPr>
          <p:cNvPr id="1202" name="Google Shape;1202;p40"/>
          <p:cNvSpPr/>
          <p:nvPr/>
        </p:nvSpPr>
        <p:spPr>
          <a:xfrm>
            <a:off x="7315200" y="914400"/>
            <a:ext cx="1280160" cy="1280160"/>
          </a:xfrm>
          <a:prstGeom prst="ellipse">
            <a:avLst/>
          </a:prstGeom>
          <a:solidFill>
            <a:srgbClr val="1E293B"/>
          </a:solidFill>
          <a:ln cap="flat" cmpd="sng" w="1905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03" name="Google Shape;1203;p40"/>
          <p:cNvPicPr preferRelativeResize="0"/>
          <p:nvPr/>
        </p:nvPicPr>
        <p:blipFill rotWithShape="1">
          <a:blip r:embed="rId3">
            <a:alphaModFix/>
          </a:blip>
          <a:srcRect b="0" l="0" r="0" t="0"/>
          <a:stretch/>
        </p:blipFill>
        <p:spPr>
          <a:xfrm>
            <a:off x="7680960" y="1280160"/>
            <a:ext cx="548640" cy="548640"/>
          </a:xfrm>
          <a:prstGeom prst="rect">
            <a:avLst/>
          </a:prstGeom>
          <a:noFill/>
          <a:ln>
            <a:noFill/>
          </a:ln>
        </p:spPr>
      </p:pic>
      <p:sp>
        <p:nvSpPr>
          <p:cNvPr id="1204" name="Google Shape;1204;p40"/>
          <p:cNvSpPr/>
          <p:nvPr/>
        </p:nvSpPr>
        <p:spPr>
          <a:xfrm>
            <a:off x="640080" y="3383280"/>
            <a:ext cx="460858"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5" name="Google Shape;1205;p40"/>
          <p:cNvSpPr/>
          <p:nvPr/>
        </p:nvSpPr>
        <p:spPr>
          <a:xfrm>
            <a:off x="640080" y="3383280"/>
            <a:ext cx="460858"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ip</a:t>
            </a:r>
            <a:endParaRPr b="0" i="0" sz="1250" u="none" cap="none" strike="noStrike">
              <a:solidFill>
                <a:schemeClr val="dk1"/>
              </a:solidFill>
              <a:latin typeface="Calibri"/>
              <a:ea typeface="Calibri"/>
              <a:cs typeface="Calibri"/>
              <a:sym typeface="Calibri"/>
            </a:endParaRPr>
          </a:p>
        </p:txBody>
      </p:sp>
      <p:sp>
        <p:nvSpPr>
          <p:cNvPr id="1206" name="Google Shape;1206;p40"/>
          <p:cNvSpPr/>
          <p:nvPr/>
        </p:nvSpPr>
        <p:spPr>
          <a:xfrm>
            <a:off x="1265530" y="3383280"/>
            <a:ext cx="1133856"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p40"/>
          <p:cNvSpPr/>
          <p:nvPr/>
        </p:nvSpPr>
        <p:spPr>
          <a:xfrm>
            <a:off x="1265530" y="3383280"/>
            <a:ext cx="113385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ping / dig</a:t>
            </a:r>
            <a:endParaRPr b="0" i="0" sz="1250" u="none" cap="none" strike="noStrike">
              <a:solidFill>
                <a:schemeClr val="dk1"/>
              </a:solidFill>
              <a:latin typeface="Calibri"/>
              <a:ea typeface="Calibri"/>
              <a:cs typeface="Calibri"/>
              <a:sym typeface="Calibri"/>
            </a:endParaRPr>
          </a:p>
        </p:txBody>
      </p:sp>
      <p:sp>
        <p:nvSpPr>
          <p:cNvPr id="1208" name="Google Shape;1208;p40"/>
          <p:cNvSpPr/>
          <p:nvPr/>
        </p:nvSpPr>
        <p:spPr>
          <a:xfrm>
            <a:off x="2563978" y="3383280"/>
            <a:ext cx="460858"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9" name="Google Shape;1209;p40"/>
          <p:cNvSpPr/>
          <p:nvPr/>
        </p:nvSpPr>
        <p:spPr>
          <a:xfrm>
            <a:off x="2563978" y="3383280"/>
            <a:ext cx="460858"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ss</a:t>
            </a:r>
            <a:endParaRPr b="0" i="0" sz="1250" u="none" cap="none" strike="noStrike">
              <a:solidFill>
                <a:schemeClr val="dk1"/>
              </a:solidFill>
              <a:latin typeface="Calibri"/>
              <a:ea typeface="Calibri"/>
              <a:cs typeface="Calibri"/>
              <a:sym typeface="Calibri"/>
            </a:endParaRPr>
          </a:p>
        </p:txBody>
      </p:sp>
      <p:sp>
        <p:nvSpPr>
          <p:cNvPr id="1210" name="Google Shape;1210;p40"/>
          <p:cNvSpPr/>
          <p:nvPr/>
        </p:nvSpPr>
        <p:spPr>
          <a:xfrm>
            <a:off x="3189427" y="3383280"/>
            <a:ext cx="544982"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1" name="Google Shape;1211;p40"/>
          <p:cNvSpPr/>
          <p:nvPr/>
        </p:nvSpPr>
        <p:spPr>
          <a:xfrm>
            <a:off x="3189427" y="3383280"/>
            <a:ext cx="54498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ssh</a:t>
            </a:r>
            <a:endParaRPr b="0" i="0" sz="1250" u="none" cap="none" strike="noStrike">
              <a:solidFill>
                <a:schemeClr val="dk1"/>
              </a:solidFill>
              <a:latin typeface="Calibri"/>
              <a:ea typeface="Calibri"/>
              <a:cs typeface="Calibri"/>
              <a:sym typeface="Calibri"/>
            </a:endParaRPr>
          </a:p>
        </p:txBody>
      </p:sp>
      <p:sp>
        <p:nvSpPr>
          <p:cNvPr id="1212" name="Google Shape;1212;p40"/>
          <p:cNvSpPr/>
          <p:nvPr/>
        </p:nvSpPr>
        <p:spPr>
          <a:xfrm>
            <a:off x="3899002" y="3383280"/>
            <a:ext cx="544982"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3" name="Google Shape;1213;p40"/>
          <p:cNvSpPr/>
          <p:nvPr/>
        </p:nvSpPr>
        <p:spPr>
          <a:xfrm>
            <a:off x="3899002" y="3383280"/>
            <a:ext cx="54498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ufw</a:t>
            </a:r>
            <a:endParaRPr b="0" i="0" sz="1250" u="none" cap="none" strike="noStrike">
              <a:solidFill>
                <a:schemeClr val="dk1"/>
              </a:solidFill>
              <a:latin typeface="Calibri"/>
              <a:ea typeface="Calibri"/>
              <a:cs typeface="Calibri"/>
              <a:sym typeface="Calibri"/>
            </a:endParaRPr>
          </a:p>
        </p:txBody>
      </p:sp>
      <p:sp>
        <p:nvSpPr>
          <p:cNvPr id="1214" name="Google Shape;1214;p40"/>
          <p:cNvSpPr/>
          <p:nvPr/>
        </p:nvSpPr>
        <p:spPr>
          <a:xfrm>
            <a:off x="4608576" y="3383280"/>
            <a:ext cx="1217981"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5" name="Google Shape;1215;p40"/>
          <p:cNvSpPr/>
          <p:nvPr/>
        </p:nvSpPr>
        <p:spPr>
          <a:xfrm>
            <a:off x="4608576" y="3383280"/>
            <a:ext cx="1217981"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curl / wget</a:t>
            </a:r>
            <a:endParaRPr b="0" i="0" sz="1250" u="none" cap="none" strike="noStrike">
              <a:solidFill>
                <a:schemeClr val="dk1"/>
              </a:solidFill>
              <a:latin typeface="Calibri"/>
              <a:ea typeface="Calibri"/>
              <a:cs typeface="Calibri"/>
              <a:sym typeface="Calibri"/>
            </a:endParaRPr>
          </a:p>
        </p:txBody>
      </p:sp>
      <p:sp>
        <p:nvSpPr>
          <p:cNvPr id="1216" name="Google Shape;1216;p40"/>
          <p:cNvSpPr/>
          <p:nvPr/>
        </p:nvSpPr>
        <p:spPr>
          <a:xfrm>
            <a:off x="640080" y="457200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the command line is the DevOps workplace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21" name="Shape 1221"/>
        <p:cNvGrpSpPr/>
        <p:nvPr/>
      </p:nvGrpSpPr>
      <p:grpSpPr>
        <a:xfrm>
          <a:off x="0" y="0"/>
          <a:ext cx="0" cy="0"/>
          <a:chOff x="0" y="0"/>
          <a:chExt cx="0" cy="0"/>
        </a:xfrm>
      </p:grpSpPr>
      <p:sp>
        <p:nvSpPr>
          <p:cNvPr id="1222" name="Google Shape;1222;p41"/>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ip — addresses, routes, links</a:t>
            </a:r>
            <a:endParaRPr b="0" i="0" sz="2900" u="none" cap="none" strike="noStrike">
              <a:solidFill>
                <a:schemeClr val="dk1"/>
              </a:solidFill>
              <a:latin typeface="Calibri"/>
              <a:ea typeface="Calibri"/>
              <a:cs typeface="Calibri"/>
              <a:sym typeface="Calibri"/>
            </a:endParaRPr>
          </a:p>
        </p:txBody>
      </p:sp>
      <p:sp>
        <p:nvSpPr>
          <p:cNvPr id="1223" name="Google Shape;1223;p41"/>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24" name="Google Shape;1224;p41"/>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1225" name="Google Shape;1225;p41"/>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What's my IP? Why can't this box reach the gateway? The ip command answers both.</a:t>
            </a:r>
            <a:endParaRPr b="0" i="0" sz="1300" u="none" cap="none" strike="noStrike">
              <a:solidFill>
                <a:schemeClr val="dk1"/>
              </a:solidFill>
              <a:latin typeface="Calibri"/>
              <a:ea typeface="Calibri"/>
              <a:cs typeface="Calibri"/>
              <a:sym typeface="Calibri"/>
            </a:endParaRPr>
          </a:p>
        </p:txBody>
      </p:sp>
      <p:sp>
        <p:nvSpPr>
          <p:cNvPr id="1226" name="Google Shape;1226;p41"/>
          <p:cNvSpPr/>
          <p:nvPr/>
        </p:nvSpPr>
        <p:spPr>
          <a:xfrm>
            <a:off x="457200" y="1371600"/>
            <a:ext cx="4160520" cy="2633472"/>
          </a:xfrm>
          <a:prstGeom prst="roundRect">
            <a:avLst>
              <a:gd fmla="val 2083"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7" name="Google Shape;1227;p41"/>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ip &lt;object&gt;</a:t>
            </a:r>
            <a:endParaRPr b="0" i="0" sz="1250" u="none" cap="none" strike="noStrike">
              <a:solidFill>
                <a:schemeClr val="dk1"/>
              </a:solidFill>
              <a:latin typeface="Calibri"/>
              <a:ea typeface="Calibri"/>
              <a:cs typeface="Calibri"/>
              <a:sym typeface="Calibri"/>
            </a:endParaRPr>
          </a:p>
        </p:txBody>
      </p:sp>
      <p:sp>
        <p:nvSpPr>
          <p:cNvPr id="1228" name="Google Shape;1228;p41"/>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ip a</a:t>
            </a:r>
            <a:endParaRPr b="0" i="0" sz="1150" u="none" cap="none" strike="noStrike">
              <a:solidFill>
                <a:schemeClr val="dk1"/>
              </a:solidFill>
              <a:latin typeface="Calibri"/>
              <a:ea typeface="Calibri"/>
              <a:cs typeface="Calibri"/>
              <a:sym typeface="Calibri"/>
            </a:endParaRPr>
          </a:p>
        </p:txBody>
      </p:sp>
      <p:sp>
        <p:nvSpPr>
          <p:cNvPr id="1229" name="Google Shape;1229;p41"/>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addresses on every interface</a:t>
            </a:r>
            <a:endParaRPr b="0" i="0" sz="1100" u="none" cap="none" strike="noStrike">
              <a:solidFill>
                <a:schemeClr val="dk1"/>
              </a:solidFill>
              <a:latin typeface="Calibri"/>
              <a:ea typeface="Calibri"/>
              <a:cs typeface="Calibri"/>
              <a:sym typeface="Calibri"/>
            </a:endParaRPr>
          </a:p>
        </p:txBody>
      </p:sp>
      <p:sp>
        <p:nvSpPr>
          <p:cNvPr id="1230" name="Google Shape;1230;p41"/>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ip r</a:t>
            </a:r>
            <a:endParaRPr b="0" i="0" sz="1150" u="none" cap="none" strike="noStrike">
              <a:solidFill>
                <a:schemeClr val="dk1"/>
              </a:solidFill>
              <a:latin typeface="Calibri"/>
              <a:ea typeface="Calibri"/>
              <a:cs typeface="Calibri"/>
              <a:sym typeface="Calibri"/>
            </a:endParaRPr>
          </a:p>
        </p:txBody>
      </p:sp>
      <p:sp>
        <p:nvSpPr>
          <p:cNvPr id="1231" name="Google Shape;1231;p41"/>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routing table (default gateway)</a:t>
            </a:r>
            <a:endParaRPr b="0" i="0" sz="1100" u="none" cap="none" strike="noStrike">
              <a:solidFill>
                <a:schemeClr val="dk1"/>
              </a:solidFill>
              <a:latin typeface="Calibri"/>
              <a:ea typeface="Calibri"/>
              <a:cs typeface="Calibri"/>
              <a:sym typeface="Calibri"/>
            </a:endParaRPr>
          </a:p>
        </p:txBody>
      </p:sp>
      <p:sp>
        <p:nvSpPr>
          <p:cNvPr id="1232" name="Google Shape;1232;p41"/>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ip link</a:t>
            </a:r>
            <a:endParaRPr b="0" i="0" sz="1150" u="none" cap="none" strike="noStrike">
              <a:solidFill>
                <a:schemeClr val="dk1"/>
              </a:solidFill>
              <a:latin typeface="Calibri"/>
              <a:ea typeface="Calibri"/>
              <a:cs typeface="Calibri"/>
              <a:sym typeface="Calibri"/>
            </a:endParaRPr>
          </a:p>
        </p:txBody>
      </p:sp>
      <p:sp>
        <p:nvSpPr>
          <p:cNvPr id="1233" name="Google Shape;1233;p41"/>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interfaces up/down + MACs</a:t>
            </a:r>
            <a:endParaRPr b="0" i="0" sz="1100" u="none" cap="none" strike="noStrike">
              <a:solidFill>
                <a:schemeClr val="dk1"/>
              </a:solidFill>
              <a:latin typeface="Calibri"/>
              <a:ea typeface="Calibri"/>
              <a:cs typeface="Calibri"/>
              <a:sym typeface="Calibri"/>
            </a:endParaRPr>
          </a:p>
        </p:txBody>
      </p:sp>
      <p:sp>
        <p:nvSpPr>
          <p:cNvPr id="1234" name="Google Shape;1234;p41"/>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ip -br a</a:t>
            </a:r>
            <a:endParaRPr b="0" i="0" sz="1150" u="none" cap="none" strike="noStrike">
              <a:solidFill>
                <a:schemeClr val="dk1"/>
              </a:solidFill>
              <a:latin typeface="Calibri"/>
              <a:ea typeface="Calibri"/>
              <a:cs typeface="Calibri"/>
              <a:sym typeface="Calibri"/>
            </a:endParaRPr>
          </a:p>
        </p:txBody>
      </p:sp>
      <p:sp>
        <p:nvSpPr>
          <p:cNvPr id="1235" name="Google Shape;1235;p41"/>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brief, scannable address view</a:t>
            </a:r>
            <a:endParaRPr b="0" i="0" sz="1100" u="none" cap="none" strike="noStrike">
              <a:solidFill>
                <a:schemeClr val="dk1"/>
              </a:solidFill>
              <a:latin typeface="Calibri"/>
              <a:ea typeface="Calibri"/>
              <a:cs typeface="Calibri"/>
              <a:sym typeface="Calibri"/>
            </a:endParaRPr>
          </a:p>
        </p:txBody>
      </p:sp>
      <p:sp>
        <p:nvSpPr>
          <p:cNvPr id="1236" name="Google Shape;1236;p41"/>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hostname -I</a:t>
            </a:r>
            <a:endParaRPr b="0" i="0" sz="1150" u="none" cap="none" strike="noStrike">
              <a:solidFill>
                <a:schemeClr val="dk1"/>
              </a:solidFill>
              <a:latin typeface="Calibri"/>
              <a:ea typeface="Calibri"/>
              <a:cs typeface="Calibri"/>
              <a:sym typeface="Calibri"/>
            </a:endParaRPr>
          </a:p>
        </p:txBody>
      </p:sp>
      <p:sp>
        <p:nvSpPr>
          <p:cNvPr id="1237" name="Google Shape;1237;p41"/>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just my IP address(es)</a:t>
            </a:r>
            <a:endParaRPr b="0" i="0" sz="1100" u="none" cap="none" strike="noStrike">
              <a:solidFill>
                <a:schemeClr val="dk1"/>
              </a:solidFill>
              <a:latin typeface="Calibri"/>
              <a:ea typeface="Calibri"/>
              <a:cs typeface="Calibri"/>
              <a:sym typeface="Calibri"/>
            </a:endParaRPr>
          </a:p>
        </p:txBody>
      </p:sp>
      <p:sp>
        <p:nvSpPr>
          <p:cNvPr id="1238" name="Google Shape;1238;p41"/>
          <p:cNvSpPr/>
          <p:nvPr/>
        </p:nvSpPr>
        <p:spPr>
          <a:xfrm>
            <a:off x="4800600" y="1371600"/>
            <a:ext cx="3886200" cy="777240"/>
          </a:xfrm>
          <a:prstGeom prst="roundRect">
            <a:avLst>
              <a:gd fmla="val 7059" name="adj"/>
            </a:avLst>
          </a:prstGeom>
          <a:solidFill>
            <a:srgbClr val="F0FDFA"/>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9" name="Google Shape;1239;p41"/>
          <p:cNvSpPr/>
          <p:nvPr/>
        </p:nvSpPr>
        <p:spPr>
          <a:xfrm>
            <a:off x="4983480" y="1444752"/>
            <a:ext cx="356616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00"/>
              <a:buFont typeface="Calibri"/>
              <a:buNone/>
            </a:pPr>
            <a:r>
              <a:rPr b="1" i="0" lang="en-US" sz="1200" u="none" cap="none" strike="noStrike">
                <a:solidFill>
                  <a:srgbClr val="0F766E"/>
                </a:solidFill>
                <a:latin typeface="Calibri"/>
                <a:ea typeface="Calibri"/>
                <a:cs typeface="Calibri"/>
                <a:sym typeface="Calibri"/>
              </a:rPr>
              <a:t>Modern note:  </a:t>
            </a:r>
            <a:r>
              <a:rPr b="0" i="0" lang="en-US" sz="1200" u="none" cap="none" strike="noStrike">
                <a:solidFill>
                  <a:srgbClr val="1E293B"/>
                </a:solidFill>
                <a:latin typeface="Courier New"/>
                <a:ea typeface="Courier New"/>
                <a:cs typeface="Courier New"/>
                <a:sym typeface="Courier New"/>
              </a:rPr>
              <a:t>ip</a:t>
            </a:r>
            <a:r>
              <a:rPr b="0" i="0" lang="en-US" sz="1200" u="none" cap="none" strike="noStrike">
                <a:solidFill>
                  <a:srgbClr val="1E293B"/>
                </a:solidFill>
                <a:latin typeface="Calibri"/>
                <a:ea typeface="Calibri"/>
                <a:cs typeface="Calibri"/>
                <a:sym typeface="Calibri"/>
              </a:rPr>
              <a:t> replaces the old </a:t>
            </a:r>
            <a:r>
              <a:rPr b="0" i="0" lang="en-US" sz="1200" u="none" cap="none" strike="noStrike">
                <a:solidFill>
                  <a:srgbClr val="1E293B"/>
                </a:solidFill>
                <a:latin typeface="Courier New"/>
                <a:ea typeface="Courier New"/>
                <a:cs typeface="Courier New"/>
                <a:sym typeface="Courier New"/>
              </a:rPr>
              <a:t>ifconfig / route</a:t>
            </a:r>
            <a:r>
              <a:rPr b="0" i="0" lang="en-US" sz="1200" u="none" cap="none" strike="noStrike">
                <a:solidFill>
                  <a:srgbClr val="1E293B"/>
                </a:solidFill>
                <a:latin typeface="Calibri"/>
                <a:ea typeface="Calibri"/>
                <a:cs typeface="Calibri"/>
                <a:sym typeface="Calibri"/>
              </a:rPr>
              <a:t>. You'll still see those in old guides.</a:t>
            </a:r>
            <a:endParaRPr b="0" i="0" sz="1200" u="none" cap="none" strike="noStrike">
              <a:solidFill>
                <a:schemeClr val="dk1"/>
              </a:solidFill>
              <a:latin typeface="Calibri"/>
              <a:ea typeface="Calibri"/>
              <a:cs typeface="Calibri"/>
              <a:sym typeface="Calibri"/>
            </a:endParaRPr>
          </a:p>
        </p:txBody>
      </p:sp>
      <p:sp>
        <p:nvSpPr>
          <p:cNvPr id="1240" name="Google Shape;1240;p41"/>
          <p:cNvSpPr/>
          <p:nvPr/>
        </p:nvSpPr>
        <p:spPr>
          <a:xfrm>
            <a:off x="4800600" y="2286000"/>
            <a:ext cx="3886200" cy="2331720"/>
          </a:xfrm>
          <a:prstGeom prst="roundRect">
            <a:avLst>
              <a:gd fmla="val 3137"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1" name="Google Shape;1241;p41"/>
          <p:cNvSpPr/>
          <p:nvPr/>
        </p:nvSpPr>
        <p:spPr>
          <a:xfrm>
            <a:off x="4983480" y="24323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2" name="Google Shape;1242;p41"/>
          <p:cNvSpPr/>
          <p:nvPr/>
        </p:nvSpPr>
        <p:spPr>
          <a:xfrm>
            <a:off x="5129784" y="24323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3" name="Google Shape;1243;p41"/>
          <p:cNvSpPr/>
          <p:nvPr/>
        </p:nvSpPr>
        <p:spPr>
          <a:xfrm>
            <a:off x="5276088" y="24323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4" name="Google Shape;1244;p41"/>
          <p:cNvSpPr/>
          <p:nvPr/>
        </p:nvSpPr>
        <p:spPr>
          <a:xfrm>
            <a:off x="5440680" y="235915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you@server</a:t>
            </a:r>
            <a:endParaRPr b="0" i="0" sz="900" u="none" cap="none" strike="noStrike">
              <a:solidFill>
                <a:schemeClr val="dk1"/>
              </a:solidFill>
              <a:latin typeface="Calibri"/>
              <a:ea typeface="Calibri"/>
              <a:cs typeface="Calibri"/>
              <a:sym typeface="Calibri"/>
            </a:endParaRPr>
          </a:p>
        </p:txBody>
      </p:sp>
      <p:cxnSp>
        <p:nvCxnSpPr>
          <p:cNvPr id="1245" name="Google Shape;1245;p41"/>
          <p:cNvCxnSpPr/>
          <p:nvPr/>
        </p:nvCxnSpPr>
        <p:spPr>
          <a:xfrm>
            <a:off x="4800600" y="2651760"/>
            <a:ext cx="3886200" cy="0"/>
          </a:xfrm>
          <a:prstGeom prst="straightConnector1">
            <a:avLst/>
          </a:prstGeom>
          <a:noFill/>
          <a:ln cap="flat" cmpd="sng" w="12700">
            <a:solidFill>
              <a:srgbClr val="1E293B"/>
            </a:solidFill>
            <a:prstDash val="solid"/>
            <a:round/>
            <a:headEnd len="sm" w="sm" type="none"/>
            <a:tailEnd len="sm" w="sm" type="none"/>
          </a:ln>
        </p:spPr>
      </p:cxnSp>
      <p:sp>
        <p:nvSpPr>
          <p:cNvPr id="1246" name="Google Shape;1246;p41"/>
          <p:cNvSpPr/>
          <p:nvPr/>
        </p:nvSpPr>
        <p:spPr>
          <a:xfrm>
            <a:off x="5001768" y="2761488"/>
            <a:ext cx="3483864" cy="17465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ip -br a</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050"/>
              <a:buFont typeface="Courier New"/>
              <a:buNone/>
            </a:pPr>
            <a:r>
              <a:rPr b="0" i="0" lang="en-US" sz="1050" u="none" cap="none" strike="noStrike">
                <a:solidFill>
                  <a:srgbClr val="64748B"/>
                </a:solidFill>
                <a:latin typeface="Courier New"/>
                <a:ea typeface="Courier New"/>
                <a:cs typeface="Courier New"/>
                <a:sym typeface="Courier New"/>
              </a:rPr>
              <a:t>lo     UNKNOWN  127.0.0.1/8</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eth0   UP       10.0.1.23/24</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ip r</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default via 10.0.1.1 dev eth0</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64748B"/>
              </a:buClr>
              <a:buSzPts val="1050"/>
              <a:buFont typeface="Courier New"/>
              <a:buNone/>
            </a:pPr>
            <a:r>
              <a:rPr b="0" i="0" lang="en-US" sz="1050" u="none" cap="none" strike="noStrike">
                <a:solidFill>
                  <a:srgbClr val="64748B"/>
                </a:solidFill>
                <a:latin typeface="Courier New"/>
                <a:ea typeface="Courier New"/>
                <a:cs typeface="Courier New"/>
                <a:sym typeface="Courier New"/>
              </a:rPr>
              <a:t>10.0.1.0/24 dev eth0</a:t>
            </a:r>
            <a:endParaRPr b="0" i="0" sz="1050" u="none" cap="none" strike="noStrike">
              <a:solidFill>
                <a:schemeClr val="dk1"/>
              </a:solidFill>
              <a:latin typeface="Calibri"/>
              <a:ea typeface="Calibri"/>
              <a:cs typeface="Calibri"/>
              <a:sym typeface="Calibri"/>
            </a:endParaRPr>
          </a:p>
        </p:txBody>
      </p:sp>
      <p:sp>
        <p:nvSpPr>
          <p:cNvPr id="1247" name="Google Shape;1247;p41"/>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1248" name="Google Shape;1248;p41"/>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5 · Networking</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53" name="Shape 1253"/>
        <p:cNvGrpSpPr/>
        <p:nvPr/>
      </p:nvGrpSpPr>
      <p:grpSpPr>
        <a:xfrm>
          <a:off x="0" y="0"/>
          <a:ext cx="0" cy="0"/>
          <a:chOff x="0" y="0"/>
          <a:chExt cx="0" cy="0"/>
        </a:xfrm>
      </p:grpSpPr>
      <p:sp>
        <p:nvSpPr>
          <p:cNvPr id="1254" name="Google Shape;1254;p42"/>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Reachability, DNS &amp; open ports</a:t>
            </a:r>
            <a:endParaRPr b="0" i="0" sz="2900" u="none" cap="none" strike="noStrike">
              <a:solidFill>
                <a:schemeClr val="dk1"/>
              </a:solidFill>
              <a:latin typeface="Calibri"/>
              <a:ea typeface="Calibri"/>
              <a:cs typeface="Calibri"/>
              <a:sym typeface="Calibri"/>
            </a:endParaRPr>
          </a:p>
        </p:txBody>
      </p:sp>
      <p:sp>
        <p:nvSpPr>
          <p:cNvPr id="1255" name="Google Shape;1255;p42"/>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56" name="Google Shape;1256;p42"/>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1257" name="Google Shape;1257;p42"/>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"The site's down" — is it the network, DNS, or is nothing even listening on the port?</a:t>
            </a:r>
            <a:endParaRPr b="0" i="0" sz="1300" u="none" cap="none" strike="noStrike">
              <a:solidFill>
                <a:schemeClr val="dk1"/>
              </a:solidFill>
              <a:latin typeface="Calibri"/>
              <a:ea typeface="Calibri"/>
              <a:cs typeface="Calibri"/>
              <a:sym typeface="Calibri"/>
            </a:endParaRPr>
          </a:p>
        </p:txBody>
      </p:sp>
      <p:sp>
        <p:nvSpPr>
          <p:cNvPr id="1258" name="Google Shape;1258;p42"/>
          <p:cNvSpPr/>
          <p:nvPr/>
        </p:nvSpPr>
        <p:spPr>
          <a:xfrm>
            <a:off x="457200" y="1371600"/>
            <a:ext cx="4160520" cy="3035808"/>
          </a:xfrm>
          <a:prstGeom prst="roundRect">
            <a:avLst>
              <a:gd fmla="val 180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9" name="Google Shape;1259;p42"/>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DIAGNOSE</a:t>
            </a:r>
            <a:endParaRPr b="0" i="0" sz="1250" u="none" cap="none" strike="noStrike">
              <a:solidFill>
                <a:schemeClr val="dk1"/>
              </a:solidFill>
              <a:latin typeface="Calibri"/>
              <a:ea typeface="Calibri"/>
              <a:cs typeface="Calibri"/>
              <a:sym typeface="Calibri"/>
            </a:endParaRPr>
          </a:p>
        </p:txBody>
      </p:sp>
      <p:sp>
        <p:nvSpPr>
          <p:cNvPr id="1260" name="Google Shape;1260;p42"/>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ping host</a:t>
            </a:r>
            <a:endParaRPr b="0" i="0" sz="1150" u="none" cap="none" strike="noStrike">
              <a:solidFill>
                <a:schemeClr val="dk1"/>
              </a:solidFill>
              <a:latin typeface="Calibri"/>
              <a:ea typeface="Calibri"/>
              <a:cs typeface="Calibri"/>
              <a:sym typeface="Calibri"/>
            </a:endParaRPr>
          </a:p>
        </p:txBody>
      </p:sp>
      <p:sp>
        <p:nvSpPr>
          <p:cNvPr id="1261" name="Google Shape;1261;p42"/>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is it reachable? (ICMP)</a:t>
            </a:r>
            <a:endParaRPr b="0" i="0" sz="1100" u="none" cap="none" strike="noStrike">
              <a:solidFill>
                <a:schemeClr val="dk1"/>
              </a:solidFill>
              <a:latin typeface="Calibri"/>
              <a:ea typeface="Calibri"/>
              <a:cs typeface="Calibri"/>
              <a:sym typeface="Calibri"/>
            </a:endParaRPr>
          </a:p>
        </p:txBody>
      </p:sp>
      <p:sp>
        <p:nvSpPr>
          <p:cNvPr id="1262" name="Google Shape;1262;p42"/>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dig +short x</a:t>
            </a:r>
            <a:endParaRPr b="0" i="0" sz="1150" u="none" cap="none" strike="noStrike">
              <a:solidFill>
                <a:schemeClr val="dk1"/>
              </a:solidFill>
              <a:latin typeface="Calibri"/>
              <a:ea typeface="Calibri"/>
              <a:cs typeface="Calibri"/>
              <a:sym typeface="Calibri"/>
            </a:endParaRPr>
          </a:p>
        </p:txBody>
      </p:sp>
      <p:sp>
        <p:nvSpPr>
          <p:cNvPr id="1263" name="Google Shape;1263;p42"/>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resolve name → IP, terse</a:t>
            </a:r>
            <a:endParaRPr b="0" i="0" sz="1100" u="none" cap="none" strike="noStrike">
              <a:solidFill>
                <a:schemeClr val="dk1"/>
              </a:solidFill>
              <a:latin typeface="Calibri"/>
              <a:ea typeface="Calibri"/>
              <a:cs typeface="Calibri"/>
              <a:sym typeface="Calibri"/>
            </a:endParaRPr>
          </a:p>
        </p:txBody>
      </p:sp>
      <p:sp>
        <p:nvSpPr>
          <p:cNvPr id="1264" name="Google Shape;1264;p42"/>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dig MX x</a:t>
            </a:r>
            <a:endParaRPr b="0" i="0" sz="1150" u="none" cap="none" strike="noStrike">
              <a:solidFill>
                <a:schemeClr val="dk1"/>
              </a:solidFill>
              <a:latin typeface="Calibri"/>
              <a:ea typeface="Calibri"/>
              <a:cs typeface="Calibri"/>
              <a:sym typeface="Calibri"/>
            </a:endParaRPr>
          </a:p>
        </p:txBody>
      </p:sp>
      <p:sp>
        <p:nvSpPr>
          <p:cNvPr id="1265" name="Google Shape;1265;p42"/>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specific record type</a:t>
            </a:r>
            <a:endParaRPr b="0" i="0" sz="1100" u="none" cap="none" strike="noStrike">
              <a:solidFill>
                <a:schemeClr val="dk1"/>
              </a:solidFill>
              <a:latin typeface="Calibri"/>
              <a:ea typeface="Calibri"/>
              <a:cs typeface="Calibri"/>
              <a:sym typeface="Calibri"/>
            </a:endParaRPr>
          </a:p>
        </p:txBody>
      </p:sp>
      <p:sp>
        <p:nvSpPr>
          <p:cNvPr id="1266" name="Google Shape;1266;p42"/>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ss -tulpn</a:t>
            </a:r>
            <a:endParaRPr b="0" i="0" sz="1150" u="none" cap="none" strike="noStrike">
              <a:solidFill>
                <a:schemeClr val="dk1"/>
              </a:solidFill>
              <a:latin typeface="Calibri"/>
              <a:ea typeface="Calibri"/>
              <a:cs typeface="Calibri"/>
              <a:sym typeface="Calibri"/>
            </a:endParaRPr>
          </a:p>
        </p:txBody>
      </p:sp>
      <p:sp>
        <p:nvSpPr>
          <p:cNvPr id="1267" name="Google Shape;1267;p42"/>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listening TCP/UDP ports + PID</a:t>
            </a:r>
            <a:endParaRPr b="0" i="0" sz="1100" u="none" cap="none" strike="noStrike">
              <a:solidFill>
                <a:schemeClr val="dk1"/>
              </a:solidFill>
              <a:latin typeface="Calibri"/>
              <a:ea typeface="Calibri"/>
              <a:cs typeface="Calibri"/>
              <a:sym typeface="Calibri"/>
            </a:endParaRPr>
          </a:p>
        </p:txBody>
      </p:sp>
      <p:sp>
        <p:nvSpPr>
          <p:cNvPr id="1268" name="Google Shape;1268;p42"/>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netstat -tulpn</a:t>
            </a:r>
            <a:endParaRPr b="0" i="0" sz="1150" u="none" cap="none" strike="noStrike">
              <a:solidFill>
                <a:schemeClr val="dk1"/>
              </a:solidFill>
              <a:latin typeface="Calibri"/>
              <a:ea typeface="Calibri"/>
              <a:cs typeface="Calibri"/>
              <a:sym typeface="Calibri"/>
            </a:endParaRPr>
          </a:p>
        </p:txBody>
      </p:sp>
      <p:sp>
        <p:nvSpPr>
          <p:cNvPr id="1269" name="Google Shape;1269;p42"/>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older equivalent of ss</a:t>
            </a:r>
            <a:endParaRPr b="0" i="0" sz="1100" u="none" cap="none" strike="noStrike">
              <a:solidFill>
                <a:schemeClr val="dk1"/>
              </a:solidFill>
              <a:latin typeface="Calibri"/>
              <a:ea typeface="Calibri"/>
              <a:cs typeface="Calibri"/>
              <a:sym typeface="Calibri"/>
            </a:endParaRPr>
          </a:p>
        </p:txBody>
      </p:sp>
      <p:sp>
        <p:nvSpPr>
          <p:cNvPr id="1270" name="Google Shape;1270;p42"/>
          <p:cNvSpPr/>
          <p:nvPr/>
        </p:nvSpPr>
        <p:spPr>
          <a:xfrm>
            <a:off x="65836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curl -I url</a:t>
            </a:r>
            <a:endParaRPr b="0" i="0" sz="1150" u="none" cap="none" strike="noStrike">
              <a:solidFill>
                <a:schemeClr val="dk1"/>
              </a:solidFill>
              <a:latin typeface="Calibri"/>
              <a:ea typeface="Calibri"/>
              <a:cs typeface="Calibri"/>
              <a:sym typeface="Calibri"/>
            </a:endParaRPr>
          </a:p>
        </p:txBody>
      </p:sp>
      <p:sp>
        <p:nvSpPr>
          <p:cNvPr id="1271" name="Google Shape;1271;p42"/>
          <p:cNvSpPr/>
          <p:nvPr/>
        </p:nvSpPr>
        <p:spPr>
          <a:xfrm>
            <a:off x="2468880" y="391363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headers only — is HTTP alive?</a:t>
            </a:r>
            <a:endParaRPr b="0" i="0" sz="1100" u="none" cap="none" strike="noStrike">
              <a:solidFill>
                <a:schemeClr val="dk1"/>
              </a:solidFill>
              <a:latin typeface="Calibri"/>
              <a:ea typeface="Calibri"/>
              <a:cs typeface="Calibri"/>
              <a:sym typeface="Calibri"/>
            </a:endParaRPr>
          </a:p>
        </p:txBody>
      </p:sp>
      <p:sp>
        <p:nvSpPr>
          <p:cNvPr id="1272" name="Google Shape;1272;p42"/>
          <p:cNvSpPr/>
          <p:nvPr/>
        </p:nvSpPr>
        <p:spPr>
          <a:xfrm>
            <a:off x="4800600" y="1371600"/>
            <a:ext cx="3886200" cy="3246120"/>
          </a:xfrm>
          <a:prstGeom prst="roundRect">
            <a:avLst>
              <a:gd fmla="val 225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3" name="Google Shape;1273;p42"/>
          <p:cNvSpPr/>
          <p:nvPr/>
        </p:nvSpPr>
        <p:spPr>
          <a:xfrm>
            <a:off x="49834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4" name="Google Shape;1274;p42"/>
          <p:cNvSpPr/>
          <p:nvPr/>
        </p:nvSpPr>
        <p:spPr>
          <a:xfrm>
            <a:off x="51297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5" name="Google Shape;1275;p42"/>
          <p:cNvSpPr/>
          <p:nvPr/>
        </p:nvSpPr>
        <p:spPr>
          <a:xfrm>
            <a:off x="52760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6" name="Google Shape;1276;p42"/>
          <p:cNvSpPr/>
          <p:nvPr/>
        </p:nvSpPr>
        <p:spPr>
          <a:xfrm>
            <a:off x="5440680" y="144475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you@server</a:t>
            </a:r>
            <a:endParaRPr b="0" i="0" sz="900" u="none" cap="none" strike="noStrike">
              <a:solidFill>
                <a:schemeClr val="dk1"/>
              </a:solidFill>
              <a:latin typeface="Calibri"/>
              <a:ea typeface="Calibri"/>
              <a:cs typeface="Calibri"/>
              <a:sym typeface="Calibri"/>
            </a:endParaRPr>
          </a:p>
        </p:txBody>
      </p:sp>
      <p:cxnSp>
        <p:nvCxnSpPr>
          <p:cNvPr id="1277" name="Google Shape;1277;p42"/>
          <p:cNvCxnSpPr/>
          <p:nvPr/>
        </p:nvCxnSpPr>
        <p:spPr>
          <a:xfrm>
            <a:off x="4800600" y="1737360"/>
            <a:ext cx="3886200" cy="0"/>
          </a:xfrm>
          <a:prstGeom prst="straightConnector1">
            <a:avLst/>
          </a:prstGeom>
          <a:noFill/>
          <a:ln cap="flat" cmpd="sng" w="12700">
            <a:solidFill>
              <a:srgbClr val="1E293B"/>
            </a:solidFill>
            <a:prstDash val="solid"/>
            <a:round/>
            <a:headEnd len="sm" w="sm" type="none"/>
            <a:tailEnd len="sm" w="sm" type="none"/>
          </a:ln>
        </p:spPr>
      </p:cxnSp>
      <p:sp>
        <p:nvSpPr>
          <p:cNvPr id="1278" name="Google Shape;1278;p42"/>
          <p:cNvSpPr/>
          <p:nvPr/>
        </p:nvSpPr>
        <p:spPr>
          <a:xfrm>
            <a:off x="5001768" y="1847088"/>
            <a:ext cx="3483864" cy="26609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dig +short api.example.com</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203.0.113.42</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ping -c 2 203.0.113.42</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64 bytes ... time=11.4 ms</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is anything listening on 8080?</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ss -tulpn | grep 8080</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tcp LISTEN 0 511 *:8080 users:</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  (("myapp",pid=9650))</a:t>
            </a:r>
            <a:endParaRPr b="0" i="0" sz="1050" u="none" cap="none" strike="noStrike">
              <a:solidFill>
                <a:schemeClr val="dk1"/>
              </a:solidFill>
              <a:latin typeface="Calibri"/>
              <a:ea typeface="Calibri"/>
              <a:cs typeface="Calibri"/>
              <a:sym typeface="Calibri"/>
            </a:endParaRPr>
          </a:p>
        </p:txBody>
      </p:sp>
      <p:sp>
        <p:nvSpPr>
          <p:cNvPr id="1279" name="Google Shape;1279;p42"/>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1280" name="Google Shape;1280;p42"/>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5 · Networking</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285" name="Shape 1285"/>
        <p:cNvGrpSpPr/>
        <p:nvPr/>
      </p:nvGrpSpPr>
      <p:grpSpPr>
        <a:xfrm>
          <a:off x="0" y="0"/>
          <a:ext cx="0" cy="0"/>
          <a:chOff x="0" y="0"/>
          <a:chExt cx="0" cy="0"/>
        </a:xfrm>
      </p:grpSpPr>
      <p:sp>
        <p:nvSpPr>
          <p:cNvPr id="1286" name="Google Shape;1286;p43"/>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ssh — your way into every server</a:t>
            </a:r>
            <a:endParaRPr b="0" i="0" sz="2900" u="none" cap="none" strike="noStrike">
              <a:solidFill>
                <a:schemeClr val="dk1"/>
              </a:solidFill>
              <a:latin typeface="Calibri"/>
              <a:ea typeface="Calibri"/>
              <a:cs typeface="Calibri"/>
              <a:sym typeface="Calibri"/>
            </a:endParaRPr>
          </a:p>
        </p:txBody>
      </p:sp>
      <p:sp>
        <p:nvSpPr>
          <p:cNvPr id="1287" name="Google Shape;1287;p43"/>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88" name="Google Shape;1288;p43"/>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1289" name="Google Shape;1289;p43"/>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You will never sit at a server. SSH is the encrypted door to all of them.</a:t>
            </a:r>
            <a:endParaRPr b="0" i="0" sz="1300" u="none" cap="none" strike="noStrike">
              <a:solidFill>
                <a:schemeClr val="dk1"/>
              </a:solidFill>
              <a:latin typeface="Calibri"/>
              <a:ea typeface="Calibri"/>
              <a:cs typeface="Calibri"/>
              <a:sym typeface="Calibri"/>
            </a:endParaRPr>
          </a:p>
        </p:txBody>
      </p:sp>
      <p:sp>
        <p:nvSpPr>
          <p:cNvPr id="1290" name="Google Shape;1290;p43"/>
          <p:cNvSpPr/>
          <p:nvPr/>
        </p:nvSpPr>
        <p:spPr>
          <a:xfrm>
            <a:off x="457200" y="1371600"/>
            <a:ext cx="4160520" cy="3035808"/>
          </a:xfrm>
          <a:prstGeom prst="roundRect">
            <a:avLst>
              <a:gd fmla="val 180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p43"/>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SSH TOOLKIT</a:t>
            </a:r>
            <a:endParaRPr b="0" i="0" sz="1250" u="none" cap="none" strike="noStrike">
              <a:solidFill>
                <a:schemeClr val="dk1"/>
              </a:solidFill>
              <a:latin typeface="Calibri"/>
              <a:ea typeface="Calibri"/>
              <a:cs typeface="Calibri"/>
              <a:sym typeface="Calibri"/>
            </a:endParaRPr>
          </a:p>
        </p:txBody>
      </p:sp>
      <p:sp>
        <p:nvSpPr>
          <p:cNvPr id="1292" name="Google Shape;1292;p43"/>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ssh u@host</a:t>
            </a:r>
            <a:endParaRPr b="0" i="0" sz="1150" u="none" cap="none" strike="noStrike">
              <a:solidFill>
                <a:schemeClr val="dk1"/>
              </a:solidFill>
              <a:latin typeface="Calibri"/>
              <a:ea typeface="Calibri"/>
              <a:cs typeface="Calibri"/>
              <a:sym typeface="Calibri"/>
            </a:endParaRPr>
          </a:p>
        </p:txBody>
      </p:sp>
      <p:sp>
        <p:nvSpPr>
          <p:cNvPr id="1293" name="Google Shape;1293;p43"/>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log in</a:t>
            </a:r>
            <a:endParaRPr b="0" i="0" sz="1100" u="none" cap="none" strike="noStrike">
              <a:solidFill>
                <a:schemeClr val="dk1"/>
              </a:solidFill>
              <a:latin typeface="Calibri"/>
              <a:ea typeface="Calibri"/>
              <a:cs typeface="Calibri"/>
              <a:sym typeface="Calibri"/>
            </a:endParaRPr>
          </a:p>
        </p:txBody>
      </p:sp>
      <p:sp>
        <p:nvSpPr>
          <p:cNvPr id="1294" name="Google Shape;1294;p43"/>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ssh -i key</a:t>
            </a:r>
            <a:endParaRPr b="0" i="0" sz="1150" u="none" cap="none" strike="noStrike">
              <a:solidFill>
                <a:schemeClr val="dk1"/>
              </a:solidFill>
              <a:latin typeface="Calibri"/>
              <a:ea typeface="Calibri"/>
              <a:cs typeface="Calibri"/>
              <a:sym typeface="Calibri"/>
            </a:endParaRPr>
          </a:p>
        </p:txBody>
      </p:sp>
      <p:sp>
        <p:nvSpPr>
          <p:cNvPr id="1295" name="Google Shape;1295;p43"/>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use a specific private key</a:t>
            </a:r>
            <a:endParaRPr b="0" i="0" sz="1100" u="none" cap="none" strike="noStrike">
              <a:solidFill>
                <a:schemeClr val="dk1"/>
              </a:solidFill>
              <a:latin typeface="Calibri"/>
              <a:ea typeface="Calibri"/>
              <a:cs typeface="Calibri"/>
              <a:sym typeface="Calibri"/>
            </a:endParaRPr>
          </a:p>
        </p:txBody>
      </p:sp>
      <p:sp>
        <p:nvSpPr>
          <p:cNvPr id="1296" name="Google Shape;1296;p43"/>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ssh-keygen</a:t>
            </a:r>
            <a:endParaRPr b="0" i="0" sz="1150" u="none" cap="none" strike="noStrike">
              <a:solidFill>
                <a:schemeClr val="dk1"/>
              </a:solidFill>
              <a:latin typeface="Calibri"/>
              <a:ea typeface="Calibri"/>
              <a:cs typeface="Calibri"/>
              <a:sym typeface="Calibri"/>
            </a:endParaRPr>
          </a:p>
        </p:txBody>
      </p:sp>
      <p:sp>
        <p:nvSpPr>
          <p:cNvPr id="1297" name="Google Shape;1297;p43"/>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make a keypair (-t ed25519)</a:t>
            </a:r>
            <a:endParaRPr b="0" i="0" sz="1100" u="none" cap="none" strike="noStrike">
              <a:solidFill>
                <a:schemeClr val="dk1"/>
              </a:solidFill>
              <a:latin typeface="Calibri"/>
              <a:ea typeface="Calibri"/>
              <a:cs typeface="Calibri"/>
              <a:sym typeface="Calibri"/>
            </a:endParaRPr>
          </a:p>
        </p:txBody>
      </p:sp>
      <p:sp>
        <p:nvSpPr>
          <p:cNvPr id="1298" name="Google Shape;1298;p43"/>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ssh-copy-id</a:t>
            </a:r>
            <a:endParaRPr b="0" i="0" sz="1150" u="none" cap="none" strike="noStrike">
              <a:solidFill>
                <a:schemeClr val="dk1"/>
              </a:solidFill>
              <a:latin typeface="Calibri"/>
              <a:ea typeface="Calibri"/>
              <a:cs typeface="Calibri"/>
              <a:sym typeface="Calibri"/>
            </a:endParaRPr>
          </a:p>
        </p:txBody>
      </p:sp>
      <p:sp>
        <p:nvSpPr>
          <p:cNvPr id="1299" name="Google Shape;1299;p43"/>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install your key on a host</a:t>
            </a:r>
            <a:endParaRPr b="0" i="0" sz="1100" u="none" cap="none" strike="noStrike">
              <a:solidFill>
                <a:schemeClr val="dk1"/>
              </a:solidFill>
              <a:latin typeface="Calibri"/>
              <a:ea typeface="Calibri"/>
              <a:cs typeface="Calibri"/>
              <a:sym typeface="Calibri"/>
            </a:endParaRPr>
          </a:p>
        </p:txBody>
      </p:sp>
      <p:sp>
        <p:nvSpPr>
          <p:cNvPr id="1300" name="Google Shape;1300;p43"/>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scp f u@h:/p</a:t>
            </a:r>
            <a:endParaRPr b="0" i="0" sz="1150" u="none" cap="none" strike="noStrike">
              <a:solidFill>
                <a:schemeClr val="dk1"/>
              </a:solidFill>
              <a:latin typeface="Calibri"/>
              <a:ea typeface="Calibri"/>
              <a:cs typeface="Calibri"/>
              <a:sym typeface="Calibri"/>
            </a:endParaRPr>
          </a:p>
        </p:txBody>
      </p:sp>
      <p:sp>
        <p:nvSpPr>
          <p:cNvPr id="1301" name="Google Shape;1301;p43"/>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copy files over SSH</a:t>
            </a:r>
            <a:endParaRPr b="0" i="0" sz="1100" u="none" cap="none" strike="noStrike">
              <a:solidFill>
                <a:schemeClr val="dk1"/>
              </a:solidFill>
              <a:latin typeface="Calibri"/>
              <a:ea typeface="Calibri"/>
              <a:cs typeface="Calibri"/>
              <a:sym typeface="Calibri"/>
            </a:endParaRPr>
          </a:p>
        </p:txBody>
      </p:sp>
      <p:sp>
        <p:nvSpPr>
          <p:cNvPr id="1302" name="Google Shape;1302;p43"/>
          <p:cNvSpPr/>
          <p:nvPr/>
        </p:nvSpPr>
        <p:spPr>
          <a:xfrm>
            <a:off x="65836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ssh u@h 'cmd'</a:t>
            </a:r>
            <a:endParaRPr b="0" i="0" sz="1150" u="none" cap="none" strike="noStrike">
              <a:solidFill>
                <a:schemeClr val="dk1"/>
              </a:solidFill>
              <a:latin typeface="Calibri"/>
              <a:ea typeface="Calibri"/>
              <a:cs typeface="Calibri"/>
              <a:sym typeface="Calibri"/>
            </a:endParaRPr>
          </a:p>
        </p:txBody>
      </p:sp>
      <p:sp>
        <p:nvSpPr>
          <p:cNvPr id="1303" name="Google Shape;1303;p43"/>
          <p:cNvSpPr/>
          <p:nvPr/>
        </p:nvSpPr>
        <p:spPr>
          <a:xfrm>
            <a:off x="2468880" y="391363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run one command remotely</a:t>
            </a:r>
            <a:endParaRPr b="0" i="0" sz="1100" u="none" cap="none" strike="noStrike">
              <a:solidFill>
                <a:schemeClr val="dk1"/>
              </a:solidFill>
              <a:latin typeface="Calibri"/>
              <a:ea typeface="Calibri"/>
              <a:cs typeface="Calibri"/>
              <a:sym typeface="Calibri"/>
            </a:endParaRPr>
          </a:p>
        </p:txBody>
      </p:sp>
      <p:sp>
        <p:nvSpPr>
          <p:cNvPr id="1304" name="Google Shape;1304;p43"/>
          <p:cNvSpPr/>
          <p:nvPr/>
        </p:nvSpPr>
        <p:spPr>
          <a:xfrm>
            <a:off x="4800600" y="1371600"/>
            <a:ext cx="3886200" cy="1691640"/>
          </a:xfrm>
          <a:prstGeom prst="roundRect">
            <a:avLst>
              <a:gd fmla="val 432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5" name="Google Shape;1305;p43"/>
          <p:cNvSpPr/>
          <p:nvPr/>
        </p:nvSpPr>
        <p:spPr>
          <a:xfrm>
            <a:off x="49834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p43"/>
          <p:cNvSpPr/>
          <p:nvPr/>
        </p:nvSpPr>
        <p:spPr>
          <a:xfrm>
            <a:off x="51297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7" name="Google Shape;1307;p43"/>
          <p:cNvSpPr/>
          <p:nvPr/>
        </p:nvSpPr>
        <p:spPr>
          <a:xfrm>
            <a:off x="52760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8" name="Google Shape;1308;p43"/>
          <p:cNvSpPr/>
          <p:nvPr/>
        </p:nvSpPr>
        <p:spPr>
          <a:xfrm>
            <a:off x="5440680" y="144475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~/.ssh/config</a:t>
            </a:r>
            <a:endParaRPr b="0" i="0" sz="900" u="none" cap="none" strike="noStrike">
              <a:solidFill>
                <a:schemeClr val="dk1"/>
              </a:solidFill>
              <a:latin typeface="Calibri"/>
              <a:ea typeface="Calibri"/>
              <a:cs typeface="Calibri"/>
              <a:sym typeface="Calibri"/>
            </a:endParaRPr>
          </a:p>
        </p:txBody>
      </p:sp>
      <p:cxnSp>
        <p:nvCxnSpPr>
          <p:cNvPr id="1309" name="Google Shape;1309;p43"/>
          <p:cNvCxnSpPr/>
          <p:nvPr/>
        </p:nvCxnSpPr>
        <p:spPr>
          <a:xfrm>
            <a:off x="4800600" y="1737360"/>
            <a:ext cx="3886200" cy="0"/>
          </a:xfrm>
          <a:prstGeom prst="straightConnector1">
            <a:avLst/>
          </a:prstGeom>
          <a:noFill/>
          <a:ln cap="flat" cmpd="sng" w="12700">
            <a:solidFill>
              <a:srgbClr val="1E293B"/>
            </a:solidFill>
            <a:prstDash val="solid"/>
            <a:round/>
            <a:headEnd len="sm" w="sm" type="none"/>
            <a:tailEnd len="sm" w="sm" type="none"/>
          </a:ln>
        </p:spPr>
      </p:cxnSp>
      <p:sp>
        <p:nvSpPr>
          <p:cNvPr id="1310" name="Google Shape;1310;p43"/>
          <p:cNvSpPr/>
          <p:nvPr/>
        </p:nvSpPr>
        <p:spPr>
          <a:xfrm>
            <a:off x="5001768" y="1847088"/>
            <a:ext cx="3483864" cy="110642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F97316"/>
              </a:buClr>
              <a:buSzPts val="1000"/>
              <a:buFont typeface="Courier New"/>
              <a:buNone/>
            </a:pPr>
            <a:r>
              <a:rPr b="1" i="0" lang="en-US" sz="1000" u="none" cap="none" strike="noStrike">
                <a:solidFill>
                  <a:srgbClr val="F97316"/>
                </a:solidFill>
                <a:latin typeface="Courier New"/>
                <a:ea typeface="Courier New"/>
                <a:cs typeface="Courier New"/>
                <a:sym typeface="Courier New"/>
              </a:rPr>
              <a:t>Host prod</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00"/>
              <a:buFont typeface="Courier New"/>
              <a:buNone/>
            </a:pPr>
            <a:r>
              <a:rPr b="0" i="0" lang="en-US" sz="1000" u="none" cap="none" strike="noStrike">
                <a:solidFill>
                  <a:srgbClr val="FFFFFF"/>
                </a:solidFill>
                <a:latin typeface="Courier New"/>
                <a:ea typeface="Courier New"/>
                <a:cs typeface="Courier New"/>
                <a:sym typeface="Courier New"/>
              </a:rPr>
              <a:t>  HostName 203.0.113.42</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00"/>
              <a:buFont typeface="Courier New"/>
              <a:buNone/>
            </a:pPr>
            <a:r>
              <a:rPr b="0" i="0" lang="en-US" sz="1000" u="none" cap="none" strike="noStrike">
                <a:solidFill>
                  <a:srgbClr val="FFFFFF"/>
                </a:solidFill>
                <a:latin typeface="Courier New"/>
                <a:ea typeface="Courier New"/>
                <a:cs typeface="Courier New"/>
                <a:sym typeface="Courier New"/>
              </a:rPr>
              <a:t>  User deploy</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00"/>
              <a:buFont typeface="Courier New"/>
              <a:buNone/>
            </a:pPr>
            <a:r>
              <a:rPr b="0" i="0" lang="en-US" sz="1000" u="none" cap="none" strike="noStrike">
                <a:solidFill>
                  <a:srgbClr val="FFFFFF"/>
                </a:solidFill>
                <a:latin typeface="Courier New"/>
                <a:ea typeface="Courier New"/>
                <a:cs typeface="Courier New"/>
                <a:sym typeface="Courier New"/>
              </a:rPr>
              <a:t>  IdentityFile ~/.ssh/id_ed25519</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00"/>
              <a:buFont typeface="Courier New"/>
              <a:buNone/>
            </a:pPr>
            <a:r>
              <a:rPr b="0" i="0" lang="en-US" sz="1000" u="none" cap="none" strike="noStrike">
                <a:solidFill>
                  <a:srgbClr val="38BDF8"/>
                </a:solidFill>
                <a:latin typeface="Courier New"/>
                <a:ea typeface="Courier New"/>
                <a:cs typeface="Courier New"/>
                <a:sym typeface="Courier New"/>
              </a:rPr>
              <a:t># now just:  </a:t>
            </a:r>
            <a:r>
              <a:rPr b="0" i="0" lang="en-US" sz="1000" u="none" cap="none" strike="noStrike">
                <a:solidFill>
                  <a:srgbClr val="34D399"/>
                </a:solidFill>
                <a:latin typeface="Courier New"/>
                <a:ea typeface="Courier New"/>
                <a:cs typeface="Courier New"/>
                <a:sym typeface="Courier New"/>
              </a:rPr>
              <a:t>ssh prod</a:t>
            </a:r>
            <a:endParaRPr b="0" i="0" sz="1000" u="none" cap="none" strike="noStrike">
              <a:solidFill>
                <a:schemeClr val="dk1"/>
              </a:solidFill>
              <a:latin typeface="Calibri"/>
              <a:ea typeface="Calibri"/>
              <a:cs typeface="Calibri"/>
              <a:sym typeface="Calibri"/>
            </a:endParaRPr>
          </a:p>
        </p:txBody>
      </p:sp>
      <p:sp>
        <p:nvSpPr>
          <p:cNvPr id="1311" name="Google Shape;1311;p43"/>
          <p:cNvSpPr/>
          <p:nvPr/>
        </p:nvSpPr>
        <p:spPr>
          <a:xfrm>
            <a:off x="4800600" y="3200400"/>
            <a:ext cx="3886200" cy="1417320"/>
          </a:xfrm>
          <a:prstGeom prst="roundRect">
            <a:avLst>
              <a:gd fmla="val 4516" name="adj"/>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2" name="Google Shape;1312;p43"/>
          <p:cNvSpPr/>
          <p:nvPr/>
        </p:nvSpPr>
        <p:spPr>
          <a:xfrm>
            <a:off x="4983480" y="3291840"/>
            <a:ext cx="35204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Keys, not passwords</a:t>
            </a:r>
            <a:endParaRPr b="0" i="0" sz="1250" u="none" cap="none" strike="noStrike">
              <a:solidFill>
                <a:schemeClr val="dk1"/>
              </a:solidFill>
              <a:latin typeface="Calibri"/>
              <a:ea typeface="Calibri"/>
              <a:cs typeface="Calibri"/>
              <a:sym typeface="Calibri"/>
            </a:endParaRPr>
          </a:p>
        </p:txBody>
      </p:sp>
      <p:sp>
        <p:nvSpPr>
          <p:cNvPr id="1313" name="Google Shape;1313;p43"/>
          <p:cNvSpPr/>
          <p:nvPr/>
        </p:nvSpPr>
        <p:spPr>
          <a:xfrm>
            <a:off x="4983480" y="3602736"/>
            <a:ext cx="3520440" cy="960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93B"/>
              </a:buClr>
              <a:buSzPts val="1150"/>
              <a:buFont typeface="Calibri"/>
              <a:buNone/>
            </a:pPr>
            <a:r>
              <a:rPr b="0" i="0" lang="en-US" sz="1150" u="none" cap="none" strike="noStrike">
                <a:solidFill>
                  <a:srgbClr val="1E293B"/>
                </a:solidFill>
                <a:latin typeface="Calibri"/>
                <a:ea typeface="Calibri"/>
                <a:cs typeface="Calibri"/>
                <a:sym typeface="Calibri"/>
              </a:rPr>
              <a:t>Generate a keypair, put the PUBLIC key on the server (ssh-copy-id), keep the PRIVATE key secret (chmod 600). No password to phish or brute-force.</a:t>
            </a:r>
            <a:endParaRPr b="0" i="0" sz="1150" u="none" cap="none" strike="noStrike">
              <a:solidFill>
                <a:schemeClr val="dk1"/>
              </a:solidFill>
              <a:latin typeface="Calibri"/>
              <a:ea typeface="Calibri"/>
              <a:cs typeface="Calibri"/>
              <a:sym typeface="Calibri"/>
            </a:endParaRPr>
          </a:p>
        </p:txBody>
      </p:sp>
      <p:sp>
        <p:nvSpPr>
          <p:cNvPr id="1314" name="Google Shape;1314;p43"/>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1315" name="Google Shape;1315;p43"/>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5 · Networking</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20" name="Shape 1320"/>
        <p:cNvGrpSpPr/>
        <p:nvPr/>
      </p:nvGrpSpPr>
      <p:grpSpPr>
        <a:xfrm>
          <a:off x="0" y="0"/>
          <a:ext cx="0" cy="0"/>
          <a:chOff x="0" y="0"/>
          <a:chExt cx="0" cy="0"/>
        </a:xfrm>
      </p:grpSpPr>
      <p:sp>
        <p:nvSpPr>
          <p:cNvPr id="1321" name="Google Shape;1321;p44"/>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ufw — the simple firewall</a:t>
            </a:r>
            <a:endParaRPr b="0" i="0" sz="2900" u="none" cap="none" strike="noStrike">
              <a:solidFill>
                <a:schemeClr val="dk1"/>
              </a:solidFill>
              <a:latin typeface="Calibri"/>
              <a:ea typeface="Calibri"/>
              <a:cs typeface="Calibri"/>
              <a:sym typeface="Calibri"/>
            </a:endParaRPr>
          </a:p>
        </p:txBody>
      </p:sp>
      <p:sp>
        <p:nvSpPr>
          <p:cNvPr id="1322" name="Google Shape;1322;p44"/>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23" name="Google Shape;1323;p44"/>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1324" name="Google Shape;1324;p44"/>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A public server with an open database port is a breach waiting to happen. ufw closes the doors.</a:t>
            </a:r>
            <a:endParaRPr b="0" i="0" sz="1300" u="none" cap="none" strike="noStrike">
              <a:solidFill>
                <a:schemeClr val="dk1"/>
              </a:solidFill>
              <a:latin typeface="Calibri"/>
              <a:ea typeface="Calibri"/>
              <a:cs typeface="Calibri"/>
              <a:sym typeface="Calibri"/>
            </a:endParaRPr>
          </a:p>
        </p:txBody>
      </p:sp>
      <p:sp>
        <p:nvSpPr>
          <p:cNvPr id="1325" name="Google Shape;1325;p44"/>
          <p:cNvSpPr/>
          <p:nvPr/>
        </p:nvSpPr>
        <p:spPr>
          <a:xfrm>
            <a:off x="457200" y="1371600"/>
            <a:ext cx="4160520" cy="3035808"/>
          </a:xfrm>
          <a:prstGeom prst="roundRect">
            <a:avLst>
              <a:gd fmla="val 180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6" name="Google Shape;1326;p44"/>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ufw &lt;rule&gt;</a:t>
            </a:r>
            <a:endParaRPr b="0" i="0" sz="1250" u="none" cap="none" strike="noStrike">
              <a:solidFill>
                <a:schemeClr val="dk1"/>
              </a:solidFill>
              <a:latin typeface="Calibri"/>
              <a:ea typeface="Calibri"/>
              <a:cs typeface="Calibri"/>
              <a:sym typeface="Calibri"/>
            </a:endParaRPr>
          </a:p>
        </p:txBody>
      </p:sp>
      <p:sp>
        <p:nvSpPr>
          <p:cNvPr id="1327" name="Google Shape;1327;p44"/>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ufw status numbered</a:t>
            </a:r>
            <a:endParaRPr b="0" i="0" sz="1150" u="none" cap="none" strike="noStrike">
              <a:solidFill>
                <a:schemeClr val="dk1"/>
              </a:solidFill>
              <a:latin typeface="Calibri"/>
              <a:ea typeface="Calibri"/>
              <a:cs typeface="Calibri"/>
              <a:sym typeface="Calibri"/>
            </a:endParaRPr>
          </a:p>
        </p:txBody>
      </p:sp>
      <p:sp>
        <p:nvSpPr>
          <p:cNvPr id="1328" name="Google Shape;1328;p44"/>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current rules, with index</a:t>
            </a:r>
            <a:endParaRPr b="0" i="0" sz="1100" u="none" cap="none" strike="noStrike">
              <a:solidFill>
                <a:schemeClr val="dk1"/>
              </a:solidFill>
              <a:latin typeface="Calibri"/>
              <a:ea typeface="Calibri"/>
              <a:cs typeface="Calibri"/>
              <a:sym typeface="Calibri"/>
            </a:endParaRPr>
          </a:p>
        </p:txBody>
      </p:sp>
      <p:sp>
        <p:nvSpPr>
          <p:cNvPr id="1329" name="Google Shape;1329;p44"/>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ufw allow 22/tcp</a:t>
            </a:r>
            <a:endParaRPr b="0" i="0" sz="1150" u="none" cap="none" strike="noStrike">
              <a:solidFill>
                <a:schemeClr val="dk1"/>
              </a:solidFill>
              <a:latin typeface="Calibri"/>
              <a:ea typeface="Calibri"/>
              <a:cs typeface="Calibri"/>
              <a:sym typeface="Calibri"/>
            </a:endParaRPr>
          </a:p>
        </p:txBody>
      </p:sp>
      <p:sp>
        <p:nvSpPr>
          <p:cNvPr id="1330" name="Google Shape;1330;p44"/>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permit SSH</a:t>
            </a:r>
            <a:endParaRPr b="0" i="0" sz="1100" u="none" cap="none" strike="noStrike">
              <a:solidFill>
                <a:schemeClr val="dk1"/>
              </a:solidFill>
              <a:latin typeface="Calibri"/>
              <a:ea typeface="Calibri"/>
              <a:cs typeface="Calibri"/>
              <a:sym typeface="Calibri"/>
            </a:endParaRPr>
          </a:p>
        </p:txBody>
      </p:sp>
      <p:sp>
        <p:nvSpPr>
          <p:cNvPr id="1331" name="Google Shape;1331;p44"/>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ufw allow 80,443</a:t>
            </a:r>
            <a:endParaRPr b="0" i="0" sz="1150" u="none" cap="none" strike="noStrike">
              <a:solidFill>
                <a:schemeClr val="dk1"/>
              </a:solidFill>
              <a:latin typeface="Calibri"/>
              <a:ea typeface="Calibri"/>
              <a:cs typeface="Calibri"/>
              <a:sym typeface="Calibri"/>
            </a:endParaRPr>
          </a:p>
        </p:txBody>
      </p:sp>
      <p:sp>
        <p:nvSpPr>
          <p:cNvPr id="1332" name="Google Shape;1332;p44"/>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permit web</a:t>
            </a:r>
            <a:endParaRPr b="0" i="0" sz="1100" u="none" cap="none" strike="noStrike">
              <a:solidFill>
                <a:schemeClr val="dk1"/>
              </a:solidFill>
              <a:latin typeface="Calibri"/>
              <a:ea typeface="Calibri"/>
              <a:cs typeface="Calibri"/>
              <a:sym typeface="Calibri"/>
            </a:endParaRPr>
          </a:p>
        </p:txBody>
      </p:sp>
      <p:sp>
        <p:nvSpPr>
          <p:cNvPr id="1333" name="Google Shape;1333;p44"/>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ufw deny 3306</a:t>
            </a:r>
            <a:endParaRPr b="0" i="0" sz="1150" u="none" cap="none" strike="noStrike">
              <a:solidFill>
                <a:schemeClr val="dk1"/>
              </a:solidFill>
              <a:latin typeface="Calibri"/>
              <a:ea typeface="Calibri"/>
              <a:cs typeface="Calibri"/>
              <a:sym typeface="Calibri"/>
            </a:endParaRPr>
          </a:p>
        </p:txBody>
      </p:sp>
      <p:sp>
        <p:nvSpPr>
          <p:cNvPr id="1334" name="Google Shape;1334;p44"/>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block MySQL from outside</a:t>
            </a:r>
            <a:endParaRPr b="0" i="0" sz="1100" u="none" cap="none" strike="noStrike">
              <a:solidFill>
                <a:schemeClr val="dk1"/>
              </a:solidFill>
              <a:latin typeface="Calibri"/>
              <a:ea typeface="Calibri"/>
              <a:cs typeface="Calibri"/>
              <a:sym typeface="Calibri"/>
            </a:endParaRPr>
          </a:p>
        </p:txBody>
      </p:sp>
      <p:sp>
        <p:nvSpPr>
          <p:cNvPr id="1335" name="Google Shape;1335;p44"/>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ufw delete 3</a:t>
            </a:r>
            <a:endParaRPr b="0" i="0" sz="1150" u="none" cap="none" strike="noStrike">
              <a:solidFill>
                <a:schemeClr val="dk1"/>
              </a:solidFill>
              <a:latin typeface="Calibri"/>
              <a:ea typeface="Calibri"/>
              <a:cs typeface="Calibri"/>
              <a:sym typeface="Calibri"/>
            </a:endParaRPr>
          </a:p>
        </p:txBody>
      </p:sp>
      <p:sp>
        <p:nvSpPr>
          <p:cNvPr id="1336" name="Google Shape;1336;p44"/>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remove rule #3</a:t>
            </a:r>
            <a:endParaRPr b="0" i="0" sz="1100" u="none" cap="none" strike="noStrike">
              <a:solidFill>
                <a:schemeClr val="dk1"/>
              </a:solidFill>
              <a:latin typeface="Calibri"/>
              <a:ea typeface="Calibri"/>
              <a:cs typeface="Calibri"/>
              <a:sym typeface="Calibri"/>
            </a:endParaRPr>
          </a:p>
        </p:txBody>
      </p:sp>
      <p:sp>
        <p:nvSpPr>
          <p:cNvPr id="1337" name="Google Shape;1337;p44"/>
          <p:cNvSpPr/>
          <p:nvPr/>
        </p:nvSpPr>
        <p:spPr>
          <a:xfrm>
            <a:off x="65836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ufw enable</a:t>
            </a:r>
            <a:endParaRPr b="0" i="0" sz="1150" u="none" cap="none" strike="noStrike">
              <a:solidFill>
                <a:schemeClr val="dk1"/>
              </a:solidFill>
              <a:latin typeface="Calibri"/>
              <a:ea typeface="Calibri"/>
              <a:cs typeface="Calibri"/>
              <a:sym typeface="Calibri"/>
            </a:endParaRPr>
          </a:p>
        </p:txBody>
      </p:sp>
      <p:sp>
        <p:nvSpPr>
          <p:cNvPr id="1338" name="Google Shape;1338;p44"/>
          <p:cNvSpPr/>
          <p:nvPr/>
        </p:nvSpPr>
        <p:spPr>
          <a:xfrm>
            <a:off x="2468880" y="391363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turn the firewall on</a:t>
            </a:r>
            <a:endParaRPr b="0" i="0" sz="1100" u="none" cap="none" strike="noStrike">
              <a:solidFill>
                <a:schemeClr val="dk1"/>
              </a:solidFill>
              <a:latin typeface="Calibri"/>
              <a:ea typeface="Calibri"/>
              <a:cs typeface="Calibri"/>
              <a:sym typeface="Calibri"/>
            </a:endParaRPr>
          </a:p>
        </p:txBody>
      </p:sp>
      <p:sp>
        <p:nvSpPr>
          <p:cNvPr id="1339" name="Google Shape;1339;p44"/>
          <p:cNvSpPr/>
          <p:nvPr/>
        </p:nvSpPr>
        <p:spPr>
          <a:xfrm>
            <a:off x="4800600" y="1371600"/>
            <a:ext cx="3886200" cy="914400"/>
          </a:xfrm>
          <a:prstGeom prst="roundRect">
            <a:avLst>
              <a:gd fmla="val 6000" name="adj"/>
            </a:avLst>
          </a:prstGeom>
          <a:solidFill>
            <a:srgbClr val="FFF7ED"/>
          </a:solidFill>
          <a:ln cap="flat" cmpd="sng" w="15225">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0" name="Google Shape;1340;p44"/>
          <p:cNvSpPr/>
          <p:nvPr/>
        </p:nvSpPr>
        <p:spPr>
          <a:xfrm>
            <a:off x="4983480" y="1426464"/>
            <a:ext cx="3566160" cy="8229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200"/>
              <a:buFont typeface="Calibri"/>
              <a:buNone/>
            </a:pPr>
            <a:r>
              <a:rPr b="1" i="0" lang="en-US" sz="1200" u="none" cap="none" strike="noStrike">
                <a:solidFill>
                  <a:srgbClr val="C2410C"/>
                </a:solidFill>
                <a:latin typeface="Calibri"/>
                <a:ea typeface="Calibri"/>
                <a:cs typeface="Calibri"/>
                <a:sym typeface="Calibri"/>
              </a:rPr>
              <a:t>Don't lock yourself out!  </a:t>
            </a:r>
            <a:r>
              <a:rPr b="1" i="0" lang="en-US" sz="1200" u="none" cap="none" strike="noStrike">
                <a:solidFill>
                  <a:srgbClr val="1E293B"/>
                </a:solidFill>
                <a:latin typeface="Calibri"/>
                <a:ea typeface="Calibri"/>
                <a:cs typeface="Calibri"/>
                <a:sym typeface="Calibri"/>
              </a:rPr>
              <a:t>ALWAYS </a:t>
            </a:r>
            <a:r>
              <a:rPr b="1" i="0" lang="en-US" sz="1200" u="none" cap="none" strike="noStrike">
                <a:solidFill>
                  <a:srgbClr val="1E293B"/>
                </a:solidFill>
                <a:latin typeface="Courier New"/>
                <a:ea typeface="Courier New"/>
                <a:cs typeface="Courier New"/>
                <a:sym typeface="Courier New"/>
              </a:rPr>
              <a:t>ufw allow 22/tcp</a:t>
            </a:r>
            <a:r>
              <a:rPr b="1" i="0" lang="en-US" sz="1200" u="none" cap="none" strike="noStrike">
                <a:solidFill>
                  <a:srgbClr val="1E293B"/>
                </a:solidFill>
                <a:latin typeface="Calibri"/>
                <a:ea typeface="Calibri"/>
                <a:cs typeface="Calibri"/>
                <a:sym typeface="Calibri"/>
              </a:rPr>
              <a:t> BEFORE </a:t>
            </a:r>
            <a:r>
              <a:rPr b="1" i="0" lang="en-US" sz="1200" u="none" cap="none" strike="noStrike">
                <a:solidFill>
                  <a:srgbClr val="1E293B"/>
                </a:solidFill>
                <a:latin typeface="Courier New"/>
                <a:ea typeface="Courier New"/>
                <a:cs typeface="Courier New"/>
                <a:sym typeface="Courier New"/>
              </a:rPr>
              <a:t>ufw enable</a:t>
            </a:r>
            <a:r>
              <a:rPr b="0" i="0" lang="en-US" sz="1200" u="none" cap="none" strike="noStrike">
                <a:solidFill>
                  <a:srgbClr val="1E293B"/>
                </a:solidFill>
                <a:latin typeface="Calibri"/>
                <a:ea typeface="Calibri"/>
                <a:cs typeface="Calibri"/>
                <a:sym typeface="Calibri"/>
              </a:rPr>
              <a:t> — or your SSH session dies with no way back.</a:t>
            </a:r>
            <a:endParaRPr b="0" i="0" sz="1200" u="none" cap="none" strike="noStrike">
              <a:solidFill>
                <a:schemeClr val="dk1"/>
              </a:solidFill>
              <a:latin typeface="Calibri"/>
              <a:ea typeface="Calibri"/>
              <a:cs typeface="Calibri"/>
              <a:sym typeface="Calibri"/>
            </a:endParaRPr>
          </a:p>
        </p:txBody>
      </p:sp>
      <p:sp>
        <p:nvSpPr>
          <p:cNvPr id="1341" name="Google Shape;1341;p44"/>
          <p:cNvSpPr/>
          <p:nvPr/>
        </p:nvSpPr>
        <p:spPr>
          <a:xfrm>
            <a:off x="4800600" y="2423160"/>
            <a:ext cx="3886200" cy="2194560"/>
          </a:xfrm>
          <a:prstGeom prst="roundRect">
            <a:avLst>
              <a:gd fmla="val 3333"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2" name="Google Shape;1342;p44"/>
          <p:cNvSpPr/>
          <p:nvPr/>
        </p:nvSpPr>
        <p:spPr>
          <a:xfrm>
            <a:off x="4983480" y="256946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3" name="Google Shape;1343;p44"/>
          <p:cNvSpPr/>
          <p:nvPr/>
        </p:nvSpPr>
        <p:spPr>
          <a:xfrm>
            <a:off x="5129784" y="256946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4" name="Google Shape;1344;p44"/>
          <p:cNvSpPr/>
          <p:nvPr/>
        </p:nvSpPr>
        <p:spPr>
          <a:xfrm>
            <a:off x="5276088" y="256946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5" name="Google Shape;1345;p44"/>
          <p:cNvSpPr/>
          <p:nvPr/>
        </p:nvSpPr>
        <p:spPr>
          <a:xfrm>
            <a:off x="5440680" y="249631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root@server</a:t>
            </a:r>
            <a:endParaRPr b="0" i="0" sz="900" u="none" cap="none" strike="noStrike">
              <a:solidFill>
                <a:schemeClr val="dk1"/>
              </a:solidFill>
              <a:latin typeface="Calibri"/>
              <a:ea typeface="Calibri"/>
              <a:cs typeface="Calibri"/>
              <a:sym typeface="Calibri"/>
            </a:endParaRPr>
          </a:p>
        </p:txBody>
      </p:sp>
      <p:cxnSp>
        <p:nvCxnSpPr>
          <p:cNvPr id="1346" name="Google Shape;1346;p44"/>
          <p:cNvCxnSpPr/>
          <p:nvPr/>
        </p:nvCxnSpPr>
        <p:spPr>
          <a:xfrm>
            <a:off x="4800600" y="2788920"/>
            <a:ext cx="3886200" cy="0"/>
          </a:xfrm>
          <a:prstGeom prst="straightConnector1">
            <a:avLst/>
          </a:prstGeom>
          <a:noFill/>
          <a:ln cap="flat" cmpd="sng" w="12700">
            <a:solidFill>
              <a:srgbClr val="1E293B"/>
            </a:solidFill>
            <a:prstDash val="solid"/>
            <a:round/>
            <a:headEnd len="sm" w="sm" type="none"/>
            <a:tailEnd len="sm" w="sm" type="none"/>
          </a:ln>
        </p:spPr>
      </p:cxnSp>
      <p:sp>
        <p:nvSpPr>
          <p:cNvPr id="1347" name="Google Shape;1347;p44"/>
          <p:cNvSpPr/>
          <p:nvPr/>
        </p:nvSpPr>
        <p:spPr>
          <a:xfrm>
            <a:off x="5001768" y="2898648"/>
            <a:ext cx="3483864" cy="160934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ufw allow 22/tcp</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ufw allow 80,443/tcp</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ufw enable</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ufw status numbered</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[1] 22/tcp   ALLOW IN  Anywhere</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[2] 80,443   ALLOW IN  Anywhere</a:t>
            </a:r>
            <a:endParaRPr b="0" i="0" sz="1050" u="none" cap="none" strike="noStrike">
              <a:solidFill>
                <a:schemeClr val="dk1"/>
              </a:solidFill>
              <a:latin typeface="Calibri"/>
              <a:ea typeface="Calibri"/>
              <a:cs typeface="Calibri"/>
              <a:sym typeface="Calibri"/>
            </a:endParaRPr>
          </a:p>
        </p:txBody>
      </p:sp>
      <p:sp>
        <p:nvSpPr>
          <p:cNvPr id="1348" name="Google Shape;1348;p44"/>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1349" name="Google Shape;1349;p44"/>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5 · Networking</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354" name="Shape 1354"/>
        <p:cNvGrpSpPr/>
        <p:nvPr/>
      </p:nvGrpSpPr>
      <p:grpSpPr>
        <a:xfrm>
          <a:off x="0" y="0"/>
          <a:ext cx="0" cy="0"/>
          <a:chOff x="0" y="0"/>
          <a:chExt cx="0" cy="0"/>
        </a:xfrm>
      </p:grpSpPr>
      <p:sp>
        <p:nvSpPr>
          <p:cNvPr id="1355" name="Google Shape;1355;p45"/>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curl &amp; wget — pulling from the web</a:t>
            </a:r>
            <a:endParaRPr b="0" i="0" sz="2900" u="none" cap="none" strike="noStrike">
              <a:solidFill>
                <a:schemeClr val="dk1"/>
              </a:solidFill>
              <a:latin typeface="Calibri"/>
              <a:ea typeface="Calibri"/>
              <a:cs typeface="Calibri"/>
              <a:sym typeface="Calibri"/>
            </a:endParaRPr>
          </a:p>
        </p:txBody>
      </p:sp>
      <p:sp>
        <p:nvSpPr>
          <p:cNvPr id="1356" name="Google Shape;1356;p45"/>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57" name="Google Shape;1357;p45"/>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1358" name="Google Shape;1358;p45"/>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Download a release, hit an API, run a health check — these two fetch anything over HTTP.</a:t>
            </a:r>
            <a:endParaRPr b="0" i="0" sz="1300" u="none" cap="none" strike="noStrike">
              <a:solidFill>
                <a:schemeClr val="dk1"/>
              </a:solidFill>
              <a:latin typeface="Calibri"/>
              <a:ea typeface="Calibri"/>
              <a:cs typeface="Calibri"/>
              <a:sym typeface="Calibri"/>
            </a:endParaRPr>
          </a:p>
        </p:txBody>
      </p:sp>
      <p:sp>
        <p:nvSpPr>
          <p:cNvPr id="1359" name="Google Shape;1359;p45"/>
          <p:cNvSpPr/>
          <p:nvPr/>
        </p:nvSpPr>
        <p:spPr>
          <a:xfrm>
            <a:off x="457200" y="1371600"/>
            <a:ext cx="4160520" cy="3035808"/>
          </a:xfrm>
          <a:prstGeom prst="roundRect">
            <a:avLst>
              <a:gd fmla="val 180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0" name="Google Shape;1360;p45"/>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FETCH &amp; CALL</a:t>
            </a:r>
            <a:endParaRPr b="0" i="0" sz="1250" u="none" cap="none" strike="noStrike">
              <a:solidFill>
                <a:schemeClr val="dk1"/>
              </a:solidFill>
              <a:latin typeface="Calibri"/>
              <a:ea typeface="Calibri"/>
              <a:cs typeface="Calibri"/>
              <a:sym typeface="Calibri"/>
            </a:endParaRPr>
          </a:p>
        </p:txBody>
      </p:sp>
      <p:sp>
        <p:nvSpPr>
          <p:cNvPr id="1361" name="Google Shape;1361;p45"/>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curl -O url</a:t>
            </a:r>
            <a:endParaRPr b="0" i="0" sz="1150" u="none" cap="none" strike="noStrike">
              <a:solidFill>
                <a:schemeClr val="dk1"/>
              </a:solidFill>
              <a:latin typeface="Calibri"/>
              <a:ea typeface="Calibri"/>
              <a:cs typeface="Calibri"/>
              <a:sym typeface="Calibri"/>
            </a:endParaRPr>
          </a:p>
        </p:txBody>
      </p:sp>
      <p:sp>
        <p:nvSpPr>
          <p:cNvPr id="1362" name="Google Shape;1362;p45"/>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save with its remote filename</a:t>
            </a:r>
            <a:endParaRPr b="0" i="0" sz="1100" u="none" cap="none" strike="noStrike">
              <a:solidFill>
                <a:schemeClr val="dk1"/>
              </a:solidFill>
              <a:latin typeface="Calibri"/>
              <a:ea typeface="Calibri"/>
              <a:cs typeface="Calibri"/>
              <a:sym typeface="Calibri"/>
            </a:endParaRPr>
          </a:p>
        </p:txBody>
      </p:sp>
      <p:sp>
        <p:nvSpPr>
          <p:cNvPr id="1363" name="Google Shape;1363;p45"/>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curl -L</a:t>
            </a:r>
            <a:endParaRPr b="0" i="0" sz="1150" u="none" cap="none" strike="noStrike">
              <a:solidFill>
                <a:schemeClr val="dk1"/>
              </a:solidFill>
              <a:latin typeface="Calibri"/>
              <a:ea typeface="Calibri"/>
              <a:cs typeface="Calibri"/>
              <a:sym typeface="Calibri"/>
            </a:endParaRPr>
          </a:p>
        </p:txBody>
      </p:sp>
      <p:sp>
        <p:nvSpPr>
          <p:cNvPr id="1364" name="Google Shape;1364;p45"/>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follow redirects</a:t>
            </a:r>
            <a:endParaRPr b="0" i="0" sz="1100" u="none" cap="none" strike="noStrike">
              <a:solidFill>
                <a:schemeClr val="dk1"/>
              </a:solidFill>
              <a:latin typeface="Calibri"/>
              <a:ea typeface="Calibri"/>
              <a:cs typeface="Calibri"/>
              <a:sym typeface="Calibri"/>
            </a:endParaRPr>
          </a:p>
        </p:txBody>
      </p:sp>
      <p:sp>
        <p:nvSpPr>
          <p:cNvPr id="1365" name="Google Shape;1365;p45"/>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curl -fsSL</a:t>
            </a:r>
            <a:endParaRPr b="0" i="0" sz="1150" u="none" cap="none" strike="noStrike">
              <a:solidFill>
                <a:schemeClr val="dk1"/>
              </a:solidFill>
              <a:latin typeface="Calibri"/>
              <a:ea typeface="Calibri"/>
              <a:cs typeface="Calibri"/>
              <a:sym typeface="Calibri"/>
            </a:endParaRPr>
          </a:p>
        </p:txBody>
      </p:sp>
      <p:sp>
        <p:nvSpPr>
          <p:cNvPr id="1366" name="Google Shape;1366;p45"/>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fail-quiet-silent-loc (scripts)</a:t>
            </a:r>
            <a:endParaRPr b="0" i="0" sz="1100" u="none" cap="none" strike="noStrike">
              <a:solidFill>
                <a:schemeClr val="dk1"/>
              </a:solidFill>
              <a:latin typeface="Calibri"/>
              <a:ea typeface="Calibri"/>
              <a:cs typeface="Calibri"/>
              <a:sym typeface="Calibri"/>
            </a:endParaRPr>
          </a:p>
        </p:txBody>
      </p:sp>
      <p:sp>
        <p:nvSpPr>
          <p:cNvPr id="1367" name="Google Shape;1367;p45"/>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curl -H -d -X</a:t>
            </a:r>
            <a:endParaRPr b="0" i="0" sz="1150" u="none" cap="none" strike="noStrike">
              <a:solidFill>
                <a:schemeClr val="dk1"/>
              </a:solidFill>
              <a:latin typeface="Calibri"/>
              <a:ea typeface="Calibri"/>
              <a:cs typeface="Calibri"/>
              <a:sym typeface="Calibri"/>
            </a:endParaRPr>
          </a:p>
        </p:txBody>
      </p:sp>
      <p:sp>
        <p:nvSpPr>
          <p:cNvPr id="1368" name="Google Shape;1368;p45"/>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header / body / method (APIs)</a:t>
            </a:r>
            <a:endParaRPr b="0" i="0" sz="1100" u="none" cap="none" strike="noStrike">
              <a:solidFill>
                <a:schemeClr val="dk1"/>
              </a:solidFill>
              <a:latin typeface="Calibri"/>
              <a:ea typeface="Calibri"/>
              <a:cs typeface="Calibri"/>
              <a:sym typeface="Calibri"/>
            </a:endParaRPr>
          </a:p>
        </p:txBody>
      </p:sp>
      <p:sp>
        <p:nvSpPr>
          <p:cNvPr id="1369" name="Google Shape;1369;p45"/>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wget -O f url</a:t>
            </a:r>
            <a:endParaRPr b="0" i="0" sz="1150" u="none" cap="none" strike="noStrike">
              <a:solidFill>
                <a:schemeClr val="dk1"/>
              </a:solidFill>
              <a:latin typeface="Calibri"/>
              <a:ea typeface="Calibri"/>
              <a:cs typeface="Calibri"/>
              <a:sym typeface="Calibri"/>
            </a:endParaRPr>
          </a:p>
        </p:txBody>
      </p:sp>
      <p:sp>
        <p:nvSpPr>
          <p:cNvPr id="1370" name="Google Shape;1370;p45"/>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download to file f</a:t>
            </a:r>
            <a:endParaRPr b="0" i="0" sz="1100" u="none" cap="none" strike="noStrike">
              <a:solidFill>
                <a:schemeClr val="dk1"/>
              </a:solidFill>
              <a:latin typeface="Calibri"/>
              <a:ea typeface="Calibri"/>
              <a:cs typeface="Calibri"/>
              <a:sym typeface="Calibri"/>
            </a:endParaRPr>
          </a:p>
        </p:txBody>
      </p:sp>
      <p:sp>
        <p:nvSpPr>
          <p:cNvPr id="1371" name="Google Shape;1371;p45"/>
          <p:cNvSpPr/>
          <p:nvPr/>
        </p:nvSpPr>
        <p:spPr>
          <a:xfrm>
            <a:off x="65836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wget -c</a:t>
            </a:r>
            <a:endParaRPr b="0" i="0" sz="1150" u="none" cap="none" strike="noStrike">
              <a:solidFill>
                <a:schemeClr val="dk1"/>
              </a:solidFill>
              <a:latin typeface="Calibri"/>
              <a:ea typeface="Calibri"/>
              <a:cs typeface="Calibri"/>
              <a:sym typeface="Calibri"/>
            </a:endParaRPr>
          </a:p>
        </p:txBody>
      </p:sp>
      <p:sp>
        <p:nvSpPr>
          <p:cNvPr id="1372" name="Google Shape;1372;p45"/>
          <p:cNvSpPr/>
          <p:nvPr/>
        </p:nvSpPr>
        <p:spPr>
          <a:xfrm>
            <a:off x="2468880" y="391363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resume a broken download</a:t>
            </a:r>
            <a:endParaRPr b="0" i="0" sz="1100" u="none" cap="none" strike="noStrike">
              <a:solidFill>
                <a:schemeClr val="dk1"/>
              </a:solidFill>
              <a:latin typeface="Calibri"/>
              <a:ea typeface="Calibri"/>
              <a:cs typeface="Calibri"/>
              <a:sym typeface="Calibri"/>
            </a:endParaRPr>
          </a:p>
        </p:txBody>
      </p:sp>
      <p:sp>
        <p:nvSpPr>
          <p:cNvPr id="1373" name="Google Shape;1373;p45"/>
          <p:cNvSpPr/>
          <p:nvPr/>
        </p:nvSpPr>
        <p:spPr>
          <a:xfrm>
            <a:off x="4800600" y="1371600"/>
            <a:ext cx="3886200" cy="2194560"/>
          </a:xfrm>
          <a:prstGeom prst="roundRect">
            <a:avLst>
              <a:gd fmla="val 3333"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4" name="Google Shape;1374;p45"/>
          <p:cNvSpPr/>
          <p:nvPr/>
        </p:nvSpPr>
        <p:spPr>
          <a:xfrm>
            <a:off x="49834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5" name="Google Shape;1375;p45"/>
          <p:cNvSpPr/>
          <p:nvPr/>
        </p:nvSpPr>
        <p:spPr>
          <a:xfrm>
            <a:off x="51297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6" name="Google Shape;1376;p45"/>
          <p:cNvSpPr/>
          <p:nvPr/>
        </p:nvSpPr>
        <p:spPr>
          <a:xfrm>
            <a:off x="52760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7" name="Google Shape;1377;p45"/>
          <p:cNvSpPr/>
          <p:nvPr/>
        </p:nvSpPr>
        <p:spPr>
          <a:xfrm>
            <a:off x="5440680" y="144475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you@server</a:t>
            </a:r>
            <a:endParaRPr b="0" i="0" sz="900" u="none" cap="none" strike="noStrike">
              <a:solidFill>
                <a:schemeClr val="dk1"/>
              </a:solidFill>
              <a:latin typeface="Calibri"/>
              <a:ea typeface="Calibri"/>
              <a:cs typeface="Calibri"/>
              <a:sym typeface="Calibri"/>
            </a:endParaRPr>
          </a:p>
        </p:txBody>
      </p:sp>
      <p:cxnSp>
        <p:nvCxnSpPr>
          <p:cNvPr id="1378" name="Google Shape;1378;p45"/>
          <p:cNvCxnSpPr/>
          <p:nvPr/>
        </p:nvCxnSpPr>
        <p:spPr>
          <a:xfrm>
            <a:off x="4800600" y="1737360"/>
            <a:ext cx="3886200" cy="0"/>
          </a:xfrm>
          <a:prstGeom prst="straightConnector1">
            <a:avLst/>
          </a:prstGeom>
          <a:noFill/>
          <a:ln cap="flat" cmpd="sng" w="12700">
            <a:solidFill>
              <a:srgbClr val="1E293B"/>
            </a:solidFill>
            <a:prstDash val="solid"/>
            <a:round/>
            <a:headEnd len="sm" w="sm" type="none"/>
            <a:tailEnd len="sm" w="sm" type="none"/>
          </a:ln>
        </p:spPr>
      </p:cxnSp>
      <p:sp>
        <p:nvSpPr>
          <p:cNvPr id="1379" name="Google Shape;1379;p45"/>
          <p:cNvSpPr/>
          <p:nvPr/>
        </p:nvSpPr>
        <p:spPr>
          <a:xfrm>
            <a:off x="5001768" y="1847088"/>
            <a:ext cx="3483864" cy="160934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POST JSON to an API</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curl -X POST api/login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   -H 'Content-Type: application/json'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   -d '{"user":"sagyam"}'</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fetch + parse in one pipe</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curl -s api/health | jq .status</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"ok"</a:t>
            </a:r>
            <a:endParaRPr b="0" i="0" sz="1050" u="none" cap="none" strike="noStrike">
              <a:solidFill>
                <a:schemeClr val="dk1"/>
              </a:solidFill>
              <a:latin typeface="Calibri"/>
              <a:ea typeface="Calibri"/>
              <a:cs typeface="Calibri"/>
              <a:sym typeface="Calibri"/>
            </a:endParaRPr>
          </a:p>
        </p:txBody>
      </p:sp>
      <p:sp>
        <p:nvSpPr>
          <p:cNvPr id="1380" name="Google Shape;1380;p45"/>
          <p:cNvSpPr/>
          <p:nvPr/>
        </p:nvSpPr>
        <p:spPr>
          <a:xfrm>
            <a:off x="4800600" y="3657600"/>
            <a:ext cx="3886200" cy="960120"/>
          </a:xfrm>
          <a:prstGeom prst="roundRect">
            <a:avLst>
              <a:gd fmla="val 5714" name="adj"/>
            </a:avLst>
          </a:prstGeom>
          <a:solidFill>
            <a:srgbClr val="FFF7ED"/>
          </a:solidFill>
          <a:ln cap="flat" cmpd="sng" w="12700">
            <a:solidFill>
              <a:srgbClr val="F9731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1" name="Google Shape;1381;p45"/>
          <p:cNvSpPr/>
          <p:nvPr/>
        </p:nvSpPr>
        <p:spPr>
          <a:xfrm>
            <a:off x="4983480" y="3712464"/>
            <a:ext cx="3566160" cy="8686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150"/>
              <a:buFont typeface="Calibri"/>
              <a:buNone/>
            </a:pPr>
            <a:r>
              <a:rPr b="1" i="0" lang="en-US" sz="1150" u="none" cap="none" strike="noStrike">
                <a:solidFill>
                  <a:srgbClr val="C2410C"/>
                </a:solidFill>
                <a:latin typeface="Calibri"/>
                <a:ea typeface="Calibri"/>
                <a:cs typeface="Calibri"/>
                <a:sym typeface="Calibri"/>
              </a:rPr>
              <a:t>Security:  </a:t>
            </a:r>
            <a:r>
              <a:rPr b="1" i="0" lang="en-US" sz="1150" u="none" cap="none" strike="noStrike">
                <a:solidFill>
                  <a:srgbClr val="1E293B"/>
                </a:solidFill>
                <a:latin typeface="Courier New"/>
                <a:ea typeface="Courier New"/>
                <a:cs typeface="Courier New"/>
                <a:sym typeface="Courier New"/>
              </a:rPr>
              <a:t>curl ... | bash</a:t>
            </a:r>
            <a:r>
              <a:rPr b="0" i="0" lang="en-US" sz="1150" u="none" cap="none" strike="noStrike">
                <a:solidFill>
                  <a:srgbClr val="1E293B"/>
                </a:solidFill>
                <a:latin typeface="Calibri"/>
                <a:ea typeface="Calibri"/>
                <a:cs typeface="Calibri"/>
                <a:sym typeface="Calibri"/>
              </a:rPr>
              <a:t> runs whatever the server sends, as you. Read scripts before piping them to a shell.</a:t>
            </a:r>
            <a:endParaRPr b="0" i="0" sz="1150" u="none" cap="none" strike="noStrike">
              <a:solidFill>
                <a:schemeClr val="dk1"/>
              </a:solidFill>
              <a:latin typeface="Calibri"/>
              <a:ea typeface="Calibri"/>
              <a:cs typeface="Calibri"/>
              <a:sym typeface="Calibri"/>
            </a:endParaRPr>
          </a:p>
        </p:txBody>
      </p:sp>
      <p:sp>
        <p:nvSpPr>
          <p:cNvPr id="1382" name="Google Shape;1382;p45"/>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1383" name="Google Shape;1383;p45"/>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5 · Networking</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388" name="Shape 1388"/>
        <p:cNvGrpSpPr/>
        <p:nvPr/>
      </p:nvGrpSpPr>
      <p:grpSpPr>
        <a:xfrm>
          <a:off x="0" y="0"/>
          <a:ext cx="0" cy="0"/>
          <a:chOff x="0" y="0"/>
          <a:chExt cx="0" cy="0"/>
        </a:xfrm>
      </p:grpSpPr>
      <p:sp>
        <p:nvSpPr>
          <p:cNvPr id="1389" name="Google Shape;1389;p46"/>
          <p:cNvSpPr/>
          <p:nvPr/>
        </p:nvSpPr>
        <p:spPr>
          <a:xfrm>
            <a:off x="640080" y="960120"/>
            <a:ext cx="365760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97316"/>
              </a:buClr>
              <a:buSzPts val="1700"/>
              <a:buFont typeface="Calibri"/>
              <a:buNone/>
            </a:pPr>
            <a:r>
              <a:rPr b="1" i="0" lang="en-US" sz="1700" u="none" cap="none" strike="noStrike">
                <a:solidFill>
                  <a:srgbClr val="F97316"/>
                </a:solidFill>
                <a:latin typeface="Calibri"/>
                <a:ea typeface="Calibri"/>
                <a:cs typeface="Calibri"/>
                <a:sym typeface="Calibri"/>
              </a:rPr>
              <a:t>DAY 6</a:t>
            </a:r>
            <a:endParaRPr b="0" i="0" sz="1700" u="none" cap="none" strike="noStrike">
              <a:solidFill>
                <a:schemeClr val="dk1"/>
              </a:solidFill>
              <a:latin typeface="Calibri"/>
              <a:ea typeface="Calibri"/>
              <a:cs typeface="Calibri"/>
              <a:sym typeface="Calibri"/>
            </a:endParaRPr>
          </a:p>
        </p:txBody>
      </p:sp>
      <p:sp>
        <p:nvSpPr>
          <p:cNvPr id="1390" name="Google Shape;1390;p46"/>
          <p:cNvSpPr/>
          <p:nvPr/>
        </p:nvSpPr>
        <p:spPr>
          <a:xfrm>
            <a:off x="640080" y="1417320"/>
            <a:ext cx="6766560" cy="10058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900"/>
              <a:buFont typeface="Bookman Old Style"/>
              <a:buNone/>
            </a:pPr>
            <a:r>
              <a:rPr b="1" i="0" lang="en-US" sz="3900" u="none" cap="none" strike="noStrike">
                <a:solidFill>
                  <a:srgbClr val="FFFFFF"/>
                </a:solidFill>
                <a:latin typeface="Bookman Old Style"/>
                <a:ea typeface="Bookman Old Style"/>
                <a:cs typeface="Bookman Old Style"/>
                <a:sym typeface="Bookman Old Style"/>
              </a:rPr>
              <a:t>Scripting, Archiving &amp; Storage</a:t>
            </a:r>
            <a:endParaRPr b="0" i="0" sz="3900" u="none" cap="none" strike="noStrike">
              <a:solidFill>
                <a:schemeClr val="dk1"/>
              </a:solidFill>
              <a:latin typeface="Calibri"/>
              <a:ea typeface="Calibri"/>
              <a:cs typeface="Calibri"/>
              <a:sym typeface="Calibri"/>
            </a:endParaRPr>
          </a:p>
        </p:txBody>
      </p:sp>
      <p:sp>
        <p:nvSpPr>
          <p:cNvPr id="1391" name="Google Shape;1391;p46"/>
          <p:cNvSpPr/>
          <p:nvPr/>
        </p:nvSpPr>
        <p:spPr>
          <a:xfrm>
            <a:off x="658368" y="2487168"/>
            <a:ext cx="6949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1500"/>
              <a:buFont typeface="Calibri"/>
              <a:buNone/>
            </a:pPr>
            <a:r>
              <a:rPr b="0" i="1" lang="en-US" sz="1500" u="none" cap="none" strike="noStrike">
                <a:solidFill>
                  <a:srgbClr val="94A3B8"/>
                </a:solidFill>
                <a:latin typeface="Calibri"/>
                <a:ea typeface="Calibri"/>
                <a:cs typeface="Calibri"/>
                <a:sym typeface="Calibri"/>
              </a:rPr>
              <a:t>Turn everything you learned into repeatable scripts — then package and store the results.</a:t>
            </a:r>
            <a:endParaRPr b="0" i="0" sz="1500" u="none" cap="none" strike="noStrike">
              <a:solidFill>
                <a:schemeClr val="dk1"/>
              </a:solidFill>
              <a:latin typeface="Calibri"/>
              <a:ea typeface="Calibri"/>
              <a:cs typeface="Calibri"/>
              <a:sym typeface="Calibri"/>
            </a:endParaRPr>
          </a:p>
        </p:txBody>
      </p:sp>
      <p:sp>
        <p:nvSpPr>
          <p:cNvPr id="1392" name="Google Shape;1392;p46"/>
          <p:cNvSpPr/>
          <p:nvPr/>
        </p:nvSpPr>
        <p:spPr>
          <a:xfrm>
            <a:off x="7315200" y="914400"/>
            <a:ext cx="1280160" cy="1280160"/>
          </a:xfrm>
          <a:prstGeom prst="ellipse">
            <a:avLst/>
          </a:prstGeom>
          <a:solidFill>
            <a:srgbClr val="1E293B"/>
          </a:solidFill>
          <a:ln cap="flat" cmpd="sng" w="1905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93" name="Google Shape;1393;p46"/>
          <p:cNvPicPr preferRelativeResize="0"/>
          <p:nvPr/>
        </p:nvPicPr>
        <p:blipFill rotWithShape="1">
          <a:blip r:embed="rId3">
            <a:alphaModFix/>
          </a:blip>
          <a:srcRect b="0" l="0" r="0" t="0"/>
          <a:stretch/>
        </p:blipFill>
        <p:spPr>
          <a:xfrm>
            <a:off x="7680960" y="1280160"/>
            <a:ext cx="548640" cy="548640"/>
          </a:xfrm>
          <a:prstGeom prst="rect">
            <a:avLst/>
          </a:prstGeom>
          <a:noFill/>
          <a:ln>
            <a:noFill/>
          </a:ln>
        </p:spPr>
      </p:pic>
      <p:sp>
        <p:nvSpPr>
          <p:cNvPr id="1394" name="Google Shape;1394;p46"/>
          <p:cNvSpPr/>
          <p:nvPr/>
        </p:nvSpPr>
        <p:spPr>
          <a:xfrm>
            <a:off x="640080" y="3383280"/>
            <a:ext cx="629107"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5" name="Google Shape;1395;p46"/>
          <p:cNvSpPr/>
          <p:nvPr/>
        </p:nvSpPr>
        <p:spPr>
          <a:xfrm>
            <a:off x="640080" y="3383280"/>
            <a:ext cx="629107"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bash</a:t>
            </a:r>
            <a:endParaRPr b="0" i="0" sz="1250" u="none" cap="none" strike="noStrike">
              <a:solidFill>
                <a:schemeClr val="dk1"/>
              </a:solidFill>
              <a:latin typeface="Calibri"/>
              <a:ea typeface="Calibri"/>
              <a:cs typeface="Calibri"/>
              <a:sym typeface="Calibri"/>
            </a:endParaRPr>
          </a:p>
        </p:txBody>
      </p:sp>
      <p:sp>
        <p:nvSpPr>
          <p:cNvPr id="1396" name="Google Shape;1396;p46"/>
          <p:cNvSpPr/>
          <p:nvPr/>
        </p:nvSpPr>
        <p:spPr>
          <a:xfrm>
            <a:off x="1433779" y="3383280"/>
            <a:ext cx="1049731"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7" name="Google Shape;1397;p46"/>
          <p:cNvSpPr/>
          <p:nvPr/>
        </p:nvSpPr>
        <p:spPr>
          <a:xfrm>
            <a:off x="1433779" y="3383280"/>
            <a:ext cx="1049731"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variables</a:t>
            </a:r>
            <a:endParaRPr b="0" i="0" sz="1250" u="none" cap="none" strike="noStrike">
              <a:solidFill>
                <a:schemeClr val="dk1"/>
              </a:solidFill>
              <a:latin typeface="Calibri"/>
              <a:ea typeface="Calibri"/>
              <a:cs typeface="Calibri"/>
              <a:sym typeface="Calibri"/>
            </a:endParaRPr>
          </a:p>
        </p:txBody>
      </p:sp>
      <p:sp>
        <p:nvSpPr>
          <p:cNvPr id="1398" name="Google Shape;1398;p46"/>
          <p:cNvSpPr/>
          <p:nvPr/>
        </p:nvSpPr>
        <p:spPr>
          <a:xfrm>
            <a:off x="2648102" y="3383280"/>
            <a:ext cx="1302106"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9" name="Google Shape;1399;p46"/>
          <p:cNvSpPr/>
          <p:nvPr/>
        </p:nvSpPr>
        <p:spPr>
          <a:xfrm>
            <a:off x="2648102" y="3383280"/>
            <a:ext cx="1302106"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conditionals</a:t>
            </a:r>
            <a:endParaRPr b="0" i="0" sz="1250" u="none" cap="none" strike="noStrike">
              <a:solidFill>
                <a:schemeClr val="dk1"/>
              </a:solidFill>
              <a:latin typeface="Calibri"/>
              <a:ea typeface="Calibri"/>
              <a:cs typeface="Calibri"/>
              <a:sym typeface="Calibri"/>
            </a:endParaRPr>
          </a:p>
        </p:txBody>
      </p:sp>
      <p:sp>
        <p:nvSpPr>
          <p:cNvPr id="1400" name="Google Shape;1400;p46"/>
          <p:cNvSpPr/>
          <p:nvPr/>
        </p:nvSpPr>
        <p:spPr>
          <a:xfrm>
            <a:off x="4114800" y="3383280"/>
            <a:ext cx="713232"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1" name="Google Shape;1401;p46"/>
          <p:cNvSpPr/>
          <p:nvPr/>
        </p:nvSpPr>
        <p:spPr>
          <a:xfrm>
            <a:off x="4114800" y="3383280"/>
            <a:ext cx="71323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loops</a:t>
            </a:r>
            <a:endParaRPr b="0" i="0" sz="1250" u="none" cap="none" strike="noStrike">
              <a:solidFill>
                <a:schemeClr val="dk1"/>
              </a:solidFill>
              <a:latin typeface="Calibri"/>
              <a:ea typeface="Calibri"/>
              <a:cs typeface="Calibri"/>
              <a:sym typeface="Calibri"/>
            </a:endParaRPr>
          </a:p>
        </p:txBody>
      </p:sp>
      <p:sp>
        <p:nvSpPr>
          <p:cNvPr id="1402" name="Google Shape;1402;p46"/>
          <p:cNvSpPr/>
          <p:nvPr/>
        </p:nvSpPr>
        <p:spPr>
          <a:xfrm>
            <a:off x="4992624" y="3383280"/>
            <a:ext cx="1049731"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3" name="Google Shape;1403;p46"/>
          <p:cNvSpPr/>
          <p:nvPr/>
        </p:nvSpPr>
        <p:spPr>
          <a:xfrm>
            <a:off x="4992624" y="3383280"/>
            <a:ext cx="1049731"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tar / zip</a:t>
            </a:r>
            <a:endParaRPr b="0" i="0" sz="1250" u="none" cap="none" strike="noStrike">
              <a:solidFill>
                <a:schemeClr val="dk1"/>
              </a:solidFill>
              <a:latin typeface="Calibri"/>
              <a:ea typeface="Calibri"/>
              <a:cs typeface="Calibri"/>
              <a:sym typeface="Calibri"/>
            </a:endParaRPr>
          </a:p>
        </p:txBody>
      </p:sp>
      <p:sp>
        <p:nvSpPr>
          <p:cNvPr id="1404" name="Google Shape;1404;p46"/>
          <p:cNvSpPr/>
          <p:nvPr/>
        </p:nvSpPr>
        <p:spPr>
          <a:xfrm>
            <a:off x="6206947" y="3383280"/>
            <a:ext cx="544982" cy="457200"/>
          </a:xfrm>
          <a:prstGeom prst="roundRect">
            <a:avLst>
              <a:gd fmla="val 20000"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5" name="Google Shape;1405;p46"/>
          <p:cNvSpPr/>
          <p:nvPr/>
        </p:nvSpPr>
        <p:spPr>
          <a:xfrm>
            <a:off x="6206947" y="3383280"/>
            <a:ext cx="544982"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BD5E1"/>
              </a:buClr>
              <a:buSzPts val="1250"/>
              <a:buFont typeface="Calibri"/>
              <a:buNone/>
            </a:pPr>
            <a:r>
              <a:rPr b="0" i="0" lang="en-US" sz="1250" u="none" cap="none" strike="noStrike">
                <a:solidFill>
                  <a:srgbClr val="CBD5E1"/>
                </a:solidFill>
                <a:latin typeface="Calibri"/>
                <a:ea typeface="Calibri"/>
                <a:cs typeface="Calibri"/>
                <a:sym typeface="Calibri"/>
              </a:rPr>
              <a:t>LVM</a:t>
            </a:r>
            <a:endParaRPr b="0" i="0" sz="1250" u="none" cap="none" strike="noStrike">
              <a:solidFill>
                <a:schemeClr val="dk1"/>
              </a:solidFill>
              <a:latin typeface="Calibri"/>
              <a:ea typeface="Calibri"/>
              <a:cs typeface="Calibri"/>
              <a:sym typeface="Calibri"/>
            </a:endParaRPr>
          </a:p>
        </p:txBody>
      </p:sp>
      <p:sp>
        <p:nvSpPr>
          <p:cNvPr id="1406" name="Google Shape;1406;p46"/>
          <p:cNvSpPr/>
          <p:nvPr/>
        </p:nvSpPr>
        <p:spPr>
          <a:xfrm>
            <a:off x="640080" y="4572000"/>
            <a:ext cx="73152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4748B"/>
              </a:buClr>
              <a:buSzPts val="1000"/>
              <a:buFont typeface="Calibri"/>
              <a:buNone/>
            </a:pPr>
            <a:r>
              <a:rPr b="0" i="1" lang="en-US" sz="1000" u="none" cap="none" strike="noStrike">
                <a:solidFill>
                  <a:srgbClr val="64748B"/>
                </a:solidFill>
                <a:latin typeface="Calibri"/>
                <a:ea typeface="Calibri"/>
                <a:cs typeface="Calibri"/>
                <a:sym typeface="Calibri"/>
              </a:rPr>
              <a:t>the command line is the DevOps workplace</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411" name="Shape 1411"/>
        <p:cNvGrpSpPr/>
        <p:nvPr/>
      </p:nvGrpSpPr>
      <p:grpSpPr>
        <a:xfrm>
          <a:off x="0" y="0"/>
          <a:ext cx="0" cy="0"/>
          <a:chOff x="0" y="0"/>
          <a:chExt cx="0" cy="0"/>
        </a:xfrm>
      </p:grpSpPr>
      <p:sp>
        <p:nvSpPr>
          <p:cNvPr id="1412" name="Google Shape;1412;p47"/>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Bash scripting: the basics</a:t>
            </a:r>
            <a:endParaRPr b="0" i="0" sz="2900" u="none" cap="none" strike="noStrike">
              <a:solidFill>
                <a:schemeClr val="dk1"/>
              </a:solidFill>
              <a:latin typeface="Calibri"/>
              <a:ea typeface="Calibri"/>
              <a:cs typeface="Calibri"/>
              <a:sym typeface="Calibri"/>
            </a:endParaRPr>
          </a:p>
        </p:txBody>
      </p:sp>
      <p:sp>
        <p:nvSpPr>
          <p:cNvPr id="1413" name="Google Shape;1413;p47"/>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14" name="Google Shape;1414;p47"/>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1415" name="Google Shape;1415;p47"/>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You typed the same five commands three times today — put them in a script and never retype them.</a:t>
            </a:r>
            <a:endParaRPr b="0" i="0" sz="1300" u="none" cap="none" strike="noStrike">
              <a:solidFill>
                <a:schemeClr val="dk1"/>
              </a:solidFill>
              <a:latin typeface="Calibri"/>
              <a:ea typeface="Calibri"/>
              <a:cs typeface="Calibri"/>
              <a:sym typeface="Calibri"/>
            </a:endParaRPr>
          </a:p>
        </p:txBody>
      </p:sp>
      <p:sp>
        <p:nvSpPr>
          <p:cNvPr id="1416" name="Google Shape;1416;p47"/>
          <p:cNvSpPr/>
          <p:nvPr/>
        </p:nvSpPr>
        <p:spPr>
          <a:xfrm>
            <a:off x="457200" y="1371600"/>
            <a:ext cx="4297680" cy="3246120"/>
          </a:xfrm>
          <a:prstGeom prst="roundRect">
            <a:avLst>
              <a:gd fmla="val 225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7" name="Google Shape;1417;p47"/>
          <p:cNvSpPr/>
          <p:nvPr/>
        </p:nvSpPr>
        <p:spPr>
          <a:xfrm>
            <a:off x="6400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8" name="Google Shape;1418;p47"/>
          <p:cNvSpPr/>
          <p:nvPr/>
        </p:nvSpPr>
        <p:spPr>
          <a:xfrm>
            <a:off x="7863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9" name="Google Shape;1419;p47"/>
          <p:cNvSpPr/>
          <p:nvPr/>
        </p:nvSpPr>
        <p:spPr>
          <a:xfrm>
            <a:off x="9326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0" name="Google Shape;1420;p47"/>
          <p:cNvSpPr/>
          <p:nvPr/>
        </p:nvSpPr>
        <p:spPr>
          <a:xfrm>
            <a:off x="1097280" y="1444752"/>
            <a:ext cx="338328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deploy.sh</a:t>
            </a:r>
            <a:endParaRPr b="0" i="0" sz="900" u="none" cap="none" strike="noStrike">
              <a:solidFill>
                <a:schemeClr val="dk1"/>
              </a:solidFill>
              <a:latin typeface="Calibri"/>
              <a:ea typeface="Calibri"/>
              <a:cs typeface="Calibri"/>
              <a:sym typeface="Calibri"/>
            </a:endParaRPr>
          </a:p>
        </p:txBody>
      </p:sp>
      <p:cxnSp>
        <p:nvCxnSpPr>
          <p:cNvPr id="1421" name="Google Shape;1421;p47"/>
          <p:cNvCxnSpPr/>
          <p:nvPr/>
        </p:nvCxnSpPr>
        <p:spPr>
          <a:xfrm>
            <a:off x="457200" y="1737360"/>
            <a:ext cx="4297680" cy="0"/>
          </a:xfrm>
          <a:prstGeom prst="straightConnector1">
            <a:avLst/>
          </a:prstGeom>
          <a:noFill/>
          <a:ln cap="flat" cmpd="sng" w="12700">
            <a:solidFill>
              <a:srgbClr val="1E293B"/>
            </a:solidFill>
            <a:prstDash val="solid"/>
            <a:round/>
            <a:headEnd len="sm" w="sm" type="none"/>
            <a:tailEnd len="sm" w="sm" type="none"/>
          </a:ln>
        </p:spPr>
      </p:cxnSp>
      <p:sp>
        <p:nvSpPr>
          <p:cNvPr id="1422" name="Google Shape;1422;p47"/>
          <p:cNvSpPr/>
          <p:nvPr/>
        </p:nvSpPr>
        <p:spPr>
          <a:xfrm>
            <a:off x="658368" y="1847088"/>
            <a:ext cx="3895344" cy="26609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#!/usr/bin/env bash</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set -euo pipefail</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variables: NO spaces around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APP=myapp</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DIR="/opt/$APP"</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positional args + read</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VERSION="$1"</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echo "Deploying $APP $VERSION"</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echo "into $DIR"</a:t>
            </a:r>
            <a:endParaRPr b="0" i="0" sz="1050" u="none" cap="none" strike="noStrike">
              <a:solidFill>
                <a:schemeClr val="dk1"/>
              </a:solidFill>
              <a:latin typeface="Calibri"/>
              <a:ea typeface="Calibri"/>
              <a:cs typeface="Calibri"/>
              <a:sym typeface="Calibri"/>
            </a:endParaRPr>
          </a:p>
        </p:txBody>
      </p:sp>
      <p:sp>
        <p:nvSpPr>
          <p:cNvPr id="1423" name="Google Shape;1423;p47"/>
          <p:cNvSpPr/>
          <p:nvPr/>
        </p:nvSpPr>
        <p:spPr>
          <a:xfrm>
            <a:off x="4937760" y="1371600"/>
            <a:ext cx="3749040" cy="3035808"/>
          </a:xfrm>
          <a:prstGeom prst="roundRect">
            <a:avLst>
              <a:gd fmla="val 180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4" name="Google Shape;1424;p47"/>
          <p:cNvSpPr/>
          <p:nvPr/>
        </p:nvSpPr>
        <p:spPr>
          <a:xfrm>
            <a:off x="5138928" y="1517904"/>
            <a:ext cx="338328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ESSENTIALS</a:t>
            </a:r>
            <a:endParaRPr b="0" i="0" sz="1250" u="none" cap="none" strike="noStrike">
              <a:solidFill>
                <a:schemeClr val="dk1"/>
              </a:solidFill>
              <a:latin typeface="Calibri"/>
              <a:ea typeface="Calibri"/>
              <a:cs typeface="Calibri"/>
              <a:sym typeface="Calibri"/>
            </a:endParaRPr>
          </a:p>
        </p:txBody>
      </p:sp>
      <p:sp>
        <p:nvSpPr>
          <p:cNvPr id="1425" name="Google Shape;1425;p47"/>
          <p:cNvSpPr/>
          <p:nvPr/>
        </p:nvSpPr>
        <p:spPr>
          <a:xfrm>
            <a:off x="513892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#!/.../bash</a:t>
            </a:r>
            <a:endParaRPr b="0" i="0" sz="1150" u="none" cap="none" strike="noStrike">
              <a:solidFill>
                <a:schemeClr val="dk1"/>
              </a:solidFill>
              <a:latin typeface="Calibri"/>
              <a:ea typeface="Calibri"/>
              <a:cs typeface="Calibri"/>
              <a:sym typeface="Calibri"/>
            </a:endParaRPr>
          </a:p>
        </p:txBody>
      </p:sp>
      <p:sp>
        <p:nvSpPr>
          <p:cNvPr id="1426" name="Google Shape;1426;p47"/>
          <p:cNvSpPr/>
          <p:nvPr/>
        </p:nvSpPr>
        <p:spPr>
          <a:xfrm>
            <a:off x="6949440" y="1901952"/>
            <a:ext cx="149047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shebang: which interpreter</a:t>
            </a:r>
            <a:endParaRPr b="0" i="0" sz="1100" u="none" cap="none" strike="noStrike">
              <a:solidFill>
                <a:schemeClr val="dk1"/>
              </a:solidFill>
              <a:latin typeface="Calibri"/>
              <a:ea typeface="Calibri"/>
              <a:cs typeface="Calibri"/>
              <a:sym typeface="Calibri"/>
            </a:endParaRPr>
          </a:p>
        </p:txBody>
      </p:sp>
      <p:sp>
        <p:nvSpPr>
          <p:cNvPr id="1427" name="Google Shape;1427;p47"/>
          <p:cNvSpPr/>
          <p:nvPr/>
        </p:nvSpPr>
        <p:spPr>
          <a:xfrm>
            <a:off x="513892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chmod +x</a:t>
            </a:r>
            <a:endParaRPr b="0" i="0" sz="1150" u="none" cap="none" strike="noStrike">
              <a:solidFill>
                <a:schemeClr val="dk1"/>
              </a:solidFill>
              <a:latin typeface="Calibri"/>
              <a:ea typeface="Calibri"/>
              <a:cs typeface="Calibri"/>
              <a:sym typeface="Calibri"/>
            </a:endParaRPr>
          </a:p>
        </p:txBody>
      </p:sp>
      <p:sp>
        <p:nvSpPr>
          <p:cNvPr id="1428" name="Google Shape;1428;p47"/>
          <p:cNvSpPr/>
          <p:nvPr/>
        </p:nvSpPr>
        <p:spPr>
          <a:xfrm>
            <a:off x="6949440" y="2304288"/>
            <a:ext cx="149047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make the script runnable</a:t>
            </a:r>
            <a:endParaRPr b="0" i="0" sz="1100" u="none" cap="none" strike="noStrike">
              <a:solidFill>
                <a:schemeClr val="dk1"/>
              </a:solidFill>
              <a:latin typeface="Calibri"/>
              <a:ea typeface="Calibri"/>
              <a:cs typeface="Calibri"/>
              <a:sym typeface="Calibri"/>
            </a:endParaRPr>
          </a:p>
        </p:txBody>
      </p:sp>
      <p:sp>
        <p:nvSpPr>
          <p:cNvPr id="1429" name="Google Shape;1429;p47"/>
          <p:cNvSpPr/>
          <p:nvPr/>
        </p:nvSpPr>
        <p:spPr>
          <a:xfrm>
            <a:off x="513892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VAR=value</a:t>
            </a:r>
            <a:endParaRPr b="0" i="0" sz="1150" u="none" cap="none" strike="noStrike">
              <a:solidFill>
                <a:schemeClr val="dk1"/>
              </a:solidFill>
              <a:latin typeface="Calibri"/>
              <a:ea typeface="Calibri"/>
              <a:cs typeface="Calibri"/>
              <a:sym typeface="Calibri"/>
            </a:endParaRPr>
          </a:p>
        </p:txBody>
      </p:sp>
      <p:sp>
        <p:nvSpPr>
          <p:cNvPr id="1430" name="Google Shape;1430;p47"/>
          <p:cNvSpPr/>
          <p:nvPr/>
        </p:nvSpPr>
        <p:spPr>
          <a:xfrm>
            <a:off x="6949440" y="2706624"/>
            <a:ext cx="149047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assign (no spaces!)</a:t>
            </a:r>
            <a:endParaRPr b="0" i="0" sz="1100" u="none" cap="none" strike="noStrike">
              <a:solidFill>
                <a:schemeClr val="dk1"/>
              </a:solidFill>
              <a:latin typeface="Calibri"/>
              <a:ea typeface="Calibri"/>
              <a:cs typeface="Calibri"/>
              <a:sym typeface="Calibri"/>
            </a:endParaRPr>
          </a:p>
        </p:txBody>
      </p:sp>
      <p:sp>
        <p:nvSpPr>
          <p:cNvPr id="1431" name="Google Shape;1431;p47"/>
          <p:cNvSpPr/>
          <p:nvPr/>
        </p:nvSpPr>
        <p:spPr>
          <a:xfrm>
            <a:off x="513892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"$VAR"</a:t>
            </a:r>
            <a:endParaRPr b="0" i="0" sz="1150" u="none" cap="none" strike="noStrike">
              <a:solidFill>
                <a:schemeClr val="dk1"/>
              </a:solidFill>
              <a:latin typeface="Calibri"/>
              <a:ea typeface="Calibri"/>
              <a:cs typeface="Calibri"/>
              <a:sym typeface="Calibri"/>
            </a:endParaRPr>
          </a:p>
        </p:txBody>
      </p:sp>
      <p:sp>
        <p:nvSpPr>
          <p:cNvPr id="1432" name="Google Shape;1432;p47"/>
          <p:cNvSpPr/>
          <p:nvPr/>
        </p:nvSpPr>
        <p:spPr>
          <a:xfrm>
            <a:off x="6949440" y="3108960"/>
            <a:ext cx="149047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always quote expansions</a:t>
            </a:r>
            <a:endParaRPr b="0" i="0" sz="1100" u="none" cap="none" strike="noStrike">
              <a:solidFill>
                <a:schemeClr val="dk1"/>
              </a:solidFill>
              <a:latin typeface="Calibri"/>
              <a:ea typeface="Calibri"/>
              <a:cs typeface="Calibri"/>
              <a:sym typeface="Calibri"/>
            </a:endParaRPr>
          </a:p>
        </p:txBody>
      </p:sp>
      <p:sp>
        <p:nvSpPr>
          <p:cNvPr id="1433" name="Google Shape;1433;p47"/>
          <p:cNvSpPr/>
          <p:nvPr/>
        </p:nvSpPr>
        <p:spPr>
          <a:xfrm>
            <a:off x="513892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$1 $@ $#</a:t>
            </a:r>
            <a:endParaRPr b="0" i="0" sz="1150" u="none" cap="none" strike="noStrike">
              <a:solidFill>
                <a:schemeClr val="dk1"/>
              </a:solidFill>
              <a:latin typeface="Calibri"/>
              <a:ea typeface="Calibri"/>
              <a:cs typeface="Calibri"/>
              <a:sym typeface="Calibri"/>
            </a:endParaRPr>
          </a:p>
        </p:txBody>
      </p:sp>
      <p:sp>
        <p:nvSpPr>
          <p:cNvPr id="1434" name="Google Shape;1434;p47"/>
          <p:cNvSpPr/>
          <p:nvPr/>
        </p:nvSpPr>
        <p:spPr>
          <a:xfrm>
            <a:off x="6949440" y="3511296"/>
            <a:ext cx="149047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args: first / all / count</a:t>
            </a:r>
            <a:endParaRPr b="0" i="0" sz="1100" u="none" cap="none" strike="noStrike">
              <a:solidFill>
                <a:schemeClr val="dk1"/>
              </a:solidFill>
              <a:latin typeface="Calibri"/>
              <a:ea typeface="Calibri"/>
              <a:cs typeface="Calibri"/>
              <a:sym typeface="Calibri"/>
            </a:endParaRPr>
          </a:p>
        </p:txBody>
      </p:sp>
      <p:sp>
        <p:nvSpPr>
          <p:cNvPr id="1435" name="Google Shape;1435;p47"/>
          <p:cNvSpPr/>
          <p:nvPr/>
        </p:nvSpPr>
        <p:spPr>
          <a:xfrm>
            <a:off x="513892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set -euo</a:t>
            </a:r>
            <a:endParaRPr b="0" i="0" sz="1150" u="none" cap="none" strike="noStrike">
              <a:solidFill>
                <a:schemeClr val="dk1"/>
              </a:solidFill>
              <a:latin typeface="Calibri"/>
              <a:ea typeface="Calibri"/>
              <a:cs typeface="Calibri"/>
              <a:sym typeface="Calibri"/>
            </a:endParaRPr>
          </a:p>
        </p:txBody>
      </p:sp>
      <p:sp>
        <p:nvSpPr>
          <p:cNvPr id="1436" name="Google Shape;1436;p47"/>
          <p:cNvSpPr/>
          <p:nvPr/>
        </p:nvSpPr>
        <p:spPr>
          <a:xfrm>
            <a:off x="6949440" y="3913632"/>
            <a:ext cx="149047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fail fast &amp; loud</a:t>
            </a:r>
            <a:endParaRPr b="0" i="0" sz="1100" u="none" cap="none" strike="noStrike">
              <a:solidFill>
                <a:schemeClr val="dk1"/>
              </a:solidFill>
              <a:latin typeface="Calibri"/>
              <a:ea typeface="Calibri"/>
              <a:cs typeface="Calibri"/>
              <a:sym typeface="Calibri"/>
            </a:endParaRPr>
          </a:p>
        </p:txBody>
      </p:sp>
      <p:sp>
        <p:nvSpPr>
          <p:cNvPr id="1437" name="Google Shape;1437;p47"/>
          <p:cNvSpPr/>
          <p:nvPr/>
        </p:nvSpPr>
        <p:spPr>
          <a:xfrm>
            <a:off x="4937760" y="3977640"/>
            <a:ext cx="3749040" cy="640080"/>
          </a:xfrm>
          <a:prstGeom prst="roundRect">
            <a:avLst>
              <a:gd fmla="val 8571" name="adj"/>
            </a:avLst>
          </a:prstGeom>
          <a:solidFill>
            <a:srgbClr val="F0FDFA"/>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8" name="Google Shape;1438;p47"/>
          <p:cNvSpPr/>
          <p:nvPr/>
        </p:nvSpPr>
        <p:spPr>
          <a:xfrm>
            <a:off x="5120640" y="4023360"/>
            <a:ext cx="338328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050"/>
              <a:buFont typeface="Courier New"/>
              <a:buNone/>
            </a:pPr>
            <a:r>
              <a:rPr b="1" i="0" lang="en-US" sz="1050" u="none" cap="none" strike="noStrike">
                <a:solidFill>
                  <a:srgbClr val="0F766E"/>
                </a:solidFill>
                <a:latin typeface="Courier New"/>
                <a:ea typeface="Courier New"/>
                <a:cs typeface="Courier New"/>
                <a:sym typeface="Courier New"/>
              </a:rPr>
              <a:t>set -euo pipefail</a:t>
            </a:r>
            <a:r>
              <a:rPr b="0" i="0" lang="en-US" sz="1050" u="none" cap="none" strike="noStrike">
                <a:solidFill>
                  <a:srgbClr val="1E293B"/>
                </a:solidFill>
                <a:latin typeface="Calibri"/>
                <a:ea typeface="Calibri"/>
                <a:cs typeface="Calibri"/>
                <a:sym typeface="Calibri"/>
              </a:rPr>
              <a:t> = exit on error, on unset vars, and on any pipe failure. Use it in every script.</a:t>
            </a:r>
            <a:endParaRPr b="0" i="0" sz="1050" u="none" cap="none" strike="noStrike">
              <a:solidFill>
                <a:schemeClr val="dk1"/>
              </a:solidFill>
              <a:latin typeface="Calibri"/>
              <a:ea typeface="Calibri"/>
              <a:cs typeface="Calibri"/>
              <a:sym typeface="Calibri"/>
            </a:endParaRPr>
          </a:p>
        </p:txBody>
      </p:sp>
      <p:sp>
        <p:nvSpPr>
          <p:cNvPr id="1439" name="Google Shape;1439;p47"/>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1440" name="Google Shape;1440;p47"/>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6 · Scripting &amp; Storage</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445" name="Shape 1445"/>
        <p:cNvGrpSpPr/>
        <p:nvPr/>
      </p:nvGrpSpPr>
      <p:grpSpPr>
        <a:xfrm>
          <a:off x="0" y="0"/>
          <a:ext cx="0" cy="0"/>
          <a:chOff x="0" y="0"/>
          <a:chExt cx="0" cy="0"/>
        </a:xfrm>
      </p:grpSpPr>
      <p:sp>
        <p:nvSpPr>
          <p:cNvPr id="1446" name="Google Shape;1446;p48"/>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Command substitution &amp; exit codes</a:t>
            </a:r>
            <a:endParaRPr b="0" i="0" sz="2900" u="none" cap="none" strike="noStrike">
              <a:solidFill>
                <a:schemeClr val="dk1"/>
              </a:solidFill>
              <a:latin typeface="Calibri"/>
              <a:ea typeface="Calibri"/>
              <a:cs typeface="Calibri"/>
              <a:sym typeface="Calibri"/>
            </a:endParaRPr>
          </a:p>
        </p:txBody>
      </p:sp>
      <p:sp>
        <p:nvSpPr>
          <p:cNvPr id="1447" name="Google Shape;1447;p48"/>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48" name="Google Shape;1448;p48"/>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1449" name="Google Shape;1449;p48"/>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Scripts need to capture output and react to whether a command succeeded.</a:t>
            </a:r>
            <a:endParaRPr b="0" i="0" sz="1300" u="none" cap="none" strike="noStrike">
              <a:solidFill>
                <a:schemeClr val="dk1"/>
              </a:solidFill>
              <a:latin typeface="Calibri"/>
              <a:ea typeface="Calibri"/>
              <a:cs typeface="Calibri"/>
              <a:sym typeface="Calibri"/>
            </a:endParaRPr>
          </a:p>
        </p:txBody>
      </p:sp>
      <p:sp>
        <p:nvSpPr>
          <p:cNvPr id="1450" name="Google Shape;1450;p48"/>
          <p:cNvSpPr/>
          <p:nvPr/>
        </p:nvSpPr>
        <p:spPr>
          <a:xfrm>
            <a:off x="457200" y="1371600"/>
            <a:ext cx="4160520" cy="3035808"/>
          </a:xfrm>
          <a:prstGeom prst="roundRect">
            <a:avLst>
              <a:gd fmla="val 180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1" name="Google Shape;1451;p48"/>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CAPTURE &amp; CHECK</a:t>
            </a:r>
            <a:endParaRPr b="0" i="0" sz="1250" u="none" cap="none" strike="noStrike">
              <a:solidFill>
                <a:schemeClr val="dk1"/>
              </a:solidFill>
              <a:latin typeface="Calibri"/>
              <a:ea typeface="Calibri"/>
              <a:cs typeface="Calibri"/>
              <a:sym typeface="Calibri"/>
            </a:endParaRPr>
          </a:p>
        </p:txBody>
      </p:sp>
      <p:sp>
        <p:nvSpPr>
          <p:cNvPr id="1452" name="Google Shape;1452;p48"/>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$(cmd)</a:t>
            </a:r>
            <a:endParaRPr b="0" i="0" sz="1150" u="none" cap="none" strike="noStrike">
              <a:solidFill>
                <a:schemeClr val="dk1"/>
              </a:solidFill>
              <a:latin typeface="Calibri"/>
              <a:ea typeface="Calibri"/>
              <a:cs typeface="Calibri"/>
              <a:sym typeface="Calibri"/>
            </a:endParaRPr>
          </a:p>
        </p:txBody>
      </p:sp>
      <p:sp>
        <p:nvSpPr>
          <p:cNvPr id="1453" name="Google Shape;1453;p48"/>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capture a command's output</a:t>
            </a:r>
            <a:endParaRPr b="0" i="0" sz="1100" u="none" cap="none" strike="noStrike">
              <a:solidFill>
                <a:schemeClr val="dk1"/>
              </a:solidFill>
              <a:latin typeface="Calibri"/>
              <a:ea typeface="Calibri"/>
              <a:cs typeface="Calibri"/>
              <a:sym typeface="Calibri"/>
            </a:endParaRPr>
          </a:p>
        </p:txBody>
      </p:sp>
      <p:sp>
        <p:nvSpPr>
          <p:cNvPr id="1454" name="Google Shape;1454;p48"/>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VAR=$(date +%F)</a:t>
            </a:r>
            <a:endParaRPr b="0" i="0" sz="1150" u="none" cap="none" strike="noStrike">
              <a:solidFill>
                <a:schemeClr val="dk1"/>
              </a:solidFill>
              <a:latin typeface="Calibri"/>
              <a:ea typeface="Calibri"/>
              <a:cs typeface="Calibri"/>
              <a:sym typeface="Calibri"/>
            </a:endParaRPr>
          </a:p>
        </p:txBody>
      </p:sp>
      <p:sp>
        <p:nvSpPr>
          <p:cNvPr id="1455" name="Google Shape;1455;p48"/>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today's date into a var</a:t>
            </a:r>
            <a:endParaRPr b="0" i="0" sz="1100" u="none" cap="none" strike="noStrike">
              <a:solidFill>
                <a:schemeClr val="dk1"/>
              </a:solidFill>
              <a:latin typeface="Calibri"/>
              <a:ea typeface="Calibri"/>
              <a:cs typeface="Calibri"/>
              <a:sym typeface="Calibri"/>
            </a:endParaRPr>
          </a:p>
        </p:txBody>
      </p:sp>
      <p:sp>
        <p:nvSpPr>
          <p:cNvPr id="1456" name="Google Shape;1456;p48"/>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a:t>
            </a:r>
            <a:endParaRPr b="0" i="0" sz="1150" u="none" cap="none" strike="noStrike">
              <a:solidFill>
                <a:schemeClr val="dk1"/>
              </a:solidFill>
              <a:latin typeface="Calibri"/>
              <a:ea typeface="Calibri"/>
              <a:cs typeface="Calibri"/>
              <a:sym typeface="Calibri"/>
            </a:endParaRPr>
          </a:p>
        </p:txBody>
      </p:sp>
      <p:sp>
        <p:nvSpPr>
          <p:cNvPr id="1457" name="Google Shape;1457;p48"/>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exit code of last command</a:t>
            </a:r>
            <a:endParaRPr b="0" i="0" sz="1100" u="none" cap="none" strike="noStrike">
              <a:solidFill>
                <a:schemeClr val="dk1"/>
              </a:solidFill>
              <a:latin typeface="Calibri"/>
              <a:ea typeface="Calibri"/>
              <a:cs typeface="Calibri"/>
              <a:sym typeface="Calibri"/>
            </a:endParaRPr>
          </a:p>
        </p:txBody>
      </p:sp>
      <p:sp>
        <p:nvSpPr>
          <p:cNvPr id="1458" name="Google Shape;1458;p48"/>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0 = success</a:t>
            </a:r>
            <a:endParaRPr b="0" i="0" sz="1150" u="none" cap="none" strike="noStrike">
              <a:solidFill>
                <a:schemeClr val="dk1"/>
              </a:solidFill>
              <a:latin typeface="Calibri"/>
              <a:ea typeface="Calibri"/>
              <a:cs typeface="Calibri"/>
              <a:sym typeface="Calibri"/>
            </a:endParaRPr>
          </a:p>
        </p:txBody>
      </p:sp>
      <p:sp>
        <p:nvSpPr>
          <p:cNvPr id="1459" name="Google Shape;1459;p48"/>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non-zero = failure</a:t>
            </a:r>
            <a:endParaRPr b="0" i="0" sz="1100" u="none" cap="none" strike="noStrike">
              <a:solidFill>
                <a:schemeClr val="dk1"/>
              </a:solidFill>
              <a:latin typeface="Calibri"/>
              <a:ea typeface="Calibri"/>
              <a:cs typeface="Calibri"/>
              <a:sym typeface="Calibri"/>
            </a:endParaRPr>
          </a:p>
        </p:txBody>
      </p:sp>
      <p:sp>
        <p:nvSpPr>
          <p:cNvPr id="1460" name="Google Shape;1460;p48"/>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a &amp;&amp; b</a:t>
            </a:r>
            <a:endParaRPr b="0" i="0" sz="1150" u="none" cap="none" strike="noStrike">
              <a:solidFill>
                <a:schemeClr val="dk1"/>
              </a:solidFill>
              <a:latin typeface="Calibri"/>
              <a:ea typeface="Calibri"/>
              <a:cs typeface="Calibri"/>
              <a:sym typeface="Calibri"/>
            </a:endParaRPr>
          </a:p>
        </p:txBody>
      </p:sp>
      <p:sp>
        <p:nvSpPr>
          <p:cNvPr id="1461" name="Google Shape;1461;p48"/>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run b only if a succeeded</a:t>
            </a:r>
            <a:endParaRPr b="0" i="0" sz="1100" u="none" cap="none" strike="noStrike">
              <a:solidFill>
                <a:schemeClr val="dk1"/>
              </a:solidFill>
              <a:latin typeface="Calibri"/>
              <a:ea typeface="Calibri"/>
              <a:cs typeface="Calibri"/>
              <a:sym typeface="Calibri"/>
            </a:endParaRPr>
          </a:p>
        </p:txBody>
      </p:sp>
      <p:sp>
        <p:nvSpPr>
          <p:cNvPr id="1462" name="Google Shape;1462;p48"/>
          <p:cNvSpPr/>
          <p:nvPr/>
        </p:nvSpPr>
        <p:spPr>
          <a:xfrm>
            <a:off x="65836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a || b</a:t>
            </a:r>
            <a:endParaRPr b="0" i="0" sz="1150" u="none" cap="none" strike="noStrike">
              <a:solidFill>
                <a:schemeClr val="dk1"/>
              </a:solidFill>
              <a:latin typeface="Calibri"/>
              <a:ea typeface="Calibri"/>
              <a:cs typeface="Calibri"/>
              <a:sym typeface="Calibri"/>
            </a:endParaRPr>
          </a:p>
        </p:txBody>
      </p:sp>
      <p:sp>
        <p:nvSpPr>
          <p:cNvPr id="1463" name="Google Shape;1463;p48"/>
          <p:cNvSpPr/>
          <p:nvPr/>
        </p:nvSpPr>
        <p:spPr>
          <a:xfrm>
            <a:off x="2468880" y="391363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run b only if a failed</a:t>
            </a:r>
            <a:endParaRPr b="0" i="0" sz="1100" u="none" cap="none" strike="noStrike">
              <a:solidFill>
                <a:schemeClr val="dk1"/>
              </a:solidFill>
              <a:latin typeface="Calibri"/>
              <a:ea typeface="Calibri"/>
              <a:cs typeface="Calibri"/>
              <a:sym typeface="Calibri"/>
            </a:endParaRPr>
          </a:p>
        </p:txBody>
      </p:sp>
      <p:sp>
        <p:nvSpPr>
          <p:cNvPr id="1464" name="Google Shape;1464;p48"/>
          <p:cNvSpPr/>
          <p:nvPr/>
        </p:nvSpPr>
        <p:spPr>
          <a:xfrm>
            <a:off x="4800600" y="1371600"/>
            <a:ext cx="3886200" cy="3246120"/>
          </a:xfrm>
          <a:prstGeom prst="roundRect">
            <a:avLst>
              <a:gd fmla="val 225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5" name="Google Shape;1465;p48"/>
          <p:cNvSpPr/>
          <p:nvPr/>
        </p:nvSpPr>
        <p:spPr>
          <a:xfrm>
            <a:off x="49834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6" name="Google Shape;1466;p48"/>
          <p:cNvSpPr/>
          <p:nvPr/>
        </p:nvSpPr>
        <p:spPr>
          <a:xfrm>
            <a:off x="51297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7" name="Google Shape;1467;p48"/>
          <p:cNvSpPr/>
          <p:nvPr/>
        </p:nvSpPr>
        <p:spPr>
          <a:xfrm>
            <a:off x="52760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8" name="Google Shape;1468;p48"/>
          <p:cNvSpPr/>
          <p:nvPr/>
        </p:nvSpPr>
        <p:spPr>
          <a:xfrm>
            <a:off x="5440680" y="144475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backup.sh</a:t>
            </a:r>
            <a:endParaRPr b="0" i="0" sz="900" u="none" cap="none" strike="noStrike">
              <a:solidFill>
                <a:schemeClr val="dk1"/>
              </a:solidFill>
              <a:latin typeface="Calibri"/>
              <a:ea typeface="Calibri"/>
              <a:cs typeface="Calibri"/>
              <a:sym typeface="Calibri"/>
            </a:endParaRPr>
          </a:p>
        </p:txBody>
      </p:sp>
      <p:cxnSp>
        <p:nvCxnSpPr>
          <p:cNvPr id="1469" name="Google Shape;1469;p48"/>
          <p:cNvCxnSpPr/>
          <p:nvPr/>
        </p:nvCxnSpPr>
        <p:spPr>
          <a:xfrm>
            <a:off x="4800600" y="1737360"/>
            <a:ext cx="3886200" cy="0"/>
          </a:xfrm>
          <a:prstGeom prst="straightConnector1">
            <a:avLst/>
          </a:prstGeom>
          <a:noFill/>
          <a:ln cap="flat" cmpd="sng" w="12700">
            <a:solidFill>
              <a:srgbClr val="1E293B"/>
            </a:solidFill>
            <a:prstDash val="solid"/>
            <a:round/>
            <a:headEnd len="sm" w="sm" type="none"/>
            <a:tailEnd len="sm" w="sm" type="none"/>
          </a:ln>
        </p:spPr>
      </p:cxnSp>
      <p:sp>
        <p:nvSpPr>
          <p:cNvPr id="1470" name="Google Shape;1470;p48"/>
          <p:cNvSpPr/>
          <p:nvPr/>
        </p:nvSpPr>
        <p:spPr>
          <a:xfrm>
            <a:off x="5001768" y="1847088"/>
            <a:ext cx="3483864" cy="26609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timestamped filename</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STAMP=$(date +%Y%m%d-%H%M)</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FILE="backup-$STAMP.tar.gz"</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act on success / failure</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if pg_dump app &gt; db.sql; then</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  echo "dump ok"</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else</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  echo "dump FAILED ($?)" &gt;&amp;2</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  exit 1</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fi</a:t>
            </a:r>
            <a:endParaRPr b="0" i="0" sz="1050" u="none" cap="none" strike="noStrike">
              <a:solidFill>
                <a:schemeClr val="dk1"/>
              </a:solidFill>
              <a:latin typeface="Calibri"/>
              <a:ea typeface="Calibri"/>
              <a:cs typeface="Calibri"/>
              <a:sym typeface="Calibri"/>
            </a:endParaRPr>
          </a:p>
        </p:txBody>
      </p:sp>
      <p:sp>
        <p:nvSpPr>
          <p:cNvPr id="1471" name="Google Shape;1471;p48"/>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1472" name="Google Shape;1472;p48"/>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6 · Scripting &amp; Storage</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477" name="Shape 1477"/>
        <p:cNvGrpSpPr/>
        <p:nvPr/>
      </p:nvGrpSpPr>
      <p:grpSpPr>
        <a:xfrm>
          <a:off x="0" y="0"/>
          <a:ext cx="0" cy="0"/>
          <a:chOff x="0" y="0"/>
          <a:chExt cx="0" cy="0"/>
        </a:xfrm>
      </p:grpSpPr>
      <p:sp>
        <p:nvSpPr>
          <p:cNvPr id="1478" name="Google Shape;1478;p49"/>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Conditionals: making decisions</a:t>
            </a:r>
            <a:endParaRPr b="0" i="0" sz="2900" u="none" cap="none" strike="noStrike">
              <a:solidFill>
                <a:schemeClr val="dk1"/>
              </a:solidFill>
              <a:latin typeface="Calibri"/>
              <a:ea typeface="Calibri"/>
              <a:cs typeface="Calibri"/>
              <a:sym typeface="Calibri"/>
            </a:endParaRPr>
          </a:p>
        </p:txBody>
      </p:sp>
      <p:sp>
        <p:nvSpPr>
          <p:cNvPr id="1479" name="Google Shape;1479;p49"/>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80" name="Google Shape;1480;p49"/>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1481" name="Google Shape;1481;p49"/>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A deploy script should check things first — does the dir exist? is the arg present?</a:t>
            </a:r>
            <a:endParaRPr b="0" i="0" sz="1300" u="none" cap="none" strike="noStrike">
              <a:solidFill>
                <a:schemeClr val="dk1"/>
              </a:solidFill>
              <a:latin typeface="Calibri"/>
              <a:ea typeface="Calibri"/>
              <a:cs typeface="Calibri"/>
              <a:sym typeface="Calibri"/>
            </a:endParaRPr>
          </a:p>
        </p:txBody>
      </p:sp>
      <p:sp>
        <p:nvSpPr>
          <p:cNvPr id="1482" name="Google Shape;1482;p49"/>
          <p:cNvSpPr/>
          <p:nvPr/>
        </p:nvSpPr>
        <p:spPr>
          <a:xfrm>
            <a:off x="457200" y="1371600"/>
            <a:ext cx="4160520" cy="3035808"/>
          </a:xfrm>
          <a:prstGeom prst="roundRect">
            <a:avLst>
              <a:gd fmla="val 180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3" name="Google Shape;1483;p49"/>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TESTS  [[ ... ]]</a:t>
            </a:r>
            <a:endParaRPr b="0" i="0" sz="1250" u="none" cap="none" strike="noStrike">
              <a:solidFill>
                <a:schemeClr val="dk1"/>
              </a:solidFill>
              <a:latin typeface="Calibri"/>
              <a:ea typeface="Calibri"/>
              <a:cs typeface="Calibri"/>
              <a:sym typeface="Calibri"/>
            </a:endParaRPr>
          </a:p>
        </p:txBody>
      </p:sp>
      <p:sp>
        <p:nvSpPr>
          <p:cNvPr id="1484" name="Google Shape;1484;p49"/>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-f path</a:t>
            </a:r>
            <a:endParaRPr b="0" i="0" sz="1150" u="none" cap="none" strike="noStrike">
              <a:solidFill>
                <a:schemeClr val="dk1"/>
              </a:solidFill>
              <a:latin typeface="Calibri"/>
              <a:ea typeface="Calibri"/>
              <a:cs typeface="Calibri"/>
              <a:sym typeface="Calibri"/>
            </a:endParaRPr>
          </a:p>
        </p:txBody>
      </p:sp>
      <p:sp>
        <p:nvSpPr>
          <p:cNvPr id="1485" name="Google Shape;1485;p49"/>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file exists?</a:t>
            </a:r>
            <a:endParaRPr b="0" i="0" sz="1100" u="none" cap="none" strike="noStrike">
              <a:solidFill>
                <a:schemeClr val="dk1"/>
              </a:solidFill>
              <a:latin typeface="Calibri"/>
              <a:ea typeface="Calibri"/>
              <a:cs typeface="Calibri"/>
              <a:sym typeface="Calibri"/>
            </a:endParaRPr>
          </a:p>
        </p:txBody>
      </p:sp>
      <p:sp>
        <p:nvSpPr>
          <p:cNvPr id="1486" name="Google Shape;1486;p49"/>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-d path</a:t>
            </a:r>
            <a:endParaRPr b="0" i="0" sz="1150" u="none" cap="none" strike="noStrike">
              <a:solidFill>
                <a:schemeClr val="dk1"/>
              </a:solidFill>
              <a:latin typeface="Calibri"/>
              <a:ea typeface="Calibri"/>
              <a:cs typeface="Calibri"/>
              <a:sym typeface="Calibri"/>
            </a:endParaRPr>
          </a:p>
        </p:txBody>
      </p:sp>
      <p:sp>
        <p:nvSpPr>
          <p:cNvPr id="1487" name="Google Shape;1487;p49"/>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directory exists?</a:t>
            </a:r>
            <a:endParaRPr b="0" i="0" sz="1100" u="none" cap="none" strike="noStrike">
              <a:solidFill>
                <a:schemeClr val="dk1"/>
              </a:solidFill>
              <a:latin typeface="Calibri"/>
              <a:ea typeface="Calibri"/>
              <a:cs typeface="Calibri"/>
              <a:sym typeface="Calibri"/>
            </a:endParaRPr>
          </a:p>
        </p:txBody>
      </p:sp>
      <p:sp>
        <p:nvSpPr>
          <p:cNvPr id="1488" name="Google Shape;1488;p49"/>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-z "$v"</a:t>
            </a:r>
            <a:endParaRPr b="0" i="0" sz="1150" u="none" cap="none" strike="noStrike">
              <a:solidFill>
                <a:schemeClr val="dk1"/>
              </a:solidFill>
              <a:latin typeface="Calibri"/>
              <a:ea typeface="Calibri"/>
              <a:cs typeface="Calibri"/>
              <a:sym typeface="Calibri"/>
            </a:endParaRPr>
          </a:p>
        </p:txBody>
      </p:sp>
      <p:sp>
        <p:nvSpPr>
          <p:cNvPr id="1489" name="Google Shape;1489;p49"/>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string is empty?</a:t>
            </a:r>
            <a:endParaRPr b="0" i="0" sz="1100" u="none" cap="none" strike="noStrike">
              <a:solidFill>
                <a:schemeClr val="dk1"/>
              </a:solidFill>
              <a:latin typeface="Calibri"/>
              <a:ea typeface="Calibri"/>
              <a:cs typeface="Calibri"/>
              <a:sym typeface="Calibri"/>
            </a:endParaRPr>
          </a:p>
        </p:txBody>
      </p:sp>
      <p:sp>
        <p:nvSpPr>
          <p:cNvPr id="1490" name="Google Shape;1490;p49"/>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-n "$v"</a:t>
            </a:r>
            <a:endParaRPr b="0" i="0" sz="1150" u="none" cap="none" strike="noStrike">
              <a:solidFill>
                <a:schemeClr val="dk1"/>
              </a:solidFill>
              <a:latin typeface="Calibri"/>
              <a:ea typeface="Calibri"/>
              <a:cs typeface="Calibri"/>
              <a:sym typeface="Calibri"/>
            </a:endParaRPr>
          </a:p>
        </p:txBody>
      </p:sp>
      <p:sp>
        <p:nvSpPr>
          <p:cNvPr id="1491" name="Google Shape;1491;p49"/>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string is non-empty?</a:t>
            </a:r>
            <a:endParaRPr b="0" i="0" sz="1100" u="none" cap="none" strike="noStrike">
              <a:solidFill>
                <a:schemeClr val="dk1"/>
              </a:solidFill>
              <a:latin typeface="Calibri"/>
              <a:ea typeface="Calibri"/>
              <a:cs typeface="Calibri"/>
              <a:sym typeface="Calibri"/>
            </a:endParaRPr>
          </a:p>
        </p:txBody>
      </p:sp>
      <p:sp>
        <p:nvSpPr>
          <p:cNvPr id="1492" name="Google Shape;1492;p49"/>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  !=</a:t>
            </a:r>
            <a:endParaRPr b="0" i="0" sz="1150" u="none" cap="none" strike="noStrike">
              <a:solidFill>
                <a:schemeClr val="dk1"/>
              </a:solidFill>
              <a:latin typeface="Calibri"/>
              <a:ea typeface="Calibri"/>
              <a:cs typeface="Calibri"/>
              <a:sym typeface="Calibri"/>
            </a:endParaRPr>
          </a:p>
        </p:txBody>
      </p:sp>
      <p:sp>
        <p:nvSpPr>
          <p:cNvPr id="1493" name="Google Shape;1493;p49"/>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string equal / not equal</a:t>
            </a:r>
            <a:endParaRPr b="0" i="0" sz="1100" u="none" cap="none" strike="noStrike">
              <a:solidFill>
                <a:schemeClr val="dk1"/>
              </a:solidFill>
              <a:latin typeface="Calibri"/>
              <a:ea typeface="Calibri"/>
              <a:cs typeface="Calibri"/>
              <a:sym typeface="Calibri"/>
            </a:endParaRPr>
          </a:p>
        </p:txBody>
      </p:sp>
      <p:sp>
        <p:nvSpPr>
          <p:cNvPr id="1494" name="Google Shape;1494;p49"/>
          <p:cNvSpPr/>
          <p:nvPr/>
        </p:nvSpPr>
        <p:spPr>
          <a:xfrm>
            <a:off x="65836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-eq -gt -lt</a:t>
            </a:r>
            <a:endParaRPr b="0" i="0" sz="1150" u="none" cap="none" strike="noStrike">
              <a:solidFill>
                <a:schemeClr val="dk1"/>
              </a:solidFill>
              <a:latin typeface="Calibri"/>
              <a:ea typeface="Calibri"/>
              <a:cs typeface="Calibri"/>
              <a:sym typeface="Calibri"/>
            </a:endParaRPr>
          </a:p>
        </p:txBody>
      </p:sp>
      <p:sp>
        <p:nvSpPr>
          <p:cNvPr id="1495" name="Google Shape;1495;p49"/>
          <p:cNvSpPr/>
          <p:nvPr/>
        </p:nvSpPr>
        <p:spPr>
          <a:xfrm>
            <a:off x="2468880" y="391363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numeric ==, &gt;, &lt;</a:t>
            </a:r>
            <a:endParaRPr b="0" i="0" sz="1100" u="none" cap="none" strike="noStrike">
              <a:solidFill>
                <a:schemeClr val="dk1"/>
              </a:solidFill>
              <a:latin typeface="Calibri"/>
              <a:ea typeface="Calibri"/>
              <a:cs typeface="Calibri"/>
              <a:sym typeface="Calibri"/>
            </a:endParaRPr>
          </a:p>
        </p:txBody>
      </p:sp>
      <p:sp>
        <p:nvSpPr>
          <p:cNvPr id="1496" name="Google Shape;1496;p49"/>
          <p:cNvSpPr/>
          <p:nvPr/>
        </p:nvSpPr>
        <p:spPr>
          <a:xfrm>
            <a:off x="4800600" y="1371600"/>
            <a:ext cx="3886200" cy="3246120"/>
          </a:xfrm>
          <a:prstGeom prst="roundRect">
            <a:avLst>
              <a:gd fmla="val 225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7" name="Google Shape;1497;p49"/>
          <p:cNvSpPr/>
          <p:nvPr/>
        </p:nvSpPr>
        <p:spPr>
          <a:xfrm>
            <a:off x="49834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8" name="Google Shape;1498;p49"/>
          <p:cNvSpPr/>
          <p:nvPr/>
        </p:nvSpPr>
        <p:spPr>
          <a:xfrm>
            <a:off x="51297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9" name="Google Shape;1499;p49"/>
          <p:cNvSpPr/>
          <p:nvPr/>
        </p:nvSpPr>
        <p:spPr>
          <a:xfrm>
            <a:off x="52760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0" name="Google Shape;1500;p49"/>
          <p:cNvSpPr/>
          <p:nvPr/>
        </p:nvSpPr>
        <p:spPr>
          <a:xfrm>
            <a:off x="5440680" y="144475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deploy.sh</a:t>
            </a:r>
            <a:endParaRPr b="0" i="0" sz="900" u="none" cap="none" strike="noStrike">
              <a:solidFill>
                <a:schemeClr val="dk1"/>
              </a:solidFill>
              <a:latin typeface="Calibri"/>
              <a:ea typeface="Calibri"/>
              <a:cs typeface="Calibri"/>
              <a:sym typeface="Calibri"/>
            </a:endParaRPr>
          </a:p>
        </p:txBody>
      </p:sp>
      <p:cxnSp>
        <p:nvCxnSpPr>
          <p:cNvPr id="1501" name="Google Shape;1501;p49"/>
          <p:cNvCxnSpPr/>
          <p:nvPr/>
        </p:nvCxnSpPr>
        <p:spPr>
          <a:xfrm>
            <a:off x="4800600" y="1737360"/>
            <a:ext cx="3886200" cy="0"/>
          </a:xfrm>
          <a:prstGeom prst="straightConnector1">
            <a:avLst/>
          </a:prstGeom>
          <a:noFill/>
          <a:ln cap="flat" cmpd="sng" w="12700">
            <a:solidFill>
              <a:srgbClr val="1E293B"/>
            </a:solidFill>
            <a:prstDash val="solid"/>
            <a:round/>
            <a:headEnd len="sm" w="sm" type="none"/>
            <a:tailEnd len="sm" w="sm" type="none"/>
          </a:ln>
        </p:spPr>
      </p:cxnSp>
      <p:sp>
        <p:nvSpPr>
          <p:cNvPr id="1502" name="Google Shape;1502;p49"/>
          <p:cNvSpPr/>
          <p:nvPr/>
        </p:nvSpPr>
        <p:spPr>
          <a:xfrm>
            <a:off x="5001768" y="1847088"/>
            <a:ext cx="3483864" cy="26609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if [[ -z "$1" ]]; then</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  echo "usage: deploy VERSION" &gt;&amp;2</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  exit 1</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fi</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if [[ -d "$DIR" ]]; then</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  echo "updating existing"</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else</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  mkdir -p "$DIR"</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fi</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case for multiple branches: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case "$ENV" in prod) ... ;; esac</a:t>
            </a:r>
            <a:endParaRPr b="0" i="0" sz="1050" u="none" cap="none" strike="noStrike">
              <a:solidFill>
                <a:schemeClr val="dk1"/>
              </a:solidFill>
              <a:latin typeface="Calibri"/>
              <a:ea typeface="Calibri"/>
              <a:cs typeface="Calibri"/>
              <a:sym typeface="Calibri"/>
            </a:endParaRPr>
          </a:p>
        </p:txBody>
      </p:sp>
      <p:sp>
        <p:nvSpPr>
          <p:cNvPr id="1503" name="Google Shape;1503;p49"/>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1504" name="Google Shape;1504;p49"/>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6 · Scripting &amp; Storage</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509" name="Shape 1509"/>
        <p:cNvGrpSpPr/>
        <p:nvPr/>
      </p:nvGrpSpPr>
      <p:grpSpPr>
        <a:xfrm>
          <a:off x="0" y="0"/>
          <a:ext cx="0" cy="0"/>
          <a:chOff x="0" y="0"/>
          <a:chExt cx="0" cy="0"/>
        </a:xfrm>
      </p:grpSpPr>
      <p:sp>
        <p:nvSpPr>
          <p:cNvPr id="1510" name="Google Shape;1510;p50"/>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Loops: doing it to many things</a:t>
            </a:r>
            <a:endParaRPr b="0" i="0" sz="2900" u="none" cap="none" strike="noStrike">
              <a:solidFill>
                <a:schemeClr val="dk1"/>
              </a:solidFill>
              <a:latin typeface="Calibri"/>
              <a:ea typeface="Calibri"/>
              <a:cs typeface="Calibri"/>
              <a:sym typeface="Calibri"/>
            </a:endParaRPr>
          </a:p>
        </p:txBody>
      </p:sp>
      <p:sp>
        <p:nvSpPr>
          <p:cNvPr id="1511" name="Google Shape;1511;p50"/>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12" name="Google Shape;1512;p50"/>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1513" name="Google Shape;1513;p50"/>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Restart five services, process every .log file, retry until a host responds.</a:t>
            </a:r>
            <a:endParaRPr b="0" i="0" sz="1300" u="none" cap="none" strike="noStrike">
              <a:solidFill>
                <a:schemeClr val="dk1"/>
              </a:solidFill>
              <a:latin typeface="Calibri"/>
              <a:ea typeface="Calibri"/>
              <a:cs typeface="Calibri"/>
              <a:sym typeface="Calibri"/>
            </a:endParaRPr>
          </a:p>
        </p:txBody>
      </p:sp>
      <p:sp>
        <p:nvSpPr>
          <p:cNvPr id="1514" name="Google Shape;1514;p50"/>
          <p:cNvSpPr/>
          <p:nvPr/>
        </p:nvSpPr>
        <p:spPr>
          <a:xfrm>
            <a:off x="457200" y="1371600"/>
            <a:ext cx="4160520" cy="3035808"/>
          </a:xfrm>
          <a:prstGeom prst="roundRect">
            <a:avLst>
              <a:gd fmla="val 180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5" name="Google Shape;1515;p50"/>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LOOP FORMS</a:t>
            </a:r>
            <a:endParaRPr b="0" i="0" sz="1250" u="none" cap="none" strike="noStrike">
              <a:solidFill>
                <a:schemeClr val="dk1"/>
              </a:solidFill>
              <a:latin typeface="Calibri"/>
              <a:ea typeface="Calibri"/>
              <a:cs typeface="Calibri"/>
              <a:sym typeface="Calibri"/>
            </a:endParaRPr>
          </a:p>
        </p:txBody>
      </p:sp>
      <p:sp>
        <p:nvSpPr>
          <p:cNvPr id="1516" name="Google Shape;1516;p50"/>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for x in a b c</a:t>
            </a:r>
            <a:endParaRPr b="0" i="0" sz="1150" u="none" cap="none" strike="noStrike">
              <a:solidFill>
                <a:schemeClr val="dk1"/>
              </a:solidFill>
              <a:latin typeface="Calibri"/>
              <a:ea typeface="Calibri"/>
              <a:cs typeface="Calibri"/>
              <a:sym typeface="Calibri"/>
            </a:endParaRPr>
          </a:p>
        </p:txBody>
      </p:sp>
      <p:sp>
        <p:nvSpPr>
          <p:cNvPr id="1517" name="Google Shape;1517;p50"/>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iterate a list</a:t>
            </a:r>
            <a:endParaRPr b="0" i="0" sz="1100" u="none" cap="none" strike="noStrike">
              <a:solidFill>
                <a:schemeClr val="dk1"/>
              </a:solidFill>
              <a:latin typeface="Calibri"/>
              <a:ea typeface="Calibri"/>
              <a:cs typeface="Calibri"/>
              <a:sym typeface="Calibri"/>
            </a:endParaRPr>
          </a:p>
        </p:txBody>
      </p:sp>
      <p:sp>
        <p:nvSpPr>
          <p:cNvPr id="1518" name="Google Shape;1518;p50"/>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for f in *.log</a:t>
            </a:r>
            <a:endParaRPr b="0" i="0" sz="1150" u="none" cap="none" strike="noStrike">
              <a:solidFill>
                <a:schemeClr val="dk1"/>
              </a:solidFill>
              <a:latin typeface="Calibri"/>
              <a:ea typeface="Calibri"/>
              <a:cs typeface="Calibri"/>
              <a:sym typeface="Calibri"/>
            </a:endParaRPr>
          </a:p>
        </p:txBody>
      </p:sp>
      <p:sp>
        <p:nvSpPr>
          <p:cNvPr id="1519" name="Google Shape;1519;p50"/>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iterate matching files</a:t>
            </a:r>
            <a:endParaRPr b="0" i="0" sz="1100" u="none" cap="none" strike="noStrike">
              <a:solidFill>
                <a:schemeClr val="dk1"/>
              </a:solidFill>
              <a:latin typeface="Calibri"/>
              <a:ea typeface="Calibri"/>
              <a:cs typeface="Calibri"/>
              <a:sym typeface="Calibri"/>
            </a:endParaRPr>
          </a:p>
        </p:txBody>
      </p:sp>
      <p:sp>
        <p:nvSpPr>
          <p:cNvPr id="1520" name="Google Shape;1520;p50"/>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for i in {1..5}</a:t>
            </a:r>
            <a:endParaRPr b="0" i="0" sz="1150" u="none" cap="none" strike="noStrike">
              <a:solidFill>
                <a:schemeClr val="dk1"/>
              </a:solidFill>
              <a:latin typeface="Calibri"/>
              <a:ea typeface="Calibri"/>
              <a:cs typeface="Calibri"/>
              <a:sym typeface="Calibri"/>
            </a:endParaRPr>
          </a:p>
        </p:txBody>
      </p:sp>
      <p:sp>
        <p:nvSpPr>
          <p:cNvPr id="1521" name="Google Shape;1521;p50"/>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a numeric range</a:t>
            </a:r>
            <a:endParaRPr b="0" i="0" sz="1100" u="none" cap="none" strike="noStrike">
              <a:solidFill>
                <a:schemeClr val="dk1"/>
              </a:solidFill>
              <a:latin typeface="Calibri"/>
              <a:ea typeface="Calibri"/>
              <a:cs typeface="Calibri"/>
              <a:sym typeface="Calibri"/>
            </a:endParaRPr>
          </a:p>
        </p:txBody>
      </p:sp>
      <p:sp>
        <p:nvSpPr>
          <p:cNvPr id="1522" name="Google Shape;1522;p50"/>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while read line</a:t>
            </a:r>
            <a:endParaRPr b="0" i="0" sz="1150" u="none" cap="none" strike="noStrike">
              <a:solidFill>
                <a:schemeClr val="dk1"/>
              </a:solidFill>
              <a:latin typeface="Calibri"/>
              <a:ea typeface="Calibri"/>
              <a:cs typeface="Calibri"/>
              <a:sym typeface="Calibri"/>
            </a:endParaRPr>
          </a:p>
        </p:txBody>
      </p:sp>
      <p:sp>
        <p:nvSpPr>
          <p:cNvPr id="1523" name="Google Shape;1523;p50"/>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line-by-line from input</a:t>
            </a:r>
            <a:endParaRPr b="0" i="0" sz="1100" u="none" cap="none" strike="noStrike">
              <a:solidFill>
                <a:schemeClr val="dk1"/>
              </a:solidFill>
              <a:latin typeface="Calibri"/>
              <a:ea typeface="Calibri"/>
              <a:cs typeface="Calibri"/>
              <a:sym typeface="Calibri"/>
            </a:endParaRPr>
          </a:p>
        </p:txBody>
      </p:sp>
      <p:sp>
        <p:nvSpPr>
          <p:cNvPr id="1524" name="Google Shape;1524;p50"/>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until cond</a:t>
            </a:r>
            <a:endParaRPr b="0" i="0" sz="1150" u="none" cap="none" strike="noStrike">
              <a:solidFill>
                <a:schemeClr val="dk1"/>
              </a:solidFill>
              <a:latin typeface="Calibri"/>
              <a:ea typeface="Calibri"/>
              <a:cs typeface="Calibri"/>
              <a:sym typeface="Calibri"/>
            </a:endParaRPr>
          </a:p>
        </p:txBody>
      </p:sp>
      <p:sp>
        <p:nvSpPr>
          <p:cNvPr id="1525" name="Google Shape;1525;p50"/>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loop until it's true</a:t>
            </a:r>
            <a:endParaRPr b="0" i="0" sz="1100" u="none" cap="none" strike="noStrike">
              <a:solidFill>
                <a:schemeClr val="dk1"/>
              </a:solidFill>
              <a:latin typeface="Calibri"/>
              <a:ea typeface="Calibri"/>
              <a:cs typeface="Calibri"/>
              <a:sym typeface="Calibri"/>
            </a:endParaRPr>
          </a:p>
        </p:txBody>
      </p:sp>
      <p:sp>
        <p:nvSpPr>
          <p:cNvPr id="1526" name="Google Shape;1526;p50"/>
          <p:cNvSpPr/>
          <p:nvPr/>
        </p:nvSpPr>
        <p:spPr>
          <a:xfrm>
            <a:off x="65836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break  continue</a:t>
            </a:r>
            <a:endParaRPr b="0" i="0" sz="1150" u="none" cap="none" strike="noStrike">
              <a:solidFill>
                <a:schemeClr val="dk1"/>
              </a:solidFill>
              <a:latin typeface="Calibri"/>
              <a:ea typeface="Calibri"/>
              <a:cs typeface="Calibri"/>
              <a:sym typeface="Calibri"/>
            </a:endParaRPr>
          </a:p>
        </p:txBody>
      </p:sp>
      <p:sp>
        <p:nvSpPr>
          <p:cNvPr id="1527" name="Google Shape;1527;p50"/>
          <p:cNvSpPr/>
          <p:nvPr/>
        </p:nvSpPr>
        <p:spPr>
          <a:xfrm>
            <a:off x="2468880" y="391363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exit / skip an iteration</a:t>
            </a:r>
            <a:endParaRPr b="0" i="0" sz="1100" u="none" cap="none" strike="noStrike">
              <a:solidFill>
                <a:schemeClr val="dk1"/>
              </a:solidFill>
              <a:latin typeface="Calibri"/>
              <a:ea typeface="Calibri"/>
              <a:cs typeface="Calibri"/>
              <a:sym typeface="Calibri"/>
            </a:endParaRPr>
          </a:p>
        </p:txBody>
      </p:sp>
      <p:sp>
        <p:nvSpPr>
          <p:cNvPr id="1528" name="Google Shape;1528;p50"/>
          <p:cNvSpPr/>
          <p:nvPr/>
        </p:nvSpPr>
        <p:spPr>
          <a:xfrm>
            <a:off x="4800600" y="1371600"/>
            <a:ext cx="3886200" cy="3246120"/>
          </a:xfrm>
          <a:prstGeom prst="roundRect">
            <a:avLst>
              <a:gd fmla="val 225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9" name="Google Shape;1529;p50"/>
          <p:cNvSpPr/>
          <p:nvPr/>
        </p:nvSpPr>
        <p:spPr>
          <a:xfrm>
            <a:off x="49834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0" name="Google Shape;1530;p50"/>
          <p:cNvSpPr/>
          <p:nvPr/>
        </p:nvSpPr>
        <p:spPr>
          <a:xfrm>
            <a:off x="51297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1" name="Google Shape;1531;p50"/>
          <p:cNvSpPr/>
          <p:nvPr/>
        </p:nvSpPr>
        <p:spPr>
          <a:xfrm>
            <a:off x="52760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2" name="Google Shape;1532;p50"/>
          <p:cNvSpPr/>
          <p:nvPr/>
        </p:nvSpPr>
        <p:spPr>
          <a:xfrm>
            <a:off x="5440680" y="144475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ops.sh</a:t>
            </a:r>
            <a:endParaRPr b="0" i="0" sz="900" u="none" cap="none" strike="noStrike">
              <a:solidFill>
                <a:schemeClr val="dk1"/>
              </a:solidFill>
              <a:latin typeface="Calibri"/>
              <a:ea typeface="Calibri"/>
              <a:cs typeface="Calibri"/>
              <a:sym typeface="Calibri"/>
            </a:endParaRPr>
          </a:p>
        </p:txBody>
      </p:sp>
      <p:cxnSp>
        <p:nvCxnSpPr>
          <p:cNvPr id="1533" name="Google Shape;1533;p50"/>
          <p:cNvCxnSpPr/>
          <p:nvPr/>
        </p:nvCxnSpPr>
        <p:spPr>
          <a:xfrm>
            <a:off x="4800600" y="1737360"/>
            <a:ext cx="3886200" cy="0"/>
          </a:xfrm>
          <a:prstGeom prst="straightConnector1">
            <a:avLst/>
          </a:prstGeom>
          <a:noFill/>
          <a:ln cap="flat" cmpd="sng" w="12700">
            <a:solidFill>
              <a:srgbClr val="1E293B"/>
            </a:solidFill>
            <a:prstDash val="solid"/>
            <a:round/>
            <a:headEnd len="sm" w="sm" type="none"/>
            <a:tailEnd len="sm" w="sm" type="none"/>
          </a:ln>
        </p:spPr>
      </p:cxnSp>
      <p:sp>
        <p:nvSpPr>
          <p:cNvPr id="1534" name="Google Shape;1534;p50"/>
          <p:cNvSpPr/>
          <p:nvPr/>
        </p:nvSpPr>
        <p:spPr>
          <a:xfrm>
            <a:off x="5001768" y="1847088"/>
            <a:ext cx="3483864" cy="26609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restart a list of services</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for svc in nginx myapp redis; do</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  systemctl restart "$svc"</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  echo "restarted $svc"</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done</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compress every old log</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for f in /var/log/*.log; do</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  gzip "$f"</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done</a:t>
            </a:r>
            <a:endParaRPr b="0" i="0" sz="1050" u="none" cap="none" strike="noStrike">
              <a:solidFill>
                <a:schemeClr val="dk1"/>
              </a:solidFill>
              <a:latin typeface="Calibri"/>
              <a:ea typeface="Calibri"/>
              <a:cs typeface="Calibri"/>
              <a:sym typeface="Calibri"/>
            </a:endParaRPr>
          </a:p>
        </p:txBody>
      </p:sp>
      <p:sp>
        <p:nvSpPr>
          <p:cNvPr id="1535" name="Google Shape;1535;p50"/>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1536" name="Google Shape;1536;p50"/>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6 · Scripting &amp; Storage</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541" name="Shape 1541"/>
        <p:cNvGrpSpPr/>
        <p:nvPr/>
      </p:nvGrpSpPr>
      <p:grpSpPr>
        <a:xfrm>
          <a:off x="0" y="0"/>
          <a:ext cx="0" cy="0"/>
          <a:chOff x="0" y="0"/>
          <a:chExt cx="0" cy="0"/>
        </a:xfrm>
      </p:grpSpPr>
      <p:sp>
        <p:nvSpPr>
          <p:cNvPr id="1542" name="Google Shape;1542;p51"/>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Putting it together: a health-check script</a:t>
            </a:r>
            <a:endParaRPr b="0" i="0" sz="2900" u="none" cap="none" strike="noStrike">
              <a:solidFill>
                <a:schemeClr val="dk1"/>
              </a:solidFill>
              <a:latin typeface="Calibri"/>
              <a:ea typeface="Calibri"/>
              <a:cs typeface="Calibri"/>
              <a:sym typeface="Calibri"/>
            </a:endParaRPr>
          </a:p>
        </p:txBody>
      </p:sp>
      <p:sp>
        <p:nvSpPr>
          <p:cNvPr id="1543" name="Google Shape;1543;p51"/>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44" name="Google Shape;1544;p51"/>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1545" name="Google Shape;1545;p51"/>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Everything from this week — args, conditionals, loops, exit codes — in one real tool.</a:t>
            </a:r>
            <a:endParaRPr b="0" i="0" sz="1300" u="none" cap="none" strike="noStrike">
              <a:solidFill>
                <a:schemeClr val="dk1"/>
              </a:solidFill>
              <a:latin typeface="Calibri"/>
              <a:ea typeface="Calibri"/>
              <a:cs typeface="Calibri"/>
              <a:sym typeface="Calibri"/>
            </a:endParaRPr>
          </a:p>
        </p:txBody>
      </p:sp>
      <p:sp>
        <p:nvSpPr>
          <p:cNvPr id="1546" name="Google Shape;1546;p51"/>
          <p:cNvSpPr/>
          <p:nvPr/>
        </p:nvSpPr>
        <p:spPr>
          <a:xfrm>
            <a:off x="457200" y="1316736"/>
            <a:ext cx="8229600" cy="3529584"/>
          </a:xfrm>
          <a:prstGeom prst="roundRect">
            <a:avLst>
              <a:gd fmla="val 2073"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7" name="Google Shape;1547;p51"/>
          <p:cNvSpPr/>
          <p:nvPr/>
        </p:nvSpPr>
        <p:spPr>
          <a:xfrm>
            <a:off x="640080" y="1463040"/>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8" name="Google Shape;1548;p51"/>
          <p:cNvSpPr/>
          <p:nvPr/>
        </p:nvSpPr>
        <p:spPr>
          <a:xfrm>
            <a:off x="786384" y="1463040"/>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9" name="Google Shape;1549;p51"/>
          <p:cNvSpPr/>
          <p:nvPr/>
        </p:nvSpPr>
        <p:spPr>
          <a:xfrm>
            <a:off x="932688" y="1463040"/>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0" name="Google Shape;1550;p51"/>
          <p:cNvSpPr/>
          <p:nvPr/>
        </p:nvSpPr>
        <p:spPr>
          <a:xfrm>
            <a:off x="1097280" y="1389888"/>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healthcheck.sh</a:t>
            </a:r>
            <a:endParaRPr b="0" i="0" sz="900" u="none" cap="none" strike="noStrike">
              <a:solidFill>
                <a:schemeClr val="dk1"/>
              </a:solidFill>
              <a:latin typeface="Calibri"/>
              <a:ea typeface="Calibri"/>
              <a:cs typeface="Calibri"/>
              <a:sym typeface="Calibri"/>
            </a:endParaRPr>
          </a:p>
        </p:txBody>
      </p:sp>
      <p:cxnSp>
        <p:nvCxnSpPr>
          <p:cNvPr id="1551" name="Google Shape;1551;p51"/>
          <p:cNvCxnSpPr/>
          <p:nvPr/>
        </p:nvCxnSpPr>
        <p:spPr>
          <a:xfrm>
            <a:off x="457200" y="1682496"/>
            <a:ext cx="8229600" cy="0"/>
          </a:xfrm>
          <a:prstGeom prst="straightConnector1">
            <a:avLst/>
          </a:prstGeom>
          <a:noFill/>
          <a:ln cap="flat" cmpd="sng" w="12700">
            <a:solidFill>
              <a:srgbClr val="1E293B"/>
            </a:solidFill>
            <a:prstDash val="solid"/>
            <a:round/>
            <a:headEnd len="sm" w="sm" type="none"/>
            <a:tailEnd len="sm" w="sm" type="none"/>
          </a:ln>
        </p:spPr>
      </p:cxnSp>
      <p:sp>
        <p:nvSpPr>
          <p:cNvPr id="1552" name="Google Shape;1552;p51"/>
          <p:cNvSpPr/>
          <p:nvPr/>
        </p:nvSpPr>
        <p:spPr>
          <a:xfrm>
            <a:off x="658368" y="1792224"/>
            <a:ext cx="7827264" cy="294436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34D399"/>
              </a:buClr>
              <a:buSzPts val="980"/>
              <a:buFont typeface="Courier New"/>
              <a:buNone/>
            </a:pPr>
            <a:r>
              <a:rPr b="0" i="0" lang="en-US" sz="980" u="none" cap="none" strike="noStrike">
                <a:solidFill>
                  <a:srgbClr val="34D399"/>
                </a:solidFill>
                <a:latin typeface="Courier New"/>
                <a:ea typeface="Courier New"/>
                <a:cs typeface="Courier New"/>
                <a:sym typeface="Courier New"/>
              </a:rPr>
              <a:t>#!/usr/bin/env bash</a:t>
            </a:r>
            <a:r>
              <a:rPr b="0" i="0" lang="en-US" sz="980" u="none" cap="none" strike="noStrike">
                <a:solidFill>
                  <a:srgbClr val="64748B"/>
                </a:solidFill>
                <a:latin typeface="Courier New"/>
                <a:ea typeface="Courier New"/>
                <a:cs typeface="Courier New"/>
                <a:sym typeface="Courier New"/>
              </a:rPr>
              <a:t>                  # Day 6: shebang</a:t>
            </a:r>
            <a:endParaRPr b="0" i="0" sz="98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FFFFF"/>
              </a:buClr>
              <a:buSzPts val="980"/>
              <a:buFont typeface="Courier New"/>
              <a:buNone/>
            </a:pPr>
            <a:r>
              <a:rPr b="0" i="0" lang="en-US" sz="980" u="none" cap="none" strike="noStrike">
                <a:solidFill>
                  <a:srgbClr val="FFFFFF"/>
                </a:solidFill>
                <a:latin typeface="Courier New"/>
                <a:ea typeface="Courier New"/>
                <a:cs typeface="Courier New"/>
                <a:sym typeface="Courier New"/>
              </a:rPr>
              <a:t>set -euo pipefail</a:t>
            </a:r>
            <a:endParaRPr b="0" i="0" sz="98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chemeClr val="dk1"/>
              </a:buClr>
              <a:buSzPts val="980"/>
              <a:buFont typeface="Calibri"/>
              <a:buNone/>
            </a:pPr>
            <a:r>
              <a:t/>
            </a:r>
            <a:endParaRPr b="0" i="0" sz="98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FFFFF"/>
              </a:buClr>
              <a:buSzPts val="980"/>
              <a:buFont typeface="Courier New"/>
              <a:buNone/>
            </a:pPr>
            <a:r>
              <a:rPr b="0" i="0" lang="en-US" sz="980" u="none" cap="none" strike="noStrike">
                <a:solidFill>
                  <a:srgbClr val="FFFFFF"/>
                </a:solidFill>
                <a:latin typeface="Courier New"/>
                <a:ea typeface="Courier New"/>
                <a:cs typeface="Courier New"/>
                <a:sym typeface="Courier New"/>
              </a:rPr>
              <a:t>SERVICES=(nginx myapp redis)</a:t>
            </a:r>
            <a:r>
              <a:rPr b="0" i="0" lang="en-US" sz="980" u="none" cap="none" strike="noStrike">
                <a:solidFill>
                  <a:srgbClr val="64748B"/>
                </a:solidFill>
                <a:latin typeface="Courier New"/>
                <a:ea typeface="Courier New"/>
                <a:cs typeface="Courier New"/>
                <a:sym typeface="Courier New"/>
              </a:rPr>
              <a:t>          # an array</a:t>
            </a:r>
            <a:endParaRPr b="0" i="0" sz="98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FFFFF"/>
              </a:buClr>
              <a:buSzPts val="980"/>
              <a:buFont typeface="Courier New"/>
              <a:buNone/>
            </a:pPr>
            <a:r>
              <a:rPr b="0" i="0" lang="en-US" sz="980" u="none" cap="none" strike="noStrike">
                <a:solidFill>
                  <a:srgbClr val="FFFFFF"/>
                </a:solidFill>
                <a:latin typeface="Courier New"/>
                <a:ea typeface="Courier New"/>
                <a:cs typeface="Courier New"/>
                <a:sym typeface="Courier New"/>
              </a:rPr>
              <a:t>FAIL=0</a:t>
            </a:r>
            <a:endParaRPr b="0" i="0" sz="98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chemeClr val="dk1"/>
              </a:buClr>
              <a:buSzPts val="980"/>
              <a:buFont typeface="Calibri"/>
              <a:buNone/>
            </a:pPr>
            <a:r>
              <a:t/>
            </a:r>
            <a:endParaRPr b="0" i="0" sz="98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FFFFF"/>
              </a:buClr>
              <a:buSzPts val="980"/>
              <a:buFont typeface="Courier New"/>
              <a:buNone/>
            </a:pPr>
            <a:r>
              <a:rPr b="0" i="0" lang="en-US" sz="980" u="none" cap="none" strike="noStrike">
                <a:solidFill>
                  <a:srgbClr val="FFFFFF"/>
                </a:solidFill>
                <a:latin typeface="Courier New"/>
                <a:ea typeface="Courier New"/>
                <a:cs typeface="Courier New"/>
                <a:sym typeface="Courier New"/>
              </a:rPr>
              <a:t>for svc in "${SERVICES[@]}"; do</a:t>
            </a:r>
            <a:r>
              <a:rPr b="0" i="0" lang="en-US" sz="980" u="none" cap="none" strike="noStrike">
                <a:solidFill>
                  <a:srgbClr val="64748B"/>
                </a:solidFill>
                <a:latin typeface="Courier New"/>
                <a:ea typeface="Courier New"/>
                <a:cs typeface="Courier New"/>
                <a:sym typeface="Courier New"/>
              </a:rPr>
              <a:t>         # Day 6: loop</a:t>
            </a:r>
            <a:endParaRPr b="0" i="0" sz="98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FFFFF"/>
              </a:buClr>
              <a:buSzPts val="980"/>
              <a:buFont typeface="Courier New"/>
              <a:buNone/>
            </a:pPr>
            <a:r>
              <a:rPr b="0" i="0" lang="en-US" sz="980" u="none" cap="none" strike="noStrike">
                <a:solidFill>
                  <a:srgbClr val="FFFFFF"/>
                </a:solidFill>
                <a:latin typeface="Courier New"/>
                <a:ea typeface="Courier New"/>
                <a:cs typeface="Courier New"/>
                <a:sym typeface="Courier New"/>
              </a:rPr>
              <a:t>  if systemctl is-active --quiet "$svc"; then</a:t>
            </a:r>
            <a:r>
              <a:rPr b="0" i="0" lang="en-US" sz="980" u="none" cap="none" strike="noStrike">
                <a:solidFill>
                  <a:srgbClr val="64748B"/>
                </a:solidFill>
                <a:latin typeface="Courier New"/>
                <a:ea typeface="Courier New"/>
                <a:cs typeface="Courier New"/>
                <a:sym typeface="Courier New"/>
              </a:rPr>
              <a:t>   # Day 4 + cond</a:t>
            </a:r>
            <a:endParaRPr b="0" i="0" sz="98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34D399"/>
              </a:buClr>
              <a:buSzPts val="980"/>
              <a:buFont typeface="Courier New"/>
              <a:buNone/>
            </a:pPr>
            <a:r>
              <a:rPr b="0" i="0" lang="en-US" sz="980" u="none" cap="none" strike="noStrike">
                <a:solidFill>
                  <a:srgbClr val="34D399"/>
                </a:solidFill>
                <a:latin typeface="Courier New"/>
                <a:ea typeface="Courier New"/>
                <a:cs typeface="Courier New"/>
                <a:sym typeface="Courier New"/>
              </a:rPr>
              <a:t>    echo "OK   $svc"</a:t>
            </a:r>
            <a:endParaRPr b="0" i="0" sz="98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FFFFF"/>
              </a:buClr>
              <a:buSzPts val="980"/>
              <a:buFont typeface="Courier New"/>
              <a:buNone/>
            </a:pPr>
            <a:r>
              <a:rPr b="0" i="0" lang="en-US" sz="980" u="none" cap="none" strike="noStrike">
                <a:solidFill>
                  <a:srgbClr val="FFFFFF"/>
                </a:solidFill>
                <a:latin typeface="Courier New"/>
                <a:ea typeface="Courier New"/>
                <a:cs typeface="Courier New"/>
                <a:sym typeface="Courier New"/>
              </a:rPr>
              <a:t>  else</a:t>
            </a:r>
            <a:endParaRPr b="0" i="0" sz="98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97316"/>
              </a:buClr>
              <a:buSzPts val="980"/>
              <a:buFont typeface="Courier New"/>
              <a:buNone/>
            </a:pPr>
            <a:r>
              <a:rPr b="0" i="0" lang="en-US" sz="980" u="none" cap="none" strike="noStrike">
                <a:solidFill>
                  <a:srgbClr val="F97316"/>
                </a:solidFill>
                <a:latin typeface="Courier New"/>
                <a:ea typeface="Courier New"/>
                <a:cs typeface="Courier New"/>
                <a:sym typeface="Courier New"/>
              </a:rPr>
              <a:t>    echo "DOWN $svc" &gt;&amp;2</a:t>
            </a:r>
            <a:r>
              <a:rPr b="0" i="0" lang="en-US" sz="980" u="none" cap="none" strike="noStrike">
                <a:solidFill>
                  <a:srgbClr val="64748B"/>
                </a:solidFill>
                <a:latin typeface="Courier New"/>
                <a:ea typeface="Courier New"/>
                <a:cs typeface="Courier New"/>
                <a:sym typeface="Courier New"/>
              </a:rPr>
              <a:t>                 # Day 3: stderr</a:t>
            </a:r>
            <a:endParaRPr b="0" i="0" sz="98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FFFFF"/>
              </a:buClr>
              <a:buSzPts val="980"/>
              <a:buFont typeface="Courier New"/>
              <a:buNone/>
            </a:pPr>
            <a:r>
              <a:rPr b="0" i="0" lang="en-US" sz="980" u="none" cap="none" strike="noStrike">
                <a:solidFill>
                  <a:srgbClr val="FFFFFF"/>
                </a:solidFill>
                <a:latin typeface="Courier New"/>
                <a:ea typeface="Courier New"/>
                <a:cs typeface="Courier New"/>
                <a:sym typeface="Courier New"/>
              </a:rPr>
              <a:t>    FAIL=$((FAIL + 1))</a:t>
            </a:r>
            <a:endParaRPr b="0" i="0" sz="98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FFFFF"/>
              </a:buClr>
              <a:buSzPts val="980"/>
              <a:buFont typeface="Courier New"/>
              <a:buNone/>
            </a:pPr>
            <a:r>
              <a:rPr b="0" i="0" lang="en-US" sz="980" u="none" cap="none" strike="noStrike">
                <a:solidFill>
                  <a:srgbClr val="FFFFFF"/>
                </a:solidFill>
                <a:latin typeface="Courier New"/>
                <a:ea typeface="Courier New"/>
                <a:cs typeface="Courier New"/>
                <a:sym typeface="Courier New"/>
              </a:rPr>
              <a:t>  fi</a:t>
            </a:r>
            <a:endParaRPr b="0" i="0" sz="98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FFFFF"/>
              </a:buClr>
              <a:buSzPts val="980"/>
              <a:buFont typeface="Courier New"/>
              <a:buNone/>
            </a:pPr>
            <a:r>
              <a:rPr b="0" i="0" lang="en-US" sz="980" u="none" cap="none" strike="noStrike">
                <a:solidFill>
                  <a:srgbClr val="FFFFFF"/>
                </a:solidFill>
                <a:latin typeface="Courier New"/>
                <a:ea typeface="Courier New"/>
                <a:cs typeface="Courier New"/>
                <a:sym typeface="Courier New"/>
              </a:rPr>
              <a:t>done</a:t>
            </a:r>
            <a:endParaRPr b="0" i="0" sz="980" u="none" cap="none" strike="noStrike">
              <a:solidFill>
                <a:schemeClr val="dk1"/>
              </a:solidFill>
              <a:latin typeface="Calibri"/>
              <a:ea typeface="Calibri"/>
              <a:cs typeface="Calibri"/>
              <a:sym typeface="Calibri"/>
            </a:endParaRPr>
          </a:p>
          <a:p>
            <a:pPr indent="0" lvl="0" marL="0" marR="0" rtl="0" algn="l">
              <a:lnSpc>
                <a:spcPct val="108000"/>
              </a:lnSpc>
              <a:spcBef>
                <a:spcPts val="0"/>
              </a:spcBef>
              <a:spcAft>
                <a:spcPts val="0"/>
              </a:spcAft>
              <a:buClr>
                <a:srgbClr val="FFFFFF"/>
              </a:buClr>
              <a:buSzPts val="980"/>
              <a:buFont typeface="Courier New"/>
              <a:buNone/>
            </a:pPr>
            <a:r>
              <a:rPr b="0" i="0" lang="en-US" sz="980" u="none" cap="none" strike="noStrike">
                <a:solidFill>
                  <a:srgbClr val="FFFFFF"/>
                </a:solidFill>
                <a:latin typeface="Courier New"/>
                <a:ea typeface="Courier New"/>
                <a:cs typeface="Courier New"/>
                <a:sym typeface="Courier New"/>
              </a:rPr>
              <a:t>[[ "$FAIL" -eq 0 ]] &amp;&amp; echo "all healthy" || exit 1</a:t>
            </a:r>
            <a:r>
              <a:rPr b="0" i="0" lang="en-US" sz="980" u="none" cap="none" strike="noStrike">
                <a:solidFill>
                  <a:srgbClr val="64748B"/>
                </a:solidFill>
                <a:latin typeface="Courier New"/>
                <a:ea typeface="Courier New"/>
                <a:cs typeface="Courier New"/>
                <a:sym typeface="Courier New"/>
              </a:rPr>
              <a:t>  # exit code</a:t>
            </a:r>
            <a:endParaRPr b="0" i="0" sz="980" u="none" cap="none" strike="noStrike">
              <a:solidFill>
                <a:schemeClr val="dk1"/>
              </a:solidFill>
              <a:latin typeface="Calibri"/>
              <a:ea typeface="Calibri"/>
              <a:cs typeface="Calibri"/>
              <a:sym typeface="Calibri"/>
            </a:endParaRPr>
          </a:p>
        </p:txBody>
      </p:sp>
      <p:sp>
        <p:nvSpPr>
          <p:cNvPr id="1553" name="Google Shape;1553;p51"/>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1554" name="Google Shape;1554;p51"/>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6 · Scripting &amp; Storage</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559" name="Shape 1559"/>
        <p:cNvGrpSpPr/>
        <p:nvPr/>
      </p:nvGrpSpPr>
      <p:grpSpPr>
        <a:xfrm>
          <a:off x="0" y="0"/>
          <a:ext cx="0" cy="0"/>
          <a:chOff x="0" y="0"/>
          <a:chExt cx="0" cy="0"/>
        </a:xfrm>
      </p:grpSpPr>
      <p:sp>
        <p:nvSpPr>
          <p:cNvPr id="1560" name="Google Shape;1560;p52"/>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Compress &amp; archive</a:t>
            </a:r>
            <a:endParaRPr b="0" i="0" sz="2900" u="none" cap="none" strike="noStrike">
              <a:solidFill>
                <a:schemeClr val="dk1"/>
              </a:solidFill>
              <a:latin typeface="Calibri"/>
              <a:ea typeface="Calibri"/>
              <a:cs typeface="Calibri"/>
              <a:sym typeface="Calibri"/>
            </a:endParaRPr>
          </a:p>
        </p:txBody>
      </p:sp>
      <p:sp>
        <p:nvSpPr>
          <p:cNvPr id="1561" name="Google Shape;1561;p52"/>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62" name="Google Shape;1562;p52"/>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1563" name="Google Shape;1563;p52"/>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Bundle a release, ship logs off the box, snapshot a directory before a risky change.</a:t>
            </a:r>
            <a:endParaRPr b="0" i="0" sz="1300" u="none" cap="none" strike="noStrike">
              <a:solidFill>
                <a:schemeClr val="dk1"/>
              </a:solidFill>
              <a:latin typeface="Calibri"/>
              <a:ea typeface="Calibri"/>
              <a:cs typeface="Calibri"/>
              <a:sym typeface="Calibri"/>
            </a:endParaRPr>
          </a:p>
        </p:txBody>
      </p:sp>
      <p:sp>
        <p:nvSpPr>
          <p:cNvPr id="1564" name="Google Shape;1564;p52"/>
          <p:cNvSpPr/>
          <p:nvPr/>
        </p:nvSpPr>
        <p:spPr>
          <a:xfrm>
            <a:off x="457200" y="1371600"/>
            <a:ext cx="4160520" cy="3035808"/>
          </a:xfrm>
          <a:prstGeom prst="roundRect">
            <a:avLst>
              <a:gd fmla="val 1807"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5" name="Google Shape;1565;p52"/>
          <p:cNvSpPr/>
          <p:nvPr/>
        </p:nvSpPr>
        <p:spPr>
          <a:xfrm>
            <a:off x="658368" y="1517904"/>
            <a:ext cx="37947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tar / gzip / zip</a:t>
            </a:r>
            <a:endParaRPr b="0" i="0" sz="1250" u="none" cap="none" strike="noStrike">
              <a:solidFill>
                <a:schemeClr val="dk1"/>
              </a:solidFill>
              <a:latin typeface="Calibri"/>
              <a:ea typeface="Calibri"/>
              <a:cs typeface="Calibri"/>
              <a:sym typeface="Calibri"/>
            </a:endParaRPr>
          </a:p>
        </p:txBody>
      </p:sp>
      <p:sp>
        <p:nvSpPr>
          <p:cNvPr id="1566" name="Google Shape;1566;p52"/>
          <p:cNvSpPr/>
          <p:nvPr/>
        </p:nvSpPr>
        <p:spPr>
          <a:xfrm>
            <a:off x="658368" y="190195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tar -czf a.tgz d</a:t>
            </a:r>
            <a:endParaRPr b="0" i="0" sz="1150" u="none" cap="none" strike="noStrike">
              <a:solidFill>
                <a:schemeClr val="dk1"/>
              </a:solidFill>
              <a:latin typeface="Calibri"/>
              <a:ea typeface="Calibri"/>
              <a:cs typeface="Calibri"/>
              <a:sym typeface="Calibri"/>
            </a:endParaRPr>
          </a:p>
        </p:txBody>
      </p:sp>
      <p:sp>
        <p:nvSpPr>
          <p:cNvPr id="1567" name="Google Shape;1567;p52"/>
          <p:cNvSpPr/>
          <p:nvPr/>
        </p:nvSpPr>
        <p:spPr>
          <a:xfrm>
            <a:off x="2468880" y="190195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Create gZipped archive of d</a:t>
            </a:r>
            <a:endParaRPr b="0" i="0" sz="1100" u="none" cap="none" strike="noStrike">
              <a:solidFill>
                <a:schemeClr val="dk1"/>
              </a:solidFill>
              <a:latin typeface="Calibri"/>
              <a:ea typeface="Calibri"/>
              <a:cs typeface="Calibri"/>
              <a:sym typeface="Calibri"/>
            </a:endParaRPr>
          </a:p>
        </p:txBody>
      </p:sp>
      <p:sp>
        <p:nvSpPr>
          <p:cNvPr id="1568" name="Google Shape;1568;p52"/>
          <p:cNvSpPr/>
          <p:nvPr/>
        </p:nvSpPr>
        <p:spPr>
          <a:xfrm>
            <a:off x="658368" y="2304288"/>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tar -xzf a.tgz</a:t>
            </a:r>
            <a:endParaRPr b="0" i="0" sz="1150" u="none" cap="none" strike="noStrike">
              <a:solidFill>
                <a:schemeClr val="dk1"/>
              </a:solidFill>
              <a:latin typeface="Calibri"/>
              <a:ea typeface="Calibri"/>
              <a:cs typeface="Calibri"/>
              <a:sym typeface="Calibri"/>
            </a:endParaRPr>
          </a:p>
        </p:txBody>
      </p:sp>
      <p:sp>
        <p:nvSpPr>
          <p:cNvPr id="1569" name="Google Shape;1569;p52"/>
          <p:cNvSpPr/>
          <p:nvPr/>
        </p:nvSpPr>
        <p:spPr>
          <a:xfrm>
            <a:off x="2468880" y="2304288"/>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eXtract it</a:t>
            </a:r>
            <a:endParaRPr b="0" i="0" sz="1100" u="none" cap="none" strike="noStrike">
              <a:solidFill>
                <a:schemeClr val="dk1"/>
              </a:solidFill>
              <a:latin typeface="Calibri"/>
              <a:ea typeface="Calibri"/>
              <a:cs typeface="Calibri"/>
              <a:sym typeface="Calibri"/>
            </a:endParaRPr>
          </a:p>
        </p:txBody>
      </p:sp>
      <p:sp>
        <p:nvSpPr>
          <p:cNvPr id="1570" name="Google Shape;1570;p52"/>
          <p:cNvSpPr/>
          <p:nvPr/>
        </p:nvSpPr>
        <p:spPr>
          <a:xfrm>
            <a:off x="658368" y="270662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tar -tzf a.tgz</a:t>
            </a:r>
            <a:endParaRPr b="0" i="0" sz="1150" u="none" cap="none" strike="noStrike">
              <a:solidFill>
                <a:schemeClr val="dk1"/>
              </a:solidFill>
              <a:latin typeface="Calibri"/>
              <a:ea typeface="Calibri"/>
              <a:cs typeface="Calibri"/>
              <a:sym typeface="Calibri"/>
            </a:endParaRPr>
          </a:p>
        </p:txBody>
      </p:sp>
      <p:sp>
        <p:nvSpPr>
          <p:cNvPr id="1571" name="Google Shape;1571;p52"/>
          <p:cNvSpPr/>
          <p:nvPr/>
        </p:nvSpPr>
        <p:spPr>
          <a:xfrm>
            <a:off x="2468880" y="2706624"/>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lisT contents (don't extract)</a:t>
            </a:r>
            <a:endParaRPr b="0" i="0" sz="1100" u="none" cap="none" strike="noStrike">
              <a:solidFill>
                <a:schemeClr val="dk1"/>
              </a:solidFill>
              <a:latin typeface="Calibri"/>
              <a:ea typeface="Calibri"/>
              <a:cs typeface="Calibri"/>
              <a:sym typeface="Calibri"/>
            </a:endParaRPr>
          </a:p>
        </p:txBody>
      </p:sp>
      <p:sp>
        <p:nvSpPr>
          <p:cNvPr id="1572" name="Google Shape;1572;p52"/>
          <p:cNvSpPr/>
          <p:nvPr/>
        </p:nvSpPr>
        <p:spPr>
          <a:xfrm>
            <a:off x="658368" y="3108960"/>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gzip f / gunzip</a:t>
            </a:r>
            <a:endParaRPr b="0" i="0" sz="1150" u="none" cap="none" strike="noStrike">
              <a:solidFill>
                <a:schemeClr val="dk1"/>
              </a:solidFill>
              <a:latin typeface="Calibri"/>
              <a:ea typeface="Calibri"/>
              <a:cs typeface="Calibri"/>
              <a:sym typeface="Calibri"/>
            </a:endParaRPr>
          </a:p>
        </p:txBody>
      </p:sp>
      <p:sp>
        <p:nvSpPr>
          <p:cNvPr id="1573" name="Google Shape;1573;p52"/>
          <p:cNvSpPr/>
          <p:nvPr/>
        </p:nvSpPr>
        <p:spPr>
          <a:xfrm>
            <a:off x="2468880" y="3108960"/>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compress / decompress one file</a:t>
            </a:r>
            <a:endParaRPr b="0" i="0" sz="1100" u="none" cap="none" strike="noStrike">
              <a:solidFill>
                <a:schemeClr val="dk1"/>
              </a:solidFill>
              <a:latin typeface="Calibri"/>
              <a:ea typeface="Calibri"/>
              <a:cs typeface="Calibri"/>
              <a:sym typeface="Calibri"/>
            </a:endParaRPr>
          </a:p>
        </p:txBody>
      </p:sp>
      <p:sp>
        <p:nvSpPr>
          <p:cNvPr id="1574" name="Google Shape;1574;p52"/>
          <p:cNvSpPr/>
          <p:nvPr/>
        </p:nvSpPr>
        <p:spPr>
          <a:xfrm>
            <a:off x="658368" y="3511296"/>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zip -r a.zip d</a:t>
            </a:r>
            <a:endParaRPr b="0" i="0" sz="1150" u="none" cap="none" strike="noStrike">
              <a:solidFill>
                <a:schemeClr val="dk1"/>
              </a:solidFill>
              <a:latin typeface="Calibri"/>
              <a:ea typeface="Calibri"/>
              <a:cs typeface="Calibri"/>
              <a:sym typeface="Calibri"/>
            </a:endParaRPr>
          </a:p>
        </p:txBody>
      </p:sp>
      <p:sp>
        <p:nvSpPr>
          <p:cNvPr id="1575" name="Google Shape;1575;p52"/>
          <p:cNvSpPr/>
          <p:nvPr/>
        </p:nvSpPr>
        <p:spPr>
          <a:xfrm>
            <a:off x="2468880" y="3511296"/>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zip a folder (cross-platform)</a:t>
            </a:r>
            <a:endParaRPr b="0" i="0" sz="1100" u="none" cap="none" strike="noStrike">
              <a:solidFill>
                <a:schemeClr val="dk1"/>
              </a:solidFill>
              <a:latin typeface="Calibri"/>
              <a:ea typeface="Calibri"/>
              <a:cs typeface="Calibri"/>
              <a:sym typeface="Calibri"/>
            </a:endParaRPr>
          </a:p>
        </p:txBody>
      </p:sp>
      <p:sp>
        <p:nvSpPr>
          <p:cNvPr id="1576" name="Google Shape;1576;p52"/>
          <p:cNvSpPr/>
          <p:nvPr/>
        </p:nvSpPr>
        <p:spPr>
          <a:xfrm>
            <a:off x="658368" y="3913632"/>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unzip a.zip</a:t>
            </a:r>
            <a:endParaRPr b="0" i="0" sz="1150" u="none" cap="none" strike="noStrike">
              <a:solidFill>
                <a:schemeClr val="dk1"/>
              </a:solidFill>
              <a:latin typeface="Calibri"/>
              <a:ea typeface="Calibri"/>
              <a:cs typeface="Calibri"/>
              <a:sym typeface="Calibri"/>
            </a:endParaRPr>
          </a:p>
        </p:txBody>
      </p:sp>
      <p:sp>
        <p:nvSpPr>
          <p:cNvPr id="1577" name="Google Shape;1577;p52"/>
          <p:cNvSpPr/>
          <p:nvPr/>
        </p:nvSpPr>
        <p:spPr>
          <a:xfrm>
            <a:off x="2468880" y="3913632"/>
            <a:ext cx="190195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extract a zip</a:t>
            </a:r>
            <a:endParaRPr b="0" i="0" sz="1100" u="none" cap="none" strike="noStrike">
              <a:solidFill>
                <a:schemeClr val="dk1"/>
              </a:solidFill>
              <a:latin typeface="Calibri"/>
              <a:ea typeface="Calibri"/>
              <a:cs typeface="Calibri"/>
              <a:sym typeface="Calibri"/>
            </a:endParaRPr>
          </a:p>
        </p:txBody>
      </p:sp>
      <p:sp>
        <p:nvSpPr>
          <p:cNvPr id="1578" name="Google Shape;1578;p52"/>
          <p:cNvSpPr/>
          <p:nvPr/>
        </p:nvSpPr>
        <p:spPr>
          <a:xfrm>
            <a:off x="4800600" y="1371600"/>
            <a:ext cx="3886200" cy="1051560"/>
          </a:xfrm>
          <a:prstGeom prst="roundRect">
            <a:avLst>
              <a:gd fmla="val 6087" name="adj"/>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9" name="Google Shape;1579;p52"/>
          <p:cNvSpPr/>
          <p:nvPr/>
        </p:nvSpPr>
        <p:spPr>
          <a:xfrm>
            <a:off x="4983480" y="1463040"/>
            <a:ext cx="35661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250"/>
              <a:buFont typeface="Calibri"/>
              <a:buNone/>
            </a:pPr>
            <a:r>
              <a:rPr b="1" i="0" lang="en-US" sz="1250" u="none" cap="none" strike="noStrike">
                <a:solidFill>
                  <a:srgbClr val="0F766E"/>
                </a:solidFill>
                <a:latin typeface="Calibri"/>
                <a:ea typeface="Calibri"/>
                <a:cs typeface="Calibri"/>
                <a:sym typeface="Calibri"/>
              </a:rPr>
              <a:t>tar vs gzip: two jobs</a:t>
            </a:r>
            <a:endParaRPr b="0" i="0" sz="1250" u="none" cap="none" strike="noStrike">
              <a:solidFill>
                <a:schemeClr val="dk1"/>
              </a:solidFill>
              <a:latin typeface="Calibri"/>
              <a:ea typeface="Calibri"/>
              <a:cs typeface="Calibri"/>
              <a:sym typeface="Calibri"/>
            </a:endParaRPr>
          </a:p>
        </p:txBody>
      </p:sp>
      <p:sp>
        <p:nvSpPr>
          <p:cNvPr id="1580" name="Google Shape;1580;p52"/>
          <p:cNvSpPr/>
          <p:nvPr/>
        </p:nvSpPr>
        <p:spPr>
          <a:xfrm>
            <a:off x="4983480" y="1773936"/>
            <a:ext cx="356616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E293B"/>
              </a:buClr>
              <a:buSzPts val="1150"/>
              <a:buFont typeface="Calibri"/>
              <a:buNone/>
            </a:pPr>
            <a:r>
              <a:rPr b="0" i="0" lang="en-US" sz="1150" u="none" cap="none" strike="noStrike">
                <a:solidFill>
                  <a:srgbClr val="1E293B"/>
                </a:solidFill>
                <a:latin typeface="Calibri"/>
                <a:ea typeface="Calibri"/>
                <a:cs typeface="Calibri"/>
                <a:sym typeface="Calibri"/>
              </a:rPr>
              <a:t>tar bundles many files into one (archiving); gzip shrinks a file (compression). -z does both at once, which is why .tar.gz is everywhere.</a:t>
            </a:r>
            <a:endParaRPr b="0" i="0" sz="1150" u="none" cap="none" strike="noStrike">
              <a:solidFill>
                <a:schemeClr val="dk1"/>
              </a:solidFill>
              <a:latin typeface="Calibri"/>
              <a:ea typeface="Calibri"/>
              <a:cs typeface="Calibri"/>
              <a:sym typeface="Calibri"/>
            </a:endParaRPr>
          </a:p>
        </p:txBody>
      </p:sp>
      <p:sp>
        <p:nvSpPr>
          <p:cNvPr id="1581" name="Google Shape;1581;p52"/>
          <p:cNvSpPr/>
          <p:nvPr/>
        </p:nvSpPr>
        <p:spPr>
          <a:xfrm>
            <a:off x="4800600" y="2560320"/>
            <a:ext cx="3886200" cy="2057400"/>
          </a:xfrm>
          <a:prstGeom prst="roundRect">
            <a:avLst>
              <a:gd fmla="val 3556"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2" name="Google Shape;1582;p52"/>
          <p:cNvSpPr/>
          <p:nvPr/>
        </p:nvSpPr>
        <p:spPr>
          <a:xfrm>
            <a:off x="4983480" y="270662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3" name="Google Shape;1583;p52"/>
          <p:cNvSpPr/>
          <p:nvPr/>
        </p:nvSpPr>
        <p:spPr>
          <a:xfrm>
            <a:off x="5129784" y="270662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4" name="Google Shape;1584;p52"/>
          <p:cNvSpPr/>
          <p:nvPr/>
        </p:nvSpPr>
        <p:spPr>
          <a:xfrm>
            <a:off x="5276088" y="270662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5" name="Google Shape;1585;p52"/>
          <p:cNvSpPr/>
          <p:nvPr/>
        </p:nvSpPr>
        <p:spPr>
          <a:xfrm>
            <a:off x="5440680" y="2633472"/>
            <a:ext cx="29718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you@server</a:t>
            </a:r>
            <a:endParaRPr b="0" i="0" sz="900" u="none" cap="none" strike="noStrike">
              <a:solidFill>
                <a:schemeClr val="dk1"/>
              </a:solidFill>
              <a:latin typeface="Calibri"/>
              <a:ea typeface="Calibri"/>
              <a:cs typeface="Calibri"/>
              <a:sym typeface="Calibri"/>
            </a:endParaRPr>
          </a:p>
        </p:txBody>
      </p:sp>
      <p:cxnSp>
        <p:nvCxnSpPr>
          <p:cNvPr id="1586" name="Google Shape;1586;p52"/>
          <p:cNvCxnSpPr/>
          <p:nvPr/>
        </p:nvCxnSpPr>
        <p:spPr>
          <a:xfrm>
            <a:off x="4800600" y="2926080"/>
            <a:ext cx="3886200" cy="0"/>
          </a:xfrm>
          <a:prstGeom prst="straightConnector1">
            <a:avLst/>
          </a:prstGeom>
          <a:noFill/>
          <a:ln cap="flat" cmpd="sng" w="12700">
            <a:solidFill>
              <a:srgbClr val="1E293B"/>
            </a:solidFill>
            <a:prstDash val="solid"/>
            <a:round/>
            <a:headEnd len="sm" w="sm" type="none"/>
            <a:tailEnd len="sm" w="sm" type="none"/>
          </a:ln>
        </p:spPr>
      </p:cxnSp>
      <p:sp>
        <p:nvSpPr>
          <p:cNvPr id="1587" name="Google Shape;1587;p52"/>
          <p:cNvSpPr/>
          <p:nvPr/>
        </p:nvSpPr>
        <p:spPr>
          <a:xfrm>
            <a:off x="5001768" y="3035808"/>
            <a:ext cx="3483864" cy="147218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38BDF8"/>
              </a:buClr>
              <a:buSzPts val="1050"/>
              <a:buFont typeface="Courier New"/>
              <a:buNone/>
            </a:pPr>
            <a:r>
              <a:rPr b="0" i="0" lang="en-US" sz="1050" u="none" cap="none" strike="noStrike">
                <a:solidFill>
                  <a:srgbClr val="38BDF8"/>
                </a:solidFill>
                <a:latin typeface="Courier New"/>
                <a:ea typeface="Courier New"/>
                <a:cs typeface="Courier New"/>
                <a:sym typeface="Courier New"/>
              </a:rPr>
              <a:t># snapshot before editing</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tar -czf etc-$(date +%F).tgz \</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50"/>
              <a:buFont typeface="Courier New"/>
              <a:buNone/>
            </a:pPr>
            <a:r>
              <a:rPr b="0" i="0" lang="en-US" sz="1050" u="none" cap="none" strike="noStrike">
                <a:solidFill>
                  <a:srgbClr val="FFFFFF"/>
                </a:solidFill>
                <a:latin typeface="Courier New"/>
                <a:ea typeface="Courier New"/>
                <a:cs typeface="Courier New"/>
                <a:sym typeface="Courier New"/>
              </a:rPr>
              <a:t>        /etc/nginx</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50"/>
              <a:buFont typeface="Courier New"/>
              <a:buNone/>
            </a:pPr>
            <a:r>
              <a:rPr b="0" i="0" lang="en-US" sz="1050" u="none" cap="none" strike="noStrike">
                <a:solidFill>
                  <a:srgbClr val="F97316"/>
                </a:solidFill>
                <a:latin typeface="Courier New"/>
                <a:ea typeface="Courier New"/>
                <a:cs typeface="Courier New"/>
                <a:sym typeface="Courier New"/>
              </a:rPr>
              <a:t>$ </a:t>
            </a:r>
            <a:r>
              <a:rPr b="0" i="0" lang="en-US" sz="1050" u="none" cap="none" strike="noStrike">
                <a:solidFill>
                  <a:srgbClr val="FFFFFF"/>
                </a:solidFill>
                <a:latin typeface="Courier New"/>
                <a:ea typeface="Courier New"/>
                <a:cs typeface="Courier New"/>
                <a:sym typeface="Courier New"/>
              </a:rPr>
              <a:t>tar -tzf etc-2026-06-20.tgz</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etc/nginx/nginx.conf</a:t>
            </a:r>
            <a:endParaRPr b="0" i="0" sz="10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50"/>
              <a:buFont typeface="Courier New"/>
              <a:buNone/>
            </a:pPr>
            <a:r>
              <a:rPr b="0" i="0" lang="en-US" sz="1050" u="none" cap="none" strike="noStrike">
                <a:solidFill>
                  <a:srgbClr val="34D399"/>
                </a:solidFill>
                <a:latin typeface="Courier New"/>
                <a:ea typeface="Courier New"/>
                <a:cs typeface="Courier New"/>
                <a:sym typeface="Courier New"/>
              </a:rPr>
              <a:t>etc/nginx/sites-enabled/...</a:t>
            </a:r>
            <a:endParaRPr b="0" i="0" sz="1050" u="none" cap="none" strike="noStrike">
              <a:solidFill>
                <a:schemeClr val="dk1"/>
              </a:solidFill>
              <a:latin typeface="Calibri"/>
              <a:ea typeface="Calibri"/>
              <a:cs typeface="Calibri"/>
              <a:sym typeface="Calibri"/>
            </a:endParaRPr>
          </a:p>
        </p:txBody>
      </p:sp>
      <p:sp>
        <p:nvSpPr>
          <p:cNvPr id="1588" name="Google Shape;1588;p52"/>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1589" name="Google Shape;1589;p52"/>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6 · Scripting &amp; Storage</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594" name="Shape 1594"/>
        <p:cNvGrpSpPr/>
        <p:nvPr/>
      </p:nvGrpSpPr>
      <p:grpSpPr>
        <a:xfrm>
          <a:off x="0" y="0"/>
          <a:ext cx="0" cy="0"/>
          <a:chOff x="0" y="0"/>
          <a:chExt cx="0" cy="0"/>
        </a:xfrm>
      </p:grpSpPr>
      <p:sp>
        <p:nvSpPr>
          <p:cNvPr id="1595" name="Google Shape;1595;p53"/>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LVM — flexible storage</a:t>
            </a:r>
            <a:endParaRPr b="0" i="0" sz="2900" u="none" cap="none" strike="noStrike">
              <a:solidFill>
                <a:schemeClr val="dk1"/>
              </a:solidFill>
              <a:latin typeface="Calibri"/>
              <a:ea typeface="Calibri"/>
              <a:cs typeface="Calibri"/>
              <a:sym typeface="Calibri"/>
            </a:endParaRPr>
          </a:p>
        </p:txBody>
      </p:sp>
      <p:sp>
        <p:nvSpPr>
          <p:cNvPr id="1596" name="Google Shape;1596;p53"/>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97" name="Google Shape;1597;p53"/>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1598" name="Google Shape;1598;p53"/>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A partition fills up. With raw partitions you're stuck; with LVM you just grow it — live.</a:t>
            </a:r>
            <a:endParaRPr b="0" i="0" sz="1300" u="none" cap="none" strike="noStrike">
              <a:solidFill>
                <a:schemeClr val="dk1"/>
              </a:solidFill>
              <a:latin typeface="Calibri"/>
              <a:ea typeface="Calibri"/>
              <a:cs typeface="Calibri"/>
              <a:sym typeface="Calibri"/>
            </a:endParaRPr>
          </a:p>
        </p:txBody>
      </p:sp>
      <p:sp>
        <p:nvSpPr>
          <p:cNvPr id="1599" name="Google Shape;1599;p53"/>
          <p:cNvSpPr/>
          <p:nvPr/>
        </p:nvSpPr>
        <p:spPr>
          <a:xfrm>
            <a:off x="457200" y="1463040"/>
            <a:ext cx="5120640" cy="822960"/>
          </a:xfrm>
          <a:prstGeom prst="roundRect">
            <a:avLst>
              <a:gd fmla="val 7778" name="adj"/>
            </a:avLst>
          </a:prstGeom>
          <a:solidFill>
            <a:srgbClr val="F0FDFA"/>
          </a:solidFill>
          <a:ln cap="flat" cmpd="sng" w="15225">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0" name="Google Shape;1600;p53"/>
          <p:cNvSpPr/>
          <p:nvPr/>
        </p:nvSpPr>
        <p:spPr>
          <a:xfrm>
            <a:off x="658368" y="1554480"/>
            <a:ext cx="47548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500"/>
              <a:buFont typeface="Bookman Old Style"/>
              <a:buNone/>
            </a:pPr>
            <a:r>
              <a:rPr b="1" i="0" lang="en-US" sz="1500" u="none" cap="none" strike="noStrike">
                <a:solidFill>
                  <a:srgbClr val="0F766E"/>
                </a:solidFill>
                <a:latin typeface="Bookman Old Style"/>
                <a:ea typeface="Bookman Old Style"/>
                <a:cs typeface="Bookman Old Style"/>
                <a:sym typeface="Bookman Old Style"/>
              </a:rPr>
              <a:t>Logical Volumes (LV)</a:t>
            </a:r>
            <a:endParaRPr b="0" i="0" sz="1500" u="none" cap="none" strike="noStrike">
              <a:solidFill>
                <a:schemeClr val="dk1"/>
              </a:solidFill>
              <a:latin typeface="Calibri"/>
              <a:ea typeface="Calibri"/>
              <a:cs typeface="Calibri"/>
              <a:sym typeface="Calibri"/>
            </a:endParaRPr>
          </a:p>
        </p:txBody>
      </p:sp>
      <p:sp>
        <p:nvSpPr>
          <p:cNvPr id="1601" name="Google Shape;1601;p53"/>
          <p:cNvSpPr/>
          <p:nvPr/>
        </p:nvSpPr>
        <p:spPr>
          <a:xfrm>
            <a:off x="658368" y="1865376"/>
            <a:ext cx="47548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50"/>
              <a:buFont typeface="Calibri"/>
              <a:buNone/>
            </a:pPr>
            <a:r>
              <a:rPr b="0" i="0" lang="en-US" sz="1150" u="none" cap="none" strike="noStrike">
                <a:solidFill>
                  <a:srgbClr val="1E293B"/>
                </a:solidFill>
                <a:latin typeface="Calibri"/>
                <a:ea typeface="Calibri"/>
                <a:cs typeface="Calibri"/>
                <a:sym typeface="Calibri"/>
              </a:rPr>
              <a:t>/data, /var/log — what you format &amp; mount, resizable</a:t>
            </a:r>
            <a:endParaRPr b="0" i="0" sz="1150" u="none" cap="none" strike="noStrike">
              <a:solidFill>
                <a:schemeClr val="dk1"/>
              </a:solidFill>
              <a:latin typeface="Calibri"/>
              <a:ea typeface="Calibri"/>
              <a:cs typeface="Calibri"/>
              <a:sym typeface="Calibri"/>
            </a:endParaRPr>
          </a:p>
        </p:txBody>
      </p:sp>
      <p:sp>
        <p:nvSpPr>
          <p:cNvPr id="1602" name="Google Shape;1602;p53"/>
          <p:cNvSpPr/>
          <p:nvPr/>
        </p:nvSpPr>
        <p:spPr>
          <a:xfrm>
            <a:off x="457200" y="2395728"/>
            <a:ext cx="5120640" cy="822960"/>
          </a:xfrm>
          <a:prstGeom prst="roundRect">
            <a:avLst>
              <a:gd fmla="val 7778" name="adj"/>
            </a:avLst>
          </a:prstGeom>
          <a:solidFill>
            <a:srgbClr val="FFF7ED"/>
          </a:solidFill>
          <a:ln cap="flat" cmpd="sng" w="15225">
            <a:solidFill>
              <a:srgbClr val="F97316"/>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3" name="Google Shape;1603;p53"/>
          <p:cNvSpPr/>
          <p:nvPr/>
        </p:nvSpPr>
        <p:spPr>
          <a:xfrm>
            <a:off x="658368" y="2487168"/>
            <a:ext cx="47548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500"/>
              <a:buFont typeface="Bookman Old Style"/>
              <a:buNone/>
            </a:pPr>
            <a:r>
              <a:rPr b="1" i="0" lang="en-US" sz="1500" u="none" cap="none" strike="noStrike">
                <a:solidFill>
                  <a:srgbClr val="C2410C"/>
                </a:solidFill>
                <a:latin typeface="Bookman Old Style"/>
                <a:ea typeface="Bookman Old Style"/>
                <a:cs typeface="Bookman Old Style"/>
                <a:sym typeface="Bookman Old Style"/>
              </a:rPr>
              <a:t>Volume Group (VG)</a:t>
            </a:r>
            <a:endParaRPr b="0" i="0" sz="1500" u="none" cap="none" strike="noStrike">
              <a:solidFill>
                <a:schemeClr val="dk1"/>
              </a:solidFill>
              <a:latin typeface="Calibri"/>
              <a:ea typeface="Calibri"/>
              <a:cs typeface="Calibri"/>
              <a:sym typeface="Calibri"/>
            </a:endParaRPr>
          </a:p>
        </p:txBody>
      </p:sp>
      <p:sp>
        <p:nvSpPr>
          <p:cNvPr id="1604" name="Google Shape;1604;p53"/>
          <p:cNvSpPr/>
          <p:nvPr/>
        </p:nvSpPr>
        <p:spPr>
          <a:xfrm>
            <a:off x="658368" y="2798064"/>
            <a:ext cx="47548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50"/>
              <a:buFont typeface="Calibri"/>
              <a:buNone/>
            </a:pPr>
            <a:r>
              <a:rPr b="0" i="0" lang="en-US" sz="1150" u="none" cap="none" strike="noStrike">
                <a:solidFill>
                  <a:srgbClr val="1E293B"/>
                </a:solidFill>
                <a:latin typeface="Calibri"/>
                <a:ea typeface="Calibri"/>
                <a:cs typeface="Calibri"/>
                <a:sym typeface="Calibri"/>
              </a:rPr>
              <a:t>one big flexible pool of storage</a:t>
            </a:r>
            <a:endParaRPr b="0" i="0" sz="1150" u="none" cap="none" strike="noStrike">
              <a:solidFill>
                <a:schemeClr val="dk1"/>
              </a:solidFill>
              <a:latin typeface="Calibri"/>
              <a:ea typeface="Calibri"/>
              <a:cs typeface="Calibri"/>
              <a:sym typeface="Calibri"/>
            </a:endParaRPr>
          </a:p>
        </p:txBody>
      </p:sp>
      <p:sp>
        <p:nvSpPr>
          <p:cNvPr id="1605" name="Google Shape;1605;p53"/>
          <p:cNvSpPr/>
          <p:nvPr/>
        </p:nvSpPr>
        <p:spPr>
          <a:xfrm>
            <a:off x="457200" y="3328416"/>
            <a:ext cx="5120640" cy="822960"/>
          </a:xfrm>
          <a:prstGeom prst="roundRect">
            <a:avLst>
              <a:gd fmla="val 7778" name="adj"/>
            </a:avLst>
          </a:prstGeom>
          <a:solidFill>
            <a:srgbClr val="FFFFFF"/>
          </a:solidFill>
          <a:ln cap="flat" cmpd="sng" w="15225">
            <a:solidFill>
              <a:srgbClr val="CBD5E1"/>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6" name="Google Shape;1606;p53"/>
          <p:cNvSpPr/>
          <p:nvPr/>
        </p:nvSpPr>
        <p:spPr>
          <a:xfrm>
            <a:off x="658368" y="3419856"/>
            <a:ext cx="475488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1500"/>
              <a:buFont typeface="Bookman Old Style"/>
              <a:buNone/>
            </a:pPr>
            <a:r>
              <a:rPr b="1" i="0" lang="en-US" sz="1500" u="none" cap="none" strike="noStrike">
                <a:solidFill>
                  <a:srgbClr val="0F172A"/>
                </a:solidFill>
                <a:latin typeface="Bookman Old Style"/>
                <a:ea typeface="Bookman Old Style"/>
                <a:cs typeface="Bookman Old Style"/>
                <a:sym typeface="Bookman Old Style"/>
              </a:rPr>
              <a:t>Physical Volumes (PV)</a:t>
            </a:r>
            <a:endParaRPr b="0" i="0" sz="1500" u="none" cap="none" strike="noStrike">
              <a:solidFill>
                <a:schemeClr val="dk1"/>
              </a:solidFill>
              <a:latin typeface="Calibri"/>
              <a:ea typeface="Calibri"/>
              <a:cs typeface="Calibri"/>
              <a:sym typeface="Calibri"/>
            </a:endParaRPr>
          </a:p>
        </p:txBody>
      </p:sp>
      <p:sp>
        <p:nvSpPr>
          <p:cNvPr id="1607" name="Google Shape;1607;p53"/>
          <p:cNvSpPr/>
          <p:nvPr/>
        </p:nvSpPr>
        <p:spPr>
          <a:xfrm>
            <a:off x="658368" y="3730752"/>
            <a:ext cx="475488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50"/>
              <a:buFont typeface="Calibri"/>
              <a:buNone/>
            </a:pPr>
            <a:r>
              <a:rPr b="0" i="0" lang="en-US" sz="1150" u="none" cap="none" strike="noStrike">
                <a:solidFill>
                  <a:srgbClr val="1E293B"/>
                </a:solidFill>
                <a:latin typeface="Calibri"/>
                <a:ea typeface="Calibri"/>
                <a:cs typeface="Calibri"/>
                <a:sym typeface="Calibri"/>
              </a:rPr>
              <a:t>the actual disks: /dev/sdb, /dev/sdc …</a:t>
            </a:r>
            <a:endParaRPr b="0" i="0" sz="1150" u="none" cap="none" strike="noStrike">
              <a:solidFill>
                <a:schemeClr val="dk1"/>
              </a:solidFill>
              <a:latin typeface="Calibri"/>
              <a:ea typeface="Calibri"/>
              <a:cs typeface="Calibri"/>
              <a:sym typeface="Calibri"/>
            </a:endParaRPr>
          </a:p>
        </p:txBody>
      </p:sp>
      <p:sp>
        <p:nvSpPr>
          <p:cNvPr id="1608" name="Google Shape;1608;p53"/>
          <p:cNvSpPr/>
          <p:nvPr/>
        </p:nvSpPr>
        <p:spPr>
          <a:xfrm>
            <a:off x="5897880" y="1463040"/>
            <a:ext cx="2788920" cy="2688336"/>
          </a:xfrm>
          <a:prstGeom prst="roundRect">
            <a:avLst>
              <a:gd fmla="val 2381" name="adj"/>
            </a:avLst>
          </a:prstGeom>
          <a:solidFill>
            <a:srgbClr val="0F172A"/>
          </a:solidFill>
          <a:ln cap="flat" cmpd="sng" w="12700">
            <a:solidFill>
              <a:srgbClr val="1E293B"/>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9" name="Google Shape;1609;p53"/>
          <p:cNvSpPr/>
          <p:nvPr/>
        </p:nvSpPr>
        <p:spPr>
          <a:xfrm>
            <a:off x="6080760" y="1591056"/>
            <a:ext cx="246888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97316"/>
              </a:buClr>
              <a:buSzPts val="1300"/>
              <a:buFont typeface="Calibri"/>
              <a:buNone/>
            </a:pPr>
            <a:r>
              <a:rPr b="1" i="0" lang="en-US" sz="1300" u="none" cap="none" strike="noStrike">
                <a:solidFill>
                  <a:srgbClr val="F97316"/>
                </a:solidFill>
                <a:latin typeface="Calibri"/>
                <a:ea typeface="Calibri"/>
                <a:cs typeface="Calibri"/>
                <a:sym typeface="Calibri"/>
              </a:rPr>
              <a:t>Why bother?</a:t>
            </a:r>
            <a:endParaRPr b="0" i="0" sz="1300" u="none" cap="none" strike="noStrike">
              <a:solidFill>
                <a:schemeClr val="dk1"/>
              </a:solidFill>
              <a:latin typeface="Calibri"/>
              <a:ea typeface="Calibri"/>
              <a:cs typeface="Calibri"/>
              <a:sym typeface="Calibri"/>
            </a:endParaRPr>
          </a:p>
        </p:txBody>
      </p:sp>
      <p:sp>
        <p:nvSpPr>
          <p:cNvPr id="1610" name="Google Shape;1610;p53"/>
          <p:cNvSpPr/>
          <p:nvPr/>
        </p:nvSpPr>
        <p:spPr>
          <a:xfrm>
            <a:off x="6080760" y="1965960"/>
            <a:ext cx="2468880" cy="21031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34D399"/>
              </a:buClr>
              <a:buSzPts val="1200"/>
              <a:buFont typeface="Calibri"/>
              <a:buNone/>
            </a:pPr>
            <a:r>
              <a:rPr b="1" i="0" lang="en-US" sz="1200" u="none" cap="none" strike="noStrike">
                <a:solidFill>
                  <a:srgbClr val="34D399"/>
                </a:solidFill>
                <a:latin typeface="Calibri"/>
                <a:ea typeface="Calibri"/>
                <a:cs typeface="Calibri"/>
                <a:sym typeface="Calibri"/>
              </a:rPr>
              <a:t>Grow</a:t>
            </a:r>
            <a:r>
              <a:rPr b="0" i="0" lang="en-US" sz="1200" u="none" cap="none" strike="noStrike">
                <a:solidFill>
                  <a:srgbClr val="CBD5E1"/>
                </a:solidFill>
                <a:latin typeface="Calibri"/>
                <a:ea typeface="Calibri"/>
                <a:cs typeface="Calibri"/>
                <a:sym typeface="Calibri"/>
              </a:rPr>
              <a:t> a volume by adding a disk — no reformat</a:t>
            </a:r>
            <a:br>
              <a:rPr b="0" i="0" lang="en-US" sz="1200" u="none" cap="none" strike="noStrike">
                <a:solidFill>
                  <a:srgbClr val="CBD5E1"/>
                </a:solidFill>
                <a:latin typeface="Calibri"/>
                <a:ea typeface="Calibri"/>
                <a:cs typeface="Calibri"/>
                <a:sym typeface="Calibri"/>
              </a:rPr>
            </a:br>
            <a:br>
              <a:rPr b="0" i="0" lang="en-US" sz="1200" u="none" cap="none" strike="noStrike">
                <a:solidFill>
                  <a:srgbClr val="CBD5E1"/>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34D399"/>
              </a:buClr>
              <a:buSzPts val="1200"/>
              <a:buFont typeface="Calibri"/>
              <a:buNone/>
            </a:pPr>
            <a:r>
              <a:rPr b="1" i="0" lang="en-US" sz="1200" u="none" cap="none" strike="noStrike">
                <a:solidFill>
                  <a:srgbClr val="34D399"/>
                </a:solidFill>
                <a:latin typeface="Calibri"/>
                <a:ea typeface="Calibri"/>
                <a:cs typeface="Calibri"/>
                <a:sym typeface="Calibri"/>
              </a:rPr>
              <a:t>Snapshot</a:t>
            </a:r>
            <a:r>
              <a:rPr b="0" i="0" lang="en-US" sz="1200" u="none" cap="none" strike="noStrike">
                <a:solidFill>
                  <a:srgbClr val="CBD5E1"/>
                </a:solidFill>
                <a:latin typeface="Calibri"/>
                <a:ea typeface="Calibri"/>
                <a:cs typeface="Calibri"/>
                <a:sym typeface="Calibri"/>
              </a:rPr>
              <a:t> before a risky upgrade</a:t>
            </a:r>
            <a:br>
              <a:rPr b="0" i="0" lang="en-US" sz="1200" u="none" cap="none" strike="noStrike">
                <a:solidFill>
                  <a:srgbClr val="CBD5E1"/>
                </a:solidFill>
                <a:latin typeface="Calibri"/>
                <a:ea typeface="Calibri"/>
                <a:cs typeface="Calibri"/>
                <a:sym typeface="Calibri"/>
              </a:rPr>
            </a:br>
            <a:br>
              <a:rPr b="0" i="0" lang="en-US" sz="1200" u="none" cap="none" strike="noStrike">
                <a:solidFill>
                  <a:srgbClr val="CBD5E1"/>
                </a:solidFill>
                <a:latin typeface="Calibri"/>
                <a:ea typeface="Calibri"/>
                <a:cs typeface="Calibri"/>
                <a:sym typeface="Calibri"/>
              </a:rPr>
            </a:b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34D399"/>
              </a:buClr>
              <a:buSzPts val="1200"/>
              <a:buFont typeface="Calibri"/>
              <a:buNone/>
            </a:pPr>
            <a:r>
              <a:rPr b="1" i="0" lang="en-US" sz="1200" u="none" cap="none" strike="noStrike">
                <a:solidFill>
                  <a:srgbClr val="34D399"/>
                </a:solidFill>
                <a:latin typeface="Calibri"/>
                <a:ea typeface="Calibri"/>
                <a:cs typeface="Calibri"/>
                <a:sym typeface="Calibri"/>
              </a:rPr>
              <a:t>Span</a:t>
            </a:r>
            <a:r>
              <a:rPr b="0" i="0" lang="en-US" sz="1200" u="none" cap="none" strike="noStrike">
                <a:solidFill>
                  <a:srgbClr val="CBD5E1"/>
                </a:solidFill>
                <a:latin typeface="Calibri"/>
                <a:ea typeface="Calibri"/>
                <a:cs typeface="Calibri"/>
                <a:sym typeface="Calibri"/>
              </a:rPr>
              <a:t> one filesystem across many disks</a:t>
            </a:r>
            <a:endParaRPr b="0" i="0" sz="1200" u="none" cap="none" strike="noStrike">
              <a:solidFill>
                <a:schemeClr val="dk1"/>
              </a:solidFill>
              <a:latin typeface="Calibri"/>
              <a:ea typeface="Calibri"/>
              <a:cs typeface="Calibri"/>
              <a:sym typeface="Calibri"/>
            </a:endParaRPr>
          </a:p>
        </p:txBody>
      </p:sp>
      <p:sp>
        <p:nvSpPr>
          <p:cNvPr id="1611" name="Google Shape;1611;p53"/>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1612" name="Google Shape;1612;p53"/>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6 · Scripting &amp; Storage</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8FAFC"/>
        </a:solidFill>
      </p:bgPr>
    </p:bg>
    <p:spTree>
      <p:nvGrpSpPr>
        <p:cNvPr id="1617" name="Shape 1617"/>
        <p:cNvGrpSpPr/>
        <p:nvPr/>
      </p:nvGrpSpPr>
      <p:grpSpPr>
        <a:xfrm>
          <a:off x="0" y="0"/>
          <a:ext cx="0" cy="0"/>
          <a:chOff x="0" y="0"/>
          <a:chExt cx="0" cy="0"/>
        </a:xfrm>
      </p:grpSpPr>
      <p:sp>
        <p:nvSpPr>
          <p:cNvPr id="1618" name="Google Shape;1618;p54"/>
          <p:cNvSpPr/>
          <p:nvPr/>
        </p:nvSpPr>
        <p:spPr>
          <a:xfrm>
            <a:off x="457200" y="292608"/>
            <a:ext cx="71323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172A"/>
              </a:buClr>
              <a:buSzPts val="2900"/>
              <a:buFont typeface="Bookman Old Style"/>
              <a:buNone/>
            </a:pPr>
            <a:r>
              <a:rPr b="1" i="0" lang="en-US" sz="2900" u="none" cap="none" strike="noStrike">
                <a:solidFill>
                  <a:srgbClr val="0F172A"/>
                </a:solidFill>
                <a:latin typeface="Bookman Old Style"/>
                <a:ea typeface="Bookman Old Style"/>
                <a:cs typeface="Bookman Old Style"/>
                <a:sym typeface="Bookman Old Style"/>
              </a:rPr>
              <a:t>LVM in practice: create &amp; grow</a:t>
            </a:r>
            <a:endParaRPr b="0" i="0" sz="2900" u="none" cap="none" strike="noStrike">
              <a:solidFill>
                <a:schemeClr val="dk1"/>
              </a:solidFill>
              <a:latin typeface="Calibri"/>
              <a:ea typeface="Calibri"/>
              <a:cs typeface="Calibri"/>
              <a:sym typeface="Calibri"/>
            </a:endParaRPr>
          </a:p>
        </p:txBody>
      </p:sp>
      <p:sp>
        <p:nvSpPr>
          <p:cNvPr id="1619" name="Google Shape;1619;p54"/>
          <p:cNvSpPr/>
          <p:nvPr/>
        </p:nvSpPr>
        <p:spPr>
          <a:xfrm>
            <a:off x="7882128" y="310896"/>
            <a:ext cx="566928" cy="566928"/>
          </a:xfrm>
          <a:prstGeom prst="ellipse">
            <a:avLst/>
          </a:prstGeom>
          <a:solidFill>
            <a:srgbClr val="F0FDFA"/>
          </a:solidFill>
          <a:ln cap="flat" cmpd="sng" w="12700">
            <a:solidFill>
              <a:srgbClr val="0D9488"/>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20" name="Google Shape;1620;p54"/>
          <p:cNvPicPr preferRelativeResize="0"/>
          <p:nvPr/>
        </p:nvPicPr>
        <p:blipFill rotWithShape="1">
          <a:blip r:embed="rId3">
            <a:alphaModFix/>
          </a:blip>
          <a:srcRect b="0" l="0" r="0" t="0"/>
          <a:stretch/>
        </p:blipFill>
        <p:spPr>
          <a:xfrm>
            <a:off x="8010144" y="438912"/>
            <a:ext cx="310896" cy="310896"/>
          </a:xfrm>
          <a:prstGeom prst="rect">
            <a:avLst/>
          </a:prstGeom>
          <a:noFill/>
          <a:ln>
            <a:noFill/>
          </a:ln>
        </p:spPr>
      </p:pic>
      <p:sp>
        <p:nvSpPr>
          <p:cNvPr id="1621" name="Google Shape;1621;p54"/>
          <p:cNvSpPr/>
          <p:nvPr/>
        </p:nvSpPr>
        <p:spPr>
          <a:xfrm>
            <a:off x="457200" y="877824"/>
            <a:ext cx="8138160" cy="3840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2410C"/>
              </a:buClr>
              <a:buSzPts val="1300"/>
              <a:buFont typeface="Calibri"/>
              <a:buNone/>
            </a:pPr>
            <a:r>
              <a:rPr b="1" i="0" lang="en-US" sz="1300" u="none" cap="none" strike="noStrike">
                <a:solidFill>
                  <a:srgbClr val="C2410C"/>
                </a:solidFill>
                <a:latin typeface="Calibri"/>
                <a:ea typeface="Calibri"/>
                <a:cs typeface="Calibri"/>
                <a:sym typeface="Calibri"/>
              </a:rPr>
              <a:t>Why you care:  </a:t>
            </a:r>
            <a:r>
              <a:rPr b="0" i="1" lang="en-US" sz="1300" u="none" cap="none" strike="noStrike">
                <a:solidFill>
                  <a:srgbClr val="1E293B"/>
                </a:solidFill>
                <a:latin typeface="Calibri"/>
                <a:ea typeface="Calibri"/>
                <a:cs typeface="Calibri"/>
                <a:sym typeface="Calibri"/>
              </a:rPr>
              <a:t>Provision a new data volume, then expand it when it fills — without downtime.</a:t>
            </a:r>
            <a:endParaRPr b="0" i="0" sz="1300" u="none" cap="none" strike="noStrike">
              <a:solidFill>
                <a:schemeClr val="dk1"/>
              </a:solidFill>
              <a:latin typeface="Calibri"/>
              <a:ea typeface="Calibri"/>
              <a:cs typeface="Calibri"/>
              <a:sym typeface="Calibri"/>
            </a:endParaRPr>
          </a:p>
        </p:txBody>
      </p:sp>
      <p:sp>
        <p:nvSpPr>
          <p:cNvPr id="1622" name="Google Shape;1622;p54"/>
          <p:cNvSpPr/>
          <p:nvPr/>
        </p:nvSpPr>
        <p:spPr>
          <a:xfrm>
            <a:off x="457200" y="1371600"/>
            <a:ext cx="4297680" cy="3246120"/>
          </a:xfrm>
          <a:prstGeom prst="roundRect">
            <a:avLst>
              <a:gd fmla="val 2254"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3" name="Google Shape;1623;p54"/>
          <p:cNvSpPr/>
          <p:nvPr/>
        </p:nvSpPr>
        <p:spPr>
          <a:xfrm>
            <a:off x="64008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4" name="Google Shape;1624;p54"/>
          <p:cNvSpPr/>
          <p:nvPr/>
        </p:nvSpPr>
        <p:spPr>
          <a:xfrm>
            <a:off x="78638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5" name="Google Shape;1625;p54"/>
          <p:cNvSpPr/>
          <p:nvPr/>
        </p:nvSpPr>
        <p:spPr>
          <a:xfrm>
            <a:off x="93268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6" name="Google Shape;1626;p54"/>
          <p:cNvSpPr/>
          <p:nvPr/>
        </p:nvSpPr>
        <p:spPr>
          <a:xfrm>
            <a:off x="1097280" y="1444752"/>
            <a:ext cx="338328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root@server  —  create</a:t>
            </a:r>
            <a:endParaRPr b="0" i="0" sz="900" u="none" cap="none" strike="noStrike">
              <a:solidFill>
                <a:schemeClr val="dk1"/>
              </a:solidFill>
              <a:latin typeface="Calibri"/>
              <a:ea typeface="Calibri"/>
              <a:cs typeface="Calibri"/>
              <a:sym typeface="Calibri"/>
            </a:endParaRPr>
          </a:p>
        </p:txBody>
      </p:sp>
      <p:cxnSp>
        <p:nvCxnSpPr>
          <p:cNvPr id="1627" name="Google Shape;1627;p54"/>
          <p:cNvCxnSpPr/>
          <p:nvPr/>
        </p:nvCxnSpPr>
        <p:spPr>
          <a:xfrm>
            <a:off x="457200" y="1737360"/>
            <a:ext cx="4297680" cy="0"/>
          </a:xfrm>
          <a:prstGeom prst="straightConnector1">
            <a:avLst/>
          </a:prstGeom>
          <a:noFill/>
          <a:ln cap="flat" cmpd="sng" w="12700">
            <a:solidFill>
              <a:srgbClr val="1E293B"/>
            </a:solidFill>
            <a:prstDash val="solid"/>
            <a:round/>
            <a:headEnd len="sm" w="sm" type="none"/>
            <a:tailEnd len="sm" w="sm" type="none"/>
          </a:ln>
        </p:spPr>
      </p:cxnSp>
      <p:sp>
        <p:nvSpPr>
          <p:cNvPr id="1628" name="Google Shape;1628;p54"/>
          <p:cNvSpPr/>
          <p:nvPr/>
        </p:nvSpPr>
        <p:spPr>
          <a:xfrm>
            <a:off x="658368" y="1847088"/>
            <a:ext cx="3895344" cy="26609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38BDF8"/>
              </a:buClr>
              <a:buSzPts val="1000"/>
              <a:buFont typeface="Courier New"/>
              <a:buNone/>
            </a:pPr>
            <a:r>
              <a:rPr b="0" i="0" lang="en-US" sz="1000" u="none" cap="none" strike="noStrike">
                <a:solidFill>
                  <a:srgbClr val="38BDF8"/>
                </a:solidFill>
                <a:latin typeface="Courier New"/>
                <a:ea typeface="Courier New"/>
                <a:cs typeface="Courier New"/>
                <a:sym typeface="Courier New"/>
              </a:rPr>
              <a:t># 1. disk -&gt; physical volume</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00"/>
              <a:buFont typeface="Courier New"/>
              <a:buNone/>
            </a:pPr>
            <a:r>
              <a:rPr b="0" i="0" lang="en-US" sz="1000" u="none" cap="none" strike="noStrike">
                <a:solidFill>
                  <a:srgbClr val="F97316"/>
                </a:solidFill>
                <a:latin typeface="Courier New"/>
                <a:ea typeface="Courier New"/>
                <a:cs typeface="Courier New"/>
                <a:sym typeface="Courier New"/>
              </a:rPr>
              <a:t>$ </a:t>
            </a:r>
            <a:r>
              <a:rPr b="0" i="0" lang="en-US" sz="1000" u="none" cap="none" strike="noStrike">
                <a:solidFill>
                  <a:srgbClr val="FFFFFF"/>
                </a:solidFill>
                <a:latin typeface="Courier New"/>
                <a:ea typeface="Courier New"/>
                <a:cs typeface="Courier New"/>
                <a:sym typeface="Courier New"/>
              </a:rPr>
              <a:t>pvcreate /dev/sdb</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00"/>
              <a:buFont typeface="Courier New"/>
              <a:buNone/>
            </a:pPr>
            <a:r>
              <a:rPr b="0" i="0" lang="en-US" sz="1000" u="none" cap="none" strike="noStrike">
                <a:solidFill>
                  <a:srgbClr val="38BDF8"/>
                </a:solidFill>
                <a:latin typeface="Courier New"/>
                <a:ea typeface="Courier New"/>
                <a:cs typeface="Courier New"/>
                <a:sym typeface="Courier New"/>
              </a:rPr>
              <a:t># 2. pool it into a volume group</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00"/>
              <a:buFont typeface="Courier New"/>
              <a:buNone/>
            </a:pPr>
            <a:r>
              <a:rPr b="0" i="0" lang="en-US" sz="1000" u="none" cap="none" strike="noStrike">
                <a:solidFill>
                  <a:srgbClr val="F97316"/>
                </a:solidFill>
                <a:latin typeface="Courier New"/>
                <a:ea typeface="Courier New"/>
                <a:cs typeface="Courier New"/>
                <a:sym typeface="Courier New"/>
              </a:rPr>
              <a:t>$ </a:t>
            </a:r>
            <a:r>
              <a:rPr b="0" i="0" lang="en-US" sz="1000" u="none" cap="none" strike="noStrike">
                <a:solidFill>
                  <a:srgbClr val="FFFFFF"/>
                </a:solidFill>
                <a:latin typeface="Courier New"/>
                <a:ea typeface="Courier New"/>
                <a:cs typeface="Courier New"/>
                <a:sym typeface="Courier New"/>
              </a:rPr>
              <a:t>vgcreate data /dev/sdb</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00"/>
              <a:buFont typeface="Courier New"/>
              <a:buNone/>
            </a:pPr>
            <a:r>
              <a:rPr b="0" i="0" lang="en-US" sz="1000" u="none" cap="none" strike="noStrike">
                <a:solidFill>
                  <a:srgbClr val="38BDF8"/>
                </a:solidFill>
                <a:latin typeface="Courier New"/>
                <a:ea typeface="Courier New"/>
                <a:cs typeface="Courier New"/>
                <a:sym typeface="Courier New"/>
              </a:rPr>
              <a:t># 3. carve a logical volume</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00"/>
              <a:buFont typeface="Courier New"/>
              <a:buNone/>
            </a:pPr>
            <a:r>
              <a:rPr b="0" i="0" lang="en-US" sz="1000" u="none" cap="none" strike="noStrike">
                <a:solidFill>
                  <a:srgbClr val="F97316"/>
                </a:solidFill>
                <a:latin typeface="Courier New"/>
                <a:ea typeface="Courier New"/>
                <a:cs typeface="Courier New"/>
                <a:sym typeface="Courier New"/>
              </a:rPr>
              <a:t>$ </a:t>
            </a:r>
            <a:r>
              <a:rPr b="0" i="0" lang="en-US" sz="1000" u="none" cap="none" strike="noStrike">
                <a:solidFill>
                  <a:srgbClr val="FFFFFF"/>
                </a:solidFill>
                <a:latin typeface="Courier New"/>
                <a:ea typeface="Courier New"/>
                <a:cs typeface="Courier New"/>
                <a:sym typeface="Courier New"/>
              </a:rPr>
              <a:t>lvcreate -L 20G -n vol1 data</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00"/>
              <a:buFont typeface="Courier New"/>
              <a:buNone/>
            </a:pPr>
            <a:r>
              <a:rPr b="0" i="0" lang="en-US" sz="1000" u="none" cap="none" strike="noStrike">
                <a:solidFill>
                  <a:srgbClr val="38BDF8"/>
                </a:solidFill>
                <a:latin typeface="Courier New"/>
                <a:ea typeface="Courier New"/>
                <a:cs typeface="Courier New"/>
                <a:sym typeface="Courier New"/>
              </a:rPr>
              <a:t># 4. format and mount</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00"/>
              <a:buFont typeface="Courier New"/>
              <a:buNone/>
            </a:pPr>
            <a:r>
              <a:rPr b="0" i="0" lang="en-US" sz="1000" u="none" cap="none" strike="noStrike">
                <a:solidFill>
                  <a:srgbClr val="F97316"/>
                </a:solidFill>
                <a:latin typeface="Courier New"/>
                <a:ea typeface="Courier New"/>
                <a:cs typeface="Courier New"/>
                <a:sym typeface="Courier New"/>
              </a:rPr>
              <a:t>$ </a:t>
            </a:r>
            <a:r>
              <a:rPr b="0" i="0" lang="en-US" sz="1000" u="none" cap="none" strike="noStrike">
                <a:solidFill>
                  <a:srgbClr val="FFFFFF"/>
                </a:solidFill>
                <a:latin typeface="Courier New"/>
                <a:ea typeface="Courier New"/>
                <a:cs typeface="Courier New"/>
                <a:sym typeface="Courier New"/>
              </a:rPr>
              <a:t>mkfs.ext4 /dev/data/vol1</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00"/>
              <a:buFont typeface="Courier New"/>
              <a:buNone/>
            </a:pPr>
            <a:r>
              <a:rPr b="0" i="0" lang="en-US" sz="1000" u="none" cap="none" strike="noStrike">
                <a:solidFill>
                  <a:srgbClr val="F97316"/>
                </a:solidFill>
                <a:latin typeface="Courier New"/>
                <a:ea typeface="Courier New"/>
                <a:cs typeface="Courier New"/>
                <a:sym typeface="Courier New"/>
              </a:rPr>
              <a:t>$ </a:t>
            </a:r>
            <a:r>
              <a:rPr b="0" i="0" lang="en-US" sz="1000" u="none" cap="none" strike="noStrike">
                <a:solidFill>
                  <a:srgbClr val="FFFFFF"/>
                </a:solidFill>
                <a:latin typeface="Courier New"/>
                <a:ea typeface="Courier New"/>
                <a:cs typeface="Courier New"/>
                <a:sym typeface="Courier New"/>
              </a:rPr>
              <a:t>mount /dev/data/vol1 /data</a:t>
            </a:r>
            <a:endParaRPr b="0" i="0" sz="1000" u="none" cap="none" strike="noStrike">
              <a:solidFill>
                <a:schemeClr val="dk1"/>
              </a:solidFill>
              <a:latin typeface="Calibri"/>
              <a:ea typeface="Calibri"/>
              <a:cs typeface="Calibri"/>
              <a:sym typeface="Calibri"/>
            </a:endParaRPr>
          </a:p>
        </p:txBody>
      </p:sp>
      <p:sp>
        <p:nvSpPr>
          <p:cNvPr id="1629" name="Google Shape;1629;p54"/>
          <p:cNvSpPr/>
          <p:nvPr/>
        </p:nvSpPr>
        <p:spPr>
          <a:xfrm>
            <a:off x="4937760" y="1371600"/>
            <a:ext cx="3749040" cy="2331720"/>
          </a:xfrm>
          <a:prstGeom prst="roundRect">
            <a:avLst>
              <a:gd fmla="val 3137" name="adj"/>
            </a:avLst>
          </a:prstGeom>
          <a:solidFill>
            <a:srgbClr val="0F172A"/>
          </a:solidFill>
          <a:ln cap="flat" cmpd="sng" w="12700">
            <a:solidFill>
              <a:srgbClr val="1E293B"/>
            </a:solidFill>
            <a:prstDash val="solid"/>
            <a:round/>
            <a:headEnd len="sm" w="sm" type="none"/>
            <a:tailEnd len="sm" w="sm" type="none"/>
          </a:ln>
          <a:effectLst>
            <a:outerShdw blurRad="101600" rotWithShape="0" algn="bl" dir="2700000" dist="38100">
              <a:srgbClr val="475569">
                <a:alpha val="2196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0" name="Google Shape;1630;p54"/>
          <p:cNvSpPr/>
          <p:nvPr/>
        </p:nvSpPr>
        <p:spPr>
          <a:xfrm>
            <a:off x="5120640" y="1517904"/>
            <a:ext cx="91440" cy="91440"/>
          </a:xfrm>
          <a:prstGeom prst="ellipse">
            <a:avLst/>
          </a:prstGeom>
          <a:solidFill>
            <a:srgbClr val="EF444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1" name="Google Shape;1631;p54"/>
          <p:cNvSpPr/>
          <p:nvPr/>
        </p:nvSpPr>
        <p:spPr>
          <a:xfrm>
            <a:off x="5266944" y="1517904"/>
            <a:ext cx="91440" cy="91440"/>
          </a:xfrm>
          <a:prstGeom prst="ellipse">
            <a:avLst/>
          </a:prstGeom>
          <a:solidFill>
            <a:srgbClr val="F59E0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2" name="Google Shape;1632;p54"/>
          <p:cNvSpPr/>
          <p:nvPr/>
        </p:nvSpPr>
        <p:spPr>
          <a:xfrm>
            <a:off x="5413248" y="1517904"/>
            <a:ext cx="91440" cy="91440"/>
          </a:xfrm>
          <a:prstGeom prst="ellipse">
            <a:avLst/>
          </a:prstGeom>
          <a:solidFill>
            <a:srgbClr val="22C55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3" name="Google Shape;1633;p54"/>
          <p:cNvSpPr/>
          <p:nvPr/>
        </p:nvSpPr>
        <p:spPr>
          <a:xfrm>
            <a:off x="5577840" y="1444752"/>
            <a:ext cx="283464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900"/>
              <a:buFont typeface="Courier New"/>
              <a:buNone/>
            </a:pPr>
            <a:r>
              <a:rPr b="0" i="0" lang="en-US" sz="900" u="none" cap="none" strike="noStrike">
                <a:solidFill>
                  <a:srgbClr val="94A3B8"/>
                </a:solidFill>
                <a:latin typeface="Courier New"/>
                <a:ea typeface="Courier New"/>
                <a:cs typeface="Courier New"/>
                <a:sym typeface="Courier New"/>
              </a:rPr>
              <a:t>root@server  —  grow</a:t>
            </a:r>
            <a:endParaRPr b="0" i="0" sz="900" u="none" cap="none" strike="noStrike">
              <a:solidFill>
                <a:schemeClr val="dk1"/>
              </a:solidFill>
              <a:latin typeface="Calibri"/>
              <a:ea typeface="Calibri"/>
              <a:cs typeface="Calibri"/>
              <a:sym typeface="Calibri"/>
            </a:endParaRPr>
          </a:p>
        </p:txBody>
      </p:sp>
      <p:cxnSp>
        <p:nvCxnSpPr>
          <p:cNvPr id="1634" name="Google Shape;1634;p54"/>
          <p:cNvCxnSpPr/>
          <p:nvPr/>
        </p:nvCxnSpPr>
        <p:spPr>
          <a:xfrm>
            <a:off x="4937760" y="1737360"/>
            <a:ext cx="3749040" cy="0"/>
          </a:xfrm>
          <a:prstGeom prst="straightConnector1">
            <a:avLst/>
          </a:prstGeom>
          <a:noFill/>
          <a:ln cap="flat" cmpd="sng" w="12700">
            <a:solidFill>
              <a:srgbClr val="1E293B"/>
            </a:solidFill>
            <a:prstDash val="solid"/>
            <a:round/>
            <a:headEnd len="sm" w="sm" type="none"/>
            <a:tailEnd len="sm" w="sm" type="none"/>
          </a:ln>
        </p:spPr>
      </p:cxnSp>
      <p:sp>
        <p:nvSpPr>
          <p:cNvPr id="1635" name="Google Shape;1635;p54"/>
          <p:cNvSpPr/>
          <p:nvPr/>
        </p:nvSpPr>
        <p:spPr>
          <a:xfrm>
            <a:off x="5138928" y="1847088"/>
            <a:ext cx="3346704" cy="1746504"/>
          </a:xfrm>
          <a:prstGeom prst="rect">
            <a:avLst/>
          </a:prstGeom>
          <a:noFill/>
          <a:ln>
            <a:noFill/>
          </a:ln>
        </p:spPr>
        <p:txBody>
          <a:bodyPr anchorCtr="0" anchor="t" bIns="0" lIns="0" spcFirstLastPara="1" rIns="0" wrap="square" tIns="0">
            <a:noAutofit/>
          </a:bodyPr>
          <a:lstStyle/>
          <a:p>
            <a:pPr indent="0" lvl="0" marL="0" marR="0" rtl="0" algn="l">
              <a:lnSpc>
                <a:spcPct val="118000"/>
              </a:lnSpc>
              <a:spcBef>
                <a:spcPts val="0"/>
              </a:spcBef>
              <a:spcAft>
                <a:spcPts val="0"/>
              </a:spcAft>
              <a:buClr>
                <a:srgbClr val="38BDF8"/>
              </a:buClr>
              <a:buSzPts val="1000"/>
              <a:buFont typeface="Courier New"/>
              <a:buNone/>
            </a:pPr>
            <a:r>
              <a:rPr b="0" i="0" lang="en-US" sz="1000" u="none" cap="none" strike="noStrike">
                <a:solidFill>
                  <a:srgbClr val="38BDF8"/>
                </a:solidFill>
                <a:latin typeface="Courier New"/>
                <a:ea typeface="Courier New"/>
                <a:cs typeface="Courier New"/>
                <a:sym typeface="Courier New"/>
              </a:rPr>
              <a:t># add a disk to the pool</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00"/>
              <a:buFont typeface="Courier New"/>
              <a:buNone/>
            </a:pPr>
            <a:r>
              <a:rPr b="0" i="0" lang="en-US" sz="1000" u="none" cap="none" strike="noStrike">
                <a:solidFill>
                  <a:srgbClr val="F97316"/>
                </a:solidFill>
                <a:latin typeface="Courier New"/>
                <a:ea typeface="Courier New"/>
                <a:cs typeface="Courier New"/>
                <a:sym typeface="Courier New"/>
              </a:rPr>
              <a:t>$ </a:t>
            </a:r>
            <a:r>
              <a:rPr b="0" i="0" lang="en-US" sz="1000" u="none" cap="none" strike="noStrike">
                <a:solidFill>
                  <a:srgbClr val="FFFFFF"/>
                </a:solidFill>
                <a:latin typeface="Courier New"/>
                <a:ea typeface="Courier New"/>
                <a:cs typeface="Courier New"/>
                <a:sym typeface="Courier New"/>
              </a:rPr>
              <a:t>vgextend data /dev/sdc</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00"/>
              <a:buFont typeface="Courier New"/>
              <a:buNone/>
            </a:pPr>
            <a:r>
              <a:rPr b="0" i="0" lang="en-US" sz="1000" u="none" cap="none" strike="noStrike">
                <a:solidFill>
                  <a:srgbClr val="38BDF8"/>
                </a:solidFill>
                <a:latin typeface="Courier New"/>
                <a:ea typeface="Courier New"/>
                <a:cs typeface="Courier New"/>
                <a:sym typeface="Courier New"/>
              </a:rPr>
              <a:t># grow LV + filesystem (-r)</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00"/>
              <a:buFont typeface="Courier New"/>
              <a:buNone/>
            </a:pPr>
            <a:r>
              <a:rPr b="0" i="0" lang="en-US" sz="1000" u="none" cap="none" strike="noStrike">
                <a:solidFill>
                  <a:srgbClr val="F97316"/>
                </a:solidFill>
                <a:latin typeface="Courier New"/>
                <a:ea typeface="Courier New"/>
                <a:cs typeface="Courier New"/>
                <a:sym typeface="Courier New"/>
              </a:rPr>
              <a:t>$ </a:t>
            </a:r>
            <a:r>
              <a:rPr b="0" i="0" lang="en-US" sz="1000" u="none" cap="none" strike="noStrike">
                <a:solidFill>
                  <a:srgbClr val="FFFFFF"/>
                </a:solidFill>
                <a:latin typeface="Courier New"/>
                <a:ea typeface="Courier New"/>
                <a:cs typeface="Courier New"/>
                <a:sym typeface="Courier New"/>
              </a:rPr>
              <a:t>lvextend -L +10G -r \</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FFFFF"/>
              </a:buClr>
              <a:buSzPts val="1000"/>
              <a:buFont typeface="Courier New"/>
              <a:buNone/>
            </a:pPr>
            <a:r>
              <a:rPr b="0" i="0" lang="en-US" sz="1000" u="none" cap="none" strike="noStrike">
                <a:solidFill>
                  <a:srgbClr val="FFFFFF"/>
                </a:solidFill>
                <a:latin typeface="Courier New"/>
                <a:ea typeface="Courier New"/>
                <a:cs typeface="Courier New"/>
                <a:sym typeface="Courier New"/>
              </a:rPr>
              <a:t>      /dev/data/vol1</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8BDF8"/>
              </a:buClr>
              <a:buSzPts val="1000"/>
              <a:buFont typeface="Courier New"/>
              <a:buNone/>
            </a:pPr>
            <a:r>
              <a:rPr b="0" i="0" lang="en-US" sz="1000" u="none" cap="none" strike="noStrike">
                <a:solidFill>
                  <a:srgbClr val="38BDF8"/>
                </a:solidFill>
                <a:latin typeface="Courier New"/>
                <a:ea typeface="Courier New"/>
                <a:cs typeface="Courier New"/>
                <a:sym typeface="Courier New"/>
              </a:rPr>
              <a:t># verify</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F97316"/>
              </a:buClr>
              <a:buSzPts val="1000"/>
              <a:buFont typeface="Courier New"/>
              <a:buNone/>
            </a:pPr>
            <a:r>
              <a:rPr b="0" i="0" lang="en-US" sz="1000" u="none" cap="none" strike="noStrike">
                <a:solidFill>
                  <a:srgbClr val="F97316"/>
                </a:solidFill>
                <a:latin typeface="Courier New"/>
                <a:ea typeface="Courier New"/>
                <a:cs typeface="Courier New"/>
                <a:sym typeface="Courier New"/>
              </a:rPr>
              <a:t>$ </a:t>
            </a:r>
            <a:r>
              <a:rPr b="0" i="0" lang="en-US" sz="1000" u="none" cap="none" strike="noStrike">
                <a:solidFill>
                  <a:srgbClr val="FFFFFF"/>
                </a:solidFill>
                <a:latin typeface="Courier New"/>
                <a:ea typeface="Courier New"/>
                <a:cs typeface="Courier New"/>
                <a:sym typeface="Courier New"/>
              </a:rPr>
              <a:t>df -h /data</a:t>
            </a:r>
            <a:endParaRPr b="0" i="0" sz="100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Clr>
                <a:srgbClr val="34D399"/>
              </a:buClr>
              <a:buSzPts val="1000"/>
              <a:buFont typeface="Courier New"/>
              <a:buNone/>
            </a:pPr>
            <a:r>
              <a:rPr b="0" i="0" lang="en-US" sz="1000" u="none" cap="none" strike="noStrike">
                <a:solidFill>
                  <a:srgbClr val="34D399"/>
                </a:solidFill>
                <a:latin typeface="Courier New"/>
                <a:ea typeface="Courier New"/>
                <a:cs typeface="Courier New"/>
                <a:sym typeface="Courier New"/>
              </a:rPr>
              <a:t>/dev/.../vol1  30G ... /data</a:t>
            </a:r>
            <a:endParaRPr b="0" i="0" sz="1000" u="none" cap="none" strike="noStrike">
              <a:solidFill>
                <a:schemeClr val="dk1"/>
              </a:solidFill>
              <a:latin typeface="Calibri"/>
              <a:ea typeface="Calibri"/>
              <a:cs typeface="Calibri"/>
              <a:sym typeface="Calibri"/>
            </a:endParaRPr>
          </a:p>
        </p:txBody>
      </p:sp>
      <p:sp>
        <p:nvSpPr>
          <p:cNvPr id="1636" name="Google Shape;1636;p54"/>
          <p:cNvSpPr/>
          <p:nvPr/>
        </p:nvSpPr>
        <p:spPr>
          <a:xfrm>
            <a:off x="4937760" y="3840480"/>
            <a:ext cx="3749040" cy="731520"/>
          </a:xfrm>
          <a:prstGeom prst="roundRect">
            <a:avLst>
              <a:gd fmla="val 7500" name="adj"/>
            </a:avLst>
          </a:prstGeom>
          <a:solidFill>
            <a:srgbClr val="FFFFFF"/>
          </a:solidFill>
          <a:ln cap="flat" cmpd="sng" w="12700">
            <a:solidFill>
              <a:srgbClr val="E2E8F0"/>
            </a:solidFill>
            <a:prstDash val="solid"/>
            <a:round/>
            <a:headEnd len="sm" w="sm" type="none"/>
            <a:tailEnd len="sm" w="sm" type="none"/>
          </a:ln>
          <a:effectLst>
            <a:outerShdw blurRad="88900" rotWithShape="0" algn="bl" dir="2700000" dist="38100">
              <a:srgbClr val="475569">
                <a:alpha val="1607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7" name="Google Shape;1637;p54"/>
          <p:cNvSpPr/>
          <p:nvPr/>
        </p:nvSpPr>
        <p:spPr>
          <a:xfrm>
            <a:off x="5138928" y="3986784"/>
            <a:ext cx="1755648"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766E"/>
              </a:buClr>
              <a:buSzPts val="1150"/>
              <a:buFont typeface="Courier New"/>
              <a:buNone/>
            </a:pPr>
            <a:r>
              <a:rPr b="1" i="0" lang="en-US" sz="1150" u="none" cap="none" strike="noStrike">
                <a:solidFill>
                  <a:srgbClr val="0F766E"/>
                </a:solidFill>
                <a:latin typeface="Courier New"/>
                <a:ea typeface="Courier New"/>
                <a:cs typeface="Courier New"/>
                <a:sym typeface="Courier New"/>
              </a:rPr>
              <a:t>pvs vgs lvs</a:t>
            </a:r>
            <a:endParaRPr b="0" i="0" sz="1150" u="none" cap="none" strike="noStrike">
              <a:solidFill>
                <a:schemeClr val="dk1"/>
              </a:solidFill>
              <a:latin typeface="Calibri"/>
              <a:ea typeface="Calibri"/>
              <a:cs typeface="Calibri"/>
              <a:sym typeface="Calibri"/>
            </a:endParaRPr>
          </a:p>
        </p:txBody>
      </p:sp>
      <p:sp>
        <p:nvSpPr>
          <p:cNvPr id="1638" name="Google Shape;1638;p54"/>
          <p:cNvSpPr/>
          <p:nvPr/>
        </p:nvSpPr>
        <p:spPr>
          <a:xfrm>
            <a:off x="6949440" y="3986784"/>
            <a:ext cx="149047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E293B"/>
              </a:buClr>
              <a:buSzPts val="1100"/>
              <a:buFont typeface="Calibri"/>
              <a:buNone/>
            </a:pPr>
            <a:r>
              <a:rPr b="0" i="0" lang="en-US" sz="1100" u="none" cap="none" strike="noStrike">
                <a:solidFill>
                  <a:srgbClr val="1E293B"/>
                </a:solidFill>
                <a:latin typeface="Calibri"/>
                <a:ea typeface="Calibri"/>
                <a:cs typeface="Calibri"/>
                <a:sym typeface="Calibri"/>
              </a:rPr>
              <a:t>inspect each layer</a:t>
            </a:r>
            <a:endParaRPr b="0" i="0" sz="1100" u="none" cap="none" strike="noStrike">
              <a:solidFill>
                <a:schemeClr val="dk1"/>
              </a:solidFill>
              <a:latin typeface="Calibri"/>
              <a:ea typeface="Calibri"/>
              <a:cs typeface="Calibri"/>
              <a:sym typeface="Calibri"/>
            </a:endParaRPr>
          </a:p>
        </p:txBody>
      </p:sp>
      <p:sp>
        <p:nvSpPr>
          <p:cNvPr id="1639" name="Google Shape;1639;p54"/>
          <p:cNvSpPr/>
          <p:nvPr/>
        </p:nvSpPr>
        <p:spPr>
          <a:xfrm>
            <a:off x="457200" y="4882896"/>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Linux for DevOps</a:t>
            </a:r>
            <a:endParaRPr b="0" i="0" sz="850" u="none" cap="none" strike="noStrike">
              <a:solidFill>
                <a:schemeClr val="dk1"/>
              </a:solidFill>
              <a:latin typeface="Calibri"/>
              <a:ea typeface="Calibri"/>
              <a:cs typeface="Calibri"/>
              <a:sym typeface="Calibri"/>
            </a:endParaRPr>
          </a:p>
        </p:txBody>
      </p:sp>
      <p:sp>
        <p:nvSpPr>
          <p:cNvPr id="1640" name="Google Shape;1640;p54"/>
          <p:cNvSpPr/>
          <p:nvPr/>
        </p:nvSpPr>
        <p:spPr>
          <a:xfrm>
            <a:off x="5029200" y="4882896"/>
            <a:ext cx="36576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94A3B8"/>
              </a:buClr>
              <a:buSzPts val="850"/>
              <a:buFont typeface="Calibri"/>
              <a:buNone/>
            </a:pPr>
            <a:r>
              <a:rPr b="0" i="0" lang="en-US" sz="850" u="none" cap="none" strike="noStrike">
                <a:solidFill>
                  <a:srgbClr val="94A3B8"/>
                </a:solidFill>
                <a:latin typeface="Calibri"/>
                <a:ea typeface="Calibri"/>
                <a:cs typeface="Calibri"/>
                <a:sym typeface="Calibri"/>
              </a:rPr>
              <a:t>Day 6 · Scripting &amp; Storage</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645" name="Shape 1645"/>
        <p:cNvGrpSpPr/>
        <p:nvPr/>
      </p:nvGrpSpPr>
      <p:grpSpPr>
        <a:xfrm>
          <a:off x="0" y="0"/>
          <a:ext cx="0" cy="0"/>
          <a:chOff x="0" y="0"/>
          <a:chExt cx="0" cy="0"/>
        </a:xfrm>
      </p:grpSpPr>
      <p:sp>
        <p:nvSpPr>
          <p:cNvPr id="1646" name="Google Shape;1646;p55"/>
          <p:cNvSpPr/>
          <p:nvPr/>
        </p:nvSpPr>
        <p:spPr>
          <a:xfrm>
            <a:off x="640080" y="640080"/>
            <a:ext cx="822960" cy="822960"/>
          </a:xfrm>
          <a:prstGeom prst="ellipse">
            <a:avLst/>
          </a:prstGeom>
          <a:solidFill>
            <a:srgbClr val="1E293B"/>
          </a:solidFill>
          <a:ln cap="flat" cmpd="sng" w="1905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47" name="Google Shape;1647;p55"/>
          <p:cNvPicPr preferRelativeResize="0"/>
          <p:nvPr/>
        </p:nvPicPr>
        <p:blipFill rotWithShape="1">
          <a:blip r:embed="rId3">
            <a:alphaModFix/>
          </a:blip>
          <a:srcRect b="0" l="0" r="0" t="0"/>
          <a:stretch/>
        </p:blipFill>
        <p:spPr>
          <a:xfrm>
            <a:off x="841248" y="841248"/>
            <a:ext cx="420624" cy="420624"/>
          </a:xfrm>
          <a:prstGeom prst="rect">
            <a:avLst/>
          </a:prstGeom>
          <a:noFill/>
          <a:ln>
            <a:noFill/>
          </a:ln>
        </p:spPr>
      </p:pic>
      <p:sp>
        <p:nvSpPr>
          <p:cNvPr id="1648" name="Google Shape;1648;p55"/>
          <p:cNvSpPr/>
          <p:nvPr/>
        </p:nvSpPr>
        <p:spPr>
          <a:xfrm>
            <a:off x="640080" y="1600200"/>
            <a:ext cx="8229600" cy="6400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3400"/>
              <a:buFont typeface="Bookman Old Style"/>
              <a:buNone/>
            </a:pPr>
            <a:r>
              <a:rPr b="1" i="0" lang="en-US" sz="3400" u="none" cap="none" strike="noStrike">
                <a:solidFill>
                  <a:srgbClr val="FFFFFF"/>
                </a:solidFill>
                <a:latin typeface="Bookman Old Style"/>
                <a:ea typeface="Bookman Old Style"/>
                <a:cs typeface="Bookman Old Style"/>
                <a:sym typeface="Bookman Old Style"/>
              </a:rPr>
              <a:t>The week in one idea</a:t>
            </a:r>
            <a:endParaRPr b="0" i="0" sz="3400" u="none" cap="none" strike="noStrike">
              <a:solidFill>
                <a:schemeClr val="dk1"/>
              </a:solidFill>
              <a:latin typeface="Calibri"/>
              <a:ea typeface="Calibri"/>
              <a:cs typeface="Calibri"/>
              <a:sym typeface="Calibri"/>
            </a:endParaRPr>
          </a:p>
        </p:txBody>
      </p:sp>
      <p:sp>
        <p:nvSpPr>
          <p:cNvPr id="1649" name="Google Shape;1649;p55"/>
          <p:cNvSpPr/>
          <p:nvPr/>
        </p:nvSpPr>
        <p:spPr>
          <a:xfrm>
            <a:off x="658368" y="2286000"/>
            <a:ext cx="804672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BD5E1"/>
              </a:buClr>
              <a:buSzPts val="1500"/>
              <a:buFont typeface="Calibri"/>
              <a:buNone/>
            </a:pPr>
            <a:r>
              <a:rPr b="0" i="1" lang="en-US" sz="1500" u="none" cap="none" strike="noStrike">
                <a:solidFill>
                  <a:srgbClr val="CBD5E1"/>
                </a:solidFill>
                <a:latin typeface="Calibri"/>
                <a:ea typeface="Calibri"/>
                <a:cs typeface="Calibri"/>
                <a:sym typeface="Calibri"/>
              </a:rPr>
              <a:t>Small tools. Plain text. Piped together. Saved into scripts. That's all of Linux ops — and all of DevOps automation.</a:t>
            </a:r>
            <a:endParaRPr b="0" i="0" sz="1500" u="none" cap="none" strike="noStrike">
              <a:solidFill>
                <a:schemeClr val="dk1"/>
              </a:solidFill>
              <a:latin typeface="Calibri"/>
              <a:ea typeface="Calibri"/>
              <a:cs typeface="Calibri"/>
              <a:sym typeface="Calibri"/>
            </a:endParaRPr>
          </a:p>
        </p:txBody>
      </p:sp>
      <p:sp>
        <p:nvSpPr>
          <p:cNvPr id="1650" name="Google Shape;1650;p55"/>
          <p:cNvSpPr/>
          <p:nvPr/>
        </p:nvSpPr>
        <p:spPr>
          <a:xfrm>
            <a:off x="640080" y="2971800"/>
            <a:ext cx="2615184" cy="1417320"/>
          </a:xfrm>
          <a:prstGeom prst="roundRect">
            <a:avLst>
              <a:gd fmla="val 4516"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1" name="Google Shape;1651;p55"/>
          <p:cNvSpPr/>
          <p:nvPr/>
        </p:nvSpPr>
        <p:spPr>
          <a:xfrm>
            <a:off x="822960" y="3108960"/>
            <a:ext cx="22860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D9488"/>
              </a:buClr>
              <a:buSzPts val="1400"/>
              <a:buFont typeface="Bookman Old Style"/>
              <a:buNone/>
            </a:pPr>
            <a:r>
              <a:rPr b="1" i="0" lang="en-US" sz="1400" u="none" cap="none" strike="noStrike">
                <a:solidFill>
                  <a:srgbClr val="0D9488"/>
                </a:solidFill>
                <a:latin typeface="Bookman Old Style"/>
                <a:ea typeface="Bookman Old Style"/>
                <a:cs typeface="Bookman Old Style"/>
                <a:sym typeface="Bookman Old Style"/>
              </a:rPr>
              <a:t>When stuck, ask the box</a:t>
            </a:r>
            <a:endParaRPr b="0" i="0" sz="1400" u="none" cap="none" strike="noStrike">
              <a:solidFill>
                <a:schemeClr val="dk1"/>
              </a:solidFill>
              <a:latin typeface="Calibri"/>
              <a:ea typeface="Calibri"/>
              <a:cs typeface="Calibri"/>
              <a:sym typeface="Calibri"/>
            </a:endParaRPr>
          </a:p>
        </p:txBody>
      </p:sp>
      <p:sp>
        <p:nvSpPr>
          <p:cNvPr id="1652" name="Google Shape;1652;p55"/>
          <p:cNvSpPr/>
          <p:nvPr/>
        </p:nvSpPr>
        <p:spPr>
          <a:xfrm>
            <a:off x="822960" y="3611880"/>
            <a:ext cx="228600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BD5E1"/>
              </a:buClr>
              <a:buSzPts val="1150"/>
              <a:buFont typeface="Calibri"/>
              <a:buNone/>
            </a:pPr>
            <a:r>
              <a:rPr b="0" i="0" lang="en-US" sz="1150" u="none" cap="none" strike="noStrike">
                <a:solidFill>
                  <a:srgbClr val="CBD5E1"/>
                </a:solidFill>
                <a:latin typeface="Calibri"/>
                <a:ea typeface="Calibri"/>
                <a:cs typeface="Calibri"/>
                <a:sym typeface="Calibri"/>
              </a:rPr>
              <a:t>man cmd · cmd --help · tldr cmd — the answer is already on the machine.</a:t>
            </a:r>
            <a:endParaRPr b="0" i="0" sz="1150" u="none" cap="none" strike="noStrike">
              <a:solidFill>
                <a:schemeClr val="dk1"/>
              </a:solidFill>
              <a:latin typeface="Calibri"/>
              <a:ea typeface="Calibri"/>
              <a:cs typeface="Calibri"/>
              <a:sym typeface="Calibri"/>
            </a:endParaRPr>
          </a:p>
        </p:txBody>
      </p:sp>
      <p:sp>
        <p:nvSpPr>
          <p:cNvPr id="1653" name="Google Shape;1653;p55"/>
          <p:cNvSpPr/>
          <p:nvPr/>
        </p:nvSpPr>
        <p:spPr>
          <a:xfrm>
            <a:off x="3401568" y="2971800"/>
            <a:ext cx="2615184" cy="1417320"/>
          </a:xfrm>
          <a:prstGeom prst="roundRect">
            <a:avLst>
              <a:gd fmla="val 4516"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4" name="Google Shape;1654;p55"/>
          <p:cNvSpPr/>
          <p:nvPr/>
        </p:nvSpPr>
        <p:spPr>
          <a:xfrm>
            <a:off x="3584448" y="3108960"/>
            <a:ext cx="22860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D9488"/>
              </a:buClr>
              <a:buSzPts val="1400"/>
              <a:buFont typeface="Bookman Old Style"/>
              <a:buNone/>
            </a:pPr>
            <a:r>
              <a:rPr b="1" i="0" lang="en-US" sz="1400" u="none" cap="none" strike="noStrike">
                <a:solidFill>
                  <a:srgbClr val="0D9488"/>
                </a:solidFill>
                <a:latin typeface="Bookman Old Style"/>
                <a:ea typeface="Bookman Old Style"/>
                <a:cs typeface="Bookman Old Style"/>
                <a:sym typeface="Bookman Old Style"/>
              </a:rPr>
              <a:t>Read before you run</a:t>
            </a:r>
            <a:endParaRPr b="0" i="0" sz="1400" u="none" cap="none" strike="noStrike">
              <a:solidFill>
                <a:schemeClr val="dk1"/>
              </a:solidFill>
              <a:latin typeface="Calibri"/>
              <a:ea typeface="Calibri"/>
              <a:cs typeface="Calibri"/>
              <a:sym typeface="Calibri"/>
            </a:endParaRPr>
          </a:p>
        </p:txBody>
      </p:sp>
      <p:sp>
        <p:nvSpPr>
          <p:cNvPr id="1655" name="Google Shape;1655;p55"/>
          <p:cNvSpPr/>
          <p:nvPr/>
        </p:nvSpPr>
        <p:spPr>
          <a:xfrm>
            <a:off x="3584448" y="3611880"/>
            <a:ext cx="228600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BD5E1"/>
              </a:buClr>
              <a:buSzPts val="1150"/>
              <a:buFont typeface="Calibri"/>
              <a:buNone/>
            </a:pPr>
            <a:r>
              <a:rPr b="0" i="0" lang="en-US" sz="1150" u="none" cap="none" strike="noStrike">
                <a:solidFill>
                  <a:srgbClr val="CBD5E1"/>
                </a:solidFill>
                <a:latin typeface="Calibri"/>
                <a:ea typeface="Calibri"/>
                <a:cs typeface="Calibri"/>
                <a:sym typeface="Calibri"/>
              </a:rPr>
              <a:t>Preview with -t / dry runs; never pipe an unknown script straight to bash.</a:t>
            </a:r>
            <a:endParaRPr b="0" i="0" sz="1150" u="none" cap="none" strike="noStrike">
              <a:solidFill>
                <a:schemeClr val="dk1"/>
              </a:solidFill>
              <a:latin typeface="Calibri"/>
              <a:ea typeface="Calibri"/>
              <a:cs typeface="Calibri"/>
              <a:sym typeface="Calibri"/>
            </a:endParaRPr>
          </a:p>
        </p:txBody>
      </p:sp>
      <p:sp>
        <p:nvSpPr>
          <p:cNvPr id="1656" name="Google Shape;1656;p55"/>
          <p:cNvSpPr/>
          <p:nvPr/>
        </p:nvSpPr>
        <p:spPr>
          <a:xfrm>
            <a:off x="6163056" y="2971800"/>
            <a:ext cx="2615184" cy="1417320"/>
          </a:xfrm>
          <a:prstGeom prst="roundRect">
            <a:avLst>
              <a:gd fmla="val 4516" name="adj"/>
            </a:avLst>
          </a:prstGeom>
          <a:solidFill>
            <a:srgbClr val="1E293B"/>
          </a:solidFill>
          <a:ln cap="flat" cmpd="sng" w="12700">
            <a:solidFill>
              <a:srgbClr val="0F766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7" name="Google Shape;1657;p55"/>
          <p:cNvSpPr/>
          <p:nvPr/>
        </p:nvSpPr>
        <p:spPr>
          <a:xfrm>
            <a:off x="6345936" y="3108960"/>
            <a:ext cx="228600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D9488"/>
              </a:buClr>
              <a:buSzPts val="1400"/>
              <a:buFont typeface="Bookman Old Style"/>
              <a:buNone/>
            </a:pPr>
            <a:r>
              <a:rPr b="1" i="0" lang="en-US" sz="1400" u="none" cap="none" strike="noStrike">
                <a:solidFill>
                  <a:srgbClr val="0D9488"/>
                </a:solidFill>
                <a:latin typeface="Bookman Old Style"/>
                <a:ea typeface="Bookman Old Style"/>
                <a:cs typeface="Bookman Old Style"/>
                <a:sym typeface="Bookman Old Style"/>
              </a:rPr>
              <a:t>Everything chains</a:t>
            </a:r>
            <a:endParaRPr b="0" i="0" sz="1400" u="none" cap="none" strike="noStrike">
              <a:solidFill>
                <a:schemeClr val="dk1"/>
              </a:solidFill>
              <a:latin typeface="Calibri"/>
              <a:ea typeface="Calibri"/>
              <a:cs typeface="Calibri"/>
              <a:sym typeface="Calibri"/>
            </a:endParaRPr>
          </a:p>
        </p:txBody>
      </p:sp>
      <p:sp>
        <p:nvSpPr>
          <p:cNvPr id="1658" name="Google Shape;1658;p55"/>
          <p:cNvSpPr/>
          <p:nvPr/>
        </p:nvSpPr>
        <p:spPr>
          <a:xfrm>
            <a:off x="6345936" y="3611880"/>
            <a:ext cx="228600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BD5E1"/>
              </a:buClr>
              <a:buSzPts val="1150"/>
              <a:buFont typeface="Calibri"/>
              <a:buNone/>
            </a:pPr>
            <a:r>
              <a:rPr b="0" i="0" lang="en-US" sz="1150" u="none" cap="none" strike="noStrike">
                <a:solidFill>
                  <a:srgbClr val="CBD5E1"/>
                </a:solidFill>
                <a:latin typeface="Calibri"/>
                <a:ea typeface="Calibri"/>
                <a:cs typeface="Calibri"/>
                <a:sym typeface="Calibri"/>
              </a:rPr>
              <a:t>Day 3's pipes + Day 6's scripts + Day 4's timers = monitoring you built yourself.</a:t>
            </a:r>
            <a:endParaRPr b="0" i="0" sz="1150" u="none" cap="none" strike="noStrike">
              <a:solidFill>
                <a:schemeClr val="dk1"/>
              </a:solidFill>
              <a:latin typeface="Calibri"/>
              <a:ea typeface="Calibri"/>
              <a:cs typeface="Calibri"/>
              <a:sym typeface="Calibri"/>
            </a:endParaRPr>
          </a:p>
        </p:txBody>
      </p:sp>
      <p:sp>
        <p:nvSpPr>
          <p:cNvPr id="1659" name="Google Shape;1659;p55"/>
          <p:cNvSpPr/>
          <p:nvPr/>
        </p:nvSpPr>
        <p:spPr>
          <a:xfrm>
            <a:off x="640080" y="4572000"/>
            <a:ext cx="804672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97316"/>
              </a:buClr>
              <a:buSzPts val="1150"/>
              <a:buFont typeface="Calibri"/>
              <a:buNone/>
            </a:pPr>
            <a:r>
              <a:rPr b="0" i="0" lang="en-US" sz="1150" u="none" cap="none" strike="noStrike">
                <a:solidFill>
                  <a:srgbClr val="F97316"/>
                </a:solidFill>
                <a:latin typeface="Calibri"/>
                <a:ea typeface="Calibri"/>
                <a:cs typeface="Calibri"/>
                <a:sym typeface="Calibri"/>
              </a:rPr>
              <a:t>Next: a hands-on scenario — you'll fix a broken server using only this week's tools.</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