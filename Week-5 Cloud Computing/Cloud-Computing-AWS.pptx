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the cloud module. Framing for the class: everything we have done so far — Linux, Docker, GitHub Actions, Kubernetes — ran on machines we controlled. Today we answer: whose machines run production? We start cloud-agnostic (these ideas transfer to Azure and GCP), then go deep on the eight AWS services a DevOps engineer touches weekly. Set expectations: lots of new names, but only a few new IDEAS — most of this maps to things they already know.</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route. Point out the arc: part 1 is ideas, parts 2–8 are services. Note the pairing with previous modules: ECR is where the Docker module's images go, EKS is where the Kubernetes module's manifests go, Telemetry is how we'd watch podinfo in production, Lambda is a different compute philosophy entirely. Tell students which parts have hands-on labs later in the week.</a:t>
            </a: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Emphasize: nothing in this part is AWS-specific. Same concepts, different names on Azure/GCP. If they ever switch providers, part 1 is the part that transfers unchanged.</a:t>
            </a:r>
            <a:endParaRPr/>
          </a:p>
        </p:txBody>
      </p:sp>
      <p:sp>
        <p:nvSpPr>
          <p:cNvPr id="99" name="Google Shape;9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Problem-first, as always. Tell the story slowly — students who grew up with cloud don't realize this was the norm. Anecdote: capacity planning meant predicting traffic 6–12 months out. Dot-com era companies died from both directions: too little hardware (site down on launch day) and too much (burned funding on idle servers). Ask the class: what would YOU need to launch a site from Kathmandu in 2005? Bandwidth costs, import duties on servers, power cuts — makes it visceral.</a:t>
            </a:r>
            <a:endParaRPr/>
          </a:p>
        </p:txBody>
      </p:sp>
      <p:sp>
        <p:nvSpPr>
          <p:cNvPr id="111" name="Google Shape;1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NIST definition (SP 800-145) is the standard vocabulary — interviewers love it. The killer characteristic for DevOps is on-demand self-service via API: it's what makes Infrastructure-as-Code possible. You can't 'terraform apply' a phone call to a hosting company. Elasticity example they'll feel: an exam-registration portal in Nepal that gets 100x traffic for two days a year. On-prem you buy for the peak; cloud you rent the peak for 48 hours.</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Classic pizza analogy works: on-prem = grow the wheat; IaaS = frozen pizza (their kitchen, your cooking); PaaS = delivery; SaaS = restaurant. Point at the chart and connect to this module's services: EC2 sits at IaaS — you patch the OS. EKS is a hybrid: AWS runs the control plane (PaaS-ish), you manage worker nodes. Lambda is FaaS — you upload a function, everything else disappears. This one chart is the mental index for the entire module.</a:t>
            </a:r>
            <a:endParaRPr/>
          </a:p>
        </p:txBody>
      </p:sp>
      <p:sp>
        <p:nvSpPr>
          <p:cNvPr id="182" name="Google Shape;1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Local relevance: Nepali banks are a good private/hybrid discussion — NRB data-residency expectations push core banking on-prem while marketing sites and mobile-app backends can run public. Multi-cloud honesty: it usually happens by accident (acquisition, one team's preference), not by strategy. The abstraction layers that promise portability (e.g., only using VMs) throw away the managed services that made cloud worth it.</a:t>
            </a:r>
            <a:endParaRPr/>
          </a:p>
        </p:txBody>
      </p:sp>
      <p:sp>
        <p:nvSpPr>
          <p:cNvPr id="268" name="Google Shape;2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model is on every AWS cert exam and every real audit. Rule of thumb: AWS secures everything up to and including the hypervisor; you secure everything you can configure. The dividing line MOVES with the service model: on EC2 you patch the OS; on Lambda you don't even see the OS. Capital One 2019 is the canonical case study — a misconfigured WAF + over-privileged IAM role, not an AWS failure. Foreshadow Part 3: IAM is where 'your half' mostly lives.</a:t>
            </a:r>
            <a:endParaRPr/>
          </a:p>
        </p:txBody>
      </p:sp>
      <p:sp>
        <p:nvSpPr>
          <p:cNvPr id="308" name="Google Shape;3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Vocabulary that appears in EVERY service later: region → AZ → edge. Key mental model: an AZ is a blast radius. One AZ can lose power; a whole region failing is rare but has happened (us-east-1 stories). Multi-AZ = high availability (survive an AZ), multi-region = disaster recovery (survive a region). Pricing differs per region — Mumbai is usually cheaper than Singapore for us. Have students ping ec2.ap-south-1.amazonaws.com vs us-east-1 in the lab to see latency physics.</a:t>
            </a:r>
            <a:endParaRPr/>
          </a:p>
        </p:txBody>
      </p:sp>
      <p:sp>
        <p:nvSpPr>
          <p:cNvPr id="326" name="Google Shape;3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business half of the story. CapEx: capital expenditure, buy assets upfront. OpEx: operational expenditure, ongoing costs. Cloud converts one to the other — that's why finance approved it, not just engineers. Warning to add verbally: OpEx can EXCEED CapEx at steady, large scale — that's why some companies (Dropbox, 37signals) repatriated. Cloud wins on variability, speed, and small scale; owning can win at massive stable scale. Ties into the engineering-economics thinking: rent vs buy is a utilization question.</a:t>
            </a:r>
            <a:endParaRPr/>
          </a:p>
        </p:txBody>
      </p:sp>
      <p:sp>
        <p:nvSpPr>
          <p:cNvPr id="361" name="Google Shape;36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EC2 is the oldest and most fundamental compute service (launched 2006). Connect backwards: students already ran VMs with Vagrant and used the Azure student VMs — EC2 is the same idea, industrial-strength, API-first.</a:t>
            </a:r>
            <a:endParaRPr/>
          </a:p>
        </p:txBody>
      </p:sp>
      <p:sp>
        <p:nvSpPr>
          <p:cNvPr id="380" name="Google Shape;38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 every part to something they've touched: AMI = Vagrant box = Docker base image (same 'golden image' idea, different layer). EBS is NETWORK-attached — the disk isn't inside the physical host, which is why it survives hardware failure and why disk I/O has different characteristics than a laptop SSD. Security group nuance for later: stateful (reply traffic auto-allowed), unlike raw iptables. Key pair: AWS keeps only the public key; lose the private key and you're locked out (there are recovery paths, but painful).</a:t>
            </a:r>
            <a:endParaRPr/>
          </a:p>
        </p:txBody>
      </p:sp>
      <p:sp>
        <p:nvSpPr>
          <p:cNvPr id="392" name="Google Shape;3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naming looks cryptic but is a tiny grammar — once decoded, students can read any type. 'Burstable' (t family) matters for labs: you earn CPU credits while idle and spend them in bursts; sustained 100% CPU on a t3 will throttle (or bill, in unlimited mode) — a classic 'why is my server slow' mystery. Rule of thumb: start on t3/m7, measure with telemetry (Part 7), then right-size. Mention Graviton (ARM, e.g. t4g/m7g): ~20% cheaper — and their Docker multi-arch knowledge suddenly matters.</a:t>
            </a:r>
            <a:endParaRPr/>
          </a:p>
        </p:txBody>
      </p:sp>
      <p:sp>
        <p:nvSpPr>
          <p:cNvPr id="437" name="Google Shape;43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Lifecycle gotcha that costs students money: 'stopped' still bills for EBS storage — the #1 surprise on a personal AWS bill, second only to forgetting an Elastic IP. Terminate what you're done with. Spot is the DevOps superpower: 70–90% discount for interruption-tolerant work — exactly what stateless containers are. The 2-minute interruption notice arrives via instance metadata; Kubernetes drains the node gracefully. Great discussion: which bootcamp workloads could run on spot? (CI runners: yes. Postgres: no.)</a:t>
            </a:r>
            <a:endParaRPr/>
          </a:p>
        </p:txBody>
      </p:sp>
      <p:sp>
        <p:nvSpPr>
          <p:cNvPr id="469" name="Google Shape;4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Live-demo slide. Emphasize the philosophical point: this API call IS the cloud — the 4-card problem slide from Part 1 collapsed into one command. Because it's an API, it's scriptable → Terraform/Ansible later. The --query flag uses JMESPath (not jq syntax, annoyingly, but same idea). In the lab students will do this via console first (to see the parts), then CLI (to feel the automation). Note the AMI id is region-specific — the one on the slide is ap-south-1 Ubuntu; it won't work in us-east-1.</a:t>
            </a:r>
            <a:endParaRPr/>
          </a:p>
        </p:txBody>
      </p:sp>
      <p:sp>
        <p:nvSpPr>
          <p:cNvPr id="520" name="Google Shape;52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IAM is free, global (not regional), and the most security-critical thing in the account. Almost every real-world cloud breach is an IAM story. It's also the least fun to teach — so anchor everything in the root-account horror story on the next slide.</a:t>
            </a:r>
            <a:endParaRPr/>
          </a:p>
        </p:txBody>
      </p:sp>
      <p:sp>
        <p:nvSpPr>
          <p:cNvPr id="550" name="Google Shape;55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Root account: created with the AWS account, can do ANYTHING including deleting the account and changing billing. Real-world practice: enable MFA on root, create an admin IAM user, lock root credentials in a safe, never use them again. Roles vs users is the concept students struggle with — preview it here, deep-dive in two slides. Analogy: a user is a passport; a role is a visitor badge you clip on for the day and must return. Policies attach to identities OR resources (bucket policies — mention when we hit S3).</a:t>
            </a:r>
            <a:endParaRPr/>
          </a:p>
        </p:txBody>
      </p:sp>
      <p:sp>
        <p:nvSpPr>
          <p:cNvPr id="562" name="Google Shape;56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Slow slide — read the JSON line by line with the class. The Version string is literally always 2012-10-17 (it's a schema version, not a date you set). The bucket vs bucket/* distinction trips everyone: ListBucket acts on the BUCKET arn, GetObject on OBJECT arns — miss one and you get mysterious AccessDenied. Debugging tip for the lab: the IAM Policy Simulator, and CloudTrail shows the exact denied action. Managed policies (AWS-written, e.g. AmazonS3ReadOnlyAccess) vs customer-managed vs inline — prefer managed to start, custom when least-privilege matters.</a:t>
            </a:r>
            <a:endParaRPr/>
          </a:p>
        </p:txBody>
      </p:sp>
      <p:sp>
        <p:nvSpPr>
          <p:cNvPr id="605" name="Google Shape;60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single most valuable IAM habit: if the caller is a machine, it gets a ROLE, never keys. Under the hood: STS (Security Token Service) issues temporary credentials (access key + secret + session token) with an expiry; the instance metadata service serves them to the SDK, which refreshes automatically. Callback to the GitHub Actions module: our ECS Express deploy used OIDC keyless auth — that WAS this mechanism. Foreshadow EKS: pods get roles too (IRSA / Pod Identity) — Part 6. War story: bots scan GitHub for AKIA-prefixed strings; a leaked key is exploited in under 10 minutes on average.</a:t>
            </a:r>
            <a:endParaRPr/>
          </a:p>
        </p:txBody>
      </p:sp>
      <p:sp>
        <p:nvSpPr>
          <p:cNvPr id="633" name="Google Shape;63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5" name="Google Shape;6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checklist ≈ the first page of every AWS security audit. The five root-only tasks (for the curious): change account settings/close account, some billing/tax settings, restore IAM admin access, certain S3/console recovery flows. CloudTrail preview: it's telemetry for the CONTROL plane — who called which API — vs CloudWatch which watches workloads; both appear in Part 7. Lab exercise idea: give pairs of students deliberately broken policies and have them debug AccessDenied using the policy simulator — best IAM teaching device I know.</a:t>
            </a:r>
            <a:endParaRPr/>
          </a:p>
        </p:txBody>
      </p:sp>
      <p:sp>
        <p:nvSpPr>
          <p:cNvPr id="666" name="Google Shape;6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S3 launched in 2006 alongside EC2 — the two original AWS services. It's arguably the most important: half of AWS's other services are S3 with extra steps, and a shocking fraction of the internet's static content lives in it.</a:t>
            </a:r>
            <a:endParaRPr/>
          </a:p>
        </p:txBody>
      </p:sp>
      <p:sp>
        <p:nvSpPr>
          <p:cNvPr id="706" name="Google Shape;70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Eleven nines of durability intuition: store 10 million objects, expect to lose one every 10,000 years — achieved by replicating each object across 3+ AZs. Durability ≠ availability: your object will EXIST, but S3 can briefly be unreachable. The immutability point matters for design: you can't append to an object — you upload a new version. That's why logs get batched before shipping. Docker connection: an image layer registry is object storage with a naming convention — foreshadows ECR.</a:t>
            </a:r>
            <a:endParaRPr/>
          </a:p>
        </p:txBody>
      </p:sp>
      <p:sp>
        <p:nvSpPr>
          <p:cNvPr id="718" name="Google Shape;71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Globally-unique bucket names surprise people: 'test' and 'backup' were taken in 2006. Convention: company-project-purpose, e.g. sagyam-bootcamp-assets. The flat-namespace point is not trivia — it explains real behavior: 'renaming a folder' = copying every object under a new prefix; listing is by prefix + delimiter. Versioning: once on, deletes just add a delete marker — protects against fat fingers AND ransomware. Presigned URLs are the standard trick for private downloads (share a time-limited link without making anything public).</a:t>
            </a:r>
            <a:endParaRPr/>
          </a:p>
        </p:txBody>
      </p:sp>
      <p:sp>
        <p:nvSpPr>
          <p:cNvPr id="757" name="Google Shape;75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temperature metaphor carries the whole slide: how often do you touch the data vs how much do you pay to keep it. Numbers move, but the ratio is stable: Deep Archive is roughly 25x cheaper per GB than Standard. The trap: retrieval fees — pulling a 10 TB Glacier archive in a panic costs real money; IA has a 30-day minimum storage charge. Lifecycle rules operate on prefixes — which is why the key design from the previous slide (backups/DATE/...) matters. Good exam-style question for class: logs written once, read for 2 weeks, kept 1 year — design the lifecycle.</a:t>
            </a:r>
            <a:endParaRPr/>
          </a:p>
        </p:txBody>
      </p:sp>
      <p:sp>
        <p:nvSpPr>
          <p:cNvPr id="798" name="Google Shape;79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porcelain/plumbing distinction (borrowed from git) helps: aws s3 for daily life, aws s3api when you need exact control. sync --delete makes the bucket mirror the local dir — great for static site deploys, dangerous if you point it the wrong way (demonstrate direction carefully!). Lab: host a static site — bucket, index.html, website endpoint, then discuss why production would put CloudFront in front. Block Public Access is four separate settings at bucket AND account level; since 2023 new buckets default to all-on, which is why the lab has an explicit unblock step.</a:t>
            </a:r>
            <a:endParaRPr/>
          </a:p>
        </p:txBody>
      </p:sp>
      <p:sp>
        <p:nvSpPr>
          <p:cNvPr id="838" name="Google Shape;83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 name="Google Shape;86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Short section by design — students already know registries from Docker Hub and Harbor. ECR is the same concept with AWS auth and billing. The interesting parts are the login dance and lifecycle policies.</a:t>
            </a:r>
            <a:endParaRPr/>
          </a:p>
        </p:txBody>
      </p:sp>
      <p:sp>
        <p:nvSpPr>
          <p:cNvPr id="865" name="Google Shape;86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as a translation exercise, not new material — students set up Harbor with Trivy in the Docker module, so the entire mental model transfers. Registry URL anatomy: ACCOUNT_ID.dkr.ecr.REGION.amazonaws.com — the account id namespaces everything, so repo names only need to be unique within your account (unlike S3 buckets!). The 12-hour token is the one genuinely new mechanic — it's IAM roles applied to docker login. Same-region pulls matter for EKS: node pulls image over AWS's backbone, no NAT/internet egress charges.</a:t>
            </a:r>
            <a:endParaRPr/>
          </a:p>
        </p:txBody>
      </p:sp>
      <p:sp>
        <p:nvSpPr>
          <p:cNvPr id="877" name="Google Shape;87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 name="Google Shape;91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Muscle-memory slide — students did this dance with Docker Hub and Harbor; only step 2 differs. Common failure: forgetting that the LOCAL tag must include the full registry hostname before push — docker push shortlink-api:1.4.2 goes to Docker Hub and fails confusingly. The digest (sha256:…) in the output is the immutable identity; tags are movable pointers — recommend deploying by digest or immutable tags in production (tie back to the CI/CD module's versioning discussion). Enable tag immutability on the repo to stop :latest overwrites.</a:t>
            </a:r>
            <a:endParaRPr/>
          </a:p>
        </p:txBody>
      </p:sp>
      <p:sp>
        <p:nvSpPr>
          <p:cNvPr id="913" name="Google Shape;91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 name="Google Shape;94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payoff section: the whole Kubernetes module was preparation for this. Message: NOTHING they learned changes — pods, deployments, services, kubectl all identical. What changes is who runs the control plane and how identity works.</a:t>
            </a:r>
            <a:endParaRPr/>
          </a:p>
        </p:txBody>
      </p:sp>
      <p:sp>
        <p:nvSpPr>
          <p:cNvPr id="943" name="Google Shape;94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4" name="Google Shape;95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Anchor to the K8s module's architecture slide: same boxes, new landlord. The control plane runs in an AWS-owned account across 3 AZs — you literally cannot SSH to it, which is the point. Node choices: managed node groups (EC2 you can see and SSH; supports spot — connect to the EC2 pricing slide) vs Fargate (per-pod serverless, no nodes visible, pricier per compute-hour but zero node ops). Alternatives one-liner: ECS is AWS's simpler proprietary orchestrator (our GitHub Actions module deployed to it); EKS is for when you want real Kubernetes.</a:t>
            </a:r>
            <a:endParaRPr/>
          </a:p>
        </p:txBody>
      </p:sp>
      <p:sp>
        <p:nvSpPr>
          <p:cNvPr id="955" name="Google Shape;95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8" name="Google Shape;98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confidence slide — go row by row and let students feel how much they already own. The 'upgraded' rows share a pattern: a controller watches K8s objects and provisions AWS resources (Ingress→ALB, PVC→EBS). That's the operator pattern from the K8s module, applied to a cloud. IRSA (IAM Roles for Service Accounts) deserves two minutes: annotate a ServiceAccount with a role ARN, pods using it get temp credentials via OIDC — it's the 'machines get roles' rule from Part 3 reaching into the cluster. Pod Identity is the newer, simpler successor; mention both names since docs use both.</a:t>
            </a:r>
            <a:endParaRPr/>
          </a:p>
        </p:txBody>
      </p:sp>
      <p:sp>
        <p:nvSpPr>
          <p:cNvPr id="989" name="Google Shape;98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the --spot flag: worker nodes on spot instances — the EC2 pricing slide paying off; K8s reschedules pods when a spot node is reclaimed, which makes the two features natural partners. The 15–20 minute creation time is real — in the lab, students start creation, and we teach the auth model while it bakes. Under eksctl: CloudFormation stacks (infrastructure-as-code preview — Terraform does the same job and is what most shops use). COST WARNING deserves theatrical emphasis: an idle forgotten cluster is ~$75/month; deleting the cluster is a graded part of the lab.</a:t>
            </a:r>
            <a:endParaRPr/>
          </a:p>
        </p:txBody>
      </p:sp>
      <p:sp>
        <p:nvSpPr>
          <p:cNvPr id="1029" name="Google Shape;1029;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Observability section. Students have used kubectl logs and kubectl top; this scales those instincts to fleet level. Vendor-neutral concepts first (three pillars), then the AWS implementations.</a:t>
            </a:r>
            <a:endParaRPr/>
          </a:p>
        </p:txBody>
      </p:sp>
      <p:sp>
        <p:nvSpPr>
          <p:cNvPr id="1054" name="Google Shape;105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5" name="Google Shape;106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Vendor-neutral slide — these pillars are the same in Prometheus/Grafana/Jaeger land and in Datadog. The 3 AM scenario is the through-line for the whole part: return to it on each slide. Emphasize cost asymmetry: metrics are a few bytes per point (keep years), logs are the budget-eater (retention policies!), traces are usually sampled (1–10%). If students remember only the three questions — is something wrong / what happened / where is it slow — the section succeeded.</a:t>
            </a:r>
            <a:endParaRPr/>
          </a:p>
        </p:txBody>
      </p:sp>
      <p:sp>
        <p:nvSpPr>
          <p:cNvPr id="1066" name="Google Shape;106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1" name="Google Shape;110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pitch: zero-setup baseline telemetry — the moment an EC2 instance or Lambda exists, metrics flow. What does NOT flow automatically: EC2 memory &amp; disk (needs the CW agent — hypervisor can't see inside the OS; a favorite interview question), and application logs (agent/Fluent Bit). Logs Insights syntax reads like the awk/jq pipelines from the Linux module — same pipe-and-filter thinking. Alarms → SNS wiring is the lab exercise: alarm on high CPU, email yourself, stress-ng the box, watch the mail arrive.</a:t>
            </a:r>
            <a:endParaRPr/>
          </a:p>
        </p:txBody>
      </p:sp>
      <p:sp>
        <p:nvSpPr>
          <p:cNvPr id="1102" name="Google Shape;110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6" name="Google Shape;113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waterfall is the aha-moment of tracing: latency has an address. OpenTelemetry note: it's the vendor-neutral standard for emitting all three signals; instrument with OTel once and you can point it at X-Ray, Jaeger, or Datadog — the industry direction, worth saying twice. The Rosetta table keeps students honest: on EKS, many teams run Prometheus+Grafana IN cluster even on AWS; CloudWatch still covers the AWS-service layer. Cost anecdote: unbounded log retention is the classic surprise bill — set retention on every log group.</a:t>
            </a:r>
            <a:endParaRPr/>
          </a:p>
        </p:txBody>
      </p:sp>
      <p:sp>
        <p:nvSpPr>
          <p:cNvPr id="1137" name="Google Shape;113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 service, and a philosophical bookend: the module started with 'rent a machine' (EC2) and ends with 'there is no machine.' Lambda completes the IaaS→FaaS axis from the service-models slide in Part 1.</a:t>
            </a:r>
            <a:endParaRPr/>
          </a:p>
        </p:txBody>
      </p:sp>
      <p:sp>
        <p:nvSpPr>
          <p:cNvPr id="1185" name="Google Shape;1185;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idle-server framing lands because students just learned to fear idle EC2 bills. Runtime support: Node, Python, Java, Go, .NET, Ruby, custom runtimes, and — Docker module callback — container images up to 10 GB as the deployment artifact. The 'freezes it' detail sets up cold starts on the next slide. Scaling honesty: 'no config' has account-level concurrency quotas (default 1,000 concurrent) — magic with a circuit breaker.</a:t>
            </a:r>
            <a:endParaRPr/>
          </a:p>
        </p:txBody>
      </p:sp>
      <p:sp>
        <p:nvSpPr>
          <p:cNvPr id="1197" name="Google Shape;119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6" name="Google Shape;123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code: everything OUTSIDE the handler runs once per cold start — so clients/connections go there (a pattern that confuses people coming from scripts). The IAM comment closes the loop with Part 3: an execution role per function, least privilege. Memory-CPU coupling is the fun fact: benchmarks often show 1024 MB completing so much faster than 128 MB that the bill DROPS. The 'wrong tool' column keeps them honest — serverless zealotry is as bad as serverless denial. Lab: S3 upload → Lambda → thumbnail written back; watch it in CloudWatch Logs (Part 7 payoff).</a:t>
            </a:r>
            <a:endParaRPr/>
          </a:p>
        </p:txBody>
      </p:sp>
      <p:sp>
        <p:nvSpPr>
          <p:cNvPr id="1237" name="Google Shape;123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real time here — this diagram is the final exam in disguise. Trace a request out loud: user → ALB (created by the Ingress controller) → podinfo pods → uploads to S3 → S3 event → Lambda thumbnail → back to S3. Then trace an image deploy: CI pushes to ECR, EKS pulls. Then ask: what role does each arrow need? (ALB controller role, node role for ECR pull, IRSA for pods→S3, Lambda execution role.) Closing note tees up IaC: everything here was API calls, so it can all be a Terraform file — the natural next module.</a:t>
            </a:r>
            <a:endParaRPr/>
          </a:p>
        </p:txBody>
      </p:sp>
      <p:sp>
        <p:nvSpPr>
          <p:cNvPr id="1270" name="Google Shape;127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0" name="Google Shape;131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Rapid-fire recap — read each line, cold-call a student to add one fact per row. This slide doubles as a study sheet; tell them to photograph it. Then hand out the lab schedule for the week.</a:t>
            </a:r>
            <a:endParaRPr/>
          </a:p>
        </p:txBody>
      </p:sp>
      <p:sp>
        <p:nvSpPr>
          <p:cNvPr id="1311" name="Google Shape;131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3" name="Google Shape;134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the arc: 2005's rack of servers became one API call, and next module those API calls become version-controlled files. Homework before the first lab: everyone creates a Budget alert ($5) in their account — the single best piece of AWS advice for students. Questions, then break.</a:t>
            </a:r>
            <a:endParaRPr/>
          </a:p>
        </p:txBody>
      </p:sp>
      <p:sp>
        <p:nvSpPr>
          <p:cNvPr id="1344" name="Google Shape;134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41.png"/><Relationship Id="rId11" Type="http://schemas.openxmlformats.org/officeDocument/2006/relationships/image" Target="../media/image10.png"/><Relationship Id="rId10" Type="http://schemas.openxmlformats.org/officeDocument/2006/relationships/image" Target="../media/image31.png"/><Relationship Id="rId9" Type="http://schemas.openxmlformats.org/officeDocument/2006/relationships/image" Target="../media/image5.png"/><Relationship Id="rId5" Type="http://schemas.openxmlformats.org/officeDocument/2006/relationships/image" Target="../media/image28.png"/><Relationship Id="rId6" Type="http://schemas.openxmlformats.org/officeDocument/2006/relationships/image" Target="../media/image2.png"/><Relationship Id="rId7" Type="http://schemas.openxmlformats.org/officeDocument/2006/relationships/image" Target="../media/image40.png"/><Relationship Id="rId8"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6.png"/><Relationship Id="rId10" Type="http://schemas.openxmlformats.org/officeDocument/2006/relationships/image" Target="../media/image23.png"/><Relationship Id="rId9" Type="http://schemas.openxmlformats.org/officeDocument/2006/relationships/image" Target="../media/image4.png"/><Relationship Id="rId5" Type="http://schemas.openxmlformats.org/officeDocument/2006/relationships/image" Target="../media/image39.png"/><Relationship Id="rId6" Type="http://schemas.openxmlformats.org/officeDocument/2006/relationships/image" Target="../media/image20.png"/><Relationship Id="rId7" Type="http://schemas.openxmlformats.org/officeDocument/2006/relationships/image" Target="../media/image1.png"/><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29.png"/><Relationship Id="rId6" Type="http://schemas.openxmlformats.org/officeDocument/2006/relationships/image" Target="../media/image37.png"/><Relationship Id="rId7" Type="http://schemas.openxmlformats.org/officeDocument/2006/relationships/image" Target="../media/image22.png"/><Relationship Id="rId8"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1.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0.png"/><Relationship Id="rId4" Type="http://schemas.openxmlformats.org/officeDocument/2006/relationships/image" Target="../media/image50.png"/><Relationship Id="rId5" Type="http://schemas.openxmlformats.org/officeDocument/2006/relationships/image" Target="../media/image36.png"/><Relationship Id="rId6"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67.png"/><Relationship Id="rId5" Type="http://schemas.openxmlformats.org/officeDocument/2006/relationships/image" Target="../media/image77.png"/><Relationship Id="rId6" Type="http://schemas.openxmlformats.org/officeDocument/2006/relationships/image" Target="../media/image57.png"/><Relationship Id="rId7" Type="http://schemas.openxmlformats.org/officeDocument/2006/relationships/image" Target="../media/image82.png"/><Relationship Id="rId8"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6.png"/><Relationship Id="rId5"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3.png"/><Relationship Id="rId4" Type="http://schemas.openxmlformats.org/officeDocument/2006/relationships/image" Target="../media/image51.png"/><Relationship Id="rId5" Type="http://schemas.openxmlformats.org/officeDocument/2006/relationships/image" Target="../media/image55.png"/><Relationship Id="rId6" Type="http://schemas.openxmlformats.org/officeDocument/2006/relationships/image" Target="../media/image57.png"/><Relationship Id="rId7" Type="http://schemas.openxmlformats.org/officeDocument/2006/relationships/image" Target="../media/image76.png"/><Relationship Id="rId8" Type="http://schemas.openxmlformats.org/officeDocument/2006/relationships/image" Target="../media/image10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6.png"/><Relationship Id="rId4" Type="http://schemas.openxmlformats.org/officeDocument/2006/relationships/image" Target="../media/image110.png"/><Relationship Id="rId5" Type="http://schemas.openxmlformats.org/officeDocument/2006/relationships/image" Target="../media/image96.png"/><Relationship Id="rId6" Type="http://schemas.openxmlformats.org/officeDocument/2006/relationships/image" Target="../media/image20.png"/><Relationship Id="rId7"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6.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100.png"/><Relationship Id="rId7" Type="http://schemas.openxmlformats.org/officeDocument/2006/relationships/image" Target="../media/image8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0.png"/><Relationship Id="rId4" Type="http://schemas.openxmlformats.org/officeDocument/2006/relationships/image" Target="../media/image89.png"/><Relationship Id="rId5" Type="http://schemas.openxmlformats.org/officeDocument/2006/relationships/image" Target="../media/image91.png"/><Relationship Id="rId6"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png"/><Relationship Id="rId4" Type="http://schemas.openxmlformats.org/officeDocument/2006/relationships/image" Target="../media/image4.png"/><Relationship Id="rId5" Type="http://schemas.openxmlformats.org/officeDocument/2006/relationships/image" Target="../media/image107.png"/><Relationship Id="rId6" Type="http://schemas.openxmlformats.org/officeDocument/2006/relationships/image" Target="../media/image99.png"/><Relationship Id="rId7"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8.png"/><Relationship Id="rId4" Type="http://schemas.openxmlformats.org/officeDocument/2006/relationships/image" Target="../media/image108.png"/><Relationship Id="rId5" Type="http://schemas.openxmlformats.org/officeDocument/2006/relationships/image" Target="../media/image102.png"/><Relationship Id="rId6" Type="http://schemas.openxmlformats.org/officeDocument/2006/relationships/image" Target="../media/image10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9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11.png"/><Relationship Id="rId4" Type="http://schemas.openxmlformats.org/officeDocument/2006/relationships/image" Target="../media/image15.png"/><Relationship Id="rId5"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98.png"/><Relationship Id="rId4" Type="http://schemas.openxmlformats.org/officeDocument/2006/relationships/image" Target="../media/image101.png"/><Relationship Id="rId5"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sp>
        <p:nvSpPr>
          <p:cNvPr id="16" name="Google Shape;16;p3"/>
          <p:cNvSpPr/>
          <p:nvPr/>
        </p:nvSpPr>
        <p:spPr>
          <a:xfrm>
            <a:off x="822960" y="1554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300"/>
              <a:buFont typeface="Courier New"/>
              <a:buNone/>
            </a:pPr>
            <a:r>
              <a:rPr b="1" i="0" lang="en-US" sz="1300" u="none" cap="none" strike="noStrike">
                <a:solidFill>
                  <a:srgbClr val="2DD4BF"/>
                </a:solidFill>
                <a:latin typeface="Courier New"/>
                <a:ea typeface="Courier New"/>
                <a:cs typeface="Courier New"/>
                <a:sym typeface="Courier New"/>
              </a:rPr>
              <a:t>DEVOPS BOOTCAMP · MODULE</a:t>
            </a:r>
            <a:endParaRPr b="0" i="0" sz="1300" u="none" cap="none" strike="noStrike">
              <a:solidFill>
                <a:schemeClr val="dk1"/>
              </a:solidFill>
              <a:latin typeface="Calibri"/>
              <a:ea typeface="Calibri"/>
              <a:cs typeface="Calibri"/>
              <a:sym typeface="Calibri"/>
            </a:endParaRPr>
          </a:p>
        </p:txBody>
      </p:sp>
      <p:sp>
        <p:nvSpPr>
          <p:cNvPr id="17" name="Google Shape;17;p3"/>
          <p:cNvSpPr/>
          <p:nvPr/>
        </p:nvSpPr>
        <p:spPr>
          <a:xfrm>
            <a:off x="822960" y="1965960"/>
            <a:ext cx="9601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5400"/>
              <a:buFont typeface="Bookman Old Style"/>
              <a:buNone/>
            </a:pPr>
            <a:r>
              <a:rPr b="1" i="0" lang="en-US" sz="5400" u="none" cap="none" strike="noStrike">
                <a:solidFill>
                  <a:srgbClr val="F8FAFC"/>
                </a:solidFill>
                <a:latin typeface="Bookman Old Style"/>
                <a:ea typeface="Bookman Old Style"/>
                <a:cs typeface="Bookman Old Style"/>
                <a:sym typeface="Bookman Old Style"/>
              </a:rPr>
              <a:t>Cloud Computing</a:t>
            </a:r>
            <a:endParaRPr b="0" i="0" sz="5400" u="none" cap="none" strike="noStrike">
              <a:solidFill>
                <a:schemeClr val="dk1"/>
              </a:solidFill>
              <a:latin typeface="Calibri"/>
              <a:ea typeface="Calibri"/>
              <a:cs typeface="Calibri"/>
              <a:sym typeface="Calibri"/>
            </a:endParaRPr>
          </a:p>
        </p:txBody>
      </p:sp>
      <p:sp>
        <p:nvSpPr>
          <p:cNvPr id="18" name="Google Shape;18;p3"/>
          <p:cNvSpPr/>
          <p:nvPr/>
        </p:nvSpPr>
        <p:spPr>
          <a:xfrm>
            <a:off x="822960" y="2926080"/>
            <a:ext cx="9601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5400"/>
              <a:buFont typeface="Bookman Old Style"/>
              <a:buNone/>
            </a:pPr>
            <a:r>
              <a:rPr b="1" i="0" lang="en-US" sz="5400" u="none" cap="none" strike="noStrike">
                <a:solidFill>
                  <a:srgbClr val="F8FAFC"/>
                </a:solidFill>
                <a:latin typeface="Bookman Old Style"/>
                <a:ea typeface="Bookman Old Style"/>
                <a:cs typeface="Bookman Old Style"/>
                <a:sym typeface="Bookman Old Style"/>
              </a:rPr>
              <a:t>on </a:t>
            </a:r>
            <a:r>
              <a:rPr b="1" i="0" lang="en-US" sz="5400" u="none" cap="none" strike="noStrike">
                <a:solidFill>
                  <a:srgbClr val="FF9900"/>
                </a:solidFill>
                <a:latin typeface="Bookman Old Style"/>
                <a:ea typeface="Bookman Old Style"/>
                <a:cs typeface="Bookman Old Style"/>
                <a:sym typeface="Bookman Old Style"/>
              </a:rPr>
              <a:t>AWS</a:t>
            </a:r>
            <a:endParaRPr b="0" i="0" sz="5400" u="none" cap="none" strike="noStrike">
              <a:solidFill>
                <a:schemeClr val="dk1"/>
              </a:solidFill>
              <a:latin typeface="Calibri"/>
              <a:ea typeface="Calibri"/>
              <a:cs typeface="Calibri"/>
              <a:sym typeface="Calibri"/>
            </a:endParaRPr>
          </a:p>
        </p:txBody>
      </p:sp>
      <p:sp>
        <p:nvSpPr>
          <p:cNvPr id="19" name="Google Shape;19;p3"/>
          <p:cNvSpPr/>
          <p:nvPr/>
        </p:nvSpPr>
        <p:spPr>
          <a:xfrm>
            <a:off x="822960" y="4069080"/>
            <a:ext cx="7498080" cy="8686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4A3B8"/>
              </a:buClr>
              <a:buSzPts val="1700"/>
              <a:buFont typeface="Calibri"/>
              <a:buNone/>
            </a:pPr>
            <a:r>
              <a:rPr b="0" i="0" lang="en-US" sz="1700" u="none" cap="none" strike="noStrike">
                <a:solidFill>
                  <a:srgbClr val="94A3B8"/>
                </a:solidFill>
                <a:latin typeface="Calibri"/>
                <a:ea typeface="Calibri"/>
                <a:cs typeface="Calibri"/>
                <a:sym typeface="Calibri"/>
              </a:rPr>
              <a:t>From racking servers to renting superpowers —</a:t>
            </a:r>
            <a:endParaRPr b="0" i="0" sz="17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94A3B8"/>
              </a:buClr>
              <a:buSzPts val="1700"/>
              <a:buFont typeface="Calibri"/>
              <a:buNone/>
            </a:pPr>
            <a:r>
              <a:rPr b="0" i="0" lang="en-US" sz="1700" u="none" cap="none" strike="noStrike">
                <a:solidFill>
                  <a:srgbClr val="94A3B8"/>
                </a:solidFill>
                <a:latin typeface="Calibri"/>
                <a:ea typeface="Calibri"/>
                <a:cs typeface="Calibri"/>
                <a:sym typeface="Calibri"/>
              </a:rPr>
              <a:t>the fundamentals, then the eight services you'll actually use.</a:t>
            </a:r>
            <a:endParaRPr b="0" i="0" sz="1700" u="none" cap="none" strike="noStrike">
              <a:solidFill>
                <a:schemeClr val="dk1"/>
              </a:solidFill>
              <a:latin typeface="Calibri"/>
              <a:ea typeface="Calibri"/>
              <a:cs typeface="Calibri"/>
              <a:sym typeface="Calibri"/>
            </a:endParaRPr>
          </a:p>
        </p:txBody>
      </p:sp>
      <p:sp>
        <p:nvSpPr>
          <p:cNvPr id="20" name="Google Shape;20;p3"/>
          <p:cNvSpPr/>
          <p:nvPr/>
        </p:nvSpPr>
        <p:spPr>
          <a:xfrm>
            <a:off x="822960" y="5257800"/>
            <a:ext cx="1266444" cy="384048"/>
          </a:xfrm>
          <a:prstGeom prst="roundRect">
            <a:avLst>
              <a:gd fmla="val 50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3"/>
          <p:cNvPicPr preferRelativeResize="0"/>
          <p:nvPr/>
        </p:nvPicPr>
        <p:blipFill rotWithShape="1">
          <a:blip r:embed="rId3">
            <a:alphaModFix/>
          </a:blip>
          <a:srcRect b="0" l="0" r="0" t="0"/>
          <a:stretch/>
        </p:blipFill>
        <p:spPr>
          <a:xfrm>
            <a:off x="950976" y="5349240"/>
            <a:ext cx="201168" cy="201168"/>
          </a:xfrm>
          <a:prstGeom prst="rect">
            <a:avLst/>
          </a:prstGeom>
          <a:noFill/>
          <a:ln>
            <a:noFill/>
          </a:ln>
        </p:spPr>
      </p:pic>
      <p:sp>
        <p:nvSpPr>
          <p:cNvPr id="22" name="Google Shape;22;p3"/>
          <p:cNvSpPr/>
          <p:nvPr/>
        </p:nvSpPr>
        <p:spPr>
          <a:xfrm>
            <a:off x="1188720" y="5257800"/>
            <a:ext cx="86410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Cloud 101</a:t>
            </a:r>
            <a:endParaRPr b="0" i="0" sz="1050" u="none" cap="none" strike="noStrike">
              <a:solidFill>
                <a:schemeClr val="dk1"/>
              </a:solidFill>
              <a:latin typeface="Calibri"/>
              <a:ea typeface="Calibri"/>
              <a:cs typeface="Calibri"/>
              <a:sym typeface="Calibri"/>
            </a:endParaRPr>
          </a:p>
        </p:txBody>
      </p:sp>
      <p:sp>
        <p:nvSpPr>
          <p:cNvPr id="23" name="Google Shape;23;p3"/>
          <p:cNvSpPr/>
          <p:nvPr/>
        </p:nvSpPr>
        <p:spPr>
          <a:xfrm>
            <a:off x="2253996" y="5257800"/>
            <a:ext cx="800100" cy="384048"/>
          </a:xfrm>
          <a:prstGeom prst="roundRect">
            <a:avLst>
              <a:gd fmla="val 50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 name="Google Shape;24;p3"/>
          <p:cNvPicPr preferRelativeResize="0"/>
          <p:nvPr/>
        </p:nvPicPr>
        <p:blipFill rotWithShape="1">
          <a:blip r:embed="rId4">
            <a:alphaModFix/>
          </a:blip>
          <a:srcRect b="0" l="0" r="0" t="0"/>
          <a:stretch/>
        </p:blipFill>
        <p:spPr>
          <a:xfrm>
            <a:off x="2382012" y="5349240"/>
            <a:ext cx="201168" cy="201168"/>
          </a:xfrm>
          <a:prstGeom prst="rect">
            <a:avLst/>
          </a:prstGeom>
          <a:noFill/>
          <a:ln>
            <a:noFill/>
          </a:ln>
        </p:spPr>
      </p:pic>
      <p:sp>
        <p:nvSpPr>
          <p:cNvPr id="25" name="Google Shape;25;p3"/>
          <p:cNvSpPr/>
          <p:nvPr/>
        </p:nvSpPr>
        <p:spPr>
          <a:xfrm>
            <a:off x="2619756" y="5257800"/>
            <a:ext cx="39776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EC2</a:t>
            </a:r>
            <a:endParaRPr b="0" i="0" sz="1050" u="none" cap="none" strike="noStrike">
              <a:solidFill>
                <a:schemeClr val="dk1"/>
              </a:solidFill>
              <a:latin typeface="Calibri"/>
              <a:ea typeface="Calibri"/>
              <a:cs typeface="Calibri"/>
              <a:sym typeface="Calibri"/>
            </a:endParaRPr>
          </a:p>
        </p:txBody>
      </p:sp>
      <p:sp>
        <p:nvSpPr>
          <p:cNvPr id="26" name="Google Shape;26;p3"/>
          <p:cNvSpPr/>
          <p:nvPr/>
        </p:nvSpPr>
        <p:spPr>
          <a:xfrm>
            <a:off x="3218688" y="5257800"/>
            <a:ext cx="800100" cy="384048"/>
          </a:xfrm>
          <a:prstGeom prst="roundRect">
            <a:avLst>
              <a:gd fmla="val 50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 name="Google Shape;27;p3"/>
          <p:cNvPicPr preferRelativeResize="0"/>
          <p:nvPr/>
        </p:nvPicPr>
        <p:blipFill rotWithShape="1">
          <a:blip r:embed="rId5">
            <a:alphaModFix/>
          </a:blip>
          <a:srcRect b="0" l="0" r="0" t="0"/>
          <a:stretch/>
        </p:blipFill>
        <p:spPr>
          <a:xfrm>
            <a:off x="3346704" y="5349240"/>
            <a:ext cx="201168" cy="201168"/>
          </a:xfrm>
          <a:prstGeom prst="rect">
            <a:avLst/>
          </a:prstGeom>
          <a:noFill/>
          <a:ln>
            <a:noFill/>
          </a:ln>
        </p:spPr>
      </p:pic>
      <p:sp>
        <p:nvSpPr>
          <p:cNvPr id="28" name="Google Shape;28;p3"/>
          <p:cNvSpPr/>
          <p:nvPr/>
        </p:nvSpPr>
        <p:spPr>
          <a:xfrm>
            <a:off x="3584448" y="5257800"/>
            <a:ext cx="39776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IAM</a:t>
            </a:r>
            <a:endParaRPr b="0" i="0" sz="1050" u="none" cap="none" strike="noStrike">
              <a:solidFill>
                <a:schemeClr val="dk1"/>
              </a:solidFill>
              <a:latin typeface="Calibri"/>
              <a:ea typeface="Calibri"/>
              <a:cs typeface="Calibri"/>
              <a:sym typeface="Calibri"/>
            </a:endParaRPr>
          </a:p>
        </p:txBody>
      </p:sp>
      <p:sp>
        <p:nvSpPr>
          <p:cNvPr id="29" name="Google Shape;29;p3"/>
          <p:cNvSpPr/>
          <p:nvPr/>
        </p:nvSpPr>
        <p:spPr>
          <a:xfrm>
            <a:off x="4183380" y="5257800"/>
            <a:ext cx="722376" cy="384048"/>
          </a:xfrm>
          <a:prstGeom prst="roundRect">
            <a:avLst>
              <a:gd fmla="val 50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3"/>
          <p:cNvPicPr preferRelativeResize="0"/>
          <p:nvPr/>
        </p:nvPicPr>
        <p:blipFill rotWithShape="1">
          <a:blip r:embed="rId6">
            <a:alphaModFix/>
          </a:blip>
          <a:srcRect b="0" l="0" r="0" t="0"/>
          <a:stretch/>
        </p:blipFill>
        <p:spPr>
          <a:xfrm>
            <a:off x="4311396" y="5349240"/>
            <a:ext cx="201168" cy="201168"/>
          </a:xfrm>
          <a:prstGeom prst="rect">
            <a:avLst/>
          </a:prstGeom>
          <a:noFill/>
          <a:ln>
            <a:noFill/>
          </a:ln>
        </p:spPr>
      </p:pic>
      <p:sp>
        <p:nvSpPr>
          <p:cNvPr id="31" name="Google Shape;31;p3"/>
          <p:cNvSpPr/>
          <p:nvPr/>
        </p:nvSpPr>
        <p:spPr>
          <a:xfrm>
            <a:off x="4549140" y="5257800"/>
            <a:ext cx="3200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S3</a:t>
            </a:r>
            <a:endParaRPr b="0" i="0" sz="1050" u="none" cap="none" strike="noStrike">
              <a:solidFill>
                <a:schemeClr val="dk1"/>
              </a:solidFill>
              <a:latin typeface="Calibri"/>
              <a:ea typeface="Calibri"/>
              <a:cs typeface="Calibri"/>
              <a:sym typeface="Calibri"/>
            </a:endParaRPr>
          </a:p>
        </p:txBody>
      </p:sp>
      <p:sp>
        <p:nvSpPr>
          <p:cNvPr id="32" name="Google Shape;32;p3"/>
          <p:cNvSpPr/>
          <p:nvPr/>
        </p:nvSpPr>
        <p:spPr>
          <a:xfrm>
            <a:off x="5070348" y="5257800"/>
            <a:ext cx="800100" cy="384048"/>
          </a:xfrm>
          <a:prstGeom prst="roundRect">
            <a:avLst>
              <a:gd fmla="val 50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3"/>
          <p:cNvPicPr preferRelativeResize="0"/>
          <p:nvPr/>
        </p:nvPicPr>
        <p:blipFill rotWithShape="1">
          <a:blip r:embed="rId7">
            <a:alphaModFix/>
          </a:blip>
          <a:srcRect b="0" l="0" r="0" t="0"/>
          <a:stretch/>
        </p:blipFill>
        <p:spPr>
          <a:xfrm>
            <a:off x="5198364" y="5349240"/>
            <a:ext cx="201168" cy="201168"/>
          </a:xfrm>
          <a:prstGeom prst="rect">
            <a:avLst/>
          </a:prstGeom>
          <a:noFill/>
          <a:ln>
            <a:noFill/>
          </a:ln>
        </p:spPr>
      </p:pic>
      <p:sp>
        <p:nvSpPr>
          <p:cNvPr id="34" name="Google Shape;34;p3"/>
          <p:cNvSpPr/>
          <p:nvPr/>
        </p:nvSpPr>
        <p:spPr>
          <a:xfrm>
            <a:off x="5436108" y="5257800"/>
            <a:ext cx="39776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ECR</a:t>
            </a:r>
            <a:endParaRPr b="0" i="0" sz="1050" u="none" cap="none" strike="noStrike">
              <a:solidFill>
                <a:schemeClr val="dk1"/>
              </a:solidFill>
              <a:latin typeface="Calibri"/>
              <a:ea typeface="Calibri"/>
              <a:cs typeface="Calibri"/>
              <a:sym typeface="Calibri"/>
            </a:endParaRPr>
          </a:p>
        </p:txBody>
      </p:sp>
      <p:sp>
        <p:nvSpPr>
          <p:cNvPr id="35" name="Google Shape;35;p3"/>
          <p:cNvSpPr/>
          <p:nvPr/>
        </p:nvSpPr>
        <p:spPr>
          <a:xfrm>
            <a:off x="6035040" y="5257800"/>
            <a:ext cx="800100" cy="384048"/>
          </a:xfrm>
          <a:prstGeom prst="roundRect">
            <a:avLst>
              <a:gd fmla="val 50000" name="adj"/>
            </a:avLst>
          </a:prstGeom>
          <a:solidFill>
            <a:srgbClr val="1E293B"/>
          </a:solidFill>
          <a:ln cap="flat" cmpd="sng" w="12700">
            <a:solidFill>
              <a:srgbClr val="326C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 name="Google Shape;36;p3"/>
          <p:cNvPicPr preferRelativeResize="0"/>
          <p:nvPr/>
        </p:nvPicPr>
        <p:blipFill rotWithShape="1">
          <a:blip r:embed="rId8">
            <a:alphaModFix/>
          </a:blip>
          <a:srcRect b="0" l="0" r="0" t="0"/>
          <a:stretch/>
        </p:blipFill>
        <p:spPr>
          <a:xfrm>
            <a:off x="6163056" y="5349240"/>
            <a:ext cx="201168" cy="201168"/>
          </a:xfrm>
          <a:prstGeom prst="rect">
            <a:avLst/>
          </a:prstGeom>
          <a:noFill/>
          <a:ln>
            <a:noFill/>
          </a:ln>
        </p:spPr>
      </p:pic>
      <p:sp>
        <p:nvSpPr>
          <p:cNvPr id="37" name="Google Shape;37;p3"/>
          <p:cNvSpPr/>
          <p:nvPr/>
        </p:nvSpPr>
        <p:spPr>
          <a:xfrm>
            <a:off x="6400800" y="5257800"/>
            <a:ext cx="39776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EKS</a:t>
            </a:r>
            <a:endParaRPr b="0" i="0" sz="1050" u="none" cap="none" strike="noStrike">
              <a:solidFill>
                <a:schemeClr val="dk1"/>
              </a:solidFill>
              <a:latin typeface="Calibri"/>
              <a:ea typeface="Calibri"/>
              <a:cs typeface="Calibri"/>
              <a:sym typeface="Calibri"/>
            </a:endParaRPr>
          </a:p>
        </p:txBody>
      </p:sp>
      <p:sp>
        <p:nvSpPr>
          <p:cNvPr id="38" name="Google Shape;38;p3"/>
          <p:cNvSpPr/>
          <p:nvPr/>
        </p:nvSpPr>
        <p:spPr>
          <a:xfrm>
            <a:off x="6999732" y="5257800"/>
            <a:ext cx="1266444" cy="384048"/>
          </a:xfrm>
          <a:prstGeom prst="roundRect">
            <a:avLst>
              <a:gd fmla="val 50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 name="Google Shape;39;p3"/>
          <p:cNvPicPr preferRelativeResize="0"/>
          <p:nvPr/>
        </p:nvPicPr>
        <p:blipFill rotWithShape="1">
          <a:blip r:embed="rId9">
            <a:alphaModFix/>
          </a:blip>
          <a:srcRect b="0" l="0" r="0" t="0"/>
          <a:stretch/>
        </p:blipFill>
        <p:spPr>
          <a:xfrm>
            <a:off x="7127748" y="5349240"/>
            <a:ext cx="201168" cy="201168"/>
          </a:xfrm>
          <a:prstGeom prst="rect">
            <a:avLst/>
          </a:prstGeom>
          <a:noFill/>
          <a:ln>
            <a:noFill/>
          </a:ln>
        </p:spPr>
      </p:pic>
      <p:sp>
        <p:nvSpPr>
          <p:cNvPr id="40" name="Google Shape;40;p3"/>
          <p:cNvSpPr/>
          <p:nvPr/>
        </p:nvSpPr>
        <p:spPr>
          <a:xfrm>
            <a:off x="7365492" y="5257800"/>
            <a:ext cx="86410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Telemetry</a:t>
            </a:r>
            <a:endParaRPr b="0" i="0" sz="1050" u="none" cap="none" strike="noStrike">
              <a:solidFill>
                <a:schemeClr val="dk1"/>
              </a:solidFill>
              <a:latin typeface="Calibri"/>
              <a:ea typeface="Calibri"/>
              <a:cs typeface="Calibri"/>
              <a:sym typeface="Calibri"/>
            </a:endParaRPr>
          </a:p>
        </p:txBody>
      </p:sp>
      <p:sp>
        <p:nvSpPr>
          <p:cNvPr id="41" name="Google Shape;41;p3"/>
          <p:cNvSpPr/>
          <p:nvPr/>
        </p:nvSpPr>
        <p:spPr>
          <a:xfrm>
            <a:off x="8430768" y="5257800"/>
            <a:ext cx="1033272" cy="384048"/>
          </a:xfrm>
          <a:prstGeom prst="roundRect">
            <a:avLst>
              <a:gd fmla="val 50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 name="Google Shape;42;p3"/>
          <p:cNvPicPr preferRelativeResize="0"/>
          <p:nvPr/>
        </p:nvPicPr>
        <p:blipFill rotWithShape="1">
          <a:blip r:embed="rId10">
            <a:alphaModFix/>
          </a:blip>
          <a:srcRect b="0" l="0" r="0" t="0"/>
          <a:stretch/>
        </p:blipFill>
        <p:spPr>
          <a:xfrm>
            <a:off x="8558784" y="5349240"/>
            <a:ext cx="201168" cy="201168"/>
          </a:xfrm>
          <a:prstGeom prst="rect">
            <a:avLst/>
          </a:prstGeom>
          <a:noFill/>
          <a:ln>
            <a:noFill/>
          </a:ln>
        </p:spPr>
      </p:pic>
      <p:sp>
        <p:nvSpPr>
          <p:cNvPr id="43" name="Google Shape;43;p3"/>
          <p:cNvSpPr/>
          <p:nvPr/>
        </p:nvSpPr>
        <p:spPr>
          <a:xfrm>
            <a:off x="8796528" y="5257800"/>
            <a:ext cx="63093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Lambda</a:t>
            </a:r>
            <a:endParaRPr b="0" i="0" sz="1050" u="none" cap="none" strike="noStrike">
              <a:solidFill>
                <a:schemeClr val="dk1"/>
              </a:solidFill>
              <a:latin typeface="Calibri"/>
              <a:ea typeface="Calibri"/>
              <a:cs typeface="Calibri"/>
              <a:sym typeface="Calibri"/>
            </a:endParaRPr>
          </a:p>
        </p:txBody>
      </p:sp>
      <p:sp>
        <p:nvSpPr>
          <p:cNvPr id="44" name="Google Shape;44;p3"/>
          <p:cNvSpPr/>
          <p:nvPr/>
        </p:nvSpPr>
        <p:spPr>
          <a:xfrm>
            <a:off x="9144000" y="1737360"/>
            <a:ext cx="2286000" cy="2286000"/>
          </a:xfrm>
          <a:prstGeom prst="ellipse">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3"/>
          <p:cNvPicPr preferRelativeResize="0"/>
          <p:nvPr/>
        </p:nvPicPr>
        <p:blipFill rotWithShape="1">
          <a:blip r:embed="rId11">
            <a:alphaModFix/>
          </a:blip>
          <a:srcRect b="0" l="0" r="0" t="0"/>
          <a:stretch/>
        </p:blipFill>
        <p:spPr>
          <a:xfrm>
            <a:off x="9765792" y="2395728"/>
            <a:ext cx="1051560" cy="960120"/>
          </a:xfrm>
          <a:prstGeom prst="rect">
            <a:avLst/>
          </a:prstGeom>
          <a:noFill/>
          <a:ln>
            <a:noFill/>
          </a:ln>
        </p:spPr>
      </p:pic>
      <p:sp>
        <p:nvSpPr>
          <p:cNvPr id="46" name="Google Shape;46;p3"/>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1" name="Shape 51"/>
        <p:cNvGrpSpPr/>
        <p:nvPr/>
      </p:nvGrpSpPr>
      <p:grpSpPr>
        <a:xfrm>
          <a:off x="0" y="0"/>
          <a:ext cx="0" cy="0"/>
          <a:chOff x="0" y="0"/>
          <a:chExt cx="0" cy="0"/>
        </a:xfrm>
      </p:grpSpPr>
      <p:sp>
        <p:nvSpPr>
          <p:cNvPr id="52" name="Google Shape;52;p4"/>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ROADMAP</a:t>
            </a:r>
            <a:endParaRPr b="0" i="0" sz="1200" u="none" cap="none" strike="noStrike">
              <a:solidFill>
                <a:schemeClr val="dk1"/>
              </a:solidFill>
              <a:latin typeface="Calibri"/>
              <a:ea typeface="Calibri"/>
              <a:cs typeface="Calibri"/>
              <a:sym typeface="Calibri"/>
            </a:endParaRPr>
          </a:p>
        </p:txBody>
      </p:sp>
      <p:sp>
        <p:nvSpPr>
          <p:cNvPr id="53" name="Google Shape;53;p4"/>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Today's route</a:t>
            </a:r>
            <a:endParaRPr b="0" i="0" sz="3000" u="none" cap="none" strike="noStrike">
              <a:solidFill>
                <a:schemeClr val="dk1"/>
              </a:solidFill>
              <a:latin typeface="Calibri"/>
              <a:ea typeface="Calibri"/>
              <a:cs typeface="Calibri"/>
              <a:sym typeface="Calibri"/>
            </a:endParaRPr>
          </a:p>
        </p:txBody>
      </p:sp>
      <p:sp>
        <p:nvSpPr>
          <p:cNvPr id="54" name="Google Shape;54;p4"/>
          <p:cNvSpPr/>
          <p:nvPr/>
        </p:nvSpPr>
        <p:spPr>
          <a:xfrm>
            <a:off x="502920" y="1417320"/>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667512" y="1636776"/>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3000"/>
              <a:buFont typeface="Bookman Old Style"/>
              <a:buNone/>
            </a:pPr>
            <a:r>
              <a:rPr b="1" i="0" lang="en-US" sz="3000" u="none" cap="none" strike="noStrike">
                <a:solidFill>
                  <a:srgbClr val="2DD4BF"/>
                </a:solidFill>
                <a:latin typeface="Bookman Old Style"/>
                <a:ea typeface="Bookman Old Style"/>
                <a:cs typeface="Bookman Old Style"/>
                <a:sym typeface="Bookman Old Style"/>
              </a:rPr>
              <a:t>1</a:t>
            </a:r>
            <a:endParaRPr b="0" i="0" sz="3000" u="none" cap="none" strike="noStrike">
              <a:solidFill>
                <a:schemeClr val="dk1"/>
              </a:solidFill>
              <a:latin typeface="Calibri"/>
              <a:ea typeface="Calibri"/>
              <a:cs typeface="Calibri"/>
              <a:sym typeface="Calibri"/>
            </a:endParaRPr>
          </a:p>
        </p:txBody>
      </p:sp>
      <p:pic>
        <p:nvPicPr>
          <p:cNvPr descr="preencoded.png" id="56" name="Google Shape;56;p4"/>
          <p:cNvPicPr preferRelativeResize="0"/>
          <p:nvPr/>
        </p:nvPicPr>
        <p:blipFill rotWithShape="1">
          <a:blip r:embed="rId3">
            <a:alphaModFix/>
          </a:blip>
          <a:srcRect b="0" l="0" r="0" t="0"/>
          <a:stretch/>
        </p:blipFill>
        <p:spPr>
          <a:xfrm>
            <a:off x="5468112" y="1636776"/>
            <a:ext cx="329184" cy="329184"/>
          </a:xfrm>
          <a:prstGeom prst="rect">
            <a:avLst/>
          </a:prstGeom>
          <a:noFill/>
          <a:ln>
            <a:noFill/>
          </a:ln>
        </p:spPr>
      </p:pic>
      <p:sp>
        <p:nvSpPr>
          <p:cNvPr id="57" name="Google Shape;57;p4"/>
          <p:cNvSpPr/>
          <p:nvPr/>
        </p:nvSpPr>
        <p:spPr>
          <a:xfrm>
            <a:off x="1371600" y="1545336"/>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Cloud fundamentals</a:t>
            </a:r>
            <a:endParaRPr b="0" i="0" sz="1550" u="none" cap="none" strike="noStrike">
              <a:solidFill>
                <a:schemeClr val="dk1"/>
              </a:solidFill>
              <a:latin typeface="Calibri"/>
              <a:ea typeface="Calibri"/>
              <a:cs typeface="Calibri"/>
              <a:sym typeface="Calibri"/>
            </a:endParaRPr>
          </a:p>
        </p:txBody>
      </p:sp>
      <p:sp>
        <p:nvSpPr>
          <p:cNvPr id="58" name="Google Shape;58;p4"/>
          <p:cNvSpPr/>
          <p:nvPr/>
        </p:nvSpPr>
        <p:spPr>
          <a:xfrm>
            <a:off x="1371600" y="1947672"/>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Cloud-agnostic ideas that transfer to any provider</a:t>
            </a:r>
            <a:endParaRPr b="0" i="0" sz="1150" u="none" cap="none" strike="noStrike">
              <a:solidFill>
                <a:schemeClr val="dk1"/>
              </a:solidFill>
              <a:latin typeface="Calibri"/>
              <a:ea typeface="Calibri"/>
              <a:cs typeface="Calibri"/>
              <a:sym typeface="Calibri"/>
            </a:endParaRPr>
          </a:p>
        </p:txBody>
      </p:sp>
      <p:sp>
        <p:nvSpPr>
          <p:cNvPr id="59" name="Google Shape;59;p4"/>
          <p:cNvSpPr/>
          <p:nvPr/>
        </p:nvSpPr>
        <p:spPr>
          <a:xfrm>
            <a:off x="6217920" y="1417320"/>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6382512" y="1636776"/>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3000"/>
              <a:buFont typeface="Bookman Old Style"/>
              <a:buNone/>
            </a:pPr>
            <a:r>
              <a:rPr b="1" i="0" lang="en-US" sz="3000" u="none" cap="none" strike="noStrike">
                <a:solidFill>
                  <a:srgbClr val="FF9900"/>
                </a:solidFill>
                <a:latin typeface="Bookman Old Style"/>
                <a:ea typeface="Bookman Old Style"/>
                <a:cs typeface="Bookman Old Style"/>
                <a:sym typeface="Bookman Old Style"/>
              </a:rPr>
              <a:t>2</a:t>
            </a:r>
            <a:endParaRPr b="0" i="0" sz="3000" u="none" cap="none" strike="noStrike">
              <a:solidFill>
                <a:schemeClr val="dk1"/>
              </a:solidFill>
              <a:latin typeface="Calibri"/>
              <a:ea typeface="Calibri"/>
              <a:cs typeface="Calibri"/>
              <a:sym typeface="Calibri"/>
            </a:endParaRPr>
          </a:p>
        </p:txBody>
      </p:sp>
      <p:pic>
        <p:nvPicPr>
          <p:cNvPr descr="preencoded.png" id="61" name="Google Shape;61;p4"/>
          <p:cNvPicPr preferRelativeResize="0"/>
          <p:nvPr/>
        </p:nvPicPr>
        <p:blipFill rotWithShape="1">
          <a:blip r:embed="rId4">
            <a:alphaModFix/>
          </a:blip>
          <a:srcRect b="0" l="0" r="0" t="0"/>
          <a:stretch/>
        </p:blipFill>
        <p:spPr>
          <a:xfrm>
            <a:off x="11183112" y="1636776"/>
            <a:ext cx="329184" cy="329184"/>
          </a:xfrm>
          <a:prstGeom prst="rect">
            <a:avLst/>
          </a:prstGeom>
          <a:noFill/>
          <a:ln>
            <a:noFill/>
          </a:ln>
        </p:spPr>
      </p:pic>
      <p:sp>
        <p:nvSpPr>
          <p:cNvPr id="62" name="Google Shape;62;p4"/>
          <p:cNvSpPr/>
          <p:nvPr/>
        </p:nvSpPr>
        <p:spPr>
          <a:xfrm>
            <a:off x="7086600" y="1545336"/>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EC2</a:t>
            </a:r>
            <a:endParaRPr b="0" i="0" sz="1550" u="none" cap="none" strike="noStrike">
              <a:solidFill>
                <a:schemeClr val="dk1"/>
              </a:solidFill>
              <a:latin typeface="Calibri"/>
              <a:ea typeface="Calibri"/>
              <a:cs typeface="Calibri"/>
              <a:sym typeface="Calibri"/>
            </a:endParaRPr>
          </a:p>
        </p:txBody>
      </p:sp>
      <p:sp>
        <p:nvSpPr>
          <p:cNvPr id="63" name="Google Shape;63;p4"/>
          <p:cNvSpPr/>
          <p:nvPr/>
        </p:nvSpPr>
        <p:spPr>
          <a:xfrm>
            <a:off x="7086600" y="1947672"/>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Virtual machines — compute for rent</a:t>
            </a:r>
            <a:endParaRPr b="0" i="0" sz="1150" u="none" cap="none" strike="noStrike">
              <a:solidFill>
                <a:schemeClr val="dk1"/>
              </a:solidFill>
              <a:latin typeface="Calibri"/>
              <a:ea typeface="Calibri"/>
              <a:cs typeface="Calibri"/>
              <a:sym typeface="Calibri"/>
            </a:endParaRPr>
          </a:p>
        </p:txBody>
      </p:sp>
      <p:sp>
        <p:nvSpPr>
          <p:cNvPr id="64" name="Google Shape;64;p4"/>
          <p:cNvSpPr/>
          <p:nvPr/>
        </p:nvSpPr>
        <p:spPr>
          <a:xfrm>
            <a:off x="502920" y="2679192"/>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667512" y="2898648"/>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3000"/>
              <a:buFont typeface="Bookman Old Style"/>
              <a:buNone/>
            </a:pPr>
            <a:r>
              <a:rPr b="1" i="0" lang="en-US" sz="3000" u="none" cap="none" strike="noStrike">
                <a:solidFill>
                  <a:srgbClr val="FF9900"/>
                </a:solidFill>
                <a:latin typeface="Bookman Old Style"/>
                <a:ea typeface="Bookman Old Style"/>
                <a:cs typeface="Bookman Old Style"/>
                <a:sym typeface="Bookman Old Style"/>
              </a:rPr>
              <a:t>3</a:t>
            </a:r>
            <a:endParaRPr b="0" i="0" sz="3000" u="none" cap="none" strike="noStrike">
              <a:solidFill>
                <a:schemeClr val="dk1"/>
              </a:solidFill>
              <a:latin typeface="Calibri"/>
              <a:ea typeface="Calibri"/>
              <a:cs typeface="Calibri"/>
              <a:sym typeface="Calibri"/>
            </a:endParaRPr>
          </a:p>
        </p:txBody>
      </p:sp>
      <p:pic>
        <p:nvPicPr>
          <p:cNvPr descr="preencoded.png" id="66" name="Google Shape;66;p4"/>
          <p:cNvPicPr preferRelativeResize="0"/>
          <p:nvPr/>
        </p:nvPicPr>
        <p:blipFill rotWithShape="1">
          <a:blip r:embed="rId5">
            <a:alphaModFix/>
          </a:blip>
          <a:srcRect b="0" l="0" r="0" t="0"/>
          <a:stretch/>
        </p:blipFill>
        <p:spPr>
          <a:xfrm>
            <a:off x="5468112" y="2898648"/>
            <a:ext cx="329184" cy="329184"/>
          </a:xfrm>
          <a:prstGeom prst="rect">
            <a:avLst/>
          </a:prstGeom>
          <a:noFill/>
          <a:ln>
            <a:noFill/>
          </a:ln>
        </p:spPr>
      </p:pic>
      <p:sp>
        <p:nvSpPr>
          <p:cNvPr id="67" name="Google Shape;67;p4"/>
          <p:cNvSpPr/>
          <p:nvPr/>
        </p:nvSpPr>
        <p:spPr>
          <a:xfrm>
            <a:off x="1371600" y="2807208"/>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IAM</a:t>
            </a:r>
            <a:endParaRPr b="0" i="0" sz="1550" u="none" cap="none" strike="noStrike">
              <a:solidFill>
                <a:schemeClr val="dk1"/>
              </a:solidFill>
              <a:latin typeface="Calibri"/>
              <a:ea typeface="Calibri"/>
              <a:cs typeface="Calibri"/>
              <a:sym typeface="Calibri"/>
            </a:endParaRPr>
          </a:p>
        </p:txBody>
      </p:sp>
      <p:sp>
        <p:nvSpPr>
          <p:cNvPr id="68" name="Google Shape;68;p4"/>
          <p:cNvSpPr/>
          <p:nvPr/>
        </p:nvSpPr>
        <p:spPr>
          <a:xfrm>
            <a:off x="1371600" y="3209544"/>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Who can do what — identity &amp; permissions</a:t>
            </a:r>
            <a:endParaRPr b="0" i="0" sz="1150" u="none" cap="none" strike="noStrike">
              <a:solidFill>
                <a:schemeClr val="dk1"/>
              </a:solidFill>
              <a:latin typeface="Calibri"/>
              <a:ea typeface="Calibri"/>
              <a:cs typeface="Calibri"/>
              <a:sym typeface="Calibri"/>
            </a:endParaRPr>
          </a:p>
        </p:txBody>
      </p:sp>
      <p:sp>
        <p:nvSpPr>
          <p:cNvPr id="69" name="Google Shape;69;p4"/>
          <p:cNvSpPr/>
          <p:nvPr/>
        </p:nvSpPr>
        <p:spPr>
          <a:xfrm>
            <a:off x="6217920" y="2679192"/>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6382512" y="2898648"/>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3000"/>
              <a:buFont typeface="Bookman Old Style"/>
              <a:buNone/>
            </a:pPr>
            <a:r>
              <a:rPr b="1" i="0" lang="en-US" sz="3000" u="none" cap="none" strike="noStrike">
                <a:solidFill>
                  <a:srgbClr val="FF9900"/>
                </a:solidFill>
                <a:latin typeface="Bookman Old Style"/>
                <a:ea typeface="Bookman Old Style"/>
                <a:cs typeface="Bookman Old Style"/>
                <a:sym typeface="Bookman Old Style"/>
              </a:rPr>
              <a:t>4</a:t>
            </a:r>
            <a:endParaRPr b="0" i="0" sz="3000" u="none" cap="none" strike="noStrike">
              <a:solidFill>
                <a:schemeClr val="dk1"/>
              </a:solidFill>
              <a:latin typeface="Calibri"/>
              <a:ea typeface="Calibri"/>
              <a:cs typeface="Calibri"/>
              <a:sym typeface="Calibri"/>
            </a:endParaRPr>
          </a:p>
        </p:txBody>
      </p:sp>
      <p:pic>
        <p:nvPicPr>
          <p:cNvPr descr="preencoded.png" id="71" name="Google Shape;71;p4"/>
          <p:cNvPicPr preferRelativeResize="0"/>
          <p:nvPr/>
        </p:nvPicPr>
        <p:blipFill rotWithShape="1">
          <a:blip r:embed="rId6">
            <a:alphaModFix/>
          </a:blip>
          <a:srcRect b="0" l="0" r="0" t="0"/>
          <a:stretch/>
        </p:blipFill>
        <p:spPr>
          <a:xfrm>
            <a:off x="11183112" y="2898648"/>
            <a:ext cx="329184" cy="329184"/>
          </a:xfrm>
          <a:prstGeom prst="rect">
            <a:avLst/>
          </a:prstGeom>
          <a:noFill/>
          <a:ln>
            <a:noFill/>
          </a:ln>
        </p:spPr>
      </p:pic>
      <p:sp>
        <p:nvSpPr>
          <p:cNvPr id="72" name="Google Shape;72;p4"/>
          <p:cNvSpPr/>
          <p:nvPr/>
        </p:nvSpPr>
        <p:spPr>
          <a:xfrm>
            <a:off x="7086600" y="2807208"/>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S3</a:t>
            </a:r>
            <a:endParaRPr b="0" i="0" sz="1550" u="none" cap="none" strike="noStrike">
              <a:solidFill>
                <a:schemeClr val="dk1"/>
              </a:solidFill>
              <a:latin typeface="Calibri"/>
              <a:ea typeface="Calibri"/>
              <a:cs typeface="Calibri"/>
              <a:sym typeface="Calibri"/>
            </a:endParaRPr>
          </a:p>
        </p:txBody>
      </p:sp>
      <p:sp>
        <p:nvSpPr>
          <p:cNvPr id="73" name="Google Shape;73;p4"/>
          <p:cNvSpPr/>
          <p:nvPr/>
        </p:nvSpPr>
        <p:spPr>
          <a:xfrm>
            <a:off x="7086600" y="3209544"/>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Object storage — infinitely deep bucket</a:t>
            </a:r>
            <a:endParaRPr b="0" i="0" sz="1150" u="none" cap="none" strike="noStrike">
              <a:solidFill>
                <a:schemeClr val="dk1"/>
              </a:solidFill>
              <a:latin typeface="Calibri"/>
              <a:ea typeface="Calibri"/>
              <a:cs typeface="Calibri"/>
              <a:sym typeface="Calibri"/>
            </a:endParaRPr>
          </a:p>
        </p:txBody>
      </p:sp>
      <p:sp>
        <p:nvSpPr>
          <p:cNvPr id="74" name="Google Shape;74;p4"/>
          <p:cNvSpPr/>
          <p:nvPr/>
        </p:nvSpPr>
        <p:spPr>
          <a:xfrm>
            <a:off x="502920" y="3941064"/>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667512" y="4160520"/>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3000"/>
              <a:buFont typeface="Bookman Old Style"/>
              <a:buNone/>
            </a:pPr>
            <a:r>
              <a:rPr b="1" i="0" lang="en-US" sz="3000" u="none" cap="none" strike="noStrike">
                <a:solidFill>
                  <a:srgbClr val="FF9900"/>
                </a:solidFill>
                <a:latin typeface="Bookman Old Style"/>
                <a:ea typeface="Bookman Old Style"/>
                <a:cs typeface="Bookman Old Style"/>
                <a:sym typeface="Bookman Old Style"/>
              </a:rPr>
              <a:t>5</a:t>
            </a:r>
            <a:endParaRPr b="0" i="0" sz="3000" u="none" cap="none" strike="noStrike">
              <a:solidFill>
                <a:schemeClr val="dk1"/>
              </a:solidFill>
              <a:latin typeface="Calibri"/>
              <a:ea typeface="Calibri"/>
              <a:cs typeface="Calibri"/>
              <a:sym typeface="Calibri"/>
            </a:endParaRPr>
          </a:p>
        </p:txBody>
      </p:sp>
      <p:pic>
        <p:nvPicPr>
          <p:cNvPr descr="preencoded.png" id="76" name="Google Shape;76;p4"/>
          <p:cNvPicPr preferRelativeResize="0"/>
          <p:nvPr/>
        </p:nvPicPr>
        <p:blipFill rotWithShape="1">
          <a:blip r:embed="rId7">
            <a:alphaModFix/>
          </a:blip>
          <a:srcRect b="0" l="0" r="0" t="0"/>
          <a:stretch/>
        </p:blipFill>
        <p:spPr>
          <a:xfrm>
            <a:off x="5468112" y="4160520"/>
            <a:ext cx="329184" cy="329184"/>
          </a:xfrm>
          <a:prstGeom prst="rect">
            <a:avLst/>
          </a:prstGeom>
          <a:noFill/>
          <a:ln>
            <a:noFill/>
          </a:ln>
        </p:spPr>
      </p:pic>
      <p:sp>
        <p:nvSpPr>
          <p:cNvPr id="77" name="Google Shape;77;p4"/>
          <p:cNvSpPr/>
          <p:nvPr/>
        </p:nvSpPr>
        <p:spPr>
          <a:xfrm>
            <a:off x="1371600" y="4069080"/>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ECR</a:t>
            </a:r>
            <a:endParaRPr b="0" i="0" sz="1550" u="none" cap="none" strike="noStrike">
              <a:solidFill>
                <a:schemeClr val="dk1"/>
              </a:solidFill>
              <a:latin typeface="Calibri"/>
              <a:ea typeface="Calibri"/>
              <a:cs typeface="Calibri"/>
              <a:sym typeface="Calibri"/>
            </a:endParaRPr>
          </a:p>
        </p:txBody>
      </p:sp>
      <p:sp>
        <p:nvSpPr>
          <p:cNvPr id="78" name="Google Shape;78;p4"/>
          <p:cNvSpPr/>
          <p:nvPr/>
        </p:nvSpPr>
        <p:spPr>
          <a:xfrm>
            <a:off x="1371600" y="4471416"/>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A home for your container images</a:t>
            </a:r>
            <a:endParaRPr b="0" i="0" sz="1150" u="none" cap="none" strike="noStrike">
              <a:solidFill>
                <a:schemeClr val="dk1"/>
              </a:solidFill>
              <a:latin typeface="Calibri"/>
              <a:ea typeface="Calibri"/>
              <a:cs typeface="Calibri"/>
              <a:sym typeface="Calibri"/>
            </a:endParaRPr>
          </a:p>
        </p:txBody>
      </p:sp>
      <p:sp>
        <p:nvSpPr>
          <p:cNvPr id="79" name="Google Shape;79;p4"/>
          <p:cNvSpPr/>
          <p:nvPr/>
        </p:nvSpPr>
        <p:spPr>
          <a:xfrm>
            <a:off x="6217920" y="3941064"/>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6382512" y="4160520"/>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26CE5"/>
              </a:buClr>
              <a:buSzPts val="3000"/>
              <a:buFont typeface="Bookman Old Style"/>
              <a:buNone/>
            </a:pPr>
            <a:r>
              <a:rPr b="1" i="0" lang="en-US" sz="3000" u="none" cap="none" strike="noStrike">
                <a:solidFill>
                  <a:srgbClr val="326CE5"/>
                </a:solidFill>
                <a:latin typeface="Bookman Old Style"/>
                <a:ea typeface="Bookman Old Style"/>
                <a:cs typeface="Bookman Old Style"/>
                <a:sym typeface="Bookman Old Style"/>
              </a:rPr>
              <a:t>6</a:t>
            </a:r>
            <a:endParaRPr b="0" i="0" sz="3000" u="none" cap="none" strike="noStrike">
              <a:solidFill>
                <a:schemeClr val="dk1"/>
              </a:solidFill>
              <a:latin typeface="Calibri"/>
              <a:ea typeface="Calibri"/>
              <a:cs typeface="Calibri"/>
              <a:sym typeface="Calibri"/>
            </a:endParaRPr>
          </a:p>
        </p:txBody>
      </p:sp>
      <p:pic>
        <p:nvPicPr>
          <p:cNvPr descr="preencoded.png" id="81" name="Google Shape;81;p4"/>
          <p:cNvPicPr preferRelativeResize="0"/>
          <p:nvPr/>
        </p:nvPicPr>
        <p:blipFill rotWithShape="1">
          <a:blip r:embed="rId8">
            <a:alphaModFix/>
          </a:blip>
          <a:srcRect b="0" l="0" r="0" t="0"/>
          <a:stretch/>
        </p:blipFill>
        <p:spPr>
          <a:xfrm>
            <a:off x="11183112" y="4160520"/>
            <a:ext cx="329184" cy="329184"/>
          </a:xfrm>
          <a:prstGeom prst="rect">
            <a:avLst/>
          </a:prstGeom>
          <a:noFill/>
          <a:ln>
            <a:noFill/>
          </a:ln>
        </p:spPr>
      </p:pic>
      <p:sp>
        <p:nvSpPr>
          <p:cNvPr id="82" name="Google Shape;82;p4"/>
          <p:cNvSpPr/>
          <p:nvPr/>
        </p:nvSpPr>
        <p:spPr>
          <a:xfrm>
            <a:off x="7086600" y="4069080"/>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EKS</a:t>
            </a:r>
            <a:endParaRPr b="0" i="0" sz="1550" u="none" cap="none" strike="noStrike">
              <a:solidFill>
                <a:schemeClr val="dk1"/>
              </a:solidFill>
              <a:latin typeface="Calibri"/>
              <a:ea typeface="Calibri"/>
              <a:cs typeface="Calibri"/>
              <a:sym typeface="Calibri"/>
            </a:endParaRPr>
          </a:p>
        </p:txBody>
      </p:sp>
      <p:sp>
        <p:nvSpPr>
          <p:cNvPr id="83" name="Google Shape;83;p4"/>
          <p:cNvSpPr/>
          <p:nvPr/>
        </p:nvSpPr>
        <p:spPr>
          <a:xfrm>
            <a:off x="7086600" y="4471416"/>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Kubernetes without babysitting the control plane</a:t>
            </a:r>
            <a:endParaRPr b="0" i="0" sz="1150" u="none" cap="none" strike="noStrike">
              <a:solidFill>
                <a:schemeClr val="dk1"/>
              </a:solidFill>
              <a:latin typeface="Calibri"/>
              <a:ea typeface="Calibri"/>
              <a:cs typeface="Calibri"/>
              <a:sym typeface="Calibri"/>
            </a:endParaRPr>
          </a:p>
        </p:txBody>
      </p:sp>
      <p:sp>
        <p:nvSpPr>
          <p:cNvPr id="84" name="Google Shape;84;p4"/>
          <p:cNvSpPr/>
          <p:nvPr/>
        </p:nvSpPr>
        <p:spPr>
          <a:xfrm>
            <a:off x="502920" y="5202936"/>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667512" y="5422392"/>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3000"/>
              <a:buFont typeface="Bookman Old Style"/>
              <a:buNone/>
            </a:pPr>
            <a:r>
              <a:rPr b="1" i="0" lang="en-US" sz="3000" u="none" cap="none" strike="noStrike">
                <a:solidFill>
                  <a:srgbClr val="2DD4BF"/>
                </a:solidFill>
                <a:latin typeface="Bookman Old Style"/>
                <a:ea typeface="Bookman Old Style"/>
                <a:cs typeface="Bookman Old Style"/>
                <a:sym typeface="Bookman Old Style"/>
              </a:rPr>
              <a:t>7</a:t>
            </a:r>
            <a:endParaRPr b="0" i="0" sz="3000" u="none" cap="none" strike="noStrike">
              <a:solidFill>
                <a:schemeClr val="dk1"/>
              </a:solidFill>
              <a:latin typeface="Calibri"/>
              <a:ea typeface="Calibri"/>
              <a:cs typeface="Calibri"/>
              <a:sym typeface="Calibri"/>
            </a:endParaRPr>
          </a:p>
        </p:txBody>
      </p:sp>
      <p:pic>
        <p:nvPicPr>
          <p:cNvPr descr="preencoded.png" id="86" name="Google Shape;86;p4"/>
          <p:cNvPicPr preferRelativeResize="0"/>
          <p:nvPr/>
        </p:nvPicPr>
        <p:blipFill rotWithShape="1">
          <a:blip r:embed="rId9">
            <a:alphaModFix/>
          </a:blip>
          <a:srcRect b="0" l="0" r="0" t="0"/>
          <a:stretch/>
        </p:blipFill>
        <p:spPr>
          <a:xfrm>
            <a:off x="5468112" y="5422392"/>
            <a:ext cx="329184" cy="329184"/>
          </a:xfrm>
          <a:prstGeom prst="rect">
            <a:avLst/>
          </a:prstGeom>
          <a:noFill/>
          <a:ln>
            <a:noFill/>
          </a:ln>
        </p:spPr>
      </p:pic>
      <p:sp>
        <p:nvSpPr>
          <p:cNvPr id="87" name="Google Shape;87;p4"/>
          <p:cNvSpPr/>
          <p:nvPr/>
        </p:nvSpPr>
        <p:spPr>
          <a:xfrm>
            <a:off x="1371600" y="5330952"/>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Telemetry</a:t>
            </a:r>
            <a:endParaRPr b="0" i="0" sz="1550" u="none" cap="none" strike="noStrike">
              <a:solidFill>
                <a:schemeClr val="dk1"/>
              </a:solidFill>
              <a:latin typeface="Calibri"/>
              <a:ea typeface="Calibri"/>
              <a:cs typeface="Calibri"/>
              <a:sym typeface="Calibri"/>
            </a:endParaRPr>
          </a:p>
        </p:txBody>
      </p:sp>
      <p:sp>
        <p:nvSpPr>
          <p:cNvPr id="88" name="Google Shape;88;p4"/>
          <p:cNvSpPr/>
          <p:nvPr/>
        </p:nvSpPr>
        <p:spPr>
          <a:xfrm>
            <a:off x="1371600" y="5733288"/>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Metrics, logs &amp; traces with CloudWatch + X-Ray</a:t>
            </a:r>
            <a:endParaRPr b="0" i="0" sz="1150" u="none" cap="none" strike="noStrike">
              <a:solidFill>
                <a:schemeClr val="dk1"/>
              </a:solidFill>
              <a:latin typeface="Calibri"/>
              <a:ea typeface="Calibri"/>
              <a:cs typeface="Calibri"/>
              <a:sym typeface="Calibri"/>
            </a:endParaRPr>
          </a:p>
        </p:txBody>
      </p:sp>
      <p:sp>
        <p:nvSpPr>
          <p:cNvPr id="89" name="Google Shape;89;p4"/>
          <p:cNvSpPr/>
          <p:nvPr/>
        </p:nvSpPr>
        <p:spPr>
          <a:xfrm>
            <a:off x="6217920" y="5202936"/>
            <a:ext cx="5532120" cy="1115568"/>
          </a:xfrm>
          <a:prstGeom prst="roundRect">
            <a:avLst>
              <a:gd fmla="val 6557"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6382512" y="5422392"/>
            <a:ext cx="6400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3000"/>
              <a:buFont typeface="Bookman Old Style"/>
              <a:buNone/>
            </a:pPr>
            <a:r>
              <a:rPr b="1" i="0" lang="en-US" sz="3000" u="none" cap="none" strike="noStrike">
                <a:solidFill>
                  <a:srgbClr val="FF9900"/>
                </a:solidFill>
                <a:latin typeface="Bookman Old Style"/>
                <a:ea typeface="Bookman Old Style"/>
                <a:cs typeface="Bookman Old Style"/>
                <a:sym typeface="Bookman Old Style"/>
              </a:rPr>
              <a:t>8</a:t>
            </a:r>
            <a:endParaRPr b="0" i="0" sz="3000" u="none" cap="none" strike="noStrike">
              <a:solidFill>
                <a:schemeClr val="dk1"/>
              </a:solidFill>
              <a:latin typeface="Calibri"/>
              <a:ea typeface="Calibri"/>
              <a:cs typeface="Calibri"/>
              <a:sym typeface="Calibri"/>
            </a:endParaRPr>
          </a:p>
        </p:txBody>
      </p:sp>
      <p:pic>
        <p:nvPicPr>
          <p:cNvPr descr="preencoded.png" id="91" name="Google Shape;91;p4"/>
          <p:cNvPicPr preferRelativeResize="0"/>
          <p:nvPr/>
        </p:nvPicPr>
        <p:blipFill rotWithShape="1">
          <a:blip r:embed="rId10">
            <a:alphaModFix/>
          </a:blip>
          <a:srcRect b="0" l="0" r="0" t="0"/>
          <a:stretch/>
        </p:blipFill>
        <p:spPr>
          <a:xfrm>
            <a:off x="11183112" y="5422392"/>
            <a:ext cx="329184" cy="329184"/>
          </a:xfrm>
          <a:prstGeom prst="rect">
            <a:avLst/>
          </a:prstGeom>
          <a:noFill/>
          <a:ln>
            <a:noFill/>
          </a:ln>
        </p:spPr>
      </p:pic>
      <p:sp>
        <p:nvSpPr>
          <p:cNvPr id="92" name="Google Shape;92;p4"/>
          <p:cNvSpPr/>
          <p:nvPr/>
        </p:nvSpPr>
        <p:spPr>
          <a:xfrm>
            <a:off x="7086600" y="5330952"/>
            <a:ext cx="3977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50"/>
              <a:buFont typeface="Bookman Old Style"/>
              <a:buNone/>
            </a:pPr>
            <a:r>
              <a:rPr b="1" i="0" lang="en-US" sz="1550" u="none" cap="none" strike="noStrike">
                <a:solidFill>
                  <a:srgbClr val="F8FAFC"/>
                </a:solidFill>
                <a:latin typeface="Bookman Old Style"/>
                <a:ea typeface="Bookman Old Style"/>
                <a:cs typeface="Bookman Old Style"/>
                <a:sym typeface="Bookman Old Style"/>
              </a:rPr>
              <a:t>Lambda</a:t>
            </a:r>
            <a:endParaRPr b="0" i="0" sz="1550" u="none" cap="none" strike="noStrike">
              <a:solidFill>
                <a:schemeClr val="dk1"/>
              </a:solidFill>
              <a:latin typeface="Calibri"/>
              <a:ea typeface="Calibri"/>
              <a:cs typeface="Calibri"/>
              <a:sym typeface="Calibri"/>
            </a:endParaRPr>
          </a:p>
        </p:txBody>
      </p:sp>
      <p:sp>
        <p:nvSpPr>
          <p:cNvPr id="93" name="Google Shape;93;p4"/>
          <p:cNvSpPr/>
          <p:nvPr/>
        </p:nvSpPr>
        <p:spPr>
          <a:xfrm>
            <a:off x="7086600" y="5733288"/>
            <a:ext cx="42976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50"/>
              <a:buFont typeface="Calibri"/>
              <a:buNone/>
            </a:pPr>
            <a:r>
              <a:rPr b="0" i="0" lang="en-US" sz="1150" u="none" cap="none" strike="noStrike">
                <a:solidFill>
                  <a:srgbClr val="94A3B8"/>
                </a:solidFill>
                <a:latin typeface="Calibri"/>
                <a:ea typeface="Calibri"/>
                <a:cs typeface="Calibri"/>
                <a:sym typeface="Calibri"/>
              </a:rPr>
              <a:t>Run code without any server at all</a:t>
            </a:r>
            <a:endParaRPr b="0" i="0" sz="1150" u="none" cap="none" strike="noStrike">
              <a:solidFill>
                <a:schemeClr val="dk1"/>
              </a:solidFill>
              <a:latin typeface="Calibri"/>
              <a:ea typeface="Calibri"/>
              <a:cs typeface="Calibri"/>
              <a:sym typeface="Calibri"/>
            </a:endParaRPr>
          </a:p>
        </p:txBody>
      </p:sp>
      <p:sp>
        <p:nvSpPr>
          <p:cNvPr id="94" name="Google Shape;94;p4"/>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95" name="Google Shape;95;p4"/>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Roadmap</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0" name="Shape 100"/>
        <p:cNvGrpSpPr/>
        <p:nvPr/>
      </p:nvGrpSpPr>
      <p:grpSpPr>
        <a:xfrm>
          <a:off x="0" y="0"/>
          <a:ext cx="0" cy="0"/>
          <a:chOff x="0" y="0"/>
          <a:chExt cx="0" cy="0"/>
        </a:xfrm>
      </p:grpSpPr>
      <p:sp>
        <p:nvSpPr>
          <p:cNvPr id="101" name="Google Shape;101;p5"/>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500"/>
              <a:buFont typeface="Courier New"/>
              <a:buNone/>
            </a:pPr>
            <a:r>
              <a:rPr b="1" i="0" lang="en-US" sz="1500" u="none" cap="none" strike="noStrike">
                <a:solidFill>
                  <a:srgbClr val="2DD4BF"/>
                </a:solidFill>
                <a:latin typeface="Courier New"/>
                <a:ea typeface="Courier New"/>
                <a:cs typeface="Courier New"/>
                <a:sym typeface="Courier New"/>
              </a:rPr>
              <a:t>PART 1</a:t>
            </a:r>
            <a:endParaRPr b="0" i="0" sz="1500" u="none" cap="none" strike="noStrike">
              <a:solidFill>
                <a:schemeClr val="dk1"/>
              </a:solidFill>
              <a:latin typeface="Calibri"/>
              <a:ea typeface="Calibri"/>
              <a:cs typeface="Calibri"/>
              <a:sym typeface="Calibri"/>
            </a:endParaRPr>
          </a:p>
        </p:txBody>
      </p:sp>
      <p:sp>
        <p:nvSpPr>
          <p:cNvPr id="102" name="Google Shape;102;p5"/>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Cloud Fundamentals</a:t>
            </a:r>
            <a:endParaRPr b="0" i="0" sz="4400" u="none" cap="none" strike="noStrike">
              <a:solidFill>
                <a:schemeClr val="dk1"/>
              </a:solidFill>
              <a:latin typeface="Calibri"/>
              <a:ea typeface="Calibri"/>
              <a:cs typeface="Calibri"/>
              <a:sym typeface="Calibri"/>
            </a:endParaRPr>
          </a:p>
        </p:txBody>
      </p:sp>
      <p:sp>
        <p:nvSpPr>
          <p:cNvPr id="103" name="Google Shape;103;p5"/>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Provider-agnostic ideas: what the cloud actually is, how it's sold,</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and who's responsible for what.</a:t>
            </a:r>
            <a:endParaRPr b="0" i="0" sz="1600" u="none" cap="none" strike="noStrike">
              <a:solidFill>
                <a:schemeClr val="dk1"/>
              </a:solidFill>
              <a:latin typeface="Calibri"/>
              <a:ea typeface="Calibri"/>
              <a:cs typeface="Calibri"/>
              <a:sym typeface="Calibri"/>
            </a:endParaRPr>
          </a:p>
        </p:txBody>
      </p:sp>
      <p:sp>
        <p:nvSpPr>
          <p:cNvPr id="104" name="Google Shape;104;p5"/>
          <p:cNvSpPr/>
          <p:nvPr/>
        </p:nvSpPr>
        <p:spPr>
          <a:xfrm>
            <a:off x="8778240" y="1965960"/>
            <a:ext cx="2468880" cy="2468880"/>
          </a:xfrm>
          <a:prstGeom prst="ellipse">
            <a:avLst/>
          </a:prstGeom>
          <a:solidFill>
            <a:srgbClr val="1E293B"/>
          </a:solidFill>
          <a:ln cap="flat" cmpd="sng" w="254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5"/>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106" name="Google Shape;106;p5"/>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07" name="Google Shape;107;p5"/>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2" name="Shape 112"/>
        <p:cNvGrpSpPr/>
        <p:nvPr/>
      </p:nvGrpSpPr>
      <p:grpSpPr>
        <a:xfrm>
          <a:off x="0" y="0"/>
          <a:ext cx="0" cy="0"/>
          <a:chOff x="0" y="0"/>
          <a:chExt cx="0" cy="0"/>
        </a:xfrm>
      </p:grpSpPr>
      <p:sp>
        <p:nvSpPr>
          <p:cNvPr id="113" name="Google Shape;113;p6"/>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Courier New"/>
              <a:buNone/>
            </a:pPr>
            <a:r>
              <a:rPr b="1" i="0" lang="en-US" sz="1200" u="none" cap="none" strike="noStrike">
                <a:solidFill>
                  <a:srgbClr val="F97316"/>
                </a:solidFill>
                <a:latin typeface="Courier New"/>
                <a:ea typeface="Courier New"/>
                <a:cs typeface="Courier New"/>
                <a:sym typeface="Courier New"/>
              </a:rPr>
              <a:t>THE PROBLEM</a:t>
            </a:r>
            <a:endParaRPr b="0" i="0" sz="1200" u="none" cap="none" strike="noStrike">
              <a:solidFill>
                <a:schemeClr val="dk1"/>
              </a:solidFill>
              <a:latin typeface="Calibri"/>
              <a:ea typeface="Calibri"/>
              <a:cs typeface="Calibri"/>
              <a:sym typeface="Calibri"/>
            </a:endParaRPr>
          </a:p>
        </p:txBody>
      </p:sp>
      <p:sp>
        <p:nvSpPr>
          <p:cNvPr id="114" name="Google Shape;114;p6"/>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2005: you want to launch a website</a:t>
            </a:r>
            <a:endParaRPr b="0" i="0" sz="3000" u="none" cap="none" strike="noStrike">
              <a:solidFill>
                <a:schemeClr val="dk1"/>
              </a:solidFill>
              <a:latin typeface="Calibri"/>
              <a:ea typeface="Calibri"/>
              <a:cs typeface="Calibri"/>
              <a:sym typeface="Calibri"/>
            </a:endParaRPr>
          </a:p>
        </p:txBody>
      </p:sp>
      <p:sp>
        <p:nvSpPr>
          <p:cNvPr id="115" name="Google Shape;115;p6"/>
          <p:cNvSpPr/>
          <p:nvPr/>
        </p:nvSpPr>
        <p:spPr>
          <a:xfrm>
            <a:off x="502920" y="1508760"/>
            <a:ext cx="2697480" cy="2148840"/>
          </a:xfrm>
          <a:prstGeom prst="roundRect">
            <a:avLst>
              <a:gd fmla="val 340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704088" y="1691640"/>
            <a:ext cx="475488" cy="475488"/>
          </a:xfrm>
          <a:prstGeom prst="ellipse">
            <a:avLst/>
          </a:prstGeom>
          <a:solidFill>
            <a:srgbClr val="0F172A"/>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7" name="Google Shape;117;p6"/>
          <p:cNvPicPr preferRelativeResize="0"/>
          <p:nvPr/>
        </p:nvPicPr>
        <p:blipFill rotWithShape="1">
          <a:blip r:embed="rId3">
            <a:alphaModFix/>
          </a:blip>
          <a:srcRect b="0" l="0" r="0" t="0"/>
          <a:stretch/>
        </p:blipFill>
        <p:spPr>
          <a:xfrm>
            <a:off x="822960" y="1810512"/>
            <a:ext cx="237744" cy="237744"/>
          </a:xfrm>
          <a:prstGeom prst="rect">
            <a:avLst/>
          </a:prstGeom>
          <a:noFill/>
          <a:ln>
            <a:noFill/>
          </a:ln>
        </p:spPr>
      </p:pic>
      <p:sp>
        <p:nvSpPr>
          <p:cNvPr id="118" name="Google Shape;118;p6"/>
          <p:cNvSpPr/>
          <p:nvPr/>
        </p:nvSpPr>
        <p:spPr>
          <a:xfrm>
            <a:off x="1307592" y="16550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Buy servers</a:t>
            </a:r>
            <a:endParaRPr b="0" i="0" sz="1500" u="none" cap="none" strike="noStrike">
              <a:solidFill>
                <a:schemeClr val="dk1"/>
              </a:solidFill>
              <a:latin typeface="Calibri"/>
              <a:ea typeface="Calibri"/>
              <a:cs typeface="Calibri"/>
              <a:sym typeface="Calibri"/>
            </a:endParaRPr>
          </a:p>
        </p:txBody>
      </p:sp>
      <p:sp>
        <p:nvSpPr>
          <p:cNvPr id="119" name="Google Shape;119;p6"/>
          <p:cNvSpPr/>
          <p:nvPr/>
        </p:nvSpPr>
        <p:spPr>
          <a:xfrm>
            <a:off x="722376" y="2286000"/>
            <a:ext cx="2258568" cy="12344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Spec CPUs, RAM, disks.</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Wait 4–8 weeks for delivery.</a:t>
            </a:r>
            <a:endParaRPr b="0" i="0" sz="1200" u="none" cap="none" strike="noStrike">
              <a:solidFill>
                <a:schemeClr val="dk1"/>
              </a:solidFill>
              <a:latin typeface="Calibri"/>
              <a:ea typeface="Calibri"/>
              <a:cs typeface="Calibri"/>
              <a:sym typeface="Calibri"/>
            </a:endParaRPr>
          </a:p>
        </p:txBody>
      </p:sp>
      <p:sp>
        <p:nvSpPr>
          <p:cNvPr id="120" name="Google Shape;120;p6"/>
          <p:cNvSpPr/>
          <p:nvPr/>
        </p:nvSpPr>
        <p:spPr>
          <a:xfrm>
            <a:off x="3374136" y="1508760"/>
            <a:ext cx="2697480" cy="2148840"/>
          </a:xfrm>
          <a:prstGeom prst="roundRect">
            <a:avLst>
              <a:gd fmla="val 340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3575304" y="1691640"/>
            <a:ext cx="475488" cy="475488"/>
          </a:xfrm>
          <a:prstGeom prst="ellipse">
            <a:avLst/>
          </a:prstGeom>
          <a:solidFill>
            <a:srgbClr val="0F172A"/>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 name="Google Shape;122;p6"/>
          <p:cNvPicPr preferRelativeResize="0"/>
          <p:nvPr/>
        </p:nvPicPr>
        <p:blipFill rotWithShape="1">
          <a:blip r:embed="rId4">
            <a:alphaModFix/>
          </a:blip>
          <a:srcRect b="0" l="0" r="0" t="0"/>
          <a:stretch/>
        </p:blipFill>
        <p:spPr>
          <a:xfrm>
            <a:off x="3694176" y="1810512"/>
            <a:ext cx="237744" cy="237744"/>
          </a:xfrm>
          <a:prstGeom prst="rect">
            <a:avLst/>
          </a:prstGeom>
          <a:noFill/>
          <a:ln>
            <a:noFill/>
          </a:ln>
        </p:spPr>
      </p:pic>
      <p:sp>
        <p:nvSpPr>
          <p:cNvPr id="123" name="Google Shape;123;p6"/>
          <p:cNvSpPr/>
          <p:nvPr/>
        </p:nvSpPr>
        <p:spPr>
          <a:xfrm>
            <a:off x="4178808" y="16550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Rent rack space</a:t>
            </a:r>
            <a:endParaRPr b="0" i="0" sz="1500" u="none" cap="none" strike="noStrike">
              <a:solidFill>
                <a:schemeClr val="dk1"/>
              </a:solidFill>
              <a:latin typeface="Calibri"/>
              <a:ea typeface="Calibri"/>
              <a:cs typeface="Calibri"/>
              <a:sym typeface="Calibri"/>
            </a:endParaRPr>
          </a:p>
        </p:txBody>
      </p:sp>
      <p:sp>
        <p:nvSpPr>
          <p:cNvPr id="124" name="Google Shape;124;p6"/>
          <p:cNvSpPr/>
          <p:nvPr/>
        </p:nvSpPr>
        <p:spPr>
          <a:xfrm>
            <a:off x="3593592" y="2286000"/>
            <a:ext cx="2258568" cy="12344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Data center contract, power,</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cooling, physical access badges.</a:t>
            </a:r>
            <a:endParaRPr b="0" i="0" sz="1200" u="none" cap="none" strike="noStrike">
              <a:solidFill>
                <a:schemeClr val="dk1"/>
              </a:solidFill>
              <a:latin typeface="Calibri"/>
              <a:ea typeface="Calibri"/>
              <a:cs typeface="Calibri"/>
              <a:sym typeface="Calibri"/>
            </a:endParaRPr>
          </a:p>
        </p:txBody>
      </p:sp>
      <p:sp>
        <p:nvSpPr>
          <p:cNvPr id="125" name="Google Shape;125;p6"/>
          <p:cNvSpPr/>
          <p:nvPr/>
        </p:nvSpPr>
        <p:spPr>
          <a:xfrm>
            <a:off x="6245352" y="1508760"/>
            <a:ext cx="2697480" cy="2148840"/>
          </a:xfrm>
          <a:prstGeom prst="roundRect">
            <a:avLst>
              <a:gd fmla="val 340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6446520" y="1691640"/>
            <a:ext cx="475488" cy="475488"/>
          </a:xfrm>
          <a:prstGeom prst="ellipse">
            <a:avLst/>
          </a:prstGeom>
          <a:solidFill>
            <a:srgbClr val="0F172A"/>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6"/>
          <p:cNvPicPr preferRelativeResize="0"/>
          <p:nvPr/>
        </p:nvPicPr>
        <p:blipFill rotWithShape="1">
          <a:blip r:embed="rId5">
            <a:alphaModFix/>
          </a:blip>
          <a:srcRect b="0" l="0" r="0" t="0"/>
          <a:stretch/>
        </p:blipFill>
        <p:spPr>
          <a:xfrm>
            <a:off x="6565392" y="1810512"/>
            <a:ext cx="237744" cy="237744"/>
          </a:xfrm>
          <a:prstGeom prst="rect">
            <a:avLst/>
          </a:prstGeom>
          <a:noFill/>
          <a:ln>
            <a:noFill/>
          </a:ln>
        </p:spPr>
      </p:pic>
      <p:sp>
        <p:nvSpPr>
          <p:cNvPr id="128" name="Google Shape;128;p6"/>
          <p:cNvSpPr/>
          <p:nvPr/>
        </p:nvSpPr>
        <p:spPr>
          <a:xfrm>
            <a:off x="7050024" y="16550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Wire everything</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464808" y="2286000"/>
            <a:ext cx="2258568" cy="12344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Switches, firewalls, cables,</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public IP blocks from an ISP.</a:t>
            </a:r>
            <a:endParaRPr b="0" i="0" sz="1200" u="none" cap="none" strike="noStrike">
              <a:solidFill>
                <a:schemeClr val="dk1"/>
              </a:solidFill>
              <a:latin typeface="Calibri"/>
              <a:ea typeface="Calibri"/>
              <a:cs typeface="Calibri"/>
              <a:sym typeface="Calibri"/>
            </a:endParaRPr>
          </a:p>
        </p:txBody>
      </p:sp>
      <p:sp>
        <p:nvSpPr>
          <p:cNvPr id="130" name="Google Shape;130;p6"/>
          <p:cNvSpPr/>
          <p:nvPr/>
        </p:nvSpPr>
        <p:spPr>
          <a:xfrm>
            <a:off x="9116568" y="1508760"/>
            <a:ext cx="2697480" cy="2148840"/>
          </a:xfrm>
          <a:prstGeom prst="roundRect">
            <a:avLst>
              <a:gd fmla="val 340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9317736" y="1691640"/>
            <a:ext cx="475488" cy="475488"/>
          </a:xfrm>
          <a:prstGeom prst="ellipse">
            <a:avLst/>
          </a:prstGeom>
          <a:solidFill>
            <a:srgbClr val="0F172A"/>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2" name="Google Shape;132;p6"/>
          <p:cNvPicPr preferRelativeResize="0"/>
          <p:nvPr/>
        </p:nvPicPr>
        <p:blipFill rotWithShape="1">
          <a:blip r:embed="rId6">
            <a:alphaModFix/>
          </a:blip>
          <a:srcRect b="0" l="0" r="0" t="0"/>
          <a:stretch/>
        </p:blipFill>
        <p:spPr>
          <a:xfrm>
            <a:off x="9436608" y="1810512"/>
            <a:ext cx="237744" cy="237744"/>
          </a:xfrm>
          <a:prstGeom prst="rect">
            <a:avLst/>
          </a:prstGeom>
          <a:noFill/>
          <a:ln>
            <a:noFill/>
          </a:ln>
        </p:spPr>
      </p:pic>
      <p:sp>
        <p:nvSpPr>
          <p:cNvPr id="133" name="Google Shape;133;p6"/>
          <p:cNvSpPr/>
          <p:nvPr/>
        </p:nvSpPr>
        <p:spPr>
          <a:xfrm>
            <a:off x="9921240" y="16550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Hire ops staff</a:t>
            </a:r>
            <a:endParaRPr b="0" i="0" sz="1500" u="none" cap="none" strike="noStrike">
              <a:solidFill>
                <a:schemeClr val="dk1"/>
              </a:solidFill>
              <a:latin typeface="Calibri"/>
              <a:ea typeface="Calibri"/>
              <a:cs typeface="Calibri"/>
              <a:sym typeface="Calibri"/>
            </a:endParaRPr>
          </a:p>
        </p:txBody>
      </p:sp>
      <p:sp>
        <p:nvSpPr>
          <p:cNvPr id="134" name="Google Shape;134;p6"/>
          <p:cNvSpPr/>
          <p:nvPr/>
        </p:nvSpPr>
        <p:spPr>
          <a:xfrm>
            <a:off x="9336024" y="2286000"/>
            <a:ext cx="2258568" cy="12344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Someone drives to the DC</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at 3 AM when a disk dies.</a:t>
            </a:r>
            <a:endParaRPr b="0" i="0" sz="1200" u="none" cap="none" strike="noStrike">
              <a:solidFill>
                <a:schemeClr val="dk1"/>
              </a:solidFill>
              <a:latin typeface="Calibri"/>
              <a:ea typeface="Calibri"/>
              <a:cs typeface="Calibri"/>
              <a:sym typeface="Calibri"/>
            </a:endParaRPr>
          </a:p>
        </p:txBody>
      </p:sp>
      <p:sp>
        <p:nvSpPr>
          <p:cNvPr id="135" name="Google Shape;135;p6"/>
          <p:cNvSpPr/>
          <p:nvPr/>
        </p:nvSpPr>
        <p:spPr>
          <a:xfrm>
            <a:off x="502920" y="3977640"/>
            <a:ext cx="11183112" cy="914400"/>
          </a:xfrm>
          <a:prstGeom prst="roundRect">
            <a:avLst>
              <a:gd fmla="val 8000"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6" name="Google Shape;136;p6"/>
          <p:cNvPicPr preferRelativeResize="0"/>
          <p:nvPr/>
        </p:nvPicPr>
        <p:blipFill rotWithShape="1">
          <a:blip r:embed="rId7">
            <a:alphaModFix/>
          </a:blip>
          <a:srcRect b="0" l="0" r="0" t="0"/>
          <a:stretch/>
        </p:blipFill>
        <p:spPr>
          <a:xfrm>
            <a:off x="704088" y="4288536"/>
            <a:ext cx="292608" cy="292608"/>
          </a:xfrm>
          <a:prstGeom prst="rect">
            <a:avLst/>
          </a:prstGeom>
          <a:noFill/>
          <a:ln>
            <a:noFill/>
          </a:ln>
        </p:spPr>
      </p:pic>
      <p:sp>
        <p:nvSpPr>
          <p:cNvPr id="137" name="Google Shape;137;p6"/>
          <p:cNvSpPr/>
          <p:nvPr/>
        </p:nvSpPr>
        <p:spPr>
          <a:xfrm>
            <a:off x="1143000" y="4069080"/>
            <a:ext cx="10341864" cy="7315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50"/>
              <a:buFont typeface="Calibri"/>
              <a:buNone/>
            </a:pPr>
            <a:r>
              <a:rPr b="0" i="0" lang="en-US" sz="1350" u="none" cap="none" strike="noStrike">
                <a:solidFill>
                  <a:srgbClr val="E2E8F0"/>
                </a:solidFill>
                <a:latin typeface="Calibri"/>
                <a:ea typeface="Calibri"/>
                <a:cs typeface="Calibri"/>
                <a:sym typeface="Calibri"/>
              </a:rPr>
              <a:t>Months of lead time and a huge upfront bill — before serving a single user. Guess capacity wrong and you either melt under load or pay for idle metal.</a:t>
            </a:r>
            <a:endParaRPr b="0" i="0" sz="1350" u="none" cap="none" strike="noStrike">
              <a:solidFill>
                <a:schemeClr val="dk1"/>
              </a:solidFill>
              <a:latin typeface="Calibri"/>
              <a:ea typeface="Calibri"/>
              <a:cs typeface="Calibri"/>
              <a:sym typeface="Calibri"/>
            </a:endParaRPr>
          </a:p>
        </p:txBody>
      </p:sp>
      <p:sp>
        <p:nvSpPr>
          <p:cNvPr id="138" name="Google Shape;138;p6"/>
          <p:cNvSpPr/>
          <p:nvPr/>
        </p:nvSpPr>
        <p:spPr>
          <a:xfrm>
            <a:off x="502920" y="5120640"/>
            <a:ext cx="11155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97316"/>
              </a:buClr>
              <a:buSzPts val="1500"/>
              <a:buFont typeface="Courier New"/>
              <a:buNone/>
            </a:pPr>
            <a:r>
              <a:rPr b="1" i="0" lang="en-US" sz="1500" u="none" cap="none" strike="noStrike">
                <a:solidFill>
                  <a:srgbClr val="F97316"/>
                </a:solidFill>
                <a:latin typeface="Courier New"/>
                <a:ea typeface="Courier New"/>
                <a:cs typeface="Courier New"/>
                <a:sym typeface="Courier New"/>
              </a:rPr>
              <a:t>CapEx-heavy  ·  slow to scale  ·  you own every failure</a:t>
            </a:r>
            <a:endParaRPr b="0" i="0" sz="1500" u="none" cap="none" strike="noStrike">
              <a:solidFill>
                <a:schemeClr val="dk1"/>
              </a:solidFill>
              <a:latin typeface="Calibri"/>
              <a:ea typeface="Calibri"/>
              <a:cs typeface="Calibri"/>
              <a:sym typeface="Calibri"/>
            </a:endParaRPr>
          </a:p>
        </p:txBody>
      </p:sp>
      <p:sp>
        <p:nvSpPr>
          <p:cNvPr id="139" name="Google Shape;139;p6"/>
          <p:cNvSpPr/>
          <p:nvPr/>
        </p:nvSpPr>
        <p:spPr>
          <a:xfrm>
            <a:off x="502920" y="5623560"/>
            <a:ext cx="11155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400"/>
              <a:buFont typeface="Calibri"/>
              <a:buNone/>
            </a:pPr>
            <a:r>
              <a:rPr b="0" i="1" lang="en-US" sz="1400" u="none" cap="none" strike="noStrike">
                <a:solidFill>
                  <a:srgbClr val="94A3B8"/>
                </a:solidFill>
                <a:latin typeface="Calibri"/>
                <a:ea typeface="Calibri"/>
                <a:cs typeface="Calibri"/>
                <a:sym typeface="Calibri"/>
              </a:rPr>
              <a:t>The cloud exists because every company was solving this same problem, badly, in parallel.</a:t>
            </a:r>
            <a:endParaRPr b="0" i="0" sz="1400" u="none" cap="none" strike="noStrike">
              <a:solidFill>
                <a:schemeClr val="dk1"/>
              </a:solidFill>
              <a:latin typeface="Calibri"/>
              <a:ea typeface="Calibri"/>
              <a:cs typeface="Calibri"/>
              <a:sym typeface="Calibri"/>
            </a:endParaRPr>
          </a:p>
        </p:txBody>
      </p:sp>
      <p:sp>
        <p:nvSpPr>
          <p:cNvPr id="140" name="Google Shape;140;p6"/>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41" name="Google Shape;141;p6"/>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Why cloud exists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46" name="Shape 146"/>
        <p:cNvGrpSpPr/>
        <p:nvPr/>
      </p:nvGrpSpPr>
      <p:grpSpPr>
        <a:xfrm>
          <a:off x="0" y="0"/>
          <a:ext cx="0" cy="0"/>
          <a:chOff x="0" y="0"/>
          <a:chExt cx="0" cy="0"/>
        </a:xfrm>
      </p:grpSpPr>
      <p:sp>
        <p:nvSpPr>
          <p:cNvPr id="147" name="Google Shape;147;p7"/>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THE IDEA</a:t>
            </a:r>
            <a:endParaRPr b="0" i="0" sz="1200" u="none" cap="none" strike="noStrike">
              <a:solidFill>
                <a:schemeClr val="dk1"/>
              </a:solidFill>
              <a:latin typeface="Calibri"/>
              <a:ea typeface="Calibri"/>
              <a:cs typeface="Calibri"/>
              <a:sym typeface="Calibri"/>
            </a:endParaRPr>
          </a:p>
        </p:txBody>
      </p:sp>
      <p:sp>
        <p:nvSpPr>
          <p:cNvPr id="148" name="Google Shape;148;p7"/>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What “the cloud” actually means</a:t>
            </a:r>
            <a:endParaRPr b="0" i="0" sz="3000" u="none" cap="none" strike="noStrike">
              <a:solidFill>
                <a:schemeClr val="dk1"/>
              </a:solidFill>
              <a:latin typeface="Calibri"/>
              <a:ea typeface="Calibri"/>
              <a:cs typeface="Calibri"/>
              <a:sym typeface="Calibri"/>
            </a:endParaRPr>
          </a:p>
        </p:txBody>
      </p:sp>
      <p:sp>
        <p:nvSpPr>
          <p:cNvPr id="149" name="Google Shape;149;p7"/>
          <p:cNvSpPr/>
          <p:nvPr/>
        </p:nvSpPr>
        <p:spPr>
          <a:xfrm>
            <a:off x="502920" y="1371600"/>
            <a:ext cx="11183112" cy="777240"/>
          </a:xfrm>
          <a:prstGeom prst="roundRect">
            <a:avLst>
              <a:gd fmla="val 9412"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p7"/>
          <p:cNvPicPr preferRelativeResize="0"/>
          <p:nvPr/>
        </p:nvPicPr>
        <p:blipFill rotWithShape="1">
          <a:blip r:embed="rId3">
            <a:alphaModFix/>
          </a:blip>
          <a:srcRect b="0" l="0" r="0" t="0"/>
          <a:stretch/>
        </p:blipFill>
        <p:spPr>
          <a:xfrm>
            <a:off x="704088" y="1613916"/>
            <a:ext cx="292608" cy="292608"/>
          </a:xfrm>
          <a:prstGeom prst="rect">
            <a:avLst/>
          </a:prstGeom>
          <a:noFill/>
          <a:ln>
            <a:noFill/>
          </a:ln>
        </p:spPr>
      </p:pic>
      <p:sp>
        <p:nvSpPr>
          <p:cNvPr id="151" name="Google Shape;151;p7"/>
          <p:cNvSpPr/>
          <p:nvPr/>
        </p:nvSpPr>
        <p:spPr>
          <a:xfrm>
            <a:off x="1143000" y="1463040"/>
            <a:ext cx="10341864"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50"/>
              <a:buFont typeface="Calibri"/>
              <a:buNone/>
            </a:pPr>
            <a:r>
              <a:rPr b="0" i="0" lang="en-US" sz="1350" u="none" cap="none" strike="noStrike">
                <a:solidFill>
                  <a:srgbClr val="E2E8F0"/>
                </a:solidFill>
                <a:latin typeface="Calibri"/>
                <a:ea typeface="Calibri"/>
                <a:cs typeface="Calibri"/>
                <a:sym typeface="Calibri"/>
              </a:rPr>
              <a:t>Someone else's computers, rented by the hour, self-service over the internet. NIST defines five essential characteristics — if a service lacks one, it's just hosting.</a:t>
            </a:r>
            <a:endParaRPr b="0" i="0" sz="1350" u="none" cap="none" strike="noStrike">
              <a:solidFill>
                <a:schemeClr val="dk1"/>
              </a:solidFill>
              <a:latin typeface="Calibri"/>
              <a:ea typeface="Calibri"/>
              <a:cs typeface="Calibri"/>
              <a:sym typeface="Calibri"/>
            </a:endParaRPr>
          </a:p>
        </p:txBody>
      </p:sp>
      <p:sp>
        <p:nvSpPr>
          <p:cNvPr id="152" name="Google Shape;152;p7"/>
          <p:cNvSpPr/>
          <p:nvPr/>
        </p:nvSpPr>
        <p:spPr>
          <a:xfrm>
            <a:off x="502920" y="2377440"/>
            <a:ext cx="3611880" cy="1691640"/>
          </a:xfrm>
          <a:prstGeom prst="roundRect">
            <a:avLst>
              <a:gd fmla="val 43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704088" y="256032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 name="Google Shape;154;p7"/>
          <p:cNvPicPr preferRelativeResize="0"/>
          <p:nvPr/>
        </p:nvPicPr>
        <p:blipFill rotWithShape="1">
          <a:blip r:embed="rId4">
            <a:alphaModFix/>
          </a:blip>
          <a:srcRect b="0" l="0" r="0" t="0"/>
          <a:stretch/>
        </p:blipFill>
        <p:spPr>
          <a:xfrm>
            <a:off x="822960" y="2679192"/>
            <a:ext cx="237744" cy="237744"/>
          </a:xfrm>
          <a:prstGeom prst="rect">
            <a:avLst/>
          </a:prstGeom>
          <a:noFill/>
          <a:ln>
            <a:noFill/>
          </a:ln>
        </p:spPr>
      </p:pic>
      <p:sp>
        <p:nvSpPr>
          <p:cNvPr id="155" name="Google Shape;155;p7"/>
          <p:cNvSpPr/>
          <p:nvPr/>
        </p:nvSpPr>
        <p:spPr>
          <a:xfrm>
            <a:off x="1307592" y="2523744"/>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On-demand self-service</a:t>
            </a:r>
            <a:endParaRPr b="0" i="0" sz="1350" u="none" cap="none" strike="noStrike">
              <a:solidFill>
                <a:schemeClr val="dk1"/>
              </a:solidFill>
              <a:latin typeface="Calibri"/>
              <a:ea typeface="Calibri"/>
              <a:cs typeface="Calibri"/>
              <a:sym typeface="Calibri"/>
            </a:endParaRPr>
          </a:p>
        </p:txBody>
      </p:sp>
      <p:sp>
        <p:nvSpPr>
          <p:cNvPr id="156" name="Google Shape;156;p7"/>
          <p:cNvSpPr/>
          <p:nvPr/>
        </p:nvSpPr>
        <p:spPr>
          <a:xfrm>
            <a:off x="722376" y="3154680"/>
            <a:ext cx="3172968" cy="7772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Provision via console or API — no phone call, no ticket, no human.</a:t>
            </a:r>
            <a:endParaRPr b="0" i="0" sz="1150" u="none" cap="none" strike="noStrike">
              <a:solidFill>
                <a:schemeClr val="dk1"/>
              </a:solidFill>
              <a:latin typeface="Calibri"/>
              <a:ea typeface="Calibri"/>
              <a:cs typeface="Calibri"/>
              <a:sym typeface="Calibri"/>
            </a:endParaRPr>
          </a:p>
        </p:txBody>
      </p:sp>
      <p:sp>
        <p:nvSpPr>
          <p:cNvPr id="157" name="Google Shape;157;p7"/>
          <p:cNvSpPr/>
          <p:nvPr/>
        </p:nvSpPr>
        <p:spPr>
          <a:xfrm>
            <a:off x="4288536" y="2377440"/>
            <a:ext cx="3611880" cy="1691640"/>
          </a:xfrm>
          <a:prstGeom prst="roundRect">
            <a:avLst>
              <a:gd fmla="val 43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4489704" y="256032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7"/>
          <p:cNvPicPr preferRelativeResize="0"/>
          <p:nvPr/>
        </p:nvPicPr>
        <p:blipFill rotWithShape="1">
          <a:blip r:embed="rId5">
            <a:alphaModFix/>
          </a:blip>
          <a:srcRect b="0" l="0" r="0" t="0"/>
          <a:stretch/>
        </p:blipFill>
        <p:spPr>
          <a:xfrm>
            <a:off x="4608576" y="2679192"/>
            <a:ext cx="237744" cy="237744"/>
          </a:xfrm>
          <a:prstGeom prst="rect">
            <a:avLst/>
          </a:prstGeom>
          <a:noFill/>
          <a:ln>
            <a:noFill/>
          </a:ln>
        </p:spPr>
      </p:pic>
      <p:sp>
        <p:nvSpPr>
          <p:cNvPr id="160" name="Google Shape;160;p7"/>
          <p:cNvSpPr/>
          <p:nvPr/>
        </p:nvSpPr>
        <p:spPr>
          <a:xfrm>
            <a:off x="5093208" y="2523744"/>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Broad network access</a:t>
            </a:r>
            <a:endParaRPr b="0" i="0" sz="1350" u="none" cap="none" strike="noStrike">
              <a:solidFill>
                <a:schemeClr val="dk1"/>
              </a:solidFill>
              <a:latin typeface="Calibri"/>
              <a:ea typeface="Calibri"/>
              <a:cs typeface="Calibri"/>
              <a:sym typeface="Calibri"/>
            </a:endParaRPr>
          </a:p>
        </p:txBody>
      </p:sp>
      <p:sp>
        <p:nvSpPr>
          <p:cNvPr id="161" name="Google Shape;161;p7"/>
          <p:cNvSpPr/>
          <p:nvPr/>
        </p:nvSpPr>
        <p:spPr>
          <a:xfrm>
            <a:off x="4507992" y="3154680"/>
            <a:ext cx="3172968" cy="7772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Reachable over standard networks from anywhere, any device.</a:t>
            </a:r>
            <a:endParaRPr b="0" i="0" sz="1150" u="none" cap="none" strike="noStrike">
              <a:solidFill>
                <a:schemeClr val="dk1"/>
              </a:solidFill>
              <a:latin typeface="Calibri"/>
              <a:ea typeface="Calibri"/>
              <a:cs typeface="Calibri"/>
              <a:sym typeface="Calibri"/>
            </a:endParaRPr>
          </a:p>
        </p:txBody>
      </p:sp>
      <p:sp>
        <p:nvSpPr>
          <p:cNvPr id="162" name="Google Shape;162;p7"/>
          <p:cNvSpPr/>
          <p:nvPr/>
        </p:nvSpPr>
        <p:spPr>
          <a:xfrm>
            <a:off x="8074152" y="2377440"/>
            <a:ext cx="3611880" cy="1691640"/>
          </a:xfrm>
          <a:prstGeom prst="roundRect">
            <a:avLst>
              <a:gd fmla="val 43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8275320" y="256032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7"/>
          <p:cNvPicPr preferRelativeResize="0"/>
          <p:nvPr/>
        </p:nvPicPr>
        <p:blipFill rotWithShape="1">
          <a:blip r:embed="rId6">
            <a:alphaModFix/>
          </a:blip>
          <a:srcRect b="0" l="0" r="0" t="0"/>
          <a:stretch/>
        </p:blipFill>
        <p:spPr>
          <a:xfrm>
            <a:off x="8394192" y="2679192"/>
            <a:ext cx="237744" cy="237744"/>
          </a:xfrm>
          <a:prstGeom prst="rect">
            <a:avLst/>
          </a:prstGeom>
          <a:noFill/>
          <a:ln>
            <a:noFill/>
          </a:ln>
        </p:spPr>
      </p:pic>
      <p:sp>
        <p:nvSpPr>
          <p:cNvPr id="165" name="Google Shape;165;p7"/>
          <p:cNvSpPr/>
          <p:nvPr/>
        </p:nvSpPr>
        <p:spPr>
          <a:xfrm>
            <a:off x="8878824" y="2523744"/>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Resource pooling</a:t>
            </a:r>
            <a:endParaRPr b="0" i="0" sz="1350" u="none" cap="none" strike="noStrike">
              <a:solidFill>
                <a:schemeClr val="dk1"/>
              </a:solidFill>
              <a:latin typeface="Calibri"/>
              <a:ea typeface="Calibri"/>
              <a:cs typeface="Calibri"/>
              <a:sym typeface="Calibri"/>
            </a:endParaRPr>
          </a:p>
        </p:txBody>
      </p:sp>
      <p:sp>
        <p:nvSpPr>
          <p:cNvPr id="166" name="Google Shape;166;p7"/>
          <p:cNvSpPr/>
          <p:nvPr/>
        </p:nvSpPr>
        <p:spPr>
          <a:xfrm>
            <a:off x="8293608" y="3154680"/>
            <a:ext cx="3172968" cy="7772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Provider's hardware is shared by many tenants — you rent slices.</a:t>
            </a:r>
            <a:endParaRPr b="0" i="0" sz="1150" u="none" cap="none" strike="noStrike">
              <a:solidFill>
                <a:schemeClr val="dk1"/>
              </a:solidFill>
              <a:latin typeface="Calibri"/>
              <a:ea typeface="Calibri"/>
              <a:cs typeface="Calibri"/>
              <a:sym typeface="Calibri"/>
            </a:endParaRPr>
          </a:p>
        </p:txBody>
      </p:sp>
      <p:sp>
        <p:nvSpPr>
          <p:cNvPr id="167" name="Google Shape;167;p7"/>
          <p:cNvSpPr/>
          <p:nvPr/>
        </p:nvSpPr>
        <p:spPr>
          <a:xfrm>
            <a:off x="2377440" y="4224528"/>
            <a:ext cx="3611880" cy="1691640"/>
          </a:xfrm>
          <a:prstGeom prst="roundRect">
            <a:avLst>
              <a:gd fmla="val 43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2578608" y="4407408"/>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7"/>
          <p:cNvPicPr preferRelativeResize="0"/>
          <p:nvPr/>
        </p:nvPicPr>
        <p:blipFill rotWithShape="1">
          <a:blip r:embed="rId7">
            <a:alphaModFix/>
          </a:blip>
          <a:srcRect b="0" l="0" r="0" t="0"/>
          <a:stretch/>
        </p:blipFill>
        <p:spPr>
          <a:xfrm>
            <a:off x="2697480" y="4526280"/>
            <a:ext cx="237744" cy="237744"/>
          </a:xfrm>
          <a:prstGeom prst="rect">
            <a:avLst/>
          </a:prstGeom>
          <a:noFill/>
          <a:ln>
            <a:noFill/>
          </a:ln>
        </p:spPr>
      </p:pic>
      <p:sp>
        <p:nvSpPr>
          <p:cNvPr id="170" name="Google Shape;170;p7"/>
          <p:cNvSpPr/>
          <p:nvPr/>
        </p:nvSpPr>
        <p:spPr>
          <a:xfrm>
            <a:off x="3182112" y="4370832"/>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Rapid elasticity</a:t>
            </a:r>
            <a:endParaRPr b="0" i="0" sz="1350" u="none" cap="none" strike="noStrike">
              <a:solidFill>
                <a:schemeClr val="dk1"/>
              </a:solidFill>
              <a:latin typeface="Calibri"/>
              <a:ea typeface="Calibri"/>
              <a:cs typeface="Calibri"/>
              <a:sym typeface="Calibri"/>
            </a:endParaRPr>
          </a:p>
        </p:txBody>
      </p:sp>
      <p:sp>
        <p:nvSpPr>
          <p:cNvPr id="171" name="Google Shape;171;p7"/>
          <p:cNvSpPr/>
          <p:nvPr/>
        </p:nvSpPr>
        <p:spPr>
          <a:xfrm>
            <a:off x="2596896" y="5001768"/>
            <a:ext cx="3172968" cy="7772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Scale from 1 to 1,000 machines in minutes, and back down.</a:t>
            </a:r>
            <a:endParaRPr b="0" i="0" sz="1150" u="none" cap="none" strike="noStrike">
              <a:solidFill>
                <a:schemeClr val="dk1"/>
              </a:solidFill>
              <a:latin typeface="Calibri"/>
              <a:ea typeface="Calibri"/>
              <a:cs typeface="Calibri"/>
              <a:sym typeface="Calibri"/>
            </a:endParaRPr>
          </a:p>
        </p:txBody>
      </p:sp>
      <p:sp>
        <p:nvSpPr>
          <p:cNvPr id="172" name="Google Shape;172;p7"/>
          <p:cNvSpPr/>
          <p:nvPr/>
        </p:nvSpPr>
        <p:spPr>
          <a:xfrm>
            <a:off x="6163056" y="4224528"/>
            <a:ext cx="3611880" cy="1691640"/>
          </a:xfrm>
          <a:prstGeom prst="roundRect">
            <a:avLst>
              <a:gd fmla="val 43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6364224" y="4407408"/>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4" name="Google Shape;174;p7"/>
          <p:cNvPicPr preferRelativeResize="0"/>
          <p:nvPr/>
        </p:nvPicPr>
        <p:blipFill rotWithShape="1">
          <a:blip r:embed="rId8">
            <a:alphaModFix/>
          </a:blip>
          <a:srcRect b="0" l="0" r="0" t="0"/>
          <a:stretch/>
        </p:blipFill>
        <p:spPr>
          <a:xfrm>
            <a:off x="6483096" y="4526280"/>
            <a:ext cx="237744" cy="237744"/>
          </a:xfrm>
          <a:prstGeom prst="rect">
            <a:avLst/>
          </a:prstGeom>
          <a:noFill/>
          <a:ln>
            <a:noFill/>
          </a:ln>
        </p:spPr>
      </p:pic>
      <p:sp>
        <p:nvSpPr>
          <p:cNvPr id="175" name="Google Shape;175;p7"/>
          <p:cNvSpPr/>
          <p:nvPr/>
        </p:nvSpPr>
        <p:spPr>
          <a:xfrm>
            <a:off x="6967728" y="4370832"/>
            <a:ext cx="26517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Measured service</a:t>
            </a:r>
            <a:endParaRPr b="0" i="0" sz="1350" u="none" cap="none" strike="noStrike">
              <a:solidFill>
                <a:schemeClr val="dk1"/>
              </a:solidFill>
              <a:latin typeface="Calibri"/>
              <a:ea typeface="Calibri"/>
              <a:cs typeface="Calibri"/>
              <a:sym typeface="Calibri"/>
            </a:endParaRPr>
          </a:p>
        </p:txBody>
      </p:sp>
      <p:sp>
        <p:nvSpPr>
          <p:cNvPr id="176" name="Google Shape;176;p7"/>
          <p:cNvSpPr/>
          <p:nvPr/>
        </p:nvSpPr>
        <p:spPr>
          <a:xfrm>
            <a:off x="6382512" y="5001768"/>
            <a:ext cx="3172968" cy="7772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Metered like electricity — pay only for what you use.</a:t>
            </a:r>
            <a:endParaRPr b="0" i="0" sz="1150" u="none" cap="none" strike="noStrike">
              <a:solidFill>
                <a:schemeClr val="dk1"/>
              </a:solidFill>
              <a:latin typeface="Calibri"/>
              <a:ea typeface="Calibri"/>
              <a:cs typeface="Calibri"/>
              <a:sym typeface="Calibri"/>
            </a:endParaRPr>
          </a:p>
        </p:txBody>
      </p:sp>
      <p:sp>
        <p:nvSpPr>
          <p:cNvPr id="177" name="Google Shape;177;p7"/>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78" name="Google Shape;178;p7"/>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NIST essential characteristics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3" name="Shape 183"/>
        <p:cNvGrpSpPr/>
        <p:nvPr/>
      </p:nvGrpSpPr>
      <p:grpSpPr>
        <a:xfrm>
          <a:off x="0" y="0"/>
          <a:ext cx="0" cy="0"/>
          <a:chOff x="0" y="0"/>
          <a:chExt cx="0" cy="0"/>
        </a:xfrm>
      </p:grpSpPr>
      <p:sp>
        <p:nvSpPr>
          <p:cNvPr id="184" name="Google Shape;184;p8"/>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IAAS · PAAS · FAAS · SAAS</a:t>
            </a:r>
            <a:endParaRPr b="0" i="0" sz="1200" u="none" cap="none" strike="noStrike">
              <a:solidFill>
                <a:schemeClr val="dk1"/>
              </a:solidFill>
              <a:latin typeface="Calibri"/>
              <a:ea typeface="Calibri"/>
              <a:cs typeface="Calibri"/>
              <a:sym typeface="Calibri"/>
            </a:endParaRPr>
          </a:p>
        </p:txBody>
      </p:sp>
      <p:sp>
        <p:nvSpPr>
          <p:cNvPr id="185" name="Google Shape;185;p8"/>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Service models: how much do you want to manage?</a:t>
            </a:r>
            <a:endParaRPr b="0" i="0" sz="3000" u="none" cap="none" strike="noStrike">
              <a:solidFill>
                <a:schemeClr val="dk1"/>
              </a:solidFill>
              <a:latin typeface="Calibri"/>
              <a:ea typeface="Calibri"/>
              <a:cs typeface="Calibri"/>
              <a:sym typeface="Calibri"/>
            </a:endParaRPr>
          </a:p>
        </p:txBody>
      </p:sp>
      <p:sp>
        <p:nvSpPr>
          <p:cNvPr id="186" name="Google Shape;186;p8"/>
          <p:cNvSpPr/>
          <p:nvPr/>
        </p:nvSpPr>
        <p:spPr>
          <a:xfrm>
            <a:off x="457200" y="2075688"/>
            <a:ext cx="182880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App code</a:t>
            </a:r>
            <a:endParaRPr b="0" i="0" sz="1050" u="none" cap="none" strike="noStrike">
              <a:solidFill>
                <a:schemeClr val="dk1"/>
              </a:solidFill>
              <a:latin typeface="Calibri"/>
              <a:ea typeface="Calibri"/>
              <a:cs typeface="Calibri"/>
              <a:sym typeface="Calibri"/>
            </a:endParaRPr>
          </a:p>
        </p:txBody>
      </p:sp>
      <p:sp>
        <p:nvSpPr>
          <p:cNvPr id="187" name="Google Shape;187;p8"/>
          <p:cNvSpPr/>
          <p:nvPr/>
        </p:nvSpPr>
        <p:spPr>
          <a:xfrm>
            <a:off x="457200" y="2606040"/>
            <a:ext cx="182880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Runtime</a:t>
            </a:r>
            <a:endParaRPr b="0" i="0" sz="1050" u="none" cap="none" strike="noStrike">
              <a:solidFill>
                <a:schemeClr val="dk1"/>
              </a:solidFill>
              <a:latin typeface="Calibri"/>
              <a:ea typeface="Calibri"/>
              <a:cs typeface="Calibri"/>
              <a:sym typeface="Calibri"/>
            </a:endParaRPr>
          </a:p>
        </p:txBody>
      </p:sp>
      <p:sp>
        <p:nvSpPr>
          <p:cNvPr id="188" name="Google Shape;188;p8"/>
          <p:cNvSpPr/>
          <p:nvPr/>
        </p:nvSpPr>
        <p:spPr>
          <a:xfrm>
            <a:off x="457200" y="3136392"/>
            <a:ext cx="182880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Containers / OS</a:t>
            </a:r>
            <a:endParaRPr b="0" i="0" sz="1050" u="none" cap="none" strike="noStrike">
              <a:solidFill>
                <a:schemeClr val="dk1"/>
              </a:solidFill>
              <a:latin typeface="Calibri"/>
              <a:ea typeface="Calibri"/>
              <a:cs typeface="Calibri"/>
              <a:sym typeface="Calibri"/>
            </a:endParaRPr>
          </a:p>
        </p:txBody>
      </p:sp>
      <p:sp>
        <p:nvSpPr>
          <p:cNvPr id="189" name="Google Shape;189;p8"/>
          <p:cNvSpPr/>
          <p:nvPr/>
        </p:nvSpPr>
        <p:spPr>
          <a:xfrm>
            <a:off x="457200" y="3666744"/>
            <a:ext cx="182880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Virtual machine</a:t>
            </a:r>
            <a:endParaRPr b="0" i="0" sz="1050" u="none" cap="none" strike="noStrike">
              <a:solidFill>
                <a:schemeClr val="dk1"/>
              </a:solidFill>
              <a:latin typeface="Calibri"/>
              <a:ea typeface="Calibri"/>
              <a:cs typeface="Calibri"/>
              <a:sym typeface="Calibri"/>
            </a:endParaRPr>
          </a:p>
        </p:txBody>
      </p:sp>
      <p:sp>
        <p:nvSpPr>
          <p:cNvPr id="190" name="Google Shape;190;p8"/>
          <p:cNvSpPr/>
          <p:nvPr/>
        </p:nvSpPr>
        <p:spPr>
          <a:xfrm>
            <a:off x="457200" y="4197096"/>
            <a:ext cx="182880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Physical servers</a:t>
            </a:r>
            <a:endParaRPr b="0" i="0" sz="1050" u="none" cap="none" strike="noStrike">
              <a:solidFill>
                <a:schemeClr val="dk1"/>
              </a:solidFill>
              <a:latin typeface="Calibri"/>
              <a:ea typeface="Calibri"/>
              <a:cs typeface="Calibri"/>
              <a:sym typeface="Calibri"/>
            </a:endParaRPr>
          </a:p>
        </p:txBody>
      </p:sp>
      <p:sp>
        <p:nvSpPr>
          <p:cNvPr id="191" name="Google Shape;191;p8"/>
          <p:cNvSpPr/>
          <p:nvPr/>
        </p:nvSpPr>
        <p:spPr>
          <a:xfrm>
            <a:off x="457200" y="4727448"/>
            <a:ext cx="1828800" cy="5303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Networking &amp; DC</a:t>
            </a:r>
            <a:endParaRPr b="0" i="0" sz="1050" u="none" cap="none" strike="noStrike">
              <a:solidFill>
                <a:schemeClr val="dk1"/>
              </a:solidFill>
              <a:latin typeface="Calibri"/>
              <a:ea typeface="Calibri"/>
              <a:cs typeface="Calibri"/>
              <a:sym typeface="Calibri"/>
            </a:endParaRPr>
          </a:p>
        </p:txBody>
      </p:sp>
      <p:sp>
        <p:nvSpPr>
          <p:cNvPr id="192" name="Google Shape;192;p8"/>
          <p:cNvSpPr/>
          <p:nvPr/>
        </p:nvSpPr>
        <p:spPr>
          <a:xfrm>
            <a:off x="2377440" y="1600200"/>
            <a:ext cx="1828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On-prem</a:t>
            </a:r>
            <a:endParaRPr b="0" i="0" sz="1350" u="none" cap="none" strike="noStrike">
              <a:solidFill>
                <a:schemeClr val="dk1"/>
              </a:solidFill>
              <a:latin typeface="Calibri"/>
              <a:ea typeface="Calibri"/>
              <a:cs typeface="Calibri"/>
              <a:sym typeface="Calibri"/>
            </a:endParaRPr>
          </a:p>
        </p:txBody>
      </p:sp>
      <p:sp>
        <p:nvSpPr>
          <p:cNvPr id="193" name="Google Shape;193;p8"/>
          <p:cNvSpPr/>
          <p:nvPr/>
        </p:nvSpPr>
        <p:spPr>
          <a:xfrm>
            <a:off x="2377440" y="2112264"/>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2377440" y="211226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195" name="Google Shape;195;p8"/>
          <p:cNvSpPr/>
          <p:nvPr/>
        </p:nvSpPr>
        <p:spPr>
          <a:xfrm>
            <a:off x="2377440" y="2642616"/>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2377440" y="2642616"/>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197" name="Google Shape;197;p8"/>
          <p:cNvSpPr/>
          <p:nvPr/>
        </p:nvSpPr>
        <p:spPr>
          <a:xfrm>
            <a:off x="2377440" y="3172968"/>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2377440" y="3172968"/>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199" name="Google Shape;199;p8"/>
          <p:cNvSpPr/>
          <p:nvPr/>
        </p:nvSpPr>
        <p:spPr>
          <a:xfrm>
            <a:off x="2377440" y="3703320"/>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2377440" y="3703320"/>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01" name="Google Shape;201;p8"/>
          <p:cNvSpPr/>
          <p:nvPr/>
        </p:nvSpPr>
        <p:spPr>
          <a:xfrm>
            <a:off x="2377440" y="4233672"/>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2377440" y="4233672"/>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03" name="Google Shape;203;p8"/>
          <p:cNvSpPr/>
          <p:nvPr/>
        </p:nvSpPr>
        <p:spPr>
          <a:xfrm>
            <a:off x="2377440" y="4764024"/>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2377440" y="476402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05" name="Google Shape;205;p8"/>
          <p:cNvSpPr/>
          <p:nvPr/>
        </p:nvSpPr>
        <p:spPr>
          <a:xfrm>
            <a:off x="2377440" y="5330952"/>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Your rack</a:t>
            </a:r>
            <a:endParaRPr b="0" i="0" sz="1000" u="none" cap="none" strike="noStrike">
              <a:solidFill>
                <a:schemeClr val="dk1"/>
              </a:solidFill>
              <a:latin typeface="Calibri"/>
              <a:ea typeface="Calibri"/>
              <a:cs typeface="Calibri"/>
              <a:sym typeface="Calibri"/>
            </a:endParaRPr>
          </a:p>
        </p:txBody>
      </p:sp>
      <p:sp>
        <p:nvSpPr>
          <p:cNvPr id="206" name="Google Shape;206;p8"/>
          <p:cNvSpPr/>
          <p:nvPr/>
        </p:nvSpPr>
        <p:spPr>
          <a:xfrm>
            <a:off x="4334256" y="1600200"/>
            <a:ext cx="1828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IaaS</a:t>
            </a:r>
            <a:endParaRPr b="0" i="0" sz="1350" u="none" cap="none" strike="noStrike">
              <a:solidFill>
                <a:schemeClr val="dk1"/>
              </a:solidFill>
              <a:latin typeface="Calibri"/>
              <a:ea typeface="Calibri"/>
              <a:cs typeface="Calibri"/>
              <a:sym typeface="Calibri"/>
            </a:endParaRPr>
          </a:p>
        </p:txBody>
      </p:sp>
      <p:sp>
        <p:nvSpPr>
          <p:cNvPr id="207" name="Google Shape;207;p8"/>
          <p:cNvSpPr/>
          <p:nvPr/>
        </p:nvSpPr>
        <p:spPr>
          <a:xfrm>
            <a:off x="4334256" y="2112264"/>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4334256" y="211226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09" name="Google Shape;209;p8"/>
          <p:cNvSpPr/>
          <p:nvPr/>
        </p:nvSpPr>
        <p:spPr>
          <a:xfrm>
            <a:off x="4334256" y="2642616"/>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4334256" y="2642616"/>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11" name="Google Shape;211;p8"/>
          <p:cNvSpPr/>
          <p:nvPr/>
        </p:nvSpPr>
        <p:spPr>
          <a:xfrm>
            <a:off x="4334256" y="3172968"/>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4334256" y="3172968"/>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13" name="Google Shape;213;p8"/>
          <p:cNvSpPr/>
          <p:nvPr/>
        </p:nvSpPr>
        <p:spPr>
          <a:xfrm>
            <a:off x="4334256" y="3703320"/>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4334256" y="3703320"/>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15" name="Google Shape;215;p8"/>
          <p:cNvSpPr/>
          <p:nvPr/>
        </p:nvSpPr>
        <p:spPr>
          <a:xfrm>
            <a:off x="4334256" y="4233672"/>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4334256" y="4233672"/>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17" name="Google Shape;217;p8"/>
          <p:cNvSpPr/>
          <p:nvPr/>
        </p:nvSpPr>
        <p:spPr>
          <a:xfrm>
            <a:off x="4334256" y="4764024"/>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4334256" y="476402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19" name="Google Shape;219;p8"/>
          <p:cNvSpPr/>
          <p:nvPr/>
        </p:nvSpPr>
        <p:spPr>
          <a:xfrm>
            <a:off x="4334256" y="5330952"/>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EC2</a:t>
            </a:r>
            <a:endParaRPr b="0" i="0" sz="1000" u="none" cap="none" strike="noStrike">
              <a:solidFill>
                <a:schemeClr val="dk1"/>
              </a:solidFill>
              <a:latin typeface="Calibri"/>
              <a:ea typeface="Calibri"/>
              <a:cs typeface="Calibri"/>
              <a:sym typeface="Calibri"/>
            </a:endParaRPr>
          </a:p>
        </p:txBody>
      </p:sp>
      <p:sp>
        <p:nvSpPr>
          <p:cNvPr id="220" name="Google Shape;220;p8"/>
          <p:cNvSpPr/>
          <p:nvPr/>
        </p:nvSpPr>
        <p:spPr>
          <a:xfrm>
            <a:off x="6291072" y="1600200"/>
            <a:ext cx="1828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PaaS / CaaS</a:t>
            </a:r>
            <a:endParaRPr b="0" i="0" sz="1350" u="none" cap="none" strike="noStrike">
              <a:solidFill>
                <a:schemeClr val="dk1"/>
              </a:solidFill>
              <a:latin typeface="Calibri"/>
              <a:ea typeface="Calibri"/>
              <a:cs typeface="Calibri"/>
              <a:sym typeface="Calibri"/>
            </a:endParaRPr>
          </a:p>
        </p:txBody>
      </p:sp>
      <p:sp>
        <p:nvSpPr>
          <p:cNvPr id="221" name="Google Shape;221;p8"/>
          <p:cNvSpPr/>
          <p:nvPr/>
        </p:nvSpPr>
        <p:spPr>
          <a:xfrm>
            <a:off x="6291072" y="2112264"/>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6291072" y="211226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23" name="Google Shape;223;p8"/>
          <p:cNvSpPr/>
          <p:nvPr/>
        </p:nvSpPr>
        <p:spPr>
          <a:xfrm>
            <a:off x="6291072" y="2642616"/>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6291072" y="2642616"/>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25" name="Google Shape;225;p8"/>
          <p:cNvSpPr/>
          <p:nvPr/>
        </p:nvSpPr>
        <p:spPr>
          <a:xfrm>
            <a:off x="6291072" y="3172968"/>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6291072" y="3172968"/>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27" name="Google Shape;227;p8"/>
          <p:cNvSpPr/>
          <p:nvPr/>
        </p:nvSpPr>
        <p:spPr>
          <a:xfrm>
            <a:off x="6291072" y="3703320"/>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6291072" y="3703320"/>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29" name="Google Shape;229;p8"/>
          <p:cNvSpPr/>
          <p:nvPr/>
        </p:nvSpPr>
        <p:spPr>
          <a:xfrm>
            <a:off x="6291072" y="4233672"/>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6291072" y="4233672"/>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31" name="Google Shape;231;p8"/>
          <p:cNvSpPr/>
          <p:nvPr/>
        </p:nvSpPr>
        <p:spPr>
          <a:xfrm>
            <a:off x="6291072" y="4764024"/>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6291072" y="476402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33" name="Google Shape;233;p8"/>
          <p:cNvSpPr/>
          <p:nvPr/>
        </p:nvSpPr>
        <p:spPr>
          <a:xfrm>
            <a:off x="6291072" y="5330952"/>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EKS · Beanstalk</a:t>
            </a:r>
            <a:endParaRPr b="0" i="0" sz="1000" u="none" cap="none" strike="noStrike">
              <a:solidFill>
                <a:schemeClr val="dk1"/>
              </a:solidFill>
              <a:latin typeface="Calibri"/>
              <a:ea typeface="Calibri"/>
              <a:cs typeface="Calibri"/>
              <a:sym typeface="Calibri"/>
            </a:endParaRPr>
          </a:p>
        </p:txBody>
      </p:sp>
      <p:sp>
        <p:nvSpPr>
          <p:cNvPr id="234" name="Google Shape;234;p8"/>
          <p:cNvSpPr/>
          <p:nvPr/>
        </p:nvSpPr>
        <p:spPr>
          <a:xfrm>
            <a:off x="8247888" y="1600200"/>
            <a:ext cx="1828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FaaS</a:t>
            </a:r>
            <a:endParaRPr b="0" i="0" sz="1350" u="none" cap="none" strike="noStrike">
              <a:solidFill>
                <a:schemeClr val="dk1"/>
              </a:solidFill>
              <a:latin typeface="Calibri"/>
              <a:ea typeface="Calibri"/>
              <a:cs typeface="Calibri"/>
              <a:sym typeface="Calibri"/>
            </a:endParaRPr>
          </a:p>
        </p:txBody>
      </p:sp>
      <p:sp>
        <p:nvSpPr>
          <p:cNvPr id="235" name="Google Shape;235;p8"/>
          <p:cNvSpPr/>
          <p:nvPr/>
        </p:nvSpPr>
        <p:spPr>
          <a:xfrm>
            <a:off x="8247888" y="2112264"/>
            <a:ext cx="1828800" cy="448056"/>
          </a:xfrm>
          <a:prstGeom prst="roundRect">
            <a:avLst>
              <a:gd fmla="val 12245" name="adj"/>
            </a:avLst>
          </a:prstGeom>
          <a:solidFill>
            <a:srgbClr val="3A2210"/>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8247888" y="211226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950"/>
              <a:buFont typeface="Courier New"/>
              <a:buNone/>
            </a:pPr>
            <a:r>
              <a:rPr b="0" i="0" lang="en-US" sz="950" u="none" cap="none" strike="noStrike">
                <a:solidFill>
                  <a:srgbClr val="F97316"/>
                </a:solidFill>
                <a:latin typeface="Courier New"/>
                <a:ea typeface="Courier New"/>
                <a:cs typeface="Courier New"/>
                <a:sym typeface="Courier New"/>
              </a:rPr>
              <a:t>You</a:t>
            </a:r>
            <a:endParaRPr b="0" i="0" sz="950" u="none" cap="none" strike="noStrike">
              <a:solidFill>
                <a:schemeClr val="dk1"/>
              </a:solidFill>
              <a:latin typeface="Calibri"/>
              <a:ea typeface="Calibri"/>
              <a:cs typeface="Calibri"/>
              <a:sym typeface="Calibri"/>
            </a:endParaRPr>
          </a:p>
        </p:txBody>
      </p:sp>
      <p:sp>
        <p:nvSpPr>
          <p:cNvPr id="237" name="Google Shape;237;p8"/>
          <p:cNvSpPr/>
          <p:nvPr/>
        </p:nvSpPr>
        <p:spPr>
          <a:xfrm>
            <a:off x="8247888" y="2642616"/>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8247888" y="2642616"/>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39" name="Google Shape;239;p8"/>
          <p:cNvSpPr/>
          <p:nvPr/>
        </p:nvSpPr>
        <p:spPr>
          <a:xfrm>
            <a:off x="8247888" y="3172968"/>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8247888" y="3172968"/>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41" name="Google Shape;241;p8"/>
          <p:cNvSpPr/>
          <p:nvPr/>
        </p:nvSpPr>
        <p:spPr>
          <a:xfrm>
            <a:off x="8247888" y="3703320"/>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8247888" y="3703320"/>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43" name="Google Shape;243;p8"/>
          <p:cNvSpPr/>
          <p:nvPr/>
        </p:nvSpPr>
        <p:spPr>
          <a:xfrm>
            <a:off x="8247888" y="4233672"/>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8247888" y="4233672"/>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45" name="Google Shape;245;p8"/>
          <p:cNvSpPr/>
          <p:nvPr/>
        </p:nvSpPr>
        <p:spPr>
          <a:xfrm>
            <a:off x="8247888" y="4764024"/>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8247888" y="476402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47" name="Google Shape;247;p8"/>
          <p:cNvSpPr/>
          <p:nvPr/>
        </p:nvSpPr>
        <p:spPr>
          <a:xfrm>
            <a:off x="8247888" y="5330952"/>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Lambda</a:t>
            </a:r>
            <a:endParaRPr b="0" i="0" sz="1000" u="none" cap="none" strike="noStrike">
              <a:solidFill>
                <a:schemeClr val="dk1"/>
              </a:solidFill>
              <a:latin typeface="Calibri"/>
              <a:ea typeface="Calibri"/>
              <a:cs typeface="Calibri"/>
              <a:sym typeface="Calibri"/>
            </a:endParaRPr>
          </a:p>
        </p:txBody>
      </p:sp>
      <p:sp>
        <p:nvSpPr>
          <p:cNvPr id="248" name="Google Shape;248;p8"/>
          <p:cNvSpPr/>
          <p:nvPr/>
        </p:nvSpPr>
        <p:spPr>
          <a:xfrm>
            <a:off x="10204704" y="1600200"/>
            <a:ext cx="1828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SaaS</a:t>
            </a:r>
            <a:endParaRPr b="0" i="0" sz="1350" u="none" cap="none" strike="noStrike">
              <a:solidFill>
                <a:schemeClr val="dk1"/>
              </a:solidFill>
              <a:latin typeface="Calibri"/>
              <a:ea typeface="Calibri"/>
              <a:cs typeface="Calibri"/>
              <a:sym typeface="Calibri"/>
            </a:endParaRPr>
          </a:p>
        </p:txBody>
      </p:sp>
      <p:sp>
        <p:nvSpPr>
          <p:cNvPr id="249" name="Google Shape;249;p8"/>
          <p:cNvSpPr/>
          <p:nvPr/>
        </p:nvSpPr>
        <p:spPr>
          <a:xfrm>
            <a:off x="10204704" y="2112264"/>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10204704" y="211226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51" name="Google Shape;251;p8"/>
          <p:cNvSpPr/>
          <p:nvPr/>
        </p:nvSpPr>
        <p:spPr>
          <a:xfrm>
            <a:off x="10204704" y="2642616"/>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10204704" y="2642616"/>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53" name="Google Shape;253;p8"/>
          <p:cNvSpPr/>
          <p:nvPr/>
        </p:nvSpPr>
        <p:spPr>
          <a:xfrm>
            <a:off x="10204704" y="3172968"/>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10204704" y="3172968"/>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55" name="Google Shape;255;p8"/>
          <p:cNvSpPr/>
          <p:nvPr/>
        </p:nvSpPr>
        <p:spPr>
          <a:xfrm>
            <a:off x="10204704" y="3703320"/>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10204704" y="3703320"/>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57" name="Google Shape;257;p8"/>
          <p:cNvSpPr/>
          <p:nvPr/>
        </p:nvSpPr>
        <p:spPr>
          <a:xfrm>
            <a:off x="10204704" y="4233672"/>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10204704" y="4233672"/>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59" name="Google Shape;259;p8"/>
          <p:cNvSpPr/>
          <p:nvPr/>
        </p:nvSpPr>
        <p:spPr>
          <a:xfrm>
            <a:off x="10204704" y="4764024"/>
            <a:ext cx="1828800" cy="448056"/>
          </a:xfrm>
          <a:prstGeom prst="roundRect">
            <a:avLst>
              <a:gd fmla="val 12245" name="adj"/>
            </a:avLst>
          </a:prstGeom>
          <a:solidFill>
            <a:srgbClr val="0E2A26"/>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10204704" y="4764024"/>
            <a:ext cx="1828800" cy="448056"/>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Provider</a:t>
            </a:r>
            <a:endParaRPr b="0" i="0" sz="950" u="none" cap="none" strike="noStrike">
              <a:solidFill>
                <a:schemeClr val="dk1"/>
              </a:solidFill>
              <a:latin typeface="Calibri"/>
              <a:ea typeface="Calibri"/>
              <a:cs typeface="Calibri"/>
              <a:sym typeface="Calibri"/>
            </a:endParaRPr>
          </a:p>
        </p:txBody>
      </p:sp>
      <p:sp>
        <p:nvSpPr>
          <p:cNvPr id="261" name="Google Shape;261;p8"/>
          <p:cNvSpPr/>
          <p:nvPr/>
        </p:nvSpPr>
        <p:spPr>
          <a:xfrm>
            <a:off x="10204704" y="5330952"/>
            <a:ext cx="18288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Gmail</a:t>
            </a:r>
            <a:endParaRPr b="0" i="0" sz="1000" u="none" cap="none" strike="noStrike">
              <a:solidFill>
                <a:schemeClr val="dk1"/>
              </a:solidFill>
              <a:latin typeface="Calibri"/>
              <a:ea typeface="Calibri"/>
              <a:cs typeface="Calibri"/>
              <a:sym typeface="Calibri"/>
            </a:endParaRPr>
          </a:p>
        </p:txBody>
      </p:sp>
      <p:sp>
        <p:nvSpPr>
          <p:cNvPr id="262" name="Google Shape;262;p8"/>
          <p:cNvSpPr/>
          <p:nvPr/>
        </p:nvSpPr>
        <p:spPr>
          <a:xfrm>
            <a:off x="502920" y="5806440"/>
            <a:ext cx="11155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50"/>
              <a:buFont typeface="Calibri"/>
              <a:buNone/>
            </a:pPr>
            <a:r>
              <a:rPr b="0" i="1" lang="en-US" sz="1350" u="none" cap="none" strike="noStrike">
                <a:solidFill>
                  <a:srgbClr val="94A3B8"/>
                </a:solidFill>
                <a:latin typeface="Calibri"/>
                <a:ea typeface="Calibri"/>
                <a:cs typeface="Calibri"/>
                <a:sym typeface="Calibri"/>
              </a:rPr>
              <a:t>Moving right: less to manage, less to control, faster to ship.</a:t>
            </a:r>
            <a:endParaRPr b="0" i="0" sz="1350" u="none" cap="none" strike="noStrike">
              <a:solidFill>
                <a:schemeClr val="dk1"/>
              </a:solidFill>
              <a:latin typeface="Calibri"/>
              <a:ea typeface="Calibri"/>
              <a:cs typeface="Calibri"/>
              <a:sym typeface="Calibri"/>
            </a:endParaRPr>
          </a:p>
        </p:txBody>
      </p:sp>
      <p:sp>
        <p:nvSpPr>
          <p:cNvPr id="263" name="Google Shape;263;p8"/>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264" name="Google Shape;264;p8"/>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Service models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9" name="Shape 269"/>
        <p:cNvGrpSpPr/>
        <p:nvPr/>
      </p:nvGrpSpPr>
      <p:grpSpPr>
        <a:xfrm>
          <a:off x="0" y="0"/>
          <a:ext cx="0" cy="0"/>
          <a:chOff x="0" y="0"/>
          <a:chExt cx="0" cy="0"/>
        </a:xfrm>
      </p:grpSpPr>
      <p:sp>
        <p:nvSpPr>
          <p:cNvPr id="270" name="Google Shape;270;p9"/>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PUBLIC · PRIVATE · HYBRID</a:t>
            </a:r>
            <a:endParaRPr b="0" i="0" sz="1200" u="none" cap="none" strike="noStrike">
              <a:solidFill>
                <a:schemeClr val="dk1"/>
              </a:solidFill>
              <a:latin typeface="Calibri"/>
              <a:ea typeface="Calibri"/>
              <a:cs typeface="Calibri"/>
              <a:sym typeface="Calibri"/>
            </a:endParaRPr>
          </a:p>
        </p:txBody>
      </p:sp>
      <p:sp>
        <p:nvSpPr>
          <p:cNvPr id="271" name="Google Shape;271;p9"/>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Deployment models: where does it run?</a:t>
            </a:r>
            <a:endParaRPr b="0" i="0" sz="3000" u="none" cap="none" strike="noStrike">
              <a:solidFill>
                <a:schemeClr val="dk1"/>
              </a:solidFill>
              <a:latin typeface="Calibri"/>
              <a:ea typeface="Calibri"/>
              <a:cs typeface="Calibri"/>
              <a:sym typeface="Calibri"/>
            </a:endParaRPr>
          </a:p>
        </p:txBody>
      </p:sp>
      <p:sp>
        <p:nvSpPr>
          <p:cNvPr id="272" name="Google Shape;272;p9"/>
          <p:cNvSpPr/>
          <p:nvPr/>
        </p:nvSpPr>
        <p:spPr>
          <a:xfrm>
            <a:off x="502920" y="1554480"/>
            <a:ext cx="2697480" cy="2880360"/>
          </a:xfrm>
          <a:prstGeom prst="roundRect">
            <a:avLst>
              <a:gd fmla="val 2712"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704088" y="173736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4" name="Google Shape;274;p9"/>
          <p:cNvPicPr preferRelativeResize="0"/>
          <p:nvPr/>
        </p:nvPicPr>
        <p:blipFill rotWithShape="1">
          <a:blip r:embed="rId3">
            <a:alphaModFix/>
          </a:blip>
          <a:srcRect b="0" l="0" r="0" t="0"/>
          <a:stretch/>
        </p:blipFill>
        <p:spPr>
          <a:xfrm>
            <a:off x="822960" y="1856232"/>
            <a:ext cx="237744" cy="237744"/>
          </a:xfrm>
          <a:prstGeom prst="rect">
            <a:avLst/>
          </a:prstGeom>
          <a:noFill/>
          <a:ln>
            <a:noFill/>
          </a:ln>
        </p:spPr>
      </p:pic>
      <p:sp>
        <p:nvSpPr>
          <p:cNvPr id="275" name="Google Shape;275;p9"/>
          <p:cNvSpPr/>
          <p:nvPr/>
        </p:nvSpPr>
        <p:spPr>
          <a:xfrm>
            <a:off x="1307592" y="170078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Public cloud</a:t>
            </a:r>
            <a:endParaRPr b="0" i="0" sz="1450" u="none" cap="none" strike="noStrike">
              <a:solidFill>
                <a:schemeClr val="dk1"/>
              </a:solidFill>
              <a:latin typeface="Calibri"/>
              <a:ea typeface="Calibri"/>
              <a:cs typeface="Calibri"/>
              <a:sym typeface="Calibri"/>
            </a:endParaRPr>
          </a:p>
        </p:txBody>
      </p:sp>
      <p:sp>
        <p:nvSpPr>
          <p:cNvPr id="276" name="Google Shape;276;p9"/>
          <p:cNvSpPr/>
          <p:nvPr/>
        </p:nvSpPr>
        <p:spPr>
          <a:xfrm>
            <a:off x="722376" y="2331720"/>
            <a:ext cx="2258568" cy="1965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Shared provider infrastructure — AWS, Azure, GCP. Fastest start, global reach, pure OpEx.</a:t>
            </a:r>
            <a:endParaRPr b="0" i="0" sz="1200" u="none" cap="none" strike="noStrike">
              <a:solidFill>
                <a:schemeClr val="dk1"/>
              </a:solidFill>
              <a:latin typeface="Calibri"/>
              <a:ea typeface="Calibri"/>
              <a:cs typeface="Calibri"/>
              <a:sym typeface="Calibri"/>
            </a:endParaRPr>
          </a:p>
        </p:txBody>
      </p:sp>
      <p:sp>
        <p:nvSpPr>
          <p:cNvPr id="277" name="Google Shape;277;p9"/>
          <p:cNvSpPr/>
          <p:nvPr/>
        </p:nvSpPr>
        <p:spPr>
          <a:xfrm>
            <a:off x="722376" y="3776472"/>
            <a:ext cx="2258568" cy="457200"/>
          </a:xfrm>
          <a:prstGeom prst="roundRect">
            <a:avLst>
              <a:gd fmla="val 12000" name="adj"/>
            </a:avLst>
          </a:prstGeom>
          <a:solidFill>
            <a:srgbClr val="0F172A"/>
          </a:solidFill>
          <a:ln cap="flat" cmpd="sng" w="952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722376" y="3776472"/>
            <a:ext cx="22585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Most startups &amp; this bootcamp</a:t>
            </a:r>
            <a:endParaRPr b="0" i="0" sz="950" u="none" cap="none" strike="noStrike">
              <a:solidFill>
                <a:schemeClr val="dk1"/>
              </a:solidFill>
              <a:latin typeface="Calibri"/>
              <a:ea typeface="Calibri"/>
              <a:cs typeface="Calibri"/>
              <a:sym typeface="Calibri"/>
            </a:endParaRPr>
          </a:p>
        </p:txBody>
      </p:sp>
      <p:sp>
        <p:nvSpPr>
          <p:cNvPr id="279" name="Google Shape;279;p9"/>
          <p:cNvSpPr/>
          <p:nvPr/>
        </p:nvSpPr>
        <p:spPr>
          <a:xfrm>
            <a:off x="3374136" y="1554480"/>
            <a:ext cx="2697480" cy="2880360"/>
          </a:xfrm>
          <a:prstGeom prst="roundRect">
            <a:avLst>
              <a:gd fmla="val 2712"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3575304" y="1737360"/>
            <a:ext cx="475488" cy="475488"/>
          </a:xfrm>
          <a:prstGeom prst="ellipse">
            <a:avLst/>
          </a:prstGeom>
          <a:solidFill>
            <a:srgbClr val="0F172A"/>
          </a:solidFill>
          <a:ln cap="flat" cmpd="sng" w="1587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1" name="Google Shape;281;p9"/>
          <p:cNvPicPr preferRelativeResize="0"/>
          <p:nvPr/>
        </p:nvPicPr>
        <p:blipFill rotWithShape="1">
          <a:blip r:embed="rId4">
            <a:alphaModFix/>
          </a:blip>
          <a:srcRect b="0" l="0" r="0" t="0"/>
          <a:stretch/>
        </p:blipFill>
        <p:spPr>
          <a:xfrm>
            <a:off x="3694176" y="1856232"/>
            <a:ext cx="237744" cy="237744"/>
          </a:xfrm>
          <a:prstGeom prst="rect">
            <a:avLst/>
          </a:prstGeom>
          <a:noFill/>
          <a:ln>
            <a:noFill/>
          </a:ln>
        </p:spPr>
      </p:pic>
      <p:sp>
        <p:nvSpPr>
          <p:cNvPr id="282" name="Google Shape;282;p9"/>
          <p:cNvSpPr/>
          <p:nvPr/>
        </p:nvSpPr>
        <p:spPr>
          <a:xfrm>
            <a:off x="4178808" y="170078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Private cloud</a:t>
            </a:r>
            <a:endParaRPr b="0" i="0" sz="1450" u="none" cap="none" strike="noStrike">
              <a:solidFill>
                <a:schemeClr val="dk1"/>
              </a:solidFill>
              <a:latin typeface="Calibri"/>
              <a:ea typeface="Calibri"/>
              <a:cs typeface="Calibri"/>
              <a:sym typeface="Calibri"/>
            </a:endParaRPr>
          </a:p>
        </p:txBody>
      </p:sp>
      <p:sp>
        <p:nvSpPr>
          <p:cNvPr id="283" name="Google Shape;283;p9"/>
          <p:cNvSpPr/>
          <p:nvPr/>
        </p:nvSpPr>
        <p:spPr>
          <a:xfrm>
            <a:off x="3593592" y="2331720"/>
            <a:ext cx="2258568" cy="1965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Cloud-style self-service on hardware only you use — on-prem OpenStack or dedicated hosts.</a:t>
            </a:r>
            <a:endParaRPr b="0" i="0" sz="1200" u="none" cap="none" strike="noStrike">
              <a:solidFill>
                <a:schemeClr val="dk1"/>
              </a:solidFill>
              <a:latin typeface="Calibri"/>
              <a:ea typeface="Calibri"/>
              <a:cs typeface="Calibri"/>
              <a:sym typeface="Calibri"/>
            </a:endParaRPr>
          </a:p>
        </p:txBody>
      </p:sp>
      <p:sp>
        <p:nvSpPr>
          <p:cNvPr id="284" name="Google Shape;284;p9"/>
          <p:cNvSpPr/>
          <p:nvPr/>
        </p:nvSpPr>
        <p:spPr>
          <a:xfrm>
            <a:off x="3593592" y="3776472"/>
            <a:ext cx="2258568" cy="457200"/>
          </a:xfrm>
          <a:prstGeom prst="roundRect">
            <a:avLst>
              <a:gd fmla="val 12000" name="adj"/>
            </a:avLst>
          </a:prstGeom>
          <a:solidFill>
            <a:srgbClr val="0F172A"/>
          </a:solidFill>
          <a:ln cap="flat" cmpd="sng" w="952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3593592" y="3776472"/>
            <a:ext cx="22585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78BFA"/>
              </a:buClr>
              <a:buSzPts val="950"/>
              <a:buFont typeface="Courier New"/>
              <a:buNone/>
            </a:pPr>
            <a:r>
              <a:rPr b="0" i="0" lang="en-US" sz="950" u="none" cap="none" strike="noStrike">
                <a:solidFill>
                  <a:srgbClr val="A78BFA"/>
                </a:solidFill>
                <a:latin typeface="Courier New"/>
                <a:ea typeface="Courier New"/>
                <a:cs typeface="Courier New"/>
                <a:sym typeface="Courier New"/>
              </a:rPr>
              <a:t>Banks, telcos, governments</a:t>
            </a:r>
            <a:endParaRPr b="0" i="0" sz="950" u="none" cap="none" strike="noStrike">
              <a:solidFill>
                <a:schemeClr val="dk1"/>
              </a:solidFill>
              <a:latin typeface="Calibri"/>
              <a:ea typeface="Calibri"/>
              <a:cs typeface="Calibri"/>
              <a:sym typeface="Calibri"/>
            </a:endParaRPr>
          </a:p>
        </p:txBody>
      </p:sp>
      <p:sp>
        <p:nvSpPr>
          <p:cNvPr id="286" name="Google Shape;286;p9"/>
          <p:cNvSpPr/>
          <p:nvPr/>
        </p:nvSpPr>
        <p:spPr>
          <a:xfrm>
            <a:off x="6245352" y="1554480"/>
            <a:ext cx="2697480" cy="2880360"/>
          </a:xfrm>
          <a:prstGeom prst="roundRect">
            <a:avLst>
              <a:gd fmla="val 2712"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6446520" y="173736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8" name="Google Shape;288;p9"/>
          <p:cNvPicPr preferRelativeResize="0"/>
          <p:nvPr/>
        </p:nvPicPr>
        <p:blipFill rotWithShape="1">
          <a:blip r:embed="rId5">
            <a:alphaModFix/>
          </a:blip>
          <a:srcRect b="0" l="0" r="0" t="0"/>
          <a:stretch/>
        </p:blipFill>
        <p:spPr>
          <a:xfrm>
            <a:off x="6565392" y="1856232"/>
            <a:ext cx="237744" cy="237744"/>
          </a:xfrm>
          <a:prstGeom prst="rect">
            <a:avLst/>
          </a:prstGeom>
          <a:noFill/>
          <a:ln>
            <a:noFill/>
          </a:ln>
        </p:spPr>
      </p:pic>
      <p:sp>
        <p:nvSpPr>
          <p:cNvPr id="289" name="Google Shape;289;p9"/>
          <p:cNvSpPr/>
          <p:nvPr/>
        </p:nvSpPr>
        <p:spPr>
          <a:xfrm>
            <a:off x="7050024" y="170078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Hybrid</a:t>
            </a:r>
            <a:endParaRPr b="0" i="0" sz="1450" u="none" cap="none" strike="noStrike">
              <a:solidFill>
                <a:schemeClr val="dk1"/>
              </a:solidFill>
              <a:latin typeface="Calibri"/>
              <a:ea typeface="Calibri"/>
              <a:cs typeface="Calibri"/>
              <a:sym typeface="Calibri"/>
            </a:endParaRPr>
          </a:p>
        </p:txBody>
      </p:sp>
      <p:sp>
        <p:nvSpPr>
          <p:cNvPr id="290" name="Google Shape;290;p9"/>
          <p:cNvSpPr/>
          <p:nvPr/>
        </p:nvSpPr>
        <p:spPr>
          <a:xfrm>
            <a:off x="6464808" y="2331720"/>
            <a:ext cx="2258568" cy="1965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Private + public working together. Sensitive data stays home; burst workloads go public.</a:t>
            </a:r>
            <a:endParaRPr b="0" i="0" sz="1200" u="none" cap="none" strike="noStrike">
              <a:solidFill>
                <a:schemeClr val="dk1"/>
              </a:solidFill>
              <a:latin typeface="Calibri"/>
              <a:ea typeface="Calibri"/>
              <a:cs typeface="Calibri"/>
              <a:sym typeface="Calibri"/>
            </a:endParaRPr>
          </a:p>
        </p:txBody>
      </p:sp>
      <p:sp>
        <p:nvSpPr>
          <p:cNvPr id="291" name="Google Shape;291;p9"/>
          <p:cNvSpPr/>
          <p:nvPr/>
        </p:nvSpPr>
        <p:spPr>
          <a:xfrm>
            <a:off x="6464808" y="3776472"/>
            <a:ext cx="2258568" cy="457200"/>
          </a:xfrm>
          <a:prstGeom prst="roundRect">
            <a:avLst>
              <a:gd fmla="val 12000" name="adj"/>
            </a:avLst>
          </a:prstGeom>
          <a:solidFill>
            <a:srgbClr val="0F172A"/>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6464808" y="3776472"/>
            <a:ext cx="22585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950"/>
              <a:buFont typeface="Courier New"/>
              <a:buNone/>
            </a:pPr>
            <a:r>
              <a:rPr b="0" i="0" lang="en-US" sz="950" u="none" cap="none" strike="noStrike">
                <a:solidFill>
                  <a:srgbClr val="FF9900"/>
                </a:solidFill>
                <a:latin typeface="Courier New"/>
                <a:ea typeface="Courier New"/>
                <a:cs typeface="Courier New"/>
                <a:sym typeface="Courier New"/>
              </a:rPr>
              <a:t>Regulated firms modernizing</a:t>
            </a:r>
            <a:endParaRPr b="0" i="0" sz="950" u="none" cap="none" strike="noStrike">
              <a:solidFill>
                <a:schemeClr val="dk1"/>
              </a:solidFill>
              <a:latin typeface="Calibri"/>
              <a:ea typeface="Calibri"/>
              <a:cs typeface="Calibri"/>
              <a:sym typeface="Calibri"/>
            </a:endParaRPr>
          </a:p>
        </p:txBody>
      </p:sp>
      <p:sp>
        <p:nvSpPr>
          <p:cNvPr id="293" name="Google Shape;293;p9"/>
          <p:cNvSpPr/>
          <p:nvPr/>
        </p:nvSpPr>
        <p:spPr>
          <a:xfrm>
            <a:off x="9116568" y="1554480"/>
            <a:ext cx="2697480" cy="2880360"/>
          </a:xfrm>
          <a:prstGeom prst="roundRect">
            <a:avLst>
              <a:gd fmla="val 2712"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9317736" y="1737360"/>
            <a:ext cx="475488" cy="475488"/>
          </a:xfrm>
          <a:prstGeom prst="ellipse">
            <a:avLst/>
          </a:prstGeom>
          <a:solidFill>
            <a:srgbClr val="0F172A"/>
          </a:solidFill>
          <a:ln cap="flat" cmpd="sng" w="15875">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5" name="Google Shape;295;p9"/>
          <p:cNvPicPr preferRelativeResize="0"/>
          <p:nvPr/>
        </p:nvPicPr>
        <p:blipFill rotWithShape="1">
          <a:blip r:embed="rId6">
            <a:alphaModFix/>
          </a:blip>
          <a:srcRect b="0" l="0" r="0" t="0"/>
          <a:stretch/>
        </p:blipFill>
        <p:spPr>
          <a:xfrm>
            <a:off x="9436608" y="1856232"/>
            <a:ext cx="237744" cy="237744"/>
          </a:xfrm>
          <a:prstGeom prst="rect">
            <a:avLst/>
          </a:prstGeom>
          <a:noFill/>
          <a:ln>
            <a:noFill/>
          </a:ln>
        </p:spPr>
      </p:pic>
      <p:sp>
        <p:nvSpPr>
          <p:cNvPr id="296" name="Google Shape;296;p9"/>
          <p:cNvSpPr/>
          <p:nvPr/>
        </p:nvSpPr>
        <p:spPr>
          <a:xfrm>
            <a:off x="9921240" y="170078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Multi-cloud</a:t>
            </a:r>
            <a:endParaRPr b="0" i="0" sz="1450" u="none" cap="none" strike="noStrike">
              <a:solidFill>
                <a:schemeClr val="dk1"/>
              </a:solidFill>
              <a:latin typeface="Calibri"/>
              <a:ea typeface="Calibri"/>
              <a:cs typeface="Calibri"/>
              <a:sym typeface="Calibri"/>
            </a:endParaRPr>
          </a:p>
        </p:txBody>
      </p:sp>
      <p:sp>
        <p:nvSpPr>
          <p:cNvPr id="297" name="Google Shape;297;p9"/>
          <p:cNvSpPr/>
          <p:nvPr/>
        </p:nvSpPr>
        <p:spPr>
          <a:xfrm>
            <a:off x="9336024" y="2331720"/>
            <a:ext cx="2258568" cy="1965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Two or more public providers — for leverage, resilience, or acquisitions. Costs real complexity.</a:t>
            </a:r>
            <a:endParaRPr b="0" i="0" sz="1200" u="none" cap="none" strike="noStrike">
              <a:solidFill>
                <a:schemeClr val="dk1"/>
              </a:solidFill>
              <a:latin typeface="Calibri"/>
              <a:ea typeface="Calibri"/>
              <a:cs typeface="Calibri"/>
              <a:sym typeface="Calibri"/>
            </a:endParaRPr>
          </a:p>
        </p:txBody>
      </p:sp>
      <p:sp>
        <p:nvSpPr>
          <p:cNvPr id="298" name="Google Shape;298;p9"/>
          <p:cNvSpPr/>
          <p:nvPr/>
        </p:nvSpPr>
        <p:spPr>
          <a:xfrm>
            <a:off x="9336024" y="3776472"/>
            <a:ext cx="2258568" cy="457200"/>
          </a:xfrm>
          <a:prstGeom prst="roundRect">
            <a:avLst>
              <a:gd fmla="val 12000" name="adj"/>
            </a:avLst>
          </a:prstGeom>
          <a:solidFill>
            <a:srgbClr val="0F172A"/>
          </a:solidFill>
          <a:ln cap="flat" cmpd="sng" w="9525">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p:nvPr/>
        </p:nvSpPr>
        <p:spPr>
          <a:xfrm>
            <a:off x="9336024" y="3776472"/>
            <a:ext cx="22585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950"/>
              <a:buFont typeface="Courier New"/>
              <a:buNone/>
            </a:pPr>
            <a:r>
              <a:rPr b="0" i="0" lang="en-US" sz="950" u="none" cap="none" strike="noStrike">
                <a:solidFill>
                  <a:srgbClr val="FBBF24"/>
                </a:solidFill>
                <a:latin typeface="Courier New"/>
                <a:ea typeface="Courier New"/>
                <a:cs typeface="Courier New"/>
                <a:sym typeface="Courier New"/>
              </a:rPr>
              <a:t>Large enterprises</a:t>
            </a:r>
            <a:endParaRPr b="0" i="0" sz="950" u="none" cap="none" strike="noStrike">
              <a:solidFill>
                <a:schemeClr val="dk1"/>
              </a:solidFill>
              <a:latin typeface="Calibri"/>
              <a:ea typeface="Calibri"/>
              <a:cs typeface="Calibri"/>
              <a:sym typeface="Calibri"/>
            </a:endParaRPr>
          </a:p>
        </p:txBody>
      </p:sp>
      <p:sp>
        <p:nvSpPr>
          <p:cNvPr id="300" name="Google Shape;300;p9"/>
          <p:cNvSpPr/>
          <p:nvPr/>
        </p:nvSpPr>
        <p:spPr>
          <a:xfrm>
            <a:off x="502920" y="4800600"/>
            <a:ext cx="11183112" cy="777240"/>
          </a:xfrm>
          <a:prstGeom prst="roundRect">
            <a:avLst>
              <a:gd fmla="val 9412"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1" name="Google Shape;301;p9"/>
          <p:cNvPicPr preferRelativeResize="0"/>
          <p:nvPr/>
        </p:nvPicPr>
        <p:blipFill rotWithShape="1">
          <a:blip r:embed="rId7">
            <a:alphaModFix/>
          </a:blip>
          <a:srcRect b="0" l="0" r="0" t="0"/>
          <a:stretch/>
        </p:blipFill>
        <p:spPr>
          <a:xfrm>
            <a:off x="704088" y="5042916"/>
            <a:ext cx="292608" cy="292608"/>
          </a:xfrm>
          <a:prstGeom prst="rect">
            <a:avLst/>
          </a:prstGeom>
          <a:noFill/>
          <a:ln>
            <a:noFill/>
          </a:ln>
        </p:spPr>
      </p:pic>
      <p:sp>
        <p:nvSpPr>
          <p:cNvPr id="302" name="Google Shape;302;p9"/>
          <p:cNvSpPr/>
          <p:nvPr/>
        </p:nvSpPr>
        <p:spPr>
          <a:xfrm>
            <a:off x="1143000" y="4892040"/>
            <a:ext cx="10341864"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50"/>
              <a:buFont typeface="Calibri"/>
              <a:buNone/>
            </a:pPr>
            <a:r>
              <a:rPr b="0" i="0" lang="en-US" sz="1350" u="none" cap="none" strike="noStrike">
                <a:solidFill>
                  <a:srgbClr val="E2E8F0"/>
                </a:solidFill>
                <a:latin typeface="Calibri"/>
                <a:ea typeface="Calibri"/>
                <a:cs typeface="Calibri"/>
                <a:sym typeface="Calibri"/>
              </a:rPr>
              <a:t>Trap to avoid: “multi-cloud for portability” sounds strategic but often means paying the complexity tax of two providers while mastering neither. Pick one, go deep.</a:t>
            </a:r>
            <a:endParaRPr b="0" i="0" sz="1350" u="none" cap="none" strike="noStrike">
              <a:solidFill>
                <a:schemeClr val="dk1"/>
              </a:solidFill>
              <a:latin typeface="Calibri"/>
              <a:ea typeface="Calibri"/>
              <a:cs typeface="Calibri"/>
              <a:sym typeface="Calibri"/>
            </a:endParaRPr>
          </a:p>
        </p:txBody>
      </p:sp>
      <p:sp>
        <p:nvSpPr>
          <p:cNvPr id="303" name="Google Shape;303;p9"/>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304" name="Google Shape;304;p9"/>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Deployment models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09" name="Shape 309"/>
        <p:cNvGrpSpPr/>
        <p:nvPr/>
      </p:nvGrpSpPr>
      <p:grpSpPr>
        <a:xfrm>
          <a:off x="0" y="0"/>
          <a:ext cx="0" cy="0"/>
          <a:chOff x="0" y="0"/>
          <a:chExt cx="0" cy="0"/>
        </a:xfrm>
      </p:grpSpPr>
      <p:sp>
        <p:nvSpPr>
          <p:cNvPr id="310" name="Google Shape;310;p10"/>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Courier New"/>
              <a:buNone/>
            </a:pPr>
            <a:r>
              <a:rPr b="1" i="0" lang="en-US" sz="1200" u="none" cap="none" strike="noStrike">
                <a:solidFill>
                  <a:srgbClr val="F97316"/>
                </a:solidFill>
                <a:latin typeface="Courier New"/>
                <a:ea typeface="Courier New"/>
                <a:cs typeface="Courier New"/>
                <a:sym typeface="Courier New"/>
              </a:rPr>
              <a:t>SECURITY</a:t>
            </a:r>
            <a:endParaRPr b="0" i="0" sz="1200" u="none" cap="none" strike="noStrike">
              <a:solidFill>
                <a:schemeClr val="dk1"/>
              </a:solidFill>
              <a:latin typeface="Calibri"/>
              <a:ea typeface="Calibri"/>
              <a:cs typeface="Calibri"/>
              <a:sym typeface="Calibri"/>
            </a:endParaRPr>
          </a:p>
        </p:txBody>
      </p:sp>
      <p:sp>
        <p:nvSpPr>
          <p:cNvPr id="311" name="Google Shape;311;p10"/>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The shared responsibility model</a:t>
            </a:r>
            <a:endParaRPr b="0" i="0" sz="3000" u="none" cap="none" strike="noStrike">
              <a:solidFill>
                <a:schemeClr val="dk1"/>
              </a:solidFill>
              <a:latin typeface="Calibri"/>
              <a:ea typeface="Calibri"/>
              <a:cs typeface="Calibri"/>
              <a:sym typeface="Calibri"/>
            </a:endParaRPr>
          </a:p>
        </p:txBody>
      </p:sp>
      <p:sp>
        <p:nvSpPr>
          <p:cNvPr id="312" name="Google Shape;312;p10"/>
          <p:cNvSpPr/>
          <p:nvPr/>
        </p:nvSpPr>
        <p:spPr>
          <a:xfrm>
            <a:off x="502920" y="1463040"/>
            <a:ext cx="5486400" cy="4023360"/>
          </a:xfrm>
          <a:prstGeom prst="roundRect">
            <a:avLst>
              <a:gd fmla="val 1818" name="adj"/>
            </a:avLst>
          </a:prstGeom>
          <a:solidFill>
            <a:srgbClr val="0E2A26"/>
          </a:solidFill>
          <a:ln cap="flat" cmpd="sng" w="1905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777240" y="164592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600"/>
              <a:buFont typeface="Bookman Old Style"/>
              <a:buNone/>
            </a:pPr>
            <a:r>
              <a:rPr b="1" i="0" lang="en-US" sz="1600" u="none" cap="none" strike="noStrike">
                <a:solidFill>
                  <a:srgbClr val="2DD4BF"/>
                </a:solidFill>
                <a:latin typeface="Bookman Old Style"/>
                <a:ea typeface="Bookman Old Style"/>
                <a:cs typeface="Bookman Old Style"/>
                <a:sym typeface="Bookman Old Style"/>
              </a:rPr>
              <a:t>AWS — security OF the cloud</a:t>
            </a:r>
            <a:endParaRPr b="0" i="0" sz="1600" u="none" cap="none" strike="noStrike">
              <a:solidFill>
                <a:schemeClr val="dk1"/>
              </a:solidFill>
              <a:latin typeface="Calibri"/>
              <a:ea typeface="Calibri"/>
              <a:cs typeface="Calibri"/>
              <a:sym typeface="Calibri"/>
            </a:endParaRPr>
          </a:p>
        </p:txBody>
      </p:sp>
      <p:sp>
        <p:nvSpPr>
          <p:cNvPr id="314" name="Google Shape;314;p10"/>
          <p:cNvSpPr/>
          <p:nvPr/>
        </p:nvSpPr>
        <p:spPr>
          <a:xfrm>
            <a:off x="777240" y="2148840"/>
            <a:ext cx="4983480" cy="201168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Physical data centers, guards, cameras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Hardware, networking, host hypervisor</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Managed-service software (S3, Lambda runtime)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Global infrastructure: Regions &amp; AZs</a:t>
            </a:r>
            <a:endParaRPr b="0" i="0" sz="1300" u="none" cap="none" strike="noStrike">
              <a:solidFill>
                <a:schemeClr val="dk1"/>
              </a:solidFill>
              <a:latin typeface="Calibri"/>
              <a:ea typeface="Calibri"/>
              <a:cs typeface="Calibri"/>
              <a:sym typeface="Calibri"/>
            </a:endParaRPr>
          </a:p>
        </p:txBody>
      </p:sp>
      <p:sp>
        <p:nvSpPr>
          <p:cNvPr id="315" name="Google Shape;315;p10"/>
          <p:cNvSpPr/>
          <p:nvPr/>
        </p:nvSpPr>
        <p:spPr>
          <a:xfrm>
            <a:off x="777240" y="4572000"/>
            <a:ext cx="49377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4A3B8"/>
              </a:buClr>
              <a:buSzPts val="1250"/>
              <a:buFont typeface="Calibri"/>
              <a:buNone/>
            </a:pPr>
            <a:r>
              <a:rPr b="0" i="1" lang="en-US" sz="1250" u="none" cap="none" strike="noStrike">
                <a:solidFill>
                  <a:srgbClr val="94A3B8"/>
                </a:solidFill>
                <a:latin typeface="Calibri"/>
                <a:ea typeface="Calibri"/>
                <a:cs typeface="Calibri"/>
                <a:sym typeface="Calibri"/>
              </a:rPr>
              <a:t>“Is the building on fire? Is the hypervisor patched?”</a:t>
            </a:r>
            <a:endParaRPr b="0" i="0" sz="12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250"/>
              <a:buFont typeface="Calibri"/>
              <a:buNone/>
            </a:pPr>
            <a:r>
              <a:rPr b="0" i="1" lang="en-US" sz="1250" u="none" cap="none" strike="noStrike">
                <a:solidFill>
                  <a:srgbClr val="94A3B8"/>
                </a:solidFill>
                <a:latin typeface="Calibri"/>
                <a:ea typeface="Calibri"/>
                <a:cs typeface="Calibri"/>
                <a:sym typeface="Calibri"/>
              </a:rPr>
              <a:t>— AWS's problem.</a:t>
            </a:r>
            <a:endParaRPr b="0" i="0" sz="1250" u="none" cap="none" strike="noStrike">
              <a:solidFill>
                <a:schemeClr val="dk1"/>
              </a:solidFill>
              <a:latin typeface="Calibri"/>
              <a:ea typeface="Calibri"/>
              <a:cs typeface="Calibri"/>
              <a:sym typeface="Calibri"/>
            </a:endParaRPr>
          </a:p>
        </p:txBody>
      </p:sp>
      <p:sp>
        <p:nvSpPr>
          <p:cNvPr id="316" name="Google Shape;316;p10"/>
          <p:cNvSpPr/>
          <p:nvPr/>
        </p:nvSpPr>
        <p:spPr>
          <a:xfrm>
            <a:off x="6199632" y="1463040"/>
            <a:ext cx="5486400" cy="4023360"/>
          </a:xfrm>
          <a:prstGeom prst="roundRect">
            <a:avLst>
              <a:gd fmla="val 1818" name="adj"/>
            </a:avLst>
          </a:prstGeom>
          <a:solidFill>
            <a:srgbClr val="3A2210"/>
          </a:solidFill>
          <a:ln cap="flat" cmpd="sng" w="1905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6473952" y="164592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600"/>
              <a:buFont typeface="Bookman Old Style"/>
              <a:buNone/>
            </a:pPr>
            <a:r>
              <a:rPr b="1" i="0" lang="en-US" sz="1600" u="none" cap="none" strike="noStrike">
                <a:solidFill>
                  <a:srgbClr val="F97316"/>
                </a:solidFill>
                <a:latin typeface="Bookman Old Style"/>
                <a:ea typeface="Bookman Old Style"/>
                <a:cs typeface="Bookman Old Style"/>
                <a:sym typeface="Bookman Old Style"/>
              </a:rPr>
              <a:t>You — security IN the cloud</a:t>
            </a:r>
            <a:endParaRPr b="0" i="0" sz="1600" u="none" cap="none" strike="noStrike">
              <a:solidFill>
                <a:schemeClr val="dk1"/>
              </a:solidFill>
              <a:latin typeface="Calibri"/>
              <a:ea typeface="Calibri"/>
              <a:cs typeface="Calibri"/>
              <a:sym typeface="Calibri"/>
            </a:endParaRPr>
          </a:p>
        </p:txBody>
      </p:sp>
      <p:sp>
        <p:nvSpPr>
          <p:cNvPr id="318" name="Google Shape;318;p10"/>
          <p:cNvSpPr/>
          <p:nvPr/>
        </p:nvSpPr>
        <p:spPr>
          <a:xfrm>
            <a:off x="6473952" y="2148840"/>
            <a:ext cx="4983480" cy="22860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Your data — encryption, classification, backups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IAM: who can access what (Part 3!)</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OS patching on your EC2 instances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Security-group / firewall rules you write</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2E8F0"/>
              </a:buClr>
              <a:buSzPts val="1300"/>
              <a:buFont typeface="Calibri"/>
              <a:buChar char="•"/>
            </a:pPr>
            <a:r>
              <a:rPr b="0" i="0" lang="en-US" sz="1300" u="none" cap="none" strike="noStrike">
                <a:solidFill>
                  <a:srgbClr val="E2E8F0"/>
                </a:solidFill>
                <a:latin typeface="Calibri"/>
                <a:ea typeface="Calibri"/>
                <a:cs typeface="Calibri"/>
                <a:sym typeface="Calibri"/>
              </a:rPr>
              <a:t>Your application code &amp; its dependencies</a:t>
            </a:r>
            <a:endParaRPr b="0" i="0" sz="1300" u="none" cap="none" strike="noStrike">
              <a:solidFill>
                <a:schemeClr val="dk1"/>
              </a:solidFill>
              <a:latin typeface="Calibri"/>
              <a:ea typeface="Calibri"/>
              <a:cs typeface="Calibri"/>
              <a:sym typeface="Calibri"/>
            </a:endParaRPr>
          </a:p>
        </p:txBody>
      </p:sp>
      <p:sp>
        <p:nvSpPr>
          <p:cNvPr id="319" name="Google Shape;319;p10"/>
          <p:cNvSpPr/>
          <p:nvPr/>
        </p:nvSpPr>
        <p:spPr>
          <a:xfrm>
            <a:off x="6473952" y="4572000"/>
            <a:ext cx="493776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4A3B8"/>
              </a:buClr>
              <a:buSzPts val="1250"/>
              <a:buFont typeface="Calibri"/>
              <a:buNone/>
            </a:pPr>
            <a:r>
              <a:rPr b="0" i="1" lang="en-US" sz="1250" u="none" cap="none" strike="noStrike">
                <a:solidFill>
                  <a:srgbClr val="94A3B8"/>
                </a:solidFill>
                <a:latin typeface="Calibri"/>
                <a:ea typeface="Calibri"/>
                <a:cs typeface="Calibri"/>
                <a:sym typeface="Calibri"/>
              </a:rPr>
              <a:t>“Is the S3 bucket public? Is root MFA on?”</a:t>
            </a:r>
            <a:endParaRPr b="0" i="0" sz="12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94A3B8"/>
              </a:buClr>
              <a:buSzPts val="1250"/>
              <a:buFont typeface="Calibri"/>
              <a:buNone/>
            </a:pPr>
            <a:r>
              <a:rPr b="0" i="1" lang="en-US" sz="1250" u="none" cap="none" strike="noStrike">
                <a:solidFill>
                  <a:srgbClr val="94A3B8"/>
                </a:solidFill>
                <a:latin typeface="Calibri"/>
                <a:ea typeface="Calibri"/>
                <a:cs typeface="Calibri"/>
                <a:sym typeface="Calibri"/>
              </a:rPr>
              <a:t>— your problem.</a:t>
            </a:r>
            <a:endParaRPr b="0" i="0" sz="1250" u="none" cap="none" strike="noStrike">
              <a:solidFill>
                <a:schemeClr val="dk1"/>
              </a:solidFill>
              <a:latin typeface="Calibri"/>
              <a:ea typeface="Calibri"/>
              <a:cs typeface="Calibri"/>
              <a:sym typeface="Calibri"/>
            </a:endParaRPr>
          </a:p>
        </p:txBody>
      </p:sp>
      <p:sp>
        <p:nvSpPr>
          <p:cNvPr id="320" name="Google Shape;320;p10"/>
          <p:cNvSpPr/>
          <p:nvPr/>
        </p:nvSpPr>
        <p:spPr>
          <a:xfrm>
            <a:off x="502920" y="5715000"/>
            <a:ext cx="1115568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350"/>
              <a:buFont typeface="Calibri"/>
              <a:buNone/>
            </a:pPr>
            <a:r>
              <a:rPr b="0" i="1" lang="en-US" sz="1350" u="none" cap="none" strike="noStrike">
                <a:solidFill>
                  <a:srgbClr val="FBBF24"/>
                </a:solidFill>
                <a:latin typeface="Calibri"/>
                <a:ea typeface="Calibri"/>
                <a:cs typeface="Calibri"/>
                <a:sym typeface="Calibri"/>
              </a:rPr>
              <a:t>Almost every famous “cloud breach” was a customer-side mistake — a public bucket, a leaked key, an open port. The cloud was fine.</a:t>
            </a:r>
            <a:endParaRPr b="0" i="0" sz="1350" u="none" cap="none" strike="noStrike">
              <a:solidFill>
                <a:schemeClr val="dk1"/>
              </a:solidFill>
              <a:latin typeface="Calibri"/>
              <a:ea typeface="Calibri"/>
              <a:cs typeface="Calibri"/>
              <a:sym typeface="Calibri"/>
            </a:endParaRPr>
          </a:p>
        </p:txBody>
      </p:sp>
      <p:sp>
        <p:nvSpPr>
          <p:cNvPr id="321" name="Google Shape;321;p10"/>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322" name="Google Shape;322;p10"/>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Shared responsibility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27" name="Shape 327"/>
        <p:cNvGrpSpPr/>
        <p:nvPr/>
      </p:nvGrpSpPr>
      <p:grpSpPr>
        <a:xfrm>
          <a:off x="0" y="0"/>
          <a:ext cx="0" cy="0"/>
          <a:chOff x="0" y="0"/>
          <a:chExt cx="0" cy="0"/>
        </a:xfrm>
      </p:grpSpPr>
      <p:sp>
        <p:nvSpPr>
          <p:cNvPr id="328" name="Google Shape;328;p11"/>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GLOBAL INFRASTRUCTURE</a:t>
            </a:r>
            <a:endParaRPr b="0" i="0" sz="1200" u="none" cap="none" strike="noStrike">
              <a:solidFill>
                <a:schemeClr val="dk1"/>
              </a:solidFill>
              <a:latin typeface="Calibri"/>
              <a:ea typeface="Calibri"/>
              <a:cs typeface="Calibri"/>
              <a:sym typeface="Calibri"/>
            </a:endParaRPr>
          </a:p>
        </p:txBody>
      </p:sp>
      <p:sp>
        <p:nvSpPr>
          <p:cNvPr id="329" name="Google Shape;329;p11"/>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Regions, Availability Zones &amp; edge</a:t>
            </a:r>
            <a:endParaRPr b="0" i="0" sz="3000" u="none" cap="none" strike="noStrike">
              <a:solidFill>
                <a:schemeClr val="dk1"/>
              </a:solidFill>
              <a:latin typeface="Calibri"/>
              <a:ea typeface="Calibri"/>
              <a:cs typeface="Calibri"/>
              <a:sym typeface="Calibri"/>
            </a:endParaRPr>
          </a:p>
        </p:txBody>
      </p:sp>
      <p:sp>
        <p:nvSpPr>
          <p:cNvPr id="330" name="Google Shape;330;p11"/>
          <p:cNvSpPr/>
          <p:nvPr/>
        </p:nvSpPr>
        <p:spPr>
          <a:xfrm>
            <a:off x="502920" y="1554480"/>
            <a:ext cx="7223760" cy="3291840"/>
          </a:xfrm>
          <a:prstGeom prst="roundRect">
            <a:avLst>
              <a:gd fmla="val 2222" name="adj"/>
            </a:avLst>
          </a:prstGeom>
          <a:solidFill>
            <a:srgbClr val="1E293B"/>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777240" y="1691640"/>
            <a:ext cx="6675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300"/>
              <a:buFont typeface="Courier New"/>
              <a:buNone/>
            </a:pPr>
            <a:r>
              <a:rPr b="1" i="0" lang="en-US" sz="1300" u="none" cap="none" strike="noStrike">
                <a:solidFill>
                  <a:srgbClr val="FF9900"/>
                </a:solidFill>
                <a:latin typeface="Courier New"/>
                <a:ea typeface="Courier New"/>
                <a:cs typeface="Courier New"/>
                <a:sym typeface="Courier New"/>
              </a:rPr>
              <a:t>Region</a:t>
            </a:r>
            <a:r>
              <a:rPr b="0" i="0" lang="en-US" sz="1300" u="none" cap="none" strike="noStrike">
                <a:solidFill>
                  <a:srgbClr val="94A3B8"/>
                </a:solidFill>
                <a:latin typeface="Courier New"/>
                <a:ea typeface="Courier New"/>
                <a:cs typeface="Courier New"/>
                <a:sym typeface="Courier New"/>
              </a:rPr>
              <a:t>  ·  ap-south-1 (Mumbai)</a:t>
            </a:r>
            <a:endParaRPr b="0" i="0" sz="1300" u="none" cap="none" strike="noStrike">
              <a:solidFill>
                <a:schemeClr val="dk1"/>
              </a:solidFill>
              <a:latin typeface="Calibri"/>
              <a:ea typeface="Calibri"/>
              <a:cs typeface="Calibri"/>
              <a:sym typeface="Calibri"/>
            </a:endParaRPr>
          </a:p>
        </p:txBody>
      </p:sp>
      <p:sp>
        <p:nvSpPr>
          <p:cNvPr id="332" name="Google Shape;332;p11"/>
          <p:cNvSpPr/>
          <p:nvPr/>
        </p:nvSpPr>
        <p:spPr>
          <a:xfrm>
            <a:off x="822960" y="2194560"/>
            <a:ext cx="2103120" cy="2377440"/>
          </a:xfrm>
          <a:prstGeom prst="roundRect">
            <a:avLst>
              <a:gd fmla="val 2609"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822960" y="228600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AZ a</a:t>
            </a:r>
            <a:endParaRPr b="0" i="0" sz="1200" u="none" cap="none" strike="noStrike">
              <a:solidFill>
                <a:schemeClr val="dk1"/>
              </a:solidFill>
              <a:latin typeface="Calibri"/>
              <a:ea typeface="Calibri"/>
              <a:cs typeface="Calibri"/>
              <a:sym typeface="Calibri"/>
            </a:endParaRPr>
          </a:p>
        </p:txBody>
      </p:sp>
      <p:sp>
        <p:nvSpPr>
          <p:cNvPr id="334" name="Google Shape;334;p11"/>
          <p:cNvSpPr/>
          <p:nvPr/>
        </p:nvSpPr>
        <p:spPr>
          <a:xfrm>
            <a:off x="822960" y="2697480"/>
            <a:ext cx="2103120" cy="10058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1+ data centers</a:t>
            </a: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Own power, cooling,</a:t>
            </a: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network</a:t>
            </a:r>
            <a:endParaRPr b="0" i="0" sz="1050" u="none" cap="none" strike="noStrike">
              <a:solidFill>
                <a:schemeClr val="dk1"/>
              </a:solidFill>
              <a:latin typeface="Calibri"/>
              <a:ea typeface="Calibri"/>
              <a:cs typeface="Calibri"/>
              <a:sym typeface="Calibri"/>
            </a:endParaRPr>
          </a:p>
        </p:txBody>
      </p:sp>
      <p:pic>
        <p:nvPicPr>
          <p:cNvPr descr="preencoded.png" id="335" name="Google Shape;335;p11"/>
          <p:cNvPicPr preferRelativeResize="0"/>
          <p:nvPr/>
        </p:nvPicPr>
        <p:blipFill rotWithShape="1">
          <a:blip r:embed="rId3">
            <a:alphaModFix/>
          </a:blip>
          <a:srcRect b="0" l="0" r="0" t="0"/>
          <a:stretch/>
        </p:blipFill>
        <p:spPr>
          <a:xfrm>
            <a:off x="1691640" y="3886200"/>
            <a:ext cx="365760" cy="365760"/>
          </a:xfrm>
          <a:prstGeom prst="rect">
            <a:avLst/>
          </a:prstGeom>
          <a:noFill/>
          <a:ln>
            <a:noFill/>
          </a:ln>
        </p:spPr>
      </p:pic>
      <p:sp>
        <p:nvSpPr>
          <p:cNvPr id="336" name="Google Shape;336;p11"/>
          <p:cNvSpPr/>
          <p:nvPr/>
        </p:nvSpPr>
        <p:spPr>
          <a:xfrm>
            <a:off x="3108960" y="2194560"/>
            <a:ext cx="2103120" cy="2377440"/>
          </a:xfrm>
          <a:prstGeom prst="roundRect">
            <a:avLst>
              <a:gd fmla="val 2609"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1"/>
          <p:cNvSpPr/>
          <p:nvPr/>
        </p:nvSpPr>
        <p:spPr>
          <a:xfrm>
            <a:off x="3108960" y="228600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AZ b</a:t>
            </a:r>
            <a:endParaRPr b="0" i="0" sz="1200" u="none" cap="none" strike="noStrike">
              <a:solidFill>
                <a:schemeClr val="dk1"/>
              </a:solidFill>
              <a:latin typeface="Calibri"/>
              <a:ea typeface="Calibri"/>
              <a:cs typeface="Calibri"/>
              <a:sym typeface="Calibri"/>
            </a:endParaRPr>
          </a:p>
        </p:txBody>
      </p:sp>
      <p:sp>
        <p:nvSpPr>
          <p:cNvPr id="338" name="Google Shape;338;p11"/>
          <p:cNvSpPr/>
          <p:nvPr/>
        </p:nvSpPr>
        <p:spPr>
          <a:xfrm>
            <a:off x="3108960" y="2697480"/>
            <a:ext cx="2103120" cy="10058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1+ data centers</a:t>
            </a: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Own power, cooling,</a:t>
            </a: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network</a:t>
            </a:r>
            <a:endParaRPr b="0" i="0" sz="1050" u="none" cap="none" strike="noStrike">
              <a:solidFill>
                <a:schemeClr val="dk1"/>
              </a:solidFill>
              <a:latin typeface="Calibri"/>
              <a:ea typeface="Calibri"/>
              <a:cs typeface="Calibri"/>
              <a:sym typeface="Calibri"/>
            </a:endParaRPr>
          </a:p>
        </p:txBody>
      </p:sp>
      <p:pic>
        <p:nvPicPr>
          <p:cNvPr descr="preencoded.png" id="339" name="Google Shape;339;p11"/>
          <p:cNvPicPr preferRelativeResize="0"/>
          <p:nvPr/>
        </p:nvPicPr>
        <p:blipFill rotWithShape="1">
          <a:blip r:embed="rId3">
            <a:alphaModFix/>
          </a:blip>
          <a:srcRect b="0" l="0" r="0" t="0"/>
          <a:stretch/>
        </p:blipFill>
        <p:spPr>
          <a:xfrm>
            <a:off x="3977640" y="3886200"/>
            <a:ext cx="365760" cy="365760"/>
          </a:xfrm>
          <a:prstGeom prst="rect">
            <a:avLst/>
          </a:prstGeom>
          <a:noFill/>
          <a:ln>
            <a:noFill/>
          </a:ln>
        </p:spPr>
      </p:pic>
      <p:sp>
        <p:nvSpPr>
          <p:cNvPr id="340" name="Google Shape;340;p11"/>
          <p:cNvSpPr/>
          <p:nvPr/>
        </p:nvSpPr>
        <p:spPr>
          <a:xfrm>
            <a:off x="5394960" y="2194560"/>
            <a:ext cx="2103120" cy="2377440"/>
          </a:xfrm>
          <a:prstGeom prst="roundRect">
            <a:avLst>
              <a:gd fmla="val 2609"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5394960" y="228600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AZ c</a:t>
            </a:r>
            <a:endParaRPr b="0" i="0" sz="1200" u="none" cap="none" strike="noStrike">
              <a:solidFill>
                <a:schemeClr val="dk1"/>
              </a:solidFill>
              <a:latin typeface="Calibri"/>
              <a:ea typeface="Calibri"/>
              <a:cs typeface="Calibri"/>
              <a:sym typeface="Calibri"/>
            </a:endParaRPr>
          </a:p>
        </p:txBody>
      </p:sp>
      <p:sp>
        <p:nvSpPr>
          <p:cNvPr id="342" name="Google Shape;342;p11"/>
          <p:cNvSpPr/>
          <p:nvPr/>
        </p:nvSpPr>
        <p:spPr>
          <a:xfrm>
            <a:off x="5394960" y="2697480"/>
            <a:ext cx="2103120" cy="10058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1+ data centers</a:t>
            </a: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Own power, cooling,</a:t>
            </a: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network</a:t>
            </a:r>
            <a:endParaRPr b="0" i="0" sz="1050" u="none" cap="none" strike="noStrike">
              <a:solidFill>
                <a:schemeClr val="dk1"/>
              </a:solidFill>
              <a:latin typeface="Calibri"/>
              <a:ea typeface="Calibri"/>
              <a:cs typeface="Calibri"/>
              <a:sym typeface="Calibri"/>
            </a:endParaRPr>
          </a:p>
        </p:txBody>
      </p:sp>
      <p:pic>
        <p:nvPicPr>
          <p:cNvPr descr="preencoded.png" id="343" name="Google Shape;343;p11"/>
          <p:cNvPicPr preferRelativeResize="0"/>
          <p:nvPr/>
        </p:nvPicPr>
        <p:blipFill rotWithShape="1">
          <a:blip r:embed="rId3">
            <a:alphaModFix/>
          </a:blip>
          <a:srcRect b="0" l="0" r="0" t="0"/>
          <a:stretch/>
        </p:blipFill>
        <p:spPr>
          <a:xfrm>
            <a:off x="6263640" y="3886200"/>
            <a:ext cx="365760" cy="365760"/>
          </a:xfrm>
          <a:prstGeom prst="rect">
            <a:avLst/>
          </a:prstGeom>
          <a:noFill/>
          <a:ln>
            <a:noFill/>
          </a:ln>
        </p:spPr>
      </p:pic>
      <p:sp>
        <p:nvSpPr>
          <p:cNvPr id="344" name="Google Shape;344;p11"/>
          <p:cNvSpPr/>
          <p:nvPr/>
        </p:nvSpPr>
        <p:spPr>
          <a:xfrm>
            <a:off x="7955280" y="1554480"/>
            <a:ext cx="3730752" cy="1417320"/>
          </a:xfrm>
          <a:prstGeom prst="roundRect">
            <a:avLst>
              <a:gd fmla="val 5161"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8138160" y="1645920"/>
            <a:ext cx="3383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300"/>
              <a:buFont typeface="Bookman Old Style"/>
              <a:buNone/>
            </a:pPr>
            <a:r>
              <a:rPr b="1" i="0" lang="en-US" sz="1300" u="none" cap="none" strike="noStrike">
                <a:solidFill>
                  <a:srgbClr val="FF9900"/>
                </a:solidFill>
                <a:latin typeface="Bookman Old Style"/>
                <a:ea typeface="Bookman Old Style"/>
                <a:cs typeface="Bookman Old Style"/>
                <a:sym typeface="Bookman Old Style"/>
              </a:rPr>
              <a:t>Region</a:t>
            </a:r>
            <a:endParaRPr b="0" i="0" sz="1300" u="none" cap="none" strike="noStrike">
              <a:solidFill>
                <a:schemeClr val="dk1"/>
              </a:solidFill>
              <a:latin typeface="Calibri"/>
              <a:ea typeface="Calibri"/>
              <a:cs typeface="Calibri"/>
              <a:sym typeface="Calibri"/>
            </a:endParaRPr>
          </a:p>
        </p:txBody>
      </p:sp>
      <p:sp>
        <p:nvSpPr>
          <p:cNvPr id="346" name="Google Shape;346;p11"/>
          <p:cNvSpPr/>
          <p:nvPr/>
        </p:nvSpPr>
        <p:spPr>
          <a:xfrm>
            <a:off x="8138160" y="1984248"/>
            <a:ext cx="3401568" cy="93268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A geographic area with 3+ isolated AZs. You pick one per workload; data doesn't leave unless you move it.</a:t>
            </a:r>
            <a:endParaRPr b="0" i="0" sz="1050" u="none" cap="none" strike="noStrike">
              <a:solidFill>
                <a:schemeClr val="dk1"/>
              </a:solidFill>
              <a:latin typeface="Calibri"/>
              <a:ea typeface="Calibri"/>
              <a:cs typeface="Calibri"/>
              <a:sym typeface="Calibri"/>
            </a:endParaRPr>
          </a:p>
        </p:txBody>
      </p:sp>
      <p:sp>
        <p:nvSpPr>
          <p:cNvPr id="347" name="Google Shape;347;p11"/>
          <p:cNvSpPr/>
          <p:nvPr/>
        </p:nvSpPr>
        <p:spPr>
          <a:xfrm>
            <a:off x="7955280" y="3127248"/>
            <a:ext cx="3730752" cy="1417320"/>
          </a:xfrm>
          <a:prstGeom prst="roundRect">
            <a:avLst>
              <a:gd fmla="val 5161"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8138160" y="3218688"/>
            <a:ext cx="3383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300"/>
              <a:buFont typeface="Bookman Old Style"/>
              <a:buNone/>
            </a:pPr>
            <a:r>
              <a:rPr b="1" i="0" lang="en-US" sz="1300" u="none" cap="none" strike="noStrike">
                <a:solidFill>
                  <a:srgbClr val="2DD4BF"/>
                </a:solidFill>
                <a:latin typeface="Bookman Old Style"/>
                <a:ea typeface="Bookman Old Style"/>
                <a:cs typeface="Bookman Old Style"/>
                <a:sym typeface="Bookman Old Style"/>
              </a:rPr>
              <a:t>Availability Zone</a:t>
            </a:r>
            <a:endParaRPr b="0" i="0" sz="1300" u="none" cap="none" strike="noStrike">
              <a:solidFill>
                <a:schemeClr val="dk1"/>
              </a:solidFill>
              <a:latin typeface="Calibri"/>
              <a:ea typeface="Calibri"/>
              <a:cs typeface="Calibri"/>
              <a:sym typeface="Calibri"/>
            </a:endParaRPr>
          </a:p>
        </p:txBody>
      </p:sp>
      <p:sp>
        <p:nvSpPr>
          <p:cNvPr id="349" name="Google Shape;349;p11"/>
          <p:cNvSpPr/>
          <p:nvPr/>
        </p:nvSpPr>
        <p:spPr>
          <a:xfrm>
            <a:off x="8138160" y="3557016"/>
            <a:ext cx="3401568" cy="93268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Independent failure domain — separate power &amp; flooding risk, linked by fast private fiber. Spread across 2+ AZs = high availability.</a:t>
            </a:r>
            <a:endParaRPr b="0" i="0" sz="1050" u="none" cap="none" strike="noStrike">
              <a:solidFill>
                <a:schemeClr val="dk1"/>
              </a:solidFill>
              <a:latin typeface="Calibri"/>
              <a:ea typeface="Calibri"/>
              <a:cs typeface="Calibri"/>
              <a:sym typeface="Calibri"/>
            </a:endParaRPr>
          </a:p>
        </p:txBody>
      </p:sp>
      <p:sp>
        <p:nvSpPr>
          <p:cNvPr id="350" name="Google Shape;350;p11"/>
          <p:cNvSpPr/>
          <p:nvPr/>
        </p:nvSpPr>
        <p:spPr>
          <a:xfrm>
            <a:off x="7955280" y="4700016"/>
            <a:ext cx="3730752" cy="1417320"/>
          </a:xfrm>
          <a:prstGeom prst="roundRect">
            <a:avLst>
              <a:gd fmla="val 5161" name="adj"/>
            </a:avLst>
          </a:prstGeom>
          <a:solidFill>
            <a:srgbClr val="1E293B"/>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8138160" y="4791456"/>
            <a:ext cx="3383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300"/>
              <a:buFont typeface="Bookman Old Style"/>
              <a:buNone/>
            </a:pPr>
            <a:r>
              <a:rPr b="1" i="0" lang="en-US" sz="1300" u="none" cap="none" strike="noStrike">
                <a:solidFill>
                  <a:srgbClr val="A78BFA"/>
                </a:solidFill>
                <a:latin typeface="Bookman Old Style"/>
                <a:ea typeface="Bookman Old Style"/>
                <a:cs typeface="Bookman Old Style"/>
                <a:sym typeface="Bookman Old Style"/>
              </a:rPr>
              <a:t>Edge location</a:t>
            </a:r>
            <a:endParaRPr b="0" i="0" sz="1300" u="none" cap="none" strike="noStrike">
              <a:solidFill>
                <a:schemeClr val="dk1"/>
              </a:solidFill>
              <a:latin typeface="Calibri"/>
              <a:ea typeface="Calibri"/>
              <a:cs typeface="Calibri"/>
              <a:sym typeface="Calibri"/>
            </a:endParaRPr>
          </a:p>
        </p:txBody>
      </p:sp>
      <p:sp>
        <p:nvSpPr>
          <p:cNvPr id="352" name="Google Shape;352;p11"/>
          <p:cNvSpPr/>
          <p:nvPr/>
        </p:nvSpPr>
        <p:spPr>
          <a:xfrm>
            <a:off x="8138160" y="5129784"/>
            <a:ext cx="3401568" cy="93268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400+ mini-sites (CloudFront CDN) that cache content close to users — including Kathmandu's ISPs' upstream hubs.</a:t>
            </a:r>
            <a:endParaRPr b="0" i="0" sz="1050" u="none" cap="none" strike="noStrike">
              <a:solidFill>
                <a:schemeClr val="dk1"/>
              </a:solidFill>
              <a:latin typeface="Calibri"/>
              <a:ea typeface="Calibri"/>
              <a:cs typeface="Calibri"/>
              <a:sym typeface="Calibri"/>
            </a:endParaRPr>
          </a:p>
        </p:txBody>
      </p:sp>
      <p:sp>
        <p:nvSpPr>
          <p:cNvPr id="353" name="Google Shape;353;p11"/>
          <p:cNvSpPr/>
          <p:nvPr/>
        </p:nvSpPr>
        <p:spPr>
          <a:xfrm>
            <a:off x="502920" y="5074920"/>
            <a:ext cx="7223760" cy="1051560"/>
          </a:xfrm>
          <a:prstGeom prst="roundRect">
            <a:avLst>
              <a:gd fmla="val 6957"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4" name="Google Shape;354;p11"/>
          <p:cNvPicPr preferRelativeResize="0"/>
          <p:nvPr/>
        </p:nvPicPr>
        <p:blipFill rotWithShape="1">
          <a:blip r:embed="rId4">
            <a:alphaModFix/>
          </a:blip>
          <a:srcRect b="0" l="0" r="0" t="0"/>
          <a:stretch/>
        </p:blipFill>
        <p:spPr>
          <a:xfrm>
            <a:off x="704088" y="5454396"/>
            <a:ext cx="292608" cy="292608"/>
          </a:xfrm>
          <a:prstGeom prst="rect">
            <a:avLst/>
          </a:prstGeom>
          <a:noFill/>
          <a:ln>
            <a:noFill/>
          </a:ln>
        </p:spPr>
      </p:pic>
      <p:sp>
        <p:nvSpPr>
          <p:cNvPr id="355" name="Google Shape;355;p11"/>
          <p:cNvSpPr/>
          <p:nvPr/>
        </p:nvSpPr>
        <p:spPr>
          <a:xfrm>
            <a:off x="1143000" y="5166360"/>
            <a:ext cx="6382512"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For Nepal: ap-south-1 (Mumbai) is the lowest-latency region — typically ~40–70 ms from Kathmandu. Choose Regions by latency, price, and data-residency law.</a:t>
            </a:r>
            <a:endParaRPr b="0" i="0" sz="1250" u="none" cap="none" strike="noStrike">
              <a:solidFill>
                <a:schemeClr val="dk1"/>
              </a:solidFill>
              <a:latin typeface="Calibri"/>
              <a:ea typeface="Calibri"/>
              <a:cs typeface="Calibri"/>
              <a:sym typeface="Calibri"/>
            </a:endParaRPr>
          </a:p>
        </p:txBody>
      </p:sp>
      <p:sp>
        <p:nvSpPr>
          <p:cNvPr id="356" name="Google Shape;356;p11"/>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357" name="Google Shape;357;p11"/>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Regions &amp; AZs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62" name="Shape 362"/>
        <p:cNvGrpSpPr/>
        <p:nvPr/>
      </p:nvGrpSpPr>
      <p:grpSpPr>
        <a:xfrm>
          <a:off x="0" y="0"/>
          <a:ext cx="0" cy="0"/>
          <a:chOff x="0" y="0"/>
          <a:chExt cx="0" cy="0"/>
        </a:xfrm>
      </p:grpSpPr>
      <p:sp>
        <p:nvSpPr>
          <p:cNvPr id="363" name="Google Shape;363;p12"/>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WHY CFOS SAID YES</a:t>
            </a:r>
            <a:endParaRPr b="0" i="0" sz="1200" u="none" cap="none" strike="noStrike">
              <a:solidFill>
                <a:schemeClr val="dk1"/>
              </a:solidFill>
              <a:latin typeface="Calibri"/>
              <a:ea typeface="Calibri"/>
              <a:cs typeface="Calibri"/>
              <a:sym typeface="Calibri"/>
            </a:endParaRPr>
          </a:p>
        </p:txBody>
      </p:sp>
      <p:sp>
        <p:nvSpPr>
          <p:cNvPr id="364" name="Google Shape;364;p12"/>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The economics: CapEx → OpEx</a:t>
            </a:r>
            <a:endParaRPr b="0" i="0" sz="3000" u="none" cap="none" strike="noStrike">
              <a:solidFill>
                <a:schemeClr val="dk1"/>
              </a:solidFill>
              <a:latin typeface="Calibri"/>
              <a:ea typeface="Calibri"/>
              <a:cs typeface="Calibri"/>
              <a:sym typeface="Calibri"/>
            </a:endParaRPr>
          </a:p>
        </p:txBody>
      </p:sp>
      <p:sp>
        <p:nvSpPr>
          <p:cNvPr id="365" name="Google Shape;365;p12"/>
          <p:cNvSpPr/>
          <p:nvPr/>
        </p:nvSpPr>
        <p:spPr>
          <a:xfrm>
            <a:off x="502920" y="1508760"/>
            <a:ext cx="5440680" cy="2103120"/>
          </a:xfrm>
          <a:prstGeom prst="roundRect">
            <a:avLst>
              <a:gd fmla="val 3478" name="adj"/>
            </a:avLst>
          </a:prstGeom>
          <a:solidFill>
            <a:srgbClr val="3A2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2"/>
          <p:cNvSpPr/>
          <p:nvPr/>
        </p:nvSpPr>
        <p:spPr>
          <a:xfrm>
            <a:off x="731520" y="164592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500"/>
              <a:buFont typeface="Bookman Old Style"/>
              <a:buNone/>
            </a:pPr>
            <a:r>
              <a:rPr b="1" i="0" lang="en-US" sz="1500" u="none" cap="none" strike="noStrike">
                <a:solidFill>
                  <a:srgbClr val="F97316"/>
                </a:solidFill>
                <a:latin typeface="Bookman Old Style"/>
                <a:ea typeface="Bookman Old Style"/>
                <a:cs typeface="Bookman Old Style"/>
                <a:sym typeface="Bookman Old Style"/>
              </a:rPr>
              <a:t>CapEx — own it</a:t>
            </a:r>
            <a:endParaRPr b="0" i="0" sz="1500" u="none" cap="none" strike="noStrike">
              <a:solidFill>
                <a:schemeClr val="dk1"/>
              </a:solidFill>
              <a:latin typeface="Calibri"/>
              <a:ea typeface="Calibri"/>
              <a:cs typeface="Calibri"/>
              <a:sym typeface="Calibri"/>
            </a:endParaRPr>
          </a:p>
        </p:txBody>
      </p:sp>
      <p:sp>
        <p:nvSpPr>
          <p:cNvPr id="367" name="Google Shape;367;p12"/>
          <p:cNvSpPr/>
          <p:nvPr/>
        </p:nvSpPr>
        <p:spPr>
          <a:xfrm>
            <a:off x="731520" y="2057400"/>
            <a:ext cx="5029200" cy="14173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Big upfront purchase · depreciates over years · sized for peak load · idle 80% of the time · upgrades = new purchase</a:t>
            </a:r>
            <a:endParaRPr b="0" i="0" sz="1250" u="none" cap="none" strike="noStrike">
              <a:solidFill>
                <a:schemeClr val="dk1"/>
              </a:solidFill>
              <a:latin typeface="Calibri"/>
              <a:ea typeface="Calibri"/>
              <a:cs typeface="Calibri"/>
              <a:sym typeface="Calibri"/>
            </a:endParaRPr>
          </a:p>
        </p:txBody>
      </p:sp>
      <p:sp>
        <p:nvSpPr>
          <p:cNvPr id="368" name="Google Shape;368;p12"/>
          <p:cNvSpPr/>
          <p:nvPr/>
        </p:nvSpPr>
        <p:spPr>
          <a:xfrm>
            <a:off x="6245352" y="1508760"/>
            <a:ext cx="5440680" cy="2103120"/>
          </a:xfrm>
          <a:prstGeom prst="roundRect">
            <a:avLst>
              <a:gd fmla="val 3478" name="adj"/>
            </a:avLst>
          </a:prstGeom>
          <a:solidFill>
            <a:srgbClr val="0E2A26"/>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2"/>
          <p:cNvSpPr/>
          <p:nvPr/>
        </p:nvSpPr>
        <p:spPr>
          <a:xfrm>
            <a:off x="6473952" y="164592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500"/>
              <a:buFont typeface="Bookman Old Style"/>
              <a:buNone/>
            </a:pPr>
            <a:r>
              <a:rPr b="1" i="0" lang="en-US" sz="1500" u="none" cap="none" strike="noStrike">
                <a:solidFill>
                  <a:srgbClr val="2DD4BF"/>
                </a:solidFill>
                <a:latin typeface="Bookman Old Style"/>
                <a:ea typeface="Bookman Old Style"/>
                <a:cs typeface="Bookman Old Style"/>
                <a:sym typeface="Bookman Old Style"/>
              </a:rPr>
              <a:t>OpEx — rent it</a:t>
            </a:r>
            <a:endParaRPr b="0" i="0" sz="1500" u="none" cap="none" strike="noStrike">
              <a:solidFill>
                <a:schemeClr val="dk1"/>
              </a:solidFill>
              <a:latin typeface="Calibri"/>
              <a:ea typeface="Calibri"/>
              <a:cs typeface="Calibri"/>
              <a:sym typeface="Calibri"/>
            </a:endParaRPr>
          </a:p>
        </p:txBody>
      </p:sp>
      <p:sp>
        <p:nvSpPr>
          <p:cNvPr id="370" name="Google Shape;370;p12"/>
          <p:cNvSpPr/>
          <p:nvPr/>
        </p:nvSpPr>
        <p:spPr>
          <a:xfrm>
            <a:off x="6473952" y="2057400"/>
            <a:ext cx="5029200" cy="14173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Pay per hour / per GB / per request · scales with actual demand · zero upfront · stop paying when you stop using</a:t>
            </a:r>
            <a:endParaRPr b="0" i="0" sz="1250" u="none" cap="none" strike="noStrike">
              <a:solidFill>
                <a:schemeClr val="dk1"/>
              </a:solidFill>
              <a:latin typeface="Calibri"/>
              <a:ea typeface="Calibri"/>
              <a:cs typeface="Calibri"/>
              <a:sym typeface="Calibri"/>
            </a:endParaRPr>
          </a:p>
        </p:txBody>
      </p:sp>
      <p:pic>
        <p:nvPicPr>
          <p:cNvPr id="371" name="Google Shape;371;p12"/>
          <p:cNvPicPr preferRelativeResize="0"/>
          <p:nvPr/>
        </p:nvPicPr>
        <p:blipFill rotWithShape="1">
          <a:blip r:embed="rId3">
            <a:alphaModFix/>
          </a:blip>
          <a:srcRect b="0" l="0" r="0" t="0"/>
          <a:stretch/>
        </p:blipFill>
        <p:spPr>
          <a:xfrm>
            <a:off x="502920" y="3794760"/>
            <a:ext cx="7406640" cy="2514600"/>
          </a:xfrm>
          <a:prstGeom prst="rect">
            <a:avLst/>
          </a:prstGeom>
          <a:noFill/>
          <a:ln>
            <a:noFill/>
          </a:ln>
        </p:spPr>
      </p:pic>
      <p:sp>
        <p:nvSpPr>
          <p:cNvPr id="372" name="Google Shape;372;p12"/>
          <p:cNvSpPr/>
          <p:nvPr/>
        </p:nvSpPr>
        <p:spPr>
          <a:xfrm>
            <a:off x="8138160" y="3794760"/>
            <a:ext cx="3547872" cy="2514600"/>
          </a:xfrm>
          <a:prstGeom prst="roundRect">
            <a:avLst>
              <a:gd fmla="val 290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8339328" y="3950208"/>
            <a:ext cx="3154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The gap is money</a:t>
            </a:r>
            <a:endParaRPr b="0" i="0" sz="1450" u="none" cap="none" strike="noStrike">
              <a:solidFill>
                <a:schemeClr val="dk1"/>
              </a:solidFill>
              <a:latin typeface="Calibri"/>
              <a:ea typeface="Calibri"/>
              <a:cs typeface="Calibri"/>
              <a:sym typeface="Calibri"/>
            </a:endParaRPr>
          </a:p>
        </p:txBody>
      </p:sp>
      <p:sp>
        <p:nvSpPr>
          <p:cNvPr id="374" name="Google Shape;374;p12"/>
          <p:cNvSpPr/>
          <p:nvPr/>
        </p:nvSpPr>
        <p:spPr>
          <a:xfrm>
            <a:off x="8339328" y="4343400"/>
            <a:ext cx="3200400" cy="1828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Grey − orange = capacity you bought but didn't use.</a:t>
            </a:r>
            <a:endParaRPr b="0" i="0" sz="11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Teal hugs the orange line: elasticity means capacity tracks demand — you pay for the area under teal, not the grey rectangle.</a:t>
            </a:r>
            <a:endParaRPr b="0" i="0" sz="1150" u="none" cap="none" strike="noStrike">
              <a:solidFill>
                <a:schemeClr val="dk1"/>
              </a:solidFill>
              <a:latin typeface="Calibri"/>
              <a:ea typeface="Calibri"/>
              <a:cs typeface="Calibri"/>
              <a:sym typeface="Calibri"/>
            </a:endParaRPr>
          </a:p>
        </p:txBody>
      </p:sp>
      <p:sp>
        <p:nvSpPr>
          <p:cNvPr id="375" name="Google Shape;375;p12"/>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376" name="Google Shape;376;p12"/>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economics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81" name="Shape 381"/>
        <p:cNvGrpSpPr/>
        <p:nvPr/>
      </p:nvGrpSpPr>
      <p:grpSpPr>
        <a:xfrm>
          <a:off x="0" y="0"/>
          <a:ext cx="0" cy="0"/>
          <a:chOff x="0" y="0"/>
          <a:chExt cx="0" cy="0"/>
        </a:xfrm>
      </p:grpSpPr>
      <p:sp>
        <p:nvSpPr>
          <p:cNvPr id="382" name="Google Shape;382;p13"/>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500"/>
              <a:buFont typeface="Courier New"/>
              <a:buNone/>
            </a:pPr>
            <a:r>
              <a:rPr b="1" i="0" lang="en-US" sz="1500" u="none" cap="none" strike="noStrike">
                <a:solidFill>
                  <a:srgbClr val="FF9900"/>
                </a:solidFill>
                <a:latin typeface="Courier New"/>
                <a:ea typeface="Courier New"/>
                <a:cs typeface="Courier New"/>
                <a:sym typeface="Courier New"/>
              </a:rPr>
              <a:t>PART 2</a:t>
            </a:r>
            <a:endParaRPr b="0" i="0" sz="1500" u="none" cap="none" strike="noStrike">
              <a:solidFill>
                <a:schemeClr val="dk1"/>
              </a:solidFill>
              <a:latin typeface="Calibri"/>
              <a:ea typeface="Calibri"/>
              <a:cs typeface="Calibri"/>
              <a:sym typeface="Calibri"/>
            </a:endParaRPr>
          </a:p>
        </p:txBody>
      </p:sp>
      <p:sp>
        <p:nvSpPr>
          <p:cNvPr id="383" name="Google Shape;383;p13"/>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EC2</a:t>
            </a:r>
            <a:endParaRPr b="0" i="0" sz="4400" u="none" cap="none" strike="noStrike">
              <a:solidFill>
                <a:schemeClr val="dk1"/>
              </a:solidFill>
              <a:latin typeface="Calibri"/>
              <a:ea typeface="Calibri"/>
              <a:cs typeface="Calibri"/>
              <a:sym typeface="Calibri"/>
            </a:endParaRPr>
          </a:p>
        </p:txBody>
      </p:sp>
      <p:sp>
        <p:nvSpPr>
          <p:cNvPr id="384" name="Google Shape;384;p13"/>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Elastic Compute Cloud — virtual machines by the hour.</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The service every other service secretly runs on.</a:t>
            </a:r>
            <a:endParaRPr b="0" i="0" sz="1600" u="none" cap="none" strike="noStrike">
              <a:solidFill>
                <a:schemeClr val="dk1"/>
              </a:solidFill>
              <a:latin typeface="Calibri"/>
              <a:ea typeface="Calibri"/>
              <a:cs typeface="Calibri"/>
              <a:sym typeface="Calibri"/>
            </a:endParaRPr>
          </a:p>
        </p:txBody>
      </p:sp>
      <p:sp>
        <p:nvSpPr>
          <p:cNvPr id="385" name="Google Shape;385;p13"/>
          <p:cNvSpPr/>
          <p:nvPr/>
        </p:nvSpPr>
        <p:spPr>
          <a:xfrm>
            <a:off x="8778240" y="1965960"/>
            <a:ext cx="2468880" cy="2468880"/>
          </a:xfrm>
          <a:prstGeom prst="ellipse">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6" name="Google Shape;386;p13"/>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387" name="Google Shape;387;p13"/>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388" name="Google Shape;388;p13"/>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93" name="Shape 393"/>
        <p:cNvGrpSpPr/>
        <p:nvPr/>
      </p:nvGrpSpPr>
      <p:grpSpPr>
        <a:xfrm>
          <a:off x="0" y="0"/>
          <a:ext cx="0" cy="0"/>
          <a:chOff x="0" y="0"/>
          <a:chExt cx="0" cy="0"/>
        </a:xfrm>
      </p:grpSpPr>
      <p:sp>
        <p:nvSpPr>
          <p:cNvPr id="394" name="Google Shape;394;p14"/>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EC2 · THE PARTS</a:t>
            </a:r>
            <a:endParaRPr b="0" i="0" sz="1200" u="none" cap="none" strike="noStrike">
              <a:solidFill>
                <a:schemeClr val="dk1"/>
              </a:solidFill>
              <a:latin typeface="Calibri"/>
              <a:ea typeface="Calibri"/>
              <a:cs typeface="Calibri"/>
              <a:sym typeface="Calibri"/>
            </a:endParaRPr>
          </a:p>
        </p:txBody>
      </p:sp>
      <p:sp>
        <p:nvSpPr>
          <p:cNvPr id="395" name="Google Shape;395;p14"/>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Anatomy of an EC2 instance</a:t>
            </a:r>
            <a:endParaRPr b="0" i="0" sz="3000" u="none" cap="none" strike="noStrike">
              <a:solidFill>
                <a:schemeClr val="dk1"/>
              </a:solidFill>
              <a:latin typeface="Calibri"/>
              <a:ea typeface="Calibri"/>
              <a:cs typeface="Calibri"/>
              <a:sym typeface="Calibri"/>
            </a:endParaRPr>
          </a:p>
        </p:txBody>
      </p:sp>
      <p:sp>
        <p:nvSpPr>
          <p:cNvPr id="396" name="Google Shape;396;p14"/>
          <p:cNvSpPr/>
          <p:nvPr/>
        </p:nvSpPr>
        <p:spPr>
          <a:xfrm>
            <a:off x="502920" y="1325880"/>
            <a:ext cx="11183112" cy="658368"/>
          </a:xfrm>
          <a:prstGeom prst="roundRect">
            <a:avLst>
              <a:gd fmla="val 11111"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7" name="Google Shape;397;p14"/>
          <p:cNvPicPr preferRelativeResize="0"/>
          <p:nvPr/>
        </p:nvPicPr>
        <p:blipFill rotWithShape="1">
          <a:blip r:embed="rId3">
            <a:alphaModFix/>
          </a:blip>
          <a:srcRect b="0" l="0" r="0" t="0"/>
          <a:stretch/>
        </p:blipFill>
        <p:spPr>
          <a:xfrm>
            <a:off x="704088" y="1508760"/>
            <a:ext cx="292608" cy="292608"/>
          </a:xfrm>
          <a:prstGeom prst="rect">
            <a:avLst/>
          </a:prstGeom>
          <a:noFill/>
          <a:ln>
            <a:noFill/>
          </a:ln>
        </p:spPr>
      </p:pic>
      <p:sp>
        <p:nvSpPr>
          <p:cNvPr id="398" name="Google Shape;398;p14"/>
          <p:cNvSpPr/>
          <p:nvPr/>
        </p:nvSpPr>
        <p:spPr>
          <a:xfrm>
            <a:off x="1143000" y="1417320"/>
            <a:ext cx="10341864" cy="4754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You need a Linux box: some CPU &amp; RAM, a disk, an OS, a firewall, and a way to SSH in. EC2 splits that wish into five named parts.</a:t>
            </a:r>
            <a:endParaRPr b="0" i="0" sz="1250" u="none" cap="none" strike="noStrike">
              <a:solidFill>
                <a:schemeClr val="dk1"/>
              </a:solidFill>
              <a:latin typeface="Calibri"/>
              <a:ea typeface="Calibri"/>
              <a:cs typeface="Calibri"/>
              <a:sym typeface="Calibri"/>
            </a:endParaRPr>
          </a:p>
        </p:txBody>
      </p:sp>
      <p:sp>
        <p:nvSpPr>
          <p:cNvPr id="399" name="Google Shape;399;p14"/>
          <p:cNvSpPr/>
          <p:nvPr/>
        </p:nvSpPr>
        <p:spPr>
          <a:xfrm>
            <a:off x="4297680" y="3017520"/>
            <a:ext cx="3566160" cy="1554480"/>
          </a:xfrm>
          <a:prstGeom prst="roundRect">
            <a:avLst>
              <a:gd fmla="val 4706" name="adj"/>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0" name="Google Shape;400;p14"/>
          <p:cNvPicPr preferRelativeResize="0"/>
          <p:nvPr/>
        </p:nvPicPr>
        <p:blipFill rotWithShape="1">
          <a:blip r:embed="rId4">
            <a:alphaModFix/>
          </a:blip>
          <a:srcRect b="0" l="0" r="0" t="0"/>
          <a:stretch/>
        </p:blipFill>
        <p:spPr>
          <a:xfrm>
            <a:off x="5715000" y="3200400"/>
            <a:ext cx="502920" cy="502920"/>
          </a:xfrm>
          <a:prstGeom prst="rect">
            <a:avLst/>
          </a:prstGeom>
          <a:noFill/>
          <a:ln>
            <a:noFill/>
          </a:ln>
        </p:spPr>
      </p:pic>
      <p:sp>
        <p:nvSpPr>
          <p:cNvPr id="401" name="Google Shape;401;p14"/>
          <p:cNvSpPr/>
          <p:nvPr/>
        </p:nvSpPr>
        <p:spPr>
          <a:xfrm>
            <a:off x="4297680" y="3794760"/>
            <a:ext cx="3566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EC2 instance</a:t>
            </a:r>
            <a:endParaRPr b="0" i="0" sz="1500" u="none" cap="none" strike="noStrike">
              <a:solidFill>
                <a:schemeClr val="dk1"/>
              </a:solidFill>
              <a:latin typeface="Calibri"/>
              <a:ea typeface="Calibri"/>
              <a:cs typeface="Calibri"/>
              <a:sym typeface="Calibri"/>
            </a:endParaRPr>
          </a:p>
        </p:txBody>
      </p:sp>
      <p:sp>
        <p:nvSpPr>
          <p:cNvPr id="402" name="Google Shape;402;p14"/>
          <p:cNvSpPr/>
          <p:nvPr/>
        </p:nvSpPr>
        <p:spPr>
          <a:xfrm>
            <a:off x="4297680" y="4133088"/>
            <a:ext cx="35661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i-0abc123def456</a:t>
            </a:r>
            <a:endParaRPr b="0" i="0" sz="1000" u="none" cap="none" strike="noStrike">
              <a:solidFill>
                <a:schemeClr val="dk1"/>
              </a:solidFill>
              <a:latin typeface="Calibri"/>
              <a:ea typeface="Calibri"/>
              <a:cs typeface="Calibri"/>
              <a:sym typeface="Calibri"/>
            </a:endParaRPr>
          </a:p>
        </p:txBody>
      </p:sp>
      <p:sp>
        <p:nvSpPr>
          <p:cNvPr id="403" name="Google Shape;403;p14"/>
          <p:cNvSpPr/>
          <p:nvPr/>
        </p:nvSpPr>
        <p:spPr>
          <a:xfrm>
            <a:off x="502920" y="2286000"/>
            <a:ext cx="3383280" cy="1463040"/>
          </a:xfrm>
          <a:prstGeom prst="roundRect">
            <a:avLst>
              <a:gd fmla="val 5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p:nvPr/>
        </p:nvSpPr>
        <p:spPr>
          <a:xfrm>
            <a:off x="704088" y="246888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5" name="Google Shape;405;p14"/>
          <p:cNvPicPr preferRelativeResize="0"/>
          <p:nvPr/>
        </p:nvPicPr>
        <p:blipFill rotWithShape="1">
          <a:blip r:embed="rId5">
            <a:alphaModFix/>
          </a:blip>
          <a:srcRect b="0" l="0" r="0" t="0"/>
          <a:stretch/>
        </p:blipFill>
        <p:spPr>
          <a:xfrm>
            <a:off x="822960" y="2587752"/>
            <a:ext cx="237744" cy="237744"/>
          </a:xfrm>
          <a:prstGeom prst="rect">
            <a:avLst/>
          </a:prstGeom>
          <a:noFill/>
          <a:ln>
            <a:noFill/>
          </a:ln>
        </p:spPr>
      </p:pic>
      <p:sp>
        <p:nvSpPr>
          <p:cNvPr id="406" name="Google Shape;406;p14"/>
          <p:cNvSpPr/>
          <p:nvPr/>
        </p:nvSpPr>
        <p:spPr>
          <a:xfrm>
            <a:off x="1307592" y="2432304"/>
            <a:ext cx="2423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AMI</a:t>
            </a:r>
            <a:endParaRPr b="0" i="0" sz="1350" u="none" cap="none" strike="noStrike">
              <a:solidFill>
                <a:schemeClr val="dk1"/>
              </a:solidFill>
              <a:latin typeface="Calibri"/>
              <a:ea typeface="Calibri"/>
              <a:cs typeface="Calibri"/>
              <a:sym typeface="Calibri"/>
            </a:endParaRPr>
          </a:p>
        </p:txBody>
      </p:sp>
      <p:sp>
        <p:nvSpPr>
          <p:cNvPr id="407" name="Google Shape;407;p14"/>
          <p:cNvSpPr/>
          <p:nvPr/>
        </p:nvSpPr>
        <p:spPr>
          <a:xfrm>
            <a:off x="722376" y="3063240"/>
            <a:ext cx="2944368" cy="5486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The OS image — Ubuntu 24.04, Amazon Linux, or your own golden image.</a:t>
            </a:r>
            <a:endParaRPr b="0" i="0" sz="1100" u="none" cap="none" strike="noStrike">
              <a:solidFill>
                <a:schemeClr val="dk1"/>
              </a:solidFill>
              <a:latin typeface="Calibri"/>
              <a:ea typeface="Calibri"/>
              <a:cs typeface="Calibri"/>
              <a:sym typeface="Calibri"/>
            </a:endParaRPr>
          </a:p>
        </p:txBody>
      </p:sp>
      <p:sp>
        <p:nvSpPr>
          <p:cNvPr id="408" name="Google Shape;408;p14"/>
          <p:cNvSpPr/>
          <p:nvPr/>
        </p:nvSpPr>
        <p:spPr>
          <a:xfrm>
            <a:off x="502920" y="4206240"/>
            <a:ext cx="3383280" cy="1463040"/>
          </a:xfrm>
          <a:prstGeom prst="roundRect">
            <a:avLst>
              <a:gd fmla="val 5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704088" y="438912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0" name="Google Shape;410;p14"/>
          <p:cNvPicPr preferRelativeResize="0"/>
          <p:nvPr/>
        </p:nvPicPr>
        <p:blipFill rotWithShape="1">
          <a:blip r:embed="rId6">
            <a:alphaModFix/>
          </a:blip>
          <a:srcRect b="0" l="0" r="0" t="0"/>
          <a:stretch/>
        </p:blipFill>
        <p:spPr>
          <a:xfrm>
            <a:off x="822960" y="4507992"/>
            <a:ext cx="237744" cy="237744"/>
          </a:xfrm>
          <a:prstGeom prst="rect">
            <a:avLst/>
          </a:prstGeom>
          <a:noFill/>
          <a:ln>
            <a:noFill/>
          </a:ln>
        </p:spPr>
      </p:pic>
      <p:sp>
        <p:nvSpPr>
          <p:cNvPr id="411" name="Google Shape;411;p14"/>
          <p:cNvSpPr/>
          <p:nvPr/>
        </p:nvSpPr>
        <p:spPr>
          <a:xfrm>
            <a:off x="1307592" y="4352544"/>
            <a:ext cx="2423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Instance type</a:t>
            </a:r>
            <a:endParaRPr b="0" i="0" sz="1350" u="none" cap="none" strike="noStrike">
              <a:solidFill>
                <a:schemeClr val="dk1"/>
              </a:solidFill>
              <a:latin typeface="Calibri"/>
              <a:ea typeface="Calibri"/>
              <a:cs typeface="Calibri"/>
              <a:sym typeface="Calibri"/>
            </a:endParaRPr>
          </a:p>
        </p:txBody>
      </p:sp>
      <p:sp>
        <p:nvSpPr>
          <p:cNvPr id="412" name="Google Shape;412;p14"/>
          <p:cNvSpPr/>
          <p:nvPr/>
        </p:nvSpPr>
        <p:spPr>
          <a:xfrm>
            <a:off x="722376" y="4983480"/>
            <a:ext cx="2944368" cy="5486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CPU + RAM combo, e.g. t3.medium = 2 vCPU, 4 GiB.</a:t>
            </a:r>
            <a:endParaRPr b="0" i="0" sz="1100" u="none" cap="none" strike="noStrike">
              <a:solidFill>
                <a:schemeClr val="dk1"/>
              </a:solidFill>
              <a:latin typeface="Calibri"/>
              <a:ea typeface="Calibri"/>
              <a:cs typeface="Calibri"/>
              <a:sym typeface="Calibri"/>
            </a:endParaRPr>
          </a:p>
        </p:txBody>
      </p:sp>
      <p:sp>
        <p:nvSpPr>
          <p:cNvPr id="413" name="Google Shape;413;p14"/>
          <p:cNvSpPr/>
          <p:nvPr/>
        </p:nvSpPr>
        <p:spPr>
          <a:xfrm>
            <a:off x="8321040" y="2286000"/>
            <a:ext cx="3383280" cy="1463040"/>
          </a:xfrm>
          <a:prstGeom prst="roundRect">
            <a:avLst>
              <a:gd fmla="val 5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4"/>
          <p:cNvSpPr/>
          <p:nvPr/>
        </p:nvSpPr>
        <p:spPr>
          <a:xfrm>
            <a:off x="8522208" y="246888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5" name="Google Shape;415;p14"/>
          <p:cNvPicPr preferRelativeResize="0"/>
          <p:nvPr/>
        </p:nvPicPr>
        <p:blipFill rotWithShape="1">
          <a:blip r:embed="rId7">
            <a:alphaModFix/>
          </a:blip>
          <a:srcRect b="0" l="0" r="0" t="0"/>
          <a:stretch/>
        </p:blipFill>
        <p:spPr>
          <a:xfrm>
            <a:off x="8641080" y="2587752"/>
            <a:ext cx="237744" cy="237744"/>
          </a:xfrm>
          <a:prstGeom prst="rect">
            <a:avLst/>
          </a:prstGeom>
          <a:noFill/>
          <a:ln>
            <a:noFill/>
          </a:ln>
        </p:spPr>
      </p:pic>
      <p:sp>
        <p:nvSpPr>
          <p:cNvPr id="416" name="Google Shape;416;p14"/>
          <p:cNvSpPr/>
          <p:nvPr/>
        </p:nvSpPr>
        <p:spPr>
          <a:xfrm>
            <a:off x="9125712" y="2432304"/>
            <a:ext cx="2423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EBS volume</a:t>
            </a:r>
            <a:endParaRPr b="0" i="0" sz="1350" u="none" cap="none" strike="noStrike">
              <a:solidFill>
                <a:schemeClr val="dk1"/>
              </a:solidFill>
              <a:latin typeface="Calibri"/>
              <a:ea typeface="Calibri"/>
              <a:cs typeface="Calibri"/>
              <a:sym typeface="Calibri"/>
            </a:endParaRPr>
          </a:p>
        </p:txBody>
      </p:sp>
      <p:sp>
        <p:nvSpPr>
          <p:cNvPr id="417" name="Google Shape;417;p14"/>
          <p:cNvSpPr/>
          <p:nvPr/>
        </p:nvSpPr>
        <p:spPr>
          <a:xfrm>
            <a:off x="8540496" y="3063240"/>
            <a:ext cx="2944368" cy="5486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Network-attached disk. Survives stop/start; snapshot-able.</a:t>
            </a:r>
            <a:endParaRPr b="0" i="0" sz="1100" u="none" cap="none" strike="noStrike">
              <a:solidFill>
                <a:schemeClr val="dk1"/>
              </a:solidFill>
              <a:latin typeface="Calibri"/>
              <a:ea typeface="Calibri"/>
              <a:cs typeface="Calibri"/>
              <a:sym typeface="Calibri"/>
            </a:endParaRPr>
          </a:p>
        </p:txBody>
      </p:sp>
      <p:sp>
        <p:nvSpPr>
          <p:cNvPr id="418" name="Google Shape;418;p14"/>
          <p:cNvSpPr/>
          <p:nvPr/>
        </p:nvSpPr>
        <p:spPr>
          <a:xfrm>
            <a:off x="8321040" y="4206240"/>
            <a:ext cx="3383280" cy="1463040"/>
          </a:xfrm>
          <a:prstGeom prst="roundRect">
            <a:avLst>
              <a:gd fmla="val 5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8522208" y="438912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0" name="Google Shape;420;p14"/>
          <p:cNvPicPr preferRelativeResize="0"/>
          <p:nvPr/>
        </p:nvPicPr>
        <p:blipFill rotWithShape="1">
          <a:blip r:embed="rId8">
            <a:alphaModFix/>
          </a:blip>
          <a:srcRect b="0" l="0" r="0" t="0"/>
          <a:stretch/>
        </p:blipFill>
        <p:spPr>
          <a:xfrm>
            <a:off x="8641080" y="4507992"/>
            <a:ext cx="237744" cy="237744"/>
          </a:xfrm>
          <a:prstGeom prst="rect">
            <a:avLst/>
          </a:prstGeom>
          <a:noFill/>
          <a:ln>
            <a:noFill/>
          </a:ln>
        </p:spPr>
      </p:pic>
      <p:sp>
        <p:nvSpPr>
          <p:cNvPr id="421" name="Google Shape;421;p14"/>
          <p:cNvSpPr/>
          <p:nvPr/>
        </p:nvSpPr>
        <p:spPr>
          <a:xfrm>
            <a:off x="9125712" y="4352544"/>
            <a:ext cx="2423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Security group</a:t>
            </a:r>
            <a:endParaRPr b="0" i="0" sz="1350" u="none" cap="none" strike="noStrike">
              <a:solidFill>
                <a:schemeClr val="dk1"/>
              </a:solidFill>
              <a:latin typeface="Calibri"/>
              <a:ea typeface="Calibri"/>
              <a:cs typeface="Calibri"/>
              <a:sym typeface="Calibri"/>
            </a:endParaRPr>
          </a:p>
        </p:txBody>
      </p:sp>
      <p:sp>
        <p:nvSpPr>
          <p:cNvPr id="422" name="Google Shape;422;p14"/>
          <p:cNvSpPr/>
          <p:nvPr/>
        </p:nvSpPr>
        <p:spPr>
          <a:xfrm>
            <a:off x="8540496" y="4983480"/>
            <a:ext cx="2944368" cy="5486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Instance-level firewall — allow SSH from you, HTTP from world.</a:t>
            </a:r>
            <a:endParaRPr b="0" i="0" sz="1100" u="none" cap="none" strike="noStrike">
              <a:solidFill>
                <a:schemeClr val="dk1"/>
              </a:solidFill>
              <a:latin typeface="Calibri"/>
              <a:ea typeface="Calibri"/>
              <a:cs typeface="Calibri"/>
              <a:sym typeface="Calibri"/>
            </a:endParaRPr>
          </a:p>
        </p:txBody>
      </p:sp>
      <p:sp>
        <p:nvSpPr>
          <p:cNvPr id="423" name="Google Shape;423;p14"/>
          <p:cNvSpPr/>
          <p:nvPr/>
        </p:nvSpPr>
        <p:spPr>
          <a:xfrm>
            <a:off x="4297680" y="2148840"/>
            <a:ext cx="3566160" cy="713232"/>
          </a:xfrm>
          <a:prstGeom prst="roundRect">
            <a:avLst>
              <a:gd fmla="val 10256"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4" name="Google Shape;424;p14"/>
          <p:cNvPicPr preferRelativeResize="0"/>
          <p:nvPr/>
        </p:nvPicPr>
        <p:blipFill rotWithShape="1">
          <a:blip r:embed="rId9">
            <a:alphaModFix/>
          </a:blip>
          <a:srcRect b="0" l="0" r="0" t="0"/>
          <a:stretch/>
        </p:blipFill>
        <p:spPr>
          <a:xfrm>
            <a:off x="4517136" y="2377440"/>
            <a:ext cx="256032" cy="256032"/>
          </a:xfrm>
          <a:prstGeom prst="rect">
            <a:avLst/>
          </a:prstGeom>
          <a:noFill/>
          <a:ln>
            <a:noFill/>
          </a:ln>
        </p:spPr>
      </p:pic>
      <p:sp>
        <p:nvSpPr>
          <p:cNvPr id="425" name="Google Shape;425;p14"/>
          <p:cNvSpPr/>
          <p:nvPr/>
        </p:nvSpPr>
        <p:spPr>
          <a:xfrm>
            <a:off x="4892040" y="2148840"/>
            <a:ext cx="2926080" cy="713232"/>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F8FAFC"/>
              </a:buClr>
              <a:buSzPts val="1300"/>
              <a:buFont typeface="Bookman Old Style"/>
              <a:buNone/>
            </a:pPr>
            <a:r>
              <a:rPr b="1" i="0" lang="en-US" sz="1300" u="none" cap="none" strike="noStrike">
                <a:solidFill>
                  <a:srgbClr val="F8FAFC"/>
                </a:solidFill>
                <a:latin typeface="Bookman Old Style"/>
                <a:ea typeface="Bookman Old Style"/>
                <a:cs typeface="Bookman Old Style"/>
                <a:sym typeface="Bookman Old Style"/>
              </a:rPr>
              <a:t>Key pair</a:t>
            </a:r>
            <a:r>
              <a:rPr b="0" i="0" lang="en-US" sz="1100" u="none" cap="none" strike="noStrike">
                <a:solidFill>
                  <a:srgbClr val="E2E8F0"/>
                </a:solidFill>
                <a:latin typeface="Calibri"/>
                <a:ea typeface="Calibri"/>
                <a:cs typeface="Calibri"/>
                <a:sym typeface="Calibri"/>
              </a:rPr>
              <a:t>  —  SSH public key injected at launch: your way in.</a:t>
            </a:r>
            <a:endParaRPr b="0" i="0" sz="1300" u="none" cap="none" strike="noStrike">
              <a:solidFill>
                <a:schemeClr val="dk1"/>
              </a:solidFill>
              <a:latin typeface="Calibri"/>
              <a:ea typeface="Calibri"/>
              <a:cs typeface="Calibri"/>
              <a:sym typeface="Calibri"/>
            </a:endParaRPr>
          </a:p>
        </p:txBody>
      </p:sp>
      <p:cxnSp>
        <p:nvCxnSpPr>
          <p:cNvPr id="426" name="Google Shape;426;p14"/>
          <p:cNvCxnSpPr/>
          <p:nvPr/>
        </p:nvCxnSpPr>
        <p:spPr>
          <a:xfrm>
            <a:off x="6080760" y="2871216"/>
            <a:ext cx="0" cy="128016"/>
          </a:xfrm>
          <a:prstGeom prst="straightConnector1">
            <a:avLst/>
          </a:prstGeom>
          <a:noFill/>
          <a:ln cap="flat" cmpd="sng" w="19050">
            <a:solidFill>
              <a:srgbClr val="334155"/>
            </a:solidFill>
            <a:prstDash val="solid"/>
            <a:round/>
            <a:headEnd len="sm" w="sm" type="none"/>
            <a:tailEnd len="med" w="med" type="stealth"/>
          </a:ln>
        </p:spPr>
      </p:cxnSp>
      <p:cxnSp>
        <p:nvCxnSpPr>
          <p:cNvPr id="427" name="Google Shape;427;p14"/>
          <p:cNvCxnSpPr/>
          <p:nvPr/>
        </p:nvCxnSpPr>
        <p:spPr>
          <a:xfrm>
            <a:off x="3904488" y="3017520"/>
            <a:ext cx="374904" cy="228600"/>
          </a:xfrm>
          <a:prstGeom prst="straightConnector1">
            <a:avLst/>
          </a:prstGeom>
          <a:noFill/>
          <a:ln cap="flat" cmpd="sng" w="19050">
            <a:solidFill>
              <a:srgbClr val="334155"/>
            </a:solidFill>
            <a:prstDash val="solid"/>
            <a:round/>
            <a:headEnd len="sm" w="sm" type="none"/>
            <a:tailEnd len="med" w="med" type="stealth"/>
          </a:ln>
        </p:spPr>
      </p:cxnSp>
      <p:cxnSp>
        <p:nvCxnSpPr>
          <p:cNvPr id="428" name="Google Shape;428;p14"/>
          <p:cNvCxnSpPr/>
          <p:nvPr/>
        </p:nvCxnSpPr>
        <p:spPr>
          <a:xfrm flipH="1" rot="10800000">
            <a:off x="3904488" y="4434840"/>
            <a:ext cx="374904" cy="411480"/>
          </a:xfrm>
          <a:prstGeom prst="straightConnector1">
            <a:avLst/>
          </a:prstGeom>
          <a:noFill/>
          <a:ln cap="flat" cmpd="sng" w="19050">
            <a:solidFill>
              <a:srgbClr val="334155"/>
            </a:solidFill>
            <a:prstDash val="solid"/>
            <a:round/>
            <a:headEnd len="sm" w="sm" type="none"/>
            <a:tailEnd len="med" w="med" type="stealth"/>
          </a:ln>
        </p:spPr>
      </p:cxnSp>
      <p:cxnSp>
        <p:nvCxnSpPr>
          <p:cNvPr id="429" name="Google Shape;429;p14"/>
          <p:cNvCxnSpPr/>
          <p:nvPr/>
        </p:nvCxnSpPr>
        <p:spPr>
          <a:xfrm flipH="1">
            <a:off x="7882128" y="3017520"/>
            <a:ext cx="420624" cy="228600"/>
          </a:xfrm>
          <a:prstGeom prst="straightConnector1">
            <a:avLst/>
          </a:prstGeom>
          <a:noFill/>
          <a:ln cap="flat" cmpd="sng" w="19050">
            <a:solidFill>
              <a:srgbClr val="334155"/>
            </a:solidFill>
            <a:prstDash val="solid"/>
            <a:round/>
            <a:headEnd len="sm" w="sm" type="none"/>
            <a:tailEnd len="med" w="med" type="stealth"/>
          </a:ln>
        </p:spPr>
      </p:cxnSp>
      <p:cxnSp>
        <p:nvCxnSpPr>
          <p:cNvPr id="430" name="Google Shape;430;p14"/>
          <p:cNvCxnSpPr/>
          <p:nvPr/>
        </p:nvCxnSpPr>
        <p:spPr>
          <a:xfrm rot="10800000">
            <a:off x="7882128" y="4434840"/>
            <a:ext cx="420624" cy="411480"/>
          </a:xfrm>
          <a:prstGeom prst="straightConnector1">
            <a:avLst/>
          </a:prstGeom>
          <a:noFill/>
          <a:ln cap="flat" cmpd="sng" w="19050">
            <a:solidFill>
              <a:srgbClr val="334155"/>
            </a:solidFill>
            <a:prstDash val="solid"/>
            <a:round/>
            <a:headEnd len="sm" w="sm" type="none"/>
            <a:tailEnd len="med" w="med" type="stealth"/>
          </a:ln>
        </p:spPr>
      </p:cxnSp>
      <p:sp>
        <p:nvSpPr>
          <p:cNvPr id="431" name="Google Shape;431;p14"/>
          <p:cNvSpPr/>
          <p:nvPr/>
        </p:nvSpPr>
        <p:spPr>
          <a:xfrm>
            <a:off x="502920" y="5852160"/>
            <a:ext cx="11155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1" lang="en-US" sz="1300" u="none" cap="none" strike="noStrike">
                <a:solidFill>
                  <a:srgbClr val="94A3B8"/>
                </a:solidFill>
                <a:latin typeface="Calibri"/>
                <a:ea typeface="Calibri"/>
                <a:cs typeface="Calibri"/>
                <a:sym typeface="Calibri"/>
              </a:rPr>
              <a:t>Same ideas as Vagrant: box → AMI · Vagrantfile CPU/RAM → instance type · synced disk → EBS · forwarded ports → security group.</a:t>
            </a:r>
            <a:endParaRPr b="0" i="0" sz="1300" u="none" cap="none" strike="noStrike">
              <a:solidFill>
                <a:schemeClr val="dk1"/>
              </a:solidFill>
              <a:latin typeface="Calibri"/>
              <a:ea typeface="Calibri"/>
              <a:cs typeface="Calibri"/>
              <a:sym typeface="Calibri"/>
            </a:endParaRPr>
          </a:p>
        </p:txBody>
      </p:sp>
      <p:sp>
        <p:nvSpPr>
          <p:cNvPr id="432" name="Google Shape;432;p14"/>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433" name="Google Shape;433;p14"/>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EC2 anatomy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38" name="Shape 438"/>
        <p:cNvGrpSpPr/>
        <p:nvPr/>
      </p:nvGrpSpPr>
      <p:grpSpPr>
        <a:xfrm>
          <a:off x="0" y="0"/>
          <a:ext cx="0" cy="0"/>
          <a:chOff x="0" y="0"/>
          <a:chExt cx="0" cy="0"/>
        </a:xfrm>
      </p:grpSpPr>
      <p:sp>
        <p:nvSpPr>
          <p:cNvPr id="439" name="Google Shape;439;p15"/>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EC2 · SIZING</a:t>
            </a:r>
            <a:endParaRPr b="0" i="0" sz="1200" u="none" cap="none" strike="noStrike">
              <a:solidFill>
                <a:schemeClr val="dk1"/>
              </a:solidFill>
              <a:latin typeface="Calibri"/>
              <a:ea typeface="Calibri"/>
              <a:cs typeface="Calibri"/>
              <a:sym typeface="Calibri"/>
            </a:endParaRPr>
          </a:p>
        </p:txBody>
      </p:sp>
      <p:sp>
        <p:nvSpPr>
          <p:cNvPr id="440" name="Google Shape;440;p15"/>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Decoding instance types</a:t>
            </a:r>
            <a:endParaRPr b="0" i="0" sz="3000" u="none" cap="none" strike="noStrike">
              <a:solidFill>
                <a:schemeClr val="dk1"/>
              </a:solidFill>
              <a:latin typeface="Calibri"/>
              <a:ea typeface="Calibri"/>
              <a:cs typeface="Calibri"/>
              <a:sym typeface="Calibri"/>
            </a:endParaRPr>
          </a:p>
        </p:txBody>
      </p:sp>
      <p:sp>
        <p:nvSpPr>
          <p:cNvPr id="441" name="Google Shape;441;p15"/>
          <p:cNvSpPr/>
          <p:nvPr/>
        </p:nvSpPr>
        <p:spPr>
          <a:xfrm>
            <a:off x="502920" y="1417320"/>
            <a:ext cx="11183112" cy="1371600"/>
          </a:xfrm>
          <a:prstGeom prst="roundRect">
            <a:avLst>
              <a:gd fmla="val 5333"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p:nvPr/>
        </p:nvSpPr>
        <p:spPr>
          <a:xfrm>
            <a:off x="777240" y="1554480"/>
            <a:ext cx="32918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4400"/>
              <a:buFont typeface="Courier New"/>
              <a:buNone/>
            </a:pPr>
            <a:r>
              <a:rPr b="1" i="0" lang="en-US" sz="4400" u="none" cap="none" strike="noStrike">
                <a:solidFill>
                  <a:srgbClr val="F97316"/>
                </a:solidFill>
                <a:latin typeface="Courier New"/>
                <a:ea typeface="Courier New"/>
                <a:cs typeface="Courier New"/>
                <a:sym typeface="Courier New"/>
              </a:rPr>
              <a:t>t</a:t>
            </a:r>
            <a:r>
              <a:rPr b="1" i="0" lang="en-US" sz="4400" u="none" cap="none" strike="noStrike">
                <a:solidFill>
                  <a:srgbClr val="2DD4BF"/>
                </a:solidFill>
                <a:latin typeface="Courier New"/>
                <a:ea typeface="Courier New"/>
                <a:cs typeface="Courier New"/>
                <a:sym typeface="Courier New"/>
              </a:rPr>
              <a:t>3</a:t>
            </a:r>
            <a:r>
              <a:rPr b="0" i="0" lang="en-US" sz="4400" u="none" cap="none" strike="noStrike">
                <a:solidFill>
                  <a:srgbClr val="94A3B8"/>
                </a:solidFill>
                <a:latin typeface="Courier New"/>
                <a:ea typeface="Courier New"/>
                <a:cs typeface="Courier New"/>
                <a:sym typeface="Courier New"/>
              </a:rPr>
              <a:t>.</a:t>
            </a:r>
            <a:r>
              <a:rPr b="1" i="0" lang="en-US" sz="4400" u="none" cap="none" strike="noStrike">
                <a:solidFill>
                  <a:srgbClr val="FF9900"/>
                </a:solidFill>
                <a:latin typeface="Courier New"/>
                <a:ea typeface="Courier New"/>
                <a:cs typeface="Courier New"/>
                <a:sym typeface="Courier New"/>
              </a:rPr>
              <a:t>medium</a:t>
            </a:r>
            <a:endParaRPr b="0" i="0" sz="4400" u="none" cap="none" strike="noStrike">
              <a:solidFill>
                <a:schemeClr val="dk1"/>
              </a:solidFill>
              <a:latin typeface="Calibri"/>
              <a:ea typeface="Calibri"/>
              <a:cs typeface="Calibri"/>
              <a:sym typeface="Calibri"/>
            </a:endParaRPr>
          </a:p>
        </p:txBody>
      </p:sp>
      <p:sp>
        <p:nvSpPr>
          <p:cNvPr id="443" name="Google Shape;443;p15"/>
          <p:cNvSpPr/>
          <p:nvPr/>
        </p:nvSpPr>
        <p:spPr>
          <a:xfrm>
            <a:off x="4206240" y="1536192"/>
            <a:ext cx="7315200" cy="118872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F97316"/>
              </a:buClr>
              <a:buSzPts val="1300"/>
              <a:buFont typeface="Calibri"/>
              <a:buNone/>
            </a:pPr>
            <a:r>
              <a:rPr b="1" i="0" lang="en-US" sz="1300" u="none" cap="none" strike="noStrike">
                <a:solidFill>
                  <a:srgbClr val="F97316"/>
                </a:solidFill>
                <a:latin typeface="Calibri"/>
                <a:ea typeface="Calibri"/>
                <a:cs typeface="Calibri"/>
                <a:sym typeface="Calibri"/>
              </a:rPr>
              <a:t>family</a:t>
            </a:r>
            <a:r>
              <a:rPr b="0" i="0" lang="en-US" sz="1300" u="none" cap="none" strike="noStrike">
                <a:solidFill>
                  <a:srgbClr val="E2E8F0"/>
                </a:solidFill>
                <a:latin typeface="Calibri"/>
                <a:ea typeface="Calibri"/>
                <a:cs typeface="Calibri"/>
                <a:sym typeface="Calibri"/>
              </a:rPr>
              <a:t> — workload shape (t = burstable general purpose)</a:t>
            </a:r>
            <a:br>
              <a:rPr b="0" i="0" lang="en-US" sz="1300" u="none" cap="none" strike="noStrike">
                <a:solidFill>
                  <a:srgbClr val="E2E8F0"/>
                </a:solidFill>
                <a:latin typeface="Calibri"/>
                <a:ea typeface="Calibri"/>
                <a:cs typeface="Calibri"/>
                <a:sym typeface="Calibri"/>
              </a:rPr>
            </a:br>
            <a:r>
              <a:rPr b="1" i="0" lang="en-US" sz="1300" u="none" cap="none" strike="noStrike">
                <a:solidFill>
                  <a:srgbClr val="2DD4BF"/>
                </a:solidFill>
                <a:latin typeface="Calibri"/>
                <a:ea typeface="Calibri"/>
                <a:cs typeface="Calibri"/>
                <a:sym typeface="Calibri"/>
              </a:rPr>
              <a:t>generation</a:t>
            </a:r>
            <a:r>
              <a:rPr b="0" i="0" lang="en-US" sz="1300" u="none" cap="none" strike="noStrike">
                <a:solidFill>
                  <a:srgbClr val="E2E8F0"/>
                </a:solidFill>
                <a:latin typeface="Calibri"/>
                <a:ea typeface="Calibri"/>
                <a:cs typeface="Calibri"/>
                <a:sym typeface="Calibri"/>
              </a:rPr>
              <a:t> — hardware version, newer = faster &amp; cheaper</a:t>
            </a:r>
            <a:br>
              <a:rPr b="0" i="0" lang="en-US" sz="1300" u="none" cap="none" strike="noStrike">
                <a:solidFill>
                  <a:srgbClr val="E2E8F0"/>
                </a:solidFill>
                <a:latin typeface="Calibri"/>
                <a:ea typeface="Calibri"/>
                <a:cs typeface="Calibri"/>
                <a:sym typeface="Calibri"/>
              </a:rPr>
            </a:br>
            <a:r>
              <a:rPr b="1" i="0" lang="en-US" sz="1300" u="none" cap="none" strike="noStrike">
                <a:solidFill>
                  <a:srgbClr val="FF9900"/>
                </a:solidFill>
                <a:latin typeface="Calibri"/>
                <a:ea typeface="Calibri"/>
                <a:cs typeface="Calibri"/>
                <a:sym typeface="Calibri"/>
              </a:rPr>
              <a:t>size</a:t>
            </a:r>
            <a:r>
              <a:rPr b="0" i="0" lang="en-US" sz="1300" u="none" cap="none" strike="noStrike">
                <a:solidFill>
                  <a:srgbClr val="E2E8F0"/>
                </a:solidFill>
                <a:latin typeface="Calibri"/>
                <a:ea typeface="Calibri"/>
                <a:cs typeface="Calibri"/>
                <a:sym typeface="Calibri"/>
              </a:rPr>
              <a:t> — CPU/RAM scale: medium → large → xlarge doubles each step</a:t>
            </a:r>
            <a:endParaRPr b="0" i="0" sz="1300" u="none" cap="none" strike="noStrike">
              <a:solidFill>
                <a:schemeClr val="dk1"/>
              </a:solidFill>
              <a:latin typeface="Calibri"/>
              <a:ea typeface="Calibri"/>
              <a:cs typeface="Calibri"/>
              <a:sym typeface="Calibri"/>
            </a:endParaRPr>
          </a:p>
        </p:txBody>
      </p:sp>
      <p:sp>
        <p:nvSpPr>
          <p:cNvPr id="444" name="Google Shape;444;p15"/>
          <p:cNvSpPr/>
          <p:nvPr/>
        </p:nvSpPr>
        <p:spPr>
          <a:xfrm>
            <a:off x="502920" y="3063240"/>
            <a:ext cx="11183112" cy="54864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731520" y="3063240"/>
            <a:ext cx="1188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400"/>
              <a:buFont typeface="Courier New"/>
              <a:buNone/>
            </a:pPr>
            <a:r>
              <a:rPr b="1" i="0" lang="en-US" sz="1400" u="none" cap="none" strike="noStrike">
                <a:solidFill>
                  <a:srgbClr val="FF9900"/>
                </a:solidFill>
                <a:latin typeface="Courier New"/>
                <a:ea typeface="Courier New"/>
                <a:cs typeface="Courier New"/>
                <a:sym typeface="Courier New"/>
              </a:rPr>
              <a:t>t / m</a:t>
            </a:r>
            <a:endParaRPr b="0" i="0" sz="1400" u="none" cap="none" strike="noStrike">
              <a:solidFill>
                <a:schemeClr val="dk1"/>
              </a:solidFill>
              <a:latin typeface="Calibri"/>
              <a:ea typeface="Calibri"/>
              <a:cs typeface="Calibri"/>
              <a:sym typeface="Calibri"/>
            </a:endParaRPr>
          </a:p>
        </p:txBody>
      </p:sp>
      <p:sp>
        <p:nvSpPr>
          <p:cNvPr id="446" name="Google Shape;446;p15"/>
          <p:cNvSpPr/>
          <p:nvPr/>
        </p:nvSpPr>
        <p:spPr>
          <a:xfrm>
            <a:off x="2103120" y="3063240"/>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General purpose</a:t>
            </a:r>
            <a:endParaRPr b="0" i="0" sz="1250" u="none" cap="none" strike="noStrike">
              <a:solidFill>
                <a:schemeClr val="dk1"/>
              </a:solidFill>
              <a:latin typeface="Calibri"/>
              <a:ea typeface="Calibri"/>
              <a:cs typeface="Calibri"/>
              <a:sym typeface="Calibri"/>
            </a:endParaRPr>
          </a:p>
        </p:txBody>
      </p:sp>
      <p:sp>
        <p:nvSpPr>
          <p:cNvPr id="447" name="Google Shape;447;p15"/>
          <p:cNvSpPr/>
          <p:nvPr/>
        </p:nvSpPr>
        <p:spPr>
          <a:xfrm>
            <a:off x="5303520" y="3063240"/>
            <a:ext cx="6217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Web servers, dev boxes, small DBs — our labs</a:t>
            </a:r>
            <a:endParaRPr b="0" i="0" sz="1200" u="none" cap="none" strike="noStrike">
              <a:solidFill>
                <a:schemeClr val="dk1"/>
              </a:solidFill>
              <a:latin typeface="Calibri"/>
              <a:ea typeface="Calibri"/>
              <a:cs typeface="Calibri"/>
              <a:sym typeface="Calibri"/>
            </a:endParaRPr>
          </a:p>
        </p:txBody>
      </p:sp>
      <p:sp>
        <p:nvSpPr>
          <p:cNvPr id="448" name="Google Shape;448;p15"/>
          <p:cNvSpPr/>
          <p:nvPr/>
        </p:nvSpPr>
        <p:spPr>
          <a:xfrm>
            <a:off x="502920" y="3685032"/>
            <a:ext cx="11183112" cy="54864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5"/>
          <p:cNvSpPr/>
          <p:nvPr/>
        </p:nvSpPr>
        <p:spPr>
          <a:xfrm>
            <a:off x="731520" y="3685032"/>
            <a:ext cx="1188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400"/>
              <a:buFont typeface="Courier New"/>
              <a:buNone/>
            </a:pPr>
            <a:r>
              <a:rPr b="1" i="0" lang="en-US" sz="1400" u="none" cap="none" strike="noStrike">
                <a:solidFill>
                  <a:srgbClr val="2DD4BF"/>
                </a:solidFill>
                <a:latin typeface="Courier New"/>
                <a:ea typeface="Courier New"/>
                <a:cs typeface="Courier New"/>
                <a:sym typeface="Courier New"/>
              </a:rPr>
              <a:t>c</a:t>
            </a:r>
            <a:endParaRPr b="0" i="0" sz="1400" u="none" cap="none" strike="noStrike">
              <a:solidFill>
                <a:schemeClr val="dk1"/>
              </a:solidFill>
              <a:latin typeface="Calibri"/>
              <a:ea typeface="Calibri"/>
              <a:cs typeface="Calibri"/>
              <a:sym typeface="Calibri"/>
            </a:endParaRPr>
          </a:p>
        </p:txBody>
      </p:sp>
      <p:sp>
        <p:nvSpPr>
          <p:cNvPr id="450" name="Google Shape;450;p15"/>
          <p:cNvSpPr/>
          <p:nvPr/>
        </p:nvSpPr>
        <p:spPr>
          <a:xfrm>
            <a:off x="2103120" y="3685032"/>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Compute optimized</a:t>
            </a:r>
            <a:endParaRPr b="0" i="0" sz="1250" u="none" cap="none" strike="noStrike">
              <a:solidFill>
                <a:schemeClr val="dk1"/>
              </a:solidFill>
              <a:latin typeface="Calibri"/>
              <a:ea typeface="Calibri"/>
              <a:cs typeface="Calibri"/>
              <a:sym typeface="Calibri"/>
            </a:endParaRPr>
          </a:p>
        </p:txBody>
      </p:sp>
      <p:sp>
        <p:nvSpPr>
          <p:cNvPr id="451" name="Google Shape;451;p15"/>
          <p:cNvSpPr/>
          <p:nvPr/>
        </p:nvSpPr>
        <p:spPr>
          <a:xfrm>
            <a:off x="5303520" y="3685032"/>
            <a:ext cx="6217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CI runners, batch jobs, video encoding</a:t>
            </a:r>
            <a:endParaRPr b="0" i="0" sz="1200" u="none" cap="none" strike="noStrike">
              <a:solidFill>
                <a:schemeClr val="dk1"/>
              </a:solidFill>
              <a:latin typeface="Calibri"/>
              <a:ea typeface="Calibri"/>
              <a:cs typeface="Calibri"/>
              <a:sym typeface="Calibri"/>
            </a:endParaRPr>
          </a:p>
        </p:txBody>
      </p:sp>
      <p:sp>
        <p:nvSpPr>
          <p:cNvPr id="452" name="Google Shape;452;p15"/>
          <p:cNvSpPr/>
          <p:nvPr/>
        </p:nvSpPr>
        <p:spPr>
          <a:xfrm>
            <a:off x="502920" y="4306824"/>
            <a:ext cx="11183112" cy="54864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5"/>
          <p:cNvSpPr/>
          <p:nvPr/>
        </p:nvSpPr>
        <p:spPr>
          <a:xfrm>
            <a:off x="731520" y="4306824"/>
            <a:ext cx="1188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400"/>
              <a:buFont typeface="Courier New"/>
              <a:buNone/>
            </a:pPr>
            <a:r>
              <a:rPr b="1" i="0" lang="en-US" sz="1400" u="none" cap="none" strike="noStrike">
                <a:solidFill>
                  <a:srgbClr val="2DD4BF"/>
                </a:solidFill>
                <a:latin typeface="Courier New"/>
                <a:ea typeface="Courier New"/>
                <a:cs typeface="Courier New"/>
                <a:sym typeface="Courier New"/>
              </a:rPr>
              <a:t>r / x</a:t>
            </a:r>
            <a:endParaRPr b="0" i="0" sz="1400" u="none" cap="none" strike="noStrike">
              <a:solidFill>
                <a:schemeClr val="dk1"/>
              </a:solidFill>
              <a:latin typeface="Calibri"/>
              <a:ea typeface="Calibri"/>
              <a:cs typeface="Calibri"/>
              <a:sym typeface="Calibri"/>
            </a:endParaRPr>
          </a:p>
        </p:txBody>
      </p:sp>
      <p:sp>
        <p:nvSpPr>
          <p:cNvPr id="454" name="Google Shape;454;p15"/>
          <p:cNvSpPr/>
          <p:nvPr/>
        </p:nvSpPr>
        <p:spPr>
          <a:xfrm>
            <a:off x="2103120" y="4306824"/>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Memory optimized</a:t>
            </a:r>
            <a:endParaRPr b="0" i="0" sz="1250" u="none" cap="none" strike="noStrike">
              <a:solidFill>
                <a:schemeClr val="dk1"/>
              </a:solidFill>
              <a:latin typeface="Calibri"/>
              <a:ea typeface="Calibri"/>
              <a:cs typeface="Calibri"/>
              <a:sym typeface="Calibri"/>
            </a:endParaRPr>
          </a:p>
        </p:txBody>
      </p:sp>
      <p:sp>
        <p:nvSpPr>
          <p:cNvPr id="455" name="Google Shape;455;p15"/>
          <p:cNvSpPr/>
          <p:nvPr/>
        </p:nvSpPr>
        <p:spPr>
          <a:xfrm>
            <a:off x="5303520" y="4306824"/>
            <a:ext cx="6217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Redis, big JVM heaps, in-memory analytics</a:t>
            </a:r>
            <a:endParaRPr b="0" i="0" sz="1200" u="none" cap="none" strike="noStrike">
              <a:solidFill>
                <a:schemeClr val="dk1"/>
              </a:solidFill>
              <a:latin typeface="Calibri"/>
              <a:ea typeface="Calibri"/>
              <a:cs typeface="Calibri"/>
              <a:sym typeface="Calibri"/>
            </a:endParaRPr>
          </a:p>
        </p:txBody>
      </p:sp>
      <p:sp>
        <p:nvSpPr>
          <p:cNvPr id="456" name="Google Shape;456;p15"/>
          <p:cNvSpPr/>
          <p:nvPr/>
        </p:nvSpPr>
        <p:spPr>
          <a:xfrm>
            <a:off x="502920" y="4928616"/>
            <a:ext cx="11183112" cy="54864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5"/>
          <p:cNvSpPr/>
          <p:nvPr/>
        </p:nvSpPr>
        <p:spPr>
          <a:xfrm>
            <a:off x="731520" y="4928616"/>
            <a:ext cx="1188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400"/>
              <a:buFont typeface="Courier New"/>
              <a:buNone/>
            </a:pPr>
            <a:r>
              <a:rPr b="1" i="0" lang="en-US" sz="1400" u="none" cap="none" strike="noStrike">
                <a:solidFill>
                  <a:srgbClr val="A78BFA"/>
                </a:solidFill>
                <a:latin typeface="Courier New"/>
                <a:ea typeface="Courier New"/>
                <a:cs typeface="Courier New"/>
                <a:sym typeface="Courier New"/>
              </a:rPr>
              <a:t>g / p</a:t>
            </a:r>
            <a:endParaRPr b="0" i="0" sz="1400" u="none" cap="none" strike="noStrike">
              <a:solidFill>
                <a:schemeClr val="dk1"/>
              </a:solidFill>
              <a:latin typeface="Calibri"/>
              <a:ea typeface="Calibri"/>
              <a:cs typeface="Calibri"/>
              <a:sym typeface="Calibri"/>
            </a:endParaRPr>
          </a:p>
        </p:txBody>
      </p:sp>
      <p:sp>
        <p:nvSpPr>
          <p:cNvPr id="458" name="Google Shape;458;p15"/>
          <p:cNvSpPr/>
          <p:nvPr/>
        </p:nvSpPr>
        <p:spPr>
          <a:xfrm>
            <a:off x="2103120" y="4928616"/>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GPU accelerated</a:t>
            </a:r>
            <a:endParaRPr b="0" i="0" sz="1250" u="none" cap="none" strike="noStrike">
              <a:solidFill>
                <a:schemeClr val="dk1"/>
              </a:solidFill>
              <a:latin typeface="Calibri"/>
              <a:ea typeface="Calibri"/>
              <a:cs typeface="Calibri"/>
              <a:sym typeface="Calibri"/>
            </a:endParaRPr>
          </a:p>
        </p:txBody>
      </p:sp>
      <p:sp>
        <p:nvSpPr>
          <p:cNvPr id="459" name="Google Shape;459;p15"/>
          <p:cNvSpPr/>
          <p:nvPr/>
        </p:nvSpPr>
        <p:spPr>
          <a:xfrm>
            <a:off x="5303520" y="4928616"/>
            <a:ext cx="6217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ML training &amp; inference</a:t>
            </a:r>
            <a:endParaRPr b="0" i="0" sz="1200" u="none" cap="none" strike="noStrike">
              <a:solidFill>
                <a:schemeClr val="dk1"/>
              </a:solidFill>
              <a:latin typeface="Calibri"/>
              <a:ea typeface="Calibri"/>
              <a:cs typeface="Calibri"/>
              <a:sym typeface="Calibri"/>
            </a:endParaRPr>
          </a:p>
        </p:txBody>
      </p:sp>
      <p:sp>
        <p:nvSpPr>
          <p:cNvPr id="460" name="Google Shape;460;p15"/>
          <p:cNvSpPr/>
          <p:nvPr/>
        </p:nvSpPr>
        <p:spPr>
          <a:xfrm>
            <a:off x="502920" y="5550408"/>
            <a:ext cx="11183112" cy="548640"/>
          </a:xfrm>
          <a:prstGeom prst="roundRect">
            <a:avLst>
              <a:gd fmla="val 10000"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5"/>
          <p:cNvSpPr/>
          <p:nvPr/>
        </p:nvSpPr>
        <p:spPr>
          <a:xfrm>
            <a:off x="731520" y="5550408"/>
            <a:ext cx="1188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400"/>
              <a:buFont typeface="Courier New"/>
              <a:buNone/>
            </a:pPr>
            <a:r>
              <a:rPr b="1" i="0" lang="en-US" sz="1400" u="none" cap="none" strike="noStrike">
                <a:solidFill>
                  <a:srgbClr val="2DD4BF"/>
                </a:solidFill>
                <a:latin typeface="Courier New"/>
                <a:ea typeface="Courier New"/>
                <a:cs typeface="Courier New"/>
                <a:sym typeface="Courier New"/>
              </a:rPr>
              <a:t>i / d</a:t>
            </a:r>
            <a:endParaRPr b="0" i="0" sz="1400" u="none" cap="none" strike="noStrike">
              <a:solidFill>
                <a:schemeClr val="dk1"/>
              </a:solidFill>
              <a:latin typeface="Calibri"/>
              <a:ea typeface="Calibri"/>
              <a:cs typeface="Calibri"/>
              <a:sym typeface="Calibri"/>
            </a:endParaRPr>
          </a:p>
        </p:txBody>
      </p:sp>
      <p:sp>
        <p:nvSpPr>
          <p:cNvPr id="462" name="Google Shape;462;p15"/>
          <p:cNvSpPr/>
          <p:nvPr/>
        </p:nvSpPr>
        <p:spPr>
          <a:xfrm>
            <a:off x="2103120" y="5550408"/>
            <a:ext cx="3017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Storage optimized</a:t>
            </a:r>
            <a:endParaRPr b="0" i="0" sz="1250" u="none" cap="none" strike="noStrike">
              <a:solidFill>
                <a:schemeClr val="dk1"/>
              </a:solidFill>
              <a:latin typeface="Calibri"/>
              <a:ea typeface="Calibri"/>
              <a:cs typeface="Calibri"/>
              <a:sym typeface="Calibri"/>
            </a:endParaRPr>
          </a:p>
        </p:txBody>
      </p:sp>
      <p:sp>
        <p:nvSpPr>
          <p:cNvPr id="463" name="Google Shape;463;p15"/>
          <p:cNvSpPr/>
          <p:nvPr/>
        </p:nvSpPr>
        <p:spPr>
          <a:xfrm>
            <a:off x="5303520" y="5550408"/>
            <a:ext cx="6217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High-IOPS databases, search clusters</a:t>
            </a:r>
            <a:endParaRPr b="0" i="0" sz="1200" u="none" cap="none" strike="noStrike">
              <a:solidFill>
                <a:schemeClr val="dk1"/>
              </a:solidFill>
              <a:latin typeface="Calibri"/>
              <a:ea typeface="Calibri"/>
              <a:cs typeface="Calibri"/>
              <a:sym typeface="Calibri"/>
            </a:endParaRPr>
          </a:p>
        </p:txBody>
      </p:sp>
      <p:sp>
        <p:nvSpPr>
          <p:cNvPr id="464" name="Google Shape;464;p15"/>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465" name="Google Shape;465;p15"/>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Instance types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70" name="Shape 470"/>
        <p:cNvGrpSpPr/>
        <p:nvPr/>
      </p:nvGrpSpPr>
      <p:grpSpPr>
        <a:xfrm>
          <a:off x="0" y="0"/>
          <a:ext cx="0" cy="0"/>
          <a:chOff x="0" y="0"/>
          <a:chExt cx="0" cy="0"/>
        </a:xfrm>
      </p:grpSpPr>
      <p:sp>
        <p:nvSpPr>
          <p:cNvPr id="471" name="Google Shape;471;p16"/>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EC2 · PRICING</a:t>
            </a:r>
            <a:endParaRPr b="0" i="0" sz="1200" u="none" cap="none" strike="noStrike">
              <a:solidFill>
                <a:schemeClr val="dk1"/>
              </a:solidFill>
              <a:latin typeface="Calibri"/>
              <a:ea typeface="Calibri"/>
              <a:cs typeface="Calibri"/>
              <a:sym typeface="Calibri"/>
            </a:endParaRPr>
          </a:p>
        </p:txBody>
      </p:sp>
      <p:sp>
        <p:nvSpPr>
          <p:cNvPr id="472" name="Google Shape;472;p16"/>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Lifecycle &amp; the three ways to pay</a:t>
            </a:r>
            <a:endParaRPr b="0" i="0" sz="3000" u="none" cap="none" strike="noStrike">
              <a:solidFill>
                <a:schemeClr val="dk1"/>
              </a:solidFill>
              <a:latin typeface="Calibri"/>
              <a:ea typeface="Calibri"/>
              <a:cs typeface="Calibri"/>
              <a:sym typeface="Calibri"/>
            </a:endParaRPr>
          </a:p>
        </p:txBody>
      </p:sp>
      <p:sp>
        <p:nvSpPr>
          <p:cNvPr id="473" name="Google Shape;473;p16"/>
          <p:cNvSpPr/>
          <p:nvPr/>
        </p:nvSpPr>
        <p:spPr>
          <a:xfrm>
            <a:off x="640080" y="1463040"/>
            <a:ext cx="1783080" cy="502920"/>
          </a:xfrm>
          <a:prstGeom prst="roundRect">
            <a:avLst>
              <a:gd fmla="val 10909" name="adj"/>
            </a:avLst>
          </a:prstGeom>
          <a:solidFill>
            <a:srgbClr val="1E293B"/>
          </a:solidFill>
          <a:ln cap="flat" cmpd="sng" w="12700">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a:off x="640080" y="1463040"/>
            <a:ext cx="1783080"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BBF24"/>
              </a:buClr>
              <a:buSzPts val="1200"/>
              <a:buFont typeface="Courier New"/>
              <a:buNone/>
            </a:pPr>
            <a:r>
              <a:rPr b="1" i="0" lang="en-US" sz="1200" u="none" cap="none" strike="noStrike">
                <a:solidFill>
                  <a:srgbClr val="FBBF24"/>
                </a:solidFill>
                <a:latin typeface="Courier New"/>
                <a:ea typeface="Courier New"/>
                <a:cs typeface="Courier New"/>
                <a:sym typeface="Courier New"/>
              </a:rPr>
              <a:t>pending</a:t>
            </a:r>
            <a:endParaRPr b="0" i="0" sz="1200" u="none" cap="none" strike="noStrike">
              <a:solidFill>
                <a:schemeClr val="dk1"/>
              </a:solidFill>
              <a:latin typeface="Calibri"/>
              <a:ea typeface="Calibri"/>
              <a:cs typeface="Calibri"/>
              <a:sym typeface="Calibri"/>
            </a:endParaRPr>
          </a:p>
        </p:txBody>
      </p:sp>
      <p:cxnSp>
        <p:nvCxnSpPr>
          <p:cNvPr id="475" name="Google Shape;475;p16"/>
          <p:cNvCxnSpPr/>
          <p:nvPr/>
        </p:nvCxnSpPr>
        <p:spPr>
          <a:xfrm>
            <a:off x="2423160" y="1709928"/>
            <a:ext cx="429768" cy="0"/>
          </a:xfrm>
          <a:prstGeom prst="straightConnector1">
            <a:avLst/>
          </a:prstGeom>
          <a:noFill/>
          <a:ln cap="flat" cmpd="sng" w="19050">
            <a:solidFill>
              <a:srgbClr val="334155"/>
            </a:solidFill>
            <a:prstDash val="solid"/>
            <a:round/>
            <a:headEnd len="sm" w="sm" type="none"/>
            <a:tailEnd len="med" w="med" type="stealth"/>
          </a:ln>
        </p:spPr>
      </p:cxnSp>
      <p:sp>
        <p:nvSpPr>
          <p:cNvPr id="476" name="Google Shape;476;p16"/>
          <p:cNvSpPr/>
          <p:nvPr/>
        </p:nvSpPr>
        <p:spPr>
          <a:xfrm>
            <a:off x="2852928" y="1463040"/>
            <a:ext cx="1783080" cy="502920"/>
          </a:xfrm>
          <a:prstGeom prst="roundRect">
            <a:avLst>
              <a:gd fmla="val 10909" name="adj"/>
            </a:avLst>
          </a:prstGeom>
          <a:solidFill>
            <a:srgbClr val="1E293B"/>
          </a:solidFill>
          <a:ln cap="flat" cmpd="sng" w="12700">
            <a:solidFill>
              <a:srgbClr val="4AD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a:off x="2852928" y="1463040"/>
            <a:ext cx="1783080"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4ADE80"/>
              </a:buClr>
              <a:buSzPts val="1200"/>
              <a:buFont typeface="Courier New"/>
              <a:buNone/>
            </a:pPr>
            <a:r>
              <a:rPr b="1" i="0" lang="en-US" sz="1200" u="none" cap="none" strike="noStrike">
                <a:solidFill>
                  <a:srgbClr val="4ADE80"/>
                </a:solidFill>
                <a:latin typeface="Courier New"/>
                <a:ea typeface="Courier New"/>
                <a:cs typeface="Courier New"/>
                <a:sym typeface="Courier New"/>
              </a:rPr>
              <a:t>running</a:t>
            </a:r>
            <a:endParaRPr b="0" i="0" sz="1200" u="none" cap="none" strike="noStrike">
              <a:solidFill>
                <a:schemeClr val="dk1"/>
              </a:solidFill>
              <a:latin typeface="Calibri"/>
              <a:ea typeface="Calibri"/>
              <a:cs typeface="Calibri"/>
              <a:sym typeface="Calibri"/>
            </a:endParaRPr>
          </a:p>
        </p:txBody>
      </p:sp>
      <p:cxnSp>
        <p:nvCxnSpPr>
          <p:cNvPr id="478" name="Google Shape;478;p16"/>
          <p:cNvCxnSpPr/>
          <p:nvPr/>
        </p:nvCxnSpPr>
        <p:spPr>
          <a:xfrm>
            <a:off x="4636008" y="1709928"/>
            <a:ext cx="429768" cy="0"/>
          </a:xfrm>
          <a:prstGeom prst="straightConnector1">
            <a:avLst/>
          </a:prstGeom>
          <a:noFill/>
          <a:ln cap="flat" cmpd="sng" w="19050">
            <a:solidFill>
              <a:srgbClr val="334155"/>
            </a:solidFill>
            <a:prstDash val="solid"/>
            <a:round/>
            <a:headEnd len="sm" w="sm" type="none"/>
            <a:tailEnd len="med" w="med" type="stealth"/>
          </a:ln>
        </p:spPr>
      </p:cxnSp>
      <p:sp>
        <p:nvSpPr>
          <p:cNvPr id="479" name="Google Shape;479;p16"/>
          <p:cNvSpPr/>
          <p:nvPr/>
        </p:nvSpPr>
        <p:spPr>
          <a:xfrm>
            <a:off x="5065776" y="1463040"/>
            <a:ext cx="1783080" cy="502920"/>
          </a:xfrm>
          <a:prstGeom prst="roundRect">
            <a:avLst>
              <a:gd fmla="val 10909" name="adj"/>
            </a:avLst>
          </a:prstGeom>
          <a:solidFill>
            <a:srgbClr val="1E293B"/>
          </a:solidFill>
          <a:ln cap="flat" cmpd="sng" w="12700">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a:off x="5065776" y="1463040"/>
            <a:ext cx="1783080"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BBF24"/>
              </a:buClr>
              <a:buSzPts val="1200"/>
              <a:buFont typeface="Courier New"/>
              <a:buNone/>
            </a:pPr>
            <a:r>
              <a:rPr b="1" i="0" lang="en-US" sz="1200" u="none" cap="none" strike="noStrike">
                <a:solidFill>
                  <a:srgbClr val="FBBF24"/>
                </a:solidFill>
                <a:latin typeface="Courier New"/>
                <a:ea typeface="Courier New"/>
                <a:cs typeface="Courier New"/>
                <a:sym typeface="Courier New"/>
              </a:rPr>
              <a:t>stopping</a:t>
            </a:r>
            <a:endParaRPr b="0" i="0" sz="1200" u="none" cap="none" strike="noStrike">
              <a:solidFill>
                <a:schemeClr val="dk1"/>
              </a:solidFill>
              <a:latin typeface="Calibri"/>
              <a:ea typeface="Calibri"/>
              <a:cs typeface="Calibri"/>
              <a:sym typeface="Calibri"/>
            </a:endParaRPr>
          </a:p>
        </p:txBody>
      </p:sp>
      <p:cxnSp>
        <p:nvCxnSpPr>
          <p:cNvPr id="481" name="Google Shape;481;p16"/>
          <p:cNvCxnSpPr/>
          <p:nvPr/>
        </p:nvCxnSpPr>
        <p:spPr>
          <a:xfrm>
            <a:off x="6848856" y="1709928"/>
            <a:ext cx="429768" cy="0"/>
          </a:xfrm>
          <a:prstGeom prst="straightConnector1">
            <a:avLst/>
          </a:prstGeom>
          <a:noFill/>
          <a:ln cap="flat" cmpd="sng" w="19050">
            <a:solidFill>
              <a:srgbClr val="334155"/>
            </a:solidFill>
            <a:prstDash val="solid"/>
            <a:round/>
            <a:headEnd len="sm" w="sm" type="none"/>
            <a:tailEnd len="med" w="med" type="stealth"/>
          </a:ln>
        </p:spPr>
      </p:cxnSp>
      <p:sp>
        <p:nvSpPr>
          <p:cNvPr id="482" name="Google Shape;482;p16"/>
          <p:cNvSpPr/>
          <p:nvPr/>
        </p:nvSpPr>
        <p:spPr>
          <a:xfrm>
            <a:off x="7278624" y="1463040"/>
            <a:ext cx="1783080" cy="502920"/>
          </a:xfrm>
          <a:prstGeom prst="roundRect">
            <a:avLst>
              <a:gd fmla="val 10909" name="adj"/>
            </a:avLst>
          </a:prstGeom>
          <a:solidFill>
            <a:srgbClr val="1E293B"/>
          </a:solidFill>
          <a:ln cap="flat" cmpd="sng" w="12700">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6"/>
          <p:cNvSpPr/>
          <p:nvPr/>
        </p:nvSpPr>
        <p:spPr>
          <a:xfrm>
            <a:off x="7278624" y="1463040"/>
            <a:ext cx="1783080"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94A3B8"/>
              </a:buClr>
              <a:buSzPts val="1200"/>
              <a:buFont typeface="Courier New"/>
              <a:buNone/>
            </a:pPr>
            <a:r>
              <a:rPr b="1" i="0" lang="en-US" sz="1200" u="none" cap="none" strike="noStrike">
                <a:solidFill>
                  <a:srgbClr val="94A3B8"/>
                </a:solidFill>
                <a:latin typeface="Courier New"/>
                <a:ea typeface="Courier New"/>
                <a:cs typeface="Courier New"/>
                <a:sym typeface="Courier New"/>
              </a:rPr>
              <a:t>stopped</a:t>
            </a:r>
            <a:endParaRPr b="0" i="0" sz="1200" u="none" cap="none" strike="noStrike">
              <a:solidFill>
                <a:schemeClr val="dk1"/>
              </a:solidFill>
              <a:latin typeface="Calibri"/>
              <a:ea typeface="Calibri"/>
              <a:cs typeface="Calibri"/>
              <a:sym typeface="Calibri"/>
            </a:endParaRPr>
          </a:p>
        </p:txBody>
      </p:sp>
      <p:cxnSp>
        <p:nvCxnSpPr>
          <p:cNvPr id="484" name="Google Shape;484;p16"/>
          <p:cNvCxnSpPr/>
          <p:nvPr/>
        </p:nvCxnSpPr>
        <p:spPr>
          <a:xfrm>
            <a:off x="9061704" y="1709928"/>
            <a:ext cx="429768" cy="0"/>
          </a:xfrm>
          <a:prstGeom prst="straightConnector1">
            <a:avLst/>
          </a:prstGeom>
          <a:noFill/>
          <a:ln cap="flat" cmpd="sng" w="19050">
            <a:solidFill>
              <a:srgbClr val="334155"/>
            </a:solidFill>
            <a:prstDash val="solid"/>
            <a:round/>
            <a:headEnd len="sm" w="sm" type="none"/>
            <a:tailEnd len="med" w="med" type="stealth"/>
          </a:ln>
        </p:spPr>
      </p:cxnSp>
      <p:sp>
        <p:nvSpPr>
          <p:cNvPr id="485" name="Google Shape;485;p16"/>
          <p:cNvSpPr/>
          <p:nvPr/>
        </p:nvSpPr>
        <p:spPr>
          <a:xfrm>
            <a:off x="9491472" y="1463040"/>
            <a:ext cx="1783080" cy="502920"/>
          </a:xfrm>
          <a:prstGeom prst="roundRect">
            <a:avLst>
              <a:gd fmla="val 10909" name="adj"/>
            </a:avLst>
          </a:prstGeom>
          <a:solidFill>
            <a:srgbClr val="1E293B"/>
          </a:solidFill>
          <a:ln cap="flat" cmpd="sng" w="12700">
            <a:solidFill>
              <a:srgbClr val="F871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a:off x="9491472" y="1463040"/>
            <a:ext cx="1783080" cy="50292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87171"/>
              </a:buClr>
              <a:buSzPts val="1200"/>
              <a:buFont typeface="Courier New"/>
              <a:buNone/>
            </a:pPr>
            <a:r>
              <a:rPr b="1" i="0" lang="en-US" sz="1200" u="none" cap="none" strike="noStrike">
                <a:solidFill>
                  <a:srgbClr val="F87171"/>
                </a:solidFill>
                <a:latin typeface="Courier New"/>
                <a:ea typeface="Courier New"/>
                <a:cs typeface="Courier New"/>
                <a:sym typeface="Courier New"/>
              </a:rPr>
              <a:t>terminated</a:t>
            </a:r>
            <a:endParaRPr b="0" i="0" sz="1200" u="none" cap="none" strike="noStrike">
              <a:solidFill>
                <a:schemeClr val="dk1"/>
              </a:solidFill>
              <a:latin typeface="Calibri"/>
              <a:ea typeface="Calibri"/>
              <a:cs typeface="Calibri"/>
              <a:sym typeface="Calibri"/>
            </a:endParaRPr>
          </a:p>
        </p:txBody>
      </p:sp>
      <p:sp>
        <p:nvSpPr>
          <p:cNvPr id="487" name="Google Shape;487;p16"/>
          <p:cNvSpPr/>
          <p:nvPr/>
        </p:nvSpPr>
        <p:spPr>
          <a:xfrm>
            <a:off x="640080" y="2103120"/>
            <a:ext cx="10972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50"/>
              <a:buFont typeface="Calibri"/>
              <a:buNone/>
            </a:pPr>
            <a:r>
              <a:rPr b="1" i="0" lang="en-US" sz="1250" u="none" cap="none" strike="noStrike">
                <a:solidFill>
                  <a:srgbClr val="94A3B8"/>
                </a:solidFill>
                <a:latin typeface="Calibri"/>
                <a:ea typeface="Calibri"/>
                <a:cs typeface="Calibri"/>
                <a:sym typeface="Calibri"/>
              </a:rPr>
              <a:t>stopped</a:t>
            </a:r>
            <a:r>
              <a:rPr b="0" i="0" lang="en-US" sz="1250" u="none" cap="none" strike="noStrike">
                <a:solidFill>
                  <a:srgbClr val="E2E8F0"/>
                </a:solidFill>
                <a:latin typeface="Calibri"/>
                <a:ea typeface="Calibri"/>
                <a:cs typeface="Calibri"/>
                <a:sym typeface="Calibri"/>
              </a:rPr>
              <a:t> = no compute billing, EBS still billed, can restart.   </a:t>
            </a:r>
            <a:r>
              <a:rPr b="1" i="0" lang="en-US" sz="1250" u="none" cap="none" strike="noStrike">
                <a:solidFill>
                  <a:srgbClr val="F87171"/>
                </a:solidFill>
                <a:latin typeface="Calibri"/>
                <a:ea typeface="Calibri"/>
                <a:cs typeface="Calibri"/>
                <a:sym typeface="Calibri"/>
              </a:rPr>
              <a:t>terminated</a:t>
            </a:r>
            <a:r>
              <a:rPr b="0" i="0" lang="en-US" sz="1250" u="none" cap="none" strike="noStrike">
                <a:solidFill>
                  <a:srgbClr val="E2E8F0"/>
                </a:solidFill>
                <a:latin typeface="Calibri"/>
                <a:ea typeface="Calibri"/>
                <a:cs typeface="Calibri"/>
                <a:sym typeface="Calibri"/>
              </a:rPr>
              <a:t> = gone forever.</a:t>
            </a:r>
            <a:endParaRPr b="0" i="0" sz="1250" u="none" cap="none" strike="noStrike">
              <a:solidFill>
                <a:schemeClr val="dk1"/>
              </a:solidFill>
              <a:latin typeface="Calibri"/>
              <a:ea typeface="Calibri"/>
              <a:cs typeface="Calibri"/>
              <a:sym typeface="Calibri"/>
            </a:endParaRPr>
          </a:p>
        </p:txBody>
      </p:sp>
      <p:sp>
        <p:nvSpPr>
          <p:cNvPr id="488" name="Google Shape;488;p16"/>
          <p:cNvSpPr/>
          <p:nvPr/>
        </p:nvSpPr>
        <p:spPr>
          <a:xfrm>
            <a:off x="502920" y="2697480"/>
            <a:ext cx="3639312" cy="2651760"/>
          </a:xfrm>
          <a:prstGeom prst="roundRect">
            <a:avLst>
              <a:gd fmla="val 275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704088" y="288036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0" name="Google Shape;490;p16"/>
          <p:cNvPicPr preferRelativeResize="0"/>
          <p:nvPr/>
        </p:nvPicPr>
        <p:blipFill rotWithShape="1">
          <a:blip r:embed="rId3">
            <a:alphaModFix/>
          </a:blip>
          <a:srcRect b="0" l="0" r="0" t="0"/>
          <a:stretch/>
        </p:blipFill>
        <p:spPr>
          <a:xfrm>
            <a:off x="822960" y="2999232"/>
            <a:ext cx="237744" cy="237744"/>
          </a:xfrm>
          <a:prstGeom prst="rect">
            <a:avLst/>
          </a:prstGeom>
          <a:noFill/>
          <a:ln>
            <a:noFill/>
          </a:ln>
        </p:spPr>
      </p:pic>
      <p:sp>
        <p:nvSpPr>
          <p:cNvPr id="491" name="Google Shape;491;p16"/>
          <p:cNvSpPr/>
          <p:nvPr/>
        </p:nvSpPr>
        <p:spPr>
          <a:xfrm>
            <a:off x="1307592" y="284378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On-Demand</a:t>
            </a:r>
            <a:endParaRPr b="0" i="0" sz="1450" u="none" cap="none" strike="noStrike">
              <a:solidFill>
                <a:schemeClr val="dk1"/>
              </a:solidFill>
              <a:latin typeface="Calibri"/>
              <a:ea typeface="Calibri"/>
              <a:cs typeface="Calibri"/>
              <a:sym typeface="Calibri"/>
            </a:endParaRPr>
          </a:p>
        </p:txBody>
      </p:sp>
      <p:sp>
        <p:nvSpPr>
          <p:cNvPr id="492" name="Google Shape;492;p16"/>
          <p:cNvSpPr/>
          <p:nvPr/>
        </p:nvSpPr>
        <p:spPr>
          <a:xfrm>
            <a:off x="722376" y="3474720"/>
            <a:ext cx="3200400" cy="17373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Pay per second, cancel anytime.</a:t>
            </a:r>
            <a:endParaRPr b="0" i="0" sz="1200" u="none" cap="none" strike="noStrike">
              <a:solidFill>
                <a:schemeClr val="dk1"/>
              </a:solidFill>
              <a:latin typeface="Calibri"/>
              <a:ea typeface="Calibri"/>
              <a:cs typeface="Calibri"/>
              <a:sym typeface="Calibri"/>
            </a:endParaRPr>
          </a:p>
        </p:txBody>
      </p:sp>
      <p:sp>
        <p:nvSpPr>
          <p:cNvPr id="493" name="Google Shape;493;p16"/>
          <p:cNvSpPr/>
          <p:nvPr/>
        </p:nvSpPr>
        <p:spPr>
          <a:xfrm>
            <a:off x="722376" y="411480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2600"/>
              <a:buFont typeface="Bookman Old Style"/>
              <a:buNone/>
            </a:pPr>
            <a:r>
              <a:rPr b="1" i="0" lang="en-US" sz="2600" u="none" cap="none" strike="noStrike">
                <a:solidFill>
                  <a:srgbClr val="FF9900"/>
                </a:solidFill>
                <a:latin typeface="Bookman Old Style"/>
                <a:ea typeface="Bookman Old Style"/>
                <a:cs typeface="Bookman Old Style"/>
                <a:sym typeface="Bookman Old Style"/>
              </a:rPr>
              <a:t>1×</a:t>
            </a:r>
            <a:endParaRPr b="0" i="0" sz="2600" u="none" cap="none" strike="noStrike">
              <a:solidFill>
                <a:schemeClr val="dk1"/>
              </a:solidFill>
              <a:latin typeface="Calibri"/>
              <a:ea typeface="Calibri"/>
              <a:cs typeface="Calibri"/>
              <a:sym typeface="Calibri"/>
            </a:endParaRPr>
          </a:p>
        </p:txBody>
      </p:sp>
      <p:sp>
        <p:nvSpPr>
          <p:cNvPr id="494" name="Google Shape;494;p16"/>
          <p:cNvSpPr/>
          <p:nvPr/>
        </p:nvSpPr>
        <p:spPr>
          <a:xfrm>
            <a:off x="722376" y="4727448"/>
            <a:ext cx="3200400" cy="438912"/>
          </a:xfrm>
          <a:prstGeom prst="roundRect">
            <a:avLst>
              <a:gd fmla="val 12500" name="adj"/>
            </a:avLst>
          </a:prstGeom>
          <a:solidFill>
            <a:srgbClr val="0F172A"/>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722376" y="4727448"/>
            <a:ext cx="320040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900"/>
              <a:buFont typeface="Courier New"/>
              <a:buNone/>
            </a:pPr>
            <a:r>
              <a:rPr b="0" i="0" lang="en-US" sz="900" u="none" cap="none" strike="noStrike">
                <a:solidFill>
                  <a:srgbClr val="FF9900"/>
                </a:solidFill>
                <a:latin typeface="Courier New"/>
                <a:ea typeface="Courier New"/>
                <a:cs typeface="Courier New"/>
                <a:sym typeface="Courier New"/>
              </a:rPr>
              <a:t>Baseline · dev · unpredictable load</a:t>
            </a:r>
            <a:endParaRPr b="0" i="0" sz="900" u="none" cap="none" strike="noStrike">
              <a:solidFill>
                <a:schemeClr val="dk1"/>
              </a:solidFill>
              <a:latin typeface="Calibri"/>
              <a:ea typeface="Calibri"/>
              <a:cs typeface="Calibri"/>
              <a:sym typeface="Calibri"/>
            </a:endParaRPr>
          </a:p>
        </p:txBody>
      </p:sp>
      <p:sp>
        <p:nvSpPr>
          <p:cNvPr id="496" name="Google Shape;496;p16"/>
          <p:cNvSpPr/>
          <p:nvPr/>
        </p:nvSpPr>
        <p:spPr>
          <a:xfrm>
            <a:off x="4274820" y="2697480"/>
            <a:ext cx="3639312" cy="2651760"/>
          </a:xfrm>
          <a:prstGeom prst="roundRect">
            <a:avLst>
              <a:gd fmla="val 275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a:off x="4475988" y="288036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8" name="Google Shape;498;p16"/>
          <p:cNvPicPr preferRelativeResize="0"/>
          <p:nvPr/>
        </p:nvPicPr>
        <p:blipFill rotWithShape="1">
          <a:blip r:embed="rId4">
            <a:alphaModFix/>
          </a:blip>
          <a:srcRect b="0" l="0" r="0" t="0"/>
          <a:stretch/>
        </p:blipFill>
        <p:spPr>
          <a:xfrm>
            <a:off x="4594860" y="2999232"/>
            <a:ext cx="237744" cy="237744"/>
          </a:xfrm>
          <a:prstGeom prst="rect">
            <a:avLst/>
          </a:prstGeom>
          <a:noFill/>
          <a:ln>
            <a:noFill/>
          </a:ln>
        </p:spPr>
      </p:pic>
      <p:sp>
        <p:nvSpPr>
          <p:cNvPr id="499" name="Google Shape;499;p16"/>
          <p:cNvSpPr/>
          <p:nvPr/>
        </p:nvSpPr>
        <p:spPr>
          <a:xfrm>
            <a:off x="5079492" y="284378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Savings Plans / Reserved</a:t>
            </a:r>
            <a:endParaRPr b="0" i="0" sz="1450" u="none" cap="none" strike="noStrike">
              <a:solidFill>
                <a:schemeClr val="dk1"/>
              </a:solidFill>
              <a:latin typeface="Calibri"/>
              <a:ea typeface="Calibri"/>
              <a:cs typeface="Calibri"/>
              <a:sym typeface="Calibri"/>
            </a:endParaRPr>
          </a:p>
        </p:txBody>
      </p:sp>
      <p:sp>
        <p:nvSpPr>
          <p:cNvPr id="500" name="Google Shape;500;p16"/>
          <p:cNvSpPr/>
          <p:nvPr/>
        </p:nvSpPr>
        <p:spPr>
          <a:xfrm>
            <a:off x="4494276" y="3474720"/>
            <a:ext cx="3200400" cy="17373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Commit to 1–3 years of usage.</a:t>
            </a:r>
            <a:endParaRPr b="0" i="0" sz="1200" u="none" cap="none" strike="noStrike">
              <a:solidFill>
                <a:schemeClr val="dk1"/>
              </a:solidFill>
              <a:latin typeface="Calibri"/>
              <a:ea typeface="Calibri"/>
              <a:cs typeface="Calibri"/>
              <a:sym typeface="Calibri"/>
            </a:endParaRPr>
          </a:p>
        </p:txBody>
      </p:sp>
      <p:sp>
        <p:nvSpPr>
          <p:cNvPr id="501" name="Google Shape;501;p16"/>
          <p:cNvSpPr/>
          <p:nvPr/>
        </p:nvSpPr>
        <p:spPr>
          <a:xfrm>
            <a:off x="4494276" y="411480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2600"/>
              <a:buFont typeface="Bookman Old Style"/>
              <a:buNone/>
            </a:pPr>
            <a:r>
              <a:rPr b="1" i="0" lang="en-US" sz="2600" u="none" cap="none" strike="noStrike">
                <a:solidFill>
                  <a:srgbClr val="2DD4BF"/>
                </a:solidFill>
                <a:latin typeface="Bookman Old Style"/>
                <a:ea typeface="Bookman Old Style"/>
                <a:cs typeface="Bookman Old Style"/>
                <a:sym typeface="Bookman Old Style"/>
              </a:rPr>
              <a:t>≈ 0.4–0.6×</a:t>
            </a:r>
            <a:endParaRPr b="0" i="0" sz="2600" u="none" cap="none" strike="noStrike">
              <a:solidFill>
                <a:schemeClr val="dk1"/>
              </a:solidFill>
              <a:latin typeface="Calibri"/>
              <a:ea typeface="Calibri"/>
              <a:cs typeface="Calibri"/>
              <a:sym typeface="Calibri"/>
            </a:endParaRPr>
          </a:p>
        </p:txBody>
      </p:sp>
      <p:sp>
        <p:nvSpPr>
          <p:cNvPr id="502" name="Google Shape;502;p16"/>
          <p:cNvSpPr/>
          <p:nvPr/>
        </p:nvSpPr>
        <p:spPr>
          <a:xfrm>
            <a:off x="4494276" y="4727448"/>
            <a:ext cx="3200400" cy="438912"/>
          </a:xfrm>
          <a:prstGeom prst="roundRect">
            <a:avLst>
              <a:gd fmla="val 12500" name="adj"/>
            </a:avLst>
          </a:prstGeom>
          <a:solidFill>
            <a:srgbClr val="0F172A"/>
          </a:solidFill>
          <a:ln cap="flat" cmpd="sng" w="952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a:off x="4494276" y="4727448"/>
            <a:ext cx="320040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900"/>
              <a:buFont typeface="Courier New"/>
              <a:buNone/>
            </a:pPr>
            <a:r>
              <a:rPr b="0" i="0" lang="en-US" sz="900" u="none" cap="none" strike="noStrike">
                <a:solidFill>
                  <a:srgbClr val="2DD4BF"/>
                </a:solidFill>
                <a:latin typeface="Courier New"/>
                <a:ea typeface="Courier New"/>
                <a:cs typeface="Courier New"/>
                <a:sym typeface="Courier New"/>
              </a:rPr>
              <a:t>Steady production workloads</a:t>
            </a:r>
            <a:endParaRPr b="0" i="0" sz="900" u="none" cap="none" strike="noStrike">
              <a:solidFill>
                <a:schemeClr val="dk1"/>
              </a:solidFill>
              <a:latin typeface="Calibri"/>
              <a:ea typeface="Calibri"/>
              <a:cs typeface="Calibri"/>
              <a:sym typeface="Calibri"/>
            </a:endParaRPr>
          </a:p>
        </p:txBody>
      </p:sp>
      <p:sp>
        <p:nvSpPr>
          <p:cNvPr id="504" name="Google Shape;504;p16"/>
          <p:cNvSpPr/>
          <p:nvPr/>
        </p:nvSpPr>
        <p:spPr>
          <a:xfrm>
            <a:off x="8046720" y="2697480"/>
            <a:ext cx="3639312" cy="2651760"/>
          </a:xfrm>
          <a:prstGeom prst="roundRect">
            <a:avLst>
              <a:gd fmla="val 275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a:off x="8247888" y="2880360"/>
            <a:ext cx="475488" cy="475488"/>
          </a:xfrm>
          <a:prstGeom prst="ellipse">
            <a:avLst/>
          </a:prstGeom>
          <a:solidFill>
            <a:srgbClr val="0F172A"/>
          </a:solidFill>
          <a:ln cap="flat" cmpd="sng" w="1587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6" name="Google Shape;506;p16"/>
          <p:cNvPicPr preferRelativeResize="0"/>
          <p:nvPr/>
        </p:nvPicPr>
        <p:blipFill rotWithShape="1">
          <a:blip r:embed="rId5">
            <a:alphaModFix/>
          </a:blip>
          <a:srcRect b="0" l="0" r="0" t="0"/>
          <a:stretch/>
        </p:blipFill>
        <p:spPr>
          <a:xfrm>
            <a:off x="8366760" y="2999232"/>
            <a:ext cx="237744" cy="237744"/>
          </a:xfrm>
          <a:prstGeom prst="rect">
            <a:avLst/>
          </a:prstGeom>
          <a:noFill/>
          <a:ln>
            <a:noFill/>
          </a:ln>
        </p:spPr>
      </p:pic>
      <p:sp>
        <p:nvSpPr>
          <p:cNvPr id="507" name="Google Shape;507;p16"/>
          <p:cNvSpPr/>
          <p:nvPr/>
        </p:nvSpPr>
        <p:spPr>
          <a:xfrm>
            <a:off x="8851392" y="284378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Spot</a:t>
            </a:r>
            <a:endParaRPr b="0" i="0" sz="1450" u="none" cap="none" strike="noStrike">
              <a:solidFill>
                <a:schemeClr val="dk1"/>
              </a:solidFill>
              <a:latin typeface="Calibri"/>
              <a:ea typeface="Calibri"/>
              <a:cs typeface="Calibri"/>
              <a:sym typeface="Calibri"/>
            </a:endParaRPr>
          </a:p>
        </p:txBody>
      </p:sp>
      <p:sp>
        <p:nvSpPr>
          <p:cNvPr id="508" name="Google Shape;508;p16"/>
          <p:cNvSpPr/>
          <p:nvPr/>
        </p:nvSpPr>
        <p:spPr>
          <a:xfrm>
            <a:off x="8266176" y="3474720"/>
            <a:ext cx="3200400" cy="17373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Bid on spare capacity — can be reclaimed with a 2-min warning.</a:t>
            </a:r>
            <a:endParaRPr b="0" i="0" sz="1200" u="none" cap="none" strike="noStrike">
              <a:solidFill>
                <a:schemeClr val="dk1"/>
              </a:solidFill>
              <a:latin typeface="Calibri"/>
              <a:ea typeface="Calibri"/>
              <a:cs typeface="Calibri"/>
              <a:sym typeface="Calibri"/>
            </a:endParaRPr>
          </a:p>
        </p:txBody>
      </p:sp>
      <p:sp>
        <p:nvSpPr>
          <p:cNvPr id="509" name="Google Shape;509;p16"/>
          <p:cNvSpPr/>
          <p:nvPr/>
        </p:nvSpPr>
        <p:spPr>
          <a:xfrm>
            <a:off x="8266176" y="4114800"/>
            <a:ext cx="3200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2600"/>
              <a:buFont typeface="Bookman Old Style"/>
              <a:buNone/>
            </a:pPr>
            <a:r>
              <a:rPr b="1" i="0" lang="en-US" sz="2600" u="none" cap="none" strike="noStrike">
                <a:solidFill>
                  <a:srgbClr val="A78BFA"/>
                </a:solidFill>
                <a:latin typeface="Bookman Old Style"/>
                <a:ea typeface="Bookman Old Style"/>
                <a:cs typeface="Bookman Old Style"/>
                <a:sym typeface="Bookman Old Style"/>
              </a:rPr>
              <a:t>≈ 0.1–0.3×</a:t>
            </a:r>
            <a:endParaRPr b="0" i="0" sz="2600" u="none" cap="none" strike="noStrike">
              <a:solidFill>
                <a:schemeClr val="dk1"/>
              </a:solidFill>
              <a:latin typeface="Calibri"/>
              <a:ea typeface="Calibri"/>
              <a:cs typeface="Calibri"/>
              <a:sym typeface="Calibri"/>
            </a:endParaRPr>
          </a:p>
        </p:txBody>
      </p:sp>
      <p:sp>
        <p:nvSpPr>
          <p:cNvPr id="510" name="Google Shape;510;p16"/>
          <p:cNvSpPr/>
          <p:nvPr/>
        </p:nvSpPr>
        <p:spPr>
          <a:xfrm>
            <a:off x="8266176" y="4727448"/>
            <a:ext cx="3200400" cy="438912"/>
          </a:xfrm>
          <a:prstGeom prst="roundRect">
            <a:avLst>
              <a:gd fmla="val 12500" name="adj"/>
            </a:avLst>
          </a:prstGeom>
          <a:solidFill>
            <a:srgbClr val="0F172A"/>
          </a:solidFill>
          <a:ln cap="flat" cmpd="sng" w="952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a:off x="8266176" y="4727448"/>
            <a:ext cx="320040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78BFA"/>
              </a:buClr>
              <a:buSzPts val="900"/>
              <a:buFont typeface="Courier New"/>
              <a:buNone/>
            </a:pPr>
            <a:r>
              <a:rPr b="0" i="0" lang="en-US" sz="900" u="none" cap="none" strike="noStrike">
                <a:solidFill>
                  <a:srgbClr val="A78BFA"/>
                </a:solidFill>
                <a:latin typeface="Courier New"/>
                <a:ea typeface="Courier New"/>
                <a:cs typeface="Courier New"/>
                <a:sym typeface="Courier New"/>
              </a:rPr>
              <a:t>CI runners, batch, stateless K8s nodes</a:t>
            </a:r>
            <a:endParaRPr b="0" i="0" sz="900" u="none" cap="none" strike="noStrike">
              <a:solidFill>
                <a:schemeClr val="dk1"/>
              </a:solidFill>
              <a:latin typeface="Calibri"/>
              <a:ea typeface="Calibri"/>
              <a:cs typeface="Calibri"/>
              <a:sym typeface="Calibri"/>
            </a:endParaRPr>
          </a:p>
        </p:txBody>
      </p:sp>
      <p:sp>
        <p:nvSpPr>
          <p:cNvPr id="512" name="Google Shape;512;p16"/>
          <p:cNvSpPr/>
          <p:nvPr/>
        </p:nvSpPr>
        <p:spPr>
          <a:xfrm>
            <a:off x="502920" y="5577840"/>
            <a:ext cx="11183112" cy="685800"/>
          </a:xfrm>
          <a:prstGeom prst="roundRect">
            <a:avLst>
              <a:gd fmla="val 10667"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3" name="Google Shape;513;p16"/>
          <p:cNvPicPr preferRelativeResize="0"/>
          <p:nvPr/>
        </p:nvPicPr>
        <p:blipFill rotWithShape="1">
          <a:blip r:embed="rId6">
            <a:alphaModFix/>
          </a:blip>
          <a:srcRect b="0" l="0" r="0" t="0"/>
          <a:stretch/>
        </p:blipFill>
        <p:spPr>
          <a:xfrm>
            <a:off x="704088" y="5774436"/>
            <a:ext cx="292608" cy="292608"/>
          </a:xfrm>
          <a:prstGeom prst="rect">
            <a:avLst/>
          </a:prstGeom>
          <a:noFill/>
          <a:ln>
            <a:noFill/>
          </a:ln>
        </p:spPr>
      </p:pic>
      <p:sp>
        <p:nvSpPr>
          <p:cNvPr id="514" name="Google Shape;514;p16"/>
          <p:cNvSpPr/>
          <p:nvPr/>
        </p:nvSpPr>
        <p:spPr>
          <a:xfrm>
            <a:off x="1143000" y="5669280"/>
            <a:ext cx="10341864"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Real fleets mix all three: reserved for the floor, on-demand for the wiggle, spot for anything that can die and retry. EKS node groups (Part 6) make this easy.</a:t>
            </a:r>
            <a:endParaRPr b="0" i="0" sz="1250" u="none" cap="none" strike="noStrike">
              <a:solidFill>
                <a:schemeClr val="dk1"/>
              </a:solidFill>
              <a:latin typeface="Calibri"/>
              <a:ea typeface="Calibri"/>
              <a:cs typeface="Calibri"/>
              <a:sym typeface="Calibri"/>
            </a:endParaRPr>
          </a:p>
        </p:txBody>
      </p:sp>
      <p:sp>
        <p:nvSpPr>
          <p:cNvPr id="515" name="Google Shape;515;p16"/>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516" name="Google Shape;516;p16"/>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Lifecycle &amp; pricing</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21" name="Shape 521"/>
        <p:cNvGrpSpPr/>
        <p:nvPr/>
      </p:nvGrpSpPr>
      <p:grpSpPr>
        <a:xfrm>
          <a:off x="0" y="0"/>
          <a:ext cx="0" cy="0"/>
          <a:chOff x="0" y="0"/>
          <a:chExt cx="0" cy="0"/>
        </a:xfrm>
      </p:grpSpPr>
      <p:sp>
        <p:nvSpPr>
          <p:cNvPr id="522" name="Google Shape;522;p17"/>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EC2 · HANDS-ON</a:t>
            </a:r>
            <a:endParaRPr b="0" i="0" sz="1200" u="none" cap="none" strike="noStrike">
              <a:solidFill>
                <a:schemeClr val="dk1"/>
              </a:solidFill>
              <a:latin typeface="Calibri"/>
              <a:ea typeface="Calibri"/>
              <a:cs typeface="Calibri"/>
              <a:sym typeface="Calibri"/>
            </a:endParaRPr>
          </a:p>
        </p:txBody>
      </p:sp>
      <p:sp>
        <p:nvSpPr>
          <p:cNvPr id="523" name="Google Shape;523;p17"/>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Launching one from the CLI</a:t>
            </a:r>
            <a:endParaRPr b="0" i="0" sz="3000" u="none" cap="none" strike="noStrike">
              <a:solidFill>
                <a:schemeClr val="dk1"/>
              </a:solidFill>
              <a:latin typeface="Calibri"/>
              <a:ea typeface="Calibri"/>
              <a:cs typeface="Calibri"/>
              <a:sym typeface="Calibri"/>
            </a:endParaRPr>
          </a:p>
        </p:txBody>
      </p:sp>
      <p:sp>
        <p:nvSpPr>
          <p:cNvPr id="524" name="Google Shape;524;p17"/>
          <p:cNvSpPr/>
          <p:nvPr/>
        </p:nvSpPr>
        <p:spPr>
          <a:xfrm>
            <a:off x="502920" y="1417320"/>
            <a:ext cx="6949440" cy="4206240"/>
          </a:xfrm>
          <a:prstGeom prst="roundRect">
            <a:avLst>
              <a:gd fmla="val 1739"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704088" y="154533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886968" y="154533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1069848" y="154533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1280160" y="1472184"/>
            <a:ext cx="6035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bash — aws-cli</a:t>
            </a:r>
            <a:endParaRPr b="0" i="0" sz="1000" u="none" cap="none" strike="noStrike">
              <a:solidFill>
                <a:schemeClr val="dk1"/>
              </a:solidFill>
              <a:latin typeface="Calibri"/>
              <a:ea typeface="Calibri"/>
              <a:cs typeface="Calibri"/>
              <a:sym typeface="Calibri"/>
            </a:endParaRPr>
          </a:p>
        </p:txBody>
      </p:sp>
      <p:sp>
        <p:nvSpPr>
          <p:cNvPr id="529" name="Google Shape;529;p17"/>
          <p:cNvSpPr/>
          <p:nvPr/>
        </p:nvSpPr>
        <p:spPr>
          <a:xfrm>
            <a:off x="704088" y="1801368"/>
            <a:ext cx="6547104" cy="3703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ec2 run-instances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--image-id ami-0f5ee92e2d63afc18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--instance-type t3.micro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--key-name bootcamp-key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--security-group-ids sg-0a1b2c3d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--tag-specifications 'ResourceType=instance,</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Tags=[{Key=Name,Value=lab-web-01}]'</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ec2 describe-instances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--filters Name=tag:Name,Values=lab-web-01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--query 'Reservations[].Instances[].PublicIpAddress'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BBF24"/>
              </a:buClr>
              <a:buSzPts val="1100"/>
              <a:buFont typeface="Courier New"/>
              <a:buNone/>
            </a:pPr>
            <a:r>
              <a:rPr b="0" i="0" lang="en-US" sz="1100" u="none" cap="none" strike="noStrike">
                <a:solidFill>
                  <a:srgbClr val="FBBF24"/>
                </a:solidFill>
                <a:latin typeface="Courier New"/>
                <a:ea typeface="Courier New"/>
                <a:cs typeface="Courier New"/>
                <a:sym typeface="Courier New"/>
              </a:rPr>
              <a:t>[ "13.235.67.89"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ssh -i bootcamp-key.pem ubuntu@13.235.67.89</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DD4BF"/>
              </a:buClr>
              <a:buSzPts val="1100"/>
              <a:buFont typeface="Courier New"/>
              <a:buNone/>
            </a:pPr>
            <a:r>
              <a:rPr b="0" i="0" lang="en-US" sz="1100" u="none" cap="none" strike="noStrike">
                <a:solidFill>
                  <a:srgbClr val="2DD4BF"/>
                </a:solidFill>
                <a:latin typeface="Courier New"/>
                <a:ea typeface="Courier New"/>
                <a:cs typeface="Courier New"/>
                <a:sym typeface="Courier New"/>
              </a:rPr>
              <a:t>ubuntu@lab-web-01:~$ █</a:t>
            </a:r>
            <a:endParaRPr b="0" i="0" sz="1100" u="none" cap="none" strike="noStrike">
              <a:solidFill>
                <a:schemeClr val="dk1"/>
              </a:solidFill>
              <a:latin typeface="Calibri"/>
              <a:ea typeface="Calibri"/>
              <a:cs typeface="Calibri"/>
              <a:sym typeface="Calibri"/>
            </a:endParaRPr>
          </a:p>
        </p:txBody>
      </p:sp>
      <p:sp>
        <p:nvSpPr>
          <p:cNvPr id="530" name="Google Shape;530;p17"/>
          <p:cNvSpPr/>
          <p:nvPr/>
        </p:nvSpPr>
        <p:spPr>
          <a:xfrm>
            <a:off x="7635240" y="1417320"/>
            <a:ext cx="4050792" cy="1298448"/>
          </a:xfrm>
          <a:prstGeom prst="roundRect">
            <a:avLst>
              <a:gd fmla="val 563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7818120" y="1527048"/>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2000"/>
              <a:buFont typeface="Bookman Old Style"/>
              <a:buNone/>
            </a:pPr>
            <a:r>
              <a:rPr b="1" i="0" lang="en-US" sz="2000" u="none" cap="none" strike="noStrike">
                <a:solidFill>
                  <a:srgbClr val="FF9900"/>
                </a:solidFill>
                <a:latin typeface="Bookman Old Style"/>
                <a:ea typeface="Bookman Old Style"/>
                <a:cs typeface="Bookman Old Style"/>
                <a:sym typeface="Bookman Old Style"/>
              </a:rPr>
              <a:t>1</a:t>
            </a:r>
            <a:endParaRPr b="0" i="0" sz="2000" u="none" cap="none" strike="noStrike">
              <a:solidFill>
                <a:schemeClr val="dk1"/>
              </a:solidFill>
              <a:latin typeface="Calibri"/>
              <a:ea typeface="Calibri"/>
              <a:cs typeface="Calibri"/>
              <a:sym typeface="Calibri"/>
            </a:endParaRPr>
          </a:p>
        </p:txBody>
      </p:sp>
      <p:sp>
        <p:nvSpPr>
          <p:cNvPr id="532" name="Google Shape;532;p17"/>
          <p:cNvSpPr/>
          <p:nvPr/>
        </p:nvSpPr>
        <p:spPr>
          <a:xfrm>
            <a:off x="8321040" y="1527048"/>
            <a:ext cx="3246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Courier New"/>
              <a:buNone/>
            </a:pPr>
            <a:r>
              <a:rPr b="1" i="0" lang="en-US" sz="1250" u="none" cap="none" strike="noStrike">
                <a:solidFill>
                  <a:srgbClr val="F8FAFC"/>
                </a:solidFill>
                <a:latin typeface="Courier New"/>
                <a:ea typeface="Courier New"/>
                <a:cs typeface="Courier New"/>
                <a:sym typeface="Courier New"/>
              </a:rPr>
              <a:t>run-instances</a:t>
            </a:r>
            <a:endParaRPr b="0" i="0" sz="1250" u="none" cap="none" strike="noStrike">
              <a:solidFill>
                <a:schemeClr val="dk1"/>
              </a:solidFill>
              <a:latin typeface="Calibri"/>
              <a:ea typeface="Calibri"/>
              <a:cs typeface="Calibri"/>
              <a:sym typeface="Calibri"/>
            </a:endParaRPr>
          </a:p>
        </p:txBody>
      </p:sp>
      <p:sp>
        <p:nvSpPr>
          <p:cNvPr id="533" name="Google Shape;533;p17"/>
          <p:cNvSpPr/>
          <p:nvPr/>
        </p:nvSpPr>
        <p:spPr>
          <a:xfrm>
            <a:off x="7845552" y="1892808"/>
            <a:ext cx="365760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One API call replaces the 2005 slide: hardware, OS, network, firewall — provisioned in ~40 s.</a:t>
            </a:r>
            <a:endParaRPr b="0" i="0" sz="1050" u="none" cap="none" strike="noStrike">
              <a:solidFill>
                <a:schemeClr val="dk1"/>
              </a:solidFill>
              <a:latin typeface="Calibri"/>
              <a:ea typeface="Calibri"/>
              <a:cs typeface="Calibri"/>
              <a:sym typeface="Calibri"/>
            </a:endParaRPr>
          </a:p>
        </p:txBody>
      </p:sp>
      <p:sp>
        <p:nvSpPr>
          <p:cNvPr id="534" name="Google Shape;534;p17"/>
          <p:cNvSpPr/>
          <p:nvPr/>
        </p:nvSpPr>
        <p:spPr>
          <a:xfrm>
            <a:off x="7635240" y="2880360"/>
            <a:ext cx="4050792" cy="1298448"/>
          </a:xfrm>
          <a:prstGeom prst="roundRect">
            <a:avLst>
              <a:gd fmla="val 563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7818120" y="2990088"/>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2000"/>
              <a:buFont typeface="Bookman Old Style"/>
              <a:buNone/>
            </a:pPr>
            <a:r>
              <a:rPr b="1" i="0" lang="en-US" sz="2000" u="none" cap="none" strike="noStrike">
                <a:solidFill>
                  <a:srgbClr val="FF9900"/>
                </a:solidFill>
                <a:latin typeface="Bookman Old Style"/>
                <a:ea typeface="Bookman Old Style"/>
                <a:cs typeface="Bookman Old Style"/>
                <a:sym typeface="Bookman Old Style"/>
              </a:rPr>
              <a:t>2</a:t>
            </a:r>
            <a:endParaRPr b="0" i="0" sz="2000" u="none" cap="none" strike="noStrike">
              <a:solidFill>
                <a:schemeClr val="dk1"/>
              </a:solidFill>
              <a:latin typeface="Calibri"/>
              <a:ea typeface="Calibri"/>
              <a:cs typeface="Calibri"/>
              <a:sym typeface="Calibri"/>
            </a:endParaRPr>
          </a:p>
        </p:txBody>
      </p:sp>
      <p:sp>
        <p:nvSpPr>
          <p:cNvPr id="536" name="Google Shape;536;p17"/>
          <p:cNvSpPr/>
          <p:nvPr/>
        </p:nvSpPr>
        <p:spPr>
          <a:xfrm>
            <a:off x="8321040" y="2990088"/>
            <a:ext cx="3246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Courier New"/>
              <a:buNone/>
            </a:pPr>
            <a:r>
              <a:rPr b="1" i="0" lang="en-US" sz="1250" u="none" cap="none" strike="noStrike">
                <a:solidFill>
                  <a:srgbClr val="F8FAFC"/>
                </a:solidFill>
                <a:latin typeface="Courier New"/>
                <a:ea typeface="Courier New"/>
                <a:cs typeface="Courier New"/>
                <a:sym typeface="Courier New"/>
              </a:rPr>
              <a:t>describe + --query</a:t>
            </a:r>
            <a:endParaRPr b="0" i="0" sz="1250" u="none" cap="none" strike="noStrike">
              <a:solidFill>
                <a:schemeClr val="dk1"/>
              </a:solidFill>
              <a:latin typeface="Calibri"/>
              <a:ea typeface="Calibri"/>
              <a:cs typeface="Calibri"/>
              <a:sym typeface="Calibri"/>
            </a:endParaRPr>
          </a:p>
        </p:txBody>
      </p:sp>
      <p:sp>
        <p:nvSpPr>
          <p:cNvPr id="537" name="Google Shape;537;p17"/>
          <p:cNvSpPr/>
          <p:nvPr/>
        </p:nvSpPr>
        <p:spPr>
          <a:xfrm>
            <a:off x="7845552" y="3355848"/>
            <a:ext cx="365760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Everything is queryable JSON. JMESPath filters — jq energy, built in.</a:t>
            </a:r>
            <a:endParaRPr b="0" i="0" sz="1050" u="none" cap="none" strike="noStrike">
              <a:solidFill>
                <a:schemeClr val="dk1"/>
              </a:solidFill>
              <a:latin typeface="Calibri"/>
              <a:ea typeface="Calibri"/>
              <a:cs typeface="Calibri"/>
              <a:sym typeface="Calibri"/>
            </a:endParaRPr>
          </a:p>
        </p:txBody>
      </p:sp>
      <p:sp>
        <p:nvSpPr>
          <p:cNvPr id="538" name="Google Shape;538;p17"/>
          <p:cNvSpPr/>
          <p:nvPr/>
        </p:nvSpPr>
        <p:spPr>
          <a:xfrm>
            <a:off x="7635240" y="4343400"/>
            <a:ext cx="4050792" cy="1298448"/>
          </a:xfrm>
          <a:prstGeom prst="roundRect">
            <a:avLst>
              <a:gd fmla="val 563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7"/>
          <p:cNvSpPr/>
          <p:nvPr/>
        </p:nvSpPr>
        <p:spPr>
          <a:xfrm>
            <a:off x="7818120" y="4453128"/>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2000"/>
              <a:buFont typeface="Bookman Old Style"/>
              <a:buNone/>
            </a:pPr>
            <a:r>
              <a:rPr b="1" i="0" lang="en-US" sz="2000" u="none" cap="none" strike="noStrike">
                <a:solidFill>
                  <a:srgbClr val="FF9900"/>
                </a:solidFill>
                <a:latin typeface="Bookman Old Style"/>
                <a:ea typeface="Bookman Old Style"/>
                <a:cs typeface="Bookman Old Style"/>
                <a:sym typeface="Bookman Old Style"/>
              </a:rPr>
              <a:t>3</a:t>
            </a:r>
            <a:endParaRPr b="0" i="0" sz="2000" u="none" cap="none" strike="noStrike">
              <a:solidFill>
                <a:schemeClr val="dk1"/>
              </a:solidFill>
              <a:latin typeface="Calibri"/>
              <a:ea typeface="Calibri"/>
              <a:cs typeface="Calibri"/>
              <a:sym typeface="Calibri"/>
            </a:endParaRPr>
          </a:p>
        </p:txBody>
      </p:sp>
      <p:sp>
        <p:nvSpPr>
          <p:cNvPr id="540" name="Google Shape;540;p17"/>
          <p:cNvSpPr/>
          <p:nvPr/>
        </p:nvSpPr>
        <p:spPr>
          <a:xfrm>
            <a:off x="8321040" y="4453128"/>
            <a:ext cx="32461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Courier New"/>
              <a:buNone/>
            </a:pPr>
            <a:r>
              <a:rPr b="1" i="0" lang="en-US" sz="1250" u="none" cap="none" strike="noStrike">
                <a:solidFill>
                  <a:srgbClr val="F8FAFC"/>
                </a:solidFill>
                <a:latin typeface="Courier New"/>
                <a:ea typeface="Courier New"/>
                <a:cs typeface="Courier New"/>
                <a:sym typeface="Courier New"/>
              </a:rPr>
              <a:t>ssh in</a:t>
            </a:r>
            <a:endParaRPr b="0" i="0" sz="1250" u="none" cap="none" strike="noStrike">
              <a:solidFill>
                <a:schemeClr val="dk1"/>
              </a:solidFill>
              <a:latin typeface="Calibri"/>
              <a:ea typeface="Calibri"/>
              <a:cs typeface="Calibri"/>
              <a:sym typeface="Calibri"/>
            </a:endParaRPr>
          </a:p>
        </p:txBody>
      </p:sp>
      <p:sp>
        <p:nvSpPr>
          <p:cNvPr id="541" name="Google Shape;541;p17"/>
          <p:cNvSpPr/>
          <p:nvPr/>
        </p:nvSpPr>
        <p:spPr>
          <a:xfrm>
            <a:off x="7845552" y="4818888"/>
            <a:ext cx="3657600" cy="7772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Your key pair from launch. From here it's the Linux module all over again.</a:t>
            </a:r>
            <a:endParaRPr b="0" i="0" sz="1050" u="none" cap="none" strike="noStrike">
              <a:solidFill>
                <a:schemeClr val="dk1"/>
              </a:solidFill>
              <a:latin typeface="Calibri"/>
              <a:ea typeface="Calibri"/>
              <a:cs typeface="Calibri"/>
              <a:sym typeface="Calibri"/>
            </a:endParaRPr>
          </a:p>
        </p:txBody>
      </p:sp>
      <p:sp>
        <p:nvSpPr>
          <p:cNvPr id="542" name="Google Shape;542;p17"/>
          <p:cNvSpPr/>
          <p:nvPr/>
        </p:nvSpPr>
        <p:spPr>
          <a:xfrm>
            <a:off x="502920" y="5806440"/>
            <a:ext cx="11183112" cy="658368"/>
          </a:xfrm>
          <a:prstGeom prst="roundRect">
            <a:avLst>
              <a:gd fmla="val 11111"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3" name="Google Shape;543;p17"/>
          <p:cNvPicPr preferRelativeResize="0"/>
          <p:nvPr/>
        </p:nvPicPr>
        <p:blipFill rotWithShape="1">
          <a:blip r:embed="rId3">
            <a:alphaModFix/>
          </a:blip>
          <a:srcRect b="0" l="0" r="0" t="0"/>
          <a:stretch/>
        </p:blipFill>
        <p:spPr>
          <a:xfrm>
            <a:off x="704088" y="5989320"/>
            <a:ext cx="292608" cy="292608"/>
          </a:xfrm>
          <a:prstGeom prst="rect">
            <a:avLst/>
          </a:prstGeom>
          <a:noFill/>
          <a:ln>
            <a:noFill/>
          </a:ln>
        </p:spPr>
      </p:pic>
      <p:sp>
        <p:nvSpPr>
          <p:cNvPr id="544" name="Google Shape;544;p17"/>
          <p:cNvSpPr/>
          <p:nvPr/>
        </p:nvSpPr>
        <p:spPr>
          <a:xfrm>
            <a:off x="1143000" y="5897880"/>
            <a:ext cx="10341864" cy="4754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Remember to terminate: aws ec2 terminate-instances --instance-ids i-… — the free tier forgives, your credit card doesn't.</a:t>
            </a:r>
            <a:endParaRPr b="0" i="0" sz="1250" u="none" cap="none" strike="noStrike">
              <a:solidFill>
                <a:schemeClr val="dk1"/>
              </a:solidFill>
              <a:latin typeface="Calibri"/>
              <a:ea typeface="Calibri"/>
              <a:cs typeface="Calibri"/>
              <a:sym typeface="Calibri"/>
            </a:endParaRPr>
          </a:p>
        </p:txBody>
      </p:sp>
      <p:sp>
        <p:nvSpPr>
          <p:cNvPr id="545" name="Google Shape;545;p17"/>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546" name="Google Shape;546;p17"/>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EC2 · CLI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51" name="Shape 551"/>
        <p:cNvGrpSpPr/>
        <p:nvPr/>
      </p:nvGrpSpPr>
      <p:grpSpPr>
        <a:xfrm>
          <a:off x="0" y="0"/>
          <a:ext cx="0" cy="0"/>
          <a:chOff x="0" y="0"/>
          <a:chExt cx="0" cy="0"/>
        </a:xfrm>
      </p:grpSpPr>
      <p:sp>
        <p:nvSpPr>
          <p:cNvPr id="552" name="Google Shape;552;p18"/>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500"/>
              <a:buFont typeface="Courier New"/>
              <a:buNone/>
            </a:pPr>
            <a:r>
              <a:rPr b="1" i="0" lang="en-US" sz="1500" u="none" cap="none" strike="noStrike">
                <a:solidFill>
                  <a:srgbClr val="FF9900"/>
                </a:solidFill>
                <a:latin typeface="Courier New"/>
                <a:ea typeface="Courier New"/>
                <a:cs typeface="Courier New"/>
                <a:sym typeface="Courier New"/>
              </a:rPr>
              <a:t>PART 3</a:t>
            </a:r>
            <a:endParaRPr b="0" i="0" sz="1500" u="none" cap="none" strike="noStrike">
              <a:solidFill>
                <a:schemeClr val="dk1"/>
              </a:solidFill>
              <a:latin typeface="Calibri"/>
              <a:ea typeface="Calibri"/>
              <a:cs typeface="Calibri"/>
              <a:sym typeface="Calibri"/>
            </a:endParaRPr>
          </a:p>
        </p:txBody>
      </p:sp>
      <p:sp>
        <p:nvSpPr>
          <p:cNvPr id="553" name="Google Shape;553;p18"/>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IAM</a:t>
            </a:r>
            <a:endParaRPr b="0" i="0" sz="4400" u="none" cap="none" strike="noStrike">
              <a:solidFill>
                <a:schemeClr val="dk1"/>
              </a:solidFill>
              <a:latin typeface="Calibri"/>
              <a:ea typeface="Calibri"/>
              <a:cs typeface="Calibri"/>
              <a:sym typeface="Calibri"/>
            </a:endParaRPr>
          </a:p>
        </p:txBody>
      </p:sp>
      <p:sp>
        <p:nvSpPr>
          <p:cNvPr id="554" name="Google Shape;554;p18"/>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Identity &amp; Access Management — who (or what) may do which action</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on which resource. The service that guards all the others.</a:t>
            </a:r>
            <a:endParaRPr b="0" i="0" sz="1600" u="none" cap="none" strike="noStrike">
              <a:solidFill>
                <a:schemeClr val="dk1"/>
              </a:solidFill>
              <a:latin typeface="Calibri"/>
              <a:ea typeface="Calibri"/>
              <a:cs typeface="Calibri"/>
              <a:sym typeface="Calibri"/>
            </a:endParaRPr>
          </a:p>
        </p:txBody>
      </p:sp>
      <p:sp>
        <p:nvSpPr>
          <p:cNvPr id="555" name="Google Shape;555;p18"/>
          <p:cNvSpPr/>
          <p:nvPr/>
        </p:nvSpPr>
        <p:spPr>
          <a:xfrm>
            <a:off x="8778240" y="1965960"/>
            <a:ext cx="2468880" cy="2468880"/>
          </a:xfrm>
          <a:prstGeom prst="ellipse">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6" name="Google Shape;556;p18"/>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557" name="Google Shape;557;p18"/>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558" name="Google Shape;558;p18"/>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63" name="Shape 563"/>
        <p:cNvGrpSpPr/>
        <p:nvPr/>
      </p:nvGrpSpPr>
      <p:grpSpPr>
        <a:xfrm>
          <a:off x="0" y="0"/>
          <a:ext cx="0" cy="0"/>
          <a:chOff x="0" y="0"/>
          <a:chExt cx="0" cy="0"/>
        </a:xfrm>
      </p:grpSpPr>
      <p:sp>
        <p:nvSpPr>
          <p:cNvPr id="564" name="Google Shape;564;p19"/>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IAM · THE MODEL</a:t>
            </a:r>
            <a:endParaRPr b="0" i="0" sz="1200" u="none" cap="none" strike="noStrike">
              <a:solidFill>
                <a:schemeClr val="dk1"/>
              </a:solidFill>
              <a:latin typeface="Calibri"/>
              <a:ea typeface="Calibri"/>
              <a:cs typeface="Calibri"/>
              <a:sym typeface="Calibri"/>
            </a:endParaRPr>
          </a:p>
        </p:txBody>
      </p:sp>
      <p:sp>
        <p:nvSpPr>
          <p:cNvPr id="565" name="Google Shape;565;p19"/>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Four primitives rule everything</a:t>
            </a:r>
            <a:endParaRPr b="0" i="0" sz="3000" u="none" cap="none" strike="noStrike">
              <a:solidFill>
                <a:schemeClr val="dk1"/>
              </a:solidFill>
              <a:latin typeface="Calibri"/>
              <a:ea typeface="Calibri"/>
              <a:cs typeface="Calibri"/>
              <a:sym typeface="Calibri"/>
            </a:endParaRPr>
          </a:p>
        </p:txBody>
      </p:sp>
      <p:sp>
        <p:nvSpPr>
          <p:cNvPr id="566" name="Google Shape;566;p19"/>
          <p:cNvSpPr/>
          <p:nvPr/>
        </p:nvSpPr>
        <p:spPr>
          <a:xfrm>
            <a:off x="502920" y="1325880"/>
            <a:ext cx="11183112" cy="658368"/>
          </a:xfrm>
          <a:prstGeom prst="roundRect">
            <a:avLst>
              <a:gd fmla="val 11111"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7" name="Google Shape;567;p19"/>
          <p:cNvPicPr preferRelativeResize="0"/>
          <p:nvPr/>
        </p:nvPicPr>
        <p:blipFill rotWithShape="1">
          <a:blip r:embed="rId3">
            <a:alphaModFix/>
          </a:blip>
          <a:srcRect b="0" l="0" r="0" t="0"/>
          <a:stretch/>
        </p:blipFill>
        <p:spPr>
          <a:xfrm>
            <a:off x="704088" y="1508760"/>
            <a:ext cx="292608" cy="292608"/>
          </a:xfrm>
          <a:prstGeom prst="rect">
            <a:avLst/>
          </a:prstGeom>
          <a:noFill/>
          <a:ln>
            <a:noFill/>
          </a:ln>
        </p:spPr>
      </p:pic>
      <p:sp>
        <p:nvSpPr>
          <p:cNvPr id="568" name="Google Shape;568;p19"/>
          <p:cNvSpPr/>
          <p:nvPr/>
        </p:nvSpPr>
        <p:spPr>
          <a:xfrm>
            <a:off x="1143000" y="1417320"/>
            <a:ext cx="10341864" cy="4754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Day 1 temptation: everyone shares the root account password. One leaked laptop later, your account mines crypto in three regions. IAM exists so root can retire.</a:t>
            </a:r>
            <a:endParaRPr b="0" i="0" sz="1250" u="none" cap="none" strike="noStrike">
              <a:solidFill>
                <a:schemeClr val="dk1"/>
              </a:solidFill>
              <a:latin typeface="Calibri"/>
              <a:ea typeface="Calibri"/>
              <a:cs typeface="Calibri"/>
              <a:sym typeface="Calibri"/>
            </a:endParaRPr>
          </a:p>
        </p:txBody>
      </p:sp>
      <p:sp>
        <p:nvSpPr>
          <p:cNvPr id="569" name="Google Shape;569;p19"/>
          <p:cNvSpPr/>
          <p:nvPr/>
        </p:nvSpPr>
        <p:spPr>
          <a:xfrm>
            <a:off x="502920" y="2194560"/>
            <a:ext cx="2697480" cy="2514600"/>
          </a:xfrm>
          <a:prstGeom prst="roundRect">
            <a:avLst>
              <a:gd fmla="val 290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9"/>
          <p:cNvSpPr/>
          <p:nvPr/>
        </p:nvSpPr>
        <p:spPr>
          <a:xfrm>
            <a:off x="704088" y="237744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1" name="Google Shape;571;p19"/>
          <p:cNvPicPr preferRelativeResize="0"/>
          <p:nvPr/>
        </p:nvPicPr>
        <p:blipFill rotWithShape="1">
          <a:blip r:embed="rId4">
            <a:alphaModFix/>
          </a:blip>
          <a:srcRect b="0" l="0" r="0" t="0"/>
          <a:stretch/>
        </p:blipFill>
        <p:spPr>
          <a:xfrm>
            <a:off x="822960" y="2496312"/>
            <a:ext cx="237744" cy="237744"/>
          </a:xfrm>
          <a:prstGeom prst="rect">
            <a:avLst/>
          </a:prstGeom>
          <a:noFill/>
          <a:ln>
            <a:noFill/>
          </a:ln>
        </p:spPr>
      </p:pic>
      <p:sp>
        <p:nvSpPr>
          <p:cNvPr id="572" name="Google Shape;572;p19"/>
          <p:cNvSpPr/>
          <p:nvPr/>
        </p:nvSpPr>
        <p:spPr>
          <a:xfrm>
            <a:off x="1307592" y="23408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User</a:t>
            </a:r>
            <a:endParaRPr b="0" i="0" sz="1450" u="none" cap="none" strike="noStrike">
              <a:solidFill>
                <a:schemeClr val="dk1"/>
              </a:solidFill>
              <a:latin typeface="Calibri"/>
              <a:ea typeface="Calibri"/>
              <a:cs typeface="Calibri"/>
              <a:sym typeface="Calibri"/>
            </a:endParaRPr>
          </a:p>
        </p:txBody>
      </p:sp>
      <p:sp>
        <p:nvSpPr>
          <p:cNvPr id="573" name="Google Shape;573;p19"/>
          <p:cNvSpPr/>
          <p:nvPr/>
        </p:nvSpPr>
        <p:spPr>
          <a:xfrm>
            <a:off x="722376" y="2971800"/>
            <a:ext cx="2258568" cy="1600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A person (or legacy app) with long-term credentials — password + access keys.</a:t>
            </a:r>
            <a:endParaRPr b="0" i="0" sz="1150" u="none" cap="none" strike="noStrike">
              <a:solidFill>
                <a:schemeClr val="dk1"/>
              </a:solidFill>
              <a:latin typeface="Calibri"/>
              <a:ea typeface="Calibri"/>
              <a:cs typeface="Calibri"/>
              <a:sym typeface="Calibri"/>
            </a:endParaRPr>
          </a:p>
        </p:txBody>
      </p:sp>
      <p:sp>
        <p:nvSpPr>
          <p:cNvPr id="574" name="Google Shape;574;p19"/>
          <p:cNvSpPr/>
          <p:nvPr/>
        </p:nvSpPr>
        <p:spPr>
          <a:xfrm>
            <a:off x="722376" y="4142232"/>
            <a:ext cx="2258568" cy="384048"/>
          </a:xfrm>
          <a:prstGeom prst="roundRect">
            <a:avLst>
              <a:gd fmla="val 14286" name="adj"/>
            </a:avLst>
          </a:prstGeom>
          <a:solidFill>
            <a:srgbClr val="0F172A"/>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9"/>
          <p:cNvSpPr/>
          <p:nvPr/>
        </p:nvSpPr>
        <p:spPr>
          <a:xfrm>
            <a:off x="722376" y="4142232"/>
            <a:ext cx="225856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950"/>
              <a:buFont typeface="Courier New"/>
              <a:buNone/>
            </a:pPr>
            <a:r>
              <a:rPr b="0" i="0" lang="en-US" sz="950" u="none" cap="none" strike="noStrike">
                <a:solidFill>
                  <a:srgbClr val="FF9900"/>
                </a:solidFill>
                <a:latin typeface="Courier New"/>
                <a:ea typeface="Courier New"/>
                <a:cs typeface="Courier New"/>
                <a:sym typeface="Courier New"/>
              </a:rPr>
              <a:t>sagyam@bootcamp</a:t>
            </a:r>
            <a:endParaRPr b="0" i="0" sz="950" u="none" cap="none" strike="noStrike">
              <a:solidFill>
                <a:schemeClr val="dk1"/>
              </a:solidFill>
              <a:latin typeface="Calibri"/>
              <a:ea typeface="Calibri"/>
              <a:cs typeface="Calibri"/>
              <a:sym typeface="Calibri"/>
            </a:endParaRPr>
          </a:p>
        </p:txBody>
      </p:sp>
      <p:sp>
        <p:nvSpPr>
          <p:cNvPr id="576" name="Google Shape;576;p19"/>
          <p:cNvSpPr/>
          <p:nvPr/>
        </p:nvSpPr>
        <p:spPr>
          <a:xfrm>
            <a:off x="3374136" y="2194560"/>
            <a:ext cx="2697480" cy="2514600"/>
          </a:xfrm>
          <a:prstGeom prst="roundRect">
            <a:avLst>
              <a:gd fmla="val 290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9"/>
          <p:cNvSpPr/>
          <p:nvPr/>
        </p:nvSpPr>
        <p:spPr>
          <a:xfrm>
            <a:off x="3575304" y="237744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8" name="Google Shape;578;p19"/>
          <p:cNvPicPr preferRelativeResize="0"/>
          <p:nvPr/>
        </p:nvPicPr>
        <p:blipFill rotWithShape="1">
          <a:blip r:embed="rId5">
            <a:alphaModFix/>
          </a:blip>
          <a:srcRect b="0" l="0" r="0" t="0"/>
          <a:stretch/>
        </p:blipFill>
        <p:spPr>
          <a:xfrm>
            <a:off x="3694176" y="2496312"/>
            <a:ext cx="237744" cy="237744"/>
          </a:xfrm>
          <a:prstGeom prst="rect">
            <a:avLst/>
          </a:prstGeom>
          <a:noFill/>
          <a:ln>
            <a:noFill/>
          </a:ln>
        </p:spPr>
      </p:pic>
      <p:sp>
        <p:nvSpPr>
          <p:cNvPr id="579" name="Google Shape;579;p19"/>
          <p:cNvSpPr/>
          <p:nvPr/>
        </p:nvSpPr>
        <p:spPr>
          <a:xfrm>
            <a:off x="4178808" y="23408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Group</a:t>
            </a:r>
            <a:endParaRPr b="0" i="0" sz="1450" u="none" cap="none" strike="noStrike">
              <a:solidFill>
                <a:schemeClr val="dk1"/>
              </a:solidFill>
              <a:latin typeface="Calibri"/>
              <a:ea typeface="Calibri"/>
              <a:cs typeface="Calibri"/>
              <a:sym typeface="Calibri"/>
            </a:endParaRPr>
          </a:p>
        </p:txBody>
      </p:sp>
      <p:sp>
        <p:nvSpPr>
          <p:cNvPr id="580" name="Google Shape;580;p19"/>
          <p:cNvSpPr/>
          <p:nvPr/>
        </p:nvSpPr>
        <p:spPr>
          <a:xfrm>
            <a:off x="3593592" y="2971800"/>
            <a:ext cx="2258568" cy="1600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A bag of users. Attach policies to groups, never to individual users.</a:t>
            </a:r>
            <a:endParaRPr b="0" i="0" sz="1150" u="none" cap="none" strike="noStrike">
              <a:solidFill>
                <a:schemeClr val="dk1"/>
              </a:solidFill>
              <a:latin typeface="Calibri"/>
              <a:ea typeface="Calibri"/>
              <a:cs typeface="Calibri"/>
              <a:sym typeface="Calibri"/>
            </a:endParaRPr>
          </a:p>
        </p:txBody>
      </p:sp>
      <p:sp>
        <p:nvSpPr>
          <p:cNvPr id="581" name="Google Shape;581;p19"/>
          <p:cNvSpPr/>
          <p:nvPr/>
        </p:nvSpPr>
        <p:spPr>
          <a:xfrm>
            <a:off x="3593592" y="4142232"/>
            <a:ext cx="2258568" cy="384048"/>
          </a:xfrm>
          <a:prstGeom prst="roundRect">
            <a:avLst>
              <a:gd fmla="val 14286" name="adj"/>
            </a:avLst>
          </a:prstGeom>
          <a:solidFill>
            <a:srgbClr val="0F172A"/>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9"/>
          <p:cNvSpPr/>
          <p:nvPr/>
        </p:nvSpPr>
        <p:spPr>
          <a:xfrm>
            <a:off x="3593592" y="4142232"/>
            <a:ext cx="225856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950"/>
              <a:buFont typeface="Courier New"/>
              <a:buNone/>
            </a:pPr>
            <a:r>
              <a:rPr b="0" i="0" lang="en-US" sz="950" u="none" cap="none" strike="noStrike">
                <a:solidFill>
                  <a:srgbClr val="FF9900"/>
                </a:solidFill>
                <a:latin typeface="Courier New"/>
                <a:ea typeface="Courier New"/>
                <a:cs typeface="Courier New"/>
                <a:sym typeface="Courier New"/>
              </a:rPr>
              <a:t>developers, admins</a:t>
            </a:r>
            <a:endParaRPr b="0" i="0" sz="950" u="none" cap="none" strike="noStrike">
              <a:solidFill>
                <a:schemeClr val="dk1"/>
              </a:solidFill>
              <a:latin typeface="Calibri"/>
              <a:ea typeface="Calibri"/>
              <a:cs typeface="Calibri"/>
              <a:sym typeface="Calibri"/>
            </a:endParaRPr>
          </a:p>
        </p:txBody>
      </p:sp>
      <p:sp>
        <p:nvSpPr>
          <p:cNvPr id="583" name="Google Shape;583;p19"/>
          <p:cNvSpPr/>
          <p:nvPr/>
        </p:nvSpPr>
        <p:spPr>
          <a:xfrm>
            <a:off x="6245352" y="2194560"/>
            <a:ext cx="2697480" cy="2514600"/>
          </a:xfrm>
          <a:prstGeom prst="roundRect">
            <a:avLst>
              <a:gd fmla="val 290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9"/>
          <p:cNvSpPr/>
          <p:nvPr/>
        </p:nvSpPr>
        <p:spPr>
          <a:xfrm>
            <a:off x="6446520" y="237744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5" name="Google Shape;585;p19"/>
          <p:cNvPicPr preferRelativeResize="0"/>
          <p:nvPr/>
        </p:nvPicPr>
        <p:blipFill rotWithShape="1">
          <a:blip r:embed="rId6">
            <a:alphaModFix/>
          </a:blip>
          <a:srcRect b="0" l="0" r="0" t="0"/>
          <a:stretch/>
        </p:blipFill>
        <p:spPr>
          <a:xfrm>
            <a:off x="6565392" y="2496312"/>
            <a:ext cx="237744" cy="237744"/>
          </a:xfrm>
          <a:prstGeom prst="rect">
            <a:avLst/>
          </a:prstGeom>
          <a:noFill/>
          <a:ln>
            <a:noFill/>
          </a:ln>
        </p:spPr>
      </p:pic>
      <p:sp>
        <p:nvSpPr>
          <p:cNvPr id="586" name="Google Shape;586;p19"/>
          <p:cNvSpPr/>
          <p:nvPr/>
        </p:nvSpPr>
        <p:spPr>
          <a:xfrm>
            <a:off x="7050024" y="23408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Role</a:t>
            </a:r>
            <a:endParaRPr b="0" i="0" sz="1450" u="none" cap="none" strike="noStrike">
              <a:solidFill>
                <a:schemeClr val="dk1"/>
              </a:solidFill>
              <a:latin typeface="Calibri"/>
              <a:ea typeface="Calibri"/>
              <a:cs typeface="Calibri"/>
              <a:sym typeface="Calibri"/>
            </a:endParaRPr>
          </a:p>
        </p:txBody>
      </p:sp>
      <p:sp>
        <p:nvSpPr>
          <p:cNvPr id="587" name="Google Shape;587;p19"/>
          <p:cNvSpPr/>
          <p:nvPr/>
        </p:nvSpPr>
        <p:spPr>
          <a:xfrm>
            <a:off x="6464808" y="2971800"/>
            <a:ext cx="2258568" cy="1600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An identity with NO password that services or users temporarily assume. Credentials auto-rotate.</a:t>
            </a:r>
            <a:endParaRPr b="0" i="0" sz="1150" u="none" cap="none" strike="noStrike">
              <a:solidFill>
                <a:schemeClr val="dk1"/>
              </a:solidFill>
              <a:latin typeface="Calibri"/>
              <a:ea typeface="Calibri"/>
              <a:cs typeface="Calibri"/>
              <a:sym typeface="Calibri"/>
            </a:endParaRPr>
          </a:p>
        </p:txBody>
      </p:sp>
      <p:sp>
        <p:nvSpPr>
          <p:cNvPr id="588" name="Google Shape;588;p19"/>
          <p:cNvSpPr/>
          <p:nvPr/>
        </p:nvSpPr>
        <p:spPr>
          <a:xfrm>
            <a:off x="6464808" y="4142232"/>
            <a:ext cx="2258568" cy="384048"/>
          </a:xfrm>
          <a:prstGeom prst="roundRect">
            <a:avLst>
              <a:gd fmla="val 14286" name="adj"/>
            </a:avLst>
          </a:prstGeom>
          <a:solidFill>
            <a:srgbClr val="0F172A"/>
          </a:solidFill>
          <a:ln cap="flat" cmpd="sng" w="952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9"/>
          <p:cNvSpPr/>
          <p:nvPr/>
        </p:nvSpPr>
        <p:spPr>
          <a:xfrm>
            <a:off x="6464808" y="4142232"/>
            <a:ext cx="225856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eks-node-role</a:t>
            </a:r>
            <a:endParaRPr b="0" i="0" sz="950" u="none" cap="none" strike="noStrike">
              <a:solidFill>
                <a:schemeClr val="dk1"/>
              </a:solidFill>
              <a:latin typeface="Calibri"/>
              <a:ea typeface="Calibri"/>
              <a:cs typeface="Calibri"/>
              <a:sym typeface="Calibri"/>
            </a:endParaRPr>
          </a:p>
        </p:txBody>
      </p:sp>
      <p:sp>
        <p:nvSpPr>
          <p:cNvPr id="590" name="Google Shape;590;p19"/>
          <p:cNvSpPr/>
          <p:nvPr/>
        </p:nvSpPr>
        <p:spPr>
          <a:xfrm>
            <a:off x="9116568" y="2194560"/>
            <a:ext cx="2697480" cy="2514600"/>
          </a:xfrm>
          <a:prstGeom prst="roundRect">
            <a:avLst>
              <a:gd fmla="val 2909"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9"/>
          <p:cNvSpPr/>
          <p:nvPr/>
        </p:nvSpPr>
        <p:spPr>
          <a:xfrm>
            <a:off x="9317736" y="2377440"/>
            <a:ext cx="475488" cy="475488"/>
          </a:xfrm>
          <a:prstGeom prst="ellipse">
            <a:avLst/>
          </a:prstGeom>
          <a:solidFill>
            <a:srgbClr val="0F172A"/>
          </a:solidFill>
          <a:ln cap="flat" cmpd="sng" w="1587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2" name="Google Shape;592;p19"/>
          <p:cNvPicPr preferRelativeResize="0"/>
          <p:nvPr/>
        </p:nvPicPr>
        <p:blipFill rotWithShape="1">
          <a:blip r:embed="rId7">
            <a:alphaModFix/>
          </a:blip>
          <a:srcRect b="0" l="0" r="0" t="0"/>
          <a:stretch/>
        </p:blipFill>
        <p:spPr>
          <a:xfrm>
            <a:off x="9436608" y="2496312"/>
            <a:ext cx="237744" cy="237744"/>
          </a:xfrm>
          <a:prstGeom prst="rect">
            <a:avLst/>
          </a:prstGeom>
          <a:noFill/>
          <a:ln>
            <a:noFill/>
          </a:ln>
        </p:spPr>
      </p:pic>
      <p:sp>
        <p:nvSpPr>
          <p:cNvPr id="593" name="Google Shape;593;p19"/>
          <p:cNvSpPr/>
          <p:nvPr/>
        </p:nvSpPr>
        <p:spPr>
          <a:xfrm>
            <a:off x="9921240" y="234086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Policy</a:t>
            </a:r>
            <a:endParaRPr b="0" i="0" sz="1450" u="none" cap="none" strike="noStrike">
              <a:solidFill>
                <a:schemeClr val="dk1"/>
              </a:solidFill>
              <a:latin typeface="Calibri"/>
              <a:ea typeface="Calibri"/>
              <a:cs typeface="Calibri"/>
              <a:sym typeface="Calibri"/>
            </a:endParaRPr>
          </a:p>
        </p:txBody>
      </p:sp>
      <p:sp>
        <p:nvSpPr>
          <p:cNvPr id="594" name="Google Shape;594;p19"/>
          <p:cNvSpPr/>
          <p:nvPr/>
        </p:nvSpPr>
        <p:spPr>
          <a:xfrm>
            <a:off x="9336024" y="2971800"/>
            <a:ext cx="2258568" cy="1600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A JSON document that says Allow/Deny + Action + Resource. Attach to any of the three.</a:t>
            </a:r>
            <a:endParaRPr b="0" i="0" sz="1150" u="none" cap="none" strike="noStrike">
              <a:solidFill>
                <a:schemeClr val="dk1"/>
              </a:solidFill>
              <a:latin typeface="Calibri"/>
              <a:ea typeface="Calibri"/>
              <a:cs typeface="Calibri"/>
              <a:sym typeface="Calibri"/>
            </a:endParaRPr>
          </a:p>
        </p:txBody>
      </p:sp>
      <p:sp>
        <p:nvSpPr>
          <p:cNvPr id="595" name="Google Shape;595;p19"/>
          <p:cNvSpPr/>
          <p:nvPr/>
        </p:nvSpPr>
        <p:spPr>
          <a:xfrm>
            <a:off x="9336024" y="4142232"/>
            <a:ext cx="2258568" cy="384048"/>
          </a:xfrm>
          <a:prstGeom prst="roundRect">
            <a:avLst>
              <a:gd fmla="val 14286" name="adj"/>
            </a:avLst>
          </a:prstGeom>
          <a:solidFill>
            <a:srgbClr val="0F172A"/>
          </a:solidFill>
          <a:ln cap="flat" cmpd="sng" w="952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9336024" y="4142232"/>
            <a:ext cx="225856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78BFA"/>
              </a:buClr>
              <a:buSzPts val="950"/>
              <a:buFont typeface="Courier New"/>
              <a:buNone/>
            </a:pPr>
            <a:r>
              <a:rPr b="0" i="0" lang="en-US" sz="950" u="none" cap="none" strike="noStrike">
                <a:solidFill>
                  <a:srgbClr val="A78BFA"/>
                </a:solidFill>
                <a:latin typeface="Courier New"/>
                <a:ea typeface="Courier New"/>
                <a:cs typeface="Courier New"/>
                <a:sym typeface="Courier New"/>
              </a:rPr>
              <a:t>S3ReadOnly</a:t>
            </a:r>
            <a:endParaRPr b="0" i="0" sz="950" u="none" cap="none" strike="noStrike">
              <a:solidFill>
                <a:schemeClr val="dk1"/>
              </a:solidFill>
              <a:latin typeface="Calibri"/>
              <a:ea typeface="Calibri"/>
              <a:cs typeface="Calibri"/>
              <a:sym typeface="Calibri"/>
            </a:endParaRPr>
          </a:p>
        </p:txBody>
      </p:sp>
      <p:sp>
        <p:nvSpPr>
          <p:cNvPr id="597" name="Google Shape;597;p19"/>
          <p:cNvSpPr/>
          <p:nvPr/>
        </p:nvSpPr>
        <p:spPr>
          <a:xfrm>
            <a:off x="502920" y="4937760"/>
            <a:ext cx="11183112" cy="868680"/>
          </a:xfrm>
          <a:prstGeom prst="roundRect">
            <a:avLst>
              <a:gd fmla="val 8421"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8" name="Google Shape;598;p19"/>
          <p:cNvPicPr preferRelativeResize="0"/>
          <p:nvPr/>
        </p:nvPicPr>
        <p:blipFill rotWithShape="1">
          <a:blip r:embed="rId8">
            <a:alphaModFix/>
          </a:blip>
          <a:srcRect b="0" l="0" r="0" t="0"/>
          <a:stretch/>
        </p:blipFill>
        <p:spPr>
          <a:xfrm>
            <a:off x="704088" y="5225796"/>
            <a:ext cx="292608" cy="292608"/>
          </a:xfrm>
          <a:prstGeom prst="rect">
            <a:avLst/>
          </a:prstGeom>
          <a:noFill/>
          <a:ln>
            <a:noFill/>
          </a:ln>
        </p:spPr>
      </p:pic>
      <p:sp>
        <p:nvSpPr>
          <p:cNvPr id="599" name="Google Shape;599;p19"/>
          <p:cNvSpPr/>
          <p:nvPr/>
        </p:nvSpPr>
        <p:spPr>
          <a:xfrm>
            <a:off x="1143000" y="5029200"/>
            <a:ext cx="10341864"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Mental model: users &amp; roles are WHO, policies are WHAT THEY MAY DO, groups are just bulk assignment. Everything you'll ever debug in IAM reduces to: which policies apply to this identity right now?</a:t>
            </a:r>
            <a:endParaRPr b="0" i="0" sz="1300" u="none" cap="none" strike="noStrike">
              <a:solidFill>
                <a:schemeClr val="dk1"/>
              </a:solidFill>
              <a:latin typeface="Calibri"/>
              <a:ea typeface="Calibri"/>
              <a:cs typeface="Calibri"/>
              <a:sym typeface="Calibri"/>
            </a:endParaRPr>
          </a:p>
        </p:txBody>
      </p:sp>
      <p:sp>
        <p:nvSpPr>
          <p:cNvPr id="600" name="Google Shape;600;p19"/>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601" name="Google Shape;601;p19"/>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IAM primitives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06" name="Shape 606"/>
        <p:cNvGrpSpPr/>
        <p:nvPr/>
      </p:nvGrpSpPr>
      <p:grpSpPr>
        <a:xfrm>
          <a:off x="0" y="0"/>
          <a:ext cx="0" cy="0"/>
          <a:chOff x="0" y="0"/>
          <a:chExt cx="0" cy="0"/>
        </a:xfrm>
      </p:grpSpPr>
      <p:sp>
        <p:nvSpPr>
          <p:cNvPr id="607" name="Google Shape;607;p20"/>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IAM · POLICIES</a:t>
            </a:r>
            <a:endParaRPr b="0" i="0" sz="1200" u="none" cap="none" strike="noStrike">
              <a:solidFill>
                <a:schemeClr val="dk1"/>
              </a:solidFill>
              <a:latin typeface="Calibri"/>
              <a:ea typeface="Calibri"/>
              <a:cs typeface="Calibri"/>
              <a:sym typeface="Calibri"/>
            </a:endParaRPr>
          </a:p>
        </p:txBody>
      </p:sp>
      <p:sp>
        <p:nvSpPr>
          <p:cNvPr id="608" name="Google Shape;608;p20"/>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Reading a policy document</a:t>
            </a:r>
            <a:endParaRPr b="0" i="0" sz="3000" u="none" cap="none" strike="noStrike">
              <a:solidFill>
                <a:schemeClr val="dk1"/>
              </a:solidFill>
              <a:latin typeface="Calibri"/>
              <a:ea typeface="Calibri"/>
              <a:cs typeface="Calibri"/>
              <a:sym typeface="Calibri"/>
            </a:endParaRPr>
          </a:p>
        </p:txBody>
      </p:sp>
      <p:sp>
        <p:nvSpPr>
          <p:cNvPr id="609" name="Google Shape;609;p20"/>
          <p:cNvSpPr/>
          <p:nvPr/>
        </p:nvSpPr>
        <p:spPr>
          <a:xfrm>
            <a:off x="502920" y="1417320"/>
            <a:ext cx="6675120" cy="4343400"/>
          </a:xfrm>
          <a:prstGeom prst="roundRect">
            <a:avLst>
              <a:gd fmla="val 1684"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0"/>
          <p:cNvSpPr/>
          <p:nvPr/>
        </p:nvSpPr>
        <p:spPr>
          <a:xfrm>
            <a:off x="704088" y="154533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0"/>
          <p:cNvSpPr/>
          <p:nvPr/>
        </p:nvSpPr>
        <p:spPr>
          <a:xfrm>
            <a:off x="886968" y="154533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a:off x="1069848" y="154533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0"/>
          <p:cNvSpPr/>
          <p:nvPr/>
        </p:nvSpPr>
        <p:spPr>
          <a:xfrm>
            <a:off x="1280160" y="1472184"/>
            <a:ext cx="5760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s3-podinfo-readonly.json</a:t>
            </a:r>
            <a:endParaRPr b="0" i="0" sz="1000" u="none" cap="none" strike="noStrike">
              <a:solidFill>
                <a:schemeClr val="dk1"/>
              </a:solidFill>
              <a:latin typeface="Calibri"/>
              <a:ea typeface="Calibri"/>
              <a:cs typeface="Calibri"/>
              <a:sym typeface="Calibri"/>
            </a:endParaRPr>
          </a:p>
        </p:txBody>
      </p:sp>
      <p:sp>
        <p:nvSpPr>
          <p:cNvPr id="614" name="Google Shape;614;p20"/>
          <p:cNvSpPr/>
          <p:nvPr/>
        </p:nvSpPr>
        <p:spPr>
          <a:xfrm>
            <a:off x="704088" y="1801368"/>
            <a:ext cx="6272784" cy="38404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"Version": "2012-10-17",</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"Statement":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"Sid": "AllowReadPodinfoAssets",</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4ADE80"/>
              </a:buClr>
              <a:buSzPts val="1050"/>
              <a:buFont typeface="Courier New"/>
              <a:buNone/>
            </a:pPr>
            <a:r>
              <a:rPr b="1" i="0" lang="en-US" sz="1050" u="none" cap="none" strike="noStrike">
                <a:solidFill>
                  <a:srgbClr val="4ADE80"/>
                </a:solidFill>
                <a:latin typeface="Courier New"/>
                <a:ea typeface="Courier New"/>
                <a:cs typeface="Courier New"/>
                <a:sym typeface="Courier New"/>
              </a:rPr>
              <a:t>    "Effect": "Allow",</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9900"/>
              </a:buClr>
              <a:buSzPts val="1050"/>
              <a:buFont typeface="Courier New"/>
              <a:buNone/>
            </a:pPr>
            <a:r>
              <a:rPr b="1" i="0" lang="en-US" sz="1050" u="none" cap="none" strike="noStrike">
                <a:solidFill>
                  <a:srgbClr val="FF9900"/>
                </a:solidFill>
                <a:latin typeface="Courier New"/>
                <a:ea typeface="Courier New"/>
                <a:cs typeface="Courier New"/>
                <a:sym typeface="Courier New"/>
              </a:rPr>
              <a:t>    "Action":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9900"/>
              </a:buClr>
              <a:buSzPts val="1050"/>
              <a:buFont typeface="Courier New"/>
              <a:buNone/>
            </a:pPr>
            <a:r>
              <a:rPr b="0" i="0" lang="en-US" sz="1050" u="none" cap="none" strike="noStrike">
                <a:solidFill>
                  <a:srgbClr val="FF9900"/>
                </a:solidFill>
                <a:latin typeface="Courier New"/>
                <a:ea typeface="Courier New"/>
                <a:cs typeface="Courier New"/>
                <a:sym typeface="Courier New"/>
              </a:rPr>
              <a:t>      "s3:GetObject",</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9900"/>
              </a:buClr>
              <a:buSzPts val="1050"/>
              <a:buFont typeface="Courier New"/>
              <a:buNone/>
            </a:pPr>
            <a:r>
              <a:rPr b="0" i="0" lang="en-US" sz="1050" u="none" cap="none" strike="noStrike">
                <a:solidFill>
                  <a:srgbClr val="FF9900"/>
                </a:solidFill>
                <a:latin typeface="Courier New"/>
                <a:ea typeface="Courier New"/>
                <a:cs typeface="Courier New"/>
                <a:sym typeface="Courier New"/>
              </a:rPr>
              <a:t>      "s3:ListBucket"</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D4BF"/>
              </a:buClr>
              <a:buSzPts val="1050"/>
              <a:buFont typeface="Courier New"/>
              <a:buNone/>
            </a:pPr>
            <a:r>
              <a:rPr b="1" i="0" lang="en-US" sz="1050" u="none" cap="none" strike="noStrike">
                <a:solidFill>
                  <a:srgbClr val="2DD4BF"/>
                </a:solidFill>
                <a:latin typeface="Courier New"/>
                <a:ea typeface="Courier New"/>
                <a:cs typeface="Courier New"/>
                <a:sym typeface="Courier New"/>
              </a:rPr>
              <a:t>    "Resource":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      "arn:aws:s3:::podinfo-assets",</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      "arn:aws:s3:::podinfo-assets/*"</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A78BFA"/>
              </a:buClr>
              <a:buSzPts val="1050"/>
              <a:buFont typeface="Courier New"/>
              <a:buNone/>
            </a:pPr>
            <a:r>
              <a:rPr b="1" i="0" lang="en-US" sz="1050" u="none" cap="none" strike="noStrike">
                <a:solidFill>
                  <a:srgbClr val="A78BFA"/>
                </a:solidFill>
                <a:latin typeface="Courier New"/>
                <a:ea typeface="Courier New"/>
                <a:cs typeface="Courier New"/>
                <a:sym typeface="Courier New"/>
              </a:rPr>
              <a:t>    "Condition": {"IpAddress":</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A78BFA"/>
              </a:buClr>
              <a:buSzPts val="1050"/>
              <a:buFont typeface="Courier New"/>
              <a:buNone/>
            </a:pPr>
            <a:r>
              <a:rPr b="0" i="0" lang="en-US" sz="1050" u="none" cap="none" strike="noStrike">
                <a:solidFill>
                  <a:srgbClr val="A78BFA"/>
                </a:solidFill>
                <a:latin typeface="Courier New"/>
                <a:ea typeface="Courier New"/>
                <a:cs typeface="Courier New"/>
                <a:sym typeface="Courier New"/>
              </a:rPr>
              <a:t>      {"aws:SourceIp": "202.51.0.0/16"}}</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615" name="Google Shape;615;p20"/>
          <p:cNvSpPr/>
          <p:nvPr/>
        </p:nvSpPr>
        <p:spPr>
          <a:xfrm>
            <a:off x="7360920" y="1417320"/>
            <a:ext cx="4325112" cy="1005840"/>
          </a:xfrm>
          <a:prstGeom prst="roundRect">
            <a:avLst>
              <a:gd fmla="val 7273" name="adj"/>
            </a:avLst>
          </a:prstGeom>
          <a:solidFill>
            <a:srgbClr val="1E293B"/>
          </a:solidFill>
          <a:ln cap="flat" cmpd="sng" w="12700">
            <a:solidFill>
              <a:srgbClr val="4AD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0"/>
          <p:cNvSpPr/>
          <p:nvPr/>
        </p:nvSpPr>
        <p:spPr>
          <a:xfrm>
            <a:off x="7543800" y="1490472"/>
            <a:ext cx="3931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DE80"/>
              </a:buClr>
              <a:buSzPts val="1250"/>
              <a:buFont typeface="Courier New"/>
              <a:buNone/>
            </a:pPr>
            <a:r>
              <a:rPr b="1" i="0" lang="en-US" sz="1250" u="none" cap="none" strike="noStrike">
                <a:solidFill>
                  <a:srgbClr val="4ADE80"/>
                </a:solidFill>
                <a:latin typeface="Courier New"/>
                <a:ea typeface="Courier New"/>
                <a:cs typeface="Courier New"/>
                <a:sym typeface="Courier New"/>
              </a:rPr>
              <a:t>Effect</a:t>
            </a:r>
            <a:endParaRPr b="0" i="0" sz="1250" u="none" cap="none" strike="noStrike">
              <a:solidFill>
                <a:schemeClr val="dk1"/>
              </a:solidFill>
              <a:latin typeface="Calibri"/>
              <a:ea typeface="Calibri"/>
              <a:cs typeface="Calibri"/>
              <a:sym typeface="Calibri"/>
            </a:endParaRPr>
          </a:p>
        </p:txBody>
      </p:sp>
      <p:sp>
        <p:nvSpPr>
          <p:cNvPr id="617" name="Google Shape;617;p20"/>
          <p:cNvSpPr/>
          <p:nvPr/>
        </p:nvSpPr>
        <p:spPr>
          <a:xfrm>
            <a:off x="7543800" y="1801368"/>
            <a:ext cx="3977640" cy="566928"/>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Allow or Deny. Explicit Deny always wins; default is implicit deny.</a:t>
            </a:r>
            <a:endParaRPr b="0" i="0" sz="1050" u="none" cap="none" strike="noStrike">
              <a:solidFill>
                <a:schemeClr val="dk1"/>
              </a:solidFill>
              <a:latin typeface="Calibri"/>
              <a:ea typeface="Calibri"/>
              <a:cs typeface="Calibri"/>
              <a:sym typeface="Calibri"/>
            </a:endParaRPr>
          </a:p>
        </p:txBody>
      </p:sp>
      <p:sp>
        <p:nvSpPr>
          <p:cNvPr id="618" name="Google Shape;618;p20"/>
          <p:cNvSpPr/>
          <p:nvPr/>
        </p:nvSpPr>
        <p:spPr>
          <a:xfrm>
            <a:off x="7360920" y="2532888"/>
            <a:ext cx="4325112" cy="1005840"/>
          </a:xfrm>
          <a:prstGeom prst="roundRect">
            <a:avLst>
              <a:gd fmla="val 7273"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0"/>
          <p:cNvSpPr/>
          <p:nvPr/>
        </p:nvSpPr>
        <p:spPr>
          <a:xfrm>
            <a:off x="7543800" y="2606040"/>
            <a:ext cx="3931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50"/>
              <a:buFont typeface="Courier New"/>
              <a:buNone/>
            </a:pPr>
            <a:r>
              <a:rPr b="1" i="0" lang="en-US" sz="1250" u="none" cap="none" strike="noStrike">
                <a:solidFill>
                  <a:srgbClr val="FF9900"/>
                </a:solidFill>
                <a:latin typeface="Courier New"/>
                <a:ea typeface="Courier New"/>
                <a:cs typeface="Courier New"/>
                <a:sym typeface="Courier New"/>
              </a:rPr>
              <a:t>Action</a:t>
            </a:r>
            <a:endParaRPr b="0" i="0" sz="1250" u="none" cap="none" strike="noStrike">
              <a:solidFill>
                <a:schemeClr val="dk1"/>
              </a:solidFill>
              <a:latin typeface="Calibri"/>
              <a:ea typeface="Calibri"/>
              <a:cs typeface="Calibri"/>
              <a:sym typeface="Calibri"/>
            </a:endParaRPr>
          </a:p>
        </p:txBody>
      </p:sp>
      <p:sp>
        <p:nvSpPr>
          <p:cNvPr id="620" name="Google Shape;620;p20"/>
          <p:cNvSpPr/>
          <p:nvPr/>
        </p:nvSpPr>
        <p:spPr>
          <a:xfrm>
            <a:off x="7543800" y="2916936"/>
            <a:ext cx="3977640" cy="566928"/>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service:Verb — s3:GetObject, ec2:*. Wildcards allowed, regretted later.</a:t>
            </a:r>
            <a:endParaRPr b="0" i="0" sz="1050" u="none" cap="none" strike="noStrike">
              <a:solidFill>
                <a:schemeClr val="dk1"/>
              </a:solidFill>
              <a:latin typeface="Calibri"/>
              <a:ea typeface="Calibri"/>
              <a:cs typeface="Calibri"/>
              <a:sym typeface="Calibri"/>
            </a:endParaRPr>
          </a:p>
        </p:txBody>
      </p:sp>
      <p:sp>
        <p:nvSpPr>
          <p:cNvPr id="621" name="Google Shape;621;p20"/>
          <p:cNvSpPr/>
          <p:nvPr/>
        </p:nvSpPr>
        <p:spPr>
          <a:xfrm>
            <a:off x="7360920" y="3648456"/>
            <a:ext cx="4325112" cy="1005840"/>
          </a:xfrm>
          <a:prstGeom prst="roundRect">
            <a:avLst>
              <a:gd fmla="val 7273"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0"/>
          <p:cNvSpPr/>
          <p:nvPr/>
        </p:nvSpPr>
        <p:spPr>
          <a:xfrm>
            <a:off x="7543800" y="3721608"/>
            <a:ext cx="3931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50"/>
              <a:buFont typeface="Courier New"/>
              <a:buNone/>
            </a:pPr>
            <a:r>
              <a:rPr b="1" i="0" lang="en-US" sz="1250" u="none" cap="none" strike="noStrike">
                <a:solidFill>
                  <a:srgbClr val="2DD4BF"/>
                </a:solidFill>
                <a:latin typeface="Courier New"/>
                <a:ea typeface="Courier New"/>
                <a:cs typeface="Courier New"/>
                <a:sym typeface="Courier New"/>
              </a:rPr>
              <a:t>Resource</a:t>
            </a:r>
            <a:endParaRPr b="0" i="0" sz="1250" u="none" cap="none" strike="noStrike">
              <a:solidFill>
                <a:schemeClr val="dk1"/>
              </a:solidFill>
              <a:latin typeface="Calibri"/>
              <a:ea typeface="Calibri"/>
              <a:cs typeface="Calibri"/>
              <a:sym typeface="Calibri"/>
            </a:endParaRPr>
          </a:p>
        </p:txBody>
      </p:sp>
      <p:sp>
        <p:nvSpPr>
          <p:cNvPr id="623" name="Google Shape;623;p20"/>
          <p:cNvSpPr/>
          <p:nvPr/>
        </p:nvSpPr>
        <p:spPr>
          <a:xfrm>
            <a:off x="7543800" y="4032504"/>
            <a:ext cx="3977640" cy="566928"/>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ARNs this applies to. Note bucket AND bucket/* are different things!</a:t>
            </a:r>
            <a:endParaRPr b="0" i="0" sz="1050" u="none" cap="none" strike="noStrike">
              <a:solidFill>
                <a:schemeClr val="dk1"/>
              </a:solidFill>
              <a:latin typeface="Calibri"/>
              <a:ea typeface="Calibri"/>
              <a:cs typeface="Calibri"/>
              <a:sym typeface="Calibri"/>
            </a:endParaRPr>
          </a:p>
        </p:txBody>
      </p:sp>
      <p:sp>
        <p:nvSpPr>
          <p:cNvPr id="624" name="Google Shape;624;p20"/>
          <p:cNvSpPr/>
          <p:nvPr/>
        </p:nvSpPr>
        <p:spPr>
          <a:xfrm>
            <a:off x="7360920" y="4764024"/>
            <a:ext cx="4325112" cy="1005840"/>
          </a:xfrm>
          <a:prstGeom prst="roundRect">
            <a:avLst>
              <a:gd fmla="val 7273" name="adj"/>
            </a:avLst>
          </a:prstGeom>
          <a:solidFill>
            <a:srgbClr val="1E293B"/>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7543800" y="4837176"/>
            <a:ext cx="3931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250"/>
              <a:buFont typeface="Courier New"/>
              <a:buNone/>
            </a:pPr>
            <a:r>
              <a:rPr b="1" i="0" lang="en-US" sz="1250" u="none" cap="none" strike="noStrike">
                <a:solidFill>
                  <a:srgbClr val="A78BFA"/>
                </a:solidFill>
                <a:latin typeface="Courier New"/>
                <a:ea typeface="Courier New"/>
                <a:cs typeface="Courier New"/>
                <a:sym typeface="Courier New"/>
              </a:rPr>
              <a:t>Condition</a:t>
            </a:r>
            <a:endParaRPr b="0" i="0" sz="1250" u="none" cap="none" strike="noStrike">
              <a:solidFill>
                <a:schemeClr val="dk1"/>
              </a:solidFill>
              <a:latin typeface="Calibri"/>
              <a:ea typeface="Calibri"/>
              <a:cs typeface="Calibri"/>
              <a:sym typeface="Calibri"/>
            </a:endParaRPr>
          </a:p>
        </p:txBody>
      </p:sp>
      <p:sp>
        <p:nvSpPr>
          <p:cNvPr id="626" name="Google Shape;626;p20"/>
          <p:cNvSpPr/>
          <p:nvPr/>
        </p:nvSpPr>
        <p:spPr>
          <a:xfrm>
            <a:off x="7543800" y="5148072"/>
            <a:ext cx="3977640" cy="566928"/>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Optional guards: source IP, MFA present, time of day, tags.</a:t>
            </a:r>
            <a:endParaRPr b="0" i="0" sz="1050" u="none" cap="none" strike="noStrike">
              <a:solidFill>
                <a:schemeClr val="dk1"/>
              </a:solidFill>
              <a:latin typeface="Calibri"/>
              <a:ea typeface="Calibri"/>
              <a:cs typeface="Calibri"/>
              <a:sym typeface="Calibri"/>
            </a:endParaRPr>
          </a:p>
        </p:txBody>
      </p:sp>
      <p:sp>
        <p:nvSpPr>
          <p:cNvPr id="627" name="Google Shape;627;p20"/>
          <p:cNvSpPr/>
          <p:nvPr/>
        </p:nvSpPr>
        <p:spPr>
          <a:xfrm>
            <a:off x="502920" y="5943600"/>
            <a:ext cx="11155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300"/>
              <a:buFont typeface="Courier New"/>
              <a:buNone/>
            </a:pPr>
            <a:r>
              <a:rPr b="0" i="0" lang="en-US" sz="1300" u="none" cap="none" strike="noStrike">
                <a:solidFill>
                  <a:srgbClr val="FBBF24"/>
                </a:solidFill>
                <a:latin typeface="Courier New"/>
                <a:ea typeface="Courier New"/>
                <a:cs typeface="Courier New"/>
                <a:sym typeface="Courier New"/>
              </a:rPr>
              <a:t>Evaluation: explicit Deny  &gt;  explicit Allow  &gt;  implicit deny (default).</a:t>
            </a:r>
            <a:endParaRPr b="0" i="0" sz="1300" u="none" cap="none" strike="noStrike">
              <a:solidFill>
                <a:schemeClr val="dk1"/>
              </a:solidFill>
              <a:latin typeface="Calibri"/>
              <a:ea typeface="Calibri"/>
              <a:cs typeface="Calibri"/>
              <a:sym typeface="Calibri"/>
            </a:endParaRPr>
          </a:p>
        </p:txBody>
      </p:sp>
      <p:sp>
        <p:nvSpPr>
          <p:cNvPr id="628" name="Google Shape;628;p20"/>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629" name="Google Shape;629;p20"/>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Policy anatomy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34" name="Shape 634"/>
        <p:cNvGrpSpPr/>
        <p:nvPr/>
      </p:nvGrpSpPr>
      <p:grpSpPr>
        <a:xfrm>
          <a:off x="0" y="0"/>
          <a:ext cx="0" cy="0"/>
          <a:chOff x="0" y="0"/>
          <a:chExt cx="0" cy="0"/>
        </a:xfrm>
      </p:grpSpPr>
      <p:sp>
        <p:nvSpPr>
          <p:cNvPr id="635" name="Google Shape;635;p21"/>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IAM · ROLES</a:t>
            </a:r>
            <a:endParaRPr b="0" i="0" sz="1200" u="none" cap="none" strike="noStrike">
              <a:solidFill>
                <a:schemeClr val="dk1"/>
              </a:solidFill>
              <a:latin typeface="Calibri"/>
              <a:ea typeface="Calibri"/>
              <a:cs typeface="Calibri"/>
              <a:sym typeface="Calibri"/>
            </a:endParaRPr>
          </a:p>
        </p:txBody>
      </p:sp>
      <p:sp>
        <p:nvSpPr>
          <p:cNvPr id="636" name="Google Shape;636;p21"/>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Machines don't get passwords: roles</a:t>
            </a:r>
            <a:endParaRPr b="0" i="0" sz="3000" u="none" cap="none" strike="noStrike">
              <a:solidFill>
                <a:schemeClr val="dk1"/>
              </a:solidFill>
              <a:latin typeface="Calibri"/>
              <a:ea typeface="Calibri"/>
              <a:cs typeface="Calibri"/>
              <a:sym typeface="Calibri"/>
            </a:endParaRPr>
          </a:p>
        </p:txBody>
      </p:sp>
      <p:sp>
        <p:nvSpPr>
          <p:cNvPr id="637" name="Google Shape;637;p21"/>
          <p:cNvSpPr/>
          <p:nvPr/>
        </p:nvSpPr>
        <p:spPr>
          <a:xfrm>
            <a:off x="502920" y="1371600"/>
            <a:ext cx="11183112" cy="777240"/>
          </a:xfrm>
          <a:prstGeom prst="roundRect">
            <a:avLst>
              <a:gd fmla="val 9412"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8" name="Google Shape;638;p21"/>
          <p:cNvPicPr preferRelativeResize="0"/>
          <p:nvPr/>
        </p:nvPicPr>
        <p:blipFill rotWithShape="1">
          <a:blip r:embed="rId3">
            <a:alphaModFix/>
          </a:blip>
          <a:srcRect b="0" l="0" r="0" t="0"/>
          <a:stretch/>
        </p:blipFill>
        <p:spPr>
          <a:xfrm>
            <a:off x="704088" y="1613916"/>
            <a:ext cx="292608" cy="292608"/>
          </a:xfrm>
          <a:prstGeom prst="rect">
            <a:avLst/>
          </a:prstGeom>
          <a:noFill/>
          <a:ln>
            <a:noFill/>
          </a:ln>
        </p:spPr>
      </p:pic>
      <p:sp>
        <p:nvSpPr>
          <p:cNvPr id="639" name="Google Shape;639;p21"/>
          <p:cNvSpPr/>
          <p:nvPr/>
        </p:nvSpPr>
        <p:spPr>
          <a:xfrm>
            <a:off x="1143000" y="1463040"/>
            <a:ext cx="10341864"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50"/>
              <a:buFont typeface="Calibri"/>
              <a:buNone/>
            </a:pPr>
            <a:r>
              <a:rPr b="0" i="0" lang="en-US" sz="1350" u="none" cap="none" strike="noStrike">
                <a:solidFill>
                  <a:srgbClr val="E2E8F0"/>
                </a:solidFill>
                <a:latin typeface="Calibri"/>
                <a:ea typeface="Calibri"/>
                <a:cs typeface="Calibri"/>
                <a:sym typeface="Calibri"/>
              </a:rPr>
              <a:t>Anti-pattern: create a user, download access keys, paste them into an EC2 instance / CI config / .env file. Keys leak — GitHub is full of them, and bots find each one in minutes.</a:t>
            </a:r>
            <a:endParaRPr b="0" i="0" sz="1350" u="none" cap="none" strike="noStrike">
              <a:solidFill>
                <a:schemeClr val="dk1"/>
              </a:solidFill>
              <a:latin typeface="Calibri"/>
              <a:ea typeface="Calibri"/>
              <a:cs typeface="Calibri"/>
              <a:sym typeface="Calibri"/>
            </a:endParaRPr>
          </a:p>
        </p:txBody>
      </p:sp>
      <p:sp>
        <p:nvSpPr>
          <p:cNvPr id="640" name="Google Shape;640;p21"/>
          <p:cNvSpPr/>
          <p:nvPr/>
        </p:nvSpPr>
        <p:spPr>
          <a:xfrm>
            <a:off x="685800" y="2651760"/>
            <a:ext cx="3017520" cy="1737360"/>
          </a:xfrm>
          <a:prstGeom prst="roundRect">
            <a:avLst>
              <a:gd fmla="val 4211" name="adj"/>
            </a:avLst>
          </a:prstGeom>
          <a:solidFill>
            <a:srgbClr val="1E293B"/>
          </a:solid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1" name="Google Shape;641;p21"/>
          <p:cNvPicPr preferRelativeResize="0"/>
          <p:nvPr/>
        </p:nvPicPr>
        <p:blipFill rotWithShape="1">
          <a:blip r:embed="rId4">
            <a:alphaModFix/>
          </a:blip>
          <a:srcRect b="0" l="0" r="0" t="0"/>
          <a:stretch/>
        </p:blipFill>
        <p:spPr>
          <a:xfrm>
            <a:off x="1920240" y="2788920"/>
            <a:ext cx="457200" cy="457200"/>
          </a:xfrm>
          <a:prstGeom prst="rect">
            <a:avLst/>
          </a:prstGeom>
          <a:noFill/>
          <a:ln>
            <a:noFill/>
          </a:ln>
        </p:spPr>
      </p:pic>
      <p:sp>
        <p:nvSpPr>
          <p:cNvPr id="642" name="Google Shape;642;p21"/>
          <p:cNvSpPr/>
          <p:nvPr/>
        </p:nvSpPr>
        <p:spPr>
          <a:xfrm>
            <a:off x="685800" y="3310128"/>
            <a:ext cx="30175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EC2 instance</a:t>
            </a:r>
            <a:endParaRPr b="0" i="0" sz="1350" u="none" cap="none" strike="noStrike">
              <a:solidFill>
                <a:schemeClr val="dk1"/>
              </a:solidFill>
              <a:latin typeface="Calibri"/>
              <a:ea typeface="Calibri"/>
              <a:cs typeface="Calibri"/>
              <a:sym typeface="Calibri"/>
            </a:endParaRPr>
          </a:p>
        </p:txBody>
      </p:sp>
      <p:sp>
        <p:nvSpPr>
          <p:cNvPr id="643" name="Google Shape;643;p21"/>
          <p:cNvSpPr/>
          <p:nvPr/>
        </p:nvSpPr>
        <p:spPr>
          <a:xfrm>
            <a:off x="685800" y="3639312"/>
            <a:ext cx="3017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wears role: podinfo-web</a:t>
            </a:r>
            <a:endParaRPr b="0" i="0" sz="1000" u="none" cap="none" strike="noStrike">
              <a:solidFill>
                <a:schemeClr val="dk1"/>
              </a:solidFill>
              <a:latin typeface="Calibri"/>
              <a:ea typeface="Calibri"/>
              <a:cs typeface="Calibri"/>
              <a:sym typeface="Calibri"/>
            </a:endParaRPr>
          </a:p>
        </p:txBody>
      </p:sp>
      <p:sp>
        <p:nvSpPr>
          <p:cNvPr id="644" name="Google Shape;644;p21"/>
          <p:cNvSpPr/>
          <p:nvPr/>
        </p:nvSpPr>
        <p:spPr>
          <a:xfrm>
            <a:off x="4343400" y="3063240"/>
            <a:ext cx="3291840" cy="914400"/>
          </a:xfrm>
          <a:prstGeom prst="roundRect">
            <a:avLst>
              <a:gd fmla="val 6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1"/>
          <p:cNvSpPr/>
          <p:nvPr/>
        </p:nvSpPr>
        <p:spPr>
          <a:xfrm>
            <a:off x="4343400" y="3063240"/>
            <a:ext cx="3291840" cy="9144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STS issues temporary credentials</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auto-rotated every few hours</a:t>
            </a:r>
            <a:endParaRPr b="0" i="0" sz="1050" u="none" cap="none" strike="noStrike">
              <a:solidFill>
                <a:schemeClr val="dk1"/>
              </a:solidFill>
              <a:latin typeface="Calibri"/>
              <a:ea typeface="Calibri"/>
              <a:cs typeface="Calibri"/>
              <a:sym typeface="Calibri"/>
            </a:endParaRPr>
          </a:p>
        </p:txBody>
      </p:sp>
      <p:cxnSp>
        <p:nvCxnSpPr>
          <p:cNvPr id="646" name="Google Shape;646;p21"/>
          <p:cNvCxnSpPr/>
          <p:nvPr/>
        </p:nvCxnSpPr>
        <p:spPr>
          <a:xfrm>
            <a:off x="3730752" y="3520440"/>
            <a:ext cx="594360" cy="0"/>
          </a:xfrm>
          <a:prstGeom prst="straightConnector1">
            <a:avLst/>
          </a:prstGeom>
          <a:noFill/>
          <a:ln cap="flat" cmpd="sng" w="25400">
            <a:solidFill>
              <a:srgbClr val="2DD4BF"/>
            </a:solidFill>
            <a:prstDash val="solid"/>
            <a:round/>
            <a:headEnd len="sm" w="sm" type="none"/>
            <a:tailEnd len="med" w="med" type="stealth"/>
          </a:ln>
        </p:spPr>
      </p:cxnSp>
      <p:cxnSp>
        <p:nvCxnSpPr>
          <p:cNvPr id="647" name="Google Shape;647;p21"/>
          <p:cNvCxnSpPr/>
          <p:nvPr/>
        </p:nvCxnSpPr>
        <p:spPr>
          <a:xfrm>
            <a:off x="7653528" y="3520440"/>
            <a:ext cx="603504" cy="0"/>
          </a:xfrm>
          <a:prstGeom prst="straightConnector1">
            <a:avLst/>
          </a:prstGeom>
          <a:noFill/>
          <a:ln cap="flat" cmpd="sng" w="25400">
            <a:solidFill>
              <a:srgbClr val="2DD4BF"/>
            </a:solidFill>
            <a:prstDash val="solid"/>
            <a:round/>
            <a:headEnd len="sm" w="sm" type="none"/>
            <a:tailEnd len="med" w="med" type="stealth"/>
          </a:ln>
        </p:spPr>
      </p:cxnSp>
      <p:sp>
        <p:nvSpPr>
          <p:cNvPr id="648" name="Google Shape;648;p21"/>
          <p:cNvSpPr/>
          <p:nvPr/>
        </p:nvSpPr>
        <p:spPr>
          <a:xfrm>
            <a:off x="8275320" y="2651760"/>
            <a:ext cx="3017520" cy="1737360"/>
          </a:xfrm>
          <a:prstGeom prst="roundRect">
            <a:avLst>
              <a:gd fmla="val 4211" name="adj"/>
            </a:avLst>
          </a:prstGeom>
          <a:solidFill>
            <a:srgbClr val="1E293B"/>
          </a:solidFill>
          <a:ln cap="flat" cmpd="sng" w="1905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9" name="Google Shape;649;p21"/>
          <p:cNvPicPr preferRelativeResize="0"/>
          <p:nvPr/>
        </p:nvPicPr>
        <p:blipFill rotWithShape="1">
          <a:blip r:embed="rId5">
            <a:alphaModFix/>
          </a:blip>
          <a:srcRect b="0" l="0" r="0" t="0"/>
          <a:stretch/>
        </p:blipFill>
        <p:spPr>
          <a:xfrm>
            <a:off x="9528048" y="2788920"/>
            <a:ext cx="457200" cy="457200"/>
          </a:xfrm>
          <a:prstGeom prst="rect">
            <a:avLst/>
          </a:prstGeom>
          <a:noFill/>
          <a:ln>
            <a:noFill/>
          </a:ln>
        </p:spPr>
      </p:pic>
      <p:sp>
        <p:nvSpPr>
          <p:cNvPr id="650" name="Google Shape;650;p21"/>
          <p:cNvSpPr/>
          <p:nvPr/>
        </p:nvSpPr>
        <p:spPr>
          <a:xfrm>
            <a:off x="8275320" y="3310128"/>
            <a:ext cx="30175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S3 bucket</a:t>
            </a:r>
            <a:endParaRPr b="0" i="0" sz="1350" u="none" cap="none" strike="noStrike">
              <a:solidFill>
                <a:schemeClr val="dk1"/>
              </a:solidFill>
              <a:latin typeface="Calibri"/>
              <a:ea typeface="Calibri"/>
              <a:cs typeface="Calibri"/>
              <a:sym typeface="Calibri"/>
            </a:endParaRPr>
          </a:p>
        </p:txBody>
      </p:sp>
      <p:sp>
        <p:nvSpPr>
          <p:cNvPr id="651" name="Google Shape;651;p21"/>
          <p:cNvSpPr/>
          <p:nvPr/>
        </p:nvSpPr>
        <p:spPr>
          <a:xfrm>
            <a:off x="8275320" y="3639312"/>
            <a:ext cx="3017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policy allows the role</a:t>
            </a:r>
            <a:endParaRPr b="0" i="0" sz="1000" u="none" cap="none" strike="noStrike">
              <a:solidFill>
                <a:schemeClr val="dk1"/>
              </a:solidFill>
              <a:latin typeface="Calibri"/>
              <a:ea typeface="Calibri"/>
              <a:cs typeface="Calibri"/>
              <a:sym typeface="Calibri"/>
            </a:endParaRPr>
          </a:p>
        </p:txBody>
      </p:sp>
      <p:sp>
        <p:nvSpPr>
          <p:cNvPr id="652" name="Google Shape;652;p21"/>
          <p:cNvSpPr/>
          <p:nvPr/>
        </p:nvSpPr>
        <p:spPr>
          <a:xfrm>
            <a:off x="502920" y="4709160"/>
            <a:ext cx="3639312" cy="1417320"/>
          </a:xfrm>
          <a:prstGeom prst="roundRect">
            <a:avLst>
              <a:gd fmla="val 516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1"/>
          <p:cNvSpPr/>
          <p:nvPr/>
        </p:nvSpPr>
        <p:spPr>
          <a:xfrm>
            <a:off x="685800" y="482803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50"/>
              <a:buFont typeface="Bookman Old Style"/>
              <a:buNone/>
            </a:pPr>
            <a:r>
              <a:rPr b="1" i="0" lang="en-US" sz="1250" u="none" cap="none" strike="noStrike">
                <a:solidFill>
                  <a:srgbClr val="2DD4BF"/>
                </a:solidFill>
                <a:latin typeface="Bookman Old Style"/>
                <a:ea typeface="Bookman Old Style"/>
                <a:cs typeface="Bookman Old Style"/>
                <a:sym typeface="Bookman Old Style"/>
              </a:rPr>
              <a:t>EC2 / Lambda / EKS pods</a:t>
            </a:r>
            <a:endParaRPr b="0" i="0" sz="1250" u="none" cap="none" strike="noStrike">
              <a:solidFill>
                <a:schemeClr val="dk1"/>
              </a:solidFill>
              <a:latin typeface="Calibri"/>
              <a:ea typeface="Calibri"/>
              <a:cs typeface="Calibri"/>
              <a:sym typeface="Calibri"/>
            </a:endParaRPr>
          </a:p>
        </p:txBody>
      </p:sp>
      <p:sp>
        <p:nvSpPr>
          <p:cNvPr id="654" name="Google Shape;654;p21"/>
          <p:cNvSpPr/>
          <p:nvPr/>
        </p:nvSpPr>
        <p:spPr>
          <a:xfrm>
            <a:off x="685800" y="5193792"/>
            <a:ext cx="3310128" cy="86868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Attach a role — the SDK finds credentials automatically. Zero keys in code.</a:t>
            </a:r>
            <a:endParaRPr b="0" i="0" sz="1100" u="none" cap="none" strike="noStrike">
              <a:solidFill>
                <a:schemeClr val="dk1"/>
              </a:solidFill>
              <a:latin typeface="Calibri"/>
              <a:ea typeface="Calibri"/>
              <a:cs typeface="Calibri"/>
              <a:sym typeface="Calibri"/>
            </a:endParaRPr>
          </a:p>
        </p:txBody>
      </p:sp>
      <p:sp>
        <p:nvSpPr>
          <p:cNvPr id="655" name="Google Shape;655;p21"/>
          <p:cNvSpPr/>
          <p:nvPr/>
        </p:nvSpPr>
        <p:spPr>
          <a:xfrm>
            <a:off x="4270248" y="4709160"/>
            <a:ext cx="3639312" cy="1417320"/>
          </a:xfrm>
          <a:prstGeom prst="roundRect">
            <a:avLst>
              <a:gd fmla="val 516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1"/>
          <p:cNvSpPr/>
          <p:nvPr/>
        </p:nvSpPr>
        <p:spPr>
          <a:xfrm>
            <a:off x="4453128" y="482803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50"/>
              <a:buFont typeface="Bookman Old Style"/>
              <a:buNone/>
            </a:pPr>
            <a:r>
              <a:rPr b="1" i="0" lang="en-US" sz="1250" u="none" cap="none" strike="noStrike">
                <a:solidFill>
                  <a:srgbClr val="2DD4BF"/>
                </a:solidFill>
                <a:latin typeface="Bookman Old Style"/>
                <a:ea typeface="Bookman Old Style"/>
                <a:cs typeface="Bookman Old Style"/>
                <a:sym typeface="Bookman Old Style"/>
              </a:rPr>
              <a:t>GitHub Actions</a:t>
            </a:r>
            <a:endParaRPr b="0" i="0" sz="1250" u="none" cap="none" strike="noStrike">
              <a:solidFill>
                <a:schemeClr val="dk1"/>
              </a:solidFill>
              <a:latin typeface="Calibri"/>
              <a:ea typeface="Calibri"/>
              <a:cs typeface="Calibri"/>
              <a:sym typeface="Calibri"/>
            </a:endParaRPr>
          </a:p>
        </p:txBody>
      </p:sp>
      <p:sp>
        <p:nvSpPr>
          <p:cNvPr id="657" name="Google Shape;657;p21"/>
          <p:cNvSpPr/>
          <p:nvPr/>
        </p:nvSpPr>
        <p:spPr>
          <a:xfrm>
            <a:off x="4453128" y="5193792"/>
            <a:ext cx="3310128" cy="86868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OIDC federation: the workflow assumes a role with a short-lived token. Same trick as our ECS deploy.</a:t>
            </a:r>
            <a:endParaRPr b="0" i="0" sz="1100" u="none" cap="none" strike="noStrike">
              <a:solidFill>
                <a:schemeClr val="dk1"/>
              </a:solidFill>
              <a:latin typeface="Calibri"/>
              <a:ea typeface="Calibri"/>
              <a:cs typeface="Calibri"/>
              <a:sym typeface="Calibri"/>
            </a:endParaRPr>
          </a:p>
        </p:txBody>
      </p:sp>
      <p:sp>
        <p:nvSpPr>
          <p:cNvPr id="658" name="Google Shape;658;p21"/>
          <p:cNvSpPr/>
          <p:nvPr/>
        </p:nvSpPr>
        <p:spPr>
          <a:xfrm>
            <a:off x="8037576" y="4709160"/>
            <a:ext cx="3639312" cy="1417320"/>
          </a:xfrm>
          <a:prstGeom prst="roundRect">
            <a:avLst>
              <a:gd fmla="val 516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1"/>
          <p:cNvSpPr/>
          <p:nvPr/>
        </p:nvSpPr>
        <p:spPr>
          <a:xfrm>
            <a:off x="8220456" y="4828032"/>
            <a:ext cx="3291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50"/>
              <a:buFont typeface="Bookman Old Style"/>
              <a:buNone/>
            </a:pPr>
            <a:r>
              <a:rPr b="1" i="0" lang="en-US" sz="1250" u="none" cap="none" strike="noStrike">
                <a:solidFill>
                  <a:srgbClr val="2DD4BF"/>
                </a:solidFill>
                <a:latin typeface="Bookman Old Style"/>
                <a:ea typeface="Bookman Old Style"/>
                <a:cs typeface="Bookman Old Style"/>
                <a:sym typeface="Bookman Old Style"/>
              </a:rPr>
              <a:t>Humans (you)</a:t>
            </a:r>
            <a:endParaRPr b="0" i="0" sz="1250" u="none" cap="none" strike="noStrike">
              <a:solidFill>
                <a:schemeClr val="dk1"/>
              </a:solidFill>
              <a:latin typeface="Calibri"/>
              <a:ea typeface="Calibri"/>
              <a:cs typeface="Calibri"/>
              <a:sym typeface="Calibri"/>
            </a:endParaRPr>
          </a:p>
        </p:txBody>
      </p:sp>
      <p:sp>
        <p:nvSpPr>
          <p:cNvPr id="660" name="Google Shape;660;p21"/>
          <p:cNvSpPr/>
          <p:nvPr/>
        </p:nvSpPr>
        <p:spPr>
          <a:xfrm>
            <a:off x="8220456" y="5193792"/>
            <a:ext cx="3310128" cy="86868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SSO / assume-role into accounts. Long-lived access keys are last-resort.</a:t>
            </a:r>
            <a:endParaRPr b="0" i="0" sz="1100" u="none" cap="none" strike="noStrike">
              <a:solidFill>
                <a:schemeClr val="dk1"/>
              </a:solidFill>
              <a:latin typeface="Calibri"/>
              <a:ea typeface="Calibri"/>
              <a:cs typeface="Calibri"/>
              <a:sym typeface="Calibri"/>
            </a:endParaRPr>
          </a:p>
        </p:txBody>
      </p:sp>
      <p:sp>
        <p:nvSpPr>
          <p:cNvPr id="661" name="Google Shape;661;p21"/>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662" name="Google Shape;662;p21"/>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Roles over keys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67" name="Shape 667"/>
        <p:cNvGrpSpPr/>
        <p:nvPr/>
      </p:nvGrpSpPr>
      <p:grpSpPr>
        <a:xfrm>
          <a:off x="0" y="0"/>
          <a:ext cx="0" cy="0"/>
          <a:chOff x="0" y="0"/>
          <a:chExt cx="0" cy="0"/>
        </a:xfrm>
      </p:grpSpPr>
      <p:sp>
        <p:nvSpPr>
          <p:cNvPr id="668" name="Google Shape;668;p22"/>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IAM · BEST PRACTICES</a:t>
            </a:r>
            <a:endParaRPr b="0" i="0" sz="1200" u="none" cap="none" strike="noStrike">
              <a:solidFill>
                <a:schemeClr val="dk1"/>
              </a:solidFill>
              <a:latin typeface="Calibri"/>
              <a:ea typeface="Calibri"/>
              <a:cs typeface="Calibri"/>
              <a:sym typeface="Calibri"/>
            </a:endParaRPr>
          </a:p>
        </p:txBody>
      </p:sp>
      <p:sp>
        <p:nvSpPr>
          <p:cNvPr id="669" name="Google Shape;669;p22"/>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The IAM hygiene checklist</a:t>
            </a:r>
            <a:endParaRPr b="0" i="0" sz="3000" u="none" cap="none" strike="noStrike">
              <a:solidFill>
                <a:schemeClr val="dk1"/>
              </a:solidFill>
              <a:latin typeface="Calibri"/>
              <a:ea typeface="Calibri"/>
              <a:cs typeface="Calibri"/>
              <a:sym typeface="Calibri"/>
            </a:endParaRPr>
          </a:p>
        </p:txBody>
      </p:sp>
      <p:sp>
        <p:nvSpPr>
          <p:cNvPr id="670" name="Google Shape;670;p22"/>
          <p:cNvSpPr/>
          <p:nvPr/>
        </p:nvSpPr>
        <p:spPr>
          <a:xfrm>
            <a:off x="502920" y="1463040"/>
            <a:ext cx="5486400" cy="1371600"/>
          </a:xfrm>
          <a:prstGeom prst="roundRect">
            <a:avLst>
              <a:gd fmla="val 5333"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2"/>
          <p:cNvSpPr/>
          <p:nvPr/>
        </p:nvSpPr>
        <p:spPr>
          <a:xfrm>
            <a:off x="704088" y="1645920"/>
            <a:ext cx="475488" cy="475488"/>
          </a:xfrm>
          <a:prstGeom prst="ellipse">
            <a:avLst/>
          </a:prstGeom>
          <a:solidFill>
            <a:srgbClr val="0F172A"/>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2" name="Google Shape;672;p22"/>
          <p:cNvPicPr preferRelativeResize="0"/>
          <p:nvPr/>
        </p:nvPicPr>
        <p:blipFill rotWithShape="1">
          <a:blip r:embed="rId3">
            <a:alphaModFix/>
          </a:blip>
          <a:srcRect b="0" l="0" r="0" t="0"/>
          <a:stretch/>
        </p:blipFill>
        <p:spPr>
          <a:xfrm>
            <a:off x="822960" y="1764792"/>
            <a:ext cx="237744" cy="237744"/>
          </a:xfrm>
          <a:prstGeom prst="rect">
            <a:avLst/>
          </a:prstGeom>
          <a:noFill/>
          <a:ln>
            <a:noFill/>
          </a:ln>
        </p:spPr>
      </p:pic>
      <p:sp>
        <p:nvSpPr>
          <p:cNvPr id="673" name="Google Shape;673;p22"/>
          <p:cNvSpPr/>
          <p:nvPr/>
        </p:nvSpPr>
        <p:spPr>
          <a:xfrm>
            <a:off x="1307592" y="1609344"/>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Lock the root account</a:t>
            </a:r>
            <a:endParaRPr b="0" i="0" sz="1350" u="none" cap="none" strike="noStrike">
              <a:solidFill>
                <a:schemeClr val="dk1"/>
              </a:solidFill>
              <a:latin typeface="Calibri"/>
              <a:ea typeface="Calibri"/>
              <a:cs typeface="Calibri"/>
              <a:sym typeface="Calibri"/>
            </a:endParaRPr>
          </a:p>
        </p:txBody>
      </p:sp>
      <p:sp>
        <p:nvSpPr>
          <p:cNvPr id="674" name="Google Shape;674;p22"/>
          <p:cNvSpPr/>
          <p:nvPr/>
        </p:nvSpPr>
        <p:spPr>
          <a:xfrm>
            <a:off x="722376" y="2240280"/>
            <a:ext cx="5047488"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MFA on, access keys deleted, used only for the 5 tasks that truly require root.</a:t>
            </a:r>
            <a:endParaRPr b="0" i="0" sz="1150" u="none" cap="none" strike="noStrike">
              <a:solidFill>
                <a:schemeClr val="dk1"/>
              </a:solidFill>
              <a:latin typeface="Calibri"/>
              <a:ea typeface="Calibri"/>
              <a:cs typeface="Calibri"/>
              <a:sym typeface="Calibri"/>
            </a:endParaRPr>
          </a:p>
        </p:txBody>
      </p:sp>
      <p:sp>
        <p:nvSpPr>
          <p:cNvPr id="675" name="Google Shape;675;p22"/>
          <p:cNvSpPr/>
          <p:nvPr/>
        </p:nvSpPr>
        <p:spPr>
          <a:xfrm>
            <a:off x="6199632" y="1463040"/>
            <a:ext cx="5486400" cy="1371600"/>
          </a:xfrm>
          <a:prstGeom prst="roundRect">
            <a:avLst>
              <a:gd fmla="val 5333"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2"/>
          <p:cNvSpPr/>
          <p:nvPr/>
        </p:nvSpPr>
        <p:spPr>
          <a:xfrm>
            <a:off x="6400800" y="1645920"/>
            <a:ext cx="475488" cy="475488"/>
          </a:xfrm>
          <a:prstGeom prst="ellipse">
            <a:avLst/>
          </a:prstGeom>
          <a:solidFill>
            <a:srgbClr val="0F172A"/>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7" name="Google Shape;677;p22"/>
          <p:cNvPicPr preferRelativeResize="0"/>
          <p:nvPr/>
        </p:nvPicPr>
        <p:blipFill rotWithShape="1">
          <a:blip r:embed="rId4">
            <a:alphaModFix/>
          </a:blip>
          <a:srcRect b="0" l="0" r="0" t="0"/>
          <a:stretch/>
        </p:blipFill>
        <p:spPr>
          <a:xfrm>
            <a:off x="6519672" y="1764792"/>
            <a:ext cx="237744" cy="237744"/>
          </a:xfrm>
          <a:prstGeom prst="rect">
            <a:avLst/>
          </a:prstGeom>
          <a:noFill/>
          <a:ln>
            <a:noFill/>
          </a:ln>
        </p:spPr>
      </p:pic>
      <p:sp>
        <p:nvSpPr>
          <p:cNvPr id="678" name="Google Shape;678;p22"/>
          <p:cNvSpPr/>
          <p:nvPr/>
        </p:nvSpPr>
        <p:spPr>
          <a:xfrm>
            <a:off x="7004304" y="1609344"/>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Least privilege</a:t>
            </a:r>
            <a:endParaRPr b="0" i="0" sz="1350" u="none" cap="none" strike="noStrike">
              <a:solidFill>
                <a:schemeClr val="dk1"/>
              </a:solidFill>
              <a:latin typeface="Calibri"/>
              <a:ea typeface="Calibri"/>
              <a:cs typeface="Calibri"/>
              <a:sym typeface="Calibri"/>
            </a:endParaRPr>
          </a:p>
        </p:txBody>
      </p:sp>
      <p:sp>
        <p:nvSpPr>
          <p:cNvPr id="679" name="Google Shape;679;p22"/>
          <p:cNvSpPr/>
          <p:nvPr/>
        </p:nvSpPr>
        <p:spPr>
          <a:xfrm>
            <a:off x="6419088" y="2240280"/>
            <a:ext cx="5047488"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Start from zero, add the specific actions a job needs. s3:* today is an incident tomorrow.</a:t>
            </a:r>
            <a:endParaRPr b="0" i="0" sz="1150" u="none" cap="none" strike="noStrike">
              <a:solidFill>
                <a:schemeClr val="dk1"/>
              </a:solidFill>
              <a:latin typeface="Calibri"/>
              <a:ea typeface="Calibri"/>
              <a:cs typeface="Calibri"/>
              <a:sym typeface="Calibri"/>
            </a:endParaRPr>
          </a:p>
        </p:txBody>
      </p:sp>
      <p:sp>
        <p:nvSpPr>
          <p:cNvPr id="680" name="Google Shape;680;p22"/>
          <p:cNvSpPr/>
          <p:nvPr/>
        </p:nvSpPr>
        <p:spPr>
          <a:xfrm>
            <a:off x="502920" y="2990088"/>
            <a:ext cx="5486400" cy="1371600"/>
          </a:xfrm>
          <a:prstGeom prst="roundRect">
            <a:avLst>
              <a:gd fmla="val 5333"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2"/>
          <p:cNvSpPr/>
          <p:nvPr/>
        </p:nvSpPr>
        <p:spPr>
          <a:xfrm>
            <a:off x="704088" y="3172968"/>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2" name="Google Shape;682;p22"/>
          <p:cNvPicPr preferRelativeResize="0"/>
          <p:nvPr/>
        </p:nvPicPr>
        <p:blipFill rotWithShape="1">
          <a:blip r:embed="rId5">
            <a:alphaModFix/>
          </a:blip>
          <a:srcRect b="0" l="0" r="0" t="0"/>
          <a:stretch/>
        </p:blipFill>
        <p:spPr>
          <a:xfrm>
            <a:off x="822960" y="3291840"/>
            <a:ext cx="237744" cy="237744"/>
          </a:xfrm>
          <a:prstGeom prst="rect">
            <a:avLst/>
          </a:prstGeom>
          <a:noFill/>
          <a:ln>
            <a:noFill/>
          </a:ln>
        </p:spPr>
      </p:pic>
      <p:sp>
        <p:nvSpPr>
          <p:cNvPr id="683" name="Google Shape;683;p22"/>
          <p:cNvSpPr/>
          <p:nvPr/>
        </p:nvSpPr>
        <p:spPr>
          <a:xfrm>
            <a:off x="1307592" y="3136392"/>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Policies → groups &amp; roles</a:t>
            </a:r>
            <a:endParaRPr b="0" i="0" sz="1350" u="none" cap="none" strike="noStrike">
              <a:solidFill>
                <a:schemeClr val="dk1"/>
              </a:solidFill>
              <a:latin typeface="Calibri"/>
              <a:ea typeface="Calibri"/>
              <a:cs typeface="Calibri"/>
              <a:sym typeface="Calibri"/>
            </a:endParaRPr>
          </a:p>
        </p:txBody>
      </p:sp>
      <p:sp>
        <p:nvSpPr>
          <p:cNvPr id="684" name="Google Shape;684;p22"/>
          <p:cNvSpPr/>
          <p:nvPr/>
        </p:nvSpPr>
        <p:spPr>
          <a:xfrm>
            <a:off x="722376" y="3767328"/>
            <a:ext cx="5047488"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Never attach policies to individual users. People change jobs; groups don't.</a:t>
            </a:r>
            <a:endParaRPr b="0" i="0" sz="1150" u="none" cap="none" strike="noStrike">
              <a:solidFill>
                <a:schemeClr val="dk1"/>
              </a:solidFill>
              <a:latin typeface="Calibri"/>
              <a:ea typeface="Calibri"/>
              <a:cs typeface="Calibri"/>
              <a:sym typeface="Calibri"/>
            </a:endParaRPr>
          </a:p>
        </p:txBody>
      </p:sp>
      <p:sp>
        <p:nvSpPr>
          <p:cNvPr id="685" name="Google Shape;685;p22"/>
          <p:cNvSpPr/>
          <p:nvPr/>
        </p:nvSpPr>
        <p:spPr>
          <a:xfrm>
            <a:off x="6199632" y="2990088"/>
            <a:ext cx="5486400" cy="1371600"/>
          </a:xfrm>
          <a:prstGeom prst="roundRect">
            <a:avLst>
              <a:gd fmla="val 5333"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2"/>
          <p:cNvSpPr/>
          <p:nvPr/>
        </p:nvSpPr>
        <p:spPr>
          <a:xfrm>
            <a:off x="6400800" y="3172968"/>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7" name="Google Shape;687;p22"/>
          <p:cNvPicPr preferRelativeResize="0"/>
          <p:nvPr/>
        </p:nvPicPr>
        <p:blipFill rotWithShape="1">
          <a:blip r:embed="rId6">
            <a:alphaModFix/>
          </a:blip>
          <a:srcRect b="0" l="0" r="0" t="0"/>
          <a:stretch/>
        </p:blipFill>
        <p:spPr>
          <a:xfrm>
            <a:off x="6519672" y="3291840"/>
            <a:ext cx="237744" cy="237744"/>
          </a:xfrm>
          <a:prstGeom prst="rect">
            <a:avLst/>
          </a:prstGeom>
          <a:noFill/>
          <a:ln>
            <a:noFill/>
          </a:ln>
        </p:spPr>
      </p:pic>
      <p:sp>
        <p:nvSpPr>
          <p:cNvPr id="688" name="Google Shape;688;p22"/>
          <p:cNvSpPr/>
          <p:nvPr/>
        </p:nvSpPr>
        <p:spPr>
          <a:xfrm>
            <a:off x="7004304" y="3136392"/>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Roles for every machine</a:t>
            </a:r>
            <a:endParaRPr b="0" i="0" sz="1350" u="none" cap="none" strike="noStrike">
              <a:solidFill>
                <a:schemeClr val="dk1"/>
              </a:solidFill>
              <a:latin typeface="Calibri"/>
              <a:ea typeface="Calibri"/>
              <a:cs typeface="Calibri"/>
              <a:sym typeface="Calibri"/>
            </a:endParaRPr>
          </a:p>
        </p:txBody>
      </p:sp>
      <p:sp>
        <p:nvSpPr>
          <p:cNvPr id="689" name="Google Shape;689;p22"/>
          <p:cNvSpPr/>
          <p:nvPr/>
        </p:nvSpPr>
        <p:spPr>
          <a:xfrm>
            <a:off x="6419088" y="3767328"/>
            <a:ext cx="5047488"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EC2, Lambda, pods, pipelines — temporary credentials only. No keys in code, ever.</a:t>
            </a:r>
            <a:endParaRPr b="0" i="0" sz="1150" u="none" cap="none" strike="noStrike">
              <a:solidFill>
                <a:schemeClr val="dk1"/>
              </a:solidFill>
              <a:latin typeface="Calibri"/>
              <a:ea typeface="Calibri"/>
              <a:cs typeface="Calibri"/>
              <a:sym typeface="Calibri"/>
            </a:endParaRPr>
          </a:p>
        </p:txBody>
      </p:sp>
      <p:sp>
        <p:nvSpPr>
          <p:cNvPr id="690" name="Google Shape;690;p22"/>
          <p:cNvSpPr/>
          <p:nvPr/>
        </p:nvSpPr>
        <p:spPr>
          <a:xfrm>
            <a:off x="502920" y="4517136"/>
            <a:ext cx="5486400" cy="1371600"/>
          </a:xfrm>
          <a:prstGeom prst="roundRect">
            <a:avLst>
              <a:gd fmla="val 5333"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2"/>
          <p:cNvSpPr/>
          <p:nvPr/>
        </p:nvSpPr>
        <p:spPr>
          <a:xfrm>
            <a:off x="704088" y="4700016"/>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2" name="Google Shape;692;p22"/>
          <p:cNvPicPr preferRelativeResize="0"/>
          <p:nvPr/>
        </p:nvPicPr>
        <p:blipFill rotWithShape="1">
          <a:blip r:embed="rId7">
            <a:alphaModFix/>
          </a:blip>
          <a:srcRect b="0" l="0" r="0" t="0"/>
          <a:stretch/>
        </p:blipFill>
        <p:spPr>
          <a:xfrm>
            <a:off x="822960" y="4818888"/>
            <a:ext cx="237744" cy="237744"/>
          </a:xfrm>
          <a:prstGeom prst="rect">
            <a:avLst/>
          </a:prstGeom>
          <a:noFill/>
          <a:ln>
            <a:noFill/>
          </a:ln>
        </p:spPr>
      </p:pic>
      <p:sp>
        <p:nvSpPr>
          <p:cNvPr id="693" name="Google Shape;693;p22"/>
          <p:cNvSpPr/>
          <p:nvPr/>
        </p:nvSpPr>
        <p:spPr>
          <a:xfrm>
            <a:off x="1307592" y="4663440"/>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MFA for every human</a:t>
            </a:r>
            <a:endParaRPr b="0" i="0" sz="1350" u="none" cap="none" strike="noStrike">
              <a:solidFill>
                <a:schemeClr val="dk1"/>
              </a:solidFill>
              <a:latin typeface="Calibri"/>
              <a:ea typeface="Calibri"/>
              <a:cs typeface="Calibri"/>
              <a:sym typeface="Calibri"/>
            </a:endParaRPr>
          </a:p>
        </p:txBody>
      </p:sp>
      <p:sp>
        <p:nvSpPr>
          <p:cNvPr id="694" name="Google Shape;694;p22"/>
          <p:cNvSpPr/>
          <p:nvPr/>
        </p:nvSpPr>
        <p:spPr>
          <a:xfrm>
            <a:off x="722376" y="5294376"/>
            <a:ext cx="5047488"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Passwords leak. A $0 authenticator app defeats the most common account takeover.</a:t>
            </a:r>
            <a:endParaRPr b="0" i="0" sz="1150" u="none" cap="none" strike="noStrike">
              <a:solidFill>
                <a:schemeClr val="dk1"/>
              </a:solidFill>
              <a:latin typeface="Calibri"/>
              <a:ea typeface="Calibri"/>
              <a:cs typeface="Calibri"/>
              <a:sym typeface="Calibri"/>
            </a:endParaRPr>
          </a:p>
        </p:txBody>
      </p:sp>
      <p:sp>
        <p:nvSpPr>
          <p:cNvPr id="695" name="Google Shape;695;p22"/>
          <p:cNvSpPr/>
          <p:nvPr/>
        </p:nvSpPr>
        <p:spPr>
          <a:xfrm>
            <a:off x="6199632" y="4517136"/>
            <a:ext cx="5486400" cy="1371600"/>
          </a:xfrm>
          <a:prstGeom prst="roundRect">
            <a:avLst>
              <a:gd fmla="val 5333"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2"/>
          <p:cNvSpPr/>
          <p:nvPr/>
        </p:nvSpPr>
        <p:spPr>
          <a:xfrm>
            <a:off x="6400800" y="4700016"/>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7" name="Google Shape;697;p22"/>
          <p:cNvPicPr preferRelativeResize="0"/>
          <p:nvPr/>
        </p:nvPicPr>
        <p:blipFill rotWithShape="1">
          <a:blip r:embed="rId8">
            <a:alphaModFix/>
          </a:blip>
          <a:srcRect b="0" l="0" r="0" t="0"/>
          <a:stretch/>
        </p:blipFill>
        <p:spPr>
          <a:xfrm>
            <a:off x="6519672" y="4818888"/>
            <a:ext cx="237744" cy="237744"/>
          </a:xfrm>
          <a:prstGeom prst="rect">
            <a:avLst/>
          </a:prstGeom>
          <a:noFill/>
          <a:ln>
            <a:noFill/>
          </a:ln>
        </p:spPr>
      </p:pic>
      <p:sp>
        <p:nvSpPr>
          <p:cNvPr id="698" name="Google Shape;698;p22"/>
          <p:cNvSpPr/>
          <p:nvPr/>
        </p:nvSpPr>
        <p:spPr>
          <a:xfrm>
            <a:off x="7004304" y="4663440"/>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Audit with CloudTrail</a:t>
            </a:r>
            <a:endParaRPr b="0" i="0" sz="1350" u="none" cap="none" strike="noStrike">
              <a:solidFill>
                <a:schemeClr val="dk1"/>
              </a:solidFill>
              <a:latin typeface="Calibri"/>
              <a:ea typeface="Calibri"/>
              <a:cs typeface="Calibri"/>
              <a:sym typeface="Calibri"/>
            </a:endParaRPr>
          </a:p>
        </p:txBody>
      </p:sp>
      <p:sp>
        <p:nvSpPr>
          <p:cNvPr id="699" name="Google Shape;699;p22"/>
          <p:cNvSpPr/>
          <p:nvPr/>
        </p:nvSpPr>
        <p:spPr>
          <a:xfrm>
            <a:off x="6419088" y="5294376"/>
            <a:ext cx="5047488" cy="4572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Every API call is logged: who, what, when, from where. Review access, prune unused.</a:t>
            </a:r>
            <a:endParaRPr b="0" i="0" sz="1150" u="none" cap="none" strike="noStrike">
              <a:solidFill>
                <a:schemeClr val="dk1"/>
              </a:solidFill>
              <a:latin typeface="Calibri"/>
              <a:ea typeface="Calibri"/>
              <a:cs typeface="Calibri"/>
              <a:sym typeface="Calibri"/>
            </a:endParaRPr>
          </a:p>
        </p:txBody>
      </p:sp>
      <p:sp>
        <p:nvSpPr>
          <p:cNvPr id="700" name="Google Shape;700;p22"/>
          <p:cNvSpPr/>
          <p:nvPr/>
        </p:nvSpPr>
        <p:spPr>
          <a:xfrm>
            <a:off x="502920" y="6080760"/>
            <a:ext cx="11155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400"/>
              <a:buFont typeface="Calibri"/>
              <a:buNone/>
            </a:pPr>
            <a:r>
              <a:rPr b="0" i="1" lang="en-US" sz="1400" u="none" cap="none" strike="noStrike">
                <a:solidFill>
                  <a:srgbClr val="FBBF24"/>
                </a:solidFill>
                <a:latin typeface="Calibri"/>
                <a:ea typeface="Calibri"/>
                <a:cs typeface="Calibri"/>
                <a:sym typeface="Calibri"/>
              </a:rPr>
              <a:t>If you remember one thing: humans get MFA, machines get roles, nobody gets s3:* .</a:t>
            </a:r>
            <a:endParaRPr b="0" i="0" sz="1400" u="none" cap="none" strike="noStrike">
              <a:solidFill>
                <a:schemeClr val="dk1"/>
              </a:solidFill>
              <a:latin typeface="Calibri"/>
              <a:ea typeface="Calibri"/>
              <a:cs typeface="Calibri"/>
              <a:sym typeface="Calibri"/>
            </a:endParaRPr>
          </a:p>
        </p:txBody>
      </p:sp>
      <p:sp>
        <p:nvSpPr>
          <p:cNvPr id="701" name="Google Shape;701;p22"/>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702" name="Google Shape;702;p22"/>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IAM checklist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07" name="Shape 707"/>
        <p:cNvGrpSpPr/>
        <p:nvPr/>
      </p:nvGrpSpPr>
      <p:grpSpPr>
        <a:xfrm>
          <a:off x="0" y="0"/>
          <a:ext cx="0" cy="0"/>
          <a:chOff x="0" y="0"/>
          <a:chExt cx="0" cy="0"/>
        </a:xfrm>
      </p:grpSpPr>
      <p:sp>
        <p:nvSpPr>
          <p:cNvPr id="708" name="Google Shape;708;p23"/>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500"/>
              <a:buFont typeface="Courier New"/>
              <a:buNone/>
            </a:pPr>
            <a:r>
              <a:rPr b="1" i="0" lang="en-US" sz="1500" u="none" cap="none" strike="noStrike">
                <a:solidFill>
                  <a:srgbClr val="FF9900"/>
                </a:solidFill>
                <a:latin typeface="Courier New"/>
                <a:ea typeface="Courier New"/>
                <a:cs typeface="Courier New"/>
                <a:sym typeface="Courier New"/>
              </a:rPr>
              <a:t>PART 4</a:t>
            </a:r>
            <a:endParaRPr b="0" i="0" sz="1500" u="none" cap="none" strike="noStrike">
              <a:solidFill>
                <a:schemeClr val="dk1"/>
              </a:solidFill>
              <a:latin typeface="Calibri"/>
              <a:ea typeface="Calibri"/>
              <a:cs typeface="Calibri"/>
              <a:sym typeface="Calibri"/>
            </a:endParaRPr>
          </a:p>
        </p:txBody>
      </p:sp>
      <p:sp>
        <p:nvSpPr>
          <p:cNvPr id="709" name="Google Shape;709;p23"/>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S3</a:t>
            </a:r>
            <a:endParaRPr b="0" i="0" sz="4400" u="none" cap="none" strike="noStrike">
              <a:solidFill>
                <a:schemeClr val="dk1"/>
              </a:solidFill>
              <a:latin typeface="Calibri"/>
              <a:ea typeface="Calibri"/>
              <a:cs typeface="Calibri"/>
              <a:sym typeface="Calibri"/>
            </a:endParaRPr>
          </a:p>
        </p:txBody>
      </p:sp>
      <p:sp>
        <p:nvSpPr>
          <p:cNvPr id="710" name="Google Shape;710;p23"/>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Simple Storage Service — an infinitely deep bucket of objects.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Eleven nines of durability, one API.</a:t>
            </a:r>
            <a:endParaRPr b="0" i="0" sz="1600" u="none" cap="none" strike="noStrike">
              <a:solidFill>
                <a:schemeClr val="dk1"/>
              </a:solidFill>
              <a:latin typeface="Calibri"/>
              <a:ea typeface="Calibri"/>
              <a:cs typeface="Calibri"/>
              <a:sym typeface="Calibri"/>
            </a:endParaRPr>
          </a:p>
        </p:txBody>
      </p:sp>
      <p:sp>
        <p:nvSpPr>
          <p:cNvPr id="711" name="Google Shape;711;p23"/>
          <p:cNvSpPr/>
          <p:nvPr/>
        </p:nvSpPr>
        <p:spPr>
          <a:xfrm>
            <a:off x="8778240" y="1965960"/>
            <a:ext cx="2468880" cy="2468880"/>
          </a:xfrm>
          <a:prstGeom prst="ellipse">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2" name="Google Shape;712;p23"/>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713" name="Google Shape;713;p23"/>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714" name="Google Shape;714;p23"/>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19" name="Shape 719"/>
        <p:cNvGrpSpPr/>
        <p:nvPr/>
      </p:nvGrpSpPr>
      <p:grpSpPr>
        <a:xfrm>
          <a:off x="0" y="0"/>
          <a:ext cx="0" cy="0"/>
          <a:chOff x="0" y="0"/>
          <a:chExt cx="0" cy="0"/>
        </a:xfrm>
      </p:grpSpPr>
      <p:sp>
        <p:nvSpPr>
          <p:cNvPr id="720" name="Google Shape;720;p24"/>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S3 · THE MODEL</a:t>
            </a:r>
            <a:endParaRPr b="0" i="0" sz="1200" u="none" cap="none" strike="noStrike">
              <a:solidFill>
                <a:schemeClr val="dk1"/>
              </a:solidFill>
              <a:latin typeface="Calibri"/>
              <a:ea typeface="Calibri"/>
              <a:cs typeface="Calibri"/>
              <a:sym typeface="Calibri"/>
            </a:endParaRPr>
          </a:p>
        </p:txBody>
      </p:sp>
      <p:sp>
        <p:nvSpPr>
          <p:cNvPr id="721" name="Google Shape;721;p24"/>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Object storage is a different animal</a:t>
            </a:r>
            <a:endParaRPr b="0" i="0" sz="3000" u="none" cap="none" strike="noStrike">
              <a:solidFill>
                <a:schemeClr val="dk1"/>
              </a:solidFill>
              <a:latin typeface="Calibri"/>
              <a:ea typeface="Calibri"/>
              <a:cs typeface="Calibri"/>
              <a:sym typeface="Calibri"/>
            </a:endParaRPr>
          </a:p>
        </p:txBody>
      </p:sp>
      <p:sp>
        <p:nvSpPr>
          <p:cNvPr id="722" name="Google Shape;722;p24"/>
          <p:cNvSpPr/>
          <p:nvPr/>
        </p:nvSpPr>
        <p:spPr>
          <a:xfrm>
            <a:off x="502920" y="1325880"/>
            <a:ext cx="11183112" cy="658368"/>
          </a:xfrm>
          <a:prstGeom prst="roundRect">
            <a:avLst>
              <a:gd fmla="val 11111"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3" name="Google Shape;723;p24"/>
          <p:cNvPicPr preferRelativeResize="0"/>
          <p:nvPr/>
        </p:nvPicPr>
        <p:blipFill rotWithShape="1">
          <a:blip r:embed="rId3">
            <a:alphaModFix/>
          </a:blip>
          <a:srcRect b="0" l="0" r="0" t="0"/>
          <a:stretch/>
        </p:blipFill>
        <p:spPr>
          <a:xfrm>
            <a:off x="704088" y="1508760"/>
            <a:ext cx="292608" cy="292608"/>
          </a:xfrm>
          <a:prstGeom prst="rect">
            <a:avLst/>
          </a:prstGeom>
          <a:noFill/>
          <a:ln>
            <a:noFill/>
          </a:ln>
        </p:spPr>
      </p:pic>
      <p:sp>
        <p:nvSpPr>
          <p:cNvPr id="724" name="Google Shape;724;p24"/>
          <p:cNvSpPr/>
          <p:nvPr/>
        </p:nvSpPr>
        <p:spPr>
          <a:xfrm>
            <a:off x="1143000" y="1417320"/>
            <a:ext cx="10341864" cy="4754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You need to store a million images, logs, backups, build artifacts. A disk (EBS) attaches to ONE instance and has a size. A shared filesystem is slow and fussy. Neither scales to “just keep everything, forever.”</a:t>
            </a:r>
            <a:endParaRPr b="0" i="0" sz="1200" u="none" cap="none" strike="noStrike">
              <a:solidFill>
                <a:schemeClr val="dk1"/>
              </a:solidFill>
              <a:latin typeface="Calibri"/>
              <a:ea typeface="Calibri"/>
              <a:cs typeface="Calibri"/>
              <a:sym typeface="Calibri"/>
            </a:endParaRPr>
          </a:p>
        </p:txBody>
      </p:sp>
      <p:sp>
        <p:nvSpPr>
          <p:cNvPr id="725" name="Google Shape;725;p24"/>
          <p:cNvSpPr/>
          <p:nvPr/>
        </p:nvSpPr>
        <p:spPr>
          <a:xfrm>
            <a:off x="502920" y="2240280"/>
            <a:ext cx="3639312" cy="3017520"/>
          </a:xfrm>
          <a:prstGeom prst="roundRect">
            <a:avLst>
              <a:gd fmla="val 24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4"/>
          <p:cNvSpPr/>
          <p:nvPr/>
        </p:nvSpPr>
        <p:spPr>
          <a:xfrm>
            <a:off x="704088" y="2423160"/>
            <a:ext cx="475488" cy="475488"/>
          </a:xfrm>
          <a:prstGeom prst="ellipse">
            <a:avLst/>
          </a:prstGeom>
          <a:solidFill>
            <a:srgbClr val="0F172A"/>
          </a:solidFill>
          <a:ln cap="flat" cmpd="sng" w="15875">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7" name="Google Shape;727;p24"/>
          <p:cNvPicPr preferRelativeResize="0"/>
          <p:nvPr/>
        </p:nvPicPr>
        <p:blipFill rotWithShape="1">
          <a:blip r:embed="rId4">
            <a:alphaModFix/>
          </a:blip>
          <a:srcRect b="0" l="0" r="0" t="0"/>
          <a:stretch/>
        </p:blipFill>
        <p:spPr>
          <a:xfrm>
            <a:off x="822960" y="2542032"/>
            <a:ext cx="237744" cy="237744"/>
          </a:xfrm>
          <a:prstGeom prst="rect">
            <a:avLst/>
          </a:prstGeom>
          <a:noFill/>
          <a:ln>
            <a:noFill/>
          </a:ln>
        </p:spPr>
      </p:pic>
      <p:sp>
        <p:nvSpPr>
          <p:cNvPr id="728" name="Google Shape;728;p24"/>
          <p:cNvSpPr/>
          <p:nvPr/>
        </p:nvSpPr>
        <p:spPr>
          <a:xfrm>
            <a:off x="1307592" y="238658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Block — EBS</a:t>
            </a:r>
            <a:endParaRPr b="0" i="0" sz="1450" u="none" cap="none" strike="noStrike">
              <a:solidFill>
                <a:schemeClr val="dk1"/>
              </a:solidFill>
              <a:latin typeface="Calibri"/>
              <a:ea typeface="Calibri"/>
              <a:cs typeface="Calibri"/>
              <a:sym typeface="Calibri"/>
            </a:endParaRPr>
          </a:p>
        </p:txBody>
      </p:sp>
      <p:sp>
        <p:nvSpPr>
          <p:cNvPr id="729" name="Google Shape;729;p24"/>
          <p:cNvSpPr/>
          <p:nvPr/>
        </p:nvSpPr>
        <p:spPr>
          <a:xfrm>
            <a:off x="722376" y="3017520"/>
            <a:ext cx="3200400" cy="2103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Raw disk sectors attached to one EC2 instance. The OS makes a filesystem on it.</a:t>
            </a:r>
            <a:endParaRPr b="0" i="0" sz="1150" u="none" cap="none" strike="noStrike">
              <a:solidFill>
                <a:schemeClr val="dk1"/>
              </a:solidFill>
              <a:latin typeface="Calibri"/>
              <a:ea typeface="Calibri"/>
              <a:cs typeface="Calibri"/>
              <a:sym typeface="Calibri"/>
            </a:endParaRPr>
          </a:p>
        </p:txBody>
      </p:sp>
      <p:sp>
        <p:nvSpPr>
          <p:cNvPr id="730" name="Google Shape;730;p24"/>
          <p:cNvSpPr/>
          <p:nvPr/>
        </p:nvSpPr>
        <p:spPr>
          <a:xfrm>
            <a:off x="722376" y="40233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GBs–TBs · single instance</a:t>
            </a:r>
            <a:endParaRPr b="0" i="0" sz="1050" u="none" cap="none" strike="noStrike">
              <a:solidFill>
                <a:schemeClr val="dk1"/>
              </a:solidFill>
              <a:latin typeface="Calibri"/>
              <a:ea typeface="Calibri"/>
              <a:cs typeface="Calibri"/>
              <a:sym typeface="Calibri"/>
            </a:endParaRPr>
          </a:p>
        </p:txBody>
      </p:sp>
      <p:sp>
        <p:nvSpPr>
          <p:cNvPr id="731" name="Google Shape;731;p24"/>
          <p:cNvSpPr/>
          <p:nvPr/>
        </p:nvSpPr>
        <p:spPr>
          <a:xfrm>
            <a:off x="722376" y="4507992"/>
            <a:ext cx="3200400" cy="566928"/>
          </a:xfrm>
          <a:prstGeom prst="roundRect">
            <a:avLst>
              <a:gd fmla="val 9677" name="adj"/>
            </a:avLst>
          </a:prstGeom>
          <a:solidFill>
            <a:srgbClr val="0F172A"/>
          </a:solidFill>
          <a:ln cap="flat" cmpd="sng" w="9525">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795528" y="4507992"/>
            <a:ext cx="305409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Boot volumes, databases</a:t>
            </a:r>
            <a:endParaRPr b="0" i="0" sz="900" u="none" cap="none" strike="noStrike">
              <a:solidFill>
                <a:schemeClr val="dk1"/>
              </a:solidFill>
              <a:latin typeface="Calibri"/>
              <a:ea typeface="Calibri"/>
              <a:cs typeface="Calibri"/>
              <a:sym typeface="Calibri"/>
            </a:endParaRPr>
          </a:p>
        </p:txBody>
      </p:sp>
      <p:sp>
        <p:nvSpPr>
          <p:cNvPr id="733" name="Google Shape;733;p24"/>
          <p:cNvSpPr/>
          <p:nvPr/>
        </p:nvSpPr>
        <p:spPr>
          <a:xfrm>
            <a:off x="4274820" y="2240280"/>
            <a:ext cx="3639312" cy="3017520"/>
          </a:xfrm>
          <a:prstGeom prst="roundRect">
            <a:avLst>
              <a:gd fmla="val 24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4"/>
          <p:cNvSpPr/>
          <p:nvPr/>
        </p:nvSpPr>
        <p:spPr>
          <a:xfrm>
            <a:off x="4475988" y="2423160"/>
            <a:ext cx="475488" cy="475488"/>
          </a:xfrm>
          <a:prstGeom prst="ellipse">
            <a:avLst/>
          </a:prstGeom>
          <a:solidFill>
            <a:srgbClr val="0F172A"/>
          </a:solidFill>
          <a:ln cap="flat" cmpd="sng" w="15875">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5" name="Google Shape;735;p24"/>
          <p:cNvPicPr preferRelativeResize="0"/>
          <p:nvPr/>
        </p:nvPicPr>
        <p:blipFill rotWithShape="1">
          <a:blip r:embed="rId5">
            <a:alphaModFix/>
          </a:blip>
          <a:srcRect b="0" l="0" r="0" t="0"/>
          <a:stretch/>
        </p:blipFill>
        <p:spPr>
          <a:xfrm>
            <a:off x="4594860" y="2542032"/>
            <a:ext cx="237744" cy="237744"/>
          </a:xfrm>
          <a:prstGeom prst="rect">
            <a:avLst/>
          </a:prstGeom>
          <a:noFill/>
          <a:ln>
            <a:noFill/>
          </a:ln>
        </p:spPr>
      </p:pic>
      <p:sp>
        <p:nvSpPr>
          <p:cNvPr id="736" name="Google Shape;736;p24"/>
          <p:cNvSpPr/>
          <p:nvPr/>
        </p:nvSpPr>
        <p:spPr>
          <a:xfrm>
            <a:off x="5079492" y="238658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File — EFS</a:t>
            </a:r>
            <a:endParaRPr b="0" i="0" sz="1450" u="none" cap="none" strike="noStrike">
              <a:solidFill>
                <a:schemeClr val="dk1"/>
              </a:solidFill>
              <a:latin typeface="Calibri"/>
              <a:ea typeface="Calibri"/>
              <a:cs typeface="Calibri"/>
              <a:sym typeface="Calibri"/>
            </a:endParaRPr>
          </a:p>
        </p:txBody>
      </p:sp>
      <p:sp>
        <p:nvSpPr>
          <p:cNvPr id="737" name="Google Shape;737;p24"/>
          <p:cNvSpPr/>
          <p:nvPr/>
        </p:nvSpPr>
        <p:spPr>
          <a:xfrm>
            <a:off x="4494276" y="3017520"/>
            <a:ext cx="3200400" cy="2103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A shared network filesystem (NFS). Many instances mount the same tree.</a:t>
            </a:r>
            <a:endParaRPr b="0" i="0" sz="1150" u="none" cap="none" strike="noStrike">
              <a:solidFill>
                <a:schemeClr val="dk1"/>
              </a:solidFill>
              <a:latin typeface="Calibri"/>
              <a:ea typeface="Calibri"/>
              <a:cs typeface="Calibri"/>
              <a:sym typeface="Calibri"/>
            </a:endParaRPr>
          </a:p>
        </p:txBody>
      </p:sp>
      <p:sp>
        <p:nvSpPr>
          <p:cNvPr id="738" name="Google Shape;738;p24"/>
          <p:cNvSpPr/>
          <p:nvPr/>
        </p:nvSpPr>
        <p:spPr>
          <a:xfrm>
            <a:off x="4494276" y="40233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Elastic · multi-instance</a:t>
            </a:r>
            <a:endParaRPr b="0" i="0" sz="1050" u="none" cap="none" strike="noStrike">
              <a:solidFill>
                <a:schemeClr val="dk1"/>
              </a:solidFill>
              <a:latin typeface="Calibri"/>
              <a:ea typeface="Calibri"/>
              <a:cs typeface="Calibri"/>
              <a:sym typeface="Calibri"/>
            </a:endParaRPr>
          </a:p>
        </p:txBody>
      </p:sp>
      <p:sp>
        <p:nvSpPr>
          <p:cNvPr id="739" name="Google Shape;739;p24"/>
          <p:cNvSpPr/>
          <p:nvPr/>
        </p:nvSpPr>
        <p:spPr>
          <a:xfrm>
            <a:off x="4494276" y="4507992"/>
            <a:ext cx="3200400" cy="566928"/>
          </a:xfrm>
          <a:prstGeom prst="roundRect">
            <a:avLst>
              <a:gd fmla="val 9677" name="adj"/>
            </a:avLst>
          </a:prstGeom>
          <a:solidFill>
            <a:srgbClr val="0F172A"/>
          </a:solidFill>
          <a:ln cap="flat" cmpd="sng" w="9525">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4567428" y="4507992"/>
            <a:ext cx="305409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Shared home dirs, CMS uploads</a:t>
            </a:r>
            <a:endParaRPr b="0" i="0" sz="900" u="none" cap="none" strike="noStrike">
              <a:solidFill>
                <a:schemeClr val="dk1"/>
              </a:solidFill>
              <a:latin typeface="Calibri"/>
              <a:ea typeface="Calibri"/>
              <a:cs typeface="Calibri"/>
              <a:sym typeface="Calibri"/>
            </a:endParaRPr>
          </a:p>
        </p:txBody>
      </p:sp>
      <p:sp>
        <p:nvSpPr>
          <p:cNvPr id="741" name="Google Shape;741;p24"/>
          <p:cNvSpPr/>
          <p:nvPr/>
        </p:nvSpPr>
        <p:spPr>
          <a:xfrm>
            <a:off x="8046720" y="2240280"/>
            <a:ext cx="3639312" cy="3017520"/>
          </a:xfrm>
          <a:prstGeom prst="roundRect">
            <a:avLst>
              <a:gd fmla="val 242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4"/>
          <p:cNvSpPr/>
          <p:nvPr/>
        </p:nvSpPr>
        <p:spPr>
          <a:xfrm>
            <a:off x="8247888" y="242316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3" name="Google Shape;743;p24"/>
          <p:cNvPicPr preferRelativeResize="0"/>
          <p:nvPr/>
        </p:nvPicPr>
        <p:blipFill rotWithShape="1">
          <a:blip r:embed="rId6">
            <a:alphaModFix/>
          </a:blip>
          <a:srcRect b="0" l="0" r="0" t="0"/>
          <a:stretch/>
        </p:blipFill>
        <p:spPr>
          <a:xfrm>
            <a:off x="8366760" y="2542032"/>
            <a:ext cx="237744" cy="237744"/>
          </a:xfrm>
          <a:prstGeom prst="rect">
            <a:avLst/>
          </a:prstGeom>
          <a:noFill/>
          <a:ln>
            <a:noFill/>
          </a:ln>
        </p:spPr>
      </p:pic>
      <p:sp>
        <p:nvSpPr>
          <p:cNvPr id="744" name="Google Shape;744;p24"/>
          <p:cNvSpPr/>
          <p:nvPr/>
        </p:nvSpPr>
        <p:spPr>
          <a:xfrm>
            <a:off x="8851392" y="238658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50"/>
              <a:buFont typeface="Bookman Old Style"/>
              <a:buNone/>
            </a:pPr>
            <a:r>
              <a:rPr b="1" i="0" lang="en-US" sz="1450" u="none" cap="none" strike="noStrike">
                <a:solidFill>
                  <a:srgbClr val="F8FAFC"/>
                </a:solidFill>
                <a:latin typeface="Bookman Old Style"/>
                <a:ea typeface="Bookman Old Style"/>
                <a:cs typeface="Bookman Old Style"/>
                <a:sym typeface="Bookman Old Style"/>
              </a:rPr>
              <a:t>Object — S3</a:t>
            </a:r>
            <a:endParaRPr b="0" i="0" sz="1450" u="none" cap="none" strike="noStrike">
              <a:solidFill>
                <a:schemeClr val="dk1"/>
              </a:solidFill>
              <a:latin typeface="Calibri"/>
              <a:ea typeface="Calibri"/>
              <a:cs typeface="Calibri"/>
              <a:sym typeface="Calibri"/>
            </a:endParaRPr>
          </a:p>
        </p:txBody>
      </p:sp>
      <p:sp>
        <p:nvSpPr>
          <p:cNvPr id="745" name="Google Shape;745;p24"/>
          <p:cNvSpPr/>
          <p:nvPr/>
        </p:nvSpPr>
        <p:spPr>
          <a:xfrm>
            <a:off x="8266176" y="3017520"/>
            <a:ext cx="3200400" cy="2103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Whole files as immutable objects with a key, fetched over HTTP. No mounting, no sectors.</a:t>
            </a:r>
            <a:endParaRPr b="0" i="0" sz="1150" u="none" cap="none" strike="noStrike">
              <a:solidFill>
                <a:schemeClr val="dk1"/>
              </a:solidFill>
              <a:latin typeface="Calibri"/>
              <a:ea typeface="Calibri"/>
              <a:cs typeface="Calibri"/>
              <a:sym typeface="Calibri"/>
            </a:endParaRPr>
          </a:p>
        </p:txBody>
      </p:sp>
      <p:sp>
        <p:nvSpPr>
          <p:cNvPr id="746" name="Google Shape;746;p24"/>
          <p:cNvSpPr/>
          <p:nvPr/>
        </p:nvSpPr>
        <p:spPr>
          <a:xfrm>
            <a:off x="8266176" y="40233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50"/>
              <a:buFont typeface="Courier New"/>
              <a:buNone/>
            </a:pPr>
            <a:r>
              <a:rPr b="0" i="0" lang="en-US" sz="1050" u="none" cap="none" strike="noStrike">
                <a:solidFill>
                  <a:srgbClr val="FF9900"/>
                </a:solidFill>
                <a:latin typeface="Courier New"/>
                <a:ea typeface="Courier New"/>
                <a:cs typeface="Courier New"/>
                <a:sym typeface="Courier New"/>
              </a:rPr>
              <a:t>Unlimited · planet-wide</a:t>
            </a:r>
            <a:endParaRPr b="0" i="0" sz="1050" u="none" cap="none" strike="noStrike">
              <a:solidFill>
                <a:schemeClr val="dk1"/>
              </a:solidFill>
              <a:latin typeface="Calibri"/>
              <a:ea typeface="Calibri"/>
              <a:cs typeface="Calibri"/>
              <a:sym typeface="Calibri"/>
            </a:endParaRPr>
          </a:p>
        </p:txBody>
      </p:sp>
      <p:sp>
        <p:nvSpPr>
          <p:cNvPr id="747" name="Google Shape;747;p24"/>
          <p:cNvSpPr/>
          <p:nvPr/>
        </p:nvSpPr>
        <p:spPr>
          <a:xfrm>
            <a:off x="8266176" y="4507992"/>
            <a:ext cx="3200400" cy="566928"/>
          </a:xfrm>
          <a:prstGeom prst="roundRect">
            <a:avLst>
              <a:gd fmla="val 9677" name="adj"/>
            </a:avLst>
          </a:prstGeom>
          <a:solidFill>
            <a:srgbClr val="0F172A"/>
          </a:solid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8339328" y="4507992"/>
            <a:ext cx="305409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900"/>
              <a:buFont typeface="Courier New"/>
              <a:buNone/>
            </a:pPr>
            <a:r>
              <a:rPr b="0" i="0" lang="en-US" sz="900" u="none" cap="none" strike="noStrike">
                <a:solidFill>
                  <a:srgbClr val="FF9900"/>
                </a:solidFill>
                <a:latin typeface="Courier New"/>
                <a:ea typeface="Courier New"/>
                <a:cs typeface="Courier New"/>
                <a:sym typeface="Courier New"/>
              </a:rPr>
              <a:t>Images, logs, backups, artifacts, static sites</a:t>
            </a:r>
            <a:endParaRPr b="0" i="0" sz="900" u="none" cap="none" strike="noStrike">
              <a:solidFill>
                <a:schemeClr val="dk1"/>
              </a:solidFill>
              <a:latin typeface="Calibri"/>
              <a:ea typeface="Calibri"/>
              <a:cs typeface="Calibri"/>
              <a:sym typeface="Calibri"/>
            </a:endParaRPr>
          </a:p>
        </p:txBody>
      </p:sp>
      <p:sp>
        <p:nvSpPr>
          <p:cNvPr id="749" name="Google Shape;749;p24"/>
          <p:cNvSpPr/>
          <p:nvPr/>
        </p:nvSpPr>
        <p:spPr>
          <a:xfrm>
            <a:off x="502920" y="5486400"/>
            <a:ext cx="11183112" cy="777240"/>
          </a:xfrm>
          <a:prstGeom prst="roundRect">
            <a:avLst>
              <a:gd fmla="val 9412"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0" name="Google Shape;750;p24"/>
          <p:cNvPicPr preferRelativeResize="0"/>
          <p:nvPr/>
        </p:nvPicPr>
        <p:blipFill rotWithShape="1">
          <a:blip r:embed="rId7">
            <a:alphaModFix/>
          </a:blip>
          <a:srcRect b="0" l="0" r="0" t="0"/>
          <a:stretch/>
        </p:blipFill>
        <p:spPr>
          <a:xfrm>
            <a:off x="704088" y="5728716"/>
            <a:ext cx="292608" cy="292608"/>
          </a:xfrm>
          <a:prstGeom prst="rect">
            <a:avLst/>
          </a:prstGeom>
          <a:noFill/>
          <a:ln>
            <a:noFill/>
          </a:ln>
        </p:spPr>
      </p:pic>
      <p:sp>
        <p:nvSpPr>
          <p:cNvPr id="751" name="Google Shape;751;p24"/>
          <p:cNvSpPr/>
          <p:nvPr/>
        </p:nvSpPr>
        <p:spPr>
          <a:xfrm>
            <a:off x="1143000" y="5577840"/>
            <a:ext cx="10341864"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S3's deal: give me bytes + a key, I'll keep them with 99.999999999% durability and serve them anywhere via HTTPS. You give up: file locking, partial edits, POSIX. Objects are replaced, never edited.</a:t>
            </a:r>
            <a:endParaRPr b="0" i="0" sz="1250" u="none" cap="none" strike="noStrike">
              <a:solidFill>
                <a:schemeClr val="dk1"/>
              </a:solidFill>
              <a:latin typeface="Calibri"/>
              <a:ea typeface="Calibri"/>
              <a:cs typeface="Calibri"/>
              <a:sym typeface="Calibri"/>
            </a:endParaRPr>
          </a:p>
        </p:txBody>
      </p:sp>
      <p:sp>
        <p:nvSpPr>
          <p:cNvPr id="752" name="Google Shape;752;p24"/>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753" name="Google Shape;753;p24"/>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Object vs block vs file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58" name="Shape 758"/>
        <p:cNvGrpSpPr/>
        <p:nvPr/>
      </p:nvGrpSpPr>
      <p:grpSpPr>
        <a:xfrm>
          <a:off x="0" y="0"/>
          <a:ext cx="0" cy="0"/>
          <a:chOff x="0" y="0"/>
          <a:chExt cx="0" cy="0"/>
        </a:xfrm>
      </p:grpSpPr>
      <p:sp>
        <p:nvSpPr>
          <p:cNvPr id="759" name="Google Shape;759;p25"/>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S3 · ANATOMY</a:t>
            </a:r>
            <a:endParaRPr b="0" i="0" sz="1200" u="none" cap="none" strike="noStrike">
              <a:solidFill>
                <a:schemeClr val="dk1"/>
              </a:solidFill>
              <a:latin typeface="Calibri"/>
              <a:ea typeface="Calibri"/>
              <a:cs typeface="Calibri"/>
              <a:sym typeface="Calibri"/>
            </a:endParaRPr>
          </a:p>
        </p:txBody>
      </p:sp>
      <p:sp>
        <p:nvSpPr>
          <p:cNvPr id="760" name="Google Shape;760;p25"/>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Buckets, keys, and the folder illusion</a:t>
            </a:r>
            <a:endParaRPr b="0" i="0" sz="3000" u="none" cap="none" strike="noStrike">
              <a:solidFill>
                <a:schemeClr val="dk1"/>
              </a:solidFill>
              <a:latin typeface="Calibri"/>
              <a:ea typeface="Calibri"/>
              <a:cs typeface="Calibri"/>
              <a:sym typeface="Calibri"/>
            </a:endParaRPr>
          </a:p>
        </p:txBody>
      </p:sp>
      <p:sp>
        <p:nvSpPr>
          <p:cNvPr id="761" name="Google Shape;761;p25"/>
          <p:cNvSpPr/>
          <p:nvPr/>
        </p:nvSpPr>
        <p:spPr>
          <a:xfrm>
            <a:off x="502920" y="1417320"/>
            <a:ext cx="6583680" cy="3200400"/>
          </a:xfrm>
          <a:prstGeom prst="roundRect">
            <a:avLst>
              <a:gd fmla="val 2286"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5"/>
          <p:cNvSpPr/>
          <p:nvPr/>
        </p:nvSpPr>
        <p:spPr>
          <a:xfrm>
            <a:off x="704088" y="154533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5"/>
          <p:cNvSpPr/>
          <p:nvPr/>
        </p:nvSpPr>
        <p:spPr>
          <a:xfrm>
            <a:off x="886968" y="154533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5"/>
          <p:cNvSpPr/>
          <p:nvPr/>
        </p:nvSpPr>
        <p:spPr>
          <a:xfrm>
            <a:off x="1069848" y="154533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5"/>
          <p:cNvSpPr/>
          <p:nvPr/>
        </p:nvSpPr>
        <p:spPr>
          <a:xfrm>
            <a:off x="1280160" y="1472184"/>
            <a:ext cx="5669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s3://podinfo-assets</a:t>
            </a:r>
            <a:endParaRPr b="0" i="0" sz="1000" u="none" cap="none" strike="noStrike">
              <a:solidFill>
                <a:schemeClr val="dk1"/>
              </a:solidFill>
              <a:latin typeface="Calibri"/>
              <a:ea typeface="Calibri"/>
              <a:cs typeface="Calibri"/>
              <a:sym typeface="Calibri"/>
            </a:endParaRPr>
          </a:p>
        </p:txBody>
      </p:sp>
      <p:sp>
        <p:nvSpPr>
          <p:cNvPr id="766" name="Google Shape;766;p25"/>
          <p:cNvSpPr/>
          <p:nvPr/>
        </p:nvSpPr>
        <p:spPr>
          <a:xfrm>
            <a:off x="704088" y="1801368"/>
            <a:ext cx="6181344" cy="26974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s3://podinfo-assets/</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50"/>
              <a:buFont typeface="Courier New"/>
              <a:buNone/>
            </a:pPr>
            <a:r>
              <a:rPr b="0" i="0" lang="en-US" sz="1150" u="none" cap="none" strike="noStrike">
                <a:solidFill>
                  <a:srgbClr val="E2E8F0"/>
                </a:solidFill>
                <a:latin typeface="Courier New"/>
                <a:ea typeface="Courier New"/>
                <a:cs typeface="Courier New"/>
                <a:sym typeface="Courier New"/>
              </a:rPr>
              <a:t>  logos/podinfo-dark.svg</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50"/>
              <a:buFont typeface="Courier New"/>
              <a:buNone/>
            </a:pPr>
            <a:r>
              <a:rPr b="0" i="0" lang="en-US" sz="1150" u="none" cap="none" strike="noStrike">
                <a:solidFill>
                  <a:srgbClr val="E2E8F0"/>
                </a:solidFill>
                <a:latin typeface="Courier New"/>
                <a:ea typeface="Courier New"/>
                <a:cs typeface="Courier New"/>
                <a:sym typeface="Courier New"/>
              </a:rPr>
              <a:t>  logos/podinfo-light.svg</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50"/>
              <a:buFont typeface="Courier New"/>
              <a:buNone/>
            </a:pPr>
            <a:r>
              <a:rPr b="0" i="0" lang="en-US" sz="1150" u="none" cap="none" strike="noStrike">
                <a:solidFill>
                  <a:srgbClr val="E2E8F0"/>
                </a:solidFill>
                <a:latin typeface="Courier New"/>
                <a:ea typeface="Courier New"/>
                <a:cs typeface="Courier New"/>
                <a:sym typeface="Courier New"/>
              </a:rPr>
              <a:t>  backups/2026-07-19/db.sql.gz</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50"/>
              <a:buFont typeface="Courier New"/>
              <a:buNone/>
            </a:pPr>
            <a:r>
              <a:rPr b="0" i="0" lang="en-US" sz="1150" u="none" cap="none" strike="noStrike">
                <a:solidFill>
                  <a:srgbClr val="E2E8F0"/>
                </a:solidFill>
                <a:latin typeface="Courier New"/>
                <a:ea typeface="Courier New"/>
                <a:cs typeface="Courier New"/>
                <a:sym typeface="Courier New"/>
              </a:rPr>
              <a:t>  backups/2026-07-20/db.sql.gz</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50"/>
              <a:buFont typeface="Courier New"/>
              <a:buNone/>
            </a:pPr>
            <a:r>
              <a:rPr b="0" i="0" lang="en-US" sz="1150" u="none" cap="none" strike="noStrike">
                <a:solidFill>
                  <a:srgbClr val="E2E8F0"/>
                </a:solidFill>
                <a:latin typeface="Courier New"/>
                <a:ea typeface="Courier New"/>
                <a:cs typeface="Courier New"/>
                <a:sym typeface="Courier New"/>
              </a:rPr>
              <a:t>  index.html</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150"/>
              <a:buFont typeface="Courier New"/>
              <a:buNone/>
            </a:pPr>
            <a:r>
              <a:rPr b="0" i="0" lang="en-US" sz="1150" u="none" cap="none" strike="noStrike">
                <a:solidFill>
                  <a:srgbClr val="94A3B8"/>
                </a:solidFill>
                <a:latin typeface="Courier New"/>
                <a:ea typeface="Courier New"/>
                <a:cs typeface="Courier New"/>
                <a:sym typeface="Courier New"/>
              </a:rPr>
              <a:t># 'logos/' is not a directory.</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150"/>
              <a:buFont typeface="Courier New"/>
              <a:buNone/>
            </a:pPr>
            <a:r>
              <a:rPr b="0" i="0" lang="en-US" sz="1150" u="none" cap="none" strike="noStrike">
                <a:solidFill>
                  <a:srgbClr val="94A3B8"/>
                </a:solidFill>
                <a:latin typeface="Courier New"/>
                <a:ea typeface="Courier New"/>
                <a:cs typeface="Courier New"/>
                <a:sym typeface="Courier New"/>
              </a:rPr>
              <a:t># The KEY is the whole string:</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BBF24"/>
              </a:buClr>
              <a:buSzPts val="1150"/>
              <a:buFont typeface="Courier New"/>
              <a:buNone/>
            </a:pPr>
            <a:r>
              <a:rPr b="0" i="0" lang="en-US" sz="1150" u="none" cap="none" strike="noStrike">
                <a:solidFill>
                  <a:srgbClr val="FBBF24"/>
                </a:solidFill>
                <a:latin typeface="Courier New"/>
                <a:ea typeface="Courier New"/>
                <a:cs typeface="Courier New"/>
                <a:sym typeface="Courier New"/>
              </a:rPr>
              <a:t>#   "backups/2026-07-20/db.sql.gz"</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150"/>
              <a:buFont typeface="Courier New"/>
              <a:buNone/>
            </a:pPr>
            <a:r>
              <a:rPr b="0" i="0" lang="en-US" sz="1150" u="none" cap="none" strike="noStrike">
                <a:solidFill>
                  <a:srgbClr val="94A3B8"/>
                </a:solidFill>
                <a:latin typeface="Courier New"/>
                <a:ea typeface="Courier New"/>
                <a:cs typeface="Courier New"/>
                <a:sym typeface="Courier New"/>
              </a:rPr>
              <a:t># Flat namespace + prefix filtering</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150"/>
              <a:buFont typeface="Courier New"/>
              <a:buNone/>
            </a:pPr>
            <a:r>
              <a:rPr b="0" i="0" lang="en-US" sz="1150" u="none" cap="none" strike="noStrike">
                <a:solidFill>
                  <a:srgbClr val="94A3B8"/>
                </a:solidFill>
                <a:latin typeface="Courier New"/>
                <a:ea typeface="Courier New"/>
                <a:cs typeface="Courier New"/>
                <a:sym typeface="Courier New"/>
              </a:rPr>
              <a:t>#   = the folder ILLUSION.</a:t>
            </a:r>
            <a:endParaRPr b="0" i="0" sz="1150" u="none" cap="none" strike="noStrike">
              <a:solidFill>
                <a:schemeClr val="dk1"/>
              </a:solidFill>
              <a:latin typeface="Calibri"/>
              <a:ea typeface="Calibri"/>
              <a:cs typeface="Calibri"/>
              <a:sym typeface="Calibri"/>
            </a:endParaRPr>
          </a:p>
        </p:txBody>
      </p:sp>
      <p:sp>
        <p:nvSpPr>
          <p:cNvPr id="767" name="Google Shape;767;p25"/>
          <p:cNvSpPr/>
          <p:nvPr/>
        </p:nvSpPr>
        <p:spPr>
          <a:xfrm>
            <a:off x="7315200" y="1417320"/>
            <a:ext cx="4370832" cy="969264"/>
          </a:xfrm>
          <a:prstGeom prst="roundRect">
            <a:avLst>
              <a:gd fmla="val 7547"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5"/>
          <p:cNvSpPr/>
          <p:nvPr/>
        </p:nvSpPr>
        <p:spPr>
          <a:xfrm>
            <a:off x="7498080" y="1481328"/>
            <a:ext cx="40233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50"/>
              <a:buFont typeface="Courier New"/>
              <a:buNone/>
            </a:pPr>
            <a:r>
              <a:rPr b="1" i="0" lang="en-US" sz="1250" u="none" cap="none" strike="noStrike">
                <a:solidFill>
                  <a:srgbClr val="FF9900"/>
                </a:solidFill>
                <a:latin typeface="Courier New"/>
                <a:ea typeface="Courier New"/>
                <a:cs typeface="Courier New"/>
                <a:sym typeface="Courier New"/>
              </a:rPr>
              <a:t>Bucket</a:t>
            </a:r>
            <a:endParaRPr b="0" i="0" sz="1250" u="none" cap="none" strike="noStrike">
              <a:solidFill>
                <a:schemeClr val="dk1"/>
              </a:solidFill>
              <a:latin typeface="Calibri"/>
              <a:ea typeface="Calibri"/>
              <a:cs typeface="Calibri"/>
              <a:sym typeface="Calibri"/>
            </a:endParaRPr>
          </a:p>
        </p:txBody>
      </p:sp>
      <p:sp>
        <p:nvSpPr>
          <p:cNvPr id="769" name="Google Shape;769;p25"/>
          <p:cNvSpPr/>
          <p:nvPr/>
        </p:nvSpPr>
        <p:spPr>
          <a:xfrm>
            <a:off x="7498080" y="1783080"/>
            <a:ext cx="402336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Top-level container. Name is GLOBALLY unique across all AWS accounts, lives in one region.</a:t>
            </a:r>
            <a:endParaRPr b="0" i="0" sz="1050" u="none" cap="none" strike="noStrike">
              <a:solidFill>
                <a:schemeClr val="dk1"/>
              </a:solidFill>
              <a:latin typeface="Calibri"/>
              <a:ea typeface="Calibri"/>
              <a:cs typeface="Calibri"/>
              <a:sym typeface="Calibri"/>
            </a:endParaRPr>
          </a:p>
        </p:txBody>
      </p:sp>
      <p:sp>
        <p:nvSpPr>
          <p:cNvPr id="770" name="Google Shape;770;p25"/>
          <p:cNvSpPr/>
          <p:nvPr/>
        </p:nvSpPr>
        <p:spPr>
          <a:xfrm>
            <a:off x="7315200" y="2496312"/>
            <a:ext cx="4370832" cy="969264"/>
          </a:xfrm>
          <a:prstGeom prst="roundRect">
            <a:avLst>
              <a:gd fmla="val 7547"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5"/>
          <p:cNvSpPr/>
          <p:nvPr/>
        </p:nvSpPr>
        <p:spPr>
          <a:xfrm>
            <a:off x="7498080" y="2560320"/>
            <a:ext cx="40233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50"/>
              <a:buFont typeface="Courier New"/>
              <a:buNone/>
            </a:pPr>
            <a:r>
              <a:rPr b="1" i="0" lang="en-US" sz="1250" u="none" cap="none" strike="noStrike">
                <a:solidFill>
                  <a:srgbClr val="2DD4BF"/>
                </a:solidFill>
                <a:latin typeface="Courier New"/>
                <a:ea typeface="Courier New"/>
                <a:cs typeface="Courier New"/>
                <a:sym typeface="Courier New"/>
              </a:rPr>
              <a:t>Object</a:t>
            </a:r>
            <a:endParaRPr b="0" i="0" sz="1250" u="none" cap="none" strike="noStrike">
              <a:solidFill>
                <a:schemeClr val="dk1"/>
              </a:solidFill>
              <a:latin typeface="Calibri"/>
              <a:ea typeface="Calibri"/>
              <a:cs typeface="Calibri"/>
              <a:sym typeface="Calibri"/>
            </a:endParaRPr>
          </a:p>
        </p:txBody>
      </p:sp>
      <p:sp>
        <p:nvSpPr>
          <p:cNvPr id="772" name="Google Shape;772;p25"/>
          <p:cNvSpPr/>
          <p:nvPr/>
        </p:nvSpPr>
        <p:spPr>
          <a:xfrm>
            <a:off x="7498080" y="2862072"/>
            <a:ext cx="402336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The bytes + metadata. Up to 5 TB each. Addressable at https://bucket.s3.region.amazonaws.com/key</a:t>
            </a:r>
            <a:endParaRPr b="0" i="0" sz="1050" u="none" cap="none" strike="noStrike">
              <a:solidFill>
                <a:schemeClr val="dk1"/>
              </a:solidFill>
              <a:latin typeface="Calibri"/>
              <a:ea typeface="Calibri"/>
              <a:cs typeface="Calibri"/>
              <a:sym typeface="Calibri"/>
            </a:endParaRPr>
          </a:p>
        </p:txBody>
      </p:sp>
      <p:sp>
        <p:nvSpPr>
          <p:cNvPr id="773" name="Google Shape;773;p25"/>
          <p:cNvSpPr/>
          <p:nvPr/>
        </p:nvSpPr>
        <p:spPr>
          <a:xfrm>
            <a:off x="7315200" y="3575304"/>
            <a:ext cx="4370832" cy="969264"/>
          </a:xfrm>
          <a:prstGeom prst="roundRect">
            <a:avLst>
              <a:gd fmla="val 7547" name="adj"/>
            </a:avLst>
          </a:prstGeom>
          <a:solidFill>
            <a:srgbClr val="1E293B"/>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5"/>
          <p:cNvSpPr/>
          <p:nvPr/>
        </p:nvSpPr>
        <p:spPr>
          <a:xfrm>
            <a:off x="7498080" y="3639312"/>
            <a:ext cx="402336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250"/>
              <a:buFont typeface="Courier New"/>
              <a:buNone/>
            </a:pPr>
            <a:r>
              <a:rPr b="1" i="0" lang="en-US" sz="1250" u="none" cap="none" strike="noStrike">
                <a:solidFill>
                  <a:srgbClr val="A78BFA"/>
                </a:solidFill>
                <a:latin typeface="Courier New"/>
                <a:ea typeface="Courier New"/>
                <a:cs typeface="Courier New"/>
                <a:sym typeface="Courier New"/>
              </a:rPr>
              <a:t>Key</a:t>
            </a:r>
            <a:endParaRPr b="0" i="0" sz="1250" u="none" cap="none" strike="noStrike">
              <a:solidFill>
                <a:schemeClr val="dk1"/>
              </a:solidFill>
              <a:latin typeface="Calibri"/>
              <a:ea typeface="Calibri"/>
              <a:cs typeface="Calibri"/>
              <a:sym typeface="Calibri"/>
            </a:endParaRPr>
          </a:p>
        </p:txBody>
      </p:sp>
      <p:sp>
        <p:nvSpPr>
          <p:cNvPr id="775" name="Google Shape;775;p25"/>
          <p:cNvSpPr/>
          <p:nvPr/>
        </p:nvSpPr>
        <p:spPr>
          <a:xfrm>
            <a:off x="7498080" y="3941064"/>
            <a:ext cx="4023360" cy="548640"/>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The full path-looking string. Prefixes power listing, lifecycle rules &amp; permissions.</a:t>
            </a:r>
            <a:endParaRPr b="0" i="0" sz="1050" u="none" cap="none" strike="noStrike">
              <a:solidFill>
                <a:schemeClr val="dk1"/>
              </a:solidFill>
              <a:latin typeface="Calibri"/>
              <a:ea typeface="Calibri"/>
              <a:cs typeface="Calibri"/>
              <a:sym typeface="Calibri"/>
            </a:endParaRPr>
          </a:p>
        </p:txBody>
      </p:sp>
      <p:sp>
        <p:nvSpPr>
          <p:cNvPr id="776" name="Google Shape;776;p25"/>
          <p:cNvSpPr/>
          <p:nvPr/>
        </p:nvSpPr>
        <p:spPr>
          <a:xfrm>
            <a:off x="502920" y="489204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Ships with, one checkbox away:</a:t>
            </a:r>
            <a:endParaRPr b="0" i="0" sz="1350" u="none" cap="none" strike="noStrike">
              <a:solidFill>
                <a:schemeClr val="dk1"/>
              </a:solidFill>
              <a:latin typeface="Calibri"/>
              <a:ea typeface="Calibri"/>
              <a:cs typeface="Calibri"/>
              <a:sym typeface="Calibri"/>
            </a:endParaRPr>
          </a:p>
        </p:txBody>
      </p:sp>
      <p:sp>
        <p:nvSpPr>
          <p:cNvPr id="777" name="Google Shape;777;p25"/>
          <p:cNvSpPr/>
          <p:nvPr/>
        </p:nvSpPr>
        <p:spPr>
          <a:xfrm>
            <a:off x="502920" y="5303520"/>
            <a:ext cx="1344168" cy="384048"/>
          </a:xfrm>
          <a:prstGeom prst="roundRect">
            <a:avLst>
              <a:gd fmla="val 50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8" name="Google Shape;778;p25"/>
          <p:cNvPicPr preferRelativeResize="0"/>
          <p:nvPr/>
        </p:nvPicPr>
        <p:blipFill rotWithShape="1">
          <a:blip r:embed="rId3">
            <a:alphaModFix/>
          </a:blip>
          <a:srcRect b="0" l="0" r="0" t="0"/>
          <a:stretch/>
        </p:blipFill>
        <p:spPr>
          <a:xfrm>
            <a:off x="630936" y="5394960"/>
            <a:ext cx="201168" cy="201168"/>
          </a:xfrm>
          <a:prstGeom prst="rect">
            <a:avLst/>
          </a:prstGeom>
          <a:noFill/>
          <a:ln>
            <a:noFill/>
          </a:ln>
        </p:spPr>
      </p:pic>
      <p:sp>
        <p:nvSpPr>
          <p:cNvPr id="779" name="Google Shape;779;p25"/>
          <p:cNvSpPr/>
          <p:nvPr/>
        </p:nvSpPr>
        <p:spPr>
          <a:xfrm>
            <a:off x="868680" y="5303520"/>
            <a:ext cx="9418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Versioning</a:t>
            </a:r>
            <a:endParaRPr b="0" i="0" sz="1050" u="none" cap="none" strike="noStrike">
              <a:solidFill>
                <a:schemeClr val="dk1"/>
              </a:solidFill>
              <a:latin typeface="Calibri"/>
              <a:ea typeface="Calibri"/>
              <a:cs typeface="Calibri"/>
              <a:sym typeface="Calibri"/>
            </a:endParaRPr>
          </a:p>
        </p:txBody>
      </p:sp>
      <p:sp>
        <p:nvSpPr>
          <p:cNvPr id="780" name="Google Shape;780;p25"/>
          <p:cNvSpPr/>
          <p:nvPr/>
        </p:nvSpPr>
        <p:spPr>
          <a:xfrm>
            <a:off x="2011680" y="5303520"/>
            <a:ext cx="2276856" cy="384048"/>
          </a:xfrm>
          <a:prstGeom prst="roundRect">
            <a:avLst>
              <a:gd fmla="val 50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1" name="Google Shape;781;p25"/>
          <p:cNvPicPr preferRelativeResize="0"/>
          <p:nvPr/>
        </p:nvPicPr>
        <p:blipFill rotWithShape="1">
          <a:blip r:embed="rId4">
            <a:alphaModFix/>
          </a:blip>
          <a:srcRect b="0" l="0" r="0" t="0"/>
          <a:stretch/>
        </p:blipFill>
        <p:spPr>
          <a:xfrm>
            <a:off x="2139696" y="5394960"/>
            <a:ext cx="201168" cy="201168"/>
          </a:xfrm>
          <a:prstGeom prst="rect">
            <a:avLst/>
          </a:prstGeom>
          <a:noFill/>
          <a:ln>
            <a:noFill/>
          </a:ln>
        </p:spPr>
      </p:pic>
      <p:sp>
        <p:nvSpPr>
          <p:cNvPr id="782" name="Google Shape;782;p25"/>
          <p:cNvSpPr/>
          <p:nvPr/>
        </p:nvSpPr>
        <p:spPr>
          <a:xfrm>
            <a:off x="2377440" y="5303520"/>
            <a:ext cx="1874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Static website hosting</a:t>
            </a:r>
            <a:endParaRPr b="0" i="0" sz="1050" u="none" cap="none" strike="noStrike">
              <a:solidFill>
                <a:schemeClr val="dk1"/>
              </a:solidFill>
              <a:latin typeface="Calibri"/>
              <a:ea typeface="Calibri"/>
              <a:cs typeface="Calibri"/>
              <a:sym typeface="Calibri"/>
            </a:endParaRPr>
          </a:p>
        </p:txBody>
      </p:sp>
      <p:sp>
        <p:nvSpPr>
          <p:cNvPr id="783" name="Google Shape;783;p25"/>
          <p:cNvSpPr/>
          <p:nvPr/>
        </p:nvSpPr>
        <p:spPr>
          <a:xfrm>
            <a:off x="4453128" y="5303520"/>
            <a:ext cx="1965960" cy="384048"/>
          </a:xfrm>
          <a:prstGeom prst="roundRect">
            <a:avLst>
              <a:gd fmla="val 50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4" name="Google Shape;784;p25"/>
          <p:cNvPicPr preferRelativeResize="0"/>
          <p:nvPr/>
        </p:nvPicPr>
        <p:blipFill rotWithShape="1">
          <a:blip r:embed="rId5">
            <a:alphaModFix/>
          </a:blip>
          <a:srcRect b="0" l="0" r="0" t="0"/>
          <a:stretch/>
        </p:blipFill>
        <p:spPr>
          <a:xfrm>
            <a:off x="4581144" y="5394960"/>
            <a:ext cx="201168" cy="201168"/>
          </a:xfrm>
          <a:prstGeom prst="rect">
            <a:avLst/>
          </a:prstGeom>
          <a:noFill/>
          <a:ln>
            <a:noFill/>
          </a:ln>
        </p:spPr>
      </p:pic>
      <p:sp>
        <p:nvSpPr>
          <p:cNvPr id="785" name="Google Shape;785;p25"/>
          <p:cNvSpPr/>
          <p:nvPr/>
        </p:nvSpPr>
        <p:spPr>
          <a:xfrm>
            <a:off x="4818888" y="5303520"/>
            <a:ext cx="156362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Encryption at rest</a:t>
            </a:r>
            <a:endParaRPr b="0" i="0" sz="1050" u="none" cap="none" strike="noStrike">
              <a:solidFill>
                <a:schemeClr val="dk1"/>
              </a:solidFill>
              <a:latin typeface="Calibri"/>
              <a:ea typeface="Calibri"/>
              <a:cs typeface="Calibri"/>
              <a:sym typeface="Calibri"/>
            </a:endParaRPr>
          </a:p>
        </p:txBody>
      </p:sp>
      <p:sp>
        <p:nvSpPr>
          <p:cNvPr id="786" name="Google Shape;786;p25"/>
          <p:cNvSpPr/>
          <p:nvPr/>
        </p:nvSpPr>
        <p:spPr>
          <a:xfrm>
            <a:off x="6583680" y="5303520"/>
            <a:ext cx="1655064" cy="384048"/>
          </a:xfrm>
          <a:prstGeom prst="roundRect">
            <a:avLst>
              <a:gd fmla="val 50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7" name="Google Shape;787;p25"/>
          <p:cNvPicPr preferRelativeResize="0"/>
          <p:nvPr/>
        </p:nvPicPr>
        <p:blipFill rotWithShape="1">
          <a:blip r:embed="rId6">
            <a:alphaModFix/>
          </a:blip>
          <a:srcRect b="0" l="0" r="0" t="0"/>
          <a:stretch/>
        </p:blipFill>
        <p:spPr>
          <a:xfrm>
            <a:off x="6711696" y="5394960"/>
            <a:ext cx="201168" cy="201168"/>
          </a:xfrm>
          <a:prstGeom prst="rect">
            <a:avLst/>
          </a:prstGeom>
          <a:noFill/>
          <a:ln>
            <a:noFill/>
          </a:ln>
        </p:spPr>
      </p:pic>
      <p:sp>
        <p:nvSpPr>
          <p:cNvPr id="788" name="Google Shape;788;p25"/>
          <p:cNvSpPr/>
          <p:nvPr/>
        </p:nvSpPr>
        <p:spPr>
          <a:xfrm>
            <a:off x="6949440" y="5303520"/>
            <a:ext cx="12527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Presigned URLs</a:t>
            </a:r>
            <a:endParaRPr b="0" i="0" sz="1050" u="none" cap="none" strike="noStrike">
              <a:solidFill>
                <a:schemeClr val="dk1"/>
              </a:solidFill>
              <a:latin typeface="Calibri"/>
              <a:ea typeface="Calibri"/>
              <a:cs typeface="Calibri"/>
              <a:sym typeface="Calibri"/>
            </a:endParaRPr>
          </a:p>
        </p:txBody>
      </p:sp>
      <p:sp>
        <p:nvSpPr>
          <p:cNvPr id="789" name="Google Shape;789;p25"/>
          <p:cNvSpPr/>
          <p:nvPr/>
        </p:nvSpPr>
        <p:spPr>
          <a:xfrm>
            <a:off x="8403336" y="5303520"/>
            <a:ext cx="2043684" cy="384048"/>
          </a:xfrm>
          <a:prstGeom prst="roundRect">
            <a:avLst>
              <a:gd fmla="val 50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0" name="Google Shape;790;p25"/>
          <p:cNvPicPr preferRelativeResize="0"/>
          <p:nvPr/>
        </p:nvPicPr>
        <p:blipFill rotWithShape="1">
          <a:blip r:embed="rId7">
            <a:alphaModFix/>
          </a:blip>
          <a:srcRect b="0" l="0" r="0" t="0"/>
          <a:stretch/>
        </p:blipFill>
        <p:spPr>
          <a:xfrm>
            <a:off x="8531352" y="5394960"/>
            <a:ext cx="201168" cy="201168"/>
          </a:xfrm>
          <a:prstGeom prst="rect">
            <a:avLst/>
          </a:prstGeom>
          <a:noFill/>
          <a:ln>
            <a:noFill/>
          </a:ln>
        </p:spPr>
      </p:pic>
      <p:sp>
        <p:nvSpPr>
          <p:cNvPr id="791" name="Google Shape;791;p25"/>
          <p:cNvSpPr/>
          <p:nvPr/>
        </p:nvSpPr>
        <p:spPr>
          <a:xfrm>
            <a:off x="8769096" y="5303520"/>
            <a:ext cx="16413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Event notifications</a:t>
            </a:r>
            <a:endParaRPr b="0" i="0" sz="1050" u="none" cap="none" strike="noStrike">
              <a:solidFill>
                <a:schemeClr val="dk1"/>
              </a:solidFill>
              <a:latin typeface="Calibri"/>
              <a:ea typeface="Calibri"/>
              <a:cs typeface="Calibri"/>
              <a:sym typeface="Calibri"/>
            </a:endParaRPr>
          </a:p>
        </p:txBody>
      </p:sp>
      <p:sp>
        <p:nvSpPr>
          <p:cNvPr id="792" name="Google Shape;792;p25"/>
          <p:cNvSpPr/>
          <p:nvPr/>
        </p:nvSpPr>
        <p:spPr>
          <a:xfrm>
            <a:off x="502920" y="5897880"/>
            <a:ext cx="11155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1" lang="en-US" sz="1300" u="none" cap="none" strike="noStrike">
                <a:solidFill>
                  <a:srgbClr val="94A3B8"/>
                </a:solidFill>
                <a:latin typeface="Calibri"/>
                <a:ea typeface="Calibri"/>
                <a:cs typeface="Calibri"/>
                <a:sym typeface="Calibri"/>
              </a:rPr>
              <a:t>Event notifications → “when an object lands, trigger a Lambda” — remember this for Part 8.</a:t>
            </a:r>
            <a:endParaRPr b="0" i="0" sz="1300" u="none" cap="none" strike="noStrike">
              <a:solidFill>
                <a:schemeClr val="dk1"/>
              </a:solidFill>
              <a:latin typeface="Calibri"/>
              <a:ea typeface="Calibri"/>
              <a:cs typeface="Calibri"/>
              <a:sym typeface="Calibri"/>
            </a:endParaRPr>
          </a:p>
        </p:txBody>
      </p:sp>
      <p:sp>
        <p:nvSpPr>
          <p:cNvPr id="793" name="Google Shape;793;p25"/>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794" name="Google Shape;794;p25"/>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Buckets &amp; keys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99" name="Shape 799"/>
        <p:cNvGrpSpPr/>
        <p:nvPr/>
      </p:nvGrpSpPr>
      <p:grpSpPr>
        <a:xfrm>
          <a:off x="0" y="0"/>
          <a:ext cx="0" cy="0"/>
          <a:chOff x="0" y="0"/>
          <a:chExt cx="0" cy="0"/>
        </a:xfrm>
      </p:grpSpPr>
      <p:sp>
        <p:nvSpPr>
          <p:cNvPr id="800" name="Google Shape;800;p26"/>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S3 · COST</a:t>
            </a:r>
            <a:endParaRPr b="0" i="0" sz="1200" u="none" cap="none" strike="noStrike">
              <a:solidFill>
                <a:schemeClr val="dk1"/>
              </a:solidFill>
              <a:latin typeface="Calibri"/>
              <a:ea typeface="Calibri"/>
              <a:cs typeface="Calibri"/>
              <a:sym typeface="Calibri"/>
            </a:endParaRPr>
          </a:p>
        </p:txBody>
      </p:sp>
      <p:sp>
        <p:nvSpPr>
          <p:cNvPr id="801" name="Google Shape;801;p26"/>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Storage classes: the temperature scale</a:t>
            </a:r>
            <a:endParaRPr b="0" i="0" sz="3000" u="none" cap="none" strike="noStrike">
              <a:solidFill>
                <a:schemeClr val="dk1"/>
              </a:solidFill>
              <a:latin typeface="Calibri"/>
              <a:ea typeface="Calibri"/>
              <a:cs typeface="Calibri"/>
              <a:sym typeface="Calibri"/>
            </a:endParaRPr>
          </a:p>
        </p:txBody>
      </p:sp>
      <p:sp>
        <p:nvSpPr>
          <p:cNvPr id="802" name="Google Shape;802;p26"/>
          <p:cNvSpPr/>
          <p:nvPr/>
        </p:nvSpPr>
        <p:spPr>
          <a:xfrm>
            <a:off x="502920" y="1463040"/>
            <a:ext cx="11183112" cy="841248"/>
          </a:xfrm>
          <a:prstGeom prst="roundRect">
            <a:avLst>
              <a:gd fmla="val 6522"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6"/>
          <p:cNvSpPr/>
          <p:nvPr/>
        </p:nvSpPr>
        <p:spPr>
          <a:xfrm>
            <a:off x="685800" y="1664208"/>
            <a:ext cx="1005840" cy="438912"/>
          </a:xfrm>
          <a:prstGeom prst="roundRect">
            <a:avLst>
              <a:gd fmla="val 50000" name="adj"/>
            </a:avLst>
          </a:prstGeom>
          <a:solidFill>
            <a:srgbClr val="0F172A"/>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6"/>
          <p:cNvSpPr/>
          <p:nvPr/>
        </p:nvSpPr>
        <p:spPr>
          <a:xfrm>
            <a:off x="685800" y="1664208"/>
            <a:ext cx="10058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97316"/>
              </a:buClr>
              <a:buSzPts val="1050"/>
              <a:buFont typeface="Courier New"/>
              <a:buNone/>
            </a:pPr>
            <a:r>
              <a:rPr b="1" i="0" lang="en-US" sz="1050" u="none" cap="none" strike="noStrike">
                <a:solidFill>
                  <a:srgbClr val="F97316"/>
                </a:solidFill>
                <a:latin typeface="Courier New"/>
                <a:ea typeface="Courier New"/>
                <a:cs typeface="Courier New"/>
                <a:sym typeface="Courier New"/>
              </a:rPr>
              <a:t>Hot</a:t>
            </a:r>
            <a:endParaRPr b="0" i="0" sz="1050" u="none" cap="none" strike="noStrike">
              <a:solidFill>
                <a:schemeClr val="dk1"/>
              </a:solidFill>
              <a:latin typeface="Calibri"/>
              <a:ea typeface="Calibri"/>
              <a:cs typeface="Calibri"/>
              <a:sym typeface="Calibri"/>
            </a:endParaRPr>
          </a:p>
        </p:txBody>
      </p:sp>
      <p:sp>
        <p:nvSpPr>
          <p:cNvPr id="805" name="Google Shape;805;p26"/>
          <p:cNvSpPr/>
          <p:nvPr/>
        </p:nvSpPr>
        <p:spPr>
          <a:xfrm>
            <a:off x="1920240" y="1536192"/>
            <a:ext cx="3291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Standard</a:t>
            </a:r>
            <a:endParaRPr b="0" i="0" sz="1350" u="none" cap="none" strike="noStrike">
              <a:solidFill>
                <a:schemeClr val="dk1"/>
              </a:solidFill>
              <a:latin typeface="Calibri"/>
              <a:ea typeface="Calibri"/>
              <a:cs typeface="Calibri"/>
              <a:sym typeface="Calibri"/>
            </a:endParaRPr>
          </a:p>
        </p:txBody>
      </p:sp>
      <p:sp>
        <p:nvSpPr>
          <p:cNvPr id="806" name="Google Shape;806;p26"/>
          <p:cNvSpPr/>
          <p:nvPr/>
        </p:nvSpPr>
        <p:spPr>
          <a:xfrm>
            <a:off x="1920240" y="1920240"/>
            <a:ext cx="5394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Millisecond access, no retrieval fee</a:t>
            </a:r>
            <a:endParaRPr b="0" i="0" sz="1050" u="none" cap="none" strike="noStrike">
              <a:solidFill>
                <a:schemeClr val="dk1"/>
              </a:solidFill>
              <a:latin typeface="Calibri"/>
              <a:ea typeface="Calibri"/>
              <a:cs typeface="Calibri"/>
              <a:sym typeface="Calibri"/>
            </a:endParaRPr>
          </a:p>
        </p:txBody>
      </p:sp>
      <p:sp>
        <p:nvSpPr>
          <p:cNvPr id="807" name="Google Shape;807;p26"/>
          <p:cNvSpPr/>
          <p:nvPr/>
        </p:nvSpPr>
        <p:spPr>
          <a:xfrm>
            <a:off x="7406640" y="1463040"/>
            <a:ext cx="30175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alibri"/>
              <a:buNone/>
            </a:pPr>
            <a:r>
              <a:rPr b="0" i="1" lang="en-US" sz="1050" u="none" cap="none" strike="noStrike">
                <a:solidFill>
                  <a:srgbClr val="E2E8F0"/>
                </a:solidFill>
                <a:latin typeface="Calibri"/>
                <a:ea typeface="Calibri"/>
                <a:cs typeface="Calibri"/>
                <a:sym typeface="Calibri"/>
              </a:rPr>
              <a:t>Active assets, websites</a:t>
            </a:r>
            <a:endParaRPr b="0" i="0" sz="1050" u="none" cap="none" strike="noStrike">
              <a:solidFill>
                <a:schemeClr val="dk1"/>
              </a:solidFill>
              <a:latin typeface="Calibri"/>
              <a:ea typeface="Calibri"/>
              <a:cs typeface="Calibri"/>
              <a:sym typeface="Calibri"/>
            </a:endParaRPr>
          </a:p>
        </p:txBody>
      </p:sp>
      <p:sp>
        <p:nvSpPr>
          <p:cNvPr id="808" name="Google Shape;808;p26"/>
          <p:cNvSpPr/>
          <p:nvPr/>
        </p:nvSpPr>
        <p:spPr>
          <a:xfrm>
            <a:off x="10515600" y="1463040"/>
            <a:ext cx="100584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97316"/>
              </a:buClr>
              <a:buSzPts val="1800"/>
              <a:buFont typeface="Bookman Old Style"/>
              <a:buNone/>
            </a:pPr>
            <a:r>
              <a:rPr b="1" i="0" lang="en-US" sz="1800" u="none" cap="none" strike="noStrike">
                <a:solidFill>
                  <a:srgbClr val="F97316"/>
                </a:solidFill>
                <a:latin typeface="Bookman Old Style"/>
                <a:ea typeface="Bookman Old Style"/>
                <a:cs typeface="Bookman Old Style"/>
                <a:sym typeface="Bookman Old Style"/>
              </a:rPr>
              <a:t>$$$</a:t>
            </a:r>
            <a:endParaRPr b="0" i="0" sz="1800" u="none" cap="none" strike="noStrike">
              <a:solidFill>
                <a:schemeClr val="dk1"/>
              </a:solidFill>
              <a:latin typeface="Calibri"/>
              <a:ea typeface="Calibri"/>
              <a:cs typeface="Calibri"/>
              <a:sym typeface="Calibri"/>
            </a:endParaRPr>
          </a:p>
        </p:txBody>
      </p:sp>
      <p:sp>
        <p:nvSpPr>
          <p:cNvPr id="809" name="Google Shape;809;p26"/>
          <p:cNvSpPr/>
          <p:nvPr/>
        </p:nvSpPr>
        <p:spPr>
          <a:xfrm>
            <a:off x="502920" y="2414016"/>
            <a:ext cx="11183112" cy="841248"/>
          </a:xfrm>
          <a:prstGeom prst="roundRect">
            <a:avLst>
              <a:gd fmla="val 6522"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6"/>
          <p:cNvSpPr/>
          <p:nvPr/>
        </p:nvSpPr>
        <p:spPr>
          <a:xfrm>
            <a:off x="685800" y="2615184"/>
            <a:ext cx="1005840" cy="438912"/>
          </a:xfrm>
          <a:prstGeom prst="roundRect">
            <a:avLst>
              <a:gd fmla="val 50000" name="adj"/>
            </a:avLst>
          </a:prstGeom>
          <a:solidFill>
            <a:srgbClr val="0F172A"/>
          </a:solidFill>
          <a:ln cap="flat" cmpd="sng" w="12700">
            <a:solidFill>
              <a:srgbClr val="FBBF2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6"/>
          <p:cNvSpPr/>
          <p:nvPr/>
        </p:nvSpPr>
        <p:spPr>
          <a:xfrm>
            <a:off x="685800" y="2615184"/>
            <a:ext cx="10058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050"/>
              <a:buFont typeface="Courier New"/>
              <a:buNone/>
            </a:pPr>
            <a:r>
              <a:rPr b="1" i="0" lang="en-US" sz="1050" u="none" cap="none" strike="noStrike">
                <a:solidFill>
                  <a:srgbClr val="FBBF24"/>
                </a:solidFill>
                <a:latin typeface="Courier New"/>
                <a:ea typeface="Courier New"/>
                <a:cs typeface="Courier New"/>
                <a:sym typeface="Courier New"/>
              </a:rPr>
              <a:t>Warm</a:t>
            </a:r>
            <a:endParaRPr b="0" i="0" sz="1050" u="none" cap="none" strike="noStrike">
              <a:solidFill>
                <a:schemeClr val="dk1"/>
              </a:solidFill>
              <a:latin typeface="Calibri"/>
              <a:ea typeface="Calibri"/>
              <a:cs typeface="Calibri"/>
              <a:sym typeface="Calibri"/>
            </a:endParaRPr>
          </a:p>
        </p:txBody>
      </p:sp>
      <p:sp>
        <p:nvSpPr>
          <p:cNvPr id="812" name="Google Shape;812;p26"/>
          <p:cNvSpPr/>
          <p:nvPr/>
        </p:nvSpPr>
        <p:spPr>
          <a:xfrm>
            <a:off x="1920240" y="2487168"/>
            <a:ext cx="3291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Standard-IA</a:t>
            </a:r>
            <a:endParaRPr b="0" i="0" sz="1350" u="none" cap="none" strike="noStrike">
              <a:solidFill>
                <a:schemeClr val="dk1"/>
              </a:solidFill>
              <a:latin typeface="Calibri"/>
              <a:ea typeface="Calibri"/>
              <a:cs typeface="Calibri"/>
              <a:sym typeface="Calibri"/>
            </a:endParaRPr>
          </a:p>
        </p:txBody>
      </p:sp>
      <p:sp>
        <p:nvSpPr>
          <p:cNvPr id="813" name="Google Shape;813;p26"/>
          <p:cNvSpPr/>
          <p:nvPr/>
        </p:nvSpPr>
        <p:spPr>
          <a:xfrm>
            <a:off x="1920240" y="2871216"/>
            <a:ext cx="5394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Same speed, cheaper storage, per-GB retrieval fee</a:t>
            </a:r>
            <a:endParaRPr b="0" i="0" sz="1050" u="none" cap="none" strike="noStrike">
              <a:solidFill>
                <a:schemeClr val="dk1"/>
              </a:solidFill>
              <a:latin typeface="Calibri"/>
              <a:ea typeface="Calibri"/>
              <a:cs typeface="Calibri"/>
              <a:sym typeface="Calibri"/>
            </a:endParaRPr>
          </a:p>
        </p:txBody>
      </p:sp>
      <p:sp>
        <p:nvSpPr>
          <p:cNvPr id="814" name="Google Shape;814;p26"/>
          <p:cNvSpPr/>
          <p:nvPr/>
        </p:nvSpPr>
        <p:spPr>
          <a:xfrm>
            <a:off x="7406640" y="2414016"/>
            <a:ext cx="30175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alibri"/>
              <a:buNone/>
            </a:pPr>
            <a:r>
              <a:rPr b="0" i="1" lang="en-US" sz="1050" u="none" cap="none" strike="noStrike">
                <a:solidFill>
                  <a:srgbClr val="E2E8F0"/>
                </a:solidFill>
                <a:latin typeface="Calibri"/>
                <a:ea typeface="Calibri"/>
                <a:cs typeface="Calibri"/>
                <a:sym typeface="Calibri"/>
              </a:rPr>
              <a:t>Backups you rarely read</a:t>
            </a:r>
            <a:endParaRPr b="0" i="0" sz="1050" u="none" cap="none" strike="noStrike">
              <a:solidFill>
                <a:schemeClr val="dk1"/>
              </a:solidFill>
              <a:latin typeface="Calibri"/>
              <a:ea typeface="Calibri"/>
              <a:cs typeface="Calibri"/>
              <a:sym typeface="Calibri"/>
            </a:endParaRPr>
          </a:p>
        </p:txBody>
      </p:sp>
      <p:sp>
        <p:nvSpPr>
          <p:cNvPr id="815" name="Google Shape;815;p26"/>
          <p:cNvSpPr/>
          <p:nvPr/>
        </p:nvSpPr>
        <p:spPr>
          <a:xfrm>
            <a:off x="10515600" y="2414016"/>
            <a:ext cx="100584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800"/>
              <a:buFont typeface="Bookman Old Style"/>
              <a:buNone/>
            </a:pPr>
            <a:r>
              <a:rPr b="1" i="0" lang="en-US" sz="1800" u="none" cap="none" strike="noStrike">
                <a:solidFill>
                  <a:srgbClr val="FBBF24"/>
                </a:solidFill>
                <a:latin typeface="Bookman Old Style"/>
                <a:ea typeface="Bookman Old Style"/>
                <a:cs typeface="Bookman Old Style"/>
                <a:sym typeface="Bookman Old Style"/>
              </a:rPr>
              <a:t>$$</a:t>
            </a:r>
            <a:endParaRPr b="0" i="0" sz="1800" u="none" cap="none" strike="noStrike">
              <a:solidFill>
                <a:schemeClr val="dk1"/>
              </a:solidFill>
              <a:latin typeface="Calibri"/>
              <a:ea typeface="Calibri"/>
              <a:cs typeface="Calibri"/>
              <a:sym typeface="Calibri"/>
            </a:endParaRPr>
          </a:p>
        </p:txBody>
      </p:sp>
      <p:sp>
        <p:nvSpPr>
          <p:cNvPr id="816" name="Google Shape;816;p26"/>
          <p:cNvSpPr/>
          <p:nvPr/>
        </p:nvSpPr>
        <p:spPr>
          <a:xfrm>
            <a:off x="502920" y="3364992"/>
            <a:ext cx="11183112" cy="841248"/>
          </a:xfrm>
          <a:prstGeom prst="roundRect">
            <a:avLst>
              <a:gd fmla="val 6522"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6"/>
          <p:cNvSpPr/>
          <p:nvPr/>
        </p:nvSpPr>
        <p:spPr>
          <a:xfrm>
            <a:off x="685800" y="3566160"/>
            <a:ext cx="1005840" cy="438912"/>
          </a:xfrm>
          <a:prstGeom prst="roundRect">
            <a:avLst>
              <a:gd fmla="val 50000"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6"/>
          <p:cNvSpPr/>
          <p:nvPr/>
        </p:nvSpPr>
        <p:spPr>
          <a:xfrm>
            <a:off x="685800" y="3566160"/>
            <a:ext cx="10058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050"/>
              <a:buFont typeface="Courier New"/>
              <a:buNone/>
            </a:pPr>
            <a:r>
              <a:rPr b="1" i="0" lang="en-US" sz="1050" u="none" cap="none" strike="noStrike">
                <a:solidFill>
                  <a:srgbClr val="2DD4BF"/>
                </a:solidFill>
                <a:latin typeface="Courier New"/>
                <a:ea typeface="Courier New"/>
                <a:cs typeface="Courier New"/>
                <a:sym typeface="Courier New"/>
              </a:rPr>
              <a:t>Cold</a:t>
            </a:r>
            <a:endParaRPr b="0" i="0" sz="1050" u="none" cap="none" strike="noStrike">
              <a:solidFill>
                <a:schemeClr val="dk1"/>
              </a:solidFill>
              <a:latin typeface="Calibri"/>
              <a:ea typeface="Calibri"/>
              <a:cs typeface="Calibri"/>
              <a:sym typeface="Calibri"/>
            </a:endParaRPr>
          </a:p>
        </p:txBody>
      </p:sp>
      <p:sp>
        <p:nvSpPr>
          <p:cNvPr id="819" name="Google Shape;819;p26"/>
          <p:cNvSpPr/>
          <p:nvPr/>
        </p:nvSpPr>
        <p:spPr>
          <a:xfrm>
            <a:off x="1920240" y="3438144"/>
            <a:ext cx="3291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Glacier Instant / Flexible</a:t>
            </a:r>
            <a:endParaRPr b="0" i="0" sz="1350" u="none" cap="none" strike="noStrike">
              <a:solidFill>
                <a:schemeClr val="dk1"/>
              </a:solidFill>
              <a:latin typeface="Calibri"/>
              <a:ea typeface="Calibri"/>
              <a:cs typeface="Calibri"/>
              <a:sym typeface="Calibri"/>
            </a:endParaRPr>
          </a:p>
        </p:txBody>
      </p:sp>
      <p:sp>
        <p:nvSpPr>
          <p:cNvPr id="820" name="Google Shape;820;p26"/>
          <p:cNvSpPr/>
          <p:nvPr/>
        </p:nvSpPr>
        <p:spPr>
          <a:xfrm>
            <a:off x="1920240" y="3822192"/>
            <a:ext cx="5394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Cheap storage; Flexible takes minutes–hours to restore</a:t>
            </a:r>
            <a:endParaRPr b="0" i="0" sz="1050" u="none" cap="none" strike="noStrike">
              <a:solidFill>
                <a:schemeClr val="dk1"/>
              </a:solidFill>
              <a:latin typeface="Calibri"/>
              <a:ea typeface="Calibri"/>
              <a:cs typeface="Calibri"/>
              <a:sym typeface="Calibri"/>
            </a:endParaRPr>
          </a:p>
        </p:txBody>
      </p:sp>
      <p:sp>
        <p:nvSpPr>
          <p:cNvPr id="821" name="Google Shape;821;p26"/>
          <p:cNvSpPr/>
          <p:nvPr/>
        </p:nvSpPr>
        <p:spPr>
          <a:xfrm>
            <a:off x="7406640" y="3364992"/>
            <a:ext cx="30175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alibri"/>
              <a:buNone/>
            </a:pPr>
            <a:r>
              <a:rPr b="0" i="1" lang="en-US" sz="1050" u="none" cap="none" strike="noStrike">
                <a:solidFill>
                  <a:srgbClr val="E2E8F0"/>
                </a:solidFill>
                <a:latin typeface="Calibri"/>
                <a:ea typeface="Calibri"/>
                <a:cs typeface="Calibri"/>
                <a:sym typeface="Calibri"/>
              </a:rPr>
              <a:t>Compliance archives</a:t>
            </a:r>
            <a:endParaRPr b="0" i="0" sz="1050" u="none" cap="none" strike="noStrike">
              <a:solidFill>
                <a:schemeClr val="dk1"/>
              </a:solidFill>
              <a:latin typeface="Calibri"/>
              <a:ea typeface="Calibri"/>
              <a:cs typeface="Calibri"/>
              <a:sym typeface="Calibri"/>
            </a:endParaRPr>
          </a:p>
        </p:txBody>
      </p:sp>
      <p:sp>
        <p:nvSpPr>
          <p:cNvPr id="822" name="Google Shape;822;p26"/>
          <p:cNvSpPr/>
          <p:nvPr/>
        </p:nvSpPr>
        <p:spPr>
          <a:xfrm>
            <a:off x="10515600" y="3364992"/>
            <a:ext cx="100584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800"/>
              <a:buFont typeface="Bookman Old Style"/>
              <a:buNone/>
            </a:pPr>
            <a:r>
              <a:rPr b="1" i="0" lang="en-US" sz="1800" u="none" cap="none" strike="noStrike">
                <a:solidFill>
                  <a:srgbClr val="2DD4BF"/>
                </a:solidFill>
                <a:latin typeface="Bookman Old Style"/>
                <a:ea typeface="Bookman Old Style"/>
                <a:cs typeface="Bookman Old Style"/>
                <a:sym typeface="Bookman Old Style"/>
              </a:rPr>
              <a:t>$</a:t>
            </a:r>
            <a:endParaRPr b="0" i="0" sz="1800" u="none" cap="none" strike="noStrike">
              <a:solidFill>
                <a:schemeClr val="dk1"/>
              </a:solidFill>
              <a:latin typeface="Calibri"/>
              <a:ea typeface="Calibri"/>
              <a:cs typeface="Calibri"/>
              <a:sym typeface="Calibri"/>
            </a:endParaRPr>
          </a:p>
        </p:txBody>
      </p:sp>
      <p:sp>
        <p:nvSpPr>
          <p:cNvPr id="823" name="Google Shape;823;p26"/>
          <p:cNvSpPr/>
          <p:nvPr/>
        </p:nvSpPr>
        <p:spPr>
          <a:xfrm>
            <a:off x="502920" y="4315968"/>
            <a:ext cx="11183112" cy="841248"/>
          </a:xfrm>
          <a:prstGeom prst="roundRect">
            <a:avLst>
              <a:gd fmla="val 6522"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6"/>
          <p:cNvSpPr/>
          <p:nvPr/>
        </p:nvSpPr>
        <p:spPr>
          <a:xfrm>
            <a:off x="685800" y="4517136"/>
            <a:ext cx="1005840" cy="438912"/>
          </a:xfrm>
          <a:prstGeom prst="roundRect">
            <a:avLst>
              <a:gd fmla="val 50000" name="adj"/>
            </a:avLst>
          </a:prstGeom>
          <a:solidFill>
            <a:srgbClr val="0F172A"/>
          </a:solidFill>
          <a:ln cap="flat" cmpd="sng" w="12700">
            <a:solidFill>
              <a:srgbClr val="326C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6"/>
          <p:cNvSpPr/>
          <p:nvPr/>
        </p:nvSpPr>
        <p:spPr>
          <a:xfrm>
            <a:off x="685800" y="4517136"/>
            <a:ext cx="10058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26CE5"/>
              </a:buClr>
              <a:buSzPts val="1050"/>
              <a:buFont typeface="Courier New"/>
              <a:buNone/>
            </a:pPr>
            <a:r>
              <a:rPr b="1" i="0" lang="en-US" sz="1050" u="none" cap="none" strike="noStrike">
                <a:solidFill>
                  <a:srgbClr val="326CE5"/>
                </a:solidFill>
                <a:latin typeface="Courier New"/>
                <a:ea typeface="Courier New"/>
                <a:cs typeface="Courier New"/>
                <a:sym typeface="Courier New"/>
              </a:rPr>
              <a:t>Frozen</a:t>
            </a:r>
            <a:endParaRPr b="0" i="0" sz="1050" u="none" cap="none" strike="noStrike">
              <a:solidFill>
                <a:schemeClr val="dk1"/>
              </a:solidFill>
              <a:latin typeface="Calibri"/>
              <a:ea typeface="Calibri"/>
              <a:cs typeface="Calibri"/>
              <a:sym typeface="Calibri"/>
            </a:endParaRPr>
          </a:p>
        </p:txBody>
      </p:sp>
      <p:sp>
        <p:nvSpPr>
          <p:cNvPr id="826" name="Google Shape;826;p26"/>
          <p:cNvSpPr/>
          <p:nvPr/>
        </p:nvSpPr>
        <p:spPr>
          <a:xfrm>
            <a:off x="1920240" y="4389120"/>
            <a:ext cx="32918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Glacier Deep Archive</a:t>
            </a:r>
            <a:endParaRPr b="0" i="0" sz="1350" u="none" cap="none" strike="noStrike">
              <a:solidFill>
                <a:schemeClr val="dk1"/>
              </a:solidFill>
              <a:latin typeface="Calibri"/>
              <a:ea typeface="Calibri"/>
              <a:cs typeface="Calibri"/>
              <a:sym typeface="Calibri"/>
            </a:endParaRPr>
          </a:p>
        </p:txBody>
      </p:sp>
      <p:sp>
        <p:nvSpPr>
          <p:cNvPr id="827" name="Google Shape;827;p26"/>
          <p:cNvSpPr/>
          <p:nvPr/>
        </p:nvSpPr>
        <p:spPr>
          <a:xfrm>
            <a:off x="1920240" y="4773168"/>
            <a:ext cx="5394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Calibri"/>
              <a:buNone/>
            </a:pPr>
            <a:r>
              <a:rPr b="0" i="0" lang="en-US" sz="1050" u="none" cap="none" strike="noStrike">
                <a:solidFill>
                  <a:srgbClr val="94A3B8"/>
                </a:solidFill>
                <a:latin typeface="Calibri"/>
                <a:ea typeface="Calibri"/>
                <a:cs typeface="Calibri"/>
                <a:sym typeface="Calibri"/>
              </a:rPr>
              <a:t>Cheapest bytes in AWS; ~12 h restore</a:t>
            </a:r>
            <a:endParaRPr b="0" i="0" sz="1050" u="none" cap="none" strike="noStrike">
              <a:solidFill>
                <a:schemeClr val="dk1"/>
              </a:solidFill>
              <a:latin typeface="Calibri"/>
              <a:ea typeface="Calibri"/>
              <a:cs typeface="Calibri"/>
              <a:sym typeface="Calibri"/>
            </a:endParaRPr>
          </a:p>
        </p:txBody>
      </p:sp>
      <p:sp>
        <p:nvSpPr>
          <p:cNvPr id="828" name="Google Shape;828;p26"/>
          <p:cNvSpPr/>
          <p:nvPr/>
        </p:nvSpPr>
        <p:spPr>
          <a:xfrm>
            <a:off x="7406640" y="4315968"/>
            <a:ext cx="301752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alibri"/>
              <a:buNone/>
            </a:pPr>
            <a:r>
              <a:rPr b="0" i="1" lang="en-US" sz="1050" u="none" cap="none" strike="noStrike">
                <a:solidFill>
                  <a:srgbClr val="E2E8F0"/>
                </a:solidFill>
                <a:latin typeface="Calibri"/>
                <a:ea typeface="Calibri"/>
                <a:cs typeface="Calibri"/>
                <a:sym typeface="Calibri"/>
              </a:rPr>
              <a:t>“Keep 7 years, hope to never read”</a:t>
            </a:r>
            <a:endParaRPr b="0" i="0" sz="1050" u="none" cap="none" strike="noStrike">
              <a:solidFill>
                <a:schemeClr val="dk1"/>
              </a:solidFill>
              <a:latin typeface="Calibri"/>
              <a:ea typeface="Calibri"/>
              <a:cs typeface="Calibri"/>
              <a:sym typeface="Calibri"/>
            </a:endParaRPr>
          </a:p>
        </p:txBody>
      </p:sp>
      <p:sp>
        <p:nvSpPr>
          <p:cNvPr id="829" name="Google Shape;829;p26"/>
          <p:cNvSpPr/>
          <p:nvPr/>
        </p:nvSpPr>
        <p:spPr>
          <a:xfrm>
            <a:off x="10515600" y="4315968"/>
            <a:ext cx="100584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26CE5"/>
              </a:buClr>
              <a:buSzPts val="1800"/>
              <a:buFont typeface="Bookman Old Style"/>
              <a:buNone/>
            </a:pPr>
            <a:r>
              <a:rPr b="1" i="0" lang="en-US" sz="1800" u="none" cap="none" strike="noStrike">
                <a:solidFill>
                  <a:srgbClr val="326CE5"/>
                </a:solidFill>
                <a:latin typeface="Bookman Old Style"/>
                <a:ea typeface="Bookman Old Style"/>
                <a:cs typeface="Bookman Old Style"/>
                <a:sym typeface="Bookman Old Style"/>
              </a:rPr>
              <a:t>¢</a:t>
            </a:r>
            <a:endParaRPr b="0" i="0" sz="1800" u="none" cap="none" strike="noStrike">
              <a:solidFill>
                <a:schemeClr val="dk1"/>
              </a:solidFill>
              <a:latin typeface="Calibri"/>
              <a:ea typeface="Calibri"/>
              <a:cs typeface="Calibri"/>
              <a:sym typeface="Calibri"/>
            </a:endParaRPr>
          </a:p>
        </p:txBody>
      </p:sp>
      <p:sp>
        <p:nvSpPr>
          <p:cNvPr id="830" name="Google Shape;830;p26"/>
          <p:cNvSpPr/>
          <p:nvPr/>
        </p:nvSpPr>
        <p:spPr>
          <a:xfrm>
            <a:off x="502920" y="5394960"/>
            <a:ext cx="11183112" cy="868680"/>
          </a:xfrm>
          <a:prstGeom prst="roundRect">
            <a:avLst>
              <a:gd fmla="val 8421"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31" name="Google Shape;831;p26"/>
          <p:cNvPicPr preferRelativeResize="0"/>
          <p:nvPr/>
        </p:nvPicPr>
        <p:blipFill rotWithShape="1">
          <a:blip r:embed="rId3">
            <a:alphaModFix/>
          </a:blip>
          <a:srcRect b="0" l="0" r="0" t="0"/>
          <a:stretch/>
        </p:blipFill>
        <p:spPr>
          <a:xfrm>
            <a:off x="704088" y="5682996"/>
            <a:ext cx="292608" cy="292608"/>
          </a:xfrm>
          <a:prstGeom prst="rect">
            <a:avLst/>
          </a:prstGeom>
          <a:noFill/>
          <a:ln>
            <a:noFill/>
          </a:ln>
        </p:spPr>
      </p:pic>
      <p:sp>
        <p:nvSpPr>
          <p:cNvPr id="832" name="Google Shape;832;p26"/>
          <p:cNvSpPr/>
          <p:nvPr/>
        </p:nvSpPr>
        <p:spPr>
          <a:xfrm>
            <a:off x="1143000" y="5486400"/>
            <a:ext cx="10341864"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Don't choose manually — write a lifecycle rule: “after 30 days → IA, after 90 → Glacier, after 365 → delete.” Or enable Intelligent-Tiering and let S3 watch access patterns for you.</a:t>
            </a:r>
            <a:endParaRPr b="0" i="0" sz="1300" u="none" cap="none" strike="noStrike">
              <a:solidFill>
                <a:schemeClr val="dk1"/>
              </a:solidFill>
              <a:latin typeface="Calibri"/>
              <a:ea typeface="Calibri"/>
              <a:cs typeface="Calibri"/>
              <a:sym typeface="Calibri"/>
            </a:endParaRPr>
          </a:p>
        </p:txBody>
      </p:sp>
      <p:sp>
        <p:nvSpPr>
          <p:cNvPr id="833" name="Google Shape;833;p26"/>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834" name="Google Shape;834;p26"/>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Storage classes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9" name="Shape 839"/>
        <p:cNvGrpSpPr/>
        <p:nvPr/>
      </p:nvGrpSpPr>
      <p:grpSpPr>
        <a:xfrm>
          <a:off x="0" y="0"/>
          <a:ext cx="0" cy="0"/>
          <a:chOff x="0" y="0"/>
          <a:chExt cx="0" cy="0"/>
        </a:xfrm>
      </p:grpSpPr>
      <p:sp>
        <p:nvSpPr>
          <p:cNvPr id="840" name="Google Shape;840;p27"/>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S3 · HANDS-ON</a:t>
            </a:r>
            <a:endParaRPr b="0" i="0" sz="1200" u="none" cap="none" strike="noStrike">
              <a:solidFill>
                <a:schemeClr val="dk1"/>
              </a:solidFill>
              <a:latin typeface="Calibri"/>
              <a:ea typeface="Calibri"/>
              <a:cs typeface="Calibri"/>
              <a:sym typeface="Calibri"/>
            </a:endParaRPr>
          </a:p>
        </p:txBody>
      </p:sp>
      <p:sp>
        <p:nvSpPr>
          <p:cNvPr id="841" name="Google Shape;841;p27"/>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The everyday S3 muscle memory</a:t>
            </a:r>
            <a:endParaRPr b="0" i="0" sz="3000" u="none" cap="none" strike="noStrike">
              <a:solidFill>
                <a:schemeClr val="dk1"/>
              </a:solidFill>
              <a:latin typeface="Calibri"/>
              <a:ea typeface="Calibri"/>
              <a:cs typeface="Calibri"/>
              <a:sym typeface="Calibri"/>
            </a:endParaRPr>
          </a:p>
        </p:txBody>
      </p:sp>
      <p:sp>
        <p:nvSpPr>
          <p:cNvPr id="842" name="Google Shape;842;p27"/>
          <p:cNvSpPr/>
          <p:nvPr/>
        </p:nvSpPr>
        <p:spPr>
          <a:xfrm>
            <a:off x="502920" y="1417320"/>
            <a:ext cx="6949440" cy="4480560"/>
          </a:xfrm>
          <a:prstGeom prst="roundRect">
            <a:avLst>
              <a:gd fmla="val 1633"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7"/>
          <p:cNvSpPr/>
          <p:nvPr/>
        </p:nvSpPr>
        <p:spPr>
          <a:xfrm>
            <a:off x="704088" y="154533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7"/>
          <p:cNvSpPr/>
          <p:nvPr/>
        </p:nvSpPr>
        <p:spPr>
          <a:xfrm>
            <a:off x="886968" y="154533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7"/>
          <p:cNvSpPr/>
          <p:nvPr/>
        </p:nvSpPr>
        <p:spPr>
          <a:xfrm>
            <a:off x="1069848" y="154533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7"/>
          <p:cNvSpPr/>
          <p:nvPr/>
        </p:nvSpPr>
        <p:spPr>
          <a:xfrm>
            <a:off x="1280160" y="1472184"/>
            <a:ext cx="6035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bash — aws-cli</a:t>
            </a:r>
            <a:endParaRPr b="0" i="0" sz="1000" u="none" cap="none" strike="noStrike">
              <a:solidFill>
                <a:schemeClr val="dk1"/>
              </a:solidFill>
              <a:latin typeface="Calibri"/>
              <a:ea typeface="Calibri"/>
              <a:cs typeface="Calibri"/>
              <a:sym typeface="Calibri"/>
            </a:endParaRPr>
          </a:p>
        </p:txBody>
      </p:sp>
      <p:sp>
        <p:nvSpPr>
          <p:cNvPr id="847" name="Google Shape;847;p27"/>
          <p:cNvSpPr/>
          <p:nvPr/>
        </p:nvSpPr>
        <p:spPr>
          <a:xfrm>
            <a:off x="704088" y="1801368"/>
            <a:ext cx="6547104" cy="3977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s3 mb s3://sagyam-bootcamp-assets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100"/>
              <a:buFont typeface="Courier New"/>
              <a:buNone/>
            </a:pPr>
            <a:r>
              <a:rPr b="0" i="0" lang="en-US" sz="1100" u="none" cap="none" strike="noStrike">
                <a:solidFill>
                  <a:srgbClr val="94A3B8"/>
                </a:solidFill>
                <a:latin typeface="Courier New"/>
                <a:ea typeface="Courier New"/>
                <a:cs typeface="Courier New"/>
                <a:sym typeface="Courier New"/>
              </a:rPr>
              <a:t>make_bucket: sagyam-bootcamp-assets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s3 cp logo.svg s3://sagyam-bootcamp-assets/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s3 cp s3://sagyam-bootcamp-assets/logo.svg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s3 sync ./site s3://sagyam-bootcamp-assets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--delete          # rsync for the cloud</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s3 ls s3://sagyam-bootcamp-assets/backups/</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100"/>
              <a:buFont typeface="Courier New"/>
              <a:buNone/>
            </a:pPr>
            <a:r>
              <a:rPr b="0" i="0" lang="en-US" sz="1100" u="none" cap="none" strike="noStrike">
                <a:solidFill>
                  <a:srgbClr val="94A3B8"/>
                </a:solidFill>
                <a:latin typeface="Courier New"/>
                <a:ea typeface="Courier New"/>
                <a:cs typeface="Courier New"/>
                <a:sym typeface="Courier New"/>
              </a:rPr>
              <a:t>2026-07-20 02:00:14   48213 db.sql.gz</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100"/>
              <a:buFont typeface="Courier New"/>
              <a:buNone/>
            </a:pPr>
            <a:r>
              <a:rPr b="0" i="0" lang="en-US" sz="1100" u="none" cap="none" strike="noStrike">
                <a:solidFill>
                  <a:srgbClr val="4ADE80"/>
                </a:solidFill>
                <a:latin typeface="Courier New"/>
                <a:ea typeface="Courier New"/>
                <a:cs typeface="Courier New"/>
                <a:sym typeface="Courier New"/>
              </a:rPr>
              <a:t>$ aws s3 presign s3://sagyam-bootcamp-assets/report.pdf \</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100"/>
              <a:buFont typeface="Courier New"/>
              <a:buNone/>
            </a:pPr>
            <a:r>
              <a:rPr b="0" i="0" lang="en-US" sz="1100" u="none" cap="none" strike="noStrike">
                <a:solidFill>
                  <a:srgbClr val="E2E8F0"/>
                </a:solidFill>
                <a:latin typeface="Courier New"/>
                <a:ea typeface="Courier New"/>
                <a:cs typeface="Courier New"/>
                <a:sym typeface="Courier New"/>
              </a:rPr>
              <a:t>    --expires-in 3600</a:t>
            </a:r>
            <a:endParaRPr b="0" i="0" sz="11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BBF24"/>
              </a:buClr>
              <a:buSzPts val="1100"/>
              <a:buFont typeface="Courier New"/>
              <a:buNone/>
            </a:pPr>
            <a:r>
              <a:rPr b="0" i="0" lang="en-US" sz="1100" u="none" cap="none" strike="noStrike">
                <a:solidFill>
                  <a:srgbClr val="FBBF24"/>
                </a:solidFill>
                <a:latin typeface="Courier New"/>
                <a:ea typeface="Courier New"/>
                <a:cs typeface="Courier New"/>
                <a:sym typeface="Courier New"/>
              </a:rPr>
              <a:t>https://…?X-Amz-Signature=…   # valid 1 hour</a:t>
            </a:r>
            <a:endParaRPr b="0" i="0" sz="1100" u="none" cap="none" strike="noStrike">
              <a:solidFill>
                <a:schemeClr val="dk1"/>
              </a:solidFill>
              <a:latin typeface="Calibri"/>
              <a:ea typeface="Calibri"/>
              <a:cs typeface="Calibri"/>
              <a:sym typeface="Calibri"/>
            </a:endParaRPr>
          </a:p>
        </p:txBody>
      </p:sp>
      <p:sp>
        <p:nvSpPr>
          <p:cNvPr id="848" name="Google Shape;848;p27"/>
          <p:cNvSpPr/>
          <p:nvPr/>
        </p:nvSpPr>
        <p:spPr>
          <a:xfrm>
            <a:off x="7635240" y="1417320"/>
            <a:ext cx="4050792" cy="1298448"/>
          </a:xfrm>
          <a:prstGeom prst="roundRect">
            <a:avLst>
              <a:gd fmla="val 563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7"/>
          <p:cNvSpPr/>
          <p:nvPr/>
        </p:nvSpPr>
        <p:spPr>
          <a:xfrm>
            <a:off x="7818120" y="1527048"/>
            <a:ext cx="3703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50"/>
              <a:buFont typeface="Courier New"/>
              <a:buNone/>
            </a:pPr>
            <a:r>
              <a:rPr b="1" i="0" lang="en-US" sz="1250" u="none" cap="none" strike="noStrike">
                <a:solidFill>
                  <a:srgbClr val="FF9900"/>
                </a:solidFill>
                <a:latin typeface="Courier New"/>
                <a:ea typeface="Courier New"/>
                <a:cs typeface="Courier New"/>
                <a:sym typeface="Courier New"/>
              </a:rPr>
              <a:t>cp / sync</a:t>
            </a:r>
            <a:endParaRPr b="0" i="0" sz="1250" u="none" cap="none" strike="noStrike">
              <a:solidFill>
                <a:schemeClr val="dk1"/>
              </a:solidFill>
              <a:latin typeface="Calibri"/>
              <a:ea typeface="Calibri"/>
              <a:cs typeface="Calibri"/>
              <a:sym typeface="Calibri"/>
            </a:endParaRPr>
          </a:p>
        </p:txBody>
      </p:sp>
      <p:sp>
        <p:nvSpPr>
          <p:cNvPr id="850" name="Google Shape;850;p27"/>
          <p:cNvSpPr/>
          <p:nvPr/>
        </p:nvSpPr>
        <p:spPr>
          <a:xfrm>
            <a:off x="7818120" y="1911096"/>
            <a:ext cx="3703320" cy="75895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sync is incremental like rsync from the Linux module — the workhorse for deploys &amp; backups.</a:t>
            </a:r>
            <a:endParaRPr b="0" i="0" sz="1050" u="none" cap="none" strike="noStrike">
              <a:solidFill>
                <a:schemeClr val="dk1"/>
              </a:solidFill>
              <a:latin typeface="Calibri"/>
              <a:ea typeface="Calibri"/>
              <a:cs typeface="Calibri"/>
              <a:sym typeface="Calibri"/>
            </a:endParaRPr>
          </a:p>
        </p:txBody>
      </p:sp>
      <p:sp>
        <p:nvSpPr>
          <p:cNvPr id="851" name="Google Shape;851;p27"/>
          <p:cNvSpPr/>
          <p:nvPr/>
        </p:nvSpPr>
        <p:spPr>
          <a:xfrm>
            <a:off x="7635240" y="2880360"/>
            <a:ext cx="4050792" cy="1298448"/>
          </a:xfrm>
          <a:prstGeom prst="roundRect">
            <a:avLst>
              <a:gd fmla="val 563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7"/>
          <p:cNvSpPr/>
          <p:nvPr/>
        </p:nvSpPr>
        <p:spPr>
          <a:xfrm>
            <a:off x="7818120" y="2990088"/>
            <a:ext cx="3703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50"/>
              <a:buFont typeface="Courier New"/>
              <a:buNone/>
            </a:pPr>
            <a:r>
              <a:rPr b="1" i="0" lang="en-US" sz="1250" u="none" cap="none" strike="noStrike">
                <a:solidFill>
                  <a:srgbClr val="FF9900"/>
                </a:solidFill>
                <a:latin typeface="Courier New"/>
                <a:ea typeface="Courier New"/>
                <a:cs typeface="Courier New"/>
                <a:sym typeface="Courier New"/>
              </a:rPr>
              <a:t>s3 vs s3api</a:t>
            </a:r>
            <a:endParaRPr b="0" i="0" sz="1250" u="none" cap="none" strike="noStrike">
              <a:solidFill>
                <a:schemeClr val="dk1"/>
              </a:solidFill>
              <a:latin typeface="Calibri"/>
              <a:ea typeface="Calibri"/>
              <a:cs typeface="Calibri"/>
              <a:sym typeface="Calibri"/>
            </a:endParaRPr>
          </a:p>
        </p:txBody>
      </p:sp>
      <p:sp>
        <p:nvSpPr>
          <p:cNvPr id="853" name="Google Shape;853;p27"/>
          <p:cNvSpPr/>
          <p:nvPr/>
        </p:nvSpPr>
        <p:spPr>
          <a:xfrm>
            <a:off x="7818120" y="3374136"/>
            <a:ext cx="3703320" cy="75895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aws s3 = friendly porcelain. aws s3api = raw plumbing, every option (bucket policies, versions).</a:t>
            </a:r>
            <a:endParaRPr b="0" i="0" sz="1050" u="none" cap="none" strike="noStrike">
              <a:solidFill>
                <a:schemeClr val="dk1"/>
              </a:solidFill>
              <a:latin typeface="Calibri"/>
              <a:ea typeface="Calibri"/>
              <a:cs typeface="Calibri"/>
              <a:sym typeface="Calibri"/>
            </a:endParaRPr>
          </a:p>
        </p:txBody>
      </p:sp>
      <p:sp>
        <p:nvSpPr>
          <p:cNvPr id="854" name="Google Shape;854;p27"/>
          <p:cNvSpPr/>
          <p:nvPr/>
        </p:nvSpPr>
        <p:spPr>
          <a:xfrm>
            <a:off x="7635240" y="4343400"/>
            <a:ext cx="4050792" cy="1298448"/>
          </a:xfrm>
          <a:prstGeom prst="roundRect">
            <a:avLst>
              <a:gd fmla="val 5634"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7"/>
          <p:cNvSpPr/>
          <p:nvPr/>
        </p:nvSpPr>
        <p:spPr>
          <a:xfrm>
            <a:off x="7818120" y="4453128"/>
            <a:ext cx="3703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50"/>
              <a:buFont typeface="Courier New"/>
              <a:buNone/>
            </a:pPr>
            <a:r>
              <a:rPr b="1" i="0" lang="en-US" sz="1250" u="none" cap="none" strike="noStrike">
                <a:solidFill>
                  <a:srgbClr val="FF9900"/>
                </a:solidFill>
                <a:latin typeface="Courier New"/>
                <a:ea typeface="Courier New"/>
                <a:cs typeface="Courier New"/>
                <a:sym typeface="Courier New"/>
              </a:rPr>
              <a:t>presign</a:t>
            </a:r>
            <a:endParaRPr b="0" i="0" sz="1250" u="none" cap="none" strike="noStrike">
              <a:solidFill>
                <a:schemeClr val="dk1"/>
              </a:solidFill>
              <a:latin typeface="Calibri"/>
              <a:ea typeface="Calibri"/>
              <a:cs typeface="Calibri"/>
              <a:sym typeface="Calibri"/>
            </a:endParaRPr>
          </a:p>
        </p:txBody>
      </p:sp>
      <p:sp>
        <p:nvSpPr>
          <p:cNvPr id="856" name="Google Shape;856;p27"/>
          <p:cNvSpPr/>
          <p:nvPr/>
        </p:nvSpPr>
        <p:spPr>
          <a:xfrm>
            <a:off x="7818120" y="4837176"/>
            <a:ext cx="3703320" cy="75895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Time-boxed HTTPS access to a private object. No IAM needed by the receiver.</a:t>
            </a:r>
            <a:endParaRPr b="0" i="0" sz="1050" u="none" cap="none" strike="noStrike">
              <a:solidFill>
                <a:schemeClr val="dk1"/>
              </a:solidFill>
              <a:latin typeface="Calibri"/>
              <a:ea typeface="Calibri"/>
              <a:cs typeface="Calibri"/>
              <a:sym typeface="Calibri"/>
            </a:endParaRPr>
          </a:p>
        </p:txBody>
      </p:sp>
      <p:sp>
        <p:nvSpPr>
          <p:cNvPr id="857" name="Google Shape;857;p27"/>
          <p:cNvSpPr/>
          <p:nvPr/>
        </p:nvSpPr>
        <p:spPr>
          <a:xfrm>
            <a:off x="502920" y="6035040"/>
            <a:ext cx="11183112" cy="566928"/>
          </a:xfrm>
          <a:prstGeom prst="roundRect">
            <a:avLst>
              <a:gd fmla="val 12903"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58" name="Google Shape;858;p27"/>
          <p:cNvPicPr preferRelativeResize="0"/>
          <p:nvPr/>
        </p:nvPicPr>
        <p:blipFill rotWithShape="1">
          <a:blip r:embed="rId3">
            <a:alphaModFix/>
          </a:blip>
          <a:srcRect b="0" l="0" r="0" t="0"/>
          <a:stretch/>
        </p:blipFill>
        <p:spPr>
          <a:xfrm>
            <a:off x="704088" y="6172200"/>
            <a:ext cx="292608" cy="292608"/>
          </a:xfrm>
          <a:prstGeom prst="rect">
            <a:avLst/>
          </a:prstGeom>
          <a:noFill/>
          <a:ln>
            <a:noFill/>
          </a:ln>
        </p:spPr>
      </p:pic>
      <p:sp>
        <p:nvSpPr>
          <p:cNvPr id="859" name="Google Shape;859;p27"/>
          <p:cNvSpPr/>
          <p:nvPr/>
        </p:nvSpPr>
        <p:spPr>
          <a:xfrm>
            <a:off x="1143000" y="6126480"/>
            <a:ext cx="10341864" cy="3840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Block Public Access stays ON unless you're hosting a website on purpose. “Accidentally public bucket” is the most cliché breach in cloud history.</a:t>
            </a:r>
            <a:endParaRPr b="0" i="0" sz="1200" u="none" cap="none" strike="noStrike">
              <a:solidFill>
                <a:schemeClr val="dk1"/>
              </a:solidFill>
              <a:latin typeface="Calibri"/>
              <a:ea typeface="Calibri"/>
              <a:cs typeface="Calibri"/>
              <a:sym typeface="Calibri"/>
            </a:endParaRPr>
          </a:p>
        </p:txBody>
      </p:sp>
      <p:sp>
        <p:nvSpPr>
          <p:cNvPr id="860" name="Google Shape;860;p27"/>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861" name="Google Shape;861;p27"/>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S3 · CLI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66" name="Shape 866"/>
        <p:cNvGrpSpPr/>
        <p:nvPr/>
      </p:nvGrpSpPr>
      <p:grpSpPr>
        <a:xfrm>
          <a:off x="0" y="0"/>
          <a:ext cx="0" cy="0"/>
          <a:chOff x="0" y="0"/>
          <a:chExt cx="0" cy="0"/>
        </a:xfrm>
      </p:grpSpPr>
      <p:sp>
        <p:nvSpPr>
          <p:cNvPr id="867" name="Google Shape;867;p28"/>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500"/>
              <a:buFont typeface="Courier New"/>
              <a:buNone/>
            </a:pPr>
            <a:r>
              <a:rPr b="1" i="0" lang="en-US" sz="1500" u="none" cap="none" strike="noStrike">
                <a:solidFill>
                  <a:srgbClr val="FF9900"/>
                </a:solidFill>
                <a:latin typeface="Courier New"/>
                <a:ea typeface="Courier New"/>
                <a:cs typeface="Courier New"/>
                <a:sym typeface="Courier New"/>
              </a:rPr>
              <a:t>PART 5</a:t>
            </a:r>
            <a:endParaRPr b="0" i="0" sz="1500" u="none" cap="none" strike="noStrike">
              <a:solidFill>
                <a:schemeClr val="dk1"/>
              </a:solidFill>
              <a:latin typeface="Calibri"/>
              <a:ea typeface="Calibri"/>
              <a:cs typeface="Calibri"/>
              <a:sym typeface="Calibri"/>
            </a:endParaRPr>
          </a:p>
        </p:txBody>
      </p:sp>
      <p:sp>
        <p:nvSpPr>
          <p:cNvPr id="868" name="Google Shape;868;p28"/>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ECR</a:t>
            </a:r>
            <a:endParaRPr b="0" i="0" sz="4400" u="none" cap="none" strike="noStrike">
              <a:solidFill>
                <a:schemeClr val="dk1"/>
              </a:solidFill>
              <a:latin typeface="Calibri"/>
              <a:ea typeface="Calibri"/>
              <a:cs typeface="Calibri"/>
              <a:sym typeface="Calibri"/>
            </a:endParaRPr>
          </a:p>
        </p:txBody>
      </p:sp>
      <p:sp>
        <p:nvSpPr>
          <p:cNvPr id="869" name="Google Shape;869;p28"/>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Elastic Container Registry — a private, IAM-guarded home</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for the images you've been building since the Docker module.</a:t>
            </a:r>
            <a:endParaRPr b="0" i="0" sz="1600" u="none" cap="none" strike="noStrike">
              <a:solidFill>
                <a:schemeClr val="dk1"/>
              </a:solidFill>
              <a:latin typeface="Calibri"/>
              <a:ea typeface="Calibri"/>
              <a:cs typeface="Calibri"/>
              <a:sym typeface="Calibri"/>
            </a:endParaRPr>
          </a:p>
        </p:txBody>
      </p:sp>
      <p:sp>
        <p:nvSpPr>
          <p:cNvPr id="870" name="Google Shape;870;p28"/>
          <p:cNvSpPr/>
          <p:nvPr/>
        </p:nvSpPr>
        <p:spPr>
          <a:xfrm>
            <a:off x="8778240" y="1965960"/>
            <a:ext cx="2468880" cy="2468880"/>
          </a:xfrm>
          <a:prstGeom prst="ellipse">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1" name="Google Shape;871;p28"/>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872" name="Google Shape;872;p28"/>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873" name="Google Shape;873;p28"/>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78" name="Shape 878"/>
        <p:cNvGrpSpPr/>
        <p:nvPr/>
      </p:nvGrpSpPr>
      <p:grpSpPr>
        <a:xfrm>
          <a:off x="0" y="0"/>
          <a:ext cx="0" cy="0"/>
          <a:chOff x="0" y="0"/>
          <a:chExt cx="0" cy="0"/>
        </a:xfrm>
      </p:grpSpPr>
      <p:sp>
        <p:nvSpPr>
          <p:cNvPr id="879" name="Google Shape;879;p29"/>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ECR · THE IDEA</a:t>
            </a:r>
            <a:endParaRPr b="0" i="0" sz="1200" u="none" cap="none" strike="noStrike">
              <a:solidFill>
                <a:schemeClr val="dk1"/>
              </a:solidFill>
              <a:latin typeface="Calibri"/>
              <a:ea typeface="Calibri"/>
              <a:cs typeface="Calibri"/>
              <a:sym typeface="Calibri"/>
            </a:endParaRPr>
          </a:p>
        </p:txBody>
      </p:sp>
      <p:sp>
        <p:nvSpPr>
          <p:cNvPr id="880" name="Google Shape;880;p29"/>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A registry that speaks IAM</a:t>
            </a:r>
            <a:endParaRPr b="0" i="0" sz="3000" u="none" cap="none" strike="noStrike">
              <a:solidFill>
                <a:schemeClr val="dk1"/>
              </a:solidFill>
              <a:latin typeface="Calibri"/>
              <a:ea typeface="Calibri"/>
              <a:cs typeface="Calibri"/>
              <a:sym typeface="Calibri"/>
            </a:endParaRPr>
          </a:p>
        </p:txBody>
      </p:sp>
      <p:sp>
        <p:nvSpPr>
          <p:cNvPr id="881" name="Google Shape;881;p29"/>
          <p:cNvSpPr/>
          <p:nvPr/>
        </p:nvSpPr>
        <p:spPr>
          <a:xfrm>
            <a:off x="502920" y="1325880"/>
            <a:ext cx="11183112" cy="777240"/>
          </a:xfrm>
          <a:prstGeom prst="roundRect">
            <a:avLst>
              <a:gd fmla="val 9412"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2" name="Google Shape;882;p29"/>
          <p:cNvPicPr preferRelativeResize="0"/>
          <p:nvPr/>
        </p:nvPicPr>
        <p:blipFill rotWithShape="1">
          <a:blip r:embed="rId3">
            <a:alphaModFix/>
          </a:blip>
          <a:srcRect b="0" l="0" r="0" t="0"/>
          <a:stretch/>
        </p:blipFill>
        <p:spPr>
          <a:xfrm>
            <a:off x="704088" y="1568196"/>
            <a:ext cx="292608" cy="292608"/>
          </a:xfrm>
          <a:prstGeom prst="rect">
            <a:avLst/>
          </a:prstGeom>
          <a:noFill/>
          <a:ln>
            <a:noFill/>
          </a:ln>
        </p:spPr>
      </p:pic>
      <p:sp>
        <p:nvSpPr>
          <p:cNvPr id="883" name="Google Shape;883;p29"/>
          <p:cNvSpPr/>
          <p:nvPr/>
        </p:nvSpPr>
        <p:spPr>
          <a:xfrm>
            <a:off x="1143000" y="1417320"/>
            <a:ext cx="10341864"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50"/>
              <a:buFont typeface="Calibri"/>
              <a:buNone/>
            </a:pPr>
            <a:r>
              <a:rPr b="0" i="0" lang="en-US" sz="1350" u="none" cap="none" strike="noStrike">
                <a:solidFill>
                  <a:srgbClr val="E2E8F0"/>
                </a:solidFill>
                <a:latin typeface="Calibri"/>
                <a:ea typeface="Calibri"/>
                <a:cs typeface="Calibri"/>
                <a:sym typeface="Calibri"/>
              </a:rPr>
              <a:t>Docker Hub free tier: rate limits, public by default, and a password shared across your team. Production needs a registry inside your cloud, guarded by the same IAM you use for everything else, close to where images are pulled.</a:t>
            </a:r>
            <a:endParaRPr b="0" i="0" sz="1350" u="none" cap="none" strike="noStrike">
              <a:solidFill>
                <a:schemeClr val="dk1"/>
              </a:solidFill>
              <a:latin typeface="Calibri"/>
              <a:ea typeface="Calibri"/>
              <a:cs typeface="Calibri"/>
              <a:sym typeface="Calibri"/>
            </a:endParaRPr>
          </a:p>
        </p:txBody>
      </p:sp>
      <p:sp>
        <p:nvSpPr>
          <p:cNvPr id="884" name="Google Shape;884;p29"/>
          <p:cNvSpPr/>
          <p:nvPr/>
        </p:nvSpPr>
        <p:spPr>
          <a:xfrm>
            <a:off x="685800" y="1947672"/>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50"/>
              <a:buFont typeface="Bookman Old Style"/>
              <a:buNone/>
            </a:pPr>
            <a:r>
              <a:rPr b="1" i="0" lang="en-US" sz="1250" u="none" cap="none" strike="noStrike">
                <a:solidFill>
                  <a:srgbClr val="94A3B8"/>
                </a:solidFill>
                <a:latin typeface="Bookman Old Style"/>
                <a:ea typeface="Bookman Old Style"/>
                <a:cs typeface="Bookman Old Style"/>
                <a:sym typeface="Bookman Old Style"/>
              </a:rPr>
              <a:t>Concept</a:t>
            </a:r>
            <a:endParaRPr b="0" i="0" sz="1250" u="none" cap="none" strike="noStrike">
              <a:solidFill>
                <a:schemeClr val="dk1"/>
              </a:solidFill>
              <a:latin typeface="Calibri"/>
              <a:ea typeface="Calibri"/>
              <a:cs typeface="Calibri"/>
              <a:sym typeface="Calibri"/>
            </a:endParaRPr>
          </a:p>
        </p:txBody>
      </p:sp>
      <p:sp>
        <p:nvSpPr>
          <p:cNvPr id="885" name="Google Shape;885;p29"/>
          <p:cNvSpPr/>
          <p:nvPr/>
        </p:nvSpPr>
        <p:spPr>
          <a:xfrm>
            <a:off x="3063240" y="1947672"/>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50"/>
              <a:buFont typeface="Bookman Old Style"/>
              <a:buNone/>
            </a:pPr>
            <a:r>
              <a:rPr b="1" i="0" lang="en-US" sz="1250" u="none" cap="none" strike="noStrike">
                <a:solidFill>
                  <a:srgbClr val="2DD4BF"/>
                </a:solidFill>
                <a:latin typeface="Bookman Old Style"/>
                <a:ea typeface="Bookman Old Style"/>
                <a:cs typeface="Bookman Old Style"/>
                <a:sym typeface="Bookman Old Style"/>
              </a:rPr>
              <a:t>You already know…</a:t>
            </a:r>
            <a:endParaRPr b="0" i="0" sz="1250" u="none" cap="none" strike="noStrike">
              <a:solidFill>
                <a:schemeClr val="dk1"/>
              </a:solidFill>
              <a:latin typeface="Calibri"/>
              <a:ea typeface="Calibri"/>
              <a:cs typeface="Calibri"/>
              <a:sym typeface="Calibri"/>
            </a:endParaRPr>
          </a:p>
        </p:txBody>
      </p:sp>
      <p:sp>
        <p:nvSpPr>
          <p:cNvPr id="886" name="Google Shape;886;p29"/>
          <p:cNvSpPr/>
          <p:nvPr/>
        </p:nvSpPr>
        <p:spPr>
          <a:xfrm>
            <a:off x="6903720" y="1947672"/>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50"/>
              <a:buFont typeface="Bookman Old Style"/>
              <a:buNone/>
            </a:pPr>
            <a:r>
              <a:rPr b="1" i="0" lang="en-US" sz="1250" u="none" cap="none" strike="noStrike">
                <a:solidFill>
                  <a:srgbClr val="FF9900"/>
                </a:solidFill>
                <a:latin typeface="Bookman Old Style"/>
                <a:ea typeface="Bookman Old Style"/>
                <a:cs typeface="Bookman Old Style"/>
                <a:sym typeface="Bookman Old Style"/>
              </a:rPr>
              <a:t>On ECR</a:t>
            </a:r>
            <a:endParaRPr b="0" i="0" sz="1250" u="none" cap="none" strike="noStrike">
              <a:solidFill>
                <a:schemeClr val="dk1"/>
              </a:solidFill>
              <a:latin typeface="Calibri"/>
              <a:ea typeface="Calibri"/>
              <a:cs typeface="Calibri"/>
              <a:sym typeface="Calibri"/>
            </a:endParaRPr>
          </a:p>
        </p:txBody>
      </p:sp>
      <p:sp>
        <p:nvSpPr>
          <p:cNvPr id="887" name="Google Shape;887;p29"/>
          <p:cNvSpPr/>
          <p:nvPr/>
        </p:nvSpPr>
        <p:spPr>
          <a:xfrm>
            <a:off x="502920" y="2331720"/>
            <a:ext cx="11183112" cy="621792"/>
          </a:xfrm>
          <a:prstGeom prst="roundRect">
            <a:avLst>
              <a:gd fmla="val 7353"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9"/>
          <p:cNvSpPr/>
          <p:nvPr/>
        </p:nvSpPr>
        <p:spPr>
          <a:xfrm>
            <a:off x="685800" y="2331720"/>
            <a:ext cx="22860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50"/>
              <a:buFont typeface="Bookman Old Style"/>
              <a:buNone/>
            </a:pPr>
            <a:r>
              <a:rPr b="1" i="0" lang="en-US" sz="1150" u="none" cap="none" strike="noStrike">
                <a:solidFill>
                  <a:srgbClr val="F8FAFC"/>
                </a:solidFill>
                <a:latin typeface="Bookman Old Style"/>
                <a:ea typeface="Bookman Old Style"/>
                <a:cs typeface="Bookman Old Style"/>
                <a:sym typeface="Bookman Old Style"/>
              </a:rPr>
              <a:t>Registry host</a:t>
            </a:r>
            <a:endParaRPr b="0" i="0" sz="1150" u="none" cap="none" strike="noStrike">
              <a:solidFill>
                <a:schemeClr val="dk1"/>
              </a:solidFill>
              <a:latin typeface="Calibri"/>
              <a:ea typeface="Calibri"/>
              <a:cs typeface="Calibri"/>
              <a:sym typeface="Calibri"/>
            </a:endParaRPr>
          </a:p>
        </p:txBody>
      </p:sp>
      <p:sp>
        <p:nvSpPr>
          <p:cNvPr id="889" name="Google Shape;889;p29"/>
          <p:cNvSpPr/>
          <p:nvPr/>
        </p:nvSpPr>
        <p:spPr>
          <a:xfrm>
            <a:off x="3063240" y="2331720"/>
            <a:ext cx="37033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docker.io / harbor.local</a:t>
            </a:r>
            <a:endParaRPr b="0" i="0" sz="1000" u="none" cap="none" strike="noStrike">
              <a:solidFill>
                <a:schemeClr val="dk1"/>
              </a:solidFill>
              <a:latin typeface="Calibri"/>
              <a:ea typeface="Calibri"/>
              <a:cs typeface="Calibri"/>
              <a:sym typeface="Calibri"/>
            </a:endParaRPr>
          </a:p>
        </p:txBody>
      </p:sp>
      <p:sp>
        <p:nvSpPr>
          <p:cNvPr id="890" name="Google Shape;890;p29"/>
          <p:cNvSpPr/>
          <p:nvPr/>
        </p:nvSpPr>
        <p:spPr>
          <a:xfrm>
            <a:off x="6903720" y="2331720"/>
            <a:ext cx="46634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123456789.dkr.ecr.ap-south-1.amazonaws.com</a:t>
            </a:r>
            <a:endParaRPr b="0" i="0" sz="1000" u="none" cap="none" strike="noStrike">
              <a:solidFill>
                <a:schemeClr val="dk1"/>
              </a:solidFill>
              <a:latin typeface="Calibri"/>
              <a:ea typeface="Calibri"/>
              <a:cs typeface="Calibri"/>
              <a:sym typeface="Calibri"/>
            </a:endParaRPr>
          </a:p>
        </p:txBody>
      </p:sp>
      <p:sp>
        <p:nvSpPr>
          <p:cNvPr id="891" name="Google Shape;891;p29"/>
          <p:cNvSpPr/>
          <p:nvPr/>
        </p:nvSpPr>
        <p:spPr>
          <a:xfrm>
            <a:off x="502920" y="3044952"/>
            <a:ext cx="11183112" cy="621792"/>
          </a:xfrm>
          <a:prstGeom prst="roundRect">
            <a:avLst>
              <a:gd fmla="val 7353"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9"/>
          <p:cNvSpPr/>
          <p:nvPr/>
        </p:nvSpPr>
        <p:spPr>
          <a:xfrm>
            <a:off x="685800" y="3044952"/>
            <a:ext cx="22860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50"/>
              <a:buFont typeface="Bookman Old Style"/>
              <a:buNone/>
            </a:pPr>
            <a:r>
              <a:rPr b="1" i="0" lang="en-US" sz="1150" u="none" cap="none" strike="noStrike">
                <a:solidFill>
                  <a:srgbClr val="F8FAFC"/>
                </a:solidFill>
                <a:latin typeface="Bookman Old Style"/>
                <a:ea typeface="Bookman Old Style"/>
                <a:cs typeface="Bookman Old Style"/>
                <a:sym typeface="Bookman Old Style"/>
              </a:rPr>
              <a:t>Repository</a:t>
            </a:r>
            <a:endParaRPr b="0" i="0" sz="1150" u="none" cap="none" strike="noStrike">
              <a:solidFill>
                <a:schemeClr val="dk1"/>
              </a:solidFill>
              <a:latin typeface="Calibri"/>
              <a:ea typeface="Calibri"/>
              <a:cs typeface="Calibri"/>
              <a:sym typeface="Calibri"/>
            </a:endParaRPr>
          </a:p>
        </p:txBody>
      </p:sp>
      <p:sp>
        <p:nvSpPr>
          <p:cNvPr id="893" name="Google Shape;893;p29"/>
          <p:cNvSpPr/>
          <p:nvPr/>
        </p:nvSpPr>
        <p:spPr>
          <a:xfrm>
            <a:off x="3063240" y="3044952"/>
            <a:ext cx="37033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sagyam/shortlink-api</a:t>
            </a:r>
            <a:endParaRPr b="0" i="0" sz="1000" u="none" cap="none" strike="noStrike">
              <a:solidFill>
                <a:schemeClr val="dk1"/>
              </a:solidFill>
              <a:latin typeface="Calibri"/>
              <a:ea typeface="Calibri"/>
              <a:cs typeface="Calibri"/>
              <a:sym typeface="Calibri"/>
            </a:endParaRPr>
          </a:p>
        </p:txBody>
      </p:sp>
      <p:sp>
        <p:nvSpPr>
          <p:cNvPr id="894" name="Google Shape;894;p29"/>
          <p:cNvSpPr/>
          <p:nvPr/>
        </p:nvSpPr>
        <p:spPr>
          <a:xfrm>
            <a:off x="6903720" y="3044952"/>
            <a:ext cx="46634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shortlink-api  (one repo per image name)</a:t>
            </a:r>
            <a:endParaRPr b="0" i="0" sz="1000" u="none" cap="none" strike="noStrike">
              <a:solidFill>
                <a:schemeClr val="dk1"/>
              </a:solidFill>
              <a:latin typeface="Calibri"/>
              <a:ea typeface="Calibri"/>
              <a:cs typeface="Calibri"/>
              <a:sym typeface="Calibri"/>
            </a:endParaRPr>
          </a:p>
        </p:txBody>
      </p:sp>
      <p:sp>
        <p:nvSpPr>
          <p:cNvPr id="895" name="Google Shape;895;p29"/>
          <p:cNvSpPr/>
          <p:nvPr/>
        </p:nvSpPr>
        <p:spPr>
          <a:xfrm>
            <a:off x="502920" y="3758184"/>
            <a:ext cx="11183112" cy="621792"/>
          </a:xfrm>
          <a:prstGeom prst="roundRect">
            <a:avLst>
              <a:gd fmla="val 7353"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9"/>
          <p:cNvSpPr/>
          <p:nvPr/>
        </p:nvSpPr>
        <p:spPr>
          <a:xfrm>
            <a:off x="685800" y="3758184"/>
            <a:ext cx="22860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50"/>
              <a:buFont typeface="Bookman Old Style"/>
              <a:buNone/>
            </a:pPr>
            <a:r>
              <a:rPr b="1" i="0" lang="en-US" sz="1150" u="none" cap="none" strike="noStrike">
                <a:solidFill>
                  <a:srgbClr val="F8FAFC"/>
                </a:solidFill>
                <a:latin typeface="Bookman Old Style"/>
                <a:ea typeface="Bookman Old Style"/>
                <a:cs typeface="Bookman Old Style"/>
                <a:sym typeface="Bookman Old Style"/>
              </a:rPr>
              <a:t>Auth</a:t>
            </a:r>
            <a:endParaRPr b="0" i="0" sz="1150" u="none" cap="none" strike="noStrike">
              <a:solidFill>
                <a:schemeClr val="dk1"/>
              </a:solidFill>
              <a:latin typeface="Calibri"/>
              <a:ea typeface="Calibri"/>
              <a:cs typeface="Calibri"/>
              <a:sym typeface="Calibri"/>
            </a:endParaRPr>
          </a:p>
        </p:txBody>
      </p:sp>
      <p:sp>
        <p:nvSpPr>
          <p:cNvPr id="897" name="Google Shape;897;p29"/>
          <p:cNvSpPr/>
          <p:nvPr/>
        </p:nvSpPr>
        <p:spPr>
          <a:xfrm>
            <a:off x="3063240" y="3758184"/>
            <a:ext cx="37033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docker login + password</a:t>
            </a:r>
            <a:endParaRPr b="0" i="0" sz="1000" u="none" cap="none" strike="noStrike">
              <a:solidFill>
                <a:schemeClr val="dk1"/>
              </a:solidFill>
              <a:latin typeface="Calibri"/>
              <a:ea typeface="Calibri"/>
              <a:cs typeface="Calibri"/>
              <a:sym typeface="Calibri"/>
            </a:endParaRPr>
          </a:p>
        </p:txBody>
      </p:sp>
      <p:sp>
        <p:nvSpPr>
          <p:cNvPr id="898" name="Google Shape;898;p29"/>
          <p:cNvSpPr/>
          <p:nvPr/>
        </p:nvSpPr>
        <p:spPr>
          <a:xfrm>
            <a:off x="6903720" y="3758184"/>
            <a:ext cx="46634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aws ecr get-login-password → 12 h token via IAM</a:t>
            </a:r>
            <a:endParaRPr b="0" i="0" sz="1000" u="none" cap="none" strike="noStrike">
              <a:solidFill>
                <a:schemeClr val="dk1"/>
              </a:solidFill>
              <a:latin typeface="Calibri"/>
              <a:ea typeface="Calibri"/>
              <a:cs typeface="Calibri"/>
              <a:sym typeface="Calibri"/>
            </a:endParaRPr>
          </a:p>
        </p:txBody>
      </p:sp>
      <p:sp>
        <p:nvSpPr>
          <p:cNvPr id="899" name="Google Shape;899;p29"/>
          <p:cNvSpPr/>
          <p:nvPr/>
        </p:nvSpPr>
        <p:spPr>
          <a:xfrm>
            <a:off x="502920" y="4471416"/>
            <a:ext cx="11183112" cy="621792"/>
          </a:xfrm>
          <a:prstGeom prst="roundRect">
            <a:avLst>
              <a:gd fmla="val 7353"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9"/>
          <p:cNvSpPr/>
          <p:nvPr/>
        </p:nvSpPr>
        <p:spPr>
          <a:xfrm>
            <a:off x="685800" y="4471416"/>
            <a:ext cx="22860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50"/>
              <a:buFont typeface="Bookman Old Style"/>
              <a:buNone/>
            </a:pPr>
            <a:r>
              <a:rPr b="1" i="0" lang="en-US" sz="1150" u="none" cap="none" strike="noStrike">
                <a:solidFill>
                  <a:srgbClr val="F8FAFC"/>
                </a:solidFill>
                <a:latin typeface="Bookman Old Style"/>
                <a:ea typeface="Bookman Old Style"/>
                <a:cs typeface="Bookman Old Style"/>
                <a:sym typeface="Bookman Old Style"/>
              </a:rPr>
              <a:t>Who can pull?</a:t>
            </a:r>
            <a:endParaRPr b="0" i="0" sz="1150" u="none" cap="none" strike="noStrike">
              <a:solidFill>
                <a:schemeClr val="dk1"/>
              </a:solidFill>
              <a:latin typeface="Calibri"/>
              <a:ea typeface="Calibri"/>
              <a:cs typeface="Calibri"/>
              <a:sym typeface="Calibri"/>
            </a:endParaRPr>
          </a:p>
        </p:txBody>
      </p:sp>
      <p:sp>
        <p:nvSpPr>
          <p:cNvPr id="901" name="Google Shape;901;p29"/>
          <p:cNvSpPr/>
          <p:nvPr/>
        </p:nvSpPr>
        <p:spPr>
          <a:xfrm>
            <a:off x="3063240" y="4471416"/>
            <a:ext cx="37033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Public / robot accounts</a:t>
            </a:r>
            <a:endParaRPr b="0" i="0" sz="1000" u="none" cap="none" strike="noStrike">
              <a:solidFill>
                <a:schemeClr val="dk1"/>
              </a:solidFill>
              <a:latin typeface="Calibri"/>
              <a:ea typeface="Calibri"/>
              <a:cs typeface="Calibri"/>
              <a:sym typeface="Calibri"/>
            </a:endParaRPr>
          </a:p>
        </p:txBody>
      </p:sp>
      <p:sp>
        <p:nvSpPr>
          <p:cNvPr id="902" name="Google Shape;902;p29"/>
          <p:cNvSpPr/>
          <p:nvPr/>
        </p:nvSpPr>
        <p:spPr>
          <a:xfrm>
            <a:off x="6903720" y="4471416"/>
            <a:ext cx="46634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IAM policies — your EKS nodes' role, your CI role</a:t>
            </a:r>
            <a:endParaRPr b="0" i="0" sz="1000" u="none" cap="none" strike="noStrike">
              <a:solidFill>
                <a:schemeClr val="dk1"/>
              </a:solidFill>
              <a:latin typeface="Calibri"/>
              <a:ea typeface="Calibri"/>
              <a:cs typeface="Calibri"/>
              <a:sym typeface="Calibri"/>
            </a:endParaRPr>
          </a:p>
        </p:txBody>
      </p:sp>
      <p:sp>
        <p:nvSpPr>
          <p:cNvPr id="903" name="Google Shape;903;p29"/>
          <p:cNvSpPr/>
          <p:nvPr/>
        </p:nvSpPr>
        <p:spPr>
          <a:xfrm>
            <a:off x="502920" y="5184648"/>
            <a:ext cx="11183112" cy="621792"/>
          </a:xfrm>
          <a:prstGeom prst="roundRect">
            <a:avLst>
              <a:gd fmla="val 7353"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9"/>
          <p:cNvSpPr/>
          <p:nvPr/>
        </p:nvSpPr>
        <p:spPr>
          <a:xfrm>
            <a:off x="685800" y="5184648"/>
            <a:ext cx="22860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50"/>
              <a:buFont typeface="Bookman Old Style"/>
              <a:buNone/>
            </a:pPr>
            <a:r>
              <a:rPr b="1" i="0" lang="en-US" sz="1150" u="none" cap="none" strike="noStrike">
                <a:solidFill>
                  <a:srgbClr val="F8FAFC"/>
                </a:solidFill>
                <a:latin typeface="Bookman Old Style"/>
                <a:ea typeface="Bookman Old Style"/>
                <a:cs typeface="Bookman Old Style"/>
                <a:sym typeface="Bookman Old Style"/>
              </a:rPr>
              <a:t>Vulnerability scan</a:t>
            </a:r>
            <a:endParaRPr b="0" i="0" sz="1150" u="none" cap="none" strike="noStrike">
              <a:solidFill>
                <a:schemeClr val="dk1"/>
              </a:solidFill>
              <a:latin typeface="Calibri"/>
              <a:ea typeface="Calibri"/>
              <a:cs typeface="Calibri"/>
              <a:sym typeface="Calibri"/>
            </a:endParaRPr>
          </a:p>
        </p:txBody>
      </p:sp>
      <p:sp>
        <p:nvSpPr>
          <p:cNvPr id="905" name="Google Shape;905;p29"/>
          <p:cNvSpPr/>
          <p:nvPr/>
        </p:nvSpPr>
        <p:spPr>
          <a:xfrm>
            <a:off x="3063240" y="5184648"/>
            <a:ext cx="370332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Trivy in Harbor</a:t>
            </a:r>
            <a:endParaRPr b="0" i="0" sz="1000" u="none" cap="none" strike="noStrike">
              <a:solidFill>
                <a:schemeClr val="dk1"/>
              </a:solidFill>
              <a:latin typeface="Calibri"/>
              <a:ea typeface="Calibri"/>
              <a:cs typeface="Calibri"/>
              <a:sym typeface="Calibri"/>
            </a:endParaRPr>
          </a:p>
        </p:txBody>
      </p:sp>
      <p:sp>
        <p:nvSpPr>
          <p:cNvPr id="906" name="Google Shape;906;p29"/>
          <p:cNvSpPr/>
          <p:nvPr/>
        </p:nvSpPr>
        <p:spPr>
          <a:xfrm>
            <a:off x="6903720" y="5184648"/>
            <a:ext cx="466344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Scan-on-push (basic → Clair, enhanced → Inspector)</a:t>
            </a:r>
            <a:endParaRPr b="0" i="0" sz="1000" u="none" cap="none" strike="noStrike">
              <a:solidFill>
                <a:schemeClr val="dk1"/>
              </a:solidFill>
              <a:latin typeface="Calibri"/>
              <a:ea typeface="Calibri"/>
              <a:cs typeface="Calibri"/>
              <a:sym typeface="Calibri"/>
            </a:endParaRPr>
          </a:p>
        </p:txBody>
      </p:sp>
      <p:sp>
        <p:nvSpPr>
          <p:cNvPr id="907" name="Google Shape;907;p29"/>
          <p:cNvSpPr/>
          <p:nvPr/>
        </p:nvSpPr>
        <p:spPr>
          <a:xfrm>
            <a:off x="502920" y="5989320"/>
            <a:ext cx="11155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250"/>
              <a:buFont typeface="Calibri"/>
              <a:buNone/>
            </a:pPr>
            <a:r>
              <a:rPr b="0" i="1" lang="en-US" sz="1250" u="none" cap="none" strike="noStrike">
                <a:solidFill>
                  <a:srgbClr val="94A3B8"/>
                </a:solidFill>
                <a:latin typeface="Calibri"/>
                <a:ea typeface="Calibri"/>
                <a:cs typeface="Calibri"/>
                <a:sym typeface="Calibri"/>
              </a:rPr>
              <a:t>Free tier: 500 MB private storage / month. Pulls from the same region are fast and free of internet egress.</a:t>
            </a:r>
            <a:endParaRPr b="0" i="0" sz="1250" u="none" cap="none" strike="noStrike">
              <a:solidFill>
                <a:schemeClr val="dk1"/>
              </a:solidFill>
              <a:latin typeface="Calibri"/>
              <a:ea typeface="Calibri"/>
              <a:cs typeface="Calibri"/>
              <a:sym typeface="Calibri"/>
            </a:endParaRPr>
          </a:p>
        </p:txBody>
      </p:sp>
      <p:sp>
        <p:nvSpPr>
          <p:cNvPr id="908" name="Google Shape;908;p29"/>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909" name="Google Shape;909;p29"/>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ECR concepts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14" name="Shape 914"/>
        <p:cNvGrpSpPr/>
        <p:nvPr/>
      </p:nvGrpSpPr>
      <p:grpSpPr>
        <a:xfrm>
          <a:off x="0" y="0"/>
          <a:ext cx="0" cy="0"/>
          <a:chOff x="0" y="0"/>
          <a:chExt cx="0" cy="0"/>
        </a:xfrm>
      </p:grpSpPr>
      <p:sp>
        <p:nvSpPr>
          <p:cNvPr id="915" name="Google Shape;915;p30"/>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ECR · HANDS-ON</a:t>
            </a:r>
            <a:endParaRPr b="0" i="0" sz="1200" u="none" cap="none" strike="noStrike">
              <a:solidFill>
                <a:schemeClr val="dk1"/>
              </a:solidFill>
              <a:latin typeface="Calibri"/>
              <a:ea typeface="Calibri"/>
              <a:cs typeface="Calibri"/>
              <a:sym typeface="Calibri"/>
            </a:endParaRPr>
          </a:p>
        </p:txBody>
      </p:sp>
      <p:sp>
        <p:nvSpPr>
          <p:cNvPr id="916" name="Google Shape;916;p30"/>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The push ritual</a:t>
            </a:r>
            <a:endParaRPr b="0" i="0" sz="3000" u="none" cap="none" strike="noStrike">
              <a:solidFill>
                <a:schemeClr val="dk1"/>
              </a:solidFill>
              <a:latin typeface="Calibri"/>
              <a:ea typeface="Calibri"/>
              <a:cs typeface="Calibri"/>
              <a:sym typeface="Calibri"/>
            </a:endParaRPr>
          </a:p>
        </p:txBody>
      </p:sp>
      <p:sp>
        <p:nvSpPr>
          <p:cNvPr id="917" name="Google Shape;917;p30"/>
          <p:cNvSpPr/>
          <p:nvPr/>
        </p:nvSpPr>
        <p:spPr>
          <a:xfrm>
            <a:off x="502920" y="1417320"/>
            <a:ext cx="7223760" cy="4206240"/>
          </a:xfrm>
          <a:prstGeom prst="roundRect">
            <a:avLst>
              <a:gd fmla="val 1739"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0"/>
          <p:cNvSpPr/>
          <p:nvPr/>
        </p:nvSpPr>
        <p:spPr>
          <a:xfrm>
            <a:off x="704088" y="154533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0"/>
          <p:cNvSpPr/>
          <p:nvPr/>
        </p:nvSpPr>
        <p:spPr>
          <a:xfrm>
            <a:off x="886968" y="154533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0"/>
          <p:cNvSpPr/>
          <p:nvPr/>
        </p:nvSpPr>
        <p:spPr>
          <a:xfrm>
            <a:off x="1069848" y="154533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0"/>
          <p:cNvSpPr/>
          <p:nvPr/>
        </p:nvSpPr>
        <p:spPr>
          <a:xfrm>
            <a:off x="1280160" y="1472184"/>
            <a:ext cx="6309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bash — docker + aws-cli</a:t>
            </a:r>
            <a:endParaRPr b="0" i="0" sz="1000" u="none" cap="none" strike="noStrike">
              <a:solidFill>
                <a:schemeClr val="dk1"/>
              </a:solidFill>
              <a:latin typeface="Calibri"/>
              <a:ea typeface="Calibri"/>
              <a:cs typeface="Calibri"/>
              <a:sym typeface="Calibri"/>
            </a:endParaRPr>
          </a:p>
        </p:txBody>
      </p:sp>
      <p:sp>
        <p:nvSpPr>
          <p:cNvPr id="922" name="Google Shape;922;p30"/>
          <p:cNvSpPr/>
          <p:nvPr/>
        </p:nvSpPr>
        <p:spPr>
          <a:xfrm>
            <a:off x="704088" y="1801368"/>
            <a:ext cx="6821424" cy="3703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1. one-time: create the repo</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aws ecr create-repository --repository-name shortlink-api</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2. login (token valid 12 h)</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aws ecr get-login-password --region ap-south-1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 docker login --username AWS --password-stdin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123456789.dkr.ecr.ap-south-1.amazonaws.com</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BBF24"/>
              </a:buClr>
              <a:buSzPts val="1050"/>
              <a:buFont typeface="Courier New"/>
              <a:buNone/>
            </a:pPr>
            <a:r>
              <a:rPr b="0" i="0" lang="en-US" sz="1050" u="none" cap="none" strike="noStrike">
                <a:solidFill>
                  <a:srgbClr val="FBBF24"/>
                </a:solidFill>
                <a:latin typeface="Courier New"/>
                <a:ea typeface="Courier New"/>
                <a:cs typeface="Courier New"/>
                <a:sym typeface="Courier New"/>
              </a:rPr>
              <a:t>Login Succeeded</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3. tag with the full registry path</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docker tag shortlink-api:1.4.2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123456789.dkr.ecr.ap-south-1.amazonaws.com/shortlink-api:1.4.2</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4. push</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docker push 123456789.dkr.ecr.ap-south-1…/shortlink-api:1.4.2</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BBF24"/>
              </a:buClr>
              <a:buSzPts val="1050"/>
              <a:buFont typeface="Courier New"/>
              <a:buNone/>
            </a:pPr>
            <a:r>
              <a:rPr b="0" i="0" lang="en-US" sz="1050" u="none" cap="none" strike="noStrike">
                <a:solidFill>
                  <a:srgbClr val="FBBF24"/>
                </a:solidFill>
                <a:latin typeface="Courier New"/>
                <a:ea typeface="Courier New"/>
                <a:cs typeface="Courier New"/>
                <a:sym typeface="Courier New"/>
              </a:rPr>
              <a:t>1.4.2: digest: sha256:9f2a… size: 1573</a:t>
            </a:r>
            <a:endParaRPr b="0" i="0" sz="1050" u="none" cap="none" strike="noStrike">
              <a:solidFill>
                <a:schemeClr val="dk1"/>
              </a:solidFill>
              <a:latin typeface="Calibri"/>
              <a:ea typeface="Calibri"/>
              <a:cs typeface="Calibri"/>
              <a:sym typeface="Calibri"/>
            </a:endParaRPr>
          </a:p>
        </p:txBody>
      </p:sp>
      <p:sp>
        <p:nvSpPr>
          <p:cNvPr id="923" name="Google Shape;923;p30"/>
          <p:cNvSpPr/>
          <p:nvPr/>
        </p:nvSpPr>
        <p:spPr>
          <a:xfrm>
            <a:off x="7891272" y="1417320"/>
            <a:ext cx="3794760" cy="1353312"/>
          </a:xfrm>
          <a:prstGeom prst="roundRect">
            <a:avLst>
              <a:gd fmla="val 5405"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4" name="Google Shape;924;p30"/>
          <p:cNvPicPr preferRelativeResize="0"/>
          <p:nvPr/>
        </p:nvPicPr>
        <p:blipFill rotWithShape="1">
          <a:blip r:embed="rId3">
            <a:alphaModFix/>
          </a:blip>
          <a:srcRect b="0" l="0" r="0" t="0"/>
          <a:stretch/>
        </p:blipFill>
        <p:spPr>
          <a:xfrm>
            <a:off x="8092440" y="1545336"/>
            <a:ext cx="274320" cy="274320"/>
          </a:xfrm>
          <a:prstGeom prst="rect">
            <a:avLst/>
          </a:prstGeom>
          <a:noFill/>
          <a:ln>
            <a:noFill/>
          </a:ln>
        </p:spPr>
      </p:pic>
      <p:sp>
        <p:nvSpPr>
          <p:cNvPr id="925" name="Google Shape;925;p30"/>
          <p:cNvSpPr/>
          <p:nvPr/>
        </p:nvSpPr>
        <p:spPr>
          <a:xfrm>
            <a:off x="8485632" y="1508760"/>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Scan on push</a:t>
            </a:r>
            <a:endParaRPr b="0" i="0" sz="1250" u="none" cap="none" strike="noStrike">
              <a:solidFill>
                <a:schemeClr val="dk1"/>
              </a:solidFill>
              <a:latin typeface="Calibri"/>
              <a:ea typeface="Calibri"/>
              <a:cs typeface="Calibri"/>
              <a:sym typeface="Calibri"/>
            </a:endParaRPr>
          </a:p>
        </p:txBody>
      </p:sp>
      <p:sp>
        <p:nvSpPr>
          <p:cNvPr id="926" name="Google Shape;926;p30"/>
          <p:cNvSpPr/>
          <p:nvPr/>
        </p:nvSpPr>
        <p:spPr>
          <a:xfrm>
            <a:off x="8092440" y="1874520"/>
            <a:ext cx="3429000" cy="841248"/>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Findings by CVE severity in the console &amp; API. Fail the pipeline on HIGH/CRITICAL — same policy as our Trivy gate.</a:t>
            </a:r>
            <a:endParaRPr b="0" i="0" sz="950" u="none" cap="none" strike="noStrike">
              <a:solidFill>
                <a:schemeClr val="dk1"/>
              </a:solidFill>
              <a:latin typeface="Calibri"/>
              <a:ea typeface="Calibri"/>
              <a:cs typeface="Calibri"/>
              <a:sym typeface="Calibri"/>
            </a:endParaRPr>
          </a:p>
        </p:txBody>
      </p:sp>
      <p:sp>
        <p:nvSpPr>
          <p:cNvPr id="927" name="Google Shape;927;p30"/>
          <p:cNvSpPr/>
          <p:nvPr/>
        </p:nvSpPr>
        <p:spPr>
          <a:xfrm>
            <a:off x="7891272" y="2862072"/>
            <a:ext cx="3794760" cy="1353312"/>
          </a:xfrm>
          <a:prstGeom prst="roundRect">
            <a:avLst>
              <a:gd fmla="val 5405"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8" name="Google Shape;928;p30"/>
          <p:cNvPicPr preferRelativeResize="0"/>
          <p:nvPr/>
        </p:nvPicPr>
        <p:blipFill rotWithShape="1">
          <a:blip r:embed="rId4">
            <a:alphaModFix/>
          </a:blip>
          <a:srcRect b="0" l="0" r="0" t="0"/>
          <a:stretch/>
        </p:blipFill>
        <p:spPr>
          <a:xfrm>
            <a:off x="8092440" y="2990088"/>
            <a:ext cx="274320" cy="274320"/>
          </a:xfrm>
          <a:prstGeom prst="rect">
            <a:avLst/>
          </a:prstGeom>
          <a:noFill/>
          <a:ln>
            <a:noFill/>
          </a:ln>
        </p:spPr>
      </p:pic>
      <p:sp>
        <p:nvSpPr>
          <p:cNvPr id="929" name="Google Shape;929;p30"/>
          <p:cNvSpPr/>
          <p:nvPr/>
        </p:nvSpPr>
        <p:spPr>
          <a:xfrm>
            <a:off x="8485632" y="2953512"/>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Lifecycle policies</a:t>
            </a:r>
            <a:endParaRPr b="0" i="0" sz="1250" u="none" cap="none" strike="noStrike">
              <a:solidFill>
                <a:schemeClr val="dk1"/>
              </a:solidFill>
              <a:latin typeface="Calibri"/>
              <a:ea typeface="Calibri"/>
              <a:cs typeface="Calibri"/>
              <a:sym typeface="Calibri"/>
            </a:endParaRPr>
          </a:p>
        </p:txBody>
      </p:sp>
      <p:sp>
        <p:nvSpPr>
          <p:cNvPr id="930" name="Google Shape;930;p30"/>
          <p:cNvSpPr/>
          <p:nvPr/>
        </p:nvSpPr>
        <p:spPr>
          <a:xfrm>
            <a:off x="8092440" y="3319272"/>
            <a:ext cx="3429000" cy="841248"/>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“Keep last 10 tagged images, expire untagged after 7 days.” Registries grow forever without this — and you pay per GB.</a:t>
            </a:r>
            <a:endParaRPr b="0" i="0" sz="950" u="none" cap="none" strike="noStrike">
              <a:solidFill>
                <a:schemeClr val="dk1"/>
              </a:solidFill>
              <a:latin typeface="Calibri"/>
              <a:ea typeface="Calibri"/>
              <a:cs typeface="Calibri"/>
              <a:sym typeface="Calibri"/>
            </a:endParaRPr>
          </a:p>
        </p:txBody>
      </p:sp>
      <p:sp>
        <p:nvSpPr>
          <p:cNvPr id="931" name="Google Shape;931;p30"/>
          <p:cNvSpPr/>
          <p:nvPr/>
        </p:nvSpPr>
        <p:spPr>
          <a:xfrm>
            <a:off x="7891272" y="4306824"/>
            <a:ext cx="3794760" cy="1353312"/>
          </a:xfrm>
          <a:prstGeom prst="roundRect">
            <a:avLst>
              <a:gd fmla="val 5405"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2" name="Google Shape;932;p30"/>
          <p:cNvPicPr preferRelativeResize="0"/>
          <p:nvPr/>
        </p:nvPicPr>
        <p:blipFill rotWithShape="1">
          <a:blip r:embed="rId5">
            <a:alphaModFix/>
          </a:blip>
          <a:srcRect b="0" l="0" r="0" t="0"/>
          <a:stretch/>
        </p:blipFill>
        <p:spPr>
          <a:xfrm>
            <a:off x="8092440" y="4434840"/>
            <a:ext cx="274320" cy="274320"/>
          </a:xfrm>
          <a:prstGeom prst="rect">
            <a:avLst/>
          </a:prstGeom>
          <a:noFill/>
          <a:ln>
            <a:noFill/>
          </a:ln>
        </p:spPr>
      </p:pic>
      <p:sp>
        <p:nvSpPr>
          <p:cNvPr id="933" name="Google Shape;933;p30"/>
          <p:cNvSpPr/>
          <p:nvPr/>
        </p:nvSpPr>
        <p:spPr>
          <a:xfrm>
            <a:off x="8485632" y="4398264"/>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250"/>
              <a:buFont typeface="Bookman Old Style"/>
              <a:buNone/>
            </a:pPr>
            <a:r>
              <a:rPr b="1" i="0" lang="en-US" sz="1250" u="none" cap="none" strike="noStrike">
                <a:solidFill>
                  <a:srgbClr val="F8FAFC"/>
                </a:solidFill>
                <a:latin typeface="Bookman Old Style"/>
                <a:ea typeface="Bookman Old Style"/>
                <a:cs typeface="Bookman Old Style"/>
                <a:sym typeface="Bookman Old Style"/>
              </a:rPr>
              <a:t>In CI</a:t>
            </a:r>
            <a:endParaRPr b="0" i="0" sz="1250" u="none" cap="none" strike="noStrike">
              <a:solidFill>
                <a:schemeClr val="dk1"/>
              </a:solidFill>
              <a:latin typeface="Calibri"/>
              <a:ea typeface="Calibri"/>
              <a:cs typeface="Calibri"/>
              <a:sym typeface="Calibri"/>
            </a:endParaRPr>
          </a:p>
        </p:txBody>
      </p:sp>
      <p:sp>
        <p:nvSpPr>
          <p:cNvPr id="934" name="Google Shape;934;p30"/>
          <p:cNvSpPr/>
          <p:nvPr/>
        </p:nvSpPr>
        <p:spPr>
          <a:xfrm>
            <a:off x="8092440" y="4764024"/>
            <a:ext cx="3429000" cy="841248"/>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GitHub Actions assumes an IAM role via OIDC, then steps 2–4 run headless. No stored passwords.</a:t>
            </a:r>
            <a:endParaRPr b="0" i="0" sz="950" u="none" cap="none" strike="noStrike">
              <a:solidFill>
                <a:schemeClr val="dk1"/>
              </a:solidFill>
              <a:latin typeface="Calibri"/>
              <a:ea typeface="Calibri"/>
              <a:cs typeface="Calibri"/>
              <a:sym typeface="Calibri"/>
            </a:endParaRPr>
          </a:p>
        </p:txBody>
      </p:sp>
      <p:sp>
        <p:nvSpPr>
          <p:cNvPr id="935" name="Google Shape;935;p30"/>
          <p:cNvSpPr/>
          <p:nvPr/>
        </p:nvSpPr>
        <p:spPr>
          <a:xfrm>
            <a:off x="502920" y="5806440"/>
            <a:ext cx="11183112" cy="658368"/>
          </a:xfrm>
          <a:prstGeom prst="roundRect">
            <a:avLst>
              <a:gd fmla="val 11111"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6" name="Google Shape;936;p30"/>
          <p:cNvPicPr preferRelativeResize="0"/>
          <p:nvPr/>
        </p:nvPicPr>
        <p:blipFill rotWithShape="1">
          <a:blip r:embed="rId6">
            <a:alphaModFix/>
          </a:blip>
          <a:srcRect b="0" l="0" r="0" t="0"/>
          <a:stretch/>
        </p:blipFill>
        <p:spPr>
          <a:xfrm>
            <a:off x="704088" y="5989320"/>
            <a:ext cx="292608" cy="292608"/>
          </a:xfrm>
          <a:prstGeom prst="rect">
            <a:avLst/>
          </a:prstGeom>
          <a:noFill/>
          <a:ln>
            <a:noFill/>
          </a:ln>
        </p:spPr>
      </p:pic>
      <p:sp>
        <p:nvSpPr>
          <p:cNvPr id="937" name="Google Shape;937;p30"/>
          <p:cNvSpPr/>
          <p:nvPr/>
        </p:nvSpPr>
        <p:spPr>
          <a:xfrm>
            <a:off x="1143000" y="5897880"/>
            <a:ext cx="10341864" cy="4754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The tag IS the address: registry/repo:tag. Kubernetes manifests will point at exactly this string in Part 6.</a:t>
            </a:r>
            <a:endParaRPr b="0" i="0" sz="1250" u="none" cap="none" strike="noStrike">
              <a:solidFill>
                <a:schemeClr val="dk1"/>
              </a:solidFill>
              <a:latin typeface="Calibri"/>
              <a:ea typeface="Calibri"/>
              <a:cs typeface="Calibri"/>
              <a:sym typeface="Calibri"/>
            </a:endParaRPr>
          </a:p>
        </p:txBody>
      </p:sp>
      <p:sp>
        <p:nvSpPr>
          <p:cNvPr id="938" name="Google Shape;938;p30"/>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939" name="Google Shape;939;p30"/>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ECR · push</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44" name="Shape 944"/>
        <p:cNvGrpSpPr/>
        <p:nvPr/>
      </p:nvGrpSpPr>
      <p:grpSpPr>
        <a:xfrm>
          <a:off x="0" y="0"/>
          <a:ext cx="0" cy="0"/>
          <a:chOff x="0" y="0"/>
          <a:chExt cx="0" cy="0"/>
        </a:xfrm>
      </p:grpSpPr>
      <p:sp>
        <p:nvSpPr>
          <p:cNvPr id="945" name="Google Shape;945;p31"/>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26CE5"/>
              </a:buClr>
              <a:buSzPts val="1500"/>
              <a:buFont typeface="Courier New"/>
              <a:buNone/>
            </a:pPr>
            <a:r>
              <a:rPr b="1" i="0" lang="en-US" sz="1500" u="none" cap="none" strike="noStrike">
                <a:solidFill>
                  <a:srgbClr val="326CE5"/>
                </a:solidFill>
                <a:latin typeface="Courier New"/>
                <a:ea typeface="Courier New"/>
                <a:cs typeface="Courier New"/>
                <a:sym typeface="Courier New"/>
              </a:rPr>
              <a:t>PART 6</a:t>
            </a:r>
            <a:endParaRPr b="0" i="0" sz="1500" u="none" cap="none" strike="noStrike">
              <a:solidFill>
                <a:schemeClr val="dk1"/>
              </a:solidFill>
              <a:latin typeface="Calibri"/>
              <a:ea typeface="Calibri"/>
              <a:cs typeface="Calibri"/>
              <a:sym typeface="Calibri"/>
            </a:endParaRPr>
          </a:p>
        </p:txBody>
      </p:sp>
      <p:sp>
        <p:nvSpPr>
          <p:cNvPr id="946" name="Google Shape;946;p31"/>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EKS</a:t>
            </a:r>
            <a:endParaRPr b="0" i="0" sz="4400" u="none" cap="none" strike="noStrike">
              <a:solidFill>
                <a:schemeClr val="dk1"/>
              </a:solidFill>
              <a:latin typeface="Calibri"/>
              <a:ea typeface="Calibri"/>
              <a:cs typeface="Calibri"/>
              <a:sym typeface="Calibri"/>
            </a:endParaRPr>
          </a:p>
        </p:txBody>
      </p:sp>
      <p:sp>
        <p:nvSpPr>
          <p:cNvPr id="947" name="Google Shape;947;p31"/>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Elastic Kubernetes Service — your kubectl skills, AWS's control plane.</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Everything from the K8s module, minus the 3 AM etcd pages.</a:t>
            </a:r>
            <a:endParaRPr b="0" i="0" sz="1600" u="none" cap="none" strike="noStrike">
              <a:solidFill>
                <a:schemeClr val="dk1"/>
              </a:solidFill>
              <a:latin typeface="Calibri"/>
              <a:ea typeface="Calibri"/>
              <a:cs typeface="Calibri"/>
              <a:sym typeface="Calibri"/>
            </a:endParaRPr>
          </a:p>
        </p:txBody>
      </p:sp>
      <p:sp>
        <p:nvSpPr>
          <p:cNvPr id="948" name="Google Shape;948;p31"/>
          <p:cNvSpPr/>
          <p:nvPr/>
        </p:nvSpPr>
        <p:spPr>
          <a:xfrm>
            <a:off x="8778240" y="1965960"/>
            <a:ext cx="2468880" cy="2468880"/>
          </a:xfrm>
          <a:prstGeom prst="ellipse">
            <a:avLst/>
          </a:prstGeom>
          <a:solidFill>
            <a:srgbClr val="1E293B"/>
          </a:solidFill>
          <a:ln cap="flat" cmpd="sng" w="25400">
            <a:solidFill>
              <a:srgbClr val="326C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49" name="Google Shape;949;p31"/>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950" name="Google Shape;950;p31"/>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951" name="Google Shape;951;p31"/>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56" name="Shape 956"/>
        <p:cNvGrpSpPr/>
        <p:nvPr/>
      </p:nvGrpSpPr>
      <p:grpSpPr>
        <a:xfrm>
          <a:off x="0" y="0"/>
          <a:ext cx="0" cy="0"/>
          <a:chOff x="0" y="0"/>
          <a:chExt cx="0" cy="0"/>
        </a:xfrm>
      </p:grpSpPr>
      <p:sp>
        <p:nvSpPr>
          <p:cNvPr id="957" name="Google Shape;957;p32"/>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26CE5"/>
              </a:buClr>
              <a:buSzPts val="1200"/>
              <a:buFont typeface="Courier New"/>
              <a:buNone/>
            </a:pPr>
            <a:r>
              <a:rPr b="1" i="0" lang="en-US" sz="1200" u="none" cap="none" strike="noStrike">
                <a:solidFill>
                  <a:srgbClr val="326CE5"/>
                </a:solidFill>
                <a:latin typeface="Courier New"/>
                <a:ea typeface="Courier New"/>
                <a:cs typeface="Courier New"/>
                <a:sym typeface="Courier New"/>
              </a:rPr>
              <a:t>EKS · ARCHITECTURE</a:t>
            </a:r>
            <a:endParaRPr b="0" i="0" sz="1200" u="none" cap="none" strike="noStrike">
              <a:solidFill>
                <a:schemeClr val="dk1"/>
              </a:solidFill>
              <a:latin typeface="Calibri"/>
              <a:ea typeface="Calibri"/>
              <a:cs typeface="Calibri"/>
              <a:sym typeface="Calibri"/>
            </a:endParaRPr>
          </a:p>
        </p:txBody>
      </p:sp>
      <p:sp>
        <p:nvSpPr>
          <p:cNvPr id="958" name="Google Shape;958;p32"/>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Who runs what in EKS</a:t>
            </a:r>
            <a:endParaRPr b="0" i="0" sz="3000" u="none" cap="none" strike="noStrike">
              <a:solidFill>
                <a:schemeClr val="dk1"/>
              </a:solidFill>
              <a:latin typeface="Calibri"/>
              <a:ea typeface="Calibri"/>
              <a:cs typeface="Calibri"/>
              <a:sym typeface="Calibri"/>
            </a:endParaRPr>
          </a:p>
        </p:txBody>
      </p:sp>
      <p:sp>
        <p:nvSpPr>
          <p:cNvPr id="959" name="Google Shape;959;p32"/>
          <p:cNvSpPr/>
          <p:nvPr/>
        </p:nvSpPr>
        <p:spPr>
          <a:xfrm>
            <a:off x="502920" y="1325880"/>
            <a:ext cx="11183112" cy="658368"/>
          </a:xfrm>
          <a:prstGeom prst="roundRect">
            <a:avLst>
              <a:gd fmla="val 11111"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60" name="Google Shape;960;p32"/>
          <p:cNvPicPr preferRelativeResize="0"/>
          <p:nvPr/>
        </p:nvPicPr>
        <p:blipFill rotWithShape="1">
          <a:blip r:embed="rId3">
            <a:alphaModFix/>
          </a:blip>
          <a:srcRect b="0" l="0" r="0" t="0"/>
          <a:stretch/>
        </p:blipFill>
        <p:spPr>
          <a:xfrm>
            <a:off x="704088" y="1508760"/>
            <a:ext cx="292608" cy="292608"/>
          </a:xfrm>
          <a:prstGeom prst="rect">
            <a:avLst/>
          </a:prstGeom>
          <a:noFill/>
          <a:ln>
            <a:noFill/>
          </a:ln>
        </p:spPr>
      </p:pic>
      <p:sp>
        <p:nvSpPr>
          <p:cNvPr id="961" name="Google Shape;961;p32"/>
          <p:cNvSpPr/>
          <p:nvPr/>
        </p:nvSpPr>
        <p:spPr>
          <a:xfrm>
            <a:off x="1143000" y="1417320"/>
            <a:ext cx="10341864" cy="4754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Self-hosting K8s means babysitting etcd quorum, cert rotation, API-server HA, upgrades. That's a full-time job you don't want.</a:t>
            </a:r>
            <a:endParaRPr b="0" i="0" sz="1250" u="none" cap="none" strike="noStrike">
              <a:solidFill>
                <a:schemeClr val="dk1"/>
              </a:solidFill>
              <a:latin typeface="Calibri"/>
              <a:ea typeface="Calibri"/>
              <a:cs typeface="Calibri"/>
              <a:sym typeface="Calibri"/>
            </a:endParaRPr>
          </a:p>
        </p:txBody>
      </p:sp>
      <p:sp>
        <p:nvSpPr>
          <p:cNvPr id="962" name="Google Shape;962;p32"/>
          <p:cNvSpPr/>
          <p:nvPr/>
        </p:nvSpPr>
        <p:spPr>
          <a:xfrm>
            <a:off x="502920" y="2194560"/>
            <a:ext cx="5394960" cy="3063240"/>
          </a:xfrm>
          <a:prstGeom prst="roundRect">
            <a:avLst>
              <a:gd fmla="val 2388" name="adj"/>
            </a:avLst>
          </a:prstGeom>
          <a:solidFill>
            <a:srgbClr val="0E2A26"/>
          </a:solidFill>
          <a:ln cap="flat" cmpd="sng" w="1905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2"/>
          <p:cNvSpPr/>
          <p:nvPr/>
        </p:nvSpPr>
        <p:spPr>
          <a:xfrm>
            <a:off x="777240" y="233172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400"/>
              <a:buFont typeface="Bookman Old Style"/>
              <a:buNone/>
            </a:pPr>
            <a:r>
              <a:rPr b="1" i="0" lang="en-US" sz="1400" u="none" cap="none" strike="noStrike">
                <a:solidFill>
                  <a:srgbClr val="2DD4BF"/>
                </a:solidFill>
                <a:latin typeface="Bookman Old Style"/>
                <a:ea typeface="Bookman Old Style"/>
                <a:cs typeface="Bookman Old Style"/>
                <a:sym typeface="Bookman Old Style"/>
              </a:rPr>
              <a:t>AWS manages — control plane</a:t>
            </a:r>
            <a:endParaRPr b="0" i="0" sz="1400" u="none" cap="none" strike="noStrike">
              <a:solidFill>
                <a:schemeClr val="dk1"/>
              </a:solidFill>
              <a:latin typeface="Calibri"/>
              <a:ea typeface="Calibri"/>
              <a:cs typeface="Calibri"/>
              <a:sym typeface="Calibri"/>
            </a:endParaRPr>
          </a:p>
        </p:txBody>
      </p:sp>
      <p:sp>
        <p:nvSpPr>
          <p:cNvPr id="964" name="Google Shape;964;p32"/>
          <p:cNvSpPr/>
          <p:nvPr/>
        </p:nvSpPr>
        <p:spPr>
          <a:xfrm>
            <a:off x="822960" y="2834640"/>
            <a:ext cx="2331720" cy="548640"/>
          </a:xfrm>
          <a:prstGeom prst="roundRect">
            <a:avLst>
              <a:gd fmla="val 10000" name="adj"/>
            </a:avLst>
          </a:prstGeom>
          <a:solidFill>
            <a:srgbClr val="0F172A"/>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2"/>
          <p:cNvSpPr/>
          <p:nvPr/>
        </p:nvSpPr>
        <p:spPr>
          <a:xfrm>
            <a:off x="822960" y="2834640"/>
            <a:ext cx="233172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kube-apiserver</a:t>
            </a:r>
            <a:endParaRPr b="0" i="0" sz="1050" u="none" cap="none" strike="noStrike">
              <a:solidFill>
                <a:schemeClr val="dk1"/>
              </a:solidFill>
              <a:latin typeface="Calibri"/>
              <a:ea typeface="Calibri"/>
              <a:cs typeface="Calibri"/>
              <a:sym typeface="Calibri"/>
            </a:endParaRPr>
          </a:p>
        </p:txBody>
      </p:sp>
      <p:sp>
        <p:nvSpPr>
          <p:cNvPr id="966" name="Google Shape;966;p32"/>
          <p:cNvSpPr/>
          <p:nvPr/>
        </p:nvSpPr>
        <p:spPr>
          <a:xfrm>
            <a:off x="3291840" y="2834640"/>
            <a:ext cx="2331720" cy="548640"/>
          </a:xfrm>
          <a:prstGeom prst="roundRect">
            <a:avLst>
              <a:gd fmla="val 10000" name="adj"/>
            </a:avLst>
          </a:prstGeom>
          <a:solidFill>
            <a:srgbClr val="0F172A"/>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2"/>
          <p:cNvSpPr/>
          <p:nvPr/>
        </p:nvSpPr>
        <p:spPr>
          <a:xfrm>
            <a:off x="3291840" y="2834640"/>
            <a:ext cx="233172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etcd (multi-AZ)</a:t>
            </a:r>
            <a:endParaRPr b="0" i="0" sz="1050" u="none" cap="none" strike="noStrike">
              <a:solidFill>
                <a:schemeClr val="dk1"/>
              </a:solidFill>
              <a:latin typeface="Calibri"/>
              <a:ea typeface="Calibri"/>
              <a:cs typeface="Calibri"/>
              <a:sym typeface="Calibri"/>
            </a:endParaRPr>
          </a:p>
        </p:txBody>
      </p:sp>
      <p:sp>
        <p:nvSpPr>
          <p:cNvPr id="968" name="Google Shape;968;p32"/>
          <p:cNvSpPr/>
          <p:nvPr/>
        </p:nvSpPr>
        <p:spPr>
          <a:xfrm>
            <a:off x="822960" y="3520440"/>
            <a:ext cx="2331720" cy="548640"/>
          </a:xfrm>
          <a:prstGeom prst="roundRect">
            <a:avLst>
              <a:gd fmla="val 10000" name="adj"/>
            </a:avLst>
          </a:prstGeom>
          <a:solidFill>
            <a:srgbClr val="0F172A"/>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2"/>
          <p:cNvSpPr/>
          <p:nvPr/>
        </p:nvSpPr>
        <p:spPr>
          <a:xfrm>
            <a:off x="822960" y="3520440"/>
            <a:ext cx="233172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scheduler</a:t>
            </a:r>
            <a:endParaRPr b="0" i="0" sz="1050" u="none" cap="none" strike="noStrike">
              <a:solidFill>
                <a:schemeClr val="dk1"/>
              </a:solidFill>
              <a:latin typeface="Calibri"/>
              <a:ea typeface="Calibri"/>
              <a:cs typeface="Calibri"/>
              <a:sym typeface="Calibri"/>
            </a:endParaRPr>
          </a:p>
        </p:txBody>
      </p:sp>
      <p:sp>
        <p:nvSpPr>
          <p:cNvPr id="970" name="Google Shape;970;p32"/>
          <p:cNvSpPr/>
          <p:nvPr/>
        </p:nvSpPr>
        <p:spPr>
          <a:xfrm>
            <a:off x="3291840" y="3520440"/>
            <a:ext cx="2331720" cy="548640"/>
          </a:xfrm>
          <a:prstGeom prst="roundRect">
            <a:avLst>
              <a:gd fmla="val 10000" name="adj"/>
            </a:avLst>
          </a:prstGeom>
          <a:solidFill>
            <a:srgbClr val="0F172A"/>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2"/>
          <p:cNvSpPr/>
          <p:nvPr/>
        </p:nvSpPr>
        <p:spPr>
          <a:xfrm>
            <a:off x="3291840" y="3520440"/>
            <a:ext cx="233172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controller-manager</a:t>
            </a:r>
            <a:endParaRPr b="0" i="0" sz="1050" u="none" cap="none" strike="noStrike">
              <a:solidFill>
                <a:schemeClr val="dk1"/>
              </a:solidFill>
              <a:latin typeface="Calibri"/>
              <a:ea typeface="Calibri"/>
              <a:cs typeface="Calibri"/>
              <a:sym typeface="Calibri"/>
            </a:endParaRPr>
          </a:p>
        </p:txBody>
      </p:sp>
      <p:sp>
        <p:nvSpPr>
          <p:cNvPr id="972" name="Google Shape;972;p32"/>
          <p:cNvSpPr/>
          <p:nvPr/>
        </p:nvSpPr>
        <p:spPr>
          <a:xfrm>
            <a:off x="777240" y="4343400"/>
            <a:ext cx="4937760" cy="6400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4A3B8"/>
              </a:buClr>
              <a:buSzPts val="1150"/>
              <a:buFont typeface="Calibri"/>
              <a:buNone/>
            </a:pPr>
            <a:r>
              <a:rPr b="0" i="1" lang="en-US" sz="1150" u="none" cap="none" strike="noStrike">
                <a:solidFill>
                  <a:srgbClr val="94A3B8"/>
                </a:solidFill>
                <a:latin typeface="Calibri"/>
                <a:ea typeface="Calibri"/>
                <a:cs typeface="Calibri"/>
                <a:sym typeface="Calibri"/>
              </a:rPr>
              <a:t>$0.10/hour flat · auto-scaled · patched &amp; backed up for you</a:t>
            </a:r>
            <a:endParaRPr b="0" i="0" sz="1150" u="none" cap="none" strike="noStrike">
              <a:solidFill>
                <a:schemeClr val="dk1"/>
              </a:solidFill>
              <a:latin typeface="Calibri"/>
              <a:ea typeface="Calibri"/>
              <a:cs typeface="Calibri"/>
              <a:sym typeface="Calibri"/>
            </a:endParaRPr>
          </a:p>
        </p:txBody>
      </p:sp>
      <p:sp>
        <p:nvSpPr>
          <p:cNvPr id="973" name="Google Shape;973;p32"/>
          <p:cNvSpPr/>
          <p:nvPr/>
        </p:nvSpPr>
        <p:spPr>
          <a:xfrm>
            <a:off x="6291072" y="2194560"/>
            <a:ext cx="5394960" cy="3063240"/>
          </a:xfrm>
          <a:prstGeom prst="roundRect">
            <a:avLst>
              <a:gd fmla="val 2388" name="adj"/>
            </a:avLst>
          </a:prstGeom>
          <a:solidFill>
            <a:srgbClr val="3A2210"/>
          </a:solidFill>
          <a:ln cap="flat" cmpd="sng" w="1905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2"/>
          <p:cNvSpPr/>
          <p:nvPr/>
        </p:nvSpPr>
        <p:spPr>
          <a:xfrm>
            <a:off x="6565392" y="233172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400"/>
              <a:buFont typeface="Bookman Old Style"/>
              <a:buNone/>
            </a:pPr>
            <a:r>
              <a:rPr b="1" i="0" lang="en-US" sz="1400" u="none" cap="none" strike="noStrike">
                <a:solidFill>
                  <a:srgbClr val="F97316"/>
                </a:solidFill>
                <a:latin typeface="Bookman Old Style"/>
                <a:ea typeface="Bookman Old Style"/>
                <a:cs typeface="Bookman Old Style"/>
                <a:sym typeface="Bookman Old Style"/>
              </a:rPr>
              <a:t>You manage — data plane</a:t>
            </a:r>
            <a:endParaRPr b="0" i="0" sz="1400" u="none" cap="none" strike="noStrike">
              <a:solidFill>
                <a:schemeClr val="dk1"/>
              </a:solidFill>
              <a:latin typeface="Calibri"/>
              <a:ea typeface="Calibri"/>
              <a:cs typeface="Calibri"/>
              <a:sym typeface="Calibri"/>
            </a:endParaRPr>
          </a:p>
        </p:txBody>
      </p:sp>
      <p:sp>
        <p:nvSpPr>
          <p:cNvPr id="975" name="Google Shape;975;p32"/>
          <p:cNvSpPr/>
          <p:nvPr/>
        </p:nvSpPr>
        <p:spPr>
          <a:xfrm>
            <a:off x="6583680" y="2834640"/>
            <a:ext cx="4800600" cy="548640"/>
          </a:xfrm>
          <a:prstGeom prst="roundRect">
            <a:avLst>
              <a:gd fmla="val 10000" name="adj"/>
            </a:avLst>
          </a:prstGeom>
          <a:solidFill>
            <a:srgbClr val="0F172A"/>
          </a:solidFill>
          <a:ln cap="flat" cmpd="sng" w="12700">
            <a:solidFill>
              <a:srgbClr val="7C2D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2"/>
          <p:cNvSpPr/>
          <p:nvPr/>
        </p:nvSpPr>
        <p:spPr>
          <a:xfrm>
            <a:off x="6583680" y="2834640"/>
            <a:ext cx="480060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Managed node group (EC2)</a:t>
            </a:r>
            <a:endParaRPr b="0" i="0" sz="1050" u="none" cap="none" strike="noStrike">
              <a:solidFill>
                <a:schemeClr val="dk1"/>
              </a:solidFill>
              <a:latin typeface="Calibri"/>
              <a:ea typeface="Calibri"/>
              <a:cs typeface="Calibri"/>
              <a:sym typeface="Calibri"/>
            </a:endParaRPr>
          </a:p>
        </p:txBody>
      </p:sp>
      <p:sp>
        <p:nvSpPr>
          <p:cNvPr id="977" name="Google Shape;977;p32"/>
          <p:cNvSpPr/>
          <p:nvPr/>
        </p:nvSpPr>
        <p:spPr>
          <a:xfrm>
            <a:off x="6583680" y="3520440"/>
            <a:ext cx="4800600" cy="548640"/>
          </a:xfrm>
          <a:prstGeom prst="roundRect">
            <a:avLst>
              <a:gd fmla="val 10000" name="adj"/>
            </a:avLst>
          </a:prstGeom>
          <a:solidFill>
            <a:srgbClr val="0F172A"/>
          </a:solidFill>
          <a:ln cap="flat" cmpd="sng" w="12700">
            <a:solidFill>
              <a:srgbClr val="7C2D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2"/>
          <p:cNvSpPr/>
          <p:nvPr/>
        </p:nvSpPr>
        <p:spPr>
          <a:xfrm>
            <a:off x="6583680" y="3520440"/>
            <a:ext cx="480060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Fargate profile (serverless pods)</a:t>
            </a:r>
            <a:endParaRPr b="0" i="0" sz="1050" u="none" cap="none" strike="noStrike">
              <a:solidFill>
                <a:schemeClr val="dk1"/>
              </a:solidFill>
              <a:latin typeface="Calibri"/>
              <a:ea typeface="Calibri"/>
              <a:cs typeface="Calibri"/>
              <a:sym typeface="Calibri"/>
            </a:endParaRPr>
          </a:p>
        </p:txBody>
      </p:sp>
      <p:sp>
        <p:nvSpPr>
          <p:cNvPr id="979" name="Google Shape;979;p32"/>
          <p:cNvSpPr/>
          <p:nvPr/>
        </p:nvSpPr>
        <p:spPr>
          <a:xfrm>
            <a:off x="6565392" y="4343400"/>
            <a:ext cx="4937760" cy="6400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4A3B8"/>
              </a:buClr>
              <a:buSzPts val="1150"/>
              <a:buFont typeface="Calibri"/>
              <a:buNone/>
            </a:pPr>
            <a:r>
              <a:rPr b="0" i="1" lang="en-US" sz="1150" u="none" cap="none" strike="noStrike">
                <a:solidFill>
                  <a:srgbClr val="94A3B8"/>
                </a:solidFill>
                <a:latin typeface="Calibri"/>
                <a:ea typeface="Calibri"/>
                <a:cs typeface="Calibri"/>
                <a:sym typeface="Calibri"/>
              </a:rPr>
              <a:t>Your pods, your instance types (spot!), your scaling — kubelet phones home to the managed API server</a:t>
            </a:r>
            <a:endParaRPr b="0" i="0" sz="1150" u="none" cap="none" strike="noStrike">
              <a:solidFill>
                <a:schemeClr val="dk1"/>
              </a:solidFill>
              <a:latin typeface="Calibri"/>
              <a:ea typeface="Calibri"/>
              <a:cs typeface="Calibri"/>
              <a:sym typeface="Calibri"/>
            </a:endParaRPr>
          </a:p>
        </p:txBody>
      </p:sp>
      <p:cxnSp>
        <p:nvCxnSpPr>
          <p:cNvPr id="980" name="Google Shape;980;p32"/>
          <p:cNvCxnSpPr/>
          <p:nvPr/>
        </p:nvCxnSpPr>
        <p:spPr>
          <a:xfrm>
            <a:off x="5916168" y="3703320"/>
            <a:ext cx="356616" cy="0"/>
          </a:xfrm>
          <a:prstGeom prst="straightConnector1">
            <a:avLst/>
          </a:prstGeom>
          <a:noFill/>
          <a:ln cap="flat" cmpd="sng" w="25400">
            <a:solidFill>
              <a:srgbClr val="94A3B8"/>
            </a:solidFill>
            <a:prstDash val="solid"/>
            <a:round/>
            <a:headEnd len="sm" w="sm" type="none"/>
            <a:tailEnd len="med" w="med" type="stealth"/>
          </a:ln>
        </p:spPr>
      </p:cxnSp>
      <p:sp>
        <p:nvSpPr>
          <p:cNvPr id="981" name="Google Shape;981;p32"/>
          <p:cNvSpPr/>
          <p:nvPr/>
        </p:nvSpPr>
        <p:spPr>
          <a:xfrm>
            <a:off x="502920" y="5486400"/>
            <a:ext cx="11183112" cy="822960"/>
          </a:xfrm>
          <a:prstGeom prst="roundRect">
            <a:avLst>
              <a:gd fmla="val 8889"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2" name="Google Shape;982;p32"/>
          <p:cNvPicPr preferRelativeResize="0"/>
          <p:nvPr/>
        </p:nvPicPr>
        <p:blipFill rotWithShape="1">
          <a:blip r:embed="rId4">
            <a:alphaModFix/>
          </a:blip>
          <a:srcRect b="0" l="0" r="0" t="0"/>
          <a:stretch/>
        </p:blipFill>
        <p:spPr>
          <a:xfrm>
            <a:off x="704088" y="5751576"/>
            <a:ext cx="292608" cy="292608"/>
          </a:xfrm>
          <a:prstGeom prst="rect">
            <a:avLst/>
          </a:prstGeom>
          <a:noFill/>
          <a:ln>
            <a:noFill/>
          </a:ln>
        </p:spPr>
      </p:pic>
      <p:sp>
        <p:nvSpPr>
          <p:cNvPr id="983" name="Google Shape;983;p32"/>
          <p:cNvSpPr/>
          <p:nvPr/>
        </p:nvSpPr>
        <p:spPr>
          <a:xfrm>
            <a:off x="1143000" y="5577840"/>
            <a:ext cx="10341864" cy="6400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kubectl get pods works exactly as in the lab — the API server just lives at an AWS endpoint and authenticates you via IAM instead of a local kubeconfig cert.</a:t>
            </a:r>
            <a:endParaRPr b="0" i="0" sz="1300" u="none" cap="none" strike="noStrike">
              <a:solidFill>
                <a:schemeClr val="dk1"/>
              </a:solidFill>
              <a:latin typeface="Calibri"/>
              <a:ea typeface="Calibri"/>
              <a:cs typeface="Calibri"/>
              <a:sym typeface="Calibri"/>
            </a:endParaRPr>
          </a:p>
        </p:txBody>
      </p:sp>
      <p:sp>
        <p:nvSpPr>
          <p:cNvPr id="984" name="Google Shape;984;p32"/>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985" name="Google Shape;985;p32"/>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EKS architecture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90" name="Shape 990"/>
        <p:cNvGrpSpPr/>
        <p:nvPr/>
      </p:nvGrpSpPr>
      <p:grpSpPr>
        <a:xfrm>
          <a:off x="0" y="0"/>
          <a:ext cx="0" cy="0"/>
          <a:chOff x="0" y="0"/>
          <a:chExt cx="0" cy="0"/>
        </a:xfrm>
      </p:grpSpPr>
      <p:sp>
        <p:nvSpPr>
          <p:cNvPr id="991" name="Google Shape;991;p33"/>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26CE5"/>
              </a:buClr>
              <a:buSzPts val="1200"/>
              <a:buFont typeface="Courier New"/>
              <a:buNone/>
            </a:pPr>
            <a:r>
              <a:rPr b="1" i="0" lang="en-US" sz="1200" u="none" cap="none" strike="noStrike">
                <a:solidFill>
                  <a:srgbClr val="326CE5"/>
                </a:solidFill>
                <a:latin typeface="Courier New"/>
                <a:ea typeface="Courier New"/>
                <a:cs typeface="Courier New"/>
                <a:sym typeface="Courier New"/>
              </a:rPr>
              <a:t>EKS · WHAT TRANSFERS</a:t>
            </a:r>
            <a:endParaRPr b="0" i="0" sz="1200" u="none" cap="none" strike="noStrike">
              <a:solidFill>
                <a:schemeClr val="dk1"/>
              </a:solidFill>
              <a:latin typeface="Calibri"/>
              <a:ea typeface="Calibri"/>
              <a:cs typeface="Calibri"/>
              <a:sym typeface="Calibri"/>
            </a:endParaRPr>
          </a:p>
        </p:txBody>
      </p:sp>
      <p:sp>
        <p:nvSpPr>
          <p:cNvPr id="992" name="Google Shape;992;p33"/>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Your K8s knowledge: a settlement map</a:t>
            </a:r>
            <a:endParaRPr b="0" i="0" sz="3000" u="none" cap="none" strike="noStrike">
              <a:solidFill>
                <a:schemeClr val="dk1"/>
              </a:solidFill>
              <a:latin typeface="Calibri"/>
              <a:ea typeface="Calibri"/>
              <a:cs typeface="Calibri"/>
              <a:sym typeface="Calibri"/>
            </a:endParaRPr>
          </a:p>
        </p:txBody>
      </p:sp>
      <p:sp>
        <p:nvSpPr>
          <p:cNvPr id="993" name="Google Shape;993;p33"/>
          <p:cNvSpPr/>
          <p:nvPr/>
        </p:nvSpPr>
        <p:spPr>
          <a:xfrm>
            <a:off x="502920" y="1463040"/>
            <a:ext cx="11183112" cy="676656"/>
          </a:xfrm>
          <a:prstGeom prst="roundRect">
            <a:avLst>
              <a:gd fmla="val 6757"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3"/>
          <p:cNvSpPr/>
          <p:nvPr/>
        </p:nvSpPr>
        <p:spPr>
          <a:xfrm>
            <a:off x="713232" y="1463040"/>
            <a:ext cx="33832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00"/>
              <a:buFont typeface="Courier New"/>
              <a:buNone/>
            </a:pPr>
            <a:r>
              <a:rPr b="1" i="0" lang="en-US" sz="1100" u="none" cap="none" strike="noStrike">
                <a:solidFill>
                  <a:srgbClr val="F8FAFC"/>
                </a:solidFill>
                <a:latin typeface="Courier New"/>
                <a:ea typeface="Courier New"/>
                <a:cs typeface="Courier New"/>
                <a:sym typeface="Courier New"/>
              </a:rPr>
              <a:t>Pods · Deployments · Services</a:t>
            </a:r>
            <a:endParaRPr b="0" i="0" sz="1100" u="none" cap="none" strike="noStrike">
              <a:solidFill>
                <a:schemeClr val="dk1"/>
              </a:solidFill>
              <a:latin typeface="Calibri"/>
              <a:ea typeface="Calibri"/>
              <a:cs typeface="Calibri"/>
              <a:sym typeface="Calibri"/>
            </a:endParaRPr>
          </a:p>
        </p:txBody>
      </p:sp>
      <p:sp>
        <p:nvSpPr>
          <p:cNvPr id="995" name="Google Shape;995;p33"/>
          <p:cNvSpPr/>
          <p:nvPr/>
        </p:nvSpPr>
        <p:spPr>
          <a:xfrm>
            <a:off x="4160520" y="1618488"/>
            <a:ext cx="1234440" cy="365760"/>
          </a:xfrm>
          <a:prstGeom prst="roundRect">
            <a:avLst>
              <a:gd fmla="val 50000" name="adj"/>
            </a:avLst>
          </a:prstGeom>
          <a:solidFill>
            <a:srgbClr val="0F172A"/>
          </a:solidFill>
          <a:ln cap="flat" cmpd="sng" w="12700">
            <a:solidFill>
              <a:srgbClr val="4AD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3"/>
          <p:cNvSpPr/>
          <p:nvPr/>
        </p:nvSpPr>
        <p:spPr>
          <a:xfrm>
            <a:off x="4160520" y="1618488"/>
            <a:ext cx="1234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950"/>
              <a:buFont typeface="Courier New"/>
              <a:buNone/>
            </a:pPr>
            <a:r>
              <a:rPr b="1" i="0" lang="en-US" sz="950" u="none" cap="none" strike="noStrike">
                <a:solidFill>
                  <a:srgbClr val="4ADE80"/>
                </a:solidFill>
                <a:latin typeface="Courier New"/>
                <a:ea typeface="Courier New"/>
                <a:cs typeface="Courier New"/>
                <a:sym typeface="Courier New"/>
              </a:rPr>
              <a:t>unchanged</a:t>
            </a:r>
            <a:endParaRPr b="0" i="0" sz="950" u="none" cap="none" strike="noStrike">
              <a:solidFill>
                <a:schemeClr val="dk1"/>
              </a:solidFill>
              <a:latin typeface="Calibri"/>
              <a:ea typeface="Calibri"/>
              <a:cs typeface="Calibri"/>
              <a:sym typeface="Calibri"/>
            </a:endParaRPr>
          </a:p>
        </p:txBody>
      </p:sp>
      <p:sp>
        <p:nvSpPr>
          <p:cNvPr id="997" name="Google Shape;997;p33"/>
          <p:cNvSpPr/>
          <p:nvPr/>
        </p:nvSpPr>
        <p:spPr>
          <a:xfrm>
            <a:off x="5577840" y="1463040"/>
            <a:ext cx="59893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Same YAML, same kubectl apply</a:t>
            </a:r>
            <a:endParaRPr b="0" i="0" sz="1100" u="none" cap="none" strike="noStrike">
              <a:solidFill>
                <a:schemeClr val="dk1"/>
              </a:solidFill>
              <a:latin typeface="Calibri"/>
              <a:ea typeface="Calibri"/>
              <a:cs typeface="Calibri"/>
              <a:sym typeface="Calibri"/>
            </a:endParaRPr>
          </a:p>
        </p:txBody>
      </p:sp>
      <p:sp>
        <p:nvSpPr>
          <p:cNvPr id="998" name="Google Shape;998;p33"/>
          <p:cNvSpPr/>
          <p:nvPr/>
        </p:nvSpPr>
        <p:spPr>
          <a:xfrm>
            <a:off x="502920" y="2231136"/>
            <a:ext cx="11183112" cy="676656"/>
          </a:xfrm>
          <a:prstGeom prst="roundRect">
            <a:avLst>
              <a:gd fmla="val 6757"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3"/>
          <p:cNvSpPr/>
          <p:nvPr/>
        </p:nvSpPr>
        <p:spPr>
          <a:xfrm>
            <a:off x="713232" y="2231136"/>
            <a:ext cx="33832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00"/>
              <a:buFont typeface="Courier New"/>
              <a:buNone/>
            </a:pPr>
            <a:r>
              <a:rPr b="1" i="0" lang="en-US" sz="1100" u="none" cap="none" strike="noStrike">
                <a:solidFill>
                  <a:srgbClr val="F8FAFC"/>
                </a:solidFill>
                <a:latin typeface="Courier New"/>
                <a:ea typeface="Courier New"/>
                <a:cs typeface="Courier New"/>
                <a:sym typeface="Courier New"/>
              </a:rPr>
              <a:t>Ingress</a:t>
            </a:r>
            <a:endParaRPr b="0" i="0" sz="1100" u="none" cap="none" strike="noStrike">
              <a:solidFill>
                <a:schemeClr val="dk1"/>
              </a:solidFill>
              <a:latin typeface="Calibri"/>
              <a:ea typeface="Calibri"/>
              <a:cs typeface="Calibri"/>
              <a:sym typeface="Calibri"/>
            </a:endParaRPr>
          </a:p>
        </p:txBody>
      </p:sp>
      <p:sp>
        <p:nvSpPr>
          <p:cNvPr id="1000" name="Google Shape;1000;p33"/>
          <p:cNvSpPr/>
          <p:nvPr/>
        </p:nvSpPr>
        <p:spPr>
          <a:xfrm>
            <a:off x="4160520" y="2386584"/>
            <a:ext cx="1234440" cy="365760"/>
          </a:xfrm>
          <a:prstGeom prst="roundRect">
            <a:avLst>
              <a:gd fmla="val 50000"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3"/>
          <p:cNvSpPr/>
          <p:nvPr/>
        </p:nvSpPr>
        <p:spPr>
          <a:xfrm>
            <a:off x="4160520" y="2386584"/>
            <a:ext cx="1234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950"/>
              <a:buFont typeface="Courier New"/>
              <a:buNone/>
            </a:pPr>
            <a:r>
              <a:rPr b="1" i="0" lang="en-US" sz="950" u="none" cap="none" strike="noStrike">
                <a:solidFill>
                  <a:srgbClr val="2DD4BF"/>
                </a:solidFill>
                <a:latin typeface="Courier New"/>
                <a:ea typeface="Courier New"/>
                <a:cs typeface="Courier New"/>
                <a:sym typeface="Courier New"/>
              </a:rPr>
              <a:t>upgraded</a:t>
            </a:r>
            <a:endParaRPr b="0" i="0" sz="950" u="none" cap="none" strike="noStrike">
              <a:solidFill>
                <a:schemeClr val="dk1"/>
              </a:solidFill>
              <a:latin typeface="Calibri"/>
              <a:ea typeface="Calibri"/>
              <a:cs typeface="Calibri"/>
              <a:sym typeface="Calibri"/>
            </a:endParaRPr>
          </a:p>
        </p:txBody>
      </p:sp>
      <p:sp>
        <p:nvSpPr>
          <p:cNvPr id="1002" name="Google Shape;1002;p33"/>
          <p:cNvSpPr/>
          <p:nvPr/>
        </p:nvSpPr>
        <p:spPr>
          <a:xfrm>
            <a:off x="5577840" y="2231136"/>
            <a:ext cx="59893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AWS Load Balancer Controller → an ALB per Ingress, real public IPs</a:t>
            </a:r>
            <a:endParaRPr b="0" i="0" sz="1100" u="none" cap="none" strike="noStrike">
              <a:solidFill>
                <a:schemeClr val="dk1"/>
              </a:solidFill>
              <a:latin typeface="Calibri"/>
              <a:ea typeface="Calibri"/>
              <a:cs typeface="Calibri"/>
              <a:sym typeface="Calibri"/>
            </a:endParaRPr>
          </a:p>
        </p:txBody>
      </p:sp>
      <p:sp>
        <p:nvSpPr>
          <p:cNvPr id="1003" name="Google Shape;1003;p33"/>
          <p:cNvSpPr/>
          <p:nvPr/>
        </p:nvSpPr>
        <p:spPr>
          <a:xfrm>
            <a:off x="502920" y="2999232"/>
            <a:ext cx="11183112" cy="676656"/>
          </a:xfrm>
          <a:prstGeom prst="roundRect">
            <a:avLst>
              <a:gd fmla="val 6757"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3"/>
          <p:cNvSpPr/>
          <p:nvPr/>
        </p:nvSpPr>
        <p:spPr>
          <a:xfrm>
            <a:off x="713232" y="2999232"/>
            <a:ext cx="33832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00"/>
              <a:buFont typeface="Courier New"/>
              <a:buNone/>
            </a:pPr>
            <a:r>
              <a:rPr b="1" i="0" lang="en-US" sz="1100" u="none" cap="none" strike="noStrike">
                <a:solidFill>
                  <a:srgbClr val="F8FAFC"/>
                </a:solidFill>
                <a:latin typeface="Courier New"/>
                <a:ea typeface="Courier New"/>
                <a:cs typeface="Courier New"/>
                <a:sym typeface="Courier New"/>
              </a:rPr>
              <a:t>PersistentVolumes</a:t>
            </a:r>
            <a:endParaRPr b="0" i="0" sz="1100" u="none" cap="none" strike="noStrike">
              <a:solidFill>
                <a:schemeClr val="dk1"/>
              </a:solidFill>
              <a:latin typeface="Calibri"/>
              <a:ea typeface="Calibri"/>
              <a:cs typeface="Calibri"/>
              <a:sym typeface="Calibri"/>
            </a:endParaRPr>
          </a:p>
        </p:txBody>
      </p:sp>
      <p:sp>
        <p:nvSpPr>
          <p:cNvPr id="1005" name="Google Shape;1005;p33"/>
          <p:cNvSpPr/>
          <p:nvPr/>
        </p:nvSpPr>
        <p:spPr>
          <a:xfrm>
            <a:off x="4160520" y="3154680"/>
            <a:ext cx="1234440" cy="365760"/>
          </a:xfrm>
          <a:prstGeom prst="roundRect">
            <a:avLst>
              <a:gd fmla="val 50000"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3"/>
          <p:cNvSpPr/>
          <p:nvPr/>
        </p:nvSpPr>
        <p:spPr>
          <a:xfrm>
            <a:off x="4160520" y="3154680"/>
            <a:ext cx="1234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950"/>
              <a:buFont typeface="Courier New"/>
              <a:buNone/>
            </a:pPr>
            <a:r>
              <a:rPr b="1" i="0" lang="en-US" sz="950" u="none" cap="none" strike="noStrike">
                <a:solidFill>
                  <a:srgbClr val="2DD4BF"/>
                </a:solidFill>
                <a:latin typeface="Courier New"/>
                <a:ea typeface="Courier New"/>
                <a:cs typeface="Courier New"/>
                <a:sym typeface="Courier New"/>
              </a:rPr>
              <a:t>upgraded</a:t>
            </a:r>
            <a:endParaRPr b="0" i="0" sz="950" u="none" cap="none" strike="noStrike">
              <a:solidFill>
                <a:schemeClr val="dk1"/>
              </a:solidFill>
              <a:latin typeface="Calibri"/>
              <a:ea typeface="Calibri"/>
              <a:cs typeface="Calibri"/>
              <a:sym typeface="Calibri"/>
            </a:endParaRPr>
          </a:p>
        </p:txBody>
      </p:sp>
      <p:sp>
        <p:nvSpPr>
          <p:cNvPr id="1007" name="Google Shape;1007;p33"/>
          <p:cNvSpPr/>
          <p:nvPr/>
        </p:nvSpPr>
        <p:spPr>
          <a:xfrm>
            <a:off x="5577840" y="2999232"/>
            <a:ext cx="59893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EBS CSI driver → PVCs become real EBS volumes, AZ-aware</a:t>
            </a:r>
            <a:endParaRPr b="0" i="0" sz="1100" u="none" cap="none" strike="noStrike">
              <a:solidFill>
                <a:schemeClr val="dk1"/>
              </a:solidFill>
              <a:latin typeface="Calibri"/>
              <a:ea typeface="Calibri"/>
              <a:cs typeface="Calibri"/>
              <a:sym typeface="Calibri"/>
            </a:endParaRPr>
          </a:p>
        </p:txBody>
      </p:sp>
      <p:sp>
        <p:nvSpPr>
          <p:cNvPr id="1008" name="Google Shape;1008;p33"/>
          <p:cNvSpPr/>
          <p:nvPr/>
        </p:nvSpPr>
        <p:spPr>
          <a:xfrm>
            <a:off x="502920" y="3767328"/>
            <a:ext cx="11183112" cy="676656"/>
          </a:xfrm>
          <a:prstGeom prst="roundRect">
            <a:avLst>
              <a:gd fmla="val 6757"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3"/>
          <p:cNvSpPr/>
          <p:nvPr/>
        </p:nvSpPr>
        <p:spPr>
          <a:xfrm>
            <a:off x="713232" y="3767328"/>
            <a:ext cx="33832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00"/>
              <a:buFont typeface="Courier New"/>
              <a:buNone/>
            </a:pPr>
            <a:r>
              <a:rPr b="1" i="0" lang="en-US" sz="1100" u="none" cap="none" strike="noStrike">
                <a:solidFill>
                  <a:srgbClr val="F8FAFC"/>
                </a:solidFill>
                <a:latin typeface="Courier New"/>
                <a:ea typeface="Courier New"/>
                <a:cs typeface="Courier New"/>
                <a:sym typeface="Courier New"/>
              </a:rPr>
              <a:t>LoadBalancer Services</a:t>
            </a:r>
            <a:endParaRPr b="0" i="0" sz="1100" u="none" cap="none" strike="noStrike">
              <a:solidFill>
                <a:schemeClr val="dk1"/>
              </a:solidFill>
              <a:latin typeface="Calibri"/>
              <a:ea typeface="Calibri"/>
              <a:cs typeface="Calibri"/>
              <a:sym typeface="Calibri"/>
            </a:endParaRPr>
          </a:p>
        </p:txBody>
      </p:sp>
      <p:sp>
        <p:nvSpPr>
          <p:cNvPr id="1010" name="Google Shape;1010;p33"/>
          <p:cNvSpPr/>
          <p:nvPr/>
        </p:nvSpPr>
        <p:spPr>
          <a:xfrm>
            <a:off x="4160520" y="3922776"/>
            <a:ext cx="1234440" cy="365760"/>
          </a:xfrm>
          <a:prstGeom prst="roundRect">
            <a:avLst>
              <a:gd fmla="val 50000"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3"/>
          <p:cNvSpPr/>
          <p:nvPr/>
        </p:nvSpPr>
        <p:spPr>
          <a:xfrm>
            <a:off x="4160520" y="3922776"/>
            <a:ext cx="1234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950"/>
              <a:buFont typeface="Courier New"/>
              <a:buNone/>
            </a:pPr>
            <a:r>
              <a:rPr b="1" i="0" lang="en-US" sz="950" u="none" cap="none" strike="noStrike">
                <a:solidFill>
                  <a:srgbClr val="2DD4BF"/>
                </a:solidFill>
                <a:latin typeface="Courier New"/>
                <a:ea typeface="Courier New"/>
                <a:cs typeface="Courier New"/>
                <a:sym typeface="Courier New"/>
              </a:rPr>
              <a:t>upgraded</a:t>
            </a:r>
            <a:endParaRPr b="0" i="0" sz="950" u="none" cap="none" strike="noStrike">
              <a:solidFill>
                <a:schemeClr val="dk1"/>
              </a:solidFill>
              <a:latin typeface="Calibri"/>
              <a:ea typeface="Calibri"/>
              <a:cs typeface="Calibri"/>
              <a:sym typeface="Calibri"/>
            </a:endParaRPr>
          </a:p>
        </p:txBody>
      </p:sp>
      <p:sp>
        <p:nvSpPr>
          <p:cNvPr id="1012" name="Google Shape;1012;p33"/>
          <p:cNvSpPr/>
          <p:nvPr/>
        </p:nvSpPr>
        <p:spPr>
          <a:xfrm>
            <a:off x="5577840" y="3767328"/>
            <a:ext cx="59893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type: LoadBalancer actually provisions an NLB (minikube could only pretend)</a:t>
            </a:r>
            <a:endParaRPr b="0" i="0" sz="1100" u="none" cap="none" strike="noStrike">
              <a:solidFill>
                <a:schemeClr val="dk1"/>
              </a:solidFill>
              <a:latin typeface="Calibri"/>
              <a:ea typeface="Calibri"/>
              <a:cs typeface="Calibri"/>
              <a:sym typeface="Calibri"/>
            </a:endParaRPr>
          </a:p>
        </p:txBody>
      </p:sp>
      <p:sp>
        <p:nvSpPr>
          <p:cNvPr id="1013" name="Google Shape;1013;p33"/>
          <p:cNvSpPr/>
          <p:nvPr/>
        </p:nvSpPr>
        <p:spPr>
          <a:xfrm>
            <a:off x="502920" y="4535424"/>
            <a:ext cx="11183112" cy="676656"/>
          </a:xfrm>
          <a:prstGeom prst="roundRect">
            <a:avLst>
              <a:gd fmla="val 6757"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3"/>
          <p:cNvSpPr/>
          <p:nvPr/>
        </p:nvSpPr>
        <p:spPr>
          <a:xfrm>
            <a:off x="713232" y="4535424"/>
            <a:ext cx="33832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00"/>
              <a:buFont typeface="Courier New"/>
              <a:buNone/>
            </a:pPr>
            <a:r>
              <a:rPr b="1" i="0" lang="en-US" sz="1100" u="none" cap="none" strike="noStrike">
                <a:solidFill>
                  <a:srgbClr val="F8FAFC"/>
                </a:solidFill>
                <a:latin typeface="Courier New"/>
                <a:ea typeface="Courier New"/>
                <a:cs typeface="Courier New"/>
                <a:sym typeface="Courier New"/>
              </a:rPr>
              <a:t>Cluster auth</a:t>
            </a:r>
            <a:endParaRPr b="0" i="0" sz="1100" u="none" cap="none" strike="noStrike">
              <a:solidFill>
                <a:schemeClr val="dk1"/>
              </a:solidFill>
              <a:latin typeface="Calibri"/>
              <a:ea typeface="Calibri"/>
              <a:cs typeface="Calibri"/>
              <a:sym typeface="Calibri"/>
            </a:endParaRPr>
          </a:p>
        </p:txBody>
      </p:sp>
      <p:sp>
        <p:nvSpPr>
          <p:cNvPr id="1015" name="Google Shape;1015;p33"/>
          <p:cNvSpPr/>
          <p:nvPr/>
        </p:nvSpPr>
        <p:spPr>
          <a:xfrm>
            <a:off x="4160520" y="4690872"/>
            <a:ext cx="1234440" cy="365760"/>
          </a:xfrm>
          <a:prstGeom prst="roundRect">
            <a:avLst>
              <a:gd fmla="val 50000" name="adj"/>
            </a:avLst>
          </a:prstGeom>
          <a:solidFill>
            <a:srgbClr val="0F172A"/>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3"/>
          <p:cNvSpPr/>
          <p:nvPr/>
        </p:nvSpPr>
        <p:spPr>
          <a:xfrm>
            <a:off x="4160520" y="4690872"/>
            <a:ext cx="1234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950"/>
              <a:buFont typeface="Courier New"/>
              <a:buNone/>
            </a:pPr>
            <a:r>
              <a:rPr b="1" i="0" lang="en-US" sz="950" u="none" cap="none" strike="noStrike">
                <a:solidFill>
                  <a:srgbClr val="FF9900"/>
                </a:solidFill>
                <a:latin typeface="Courier New"/>
                <a:ea typeface="Courier New"/>
                <a:cs typeface="Courier New"/>
                <a:sym typeface="Courier New"/>
              </a:rPr>
              <a:t>changed</a:t>
            </a:r>
            <a:endParaRPr b="0" i="0" sz="950" u="none" cap="none" strike="noStrike">
              <a:solidFill>
                <a:schemeClr val="dk1"/>
              </a:solidFill>
              <a:latin typeface="Calibri"/>
              <a:ea typeface="Calibri"/>
              <a:cs typeface="Calibri"/>
              <a:sym typeface="Calibri"/>
            </a:endParaRPr>
          </a:p>
        </p:txBody>
      </p:sp>
      <p:sp>
        <p:nvSpPr>
          <p:cNvPr id="1017" name="Google Shape;1017;p33"/>
          <p:cNvSpPr/>
          <p:nvPr/>
        </p:nvSpPr>
        <p:spPr>
          <a:xfrm>
            <a:off x="5577840" y="4535424"/>
            <a:ext cx="59893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aws eks update-kubeconfig; identity = your IAM role, RBAC maps via access entries</a:t>
            </a:r>
            <a:endParaRPr b="0" i="0" sz="1100" u="none" cap="none" strike="noStrike">
              <a:solidFill>
                <a:schemeClr val="dk1"/>
              </a:solidFill>
              <a:latin typeface="Calibri"/>
              <a:ea typeface="Calibri"/>
              <a:cs typeface="Calibri"/>
              <a:sym typeface="Calibri"/>
            </a:endParaRPr>
          </a:p>
        </p:txBody>
      </p:sp>
      <p:sp>
        <p:nvSpPr>
          <p:cNvPr id="1018" name="Google Shape;1018;p33"/>
          <p:cNvSpPr/>
          <p:nvPr/>
        </p:nvSpPr>
        <p:spPr>
          <a:xfrm>
            <a:off x="502920" y="5303520"/>
            <a:ext cx="11183112" cy="676656"/>
          </a:xfrm>
          <a:prstGeom prst="roundRect">
            <a:avLst>
              <a:gd fmla="val 6757"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3"/>
          <p:cNvSpPr/>
          <p:nvPr/>
        </p:nvSpPr>
        <p:spPr>
          <a:xfrm>
            <a:off x="713232" y="5303520"/>
            <a:ext cx="338328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100"/>
              <a:buFont typeface="Courier New"/>
              <a:buNone/>
            </a:pPr>
            <a:r>
              <a:rPr b="1" i="0" lang="en-US" sz="1100" u="none" cap="none" strike="noStrike">
                <a:solidFill>
                  <a:srgbClr val="F8FAFC"/>
                </a:solidFill>
                <a:latin typeface="Courier New"/>
                <a:ea typeface="Courier New"/>
                <a:cs typeface="Courier New"/>
                <a:sym typeface="Courier New"/>
              </a:rPr>
              <a:t>Pod → AWS access</a:t>
            </a:r>
            <a:endParaRPr b="0" i="0" sz="1100" u="none" cap="none" strike="noStrike">
              <a:solidFill>
                <a:schemeClr val="dk1"/>
              </a:solidFill>
              <a:latin typeface="Calibri"/>
              <a:ea typeface="Calibri"/>
              <a:cs typeface="Calibri"/>
              <a:sym typeface="Calibri"/>
            </a:endParaRPr>
          </a:p>
        </p:txBody>
      </p:sp>
      <p:sp>
        <p:nvSpPr>
          <p:cNvPr id="1020" name="Google Shape;1020;p33"/>
          <p:cNvSpPr/>
          <p:nvPr/>
        </p:nvSpPr>
        <p:spPr>
          <a:xfrm>
            <a:off x="4160520" y="5458968"/>
            <a:ext cx="1234440" cy="365760"/>
          </a:xfrm>
          <a:prstGeom prst="roundRect">
            <a:avLst>
              <a:gd fmla="val 50000" name="adj"/>
            </a:avLst>
          </a:prstGeom>
          <a:solidFill>
            <a:srgbClr val="0F172A"/>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3"/>
          <p:cNvSpPr/>
          <p:nvPr/>
        </p:nvSpPr>
        <p:spPr>
          <a:xfrm>
            <a:off x="4160520" y="5458968"/>
            <a:ext cx="12344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950"/>
              <a:buFont typeface="Courier New"/>
              <a:buNone/>
            </a:pPr>
            <a:r>
              <a:rPr b="1" i="0" lang="en-US" sz="950" u="none" cap="none" strike="noStrike">
                <a:solidFill>
                  <a:srgbClr val="FF9900"/>
                </a:solidFill>
                <a:latin typeface="Courier New"/>
                <a:ea typeface="Courier New"/>
                <a:cs typeface="Courier New"/>
                <a:sym typeface="Courier New"/>
              </a:rPr>
              <a:t>new</a:t>
            </a:r>
            <a:endParaRPr b="0" i="0" sz="950" u="none" cap="none" strike="noStrike">
              <a:solidFill>
                <a:schemeClr val="dk1"/>
              </a:solidFill>
              <a:latin typeface="Calibri"/>
              <a:ea typeface="Calibri"/>
              <a:cs typeface="Calibri"/>
              <a:sym typeface="Calibri"/>
            </a:endParaRPr>
          </a:p>
        </p:txBody>
      </p:sp>
      <p:sp>
        <p:nvSpPr>
          <p:cNvPr id="1022" name="Google Shape;1022;p33"/>
          <p:cNvSpPr/>
          <p:nvPr/>
        </p:nvSpPr>
        <p:spPr>
          <a:xfrm>
            <a:off x="5577840" y="5303520"/>
            <a:ext cx="5989320" cy="6766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IRSA / Pod Identity: a pod assumes an IAM role — no keys in secrets</a:t>
            </a:r>
            <a:endParaRPr b="0" i="0" sz="1100" u="none" cap="none" strike="noStrike">
              <a:solidFill>
                <a:schemeClr val="dk1"/>
              </a:solidFill>
              <a:latin typeface="Calibri"/>
              <a:ea typeface="Calibri"/>
              <a:cs typeface="Calibri"/>
              <a:sym typeface="Calibri"/>
            </a:endParaRPr>
          </a:p>
        </p:txBody>
      </p:sp>
      <p:sp>
        <p:nvSpPr>
          <p:cNvPr id="1023" name="Google Shape;1023;p33"/>
          <p:cNvSpPr/>
          <p:nvPr/>
        </p:nvSpPr>
        <p:spPr>
          <a:xfrm>
            <a:off x="502920" y="6172200"/>
            <a:ext cx="111556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BF24"/>
              </a:buClr>
              <a:buSzPts val="1350"/>
              <a:buFont typeface="Calibri"/>
              <a:buNone/>
            </a:pPr>
            <a:r>
              <a:rPr b="0" i="1" lang="en-US" sz="1350" u="none" cap="none" strike="noStrike">
                <a:solidFill>
                  <a:srgbClr val="FBBF24"/>
                </a:solidFill>
                <a:latin typeface="Calibri"/>
                <a:ea typeface="Calibri"/>
                <a:cs typeface="Calibri"/>
                <a:sym typeface="Calibri"/>
              </a:rPr>
              <a:t>The mental shift: on EKS, Kubernetes objects can summon real AWS infrastructure. YAML in, load balancers out.</a:t>
            </a:r>
            <a:endParaRPr b="0" i="0" sz="1350" u="none" cap="none" strike="noStrike">
              <a:solidFill>
                <a:schemeClr val="dk1"/>
              </a:solidFill>
              <a:latin typeface="Calibri"/>
              <a:ea typeface="Calibri"/>
              <a:cs typeface="Calibri"/>
              <a:sym typeface="Calibri"/>
            </a:endParaRPr>
          </a:p>
        </p:txBody>
      </p:sp>
      <p:sp>
        <p:nvSpPr>
          <p:cNvPr id="1024" name="Google Shape;1024;p33"/>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025" name="Google Shape;1025;p33"/>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What transfers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30" name="Shape 1030"/>
        <p:cNvGrpSpPr/>
        <p:nvPr/>
      </p:nvGrpSpPr>
      <p:grpSpPr>
        <a:xfrm>
          <a:off x="0" y="0"/>
          <a:ext cx="0" cy="0"/>
          <a:chOff x="0" y="0"/>
          <a:chExt cx="0" cy="0"/>
        </a:xfrm>
      </p:grpSpPr>
      <p:sp>
        <p:nvSpPr>
          <p:cNvPr id="1031" name="Google Shape;1031;p34"/>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26CE5"/>
              </a:buClr>
              <a:buSzPts val="1200"/>
              <a:buFont typeface="Courier New"/>
              <a:buNone/>
            </a:pPr>
            <a:r>
              <a:rPr b="1" i="0" lang="en-US" sz="1200" u="none" cap="none" strike="noStrike">
                <a:solidFill>
                  <a:srgbClr val="326CE5"/>
                </a:solidFill>
                <a:latin typeface="Courier New"/>
                <a:ea typeface="Courier New"/>
                <a:cs typeface="Courier New"/>
                <a:sym typeface="Courier New"/>
              </a:rPr>
              <a:t>EKS · HANDS-ON</a:t>
            </a:r>
            <a:endParaRPr b="0" i="0" sz="1200" u="none" cap="none" strike="noStrike">
              <a:solidFill>
                <a:schemeClr val="dk1"/>
              </a:solidFill>
              <a:latin typeface="Calibri"/>
              <a:ea typeface="Calibri"/>
              <a:cs typeface="Calibri"/>
              <a:sym typeface="Calibri"/>
            </a:endParaRPr>
          </a:p>
        </p:txBody>
      </p:sp>
      <p:sp>
        <p:nvSpPr>
          <p:cNvPr id="1032" name="Google Shape;1032;p34"/>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From zero to kubectl</a:t>
            </a:r>
            <a:endParaRPr b="0" i="0" sz="3000" u="none" cap="none" strike="noStrike">
              <a:solidFill>
                <a:schemeClr val="dk1"/>
              </a:solidFill>
              <a:latin typeface="Calibri"/>
              <a:ea typeface="Calibri"/>
              <a:cs typeface="Calibri"/>
              <a:sym typeface="Calibri"/>
            </a:endParaRPr>
          </a:p>
        </p:txBody>
      </p:sp>
      <p:sp>
        <p:nvSpPr>
          <p:cNvPr id="1033" name="Google Shape;1033;p34"/>
          <p:cNvSpPr/>
          <p:nvPr/>
        </p:nvSpPr>
        <p:spPr>
          <a:xfrm>
            <a:off x="502920" y="1417320"/>
            <a:ext cx="7223760" cy="4343400"/>
          </a:xfrm>
          <a:prstGeom prst="roundRect">
            <a:avLst>
              <a:gd fmla="val 1684"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4"/>
          <p:cNvSpPr/>
          <p:nvPr/>
        </p:nvSpPr>
        <p:spPr>
          <a:xfrm>
            <a:off x="704088" y="154533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4"/>
          <p:cNvSpPr/>
          <p:nvPr/>
        </p:nvSpPr>
        <p:spPr>
          <a:xfrm>
            <a:off x="886968" y="154533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4"/>
          <p:cNvSpPr/>
          <p:nvPr/>
        </p:nvSpPr>
        <p:spPr>
          <a:xfrm>
            <a:off x="1069848" y="154533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4"/>
          <p:cNvSpPr/>
          <p:nvPr/>
        </p:nvSpPr>
        <p:spPr>
          <a:xfrm>
            <a:off x="1280160" y="1472184"/>
            <a:ext cx="6309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bash — eksctl + kubectl</a:t>
            </a:r>
            <a:endParaRPr b="0" i="0" sz="1000" u="none" cap="none" strike="noStrike">
              <a:solidFill>
                <a:schemeClr val="dk1"/>
              </a:solidFill>
              <a:latin typeface="Calibri"/>
              <a:ea typeface="Calibri"/>
              <a:cs typeface="Calibri"/>
              <a:sym typeface="Calibri"/>
            </a:endParaRPr>
          </a:p>
        </p:txBody>
      </p:sp>
      <p:sp>
        <p:nvSpPr>
          <p:cNvPr id="1038" name="Google Shape;1038;p34"/>
          <p:cNvSpPr/>
          <p:nvPr/>
        </p:nvSpPr>
        <p:spPr>
          <a:xfrm>
            <a:off x="704088" y="1801368"/>
            <a:ext cx="6821424" cy="38404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eksctl create cluster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--name bootcamp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--region ap-south-1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--nodegroup-name workers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--node-type t3.medium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--nodes 2 --spot</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15–20 min: VPC, control plane, node group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aws eks update-kubeconfig --name bootcamp</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Updated context arn:aws:eks:ap-south-1:…:cluster/bootcamp</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kubectl get nodes</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NAME                    STATUS   VERSION</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ip-192-168-12-34.ap-…   Ready    v1.33.1</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ip-192-168-56-78.ap-…   Ready    v1.33.1</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4ADE80"/>
              </a:buClr>
              <a:buSzPts val="1050"/>
              <a:buFont typeface="Courier New"/>
              <a:buNone/>
            </a:pPr>
            <a:r>
              <a:rPr b="0" i="0" lang="en-US" sz="1050" u="none" cap="none" strike="noStrike">
                <a:solidFill>
                  <a:srgbClr val="4ADE80"/>
                </a:solidFill>
                <a:latin typeface="Courier New"/>
                <a:ea typeface="Courier New"/>
                <a:cs typeface="Courier New"/>
                <a:sym typeface="Courier New"/>
              </a:rPr>
              <a:t>$ kubectl apply -f podinfo/     # old friends work</a:t>
            </a:r>
            <a:endParaRPr b="0" i="0" sz="1050" u="none" cap="none" strike="noStrike">
              <a:solidFill>
                <a:schemeClr val="dk1"/>
              </a:solidFill>
              <a:latin typeface="Calibri"/>
              <a:ea typeface="Calibri"/>
              <a:cs typeface="Calibri"/>
              <a:sym typeface="Calibri"/>
            </a:endParaRPr>
          </a:p>
        </p:txBody>
      </p:sp>
      <p:sp>
        <p:nvSpPr>
          <p:cNvPr id="1039" name="Google Shape;1039;p34"/>
          <p:cNvSpPr/>
          <p:nvPr/>
        </p:nvSpPr>
        <p:spPr>
          <a:xfrm>
            <a:off x="7891272" y="1417320"/>
            <a:ext cx="3794760" cy="1353312"/>
          </a:xfrm>
          <a:prstGeom prst="roundRect">
            <a:avLst>
              <a:gd fmla="val 5405"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4"/>
          <p:cNvSpPr/>
          <p:nvPr/>
        </p:nvSpPr>
        <p:spPr>
          <a:xfrm>
            <a:off x="8092440" y="1508760"/>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eksctl</a:t>
            </a:r>
            <a:endParaRPr b="0" i="0" sz="1200" u="none" cap="none" strike="noStrike">
              <a:solidFill>
                <a:schemeClr val="dk1"/>
              </a:solidFill>
              <a:latin typeface="Calibri"/>
              <a:ea typeface="Calibri"/>
              <a:cs typeface="Calibri"/>
              <a:sym typeface="Calibri"/>
            </a:endParaRPr>
          </a:p>
        </p:txBody>
      </p:sp>
      <p:sp>
        <p:nvSpPr>
          <p:cNvPr id="1041" name="Google Shape;1041;p34"/>
          <p:cNvSpPr/>
          <p:nvPr/>
        </p:nvSpPr>
        <p:spPr>
          <a:xfrm>
            <a:off x="8092440" y="1874520"/>
            <a:ext cx="3429000" cy="841248"/>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The community CLI that turns one command into ~30 CloudFormation resources: VPC, subnets, IAM roles, cluster, nodes.</a:t>
            </a:r>
            <a:endParaRPr b="0" i="0" sz="950" u="none" cap="none" strike="noStrike">
              <a:solidFill>
                <a:schemeClr val="dk1"/>
              </a:solidFill>
              <a:latin typeface="Calibri"/>
              <a:ea typeface="Calibri"/>
              <a:cs typeface="Calibri"/>
              <a:sym typeface="Calibri"/>
            </a:endParaRPr>
          </a:p>
        </p:txBody>
      </p:sp>
      <p:sp>
        <p:nvSpPr>
          <p:cNvPr id="1042" name="Google Shape;1042;p34"/>
          <p:cNvSpPr/>
          <p:nvPr/>
        </p:nvSpPr>
        <p:spPr>
          <a:xfrm>
            <a:off x="7891272" y="2862072"/>
            <a:ext cx="3794760" cy="1353312"/>
          </a:xfrm>
          <a:prstGeom prst="roundRect">
            <a:avLst>
              <a:gd fmla="val 5405"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4"/>
          <p:cNvSpPr/>
          <p:nvPr/>
        </p:nvSpPr>
        <p:spPr>
          <a:xfrm>
            <a:off x="8092440" y="2953512"/>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update-kubeconfig</a:t>
            </a:r>
            <a:endParaRPr b="0" i="0" sz="1200" u="none" cap="none" strike="noStrike">
              <a:solidFill>
                <a:schemeClr val="dk1"/>
              </a:solidFill>
              <a:latin typeface="Calibri"/>
              <a:ea typeface="Calibri"/>
              <a:cs typeface="Calibri"/>
              <a:sym typeface="Calibri"/>
            </a:endParaRPr>
          </a:p>
        </p:txBody>
      </p:sp>
      <p:sp>
        <p:nvSpPr>
          <p:cNvPr id="1044" name="Google Shape;1044;p34"/>
          <p:cNvSpPr/>
          <p:nvPr/>
        </p:nvSpPr>
        <p:spPr>
          <a:xfrm>
            <a:off x="8092440" y="3319272"/>
            <a:ext cx="3429000" cy="841248"/>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Writes a kubeconfig entry whose 'password' is an IAM-signed token, minted fresh per kubectl call.</a:t>
            </a:r>
            <a:endParaRPr b="0" i="0" sz="950" u="none" cap="none" strike="noStrike">
              <a:solidFill>
                <a:schemeClr val="dk1"/>
              </a:solidFill>
              <a:latin typeface="Calibri"/>
              <a:ea typeface="Calibri"/>
              <a:cs typeface="Calibri"/>
              <a:sym typeface="Calibri"/>
            </a:endParaRPr>
          </a:p>
        </p:txBody>
      </p:sp>
      <p:sp>
        <p:nvSpPr>
          <p:cNvPr id="1045" name="Google Shape;1045;p34"/>
          <p:cNvSpPr/>
          <p:nvPr/>
        </p:nvSpPr>
        <p:spPr>
          <a:xfrm>
            <a:off x="7891272" y="4306824"/>
            <a:ext cx="3794760" cy="1353312"/>
          </a:xfrm>
          <a:prstGeom prst="roundRect">
            <a:avLst>
              <a:gd fmla="val 5405" name="adj"/>
            </a:avLst>
          </a:prstGeom>
          <a:solidFill>
            <a:srgbClr val="1E293B"/>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4"/>
          <p:cNvSpPr/>
          <p:nvPr/>
        </p:nvSpPr>
        <p:spPr>
          <a:xfrm>
            <a:off x="8092440" y="4398264"/>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Courier New"/>
              <a:buNone/>
            </a:pPr>
            <a:r>
              <a:rPr b="1" i="0" lang="en-US" sz="1200" u="none" cap="none" strike="noStrike">
                <a:solidFill>
                  <a:srgbClr val="F97316"/>
                </a:solidFill>
                <a:latin typeface="Courier New"/>
                <a:ea typeface="Courier New"/>
                <a:cs typeface="Courier New"/>
                <a:sym typeface="Courier New"/>
              </a:rPr>
              <a:t>Cost care</a:t>
            </a:r>
            <a:endParaRPr b="0" i="0" sz="1200" u="none" cap="none" strike="noStrike">
              <a:solidFill>
                <a:schemeClr val="dk1"/>
              </a:solidFill>
              <a:latin typeface="Calibri"/>
              <a:ea typeface="Calibri"/>
              <a:cs typeface="Calibri"/>
              <a:sym typeface="Calibri"/>
            </a:endParaRPr>
          </a:p>
        </p:txBody>
      </p:sp>
      <p:sp>
        <p:nvSpPr>
          <p:cNvPr id="1047" name="Google Shape;1047;p34"/>
          <p:cNvSpPr/>
          <p:nvPr/>
        </p:nvSpPr>
        <p:spPr>
          <a:xfrm>
            <a:off x="8092440" y="4764024"/>
            <a:ext cx="3429000" cy="841248"/>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Control plane $0.10/h + nodes. ~$2.40/day even when idle — create, lab, DELETE. eksctl delete cluster is homework.</a:t>
            </a:r>
            <a:endParaRPr b="0" i="0" sz="950" u="none" cap="none" strike="noStrike">
              <a:solidFill>
                <a:schemeClr val="dk1"/>
              </a:solidFill>
              <a:latin typeface="Calibri"/>
              <a:ea typeface="Calibri"/>
              <a:cs typeface="Calibri"/>
              <a:sym typeface="Calibri"/>
            </a:endParaRPr>
          </a:p>
        </p:txBody>
      </p:sp>
      <p:sp>
        <p:nvSpPr>
          <p:cNvPr id="1048" name="Google Shape;1048;p34"/>
          <p:cNvSpPr/>
          <p:nvPr/>
        </p:nvSpPr>
        <p:spPr>
          <a:xfrm>
            <a:off x="502920" y="5989320"/>
            <a:ext cx="111556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1" lang="en-US" sz="1300" u="none" cap="none" strike="noStrike">
                <a:solidFill>
                  <a:srgbClr val="94A3B8"/>
                </a:solidFill>
                <a:latin typeface="Calibri"/>
                <a:ea typeface="Calibri"/>
                <a:cs typeface="Calibri"/>
                <a:sym typeface="Calibri"/>
              </a:rPr>
              <a:t>Then the K8s module's Day 3–9 material replays unchanged — on real, internet-facing infrastructure.</a:t>
            </a:r>
            <a:endParaRPr b="0" i="0" sz="1300" u="none" cap="none" strike="noStrike">
              <a:solidFill>
                <a:schemeClr val="dk1"/>
              </a:solidFill>
              <a:latin typeface="Calibri"/>
              <a:ea typeface="Calibri"/>
              <a:cs typeface="Calibri"/>
              <a:sym typeface="Calibri"/>
            </a:endParaRPr>
          </a:p>
        </p:txBody>
      </p:sp>
      <p:sp>
        <p:nvSpPr>
          <p:cNvPr id="1049" name="Google Shape;1049;p34"/>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050" name="Google Shape;1050;p34"/>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EKS · CLI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55" name="Shape 1055"/>
        <p:cNvGrpSpPr/>
        <p:nvPr/>
      </p:nvGrpSpPr>
      <p:grpSpPr>
        <a:xfrm>
          <a:off x="0" y="0"/>
          <a:ext cx="0" cy="0"/>
          <a:chOff x="0" y="0"/>
          <a:chExt cx="0" cy="0"/>
        </a:xfrm>
      </p:grpSpPr>
      <p:sp>
        <p:nvSpPr>
          <p:cNvPr id="1056" name="Google Shape;1056;p35"/>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500"/>
              <a:buFont typeface="Courier New"/>
              <a:buNone/>
            </a:pPr>
            <a:r>
              <a:rPr b="1" i="0" lang="en-US" sz="1500" u="none" cap="none" strike="noStrike">
                <a:solidFill>
                  <a:srgbClr val="2DD4BF"/>
                </a:solidFill>
                <a:latin typeface="Courier New"/>
                <a:ea typeface="Courier New"/>
                <a:cs typeface="Courier New"/>
                <a:sym typeface="Courier New"/>
              </a:rPr>
              <a:t>PART 7</a:t>
            </a:r>
            <a:endParaRPr b="0" i="0" sz="1500" u="none" cap="none" strike="noStrike">
              <a:solidFill>
                <a:schemeClr val="dk1"/>
              </a:solidFill>
              <a:latin typeface="Calibri"/>
              <a:ea typeface="Calibri"/>
              <a:cs typeface="Calibri"/>
              <a:sym typeface="Calibri"/>
            </a:endParaRPr>
          </a:p>
        </p:txBody>
      </p:sp>
      <p:sp>
        <p:nvSpPr>
          <p:cNvPr id="1057" name="Google Shape;1057;p35"/>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Telemetry</a:t>
            </a:r>
            <a:endParaRPr b="0" i="0" sz="4400" u="none" cap="none" strike="noStrike">
              <a:solidFill>
                <a:schemeClr val="dk1"/>
              </a:solidFill>
              <a:latin typeface="Calibri"/>
              <a:ea typeface="Calibri"/>
              <a:cs typeface="Calibri"/>
              <a:sym typeface="Calibri"/>
            </a:endParaRPr>
          </a:p>
        </p:txBody>
      </p:sp>
      <p:sp>
        <p:nvSpPr>
          <p:cNvPr id="1058" name="Google Shape;1058;p35"/>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CloudWatch &amp; X-Ray — metrics, logs and traces,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so 3 AM you can see what 3 PM you deployed.</a:t>
            </a:r>
            <a:endParaRPr b="0" i="0" sz="1600" u="none" cap="none" strike="noStrike">
              <a:solidFill>
                <a:schemeClr val="dk1"/>
              </a:solidFill>
              <a:latin typeface="Calibri"/>
              <a:ea typeface="Calibri"/>
              <a:cs typeface="Calibri"/>
              <a:sym typeface="Calibri"/>
            </a:endParaRPr>
          </a:p>
        </p:txBody>
      </p:sp>
      <p:sp>
        <p:nvSpPr>
          <p:cNvPr id="1059" name="Google Shape;1059;p35"/>
          <p:cNvSpPr/>
          <p:nvPr/>
        </p:nvSpPr>
        <p:spPr>
          <a:xfrm>
            <a:off x="8778240" y="1965960"/>
            <a:ext cx="2468880" cy="2468880"/>
          </a:xfrm>
          <a:prstGeom prst="ellipse">
            <a:avLst/>
          </a:prstGeom>
          <a:solidFill>
            <a:srgbClr val="1E293B"/>
          </a:solidFill>
          <a:ln cap="flat" cmpd="sng" w="254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0" name="Google Shape;1060;p35"/>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1061" name="Google Shape;1061;p35"/>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062" name="Google Shape;1062;p35"/>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67" name="Shape 1067"/>
        <p:cNvGrpSpPr/>
        <p:nvPr/>
      </p:nvGrpSpPr>
      <p:grpSpPr>
        <a:xfrm>
          <a:off x="0" y="0"/>
          <a:ext cx="0" cy="0"/>
          <a:chOff x="0" y="0"/>
          <a:chExt cx="0" cy="0"/>
        </a:xfrm>
      </p:grpSpPr>
      <p:sp>
        <p:nvSpPr>
          <p:cNvPr id="1068" name="Google Shape;1068;p36"/>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TELEMETRY · CONCEPTS</a:t>
            </a:r>
            <a:endParaRPr b="0" i="0" sz="1200" u="none" cap="none" strike="noStrike">
              <a:solidFill>
                <a:schemeClr val="dk1"/>
              </a:solidFill>
              <a:latin typeface="Calibri"/>
              <a:ea typeface="Calibri"/>
              <a:cs typeface="Calibri"/>
              <a:sym typeface="Calibri"/>
            </a:endParaRPr>
          </a:p>
        </p:txBody>
      </p:sp>
      <p:sp>
        <p:nvSpPr>
          <p:cNvPr id="1069" name="Google Shape;1069;p36"/>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The three pillars of observability</a:t>
            </a:r>
            <a:endParaRPr b="0" i="0" sz="3000" u="none" cap="none" strike="noStrike">
              <a:solidFill>
                <a:schemeClr val="dk1"/>
              </a:solidFill>
              <a:latin typeface="Calibri"/>
              <a:ea typeface="Calibri"/>
              <a:cs typeface="Calibri"/>
              <a:sym typeface="Calibri"/>
            </a:endParaRPr>
          </a:p>
        </p:txBody>
      </p:sp>
      <p:sp>
        <p:nvSpPr>
          <p:cNvPr id="1070" name="Google Shape;1070;p36"/>
          <p:cNvSpPr/>
          <p:nvPr/>
        </p:nvSpPr>
        <p:spPr>
          <a:xfrm>
            <a:off x="502920" y="1325880"/>
            <a:ext cx="11183112" cy="658368"/>
          </a:xfrm>
          <a:prstGeom prst="roundRect">
            <a:avLst>
              <a:gd fmla="val 11111"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1" name="Google Shape;1071;p36"/>
          <p:cNvPicPr preferRelativeResize="0"/>
          <p:nvPr/>
        </p:nvPicPr>
        <p:blipFill rotWithShape="1">
          <a:blip r:embed="rId3">
            <a:alphaModFix/>
          </a:blip>
          <a:srcRect b="0" l="0" r="0" t="0"/>
          <a:stretch/>
        </p:blipFill>
        <p:spPr>
          <a:xfrm>
            <a:off x="704088" y="1508760"/>
            <a:ext cx="292608" cy="292608"/>
          </a:xfrm>
          <a:prstGeom prst="rect">
            <a:avLst/>
          </a:prstGeom>
          <a:noFill/>
          <a:ln>
            <a:noFill/>
          </a:ln>
        </p:spPr>
      </p:pic>
      <p:sp>
        <p:nvSpPr>
          <p:cNvPr id="1072" name="Google Shape;1072;p36"/>
          <p:cNvSpPr/>
          <p:nvPr/>
        </p:nvSpPr>
        <p:spPr>
          <a:xfrm>
            <a:off x="1143000" y="1417320"/>
            <a:ext cx="10341864" cy="47548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250"/>
              <a:buFont typeface="Calibri"/>
              <a:buNone/>
            </a:pPr>
            <a:r>
              <a:rPr b="0" i="0" lang="en-US" sz="1250" u="none" cap="none" strike="noStrike">
                <a:solidFill>
                  <a:srgbClr val="E2E8F0"/>
                </a:solidFill>
                <a:latin typeface="Calibri"/>
                <a:ea typeface="Calibri"/>
                <a:cs typeface="Calibri"/>
                <a:sym typeface="Calibri"/>
              </a:rPr>
              <a:t>It's 3 AM. Checkout is failing for some users. You have 40 containers on 6 nodes across 3 AZs. SSH-and-grep died with the single server.</a:t>
            </a:r>
            <a:endParaRPr b="0" i="0" sz="1250" u="none" cap="none" strike="noStrike">
              <a:solidFill>
                <a:schemeClr val="dk1"/>
              </a:solidFill>
              <a:latin typeface="Calibri"/>
              <a:ea typeface="Calibri"/>
              <a:cs typeface="Calibri"/>
              <a:sym typeface="Calibri"/>
            </a:endParaRPr>
          </a:p>
        </p:txBody>
      </p:sp>
      <p:sp>
        <p:nvSpPr>
          <p:cNvPr id="1073" name="Google Shape;1073;p36"/>
          <p:cNvSpPr/>
          <p:nvPr/>
        </p:nvSpPr>
        <p:spPr>
          <a:xfrm>
            <a:off x="502920" y="2194560"/>
            <a:ext cx="3639312" cy="2880360"/>
          </a:xfrm>
          <a:prstGeom prst="roundRect">
            <a:avLst>
              <a:gd fmla="val 254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6"/>
          <p:cNvSpPr/>
          <p:nvPr/>
        </p:nvSpPr>
        <p:spPr>
          <a:xfrm>
            <a:off x="704088" y="237744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5" name="Google Shape;1075;p36"/>
          <p:cNvPicPr preferRelativeResize="0"/>
          <p:nvPr/>
        </p:nvPicPr>
        <p:blipFill rotWithShape="1">
          <a:blip r:embed="rId4">
            <a:alphaModFix/>
          </a:blip>
          <a:srcRect b="0" l="0" r="0" t="0"/>
          <a:stretch/>
        </p:blipFill>
        <p:spPr>
          <a:xfrm>
            <a:off x="822960" y="2496312"/>
            <a:ext cx="237744" cy="237744"/>
          </a:xfrm>
          <a:prstGeom prst="rect">
            <a:avLst/>
          </a:prstGeom>
          <a:noFill/>
          <a:ln>
            <a:noFill/>
          </a:ln>
        </p:spPr>
      </p:pic>
      <p:sp>
        <p:nvSpPr>
          <p:cNvPr id="1076" name="Google Shape;1076;p36"/>
          <p:cNvSpPr/>
          <p:nvPr/>
        </p:nvSpPr>
        <p:spPr>
          <a:xfrm>
            <a:off x="1307592" y="234086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Metrics</a:t>
            </a:r>
            <a:endParaRPr b="0" i="0" sz="1500" u="none" cap="none" strike="noStrike">
              <a:solidFill>
                <a:schemeClr val="dk1"/>
              </a:solidFill>
              <a:latin typeface="Calibri"/>
              <a:ea typeface="Calibri"/>
              <a:cs typeface="Calibri"/>
              <a:sym typeface="Calibri"/>
            </a:endParaRPr>
          </a:p>
        </p:txBody>
      </p:sp>
      <p:sp>
        <p:nvSpPr>
          <p:cNvPr id="1077" name="Google Shape;1077;p36"/>
          <p:cNvSpPr/>
          <p:nvPr/>
        </p:nvSpPr>
        <p:spPr>
          <a:xfrm>
            <a:off x="722376" y="2971800"/>
            <a:ext cx="3200400" cy="1965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Numbers over time: CPU %, request rate, p99 latency, error count. Cheap to store, fast to alert on.</a:t>
            </a:r>
            <a:endParaRPr b="0" i="0" sz="1200" u="none" cap="none" strike="noStrike">
              <a:solidFill>
                <a:schemeClr val="dk1"/>
              </a:solidFill>
              <a:latin typeface="Calibri"/>
              <a:ea typeface="Calibri"/>
              <a:cs typeface="Calibri"/>
              <a:sym typeface="Calibri"/>
            </a:endParaRPr>
          </a:p>
        </p:txBody>
      </p:sp>
      <p:sp>
        <p:nvSpPr>
          <p:cNvPr id="1078" name="Google Shape;1078;p36"/>
          <p:cNvSpPr/>
          <p:nvPr/>
        </p:nvSpPr>
        <p:spPr>
          <a:xfrm>
            <a:off x="722376" y="4389120"/>
            <a:ext cx="3200400" cy="502920"/>
          </a:xfrm>
          <a:prstGeom prst="roundRect">
            <a:avLst>
              <a:gd fmla="val 10909" name="adj"/>
            </a:avLst>
          </a:prstGeom>
          <a:solidFill>
            <a:srgbClr val="0F172A"/>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6"/>
          <p:cNvSpPr/>
          <p:nvPr/>
        </p:nvSpPr>
        <p:spPr>
          <a:xfrm>
            <a:off x="722376" y="4389120"/>
            <a:ext cx="3200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D4BF"/>
              </a:buClr>
              <a:buSzPts val="1200"/>
              <a:buFont typeface="Calibri"/>
              <a:buNone/>
            </a:pPr>
            <a:r>
              <a:rPr b="0" i="1" lang="en-US" sz="1200" u="none" cap="none" strike="noStrike">
                <a:solidFill>
                  <a:srgbClr val="2DD4BF"/>
                </a:solidFill>
                <a:latin typeface="Calibri"/>
                <a:ea typeface="Calibri"/>
                <a:cs typeface="Calibri"/>
                <a:sym typeface="Calibri"/>
              </a:rPr>
              <a:t>“Is something wrong?”</a:t>
            </a:r>
            <a:endParaRPr b="0" i="0" sz="1200" u="none" cap="none" strike="noStrike">
              <a:solidFill>
                <a:schemeClr val="dk1"/>
              </a:solidFill>
              <a:latin typeface="Calibri"/>
              <a:ea typeface="Calibri"/>
              <a:cs typeface="Calibri"/>
              <a:sym typeface="Calibri"/>
            </a:endParaRPr>
          </a:p>
        </p:txBody>
      </p:sp>
      <p:sp>
        <p:nvSpPr>
          <p:cNvPr id="1080" name="Google Shape;1080;p36"/>
          <p:cNvSpPr/>
          <p:nvPr/>
        </p:nvSpPr>
        <p:spPr>
          <a:xfrm>
            <a:off x="4274820" y="2194560"/>
            <a:ext cx="3639312" cy="2880360"/>
          </a:xfrm>
          <a:prstGeom prst="roundRect">
            <a:avLst>
              <a:gd fmla="val 254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6"/>
          <p:cNvSpPr/>
          <p:nvPr/>
        </p:nvSpPr>
        <p:spPr>
          <a:xfrm>
            <a:off x="4475988" y="237744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2" name="Google Shape;1082;p36"/>
          <p:cNvPicPr preferRelativeResize="0"/>
          <p:nvPr/>
        </p:nvPicPr>
        <p:blipFill rotWithShape="1">
          <a:blip r:embed="rId5">
            <a:alphaModFix/>
          </a:blip>
          <a:srcRect b="0" l="0" r="0" t="0"/>
          <a:stretch/>
        </p:blipFill>
        <p:spPr>
          <a:xfrm>
            <a:off x="4594860" y="2496312"/>
            <a:ext cx="237744" cy="237744"/>
          </a:xfrm>
          <a:prstGeom prst="rect">
            <a:avLst/>
          </a:prstGeom>
          <a:noFill/>
          <a:ln>
            <a:noFill/>
          </a:ln>
        </p:spPr>
      </p:pic>
      <p:sp>
        <p:nvSpPr>
          <p:cNvPr id="1083" name="Google Shape;1083;p36"/>
          <p:cNvSpPr/>
          <p:nvPr/>
        </p:nvSpPr>
        <p:spPr>
          <a:xfrm>
            <a:off x="5079492" y="234086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Logs</a:t>
            </a:r>
            <a:endParaRPr b="0" i="0" sz="1500" u="none" cap="none" strike="noStrike">
              <a:solidFill>
                <a:schemeClr val="dk1"/>
              </a:solidFill>
              <a:latin typeface="Calibri"/>
              <a:ea typeface="Calibri"/>
              <a:cs typeface="Calibri"/>
              <a:sym typeface="Calibri"/>
            </a:endParaRPr>
          </a:p>
        </p:txBody>
      </p:sp>
      <p:sp>
        <p:nvSpPr>
          <p:cNvPr id="1084" name="Google Shape;1084;p36"/>
          <p:cNvSpPr/>
          <p:nvPr/>
        </p:nvSpPr>
        <p:spPr>
          <a:xfrm>
            <a:off x="4494276" y="2971800"/>
            <a:ext cx="3200400" cy="1965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Timestamped event records with detail: stack traces, request bodies, audit trails. Expensive, rich.</a:t>
            </a:r>
            <a:endParaRPr b="0" i="0" sz="1200" u="none" cap="none" strike="noStrike">
              <a:solidFill>
                <a:schemeClr val="dk1"/>
              </a:solidFill>
              <a:latin typeface="Calibri"/>
              <a:ea typeface="Calibri"/>
              <a:cs typeface="Calibri"/>
              <a:sym typeface="Calibri"/>
            </a:endParaRPr>
          </a:p>
        </p:txBody>
      </p:sp>
      <p:sp>
        <p:nvSpPr>
          <p:cNvPr id="1085" name="Google Shape;1085;p36"/>
          <p:cNvSpPr/>
          <p:nvPr/>
        </p:nvSpPr>
        <p:spPr>
          <a:xfrm>
            <a:off x="4494276" y="4389120"/>
            <a:ext cx="3200400" cy="502920"/>
          </a:xfrm>
          <a:prstGeom prst="roundRect">
            <a:avLst>
              <a:gd fmla="val 10909" name="adj"/>
            </a:avLst>
          </a:prstGeom>
          <a:solidFill>
            <a:srgbClr val="0F172A"/>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6"/>
          <p:cNvSpPr/>
          <p:nvPr/>
        </p:nvSpPr>
        <p:spPr>
          <a:xfrm>
            <a:off x="4494276" y="4389120"/>
            <a:ext cx="3200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9900"/>
              </a:buClr>
              <a:buSzPts val="1200"/>
              <a:buFont typeface="Calibri"/>
              <a:buNone/>
            </a:pPr>
            <a:r>
              <a:rPr b="0" i="1" lang="en-US" sz="1200" u="none" cap="none" strike="noStrike">
                <a:solidFill>
                  <a:srgbClr val="FF9900"/>
                </a:solidFill>
                <a:latin typeface="Calibri"/>
                <a:ea typeface="Calibri"/>
                <a:cs typeface="Calibri"/>
                <a:sym typeface="Calibri"/>
              </a:rPr>
              <a:t>“What exactly happened?”</a:t>
            </a:r>
            <a:endParaRPr b="0" i="0" sz="1200" u="none" cap="none" strike="noStrike">
              <a:solidFill>
                <a:schemeClr val="dk1"/>
              </a:solidFill>
              <a:latin typeface="Calibri"/>
              <a:ea typeface="Calibri"/>
              <a:cs typeface="Calibri"/>
              <a:sym typeface="Calibri"/>
            </a:endParaRPr>
          </a:p>
        </p:txBody>
      </p:sp>
      <p:sp>
        <p:nvSpPr>
          <p:cNvPr id="1087" name="Google Shape;1087;p36"/>
          <p:cNvSpPr/>
          <p:nvPr/>
        </p:nvSpPr>
        <p:spPr>
          <a:xfrm>
            <a:off x="8046720" y="2194560"/>
            <a:ext cx="3639312" cy="2880360"/>
          </a:xfrm>
          <a:prstGeom prst="roundRect">
            <a:avLst>
              <a:gd fmla="val 254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6"/>
          <p:cNvSpPr/>
          <p:nvPr/>
        </p:nvSpPr>
        <p:spPr>
          <a:xfrm>
            <a:off x="8247888" y="2377440"/>
            <a:ext cx="475488" cy="475488"/>
          </a:xfrm>
          <a:prstGeom prst="ellipse">
            <a:avLst/>
          </a:prstGeom>
          <a:solidFill>
            <a:srgbClr val="0F172A"/>
          </a:solidFill>
          <a:ln cap="flat" cmpd="sng" w="1587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9" name="Google Shape;1089;p36"/>
          <p:cNvPicPr preferRelativeResize="0"/>
          <p:nvPr/>
        </p:nvPicPr>
        <p:blipFill rotWithShape="1">
          <a:blip r:embed="rId6">
            <a:alphaModFix/>
          </a:blip>
          <a:srcRect b="0" l="0" r="0" t="0"/>
          <a:stretch/>
        </p:blipFill>
        <p:spPr>
          <a:xfrm>
            <a:off x="8366760" y="2496312"/>
            <a:ext cx="237744" cy="237744"/>
          </a:xfrm>
          <a:prstGeom prst="rect">
            <a:avLst/>
          </a:prstGeom>
          <a:noFill/>
          <a:ln>
            <a:noFill/>
          </a:ln>
        </p:spPr>
      </p:pic>
      <p:sp>
        <p:nvSpPr>
          <p:cNvPr id="1090" name="Google Shape;1090;p36"/>
          <p:cNvSpPr/>
          <p:nvPr/>
        </p:nvSpPr>
        <p:spPr>
          <a:xfrm>
            <a:off x="8851392" y="234086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500"/>
              <a:buFont typeface="Bookman Old Style"/>
              <a:buNone/>
            </a:pPr>
            <a:r>
              <a:rPr b="1" i="0" lang="en-US" sz="1500" u="none" cap="none" strike="noStrike">
                <a:solidFill>
                  <a:srgbClr val="F8FAFC"/>
                </a:solidFill>
                <a:latin typeface="Bookman Old Style"/>
                <a:ea typeface="Bookman Old Style"/>
                <a:cs typeface="Bookman Old Style"/>
                <a:sym typeface="Bookman Old Style"/>
              </a:rPr>
              <a:t>Traces</a:t>
            </a:r>
            <a:endParaRPr b="0" i="0" sz="1500" u="none" cap="none" strike="noStrike">
              <a:solidFill>
                <a:schemeClr val="dk1"/>
              </a:solidFill>
              <a:latin typeface="Calibri"/>
              <a:ea typeface="Calibri"/>
              <a:cs typeface="Calibri"/>
              <a:sym typeface="Calibri"/>
            </a:endParaRPr>
          </a:p>
        </p:txBody>
      </p:sp>
      <p:sp>
        <p:nvSpPr>
          <p:cNvPr id="1091" name="Google Shape;1091;p36"/>
          <p:cNvSpPr/>
          <p:nvPr/>
        </p:nvSpPr>
        <p:spPr>
          <a:xfrm>
            <a:off x="8266176" y="2971800"/>
            <a:ext cx="3200400" cy="19659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200"/>
              <a:buFont typeface="Calibri"/>
              <a:buNone/>
            </a:pPr>
            <a:r>
              <a:rPr b="0" i="0" lang="en-US" sz="1200" u="none" cap="none" strike="noStrike">
                <a:solidFill>
                  <a:srgbClr val="E2E8F0"/>
                </a:solidFill>
                <a:latin typeface="Calibri"/>
                <a:ea typeface="Calibri"/>
                <a:cs typeface="Calibri"/>
                <a:sym typeface="Calibri"/>
              </a:rPr>
              <a:t>One request's journey across services: web → auth → db → cache, with timing per hop.</a:t>
            </a:r>
            <a:endParaRPr b="0" i="0" sz="1200" u="none" cap="none" strike="noStrike">
              <a:solidFill>
                <a:schemeClr val="dk1"/>
              </a:solidFill>
              <a:latin typeface="Calibri"/>
              <a:ea typeface="Calibri"/>
              <a:cs typeface="Calibri"/>
              <a:sym typeface="Calibri"/>
            </a:endParaRPr>
          </a:p>
        </p:txBody>
      </p:sp>
      <p:sp>
        <p:nvSpPr>
          <p:cNvPr id="1092" name="Google Shape;1092;p36"/>
          <p:cNvSpPr/>
          <p:nvPr/>
        </p:nvSpPr>
        <p:spPr>
          <a:xfrm>
            <a:off x="8266176" y="4389120"/>
            <a:ext cx="3200400" cy="502920"/>
          </a:xfrm>
          <a:prstGeom prst="roundRect">
            <a:avLst>
              <a:gd fmla="val 10909" name="adj"/>
            </a:avLst>
          </a:prstGeom>
          <a:solidFill>
            <a:srgbClr val="0F172A"/>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6"/>
          <p:cNvSpPr/>
          <p:nvPr/>
        </p:nvSpPr>
        <p:spPr>
          <a:xfrm>
            <a:off x="8266176" y="4389120"/>
            <a:ext cx="3200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78BFA"/>
              </a:buClr>
              <a:buSzPts val="1200"/>
              <a:buFont typeface="Calibri"/>
              <a:buNone/>
            </a:pPr>
            <a:r>
              <a:rPr b="0" i="1" lang="en-US" sz="1200" u="none" cap="none" strike="noStrike">
                <a:solidFill>
                  <a:srgbClr val="A78BFA"/>
                </a:solidFill>
                <a:latin typeface="Calibri"/>
                <a:ea typeface="Calibri"/>
                <a:cs typeface="Calibri"/>
                <a:sym typeface="Calibri"/>
              </a:rPr>
              <a:t>“Where is it slow?”</a:t>
            </a:r>
            <a:endParaRPr b="0" i="0" sz="1200" u="none" cap="none" strike="noStrike">
              <a:solidFill>
                <a:schemeClr val="dk1"/>
              </a:solidFill>
              <a:latin typeface="Calibri"/>
              <a:ea typeface="Calibri"/>
              <a:cs typeface="Calibri"/>
              <a:sym typeface="Calibri"/>
            </a:endParaRPr>
          </a:p>
        </p:txBody>
      </p:sp>
      <p:sp>
        <p:nvSpPr>
          <p:cNvPr id="1094" name="Google Shape;1094;p36"/>
          <p:cNvSpPr/>
          <p:nvPr/>
        </p:nvSpPr>
        <p:spPr>
          <a:xfrm>
            <a:off x="502920" y="5303520"/>
            <a:ext cx="11183112" cy="868680"/>
          </a:xfrm>
          <a:prstGeom prst="roundRect">
            <a:avLst>
              <a:gd fmla="val 8421"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5" name="Google Shape;1095;p36"/>
          <p:cNvPicPr preferRelativeResize="0"/>
          <p:nvPr/>
        </p:nvPicPr>
        <p:blipFill rotWithShape="1">
          <a:blip r:embed="rId7">
            <a:alphaModFix/>
          </a:blip>
          <a:srcRect b="0" l="0" r="0" t="0"/>
          <a:stretch/>
        </p:blipFill>
        <p:spPr>
          <a:xfrm>
            <a:off x="704088" y="5591556"/>
            <a:ext cx="292608" cy="292608"/>
          </a:xfrm>
          <a:prstGeom prst="rect">
            <a:avLst/>
          </a:prstGeom>
          <a:noFill/>
          <a:ln>
            <a:noFill/>
          </a:ln>
        </p:spPr>
      </p:pic>
      <p:sp>
        <p:nvSpPr>
          <p:cNvPr id="1096" name="Google Shape;1096;p36"/>
          <p:cNvSpPr/>
          <p:nvPr/>
        </p:nvSpPr>
        <p:spPr>
          <a:xfrm>
            <a:off x="1143000" y="5394960"/>
            <a:ext cx="10341864"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The debugging loop: a metric alarm wakes you → traces localize the slow/failing hop → logs of that service explain why. Each pillar answers the question the previous one raises.</a:t>
            </a:r>
            <a:endParaRPr b="0" i="0" sz="1300" u="none" cap="none" strike="noStrike">
              <a:solidFill>
                <a:schemeClr val="dk1"/>
              </a:solidFill>
              <a:latin typeface="Calibri"/>
              <a:ea typeface="Calibri"/>
              <a:cs typeface="Calibri"/>
              <a:sym typeface="Calibri"/>
            </a:endParaRPr>
          </a:p>
        </p:txBody>
      </p:sp>
      <p:sp>
        <p:nvSpPr>
          <p:cNvPr id="1097" name="Google Shape;1097;p36"/>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098" name="Google Shape;1098;p36"/>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Three pillars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03" name="Shape 1103"/>
        <p:cNvGrpSpPr/>
        <p:nvPr/>
      </p:nvGrpSpPr>
      <p:grpSpPr>
        <a:xfrm>
          <a:off x="0" y="0"/>
          <a:ext cx="0" cy="0"/>
          <a:chOff x="0" y="0"/>
          <a:chExt cx="0" cy="0"/>
        </a:xfrm>
      </p:grpSpPr>
      <p:sp>
        <p:nvSpPr>
          <p:cNvPr id="1104" name="Google Shape;1104;p37"/>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TELEMETRY · CLOUDWATCH</a:t>
            </a:r>
            <a:endParaRPr b="0" i="0" sz="1200" u="none" cap="none" strike="noStrike">
              <a:solidFill>
                <a:schemeClr val="dk1"/>
              </a:solidFill>
              <a:latin typeface="Calibri"/>
              <a:ea typeface="Calibri"/>
              <a:cs typeface="Calibri"/>
              <a:sym typeface="Calibri"/>
            </a:endParaRPr>
          </a:p>
        </p:txBody>
      </p:sp>
      <p:sp>
        <p:nvSpPr>
          <p:cNvPr id="1105" name="Google Shape;1105;p37"/>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CloudWatch: the built-in nervous system</a:t>
            </a:r>
            <a:endParaRPr b="0" i="0" sz="3000" u="none" cap="none" strike="noStrike">
              <a:solidFill>
                <a:schemeClr val="dk1"/>
              </a:solidFill>
              <a:latin typeface="Calibri"/>
              <a:ea typeface="Calibri"/>
              <a:cs typeface="Calibri"/>
              <a:sym typeface="Calibri"/>
            </a:endParaRPr>
          </a:p>
        </p:txBody>
      </p:sp>
      <p:sp>
        <p:nvSpPr>
          <p:cNvPr id="1106" name="Google Shape;1106;p37"/>
          <p:cNvSpPr/>
          <p:nvPr/>
        </p:nvSpPr>
        <p:spPr>
          <a:xfrm>
            <a:off x="502920" y="1417320"/>
            <a:ext cx="5486400" cy="1572768"/>
          </a:xfrm>
          <a:prstGeom prst="roundRect">
            <a:avLst>
              <a:gd fmla="val 465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7"/>
          <p:cNvSpPr/>
          <p:nvPr/>
        </p:nvSpPr>
        <p:spPr>
          <a:xfrm>
            <a:off x="704088" y="1600200"/>
            <a:ext cx="475488" cy="475488"/>
          </a:xfrm>
          <a:prstGeom prst="ellipse">
            <a:avLst/>
          </a:prstGeom>
          <a:solidFill>
            <a:srgbClr val="0F172A"/>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8" name="Google Shape;1108;p37"/>
          <p:cNvPicPr preferRelativeResize="0"/>
          <p:nvPr/>
        </p:nvPicPr>
        <p:blipFill rotWithShape="1">
          <a:blip r:embed="rId3">
            <a:alphaModFix/>
          </a:blip>
          <a:srcRect b="0" l="0" r="0" t="0"/>
          <a:stretch/>
        </p:blipFill>
        <p:spPr>
          <a:xfrm>
            <a:off x="822960" y="1719072"/>
            <a:ext cx="237744" cy="237744"/>
          </a:xfrm>
          <a:prstGeom prst="rect">
            <a:avLst/>
          </a:prstGeom>
          <a:noFill/>
          <a:ln>
            <a:noFill/>
          </a:ln>
        </p:spPr>
      </p:pic>
      <p:sp>
        <p:nvSpPr>
          <p:cNvPr id="1109" name="Google Shape;1109;p37"/>
          <p:cNvSpPr/>
          <p:nvPr/>
        </p:nvSpPr>
        <p:spPr>
          <a:xfrm>
            <a:off x="1307592" y="1563624"/>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Bookman Old Style"/>
              <a:buNone/>
            </a:pPr>
            <a:r>
              <a:rPr b="1" i="0" lang="en-US" sz="1400" u="none" cap="none" strike="noStrike">
                <a:solidFill>
                  <a:srgbClr val="F8FAFC"/>
                </a:solidFill>
                <a:latin typeface="Bookman Old Style"/>
                <a:ea typeface="Bookman Old Style"/>
                <a:cs typeface="Bookman Old Style"/>
                <a:sym typeface="Bookman Old Style"/>
              </a:rPr>
              <a:t>Metrics</a:t>
            </a:r>
            <a:endParaRPr b="0" i="0" sz="1400" u="none" cap="none" strike="noStrike">
              <a:solidFill>
                <a:schemeClr val="dk1"/>
              </a:solidFill>
              <a:latin typeface="Calibri"/>
              <a:ea typeface="Calibri"/>
              <a:cs typeface="Calibri"/>
              <a:sym typeface="Calibri"/>
            </a:endParaRPr>
          </a:p>
        </p:txBody>
      </p:sp>
      <p:sp>
        <p:nvSpPr>
          <p:cNvPr id="1110" name="Google Shape;1110;p37"/>
          <p:cNvSpPr/>
          <p:nvPr/>
        </p:nvSpPr>
        <p:spPr>
          <a:xfrm>
            <a:off x="722376" y="2194560"/>
            <a:ext cx="5047488" cy="65836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Every service reports automatically: EC2 CPU, Lambda invocations, S3 bucket size. Custom app metrics via API/agent. 1-min resolution standard.</a:t>
            </a:r>
            <a:endParaRPr b="0" i="0" sz="1100" u="none" cap="none" strike="noStrike">
              <a:solidFill>
                <a:schemeClr val="dk1"/>
              </a:solidFill>
              <a:latin typeface="Calibri"/>
              <a:ea typeface="Calibri"/>
              <a:cs typeface="Calibri"/>
              <a:sym typeface="Calibri"/>
            </a:endParaRPr>
          </a:p>
        </p:txBody>
      </p:sp>
      <p:sp>
        <p:nvSpPr>
          <p:cNvPr id="1111" name="Google Shape;1111;p37"/>
          <p:cNvSpPr/>
          <p:nvPr/>
        </p:nvSpPr>
        <p:spPr>
          <a:xfrm>
            <a:off x="6199632" y="1417320"/>
            <a:ext cx="5486400" cy="1572768"/>
          </a:xfrm>
          <a:prstGeom prst="roundRect">
            <a:avLst>
              <a:gd fmla="val 465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7"/>
          <p:cNvSpPr/>
          <p:nvPr/>
        </p:nvSpPr>
        <p:spPr>
          <a:xfrm>
            <a:off x="6400800" y="160020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3" name="Google Shape;1113;p37"/>
          <p:cNvPicPr preferRelativeResize="0"/>
          <p:nvPr/>
        </p:nvPicPr>
        <p:blipFill rotWithShape="1">
          <a:blip r:embed="rId4">
            <a:alphaModFix/>
          </a:blip>
          <a:srcRect b="0" l="0" r="0" t="0"/>
          <a:stretch/>
        </p:blipFill>
        <p:spPr>
          <a:xfrm>
            <a:off x="6519672" y="1719072"/>
            <a:ext cx="237744" cy="237744"/>
          </a:xfrm>
          <a:prstGeom prst="rect">
            <a:avLst/>
          </a:prstGeom>
          <a:noFill/>
          <a:ln>
            <a:noFill/>
          </a:ln>
        </p:spPr>
      </p:pic>
      <p:sp>
        <p:nvSpPr>
          <p:cNvPr id="1114" name="Google Shape;1114;p37"/>
          <p:cNvSpPr/>
          <p:nvPr/>
        </p:nvSpPr>
        <p:spPr>
          <a:xfrm>
            <a:off x="7004304" y="1563624"/>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Bookman Old Style"/>
              <a:buNone/>
            </a:pPr>
            <a:r>
              <a:rPr b="1" i="0" lang="en-US" sz="1400" u="none" cap="none" strike="noStrike">
                <a:solidFill>
                  <a:srgbClr val="F8FAFC"/>
                </a:solidFill>
                <a:latin typeface="Bookman Old Style"/>
                <a:ea typeface="Bookman Old Style"/>
                <a:cs typeface="Bookman Old Style"/>
                <a:sym typeface="Bookman Old Style"/>
              </a:rPr>
              <a:t>Logs</a:t>
            </a:r>
            <a:endParaRPr b="0" i="0" sz="1400" u="none" cap="none" strike="noStrike">
              <a:solidFill>
                <a:schemeClr val="dk1"/>
              </a:solidFill>
              <a:latin typeface="Calibri"/>
              <a:ea typeface="Calibri"/>
              <a:cs typeface="Calibri"/>
              <a:sym typeface="Calibri"/>
            </a:endParaRPr>
          </a:p>
        </p:txBody>
      </p:sp>
      <p:sp>
        <p:nvSpPr>
          <p:cNvPr id="1115" name="Google Shape;1115;p37"/>
          <p:cNvSpPr/>
          <p:nvPr/>
        </p:nvSpPr>
        <p:spPr>
          <a:xfrm>
            <a:off x="6419088" y="2194560"/>
            <a:ext cx="5047488" cy="65836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Log groups → streams. The CW agent (or Fluent Bit on EKS) ships container stdout here. Logs Insights = a query language over them.</a:t>
            </a:r>
            <a:endParaRPr b="0" i="0" sz="1100" u="none" cap="none" strike="noStrike">
              <a:solidFill>
                <a:schemeClr val="dk1"/>
              </a:solidFill>
              <a:latin typeface="Calibri"/>
              <a:ea typeface="Calibri"/>
              <a:cs typeface="Calibri"/>
              <a:sym typeface="Calibri"/>
            </a:endParaRPr>
          </a:p>
        </p:txBody>
      </p:sp>
      <p:sp>
        <p:nvSpPr>
          <p:cNvPr id="1116" name="Google Shape;1116;p37"/>
          <p:cNvSpPr/>
          <p:nvPr/>
        </p:nvSpPr>
        <p:spPr>
          <a:xfrm>
            <a:off x="502920" y="3154680"/>
            <a:ext cx="5486400" cy="1572768"/>
          </a:xfrm>
          <a:prstGeom prst="roundRect">
            <a:avLst>
              <a:gd fmla="val 465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7"/>
          <p:cNvSpPr/>
          <p:nvPr/>
        </p:nvSpPr>
        <p:spPr>
          <a:xfrm>
            <a:off x="704088" y="3337560"/>
            <a:ext cx="475488" cy="475488"/>
          </a:xfrm>
          <a:prstGeom prst="ellipse">
            <a:avLst/>
          </a:prstGeom>
          <a:solidFill>
            <a:srgbClr val="0F172A"/>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8" name="Google Shape;1118;p37"/>
          <p:cNvPicPr preferRelativeResize="0"/>
          <p:nvPr/>
        </p:nvPicPr>
        <p:blipFill rotWithShape="1">
          <a:blip r:embed="rId5">
            <a:alphaModFix/>
          </a:blip>
          <a:srcRect b="0" l="0" r="0" t="0"/>
          <a:stretch/>
        </p:blipFill>
        <p:spPr>
          <a:xfrm>
            <a:off x="822960" y="3456432"/>
            <a:ext cx="237744" cy="237744"/>
          </a:xfrm>
          <a:prstGeom prst="rect">
            <a:avLst/>
          </a:prstGeom>
          <a:noFill/>
          <a:ln>
            <a:noFill/>
          </a:ln>
        </p:spPr>
      </p:pic>
      <p:sp>
        <p:nvSpPr>
          <p:cNvPr id="1119" name="Google Shape;1119;p37"/>
          <p:cNvSpPr/>
          <p:nvPr/>
        </p:nvSpPr>
        <p:spPr>
          <a:xfrm>
            <a:off x="1307592" y="3300984"/>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Bookman Old Style"/>
              <a:buNone/>
            </a:pPr>
            <a:r>
              <a:rPr b="1" i="0" lang="en-US" sz="1400" u="none" cap="none" strike="noStrike">
                <a:solidFill>
                  <a:srgbClr val="F8FAFC"/>
                </a:solidFill>
                <a:latin typeface="Bookman Old Style"/>
                <a:ea typeface="Bookman Old Style"/>
                <a:cs typeface="Bookman Old Style"/>
                <a:sym typeface="Bookman Old Style"/>
              </a:rPr>
              <a:t>Alarms</a:t>
            </a:r>
            <a:endParaRPr b="0" i="0" sz="1400" u="none" cap="none" strike="noStrike">
              <a:solidFill>
                <a:schemeClr val="dk1"/>
              </a:solidFill>
              <a:latin typeface="Calibri"/>
              <a:ea typeface="Calibri"/>
              <a:cs typeface="Calibri"/>
              <a:sym typeface="Calibri"/>
            </a:endParaRPr>
          </a:p>
        </p:txBody>
      </p:sp>
      <p:sp>
        <p:nvSpPr>
          <p:cNvPr id="1120" name="Google Shape;1120;p37"/>
          <p:cNvSpPr/>
          <p:nvPr/>
        </p:nvSpPr>
        <p:spPr>
          <a:xfrm>
            <a:off x="722376" y="3931920"/>
            <a:ext cx="5047488" cy="65836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Threshold or anomaly-detection on any metric → SNS → email / Slack / PagerDuty. Also auto-scaling triggers.</a:t>
            </a:r>
            <a:endParaRPr b="0" i="0" sz="1100" u="none" cap="none" strike="noStrike">
              <a:solidFill>
                <a:schemeClr val="dk1"/>
              </a:solidFill>
              <a:latin typeface="Calibri"/>
              <a:ea typeface="Calibri"/>
              <a:cs typeface="Calibri"/>
              <a:sym typeface="Calibri"/>
            </a:endParaRPr>
          </a:p>
        </p:txBody>
      </p:sp>
      <p:sp>
        <p:nvSpPr>
          <p:cNvPr id="1121" name="Google Shape;1121;p37"/>
          <p:cNvSpPr/>
          <p:nvPr/>
        </p:nvSpPr>
        <p:spPr>
          <a:xfrm>
            <a:off x="6199632" y="3154680"/>
            <a:ext cx="5486400" cy="1572768"/>
          </a:xfrm>
          <a:prstGeom prst="roundRect">
            <a:avLst>
              <a:gd fmla="val 465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7"/>
          <p:cNvSpPr/>
          <p:nvPr/>
        </p:nvSpPr>
        <p:spPr>
          <a:xfrm>
            <a:off x="6400800" y="3337560"/>
            <a:ext cx="475488" cy="475488"/>
          </a:xfrm>
          <a:prstGeom prst="ellipse">
            <a:avLst/>
          </a:prstGeom>
          <a:solidFill>
            <a:srgbClr val="0F172A"/>
          </a:solidFill>
          <a:ln cap="flat" cmpd="sng" w="15875">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3" name="Google Shape;1123;p37"/>
          <p:cNvPicPr preferRelativeResize="0"/>
          <p:nvPr/>
        </p:nvPicPr>
        <p:blipFill rotWithShape="1">
          <a:blip r:embed="rId6">
            <a:alphaModFix/>
          </a:blip>
          <a:srcRect b="0" l="0" r="0" t="0"/>
          <a:stretch/>
        </p:blipFill>
        <p:spPr>
          <a:xfrm>
            <a:off x="6519672" y="3456432"/>
            <a:ext cx="237744" cy="237744"/>
          </a:xfrm>
          <a:prstGeom prst="rect">
            <a:avLst/>
          </a:prstGeom>
          <a:noFill/>
          <a:ln>
            <a:noFill/>
          </a:ln>
        </p:spPr>
      </p:pic>
      <p:sp>
        <p:nvSpPr>
          <p:cNvPr id="1124" name="Google Shape;1124;p37"/>
          <p:cNvSpPr/>
          <p:nvPr/>
        </p:nvSpPr>
        <p:spPr>
          <a:xfrm>
            <a:off x="7004304" y="3300984"/>
            <a:ext cx="45262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Bookman Old Style"/>
              <a:buNone/>
            </a:pPr>
            <a:r>
              <a:rPr b="1" i="0" lang="en-US" sz="1400" u="none" cap="none" strike="noStrike">
                <a:solidFill>
                  <a:srgbClr val="F8FAFC"/>
                </a:solidFill>
                <a:latin typeface="Bookman Old Style"/>
                <a:ea typeface="Bookman Old Style"/>
                <a:cs typeface="Bookman Old Style"/>
                <a:sym typeface="Bookman Old Style"/>
              </a:rPr>
              <a:t>Dashboards</a:t>
            </a:r>
            <a:endParaRPr b="0" i="0" sz="1400" u="none" cap="none" strike="noStrike">
              <a:solidFill>
                <a:schemeClr val="dk1"/>
              </a:solidFill>
              <a:latin typeface="Calibri"/>
              <a:ea typeface="Calibri"/>
              <a:cs typeface="Calibri"/>
              <a:sym typeface="Calibri"/>
            </a:endParaRPr>
          </a:p>
        </p:txBody>
      </p:sp>
      <p:sp>
        <p:nvSpPr>
          <p:cNvPr id="1125" name="Google Shape;1125;p37"/>
          <p:cNvSpPr/>
          <p:nvPr/>
        </p:nvSpPr>
        <p:spPr>
          <a:xfrm>
            <a:off x="6419088" y="3931920"/>
            <a:ext cx="5047488" cy="65836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00"/>
              <a:buFont typeface="Calibri"/>
              <a:buNone/>
            </a:pPr>
            <a:r>
              <a:rPr b="0" i="0" lang="en-US" sz="1100" u="none" cap="none" strike="noStrike">
                <a:solidFill>
                  <a:srgbClr val="E2E8F0"/>
                </a:solidFill>
                <a:latin typeface="Calibri"/>
                <a:ea typeface="Calibri"/>
                <a:cs typeface="Calibri"/>
                <a:sym typeface="Calibri"/>
              </a:rPr>
              <a:t>Pin metrics, logs queries &amp; alarm states on one screen. Your NOC view.</a:t>
            </a:r>
            <a:endParaRPr b="0" i="0" sz="1100" u="none" cap="none" strike="noStrike">
              <a:solidFill>
                <a:schemeClr val="dk1"/>
              </a:solidFill>
              <a:latin typeface="Calibri"/>
              <a:ea typeface="Calibri"/>
              <a:cs typeface="Calibri"/>
              <a:sym typeface="Calibri"/>
            </a:endParaRPr>
          </a:p>
        </p:txBody>
      </p:sp>
      <p:sp>
        <p:nvSpPr>
          <p:cNvPr id="1126" name="Google Shape;1126;p37"/>
          <p:cNvSpPr/>
          <p:nvPr/>
        </p:nvSpPr>
        <p:spPr>
          <a:xfrm>
            <a:off x="502920" y="4937760"/>
            <a:ext cx="11183112" cy="1508760"/>
          </a:xfrm>
          <a:prstGeom prst="roundRect">
            <a:avLst>
              <a:gd fmla="val 4848"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7"/>
          <p:cNvSpPr/>
          <p:nvPr/>
        </p:nvSpPr>
        <p:spPr>
          <a:xfrm>
            <a:off x="704088" y="506577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7"/>
          <p:cNvSpPr/>
          <p:nvPr/>
        </p:nvSpPr>
        <p:spPr>
          <a:xfrm>
            <a:off x="886968" y="506577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7"/>
          <p:cNvSpPr/>
          <p:nvPr/>
        </p:nvSpPr>
        <p:spPr>
          <a:xfrm>
            <a:off x="1069848" y="506577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7"/>
          <p:cNvSpPr/>
          <p:nvPr/>
        </p:nvSpPr>
        <p:spPr>
          <a:xfrm>
            <a:off x="1280160" y="4992624"/>
            <a:ext cx="102687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CloudWatch Logs Insights</a:t>
            </a:r>
            <a:endParaRPr b="0" i="0" sz="1000" u="none" cap="none" strike="noStrike">
              <a:solidFill>
                <a:schemeClr val="dk1"/>
              </a:solidFill>
              <a:latin typeface="Calibri"/>
              <a:ea typeface="Calibri"/>
              <a:cs typeface="Calibri"/>
              <a:sym typeface="Calibri"/>
            </a:endParaRPr>
          </a:p>
        </p:txBody>
      </p:sp>
      <p:sp>
        <p:nvSpPr>
          <p:cNvPr id="1131" name="Google Shape;1131;p37"/>
          <p:cNvSpPr/>
          <p:nvPr/>
        </p:nvSpPr>
        <p:spPr>
          <a:xfrm>
            <a:off x="704088" y="5321808"/>
            <a:ext cx="10780776" cy="10058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E2E8F0"/>
              </a:buClr>
              <a:buSzPts val="1150"/>
              <a:buFont typeface="Courier New"/>
              <a:buNone/>
            </a:pPr>
            <a:r>
              <a:rPr b="0" i="0" lang="en-US" sz="1150" u="none" cap="none" strike="noStrike">
                <a:solidFill>
                  <a:srgbClr val="E2E8F0"/>
                </a:solidFill>
                <a:latin typeface="Courier New"/>
                <a:ea typeface="Courier New"/>
                <a:cs typeface="Courier New"/>
                <a:sym typeface="Courier New"/>
              </a:rPr>
              <a:t>fields @timestamp, @message</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F9900"/>
              </a:buClr>
              <a:buSzPts val="1150"/>
              <a:buFont typeface="Courier New"/>
              <a:buNone/>
            </a:pPr>
            <a:r>
              <a:rPr b="0" i="0" lang="en-US" sz="1150" u="none" cap="none" strike="noStrike">
                <a:solidFill>
                  <a:srgbClr val="FF9900"/>
                </a:solidFill>
                <a:latin typeface="Courier New"/>
                <a:ea typeface="Courier New"/>
                <a:cs typeface="Courier New"/>
                <a:sym typeface="Courier New"/>
              </a:rPr>
              <a:t>| filter status &gt;= 500</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DD4BF"/>
              </a:buClr>
              <a:buSzPts val="1150"/>
              <a:buFont typeface="Courier New"/>
              <a:buNone/>
            </a:pPr>
            <a:r>
              <a:rPr b="0" i="0" lang="en-US" sz="1150" u="none" cap="none" strike="noStrike">
                <a:solidFill>
                  <a:srgbClr val="2DD4BF"/>
                </a:solidFill>
                <a:latin typeface="Courier New"/>
                <a:ea typeface="Courier New"/>
                <a:cs typeface="Courier New"/>
                <a:sym typeface="Courier New"/>
              </a:rPr>
              <a:t>| stats count(*) as errors by bin(5m), path</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150"/>
              <a:buFont typeface="Courier New"/>
              <a:buNone/>
            </a:pPr>
            <a:r>
              <a:rPr b="0" i="0" lang="en-US" sz="1150" u="none" cap="none" strike="noStrike">
                <a:solidFill>
                  <a:srgbClr val="94A3B8"/>
                </a:solidFill>
                <a:latin typeface="Courier New"/>
                <a:ea typeface="Courier New"/>
                <a:cs typeface="Courier New"/>
                <a:sym typeface="Courier New"/>
              </a:rPr>
              <a:t>| sort errors desc | limit 10      # top failing endpoints, 5-min buckets</a:t>
            </a:r>
            <a:endParaRPr b="0" i="0" sz="1150" u="none" cap="none" strike="noStrike">
              <a:solidFill>
                <a:schemeClr val="dk1"/>
              </a:solidFill>
              <a:latin typeface="Calibri"/>
              <a:ea typeface="Calibri"/>
              <a:cs typeface="Calibri"/>
              <a:sym typeface="Calibri"/>
            </a:endParaRPr>
          </a:p>
        </p:txBody>
      </p:sp>
      <p:sp>
        <p:nvSpPr>
          <p:cNvPr id="1132" name="Google Shape;1132;p37"/>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133" name="Google Shape;1133;p37"/>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CloudWatch</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38" name="Shape 1138"/>
        <p:cNvGrpSpPr/>
        <p:nvPr/>
      </p:nvGrpSpPr>
      <p:grpSpPr>
        <a:xfrm>
          <a:off x="0" y="0"/>
          <a:ext cx="0" cy="0"/>
          <a:chOff x="0" y="0"/>
          <a:chExt cx="0" cy="0"/>
        </a:xfrm>
      </p:grpSpPr>
      <p:sp>
        <p:nvSpPr>
          <p:cNvPr id="1139" name="Google Shape;1139;p38"/>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200"/>
              <a:buFont typeface="Courier New"/>
              <a:buNone/>
            </a:pPr>
            <a:r>
              <a:rPr b="1" i="0" lang="en-US" sz="1200" u="none" cap="none" strike="noStrike">
                <a:solidFill>
                  <a:srgbClr val="A78BFA"/>
                </a:solidFill>
                <a:latin typeface="Courier New"/>
                <a:ea typeface="Courier New"/>
                <a:cs typeface="Courier New"/>
                <a:sym typeface="Courier New"/>
              </a:rPr>
              <a:t>TELEMETRY · TRACING</a:t>
            </a:r>
            <a:endParaRPr b="0" i="0" sz="1200" u="none" cap="none" strike="noStrike">
              <a:solidFill>
                <a:schemeClr val="dk1"/>
              </a:solidFill>
              <a:latin typeface="Calibri"/>
              <a:ea typeface="Calibri"/>
              <a:cs typeface="Calibri"/>
              <a:sym typeface="Calibri"/>
            </a:endParaRPr>
          </a:p>
        </p:txBody>
      </p:sp>
      <p:sp>
        <p:nvSpPr>
          <p:cNvPr id="1140" name="Google Shape;1140;p38"/>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Tracing with X-Ray — and the wider map</a:t>
            </a:r>
            <a:endParaRPr b="0" i="0" sz="3000" u="none" cap="none" strike="noStrike">
              <a:solidFill>
                <a:schemeClr val="dk1"/>
              </a:solidFill>
              <a:latin typeface="Calibri"/>
              <a:ea typeface="Calibri"/>
              <a:cs typeface="Calibri"/>
              <a:sym typeface="Calibri"/>
            </a:endParaRPr>
          </a:p>
        </p:txBody>
      </p:sp>
      <p:sp>
        <p:nvSpPr>
          <p:cNvPr id="1141" name="Google Shape;1141;p38"/>
          <p:cNvSpPr/>
          <p:nvPr/>
        </p:nvSpPr>
        <p:spPr>
          <a:xfrm>
            <a:off x="502920" y="1417320"/>
            <a:ext cx="5943600" cy="2651760"/>
          </a:xfrm>
          <a:prstGeom prst="roundRect">
            <a:avLst>
              <a:gd fmla="val 2759"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8"/>
          <p:cNvSpPr/>
          <p:nvPr/>
        </p:nvSpPr>
        <p:spPr>
          <a:xfrm>
            <a:off x="777240" y="1536192"/>
            <a:ext cx="5394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one request, end to end — 412 ms</a:t>
            </a:r>
            <a:endParaRPr b="0" i="0" sz="1050" u="none" cap="none" strike="noStrike">
              <a:solidFill>
                <a:schemeClr val="dk1"/>
              </a:solidFill>
              <a:latin typeface="Calibri"/>
              <a:ea typeface="Calibri"/>
              <a:cs typeface="Calibri"/>
              <a:sym typeface="Calibri"/>
            </a:endParaRPr>
          </a:p>
        </p:txBody>
      </p:sp>
      <p:sp>
        <p:nvSpPr>
          <p:cNvPr id="1143" name="Google Shape;1143;p38"/>
          <p:cNvSpPr/>
          <p:nvPr/>
        </p:nvSpPr>
        <p:spPr>
          <a:xfrm>
            <a:off x="731520" y="1920240"/>
            <a:ext cx="1508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Courier New"/>
              <a:buNone/>
            </a:pPr>
            <a:r>
              <a:rPr b="0" i="0" lang="en-US" sz="1000" u="none" cap="none" strike="noStrike">
                <a:solidFill>
                  <a:srgbClr val="E2E8F0"/>
                </a:solidFill>
                <a:latin typeface="Courier New"/>
                <a:ea typeface="Courier New"/>
                <a:cs typeface="Courier New"/>
                <a:sym typeface="Courier New"/>
              </a:rPr>
              <a:t>ALB</a:t>
            </a:r>
            <a:endParaRPr b="0" i="0" sz="1000" u="none" cap="none" strike="noStrike">
              <a:solidFill>
                <a:schemeClr val="dk1"/>
              </a:solidFill>
              <a:latin typeface="Calibri"/>
              <a:ea typeface="Calibri"/>
              <a:cs typeface="Calibri"/>
              <a:sym typeface="Calibri"/>
            </a:endParaRPr>
          </a:p>
        </p:txBody>
      </p:sp>
      <p:sp>
        <p:nvSpPr>
          <p:cNvPr id="1144" name="Google Shape;1144;p38"/>
          <p:cNvSpPr/>
          <p:nvPr/>
        </p:nvSpPr>
        <p:spPr>
          <a:xfrm>
            <a:off x="2286000" y="1956816"/>
            <a:ext cx="3840480" cy="237744"/>
          </a:xfrm>
          <a:prstGeom prst="roundRect">
            <a:avLst>
              <a:gd fmla="val 15385" name="adj"/>
            </a:avLst>
          </a:prstGeom>
          <a:solidFill>
            <a:srgbClr val="94A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8"/>
          <p:cNvSpPr/>
          <p:nvPr/>
        </p:nvSpPr>
        <p:spPr>
          <a:xfrm>
            <a:off x="731520" y="2322576"/>
            <a:ext cx="1508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Courier New"/>
              <a:buNone/>
            </a:pPr>
            <a:r>
              <a:rPr b="0" i="0" lang="en-US" sz="1000" u="none" cap="none" strike="noStrike">
                <a:solidFill>
                  <a:srgbClr val="E2E8F0"/>
                </a:solidFill>
                <a:latin typeface="Courier New"/>
                <a:ea typeface="Courier New"/>
                <a:cs typeface="Courier New"/>
                <a:sym typeface="Courier New"/>
              </a:rPr>
              <a:t>frontend</a:t>
            </a:r>
            <a:endParaRPr b="0" i="0" sz="1000" u="none" cap="none" strike="noStrike">
              <a:solidFill>
                <a:schemeClr val="dk1"/>
              </a:solidFill>
              <a:latin typeface="Calibri"/>
              <a:ea typeface="Calibri"/>
              <a:cs typeface="Calibri"/>
              <a:sym typeface="Calibri"/>
            </a:endParaRPr>
          </a:p>
        </p:txBody>
      </p:sp>
      <p:sp>
        <p:nvSpPr>
          <p:cNvPr id="1146" name="Google Shape;1146;p38"/>
          <p:cNvSpPr/>
          <p:nvPr/>
        </p:nvSpPr>
        <p:spPr>
          <a:xfrm>
            <a:off x="2360572" y="2359152"/>
            <a:ext cx="3691335" cy="237744"/>
          </a:xfrm>
          <a:prstGeom prst="roundRect">
            <a:avLst>
              <a:gd fmla="val 15385" name="adj"/>
            </a:avLst>
          </a:prstGeom>
          <a:solidFill>
            <a:srgbClr val="2DD4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8"/>
          <p:cNvSpPr/>
          <p:nvPr/>
        </p:nvSpPr>
        <p:spPr>
          <a:xfrm>
            <a:off x="731520" y="2724912"/>
            <a:ext cx="1508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Courier New"/>
              <a:buNone/>
            </a:pPr>
            <a:r>
              <a:rPr b="0" i="0" lang="en-US" sz="1000" u="none" cap="none" strike="noStrike">
                <a:solidFill>
                  <a:srgbClr val="E2E8F0"/>
                </a:solidFill>
                <a:latin typeface="Courier New"/>
                <a:ea typeface="Courier New"/>
                <a:cs typeface="Courier New"/>
                <a:sym typeface="Courier New"/>
              </a:rPr>
              <a:t>auth-svc</a:t>
            </a:r>
            <a:endParaRPr b="0" i="0" sz="1000" u="none" cap="none" strike="noStrike">
              <a:solidFill>
                <a:schemeClr val="dk1"/>
              </a:solidFill>
              <a:latin typeface="Calibri"/>
              <a:ea typeface="Calibri"/>
              <a:cs typeface="Calibri"/>
              <a:sym typeface="Calibri"/>
            </a:endParaRPr>
          </a:p>
        </p:txBody>
      </p:sp>
      <p:sp>
        <p:nvSpPr>
          <p:cNvPr id="1148" name="Google Shape;1148;p38"/>
          <p:cNvSpPr/>
          <p:nvPr/>
        </p:nvSpPr>
        <p:spPr>
          <a:xfrm>
            <a:off x="2565647" y="2761488"/>
            <a:ext cx="512685" cy="237744"/>
          </a:xfrm>
          <a:prstGeom prst="roundRect">
            <a:avLst>
              <a:gd fmla="val 15385" name="adj"/>
            </a:avLst>
          </a:prstGeom>
          <a:solidFill>
            <a:srgbClr val="4ADE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8"/>
          <p:cNvSpPr/>
          <p:nvPr/>
        </p:nvSpPr>
        <p:spPr>
          <a:xfrm>
            <a:off x="731520" y="3127248"/>
            <a:ext cx="1508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Courier New"/>
              <a:buNone/>
            </a:pPr>
            <a:r>
              <a:rPr b="0" i="0" lang="en-US" sz="1000" u="none" cap="none" strike="noStrike">
                <a:solidFill>
                  <a:srgbClr val="E2E8F0"/>
                </a:solidFill>
                <a:latin typeface="Courier New"/>
                <a:ea typeface="Courier New"/>
                <a:cs typeface="Courier New"/>
                <a:sym typeface="Courier New"/>
              </a:rPr>
              <a:t>orders-svc</a:t>
            </a:r>
            <a:endParaRPr b="0" i="0" sz="1000" u="none" cap="none" strike="noStrike">
              <a:solidFill>
                <a:schemeClr val="dk1"/>
              </a:solidFill>
              <a:latin typeface="Calibri"/>
              <a:ea typeface="Calibri"/>
              <a:cs typeface="Calibri"/>
              <a:sym typeface="Calibri"/>
            </a:endParaRPr>
          </a:p>
        </p:txBody>
      </p:sp>
      <p:sp>
        <p:nvSpPr>
          <p:cNvPr id="1150" name="Google Shape;1150;p38"/>
          <p:cNvSpPr/>
          <p:nvPr/>
        </p:nvSpPr>
        <p:spPr>
          <a:xfrm>
            <a:off x="3171548" y="3163824"/>
            <a:ext cx="2796466" cy="237744"/>
          </a:xfrm>
          <a:prstGeom prst="roundRect">
            <a:avLst>
              <a:gd fmla="val 15385" name="adj"/>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8"/>
          <p:cNvSpPr/>
          <p:nvPr/>
        </p:nvSpPr>
        <p:spPr>
          <a:xfrm>
            <a:off x="731520" y="3529584"/>
            <a:ext cx="1508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00"/>
              <a:buFont typeface="Courier New"/>
              <a:buNone/>
            </a:pPr>
            <a:r>
              <a:rPr b="0" i="0" lang="en-US" sz="1000" u="none" cap="none" strike="noStrike">
                <a:solidFill>
                  <a:srgbClr val="E2E8F0"/>
                </a:solidFill>
                <a:latin typeface="Courier New"/>
                <a:ea typeface="Courier New"/>
                <a:cs typeface="Courier New"/>
                <a:sym typeface="Courier New"/>
              </a:rPr>
              <a:t>postgres query</a:t>
            </a:r>
            <a:endParaRPr b="0" i="0" sz="1000" u="none" cap="none" strike="noStrike">
              <a:solidFill>
                <a:schemeClr val="dk1"/>
              </a:solidFill>
              <a:latin typeface="Calibri"/>
              <a:ea typeface="Calibri"/>
              <a:cs typeface="Calibri"/>
              <a:sym typeface="Calibri"/>
            </a:endParaRPr>
          </a:p>
        </p:txBody>
      </p:sp>
      <p:sp>
        <p:nvSpPr>
          <p:cNvPr id="1152" name="Google Shape;1152;p38"/>
          <p:cNvSpPr/>
          <p:nvPr/>
        </p:nvSpPr>
        <p:spPr>
          <a:xfrm>
            <a:off x="3404586" y="3566160"/>
            <a:ext cx="2423604" cy="237744"/>
          </a:xfrm>
          <a:prstGeom prst="roundRect">
            <a:avLst>
              <a:gd fmla="val 15385" name="adj"/>
            </a:avLst>
          </a:prstGeom>
          <a:solidFill>
            <a:srgbClr val="F871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8"/>
          <p:cNvSpPr/>
          <p:nvPr/>
        </p:nvSpPr>
        <p:spPr>
          <a:xfrm>
            <a:off x="777240" y="3950208"/>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1100"/>
              <a:buFont typeface="Calibri"/>
              <a:buNone/>
            </a:pPr>
            <a:r>
              <a:rPr b="0" i="1" lang="en-US" sz="1100" u="none" cap="none" strike="noStrike">
                <a:solidFill>
                  <a:srgbClr val="F87171"/>
                </a:solidFill>
                <a:latin typeface="Calibri"/>
                <a:ea typeface="Calibri"/>
                <a:cs typeface="Calibri"/>
                <a:sym typeface="Calibri"/>
              </a:rPr>
              <a:t>260 ms inside one SQL query → the villain found in one glance.</a:t>
            </a:r>
            <a:endParaRPr b="0" i="0" sz="1100" u="none" cap="none" strike="noStrike">
              <a:solidFill>
                <a:schemeClr val="dk1"/>
              </a:solidFill>
              <a:latin typeface="Calibri"/>
              <a:ea typeface="Calibri"/>
              <a:cs typeface="Calibri"/>
              <a:sym typeface="Calibri"/>
            </a:endParaRPr>
          </a:p>
        </p:txBody>
      </p:sp>
      <p:sp>
        <p:nvSpPr>
          <p:cNvPr id="1154" name="Google Shape;1154;p38"/>
          <p:cNvSpPr/>
          <p:nvPr/>
        </p:nvSpPr>
        <p:spPr>
          <a:xfrm>
            <a:off x="6656832" y="1417320"/>
            <a:ext cx="5029200" cy="822960"/>
          </a:xfrm>
          <a:prstGeom prst="roundRect">
            <a:avLst>
              <a:gd fmla="val 8889" name="adj"/>
            </a:avLst>
          </a:prstGeom>
          <a:solidFill>
            <a:srgbClr val="1E293B"/>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8"/>
          <p:cNvSpPr/>
          <p:nvPr/>
        </p:nvSpPr>
        <p:spPr>
          <a:xfrm>
            <a:off x="6858000" y="1481328"/>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78BFA"/>
              </a:buClr>
              <a:buSzPts val="1150"/>
              <a:buFont typeface="Courier New"/>
              <a:buNone/>
            </a:pPr>
            <a:r>
              <a:rPr b="1" i="0" lang="en-US" sz="1150" u="none" cap="none" strike="noStrike">
                <a:solidFill>
                  <a:srgbClr val="A78BFA"/>
                </a:solidFill>
                <a:latin typeface="Courier New"/>
                <a:ea typeface="Courier New"/>
                <a:cs typeface="Courier New"/>
                <a:sym typeface="Courier New"/>
              </a:rPr>
              <a:t>Instrument</a:t>
            </a:r>
            <a:endParaRPr b="0" i="0" sz="1150" u="none" cap="none" strike="noStrike">
              <a:solidFill>
                <a:schemeClr val="dk1"/>
              </a:solidFill>
              <a:latin typeface="Calibri"/>
              <a:ea typeface="Calibri"/>
              <a:cs typeface="Calibri"/>
              <a:sym typeface="Calibri"/>
            </a:endParaRPr>
          </a:p>
        </p:txBody>
      </p:sp>
      <p:sp>
        <p:nvSpPr>
          <p:cNvPr id="1156" name="Google Shape;1156;p38"/>
          <p:cNvSpPr/>
          <p:nvPr/>
        </p:nvSpPr>
        <p:spPr>
          <a:xfrm>
            <a:off x="6858000" y="1773936"/>
            <a:ext cx="4663440" cy="438912"/>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X-Ray SDK / OpenTelemetry in your app; a sidecar daemon batches spans to AWS.</a:t>
            </a:r>
            <a:endParaRPr b="0" i="0" sz="1050" u="none" cap="none" strike="noStrike">
              <a:solidFill>
                <a:schemeClr val="dk1"/>
              </a:solidFill>
              <a:latin typeface="Calibri"/>
              <a:ea typeface="Calibri"/>
              <a:cs typeface="Calibri"/>
              <a:sym typeface="Calibri"/>
            </a:endParaRPr>
          </a:p>
        </p:txBody>
      </p:sp>
      <p:sp>
        <p:nvSpPr>
          <p:cNvPr id="1157" name="Google Shape;1157;p38"/>
          <p:cNvSpPr/>
          <p:nvPr/>
        </p:nvSpPr>
        <p:spPr>
          <a:xfrm>
            <a:off x="6656832" y="2331720"/>
            <a:ext cx="5029200" cy="822960"/>
          </a:xfrm>
          <a:prstGeom prst="roundRect">
            <a:avLst>
              <a:gd fmla="val 8889"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8"/>
          <p:cNvSpPr/>
          <p:nvPr/>
        </p:nvSpPr>
        <p:spPr>
          <a:xfrm>
            <a:off x="6858000" y="2395728"/>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150"/>
              <a:buFont typeface="Courier New"/>
              <a:buNone/>
            </a:pPr>
            <a:r>
              <a:rPr b="1" i="0" lang="en-US" sz="1150" u="none" cap="none" strike="noStrike">
                <a:solidFill>
                  <a:srgbClr val="2DD4BF"/>
                </a:solidFill>
                <a:latin typeface="Courier New"/>
                <a:ea typeface="Courier New"/>
                <a:cs typeface="Courier New"/>
                <a:sym typeface="Courier New"/>
              </a:rPr>
              <a:t>Service map</a:t>
            </a:r>
            <a:endParaRPr b="0" i="0" sz="1150" u="none" cap="none" strike="noStrike">
              <a:solidFill>
                <a:schemeClr val="dk1"/>
              </a:solidFill>
              <a:latin typeface="Calibri"/>
              <a:ea typeface="Calibri"/>
              <a:cs typeface="Calibri"/>
              <a:sym typeface="Calibri"/>
            </a:endParaRPr>
          </a:p>
        </p:txBody>
      </p:sp>
      <p:sp>
        <p:nvSpPr>
          <p:cNvPr id="1159" name="Google Shape;1159;p38"/>
          <p:cNvSpPr/>
          <p:nvPr/>
        </p:nvSpPr>
        <p:spPr>
          <a:xfrm>
            <a:off x="6858000" y="2688336"/>
            <a:ext cx="4663440" cy="438912"/>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Auto-drawn graph of your services with error % and latency per edge.</a:t>
            </a:r>
            <a:endParaRPr b="0" i="0" sz="1050" u="none" cap="none" strike="noStrike">
              <a:solidFill>
                <a:schemeClr val="dk1"/>
              </a:solidFill>
              <a:latin typeface="Calibri"/>
              <a:ea typeface="Calibri"/>
              <a:cs typeface="Calibri"/>
              <a:sym typeface="Calibri"/>
            </a:endParaRPr>
          </a:p>
        </p:txBody>
      </p:sp>
      <p:sp>
        <p:nvSpPr>
          <p:cNvPr id="1160" name="Google Shape;1160;p38"/>
          <p:cNvSpPr/>
          <p:nvPr/>
        </p:nvSpPr>
        <p:spPr>
          <a:xfrm>
            <a:off x="6656832" y="3246120"/>
            <a:ext cx="5029200" cy="822960"/>
          </a:xfrm>
          <a:prstGeom prst="roundRect">
            <a:avLst>
              <a:gd fmla="val 8889"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8"/>
          <p:cNvSpPr/>
          <p:nvPr/>
        </p:nvSpPr>
        <p:spPr>
          <a:xfrm>
            <a:off x="6858000" y="3310128"/>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Sampling</a:t>
            </a:r>
            <a:endParaRPr b="0" i="0" sz="1150" u="none" cap="none" strike="noStrike">
              <a:solidFill>
                <a:schemeClr val="dk1"/>
              </a:solidFill>
              <a:latin typeface="Calibri"/>
              <a:ea typeface="Calibri"/>
              <a:cs typeface="Calibri"/>
              <a:sym typeface="Calibri"/>
            </a:endParaRPr>
          </a:p>
        </p:txBody>
      </p:sp>
      <p:sp>
        <p:nvSpPr>
          <p:cNvPr id="1162" name="Google Shape;1162;p38"/>
          <p:cNvSpPr/>
          <p:nvPr/>
        </p:nvSpPr>
        <p:spPr>
          <a:xfrm>
            <a:off x="6858000" y="3602736"/>
            <a:ext cx="4663440" cy="438912"/>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Default: 1 req/s + 5% of the rest — insight without paying to trace everything.</a:t>
            </a:r>
            <a:endParaRPr b="0" i="0" sz="1050" u="none" cap="none" strike="noStrike">
              <a:solidFill>
                <a:schemeClr val="dk1"/>
              </a:solidFill>
              <a:latin typeface="Calibri"/>
              <a:ea typeface="Calibri"/>
              <a:cs typeface="Calibri"/>
              <a:sym typeface="Calibri"/>
            </a:endParaRPr>
          </a:p>
        </p:txBody>
      </p:sp>
      <p:sp>
        <p:nvSpPr>
          <p:cNvPr id="1163" name="Google Shape;1163;p38"/>
          <p:cNvSpPr/>
          <p:nvPr/>
        </p:nvSpPr>
        <p:spPr>
          <a:xfrm>
            <a:off x="502920" y="4343400"/>
            <a:ext cx="6858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400"/>
              <a:buFont typeface="Bookman Old Style"/>
              <a:buNone/>
            </a:pPr>
            <a:r>
              <a:rPr b="1" i="0" lang="en-US" sz="1400" u="none" cap="none" strike="noStrike">
                <a:solidFill>
                  <a:srgbClr val="F8FAFC"/>
                </a:solidFill>
                <a:latin typeface="Bookman Old Style"/>
                <a:ea typeface="Bookman Old Style"/>
                <a:cs typeface="Bookman Old Style"/>
                <a:sym typeface="Bookman Old Style"/>
              </a:rPr>
              <a:t>Rosetta stone — the same jobs elsewhere:</a:t>
            </a:r>
            <a:endParaRPr b="0" i="0" sz="1400" u="none" cap="none" strike="noStrike">
              <a:solidFill>
                <a:schemeClr val="dk1"/>
              </a:solidFill>
              <a:latin typeface="Calibri"/>
              <a:ea typeface="Calibri"/>
              <a:cs typeface="Calibri"/>
              <a:sym typeface="Calibri"/>
            </a:endParaRPr>
          </a:p>
        </p:txBody>
      </p:sp>
      <p:sp>
        <p:nvSpPr>
          <p:cNvPr id="1164" name="Google Shape;1164;p38"/>
          <p:cNvSpPr/>
          <p:nvPr/>
        </p:nvSpPr>
        <p:spPr>
          <a:xfrm>
            <a:off x="502920" y="4754880"/>
            <a:ext cx="11183112" cy="384048"/>
          </a:xfrm>
          <a:prstGeom prst="roundRect">
            <a:avLst>
              <a:gd fmla="val 9524"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8"/>
          <p:cNvSpPr/>
          <p:nvPr/>
        </p:nvSpPr>
        <p:spPr>
          <a:xfrm>
            <a:off x="713232" y="4754880"/>
            <a:ext cx="29260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050"/>
              <a:buFont typeface="Calibri"/>
              <a:buNone/>
            </a:pPr>
            <a:r>
              <a:rPr b="1" i="0" lang="en-US" sz="1050" u="none" cap="none" strike="noStrike">
                <a:solidFill>
                  <a:srgbClr val="F8FAFC"/>
                </a:solidFill>
                <a:latin typeface="Calibri"/>
                <a:ea typeface="Calibri"/>
                <a:cs typeface="Calibri"/>
                <a:sym typeface="Calibri"/>
              </a:rPr>
              <a:t>Metrics + alerts</a:t>
            </a:r>
            <a:endParaRPr b="0" i="0" sz="1050" u="none" cap="none" strike="noStrike">
              <a:solidFill>
                <a:schemeClr val="dk1"/>
              </a:solidFill>
              <a:latin typeface="Calibri"/>
              <a:ea typeface="Calibri"/>
              <a:cs typeface="Calibri"/>
              <a:sym typeface="Calibri"/>
            </a:endParaRPr>
          </a:p>
        </p:txBody>
      </p:sp>
      <p:sp>
        <p:nvSpPr>
          <p:cNvPr id="1166" name="Google Shape;1166;p38"/>
          <p:cNvSpPr/>
          <p:nvPr/>
        </p:nvSpPr>
        <p:spPr>
          <a:xfrm>
            <a:off x="3749040" y="475488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CloudWatch</a:t>
            </a:r>
            <a:endParaRPr b="0" i="0" sz="1000" u="none" cap="none" strike="noStrike">
              <a:solidFill>
                <a:schemeClr val="dk1"/>
              </a:solidFill>
              <a:latin typeface="Calibri"/>
              <a:ea typeface="Calibri"/>
              <a:cs typeface="Calibri"/>
              <a:sym typeface="Calibri"/>
            </a:endParaRPr>
          </a:p>
        </p:txBody>
      </p:sp>
      <p:sp>
        <p:nvSpPr>
          <p:cNvPr id="1167" name="Google Shape;1167;p38"/>
          <p:cNvSpPr/>
          <p:nvPr/>
        </p:nvSpPr>
        <p:spPr>
          <a:xfrm>
            <a:off x="7589520" y="4754880"/>
            <a:ext cx="3931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Prometheus + Alertmanager</a:t>
            </a:r>
            <a:endParaRPr b="0" i="0" sz="1000" u="none" cap="none" strike="noStrike">
              <a:solidFill>
                <a:schemeClr val="dk1"/>
              </a:solidFill>
              <a:latin typeface="Calibri"/>
              <a:ea typeface="Calibri"/>
              <a:cs typeface="Calibri"/>
              <a:sym typeface="Calibri"/>
            </a:endParaRPr>
          </a:p>
        </p:txBody>
      </p:sp>
      <p:sp>
        <p:nvSpPr>
          <p:cNvPr id="1168" name="Google Shape;1168;p38"/>
          <p:cNvSpPr/>
          <p:nvPr/>
        </p:nvSpPr>
        <p:spPr>
          <a:xfrm>
            <a:off x="502920" y="5212080"/>
            <a:ext cx="11183112" cy="384048"/>
          </a:xfrm>
          <a:prstGeom prst="roundRect">
            <a:avLst>
              <a:gd fmla="val 9524"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8"/>
          <p:cNvSpPr/>
          <p:nvPr/>
        </p:nvSpPr>
        <p:spPr>
          <a:xfrm>
            <a:off x="713232" y="5212080"/>
            <a:ext cx="29260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050"/>
              <a:buFont typeface="Calibri"/>
              <a:buNone/>
            </a:pPr>
            <a:r>
              <a:rPr b="1" i="0" lang="en-US" sz="1050" u="none" cap="none" strike="noStrike">
                <a:solidFill>
                  <a:srgbClr val="F8FAFC"/>
                </a:solidFill>
                <a:latin typeface="Calibri"/>
                <a:ea typeface="Calibri"/>
                <a:cs typeface="Calibri"/>
                <a:sym typeface="Calibri"/>
              </a:rPr>
              <a:t>Logs</a:t>
            </a:r>
            <a:endParaRPr b="0" i="0" sz="1050" u="none" cap="none" strike="noStrike">
              <a:solidFill>
                <a:schemeClr val="dk1"/>
              </a:solidFill>
              <a:latin typeface="Calibri"/>
              <a:ea typeface="Calibri"/>
              <a:cs typeface="Calibri"/>
              <a:sym typeface="Calibri"/>
            </a:endParaRPr>
          </a:p>
        </p:txBody>
      </p:sp>
      <p:sp>
        <p:nvSpPr>
          <p:cNvPr id="1170" name="Google Shape;1170;p38"/>
          <p:cNvSpPr/>
          <p:nvPr/>
        </p:nvSpPr>
        <p:spPr>
          <a:xfrm>
            <a:off x="3749040" y="521208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CloudWatch Logs</a:t>
            </a:r>
            <a:endParaRPr b="0" i="0" sz="1000" u="none" cap="none" strike="noStrike">
              <a:solidFill>
                <a:schemeClr val="dk1"/>
              </a:solidFill>
              <a:latin typeface="Calibri"/>
              <a:ea typeface="Calibri"/>
              <a:cs typeface="Calibri"/>
              <a:sym typeface="Calibri"/>
            </a:endParaRPr>
          </a:p>
        </p:txBody>
      </p:sp>
      <p:sp>
        <p:nvSpPr>
          <p:cNvPr id="1171" name="Google Shape;1171;p38"/>
          <p:cNvSpPr/>
          <p:nvPr/>
        </p:nvSpPr>
        <p:spPr>
          <a:xfrm>
            <a:off x="7589520" y="5212080"/>
            <a:ext cx="3931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Loki · ELK stack</a:t>
            </a:r>
            <a:endParaRPr b="0" i="0" sz="1000" u="none" cap="none" strike="noStrike">
              <a:solidFill>
                <a:schemeClr val="dk1"/>
              </a:solidFill>
              <a:latin typeface="Calibri"/>
              <a:ea typeface="Calibri"/>
              <a:cs typeface="Calibri"/>
              <a:sym typeface="Calibri"/>
            </a:endParaRPr>
          </a:p>
        </p:txBody>
      </p:sp>
      <p:sp>
        <p:nvSpPr>
          <p:cNvPr id="1172" name="Google Shape;1172;p38"/>
          <p:cNvSpPr/>
          <p:nvPr/>
        </p:nvSpPr>
        <p:spPr>
          <a:xfrm>
            <a:off x="502920" y="5669280"/>
            <a:ext cx="11183112" cy="384048"/>
          </a:xfrm>
          <a:prstGeom prst="roundRect">
            <a:avLst>
              <a:gd fmla="val 9524"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8"/>
          <p:cNvSpPr/>
          <p:nvPr/>
        </p:nvSpPr>
        <p:spPr>
          <a:xfrm>
            <a:off x="713232" y="5669280"/>
            <a:ext cx="29260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050"/>
              <a:buFont typeface="Calibri"/>
              <a:buNone/>
            </a:pPr>
            <a:r>
              <a:rPr b="1" i="0" lang="en-US" sz="1050" u="none" cap="none" strike="noStrike">
                <a:solidFill>
                  <a:srgbClr val="F8FAFC"/>
                </a:solidFill>
                <a:latin typeface="Calibri"/>
                <a:ea typeface="Calibri"/>
                <a:cs typeface="Calibri"/>
                <a:sym typeface="Calibri"/>
              </a:rPr>
              <a:t>Traces</a:t>
            </a:r>
            <a:endParaRPr b="0" i="0" sz="1050" u="none" cap="none" strike="noStrike">
              <a:solidFill>
                <a:schemeClr val="dk1"/>
              </a:solidFill>
              <a:latin typeface="Calibri"/>
              <a:ea typeface="Calibri"/>
              <a:cs typeface="Calibri"/>
              <a:sym typeface="Calibri"/>
            </a:endParaRPr>
          </a:p>
        </p:txBody>
      </p:sp>
      <p:sp>
        <p:nvSpPr>
          <p:cNvPr id="1174" name="Google Shape;1174;p38"/>
          <p:cNvSpPr/>
          <p:nvPr/>
        </p:nvSpPr>
        <p:spPr>
          <a:xfrm>
            <a:off x="3749040" y="566928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X-Ray</a:t>
            </a:r>
            <a:endParaRPr b="0" i="0" sz="1000" u="none" cap="none" strike="noStrike">
              <a:solidFill>
                <a:schemeClr val="dk1"/>
              </a:solidFill>
              <a:latin typeface="Calibri"/>
              <a:ea typeface="Calibri"/>
              <a:cs typeface="Calibri"/>
              <a:sym typeface="Calibri"/>
            </a:endParaRPr>
          </a:p>
        </p:txBody>
      </p:sp>
      <p:sp>
        <p:nvSpPr>
          <p:cNvPr id="1175" name="Google Shape;1175;p38"/>
          <p:cNvSpPr/>
          <p:nvPr/>
        </p:nvSpPr>
        <p:spPr>
          <a:xfrm>
            <a:off x="7589520" y="5669280"/>
            <a:ext cx="3931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Jaeger · Tempo</a:t>
            </a:r>
            <a:endParaRPr b="0" i="0" sz="1000" u="none" cap="none" strike="noStrike">
              <a:solidFill>
                <a:schemeClr val="dk1"/>
              </a:solidFill>
              <a:latin typeface="Calibri"/>
              <a:ea typeface="Calibri"/>
              <a:cs typeface="Calibri"/>
              <a:sym typeface="Calibri"/>
            </a:endParaRPr>
          </a:p>
        </p:txBody>
      </p:sp>
      <p:sp>
        <p:nvSpPr>
          <p:cNvPr id="1176" name="Google Shape;1176;p38"/>
          <p:cNvSpPr/>
          <p:nvPr/>
        </p:nvSpPr>
        <p:spPr>
          <a:xfrm>
            <a:off x="502920" y="6126480"/>
            <a:ext cx="11183112" cy="384048"/>
          </a:xfrm>
          <a:prstGeom prst="roundRect">
            <a:avLst>
              <a:gd fmla="val 9524"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8"/>
          <p:cNvSpPr/>
          <p:nvPr/>
        </p:nvSpPr>
        <p:spPr>
          <a:xfrm>
            <a:off x="713232" y="6126480"/>
            <a:ext cx="29260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050"/>
              <a:buFont typeface="Calibri"/>
              <a:buNone/>
            </a:pPr>
            <a:r>
              <a:rPr b="1" i="0" lang="en-US" sz="1050" u="none" cap="none" strike="noStrike">
                <a:solidFill>
                  <a:srgbClr val="F8FAFC"/>
                </a:solidFill>
                <a:latin typeface="Calibri"/>
                <a:ea typeface="Calibri"/>
                <a:cs typeface="Calibri"/>
                <a:sym typeface="Calibri"/>
              </a:rPr>
              <a:t>Dashboards</a:t>
            </a:r>
            <a:endParaRPr b="0" i="0" sz="1050" u="none" cap="none" strike="noStrike">
              <a:solidFill>
                <a:schemeClr val="dk1"/>
              </a:solidFill>
              <a:latin typeface="Calibri"/>
              <a:ea typeface="Calibri"/>
              <a:cs typeface="Calibri"/>
              <a:sym typeface="Calibri"/>
            </a:endParaRPr>
          </a:p>
        </p:txBody>
      </p:sp>
      <p:sp>
        <p:nvSpPr>
          <p:cNvPr id="1178" name="Google Shape;1178;p38"/>
          <p:cNvSpPr/>
          <p:nvPr/>
        </p:nvSpPr>
        <p:spPr>
          <a:xfrm>
            <a:off x="3749040" y="612648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CloudWatch Dashboards</a:t>
            </a:r>
            <a:endParaRPr b="0" i="0" sz="1000" u="none" cap="none" strike="noStrike">
              <a:solidFill>
                <a:schemeClr val="dk1"/>
              </a:solidFill>
              <a:latin typeface="Calibri"/>
              <a:ea typeface="Calibri"/>
              <a:cs typeface="Calibri"/>
              <a:sym typeface="Calibri"/>
            </a:endParaRPr>
          </a:p>
        </p:txBody>
      </p:sp>
      <p:sp>
        <p:nvSpPr>
          <p:cNvPr id="1179" name="Google Shape;1179;p38"/>
          <p:cNvSpPr/>
          <p:nvPr/>
        </p:nvSpPr>
        <p:spPr>
          <a:xfrm>
            <a:off x="7589520" y="6126480"/>
            <a:ext cx="3931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00"/>
              <a:buFont typeface="Courier New"/>
              <a:buNone/>
            </a:pPr>
            <a:r>
              <a:rPr b="0" i="0" lang="en-US" sz="1000" u="none" cap="none" strike="noStrike">
                <a:solidFill>
                  <a:srgbClr val="2DD4BF"/>
                </a:solidFill>
                <a:latin typeface="Courier New"/>
                <a:ea typeface="Courier New"/>
                <a:cs typeface="Courier New"/>
                <a:sym typeface="Courier New"/>
              </a:rPr>
              <a:t>Grafana</a:t>
            </a:r>
            <a:endParaRPr b="0" i="0" sz="1000" u="none" cap="none" strike="noStrike">
              <a:solidFill>
                <a:schemeClr val="dk1"/>
              </a:solidFill>
              <a:latin typeface="Calibri"/>
              <a:ea typeface="Calibri"/>
              <a:cs typeface="Calibri"/>
              <a:sym typeface="Calibri"/>
            </a:endParaRPr>
          </a:p>
        </p:txBody>
      </p:sp>
      <p:sp>
        <p:nvSpPr>
          <p:cNvPr id="1180" name="Google Shape;1180;p38"/>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181" name="Google Shape;1181;p38"/>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X-Ray &amp; ecosystem</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86" name="Shape 1186"/>
        <p:cNvGrpSpPr/>
        <p:nvPr/>
      </p:nvGrpSpPr>
      <p:grpSpPr>
        <a:xfrm>
          <a:off x="0" y="0"/>
          <a:ext cx="0" cy="0"/>
          <a:chOff x="0" y="0"/>
          <a:chExt cx="0" cy="0"/>
        </a:xfrm>
      </p:grpSpPr>
      <p:sp>
        <p:nvSpPr>
          <p:cNvPr id="1187" name="Google Shape;1187;p39"/>
          <p:cNvSpPr/>
          <p:nvPr/>
        </p:nvSpPr>
        <p:spPr>
          <a:xfrm>
            <a:off x="82296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500"/>
              <a:buFont typeface="Courier New"/>
              <a:buNone/>
            </a:pPr>
            <a:r>
              <a:rPr b="1" i="0" lang="en-US" sz="1500" u="none" cap="none" strike="noStrike">
                <a:solidFill>
                  <a:srgbClr val="FF9900"/>
                </a:solidFill>
                <a:latin typeface="Courier New"/>
                <a:ea typeface="Courier New"/>
                <a:cs typeface="Courier New"/>
                <a:sym typeface="Courier New"/>
              </a:rPr>
              <a:t>PART 8</a:t>
            </a:r>
            <a:endParaRPr b="0" i="0" sz="1500" u="none" cap="none" strike="noStrike">
              <a:solidFill>
                <a:schemeClr val="dk1"/>
              </a:solidFill>
              <a:latin typeface="Calibri"/>
              <a:ea typeface="Calibri"/>
              <a:cs typeface="Calibri"/>
              <a:sym typeface="Calibri"/>
            </a:endParaRPr>
          </a:p>
        </p:txBody>
      </p:sp>
      <p:sp>
        <p:nvSpPr>
          <p:cNvPr id="1188" name="Google Shape;1188;p39"/>
          <p:cNvSpPr/>
          <p:nvPr/>
        </p:nvSpPr>
        <p:spPr>
          <a:xfrm>
            <a:off x="822960" y="2377440"/>
            <a:ext cx="786384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4400"/>
              <a:buFont typeface="Bookman Old Style"/>
              <a:buNone/>
            </a:pPr>
            <a:r>
              <a:rPr b="1" i="0" lang="en-US" sz="4400" u="none" cap="none" strike="noStrike">
                <a:solidFill>
                  <a:srgbClr val="F8FAFC"/>
                </a:solidFill>
                <a:latin typeface="Bookman Old Style"/>
                <a:ea typeface="Bookman Old Style"/>
                <a:cs typeface="Bookman Old Style"/>
                <a:sym typeface="Bookman Old Style"/>
              </a:rPr>
              <a:t>Lambda</a:t>
            </a:r>
            <a:endParaRPr b="0" i="0" sz="4400" u="none" cap="none" strike="noStrike">
              <a:solidFill>
                <a:schemeClr val="dk1"/>
              </a:solidFill>
              <a:latin typeface="Calibri"/>
              <a:ea typeface="Calibri"/>
              <a:cs typeface="Calibri"/>
              <a:sym typeface="Calibri"/>
            </a:endParaRPr>
          </a:p>
        </p:txBody>
      </p:sp>
      <p:sp>
        <p:nvSpPr>
          <p:cNvPr id="1189" name="Google Shape;1189;p39"/>
          <p:cNvSpPr/>
          <p:nvPr/>
        </p:nvSpPr>
        <p:spPr>
          <a:xfrm>
            <a:off x="822960" y="3794760"/>
            <a:ext cx="694944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Serverless functions — no instances, no nodes, no patching.</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4A3B8"/>
              </a:buClr>
              <a:buSzPts val="1600"/>
              <a:buFont typeface="Calibri"/>
              <a:buNone/>
            </a:pPr>
            <a:r>
              <a:rPr b="0" i="0" lang="en-US" sz="1600" u="none" cap="none" strike="noStrike">
                <a:solidFill>
                  <a:srgbClr val="94A3B8"/>
                </a:solidFill>
                <a:latin typeface="Calibri"/>
                <a:ea typeface="Calibri"/>
                <a:cs typeface="Calibri"/>
                <a:sym typeface="Calibri"/>
              </a:rPr>
              <a:t>Just code that runs when something happens.</a:t>
            </a:r>
            <a:endParaRPr b="0" i="0" sz="1600" u="none" cap="none" strike="noStrike">
              <a:solidFill>
                <a:schemeClr val="dk1"/>
              </a:solidFill>
              <a:latin typeface="Calibri"/>
              <a:ea typeface="Calibri"/>
              <a:cs typeface="Calibri"/>
              <a:sym typeface="Calibri"/>
            </a:endParaRPr>
          </a:p>
        </p:txBody>
      </p:sp>
      <p:sp>
        <p:nvSpPr>
          <p:cNvPr id="1190" name="Google Shape;1190;p39"/>
          <p:cNvSpPr/>
          <p:nvPr/>
        </p:nvSpPr>
        <p:spPr>
          <a:xfrm>
            <a:off x="8778240" y="1965960"/>
            <a:ext cx="2468880" cy="2468880"/>
          </a:xfrm>
          <a:prstGeom prst="ellipse">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1" name="Google Shape;1191;p39"/>
          <p:cNvPicPr preferRelativeResize="0"/>
          <p:nvPr/>
        </p:nvPicPr>
        <p:blipFill rotWithShape="1">
          <a:blip r:embed="rId3">
            <a:alphaModFix/>
          </a:blip>
          <a:srcRect b="0" l="0" r="0" t="0"/>
          <a:stretch/>
        </p:blipFill>
        <p:spPr>
          <a:xfrm>
            <a:off x="9464040" y="2651760"/>
            <a:ext cx="1097280" cy="1097280"/>
          </a:xfrm>
          <a:prstGeom prst="rect">
            <a:avLst/>
          </a:prstGeom>
          <a:noFill/>
          <a:ln>
            <a:noFill/>
          </a:ln>
        </p:spPr>
      </p:pic>
      <p:sp>
        <p:nvSpPr>
          <p:cNvPr id="1192" name="Google Shape;1192;p39"/>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193" name="Google Shape;1193;p39"/>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Part 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98" name="Shape 1198"/>
        <p:cNvGrpSpPr/>
        <p:nvPr/>
      </p:nvGrpSpPr>
      <p:grpSpPr>
        <a:xfrm>
          <a:off x="0" y="0"/>
          <a:ext cx="0" cy="0"/>
          <a:chOff x="0" y="0"/>
          <a:chExt cx="0" cy="0"/>
        </a:xfrm>
      </p:grpSpPr>
      <p:sp>
        <p:nvSpPr>
          <p:cNvPr id="1199" name="Google Shape;1199;p40"/>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00"/>
              <a:buFont typeface="Courier New"/>
              <a:buNone/>
            </a:pPr>
            <a:r>
              <a:rPr b="1" i="0" lang="en-US" sz="1200" u="none" cap="none" strike="noStrike">
                <a:solidFill>
                  <a:srgbClr val="FF9900"/>
                </a:solidFill>
                <a:latin typeface="Courier New"/>
                <a:ea typeface="Courier New"/>
                <a:cs typeface="Courier New"/>
                <a:sym typeface="Courier New"/>
              </a:rPr>
              <a:t>LAMBDA · THE IDEA</a:t>
            </a:r>
            <a:endParaRPr b="0" i="0" sz="1200" u="none" cap="none" strike="noStrike">
              <a:solidFill>
                <a:schemeClr val="dk1"/>
              </a:solidFill>
              <a:latin typeface="Calibri"/>
              <a:ea typeface="Calibri"/>
              <a:cs typeface="Calibri"/>
              <a:sym typeface="Calibri"/>
            </a:endParaRPr>
          </a:p>
        </p:txBody>
      </p:sp>
      <p:sp>
        <p:nvSpPr>
          <p:cNvPr id="1200" name="Google Shape;1200;p40"/>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No server, just a function</a:t>
            </a:r>
            <a:endParaRPr b="0" i="0" sz="3000" u="none" cap="none" strike="noStrike">
              <a:solidFill>
                <a:schemeClr val="dk1"/>
              </a:solidFill>
              <a:latin typeface="Calibri"/>
              <a:ea typeface="Calibri"/>
              <a:cs typeface="Calibri"/>
              <a:sym typeface="Calibri"/>
            </a:endParaRPr>
          </a:p>
        </p:txBody>
      </p:sp>
      <p:sp>
        <p:nvSpPr>
          <p:cNvPr id="1201" name="Google Shape;1201;p40"/>
          <p:cNvSpPr/>
          <p:nvPr/>
        </p:nvSpPr>
        <p:spPr>
          <a:xfrm>
            <a:off x="502920" y="1325880"/>
            <a:ext cx="11183112" cy="777240"/>
          </a:xfrm>
          <a:prstGeom prst="roundRect">
            <a:avLst>
              <a:gd fmla="val 9412" name="adj"/>
            </a:avLst>
          </a:prstGeom>
          <a:solidFill>
            <a:srgbClr val="1C1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2" name="Google Shape;1202;p40"/>
          <p:cNvPicPr preferRelativeResize="0"/>
          <p:nvPr/>
        </p:nvPicPr>
        <p:blipFill rotWithShape="1">
          <a:blip r:embed="rId3">
            <a:alphaModFix/>
          </a:blip>
          <a:srcRect b="0" l="0" r="0" t="0"/>
          <a:stretch/>
        </p:blipFill>
        <p:spPr>
          <a:xfrm>
            <a:off x="704088" y="1568196"/>
            <a:ext cx="292608" cy="292608"/>
          </a:xfrm>
          <a:prstGeom prst="rect">
            <a:avLst/>
          </a:prstGeom>
          <a:noFill/>
          <a:ln>
            <a:noFill/>
          </a:ln>
        </p:spPr>
      </p:pic>
      <p:sp>
        <p:nvSpPr>
          <p:cNvPr id="1203" name="Google Shape;1203;p40"/>
          <p:cNvSpPr/>
          <p:nvPr/>
        </p:nvSpPr>
        <p:spPr>
          <a:xfrm>
            <a:off x="1143000" y="1417320"/>
            <a:ext cx="10341864" cy="59436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50"/>
              <a:buFont typeface="Calibri"/>
              <a:buNone/>
            </a:pPr>
            <a:r>
              <a:rPr b="0" i="0" lang="en-US" sz="1350" u="none" cap="none" strike="noStrike">
                <a:solidFill>
                  <a:srgbClr val="E2E8F0"/>
                </a:solidFill>
                <a:latin typeface="Calibri"/>
                <a:ea typeface="Calibri"/>
                <a:cs typeface="Calibri"/>
                <a:sym typeface="Calibri"/>
              </a:rPr>
              <a:t>Task: resize each uploaded image. On EC2 that's a whole instance — patched, monitored, billed 24/7 — sitting 99% idle waiting for uploads. The task takes 2 seconds; the server exists all month.</a:t>
            </a:r>
            <a:endParaRPr b="0" i="0" sz="1350" u="none" cap="none" strike="noStrike">
              <a:solidFill>
                <a:schemeClr val="dk1"/>
              </a:solidFill>
              <a:latin typeface="Calibri"/>
              <a:ea typeface="Calibri"/>
              <a:cs typeface="Calibri"/>
              <a:sym typeface="Calibri"/>
            </a:endParaRPr>
          </a:p>
        </p:txBody>
      </p:sp>
      <p:sp>
        <p:nvSpPr>
          <p:cNvPr id="1204" name="Google Shape;1204;p40"/>
          <p:cNvSpPr/>
          <p:nvPr/>
        </p:nvSpPr>
        <p:spPr>
          <a:xfrm>
            <a:off x="640080" y="2743200"/>
            <a:ext cx="2377440" cy="1051560"/>
          </a:xfrm>
          <a:prstGeom prst="roundRect">
            <a:avLst>
              <a:gd fmla="val 5217"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0"/>
          <p:cNvSpPr/>
          <p:nvPr/>
        </p:nvSpPr>
        <p:spPr>
          <a:xfrm>
            <a:off x="640080" y="2743200"/>
            <a:ext cx="2377440" cy="105156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Event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S3 upload · HTTP call</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queue msg · cron</a:t>
            </a:r>
            <a:endParaRPr b="0" i="0" sz="1050" u="none" cap="none" strike="noStrike">
              <a:solidFill>
                <a:schemeClr val="dk1"/>
              </a:solidFill>
              <a:latin typeface="Calibri"/>
              <a:ea typeface="Calibri"/>
              <a:cs typeface="Calibri"/>
              <a:sym typeface="Calibri"/>
            </a:endParaRPr>
          </a:p>
        </p:txBody>
      </p:sp>
      <p:cxnSp>
        <p:nvCxnSpPr>
          <p:cNvPr id="1206" name="Google Shape;1206;p40"/>
          <p:cNvCxnSpPr/>
          <p:nvPr/>
        </p:nvCxnSpPr>
        <p:spPr>
          <a:xfrm>
            <a:off x="3035808" y="3273552"/>
            <a:ext cx="694944" cy="0"/>
          </a:xfrm>
          <a:prstGeom prst="straightConnector1">
            <a:avLst/>
          </a:prstGeom>
          <a:noFill/>
          <a:ln cap="flat" cmpd="sng" w="25400">
            <a:solidFill>
              <a:srgbClr val="94A3B8"/>
            </a:solidFill>
            <a:prstDash val="solid"/>
            <a:round/>
            <a:headEnd len="sm" w="sm" type="none"/>
            <a:tailEnd len="med" w="med" type="stealth"/>
          </a:ln>
        </p:spPr>
      </p:cxnSp>
      <p:sp>
        <p:nvSpPr>
          <p:cNvPr id="1207" name="Google Shape;1207;p40"/>
          <p:cNvSpPr/>
          <p:nvPr/>
        </p:nvSpPr>
        <p:spPr>
          <a:xfrm>
            <a:off x="3749040" y="2514600"/>
            <a:ext cx="3017520" cy="1508760"/>
          </a:xfrm>
          <a:prstGeom prst="roundRect">
            <a:avLst>
              <a:gd fmla="val 4848" name="adj"/>
            </a:avLst>
          </a:prstGeom>
          <a:solidFill>
            <a:srgbClr val="1E293B"/>
          </a:solidFill>
          <a:ln cap="flat" cmpd="sng" w="254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8" name="Google Shape;1208;p40"/>
          <p:cNvPicPr preferRelativeResize="0"/>
          <p:nvPr/>
        </p:nvPicPr>
        <p:blipFill rotWithShape="1">
          <a:blip r:embed="rId4">
            <a:alphaModFix/>
          </a:blip>
          <a:srcRect b="0" l="0" r="0" t="0"/>
          <a:stretch/>
        </p:blipFill>
        <p:spPr>
          <a:xfrm>
            <a:off x="4983480" y="2670048"/>
            <a:ext cx="502920" cy="502920"/>
          </a:xfrm>
          <a:prstGeom prst="rect">
            <a:avLst/>
          </a:prstGeom>
          <a:noFill/>
          <a:ln>
            <a:noFill/>
          </a:ln>
        </p:spPr>
      </p:pic>
      <p:sp>
        <p:nvSpPr>
          <p:cNvPr id="1209" name="Google Shape;1209;p40"/>
          <p:cNvSpPr/>
          <p:nvPr/>
        </p:nvSpPr>
        <p:spPr>
          <a:xfrm>
            <a:off x="3749040" y="3246120"/>
            <a:ext cx="30175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FAFC"/>
              </a:buClr>
              <a:buSzPts val="1400"/>
              <a:buFont typeface="Bookman Old Style"/>
              <a:buNone/>
            </a:pPr>
            <a:r>
              <a:rPr b="1" i="0" lang="en-US" sz="1400" u="none" cap="none" strike="noStrike">
                <a:solidFill>
                  <a:srgbClr val="F8FAFC"/>
                </a:solidFill>
                <a:latin typeface="Bookman Old Style"/>
                <a:ea typeface="Bookman Old Style"/>
                <a:cs typeface="Bookman Old Style"/>
                <a:sym typeface="Bookman Old Style"/>
              </a:rPr>
              <a:t>Your function</a:t>
            </a:r>
            <a:endParaRPr b="0" i="0" sz="1400" u="none" cap="none" strike="noStrike">
              <a:solidFill>
                <a:schemeClr val="dk1"/>
              </a:solidFill>
              <a:latin typeface="Calibri"/>
              <a:ea typeface="Calibri"/>
              <a:cs typeface="Calibri"/>
              <a:sym typeface="Calibri"/>
            </a:endParaRPr>
          </a:p>
        </p:txBody>
      </p:sp>
      <p:sp>
        <p:nvSpPr>
          <p:cNvPr id="1210" name="Google Shape;1210;p40"/>
          <p:cNvSpPr/>
          <p:nvPr/>
        </p:nvSpPr>
        <p:spPr>
          <a:xfrm>
            <a:off x="3749040" y="3611880"/>
            <a:ext cx="3017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handler(event) → result</a:t>
            </a:r>
            <a:endParaRPr b="0" i="0" sz="1000" u="none" cap="none" strike="noStrike">
              <a:solidFill>
                <a:schemeClr val="dk1"/>
              </a:solidFill>
              <a:latin typeface="Calibri"/>
              <a:ea typeface="Calibri"/>
              <a:cs typeface="Calibri"/>
              <a:sym typeface="Calibri"/>
            </a:endParaRPr>
          </a:p>
        </p:txBody>
      </p:sp>
      <p:cxnSp>
        <p:nvCxnSpPr>
          <p:cNvPr id="1211" name="Google Shape;1211;p40"/>
          <p:cNvCxnSpPr/>
          <p:nvPr/>
        </p:nvCxnSpPr>
        <p:spPr>
          <a:xfrm>
            <a:off x="6784848" y="3273552"/>
            <a:ext cx="694944" cy="0"/>
          </a:xfrm>
          <a:prstGeom prst="straightConnector1">
            <a:avLst/>
          </a:prstGeom>
          <a:noFill/>
          <a:ln cap="flat" cmpd="sng" w="25400">
            <a:solidFill>
              <a:srgbClr val="94A3B8"/>
            </a:solidFill>
            <a:prstDash val="solid"/>
            <a:round/>
            <a:headEnd len="sm" w="sm" type="none"/>
            <a:tailEnd len="med" w="med" type="stealth"/>
          </a:ln>
        </p:spPr>
      </p:cxnSp>
      <p:sp>
        <p:nvSpPr>
          <p:cNvPr id="1212" name="Google Shape;1212;p40"/>
          <p:cNvSpPr/>
          <p:nvPr/>
        </p:nvSpPr>
        <p:spPr>
          <a:xfrm>
            <a:off x="7498080" y="2743200"/>
            <a:ext cx="2377440" cy="1051560"/>
          </a:xfrm>
          <a:prstGeom prst="roundRect">
            <a:avLst>
              <a:gd fmla="val 5217" name="adj"/>
            </a:avLst>
          </a:prstGeom>
          <a:solidFill>
            <a:srgbClr val="1E293B"/>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40"/>
          <p:cNvSpPr/>
          <p:nvPr/>
        </p:nvSpPr>
        <p:spPr>
          <a:xfrm>
            <a:off x="7498080" y="2743200"/>
            <a:ext cx="2377440" cy="105156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A78BFA"/>
              </a:buClr>
              <a:buSzPts val="1050"/>
              <a:buFont typeface="Courier New"/>
              <a:buNone/>
            </a:pPr>
            <a:r>
              <a:rPr b="0" i="0" lang="en-US" sz="1050" u="none" cap="none" strike="noStrike">
                <a:solidFill>
                  <a:srgbClr val="A78BFA"/>
                </a:solidFill>
                <a:latin typeface="Courier New"/>
                <a:ea typeface="Courier New"/>
                <a:cs typeface="Courier New"/>
                <a:sym typeface="Courier New"/>
              </a:rPr>
              <a:t>Effect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A78BFA"/>
              </a:buClr>
              <a:buSzPts val="1050"/>
              <a:buFont typeface="Courier New"/>
              <a:buNone/>
            </a:pPr>
            <a:r>
              <a:rPr b="0" i="0" lang="en-US" sz="1050" u="none" cap="none" strike="noStrike">
                <a:solidFill>
                  <a:srgbClr val="A78BFA"/>
                </a:solidFill>
                <a:latin typeface="Courier New"/>
                <a:ea typeface="Courier New"/>
                <a:cs typeface="Courier New"/>
                <a:sym typeface="Courier New"/>
              </a:rPr>
              <a:t>write S3/DB · call API</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A78BFA"/>
              </a:buClr>
              <a:buSzPts val="1050"/>
              <a:buFont typeface="Courier New"/>
              <a:buNone/>
            </a:pPr>
            <a:r>
              <a:rPr b="0" i="0" lang="en-US" sz="1050" u="none" cap="none" strike="noStrike">
                <a:solidFill>
                  <a:srgbClr val="A78BFA"/>
                </a:solidFill>
                <a:latin typeface="Courier New"/>
                <a:ea typeface="Courier New"/>
                <a:cs typeface="Courier New"/>
                <a:sym typeface="Courier New"/>
              </a:rPr>
              <a:t>return HTTP response</a:t>
            </a:r>
            <a:endParaRPr b="0" i="0" sz="1050" u="none" cap="none" strike="noStrike">
              <a:solidFill>
                <a:schemeClr val="dk1"/>
              </a:solidFill>
              <a:latin typeface="Calibri"/>
              <a:ea typeface="Calibri"/>
              <a:cs typeface="Calibri"/>
              <a:sym typeface="Calibri"/>
            </a:endParaRPr>
          </a:p>
        </p:txBody>
      </p:sp>
      <p:sp>
        <p:nvSpPr>
          <p:cNvPr id="1214" name="Google Shape;1214;p40"/>
          <p:cNvSpPr/>
          <p:nvPr/>
        </p:nvSpPr>
        <p:spPr>
          <a:xfrm>
            <a:off x="10195560" y="2514600"/>
            <a:ext cx="1508760" cy="1508760"/>
          </a:xfrm>
          <a:prstGeom prst="roundRect">
            <a:avLst>
              <a:gd fmla="val 4848" name="adj"/>
            </a:avLst>
          </a:prstGeom>
          <a:solidFill>
            <a:srgbClr val="1E293B"/>
          </a:solidFill>
          <a:ln cap="flat" cmpd="sng" w="12700">
            <a:solidFill>
              <a:srgbClr val="4AD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0"/>
          <p:cNvSpPr/>
          <p:nvPr/>
        </p:nvSpPr>
        <p:spPr>
          <a:xfrm>
            <a:off x="10195560" y="2633472"/>
            <a:ext cx="15087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2600"/>
              <a:buFont typeface="Bookman Old Style"/>
              <a:buNone/>
            </a:pPr>
            <a:r>
              <a:rPr b="1" i="0" lang="en-US" sz="2600" u="none" cap="none" strike="noStrike">
                <a:solidFill>
                  <a:srgbClr val="4ADE80"/>
                </a:solidFill>
                <a:latin typeface="Bookman Old Style"/>
                <a:ea typeface="Bookman Old Style"/>
                <a:cs typeface="Bookman Old Style"/>
                <a:sym typeface="Bookman Old Style"/>
              </a:rPr>
              <a:t>$0</a:t>
            </a:r>
            <a:endParaRPr b="0" i="0" sz="2600" u="none" cap="none" strike="noStrike">
              <a:solidFill>
                <a:schemeClr val="dk1"/>
              </a:solidFill>
              <a:latin typeface="Calibri"/>
              <a:ea typeface="Calibri"/>
              <a:cs typeface="Calibri"/>
              <a:sym typeface="Calibri"/>
            </a:endParaRPr>
          </a:p>
        </p:txBody>
      </p:sp>
      <p:sp>
        <p:nvSpPr>
          <p:cNvPr id="1216" name="Google Shape;1216;p40"/>
          <p:cNvSpPr/>
          <p:nvPr/>
        </p:nvSpPr>
        <p:spPr>
          <a:xfrm>
            <a:off x="10195560" y="3310128"/>
            <a:ext cx="1508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DE80"/>
              </a:buClr>
              <a:buSzPts val="1000"/>
              <a:buFont typeface="Courier New"/>
              <a:buNone/>
            </a:pPr>
            <a:r>
              <a:rPr b="0" i="0" lang="en-US" sz="1000" u="none" cap="none" strike="noStrike">
                <a:solidFill>
                  <a:srgbClr val="4ADE80"/>
                </a:solidFill>
                <a:latin typeface="Courier New"/>
                <a:ea typeface="Courier New"/>
                <a:cs typeface="Courier New"/>
                <a:sym typeface="Courier New"/>
              </a:rPr>
              <a:t>when idle</a:t>
            </a:r>
            <a:endParaRPr b="0" i="0" sz="1000" u="none" cap="none" strike="noStrike">
              <a:solidFill>
                <a:schemeClr val="dk1"/>
              </a:solidFill>
              <a:latin typeface="Calibri"/>
              <a:ea typeface="Calibri"/>
              <a:cs typeface="Calibri"/>
              <a:sym typeface="Calibri"/>
            </a:endParaRPr>
          </a:p>
        </p:txBody>
      </p:sp>
      <p:sp>
        <p:nvSpPr>
          <p:cNvPr id="1217" name="Google Shape;1217;p40"/>
          <p:cNvSpPr/>
          <p:nvPr/>
        </p:nvSpPr>
        <p:spPr>
          <a:xfrm>
            <a:off x="502920" y="4572000"/>
            <a:ext cx="3639312" cy="1600200"/>
          </a:xfrm>
          <a:prstGeom prst="roundRect">
            <a:avLst>
              <a:gd fmla="val 457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0"/>
          <p:cNvSpPr/>
          <p:nvPr/>
        </p:nvSpPr>
        <p:spPr>
          <a:xfrm>
            <a:off x="704088" y="475488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19" name="Google Shape;1219;p40"/>
          <p:cNvPicPr preferRelativeResize="0"/>
          <p:nvPr/>
        </p:nvPicPr>
        <p:blipFill rotWithShape="1">
          <a:blip r:embed="rId5">
            <a:alphaModFix/>
          </a:blip>
          <a:srcRect b="0" l="0" r="0" t="0"/>
          <a:stretch/>
        </p:blipFill>
        <p:spPr>
          <a:xfrm>
            <a:off x="822960" y="4873752"/>
            <a:ext cx="237744" cy="237744"/>
          </a:xfrm>
          <a:prstGeom prst="rect">
            <a:avLst/>
          </a:prstGeom>
          <a:noFill/>
          <a:ln>
            <a:noFill/>
          </a:ln>
        </p:spPr>
      </p:pic>
      <p:sp>
        <p:nvSpPr>
          <p:cNvPr id="1220" name="Google Shape;1220;p40"/>
          <p:cNvSpPr/>
          <p:nvPr/>
        </p:nvSpPr>
        <p:spPr>
          <a:xfrm>
            <a:off x="1307592" y="471830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Event-driven</a:t>
            </a:r>
            <a:endParaRPr b="0" i="0" sz="1350" u="none" cap="none" strike="noStrike">
              <a:solidFill>
                <a:schemeClr val="dk1"/>
              </a:solidFill>
              <a:latin typeface="Calibri"/>
              <a:ea typeface="Calibri"/>
              <a:cs typeface="Calibri"/>
              <a:sym typeface="Calibri"/>
            </a:endParaRPr>
          </a:p>
        </p:txBody>
      </p:sp>
      <p:sp>
        <p:nvSpPr>
          <p:cNvPr id="1221" name="Google Shape;1221;p40"/>
          <p:cNvSpPr/>
          <p:nvPr/>
        </p:nvSpPr>
        <p:spPr>
          <a:xfrm>
            <a:off x="722376" y="5349240"/>
            <a:ext cx="3200400" cy="685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Runs only when triggered. AWS spins up a micro-VM, runs your handler, freezes it.</a:t>
            </a:r>
            <a:endParaRPr b="0" i="0" sz="1150" u="none" cap="none" strike="noStrike">
              <a:solidFill>
                <a:schemeClr val="dk1"/>
              </a:solidFill>
              <a:latin typeface="Calibri"/>
              <a:ea typeface="Calibri"/>
              <a:cs typeface="Calibri"/>
              <a:sym typeface="Calibri"/>
            </a:endParaRPr>
          </a:p>
        </p:txBody>
      </p:sp>
      <p:sp>
        <p:nvSpPr>
          <p:cNvPr id="1222" name="Google Shape;1222;p40"/>
          <p:cNvSpPr/>
          <p:nvPr/>
        </p:nvSpPr>
        <p:spPr>
          <a:xfrm>
            <a:off x="4274820" y="4572000"/>
            <a:ext cx="3639312" cy="1600200"/>
          </a:xfrm>
          <a:prstGeom prst="roundRect">
            <a:avLst>
              <a:gd fmla="val 457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40"/>
          <p:cNvSpPr/>
          <p:nvPr/>
        </p:nvSpPr>
        <p:spPr>
          <a:xfrm>
            <a:off x="4475988" y="475488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4" name="Google Shape;1224;p40"/>
          <p:cNvPicPr preferRelativeResize="0"/>
          <p:nvPr/>
        </p:nvPicPr>
        <p:blipFill rotWithShape="1">
          <a:blip r:embed="rId6">
            <a:alphaModFix/>
          </a:blip>
          <a:srcRect b="0" l="0" r="0" t="0"/>
          <a:stretch/>
        </p:blipFill>
        <p:spPr>
          <a:xfrm>
            <a:off x="4594860" y="4873752"/>
            <a:ext cx="237744" cy="237744"/>
          </a:xfrm>
          <a:prstGeom prst="rect">
            <a:avLst/>
          </a:prstGeom>
          <a:noFill/>
          <a:ln>
            <a:noFill/>
          </a:ln>
        </p:spPr>
      </p:pic>
      <p:sp>
        <p:nvSpPr>
          <p:cNvPr id="1225" name="Google Shape;1225;p40"/>
          <p:cNvSpPr/>
          <p:nvPr/>
        </p:nvSpPr>
        <p:spPr>
          <a:xfrm>
            <a:off x="5079492" y="471830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Scales itself</a:t>
            </a:r>
            <a:endParaRPr b="0" i="0" sz="1350" u="none" cap="none" strike="noStrike">
              <a:solidFill>
                <a:schemeClr val="dk1"/>
              </a:solidFill>
              <a:latin typeface="Calibri"/>
              <a:ea typeface="Calibri"/>
              <a:cs typeface="Calibri"/>
              <a:sym typeface="Calibri"/>
            </a:endParaRPr>
          </a:p>
        </p:txBody>
      </p:sp>
      <p:sp>
        <p:nvSpPr>
          <p:cNvPr id="1226" name="Google Shape;1226;p40"/>
          <p:cNvSpPr/>
          <p:nvPr/>
        </p:nvSpPr>
        <p:spPr>
          <a:xfrm>
            <a:off x="4494276" y="5349240"/>
            <a:ext cx="3200400" cy="685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1 upload = 1 copy; 10,000 uploads = ~10,000 parallel copies. No config.</a:t>
            </a:r>
            <a:endParaRPr b="0" i="0" sz="1150" u="none" cap="none" strike="noStrike">
              <a:solidFill>
                <a:schemeClr val="dk1"/>
              </a:solidFill>
              <a:latin typeface="Calibri"/>
              <a:ea typeface="Calibri"/>
              <a:cs typeface="Calibri"/>
              <a:sym typeface="Calibri"/>
            </a:endParaRPr>
          </a:p>
        </p:txBody>
      </p:sp>
      <p:sp>
        <p:nvSpPr>
          <p:cNvPr id="1227" name="Google Shape;1227;p40"/>
          <p:cNvSpPr/>
          <p:nvPr/>
        </p:nvSpPr>
        <p:spPr>
          <a:xfrm>
            <a:off x="8046720" y="4572000"/>
            <a:ext cx="3639312" cy="1600200"/>
          </a:xfrm>
          <a:prstGeom prst="roundRect">
            <a:avLst>
              <a:gd fmla="val 4571"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40"/>
          <p:cNvSpPr/>
          <p:nvPr/>
        </p:nvSpPr>
        <p:spPr>
          <a:xfrm>
            <a:off x="8247888" y="4754880"/>
            <a:ext cx="475488" cy="475488"/>
          </a:xfrm>
          <a:prstGeom prst="ellipse">
            <a:avLst/>
          </a:prstGeom>
          <a:solidFill>
            <a:srgbClr val="0F172A"/>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9" name="Google Shape;1229;p40"/>
          <p:cNvPicPr preferRelativeResize="0"/>
          <p:nvPr/>
        </p:nvPicPr>
        <p:blipFill rotWithShape="1">
          <a:blip r:embed="rId7">
            <a:alphaModFix/>
          </a:blip>
          <a:srcRect b="0" l="0" r="0" t="0"/>
          <a:stretch/>
        </p:blipFill>
        <p:spPr>
          <a:xfrm>
            <a:off x="8366760" y="4873752"/>
            <a:ext cx="237744" cy="237744"/>
          </a:xfrm>
          <a:prstGeom prst="rect">
            <a:avLst/>
          </a:prstGeom>
          <a:noFill/>
          <a:ln>
            <a:noFill/>
          </a:ln>
        </p:spPr>
      </p:pic>
      <p:sp>
        <p:nvSpPr>
          <p:cNvPr id="1230" name="Google Shape;1230;p40"/>
          <p:cNvSpPr/>
          <p:nvPr/>
        </p:nvSpPr>
        <p:spPr>
          <a:xfrm>
            <a:off x="8851392" y="4718304"/>
            <a:ext cx="2679192"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1350"/>
              <a:buFont typeface="Bookman Old Style"/>
              <a:buNone/>
            </a:pPr>
            <a:r>
              <a:rPr b="1" i="0" lang="en-US" sz="1350" u="none" cap="none" strike="noStrike">
                <a:solidFill>
                  <a:srgbClr val="F8FAFC"/>
                </a:solidFill>
                <a:latin typeface="Bookman Old Style"/>
                <a:ea typeface="Bookman Old Style"/>
                <a:cs typeface="Bookman Old Style"/>
                <a:sym typeface="Bookman Old Style"/>
              </a:rPr>
              <a:t>Pay per ms</a:t>
            </a:r>
            <a:endParaRPr b="0" i="0" sz="1350" u="none" cap="none" strike="noStrike">
              <a:solidFill>
                <a:schemeClr val="dk1"/>
              </a:solidFill>
              <a:latin typeface="Calibri"/>
              <a:ea typeface="Calibri"/>
              <a:cs typeface="Calibri"/>
              <a:sym typeface="Calibri"/>
            </a:endParaRPr>
          </a:p>
        </p:txBody>
      </p:sp>
      <p:sp>
        <p:nvSpPr>
          <p:cNvPr id="1231" name="Google Shape;1231;p40"/>
          <p:cNvSpPr/>
          <p:nvPr/>
        </p:nvSpPr>
        <p:spPr>
          <a:xfrm>
            <a:off x="8266176" y="5349240"/>
            <a:ext cx="3200400" cy="685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Billed per request + GB-second of runtime. Free tier: 1 M requests/month, forever.</a:t>
            </a:r>
            <a:endParaRPr b="0" i="0" sz="1150" u="none" cap="none" strike="noStrike">
              <a:solidFill>
                <a:schemeClr val="dk1"/>
              </a:solidFill>
              <a:latin typeface="Calibri"/>
              <a:ea typeface="Calibri"/>
              <a:cs typeface="Calibri"/>
              <a:sym typeface="Calibri"/>
            </a:endParaRPr>
          </a:p>
        </p:txBody>
      </p:sp>
      <p:sp>
        <p:nvSpPr>
          <p:cNvPr id="1232" name="Google Shape;1232;p40"/>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233" name="Google Shape;1233;p40"/>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Lambda concept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38" name="Shape 1238"/>
        <p:cNvGrpSpPr/>
        <p:nvPr/>
      </p:nvGrpSpPr>
      <p:grpSpPr>
        <a:xfrm>
          <a:off x="0" y="0"/>
          <a:ext cx="0" cy="0"/>
          <a:chOff x="0" y="0"/>
          <a:chExt cx="0" cy="0"/>
        </a:xfrm>
      </p:grpSpPr>
      <p:sp>
        <p:nvSpPr>
          <p:cNvPr id="1239" name="Google Shape;1239;p41"/>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Courier New"/>
              <a:buNone/>
            </a:pPr>
            <a:r>
              <a:rPr b="1" i="0" lang="en-US" sz="1200" u="none" cap="none" strike="noStrike">
                <a:solidFill>
                  <a:srgbClr val="F97316"/>
                </a:solidFill>
                <a:latin typeface="Courier New"/>
                <a:ea typeface="Courier New"/>
                <a:cs typeface="Courier New"/>
                <a:sym typeface="Courier New"/>
              </a:rPr>
              <a:t>LAMBDA · LIMITS</a:t>
            </a:r>
            <a:endParaRPr b="0" i="0" sz="1200" u="none" cap="none" strike="noStrike">
              <a:solidFill>
                <a:schemeClr val="dk1"/>
              </a:solidFill>
              <a:latin typeface="Calibri"/>
              <a:ea typeface="Calibri"/>
              <a:cs typeface="Calibri"/>
              <a:sym typeface="Calibri"/>
            </a:endParaRPr>
          </a:p>
        </p:txBody>
      </p:sp>
      <p:sp>
        <p:nvSpPr>
          <p:cNvPr id="1240" name="Google Shape;1240;p41"/>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The fine print that bites</a:t>
            </a:r>
            <a:endParaRPr b="0" i="0" sz="3000" u="none" cap="none" strike="noStrike">
              <a:solidFill>
                <a:schemeClr val="dk1"/>
              </a:solidFill>
              <a:latin typeface="Calibri"/>
              <a:ea typeface="Calibri"/>
              <a:cs typeface="Calibri"/>
              <a:sym typeface="Calibri"/>
            </a:endParaRPr>
          </a:p>
        </p:txBody>
      </p:sp>
      <p:sp>
        <p:nvSpPr>
          <p:cNvPr id="1241" name="Google Shape;1241;p41"/>
          <p:cNvSpPr/>
          <p:nvPr/>
        </p:nvSpPr>
        <p:spPr>
          <a:xfrm>
            <a:off x="502920" y="1417320"/>
            <a:ext cx="6035040" cy="2788920"/>
          </a:xfrm>
          <a:prstGeom prst="roundRect">
            <a:avLst>
              <a:gd fmla="val 2623" name="adj"/>
            </a:avLst>
          </a:prstGeom>
          <a:solidFill>
            <a:srgbClr val="0B1120"/>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41"/>
          <p:cNvSpPr/>
          <p:nvPr/>
        </p:nvSpPr>
        <p:spPr>
          <a:xfrm>
            <a:off x="704088" y="1545336"/>
            <a:ext cx="100584" cy="100584"/>
          </a:xfrm>
          <a:prstGeom prst="ellipse">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41"/>
          <p:cNvSpPr/>
          <p:nvPr/>
        </p:nvSpPr>
        <p:spPr>
          <a:xfrm>
            <a:off x="886968" y="1545336"/>
            <a:ext cx="100584" cy="100584"/>
          </a:xfrm>
          <a:prstGeom prst="ellipse">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41"/>
          <p:cNvSpPr/>
          <p:nvPr/>
        </p:nvSpPr>
        <p:spPr>
          <a:xfrm>
            <a:off x="1069848" y="1545336"/>
            <a:ext cx="100584" cy="100584"/>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41"/>
          <p:cNvSpPr/>
          <p:nvPr/>
        </p:nvSpPr>
        <p:spPr>
          <a:xfrm>
            <a:off x="1280160" y="1472184"/>
            <a:ext cx="51206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handler.py</a:t>
            </a:r>
            <a:endParaRPr b="0" i="0" sz="1000" u="none" cap="none" strike="noStrike">
              <a:solidFill>
                <a:schemeClr val="dk1"/>
              </a:solidFill>
              <a:latin typeface="Calibri"/>
              <a:ea typeface="Calibri"/>
              <a:cs typeface="Calibri"/>
              <a:sym typeface="Calibri"/>
            </a:endParaRPr>
          </a:p>
        </p:txBody>
      </p:sp>
      <p:sp>
        <p:nvSpPr>
          <p:cNvPr id="1246" name="Google Shape;1246;p41"/>
          <p:cNvSpPr/>
          <p:nvPr/>
        </p:nvSpPr>
        <p:spPr>
          <a:xfrm>
            <a:off x="704088" y="1801368"/>
            <a:ext cx="5632704" cy="22860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import boto3, os</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s3 = boto3.client("s3")   # init runs on COLD start only</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F9900"/>
              </a:buClr>
              <a:buSzPts val="1050"/>
              <a:buFont typeface="Courier New"/>
              <a:buNone/>
            </a:pPr>
            <a:r>
              <a:rPr b="1" i="0" lang="en-US" sz="1050" u="none" cap="none" strike="noStrike">
                <a:solidFill>
                  <a:srgbClr val="FF9900"/>
                </a:solidFill>
                <a:latin typeface="Courier New"/>
                <a:ea typeface="Courier New"/>
                <a:cs typeface="Courier New"/>
                <a:sym typeface="Courier New"/>
              </a:rPr>
              <a:t>def handler(event, context):</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 event: dict describing what happened</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rec = event["Records"][0]["s3"]</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key = rec["object"]["key"]</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…resize, write back…</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    return {"status": "ok", "key": key}</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94A3B8"/>
              </a:buClr>
              <a:buSzPts val="1050"/>
              <a:buFont typeface="Courier New"/>
              <a:buNone/>
            </a:pPr>
            <a:r>
              <a:rPr b="0" i="0" lang="en-US" sz="1050" u="none" cap="none" strike="noStrike">
                <a:solidFill>
                  <a:srgbClr val="94A3B8"/>
                </a:solidFill>
                <a:latin typeface="Courier New"/>
                <a:ea typeface="Courier New"/>
                <a:cs typeface="Courier New"/>
                <a:sym typeface="Courier New"/>
              </a:rPr>
              <a:t># IAM role attached to the function decides</a:t>
            </a:r>
            <a:endParaRPr b="0" i="0" sz="10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FBBF24"/>
              </a:buClr>
              <a:buSzPts val="1050"/>
              <a:buFont typeface="Courier New"/>
              <a:buNone/>
            </a:pPr>
            <a:r>
              <a:rPr b="0" i="0" lang="en-US" sz="1050" u="none" cap="none" strike="noStrike">
                <a:solidFill>
                  <a:srgbClr val="FBBF24"/>
                </a:solidFill>
                <a:latin typeface="Courier New"/>
                <a:ea typeface="Courier New"/>
                <a:cs typeface="Courier New"/>
                <a:sym typeface="Courier New"/>
              </a:rPr>
              <a:t># what boto3 is ALLOWED to do  (Part 3!)</a:t>
            </a:r>
            <a:endParaRPr b="0" i="0" sz="1050" u="none" cap="none" strike="noStrike">
              <a:solidFill>
                <a:schemeClr val="dk1"/>
              </a:solidFill>
              <a:latin typeface="Calibri"/>
              <a:ea typeface="Calibri"/>
              <a:cs typeface="Calibri"/>
              <a:sym typeface="Calibri"/>
            </a:endParaRPr>
          </a:p>
        </p:txBody>
      </p:sp>
      <p:sp>
        <p:nvSpPr>
          <p:cNvPr id="1247" name="Google Shape;1247;p41"/>
          <p:cNvSpPr/>
          <p:nvPr/>
        </p:nvSpPr>
        <p:spPr>
          <a:xfrm>
            <a:off x="6748272" y="1417320"/>
            <a:ext cx="4937760" cy="1051560"/>
          </a:xfrm>
          <a:prstGeom prst="roundRect">
            <a:avLst>
              <a:gd fmla="val 6957" name="adj"/>
            </a:avLst>
          </a:prstGeom>
          <a:solidFill>
            <a:srgbClr val="1E293B"/>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41"/>
          <p:cNvSpPr/>
          <p:nvPr/>
        </p:nvSpPr>
        <p:spPr>
          <a:xfrm>
            <a:off x="6949440" y="1490472"/>
            <a:ext cx="45720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50"/>
              <a:buFont typeface="Bookman Old Style"/>
              <a:buNone/>
            </a:pPr>
            <a:r>
              <a:rPr b="1" i="0" lang="en-US" sz="1250" u="none" cap="none" strike="noStrike">
                <a:solidFill>
                  <a:srgbClr val="F97316"/>
                </a:solidFill>
                <a:latin typeface="Bookman Old Style"/>
                <a:ea typeface="Bookman Old Style"/>
                <a:cs typeface="Bookman Old Style"/>
                <a:sym typeface="Bookman Old Style"/>
              </a:rPr>
              <a:t>Cold starts</a:t>
            </a:r>
            <a:endParaRPr b="0" i="0" sz="1250" u="none" cap="none" strike="noStrike">
              <a:solidFill>
                <a:schemeClr val="dk1"/>
              </a:solidFill>
              <a:latin typeface="Calibri"/>
              <a:ea typeface="Calibri"/>
              <a:cs typeface="Calibri"/>
              <a:sym typeface="Calibri"/>
            </a:endParaRPr>
          </a:p>
        </p:txBody>
      </p:sp>
      <p:sp>
        <p:nvSpPr>
          <p:cNvPr id="1249" name="Google Shape;1249;p41"/>
          <p:cNvSpPr/>
          <p:nvPr/>
        </p:nvSpPr>
        <p:spPr>
          <a:xfrm>
            <a:off x="6949440" y="1819656"/>
            <a:ext cx="4590288" cy="603504"/>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First request after idle pays init cost: ~100 ms–1 s+ (worse on JVM). Mitigate: small deps, provisioned concurrency for hot paths.</a:t>
            </a:r>
            <a:endParaRPr b="0" i="0" sz="950" u="none" cap="none" strike="noStrike">
              <a:solidFill>
                <a:schemeClr val="dk1"/>
              </a:solidFill>
              <a:latin typeface="Calibri"/>
              <a:ea typeface="Calibri"/>
              <a:cs typeface="Calibri"/>
              <a:sym typeface="Calibri"/>
            </a:endParaRPr>
          </a:p>
        </p:txBody>
      </p:sp>
      <p:sp>
        <p:nvSpPr>
          <p:cNvPr id="1250" name="Google Shape;1250;p41"/>
          <p:cNvSpPr/>
          <p:nvPr/>
        </p:nvSpPr>
        <p:spPr>
          <a:xfrm>
            <a:off x="6748272" y="2615184"/>
            <a:ext cx="4937760" cy="1051560"/>
          </a:xfrm>
          <a:prstGeom prst="roundRect">
            <a:avLst>
              <a:gd fmla="val 6957" name="adj"/>
            </a:avLst>
          </a:prstGeom>
          <a:solidFill>
            <a:srgbClr val="1E293B"/>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41"/>
          <p:cNvSpPr/>
          <p:nvPr/>
        </p:nvSpPr>
        <p:spPr>
          <a:xfrm>
            <a:off x="6949440" y="2688336"/>
            <a:ext cx="45720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50"/>
              <a:buFont typeface="Bookman Old Style"/>
              <a:buNone/>
            </a:pPr>
            <a:r>
              <a:rPr b="1" i="0" lang="en-US" sz="1250" u="none" cap="none" strike="noStrike">
                <a:solidFill>
                  <a:srgbClr val="F97316"/>
                </a:solidFill>
                <a:latin typeface="Bookman Old Style"/>
                <a:ea typeface="Bookman Old Style"/>
                <a:cs typeface="Bookman Old Style"/>
                <a:sym typeface="Bookman Old Style"/>
              </a:rPr>
              <a:t>15-minute cap</a:t>
            </a:r>
            <a:endParaRPr b="0" i="0" sz="1250" u="none" cap="none" strike="noStrike">
              <a:solidFill>
                <a:schemeClr val="dk1"/>
              </a:solidFill>
              <a:latin typeface="Calibri"/>
              <a:ea typeface="Calibri"/>
              <a:cs typeface="Calibri"/>
              <a:sym typeface="Calibri"/>
            </a:endParaRPr>
          </a:p>
        </p:txBody>
      </p:sp>
      <p:sp>
        <p:nvSpPr>
          <p:cNvPr id="1252" name="Google Shape;1252;p41"/>
          <p:cNvSpPr/>
          <p:nvPr/>
        </p:nvSpPr>
        <p:spPr>
          <a:xfrm>
            <a:off x="6949440" y="3017520"/>
            <a:ext cx="4590288" cy="603504"/>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Hard max per invocation. Longer work → chop it up (queues, Step Functions) or use a container on ECS/EKS.</a:t>
            </a:r>
            <a:endParaRPr b="0" i="0" sz="950" u="none" cap="none" strike="noStrike">
              <a:solidFill>
                <a:schemeClr val="dk1"/>
              </a:solidFill>
              <a:latin typeface="Calibri"/>
              <a:ea typeface="Calibri"/>
              <a:cs typeface="Calibri"/>
              <a:sym typeface="Calibri"/>
            </a:endParaRPr>
          </a:p>
        </p:txBody>
      </p:sp>
      <p:sp>
        <p:nvSpPr>
          <p:cNvPr id="1253" name="Google Shape;1253;p41"/>
          <p:cNvSpPr/>
          <p:nvPr/>
        </p:nvSpPr>
        <p:spPr>
          <a:xfrm>
            <a:off x="6748272" y="3813048"/>
            <a:ext cx="4937760" cy="1051560"/>
          </a:xfrm>
          <a:prstGeom prst="roundRect">
            <a:avLst>
              <a:gd fmla="val 6957"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41"/>
          <p:cNvSpPr/>
          <p:nvPr/>
        </p:nvSpPr>
        <p:spPr>
          <a:xfrm>
            <a:off x="6949440" y="3886200"/>
            <a:ext cx="45720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250"/>
              <a:buFont typeface="Bookman Old Style"/>
              <a:buNone/>
            </a:pPr>
            <a:r>
              <a:rPr b="1" i="0" lang="en-US" sz="1250" u="none" cap="none" strike="noStrike">
                <a:solidFill>
                  <a:srgbClr val="FF9900"/>
                </a:solidFill>
                <a:latin typeface="Bookman Old Style"/>
                <a:ea typeface="Bookman Old Style"/>
                <a:cs typeface="Bookman Old Style"/>
                <a:sym typeface="Bookman Old Style"/>
              </a:rPr>
              <a:t>Stateless</a:t>
            </a:r>
            <a:endParaRPr b="0" i="0" sz="1250" u="none" cap="none" strike="noStrike">
              <a:solidFill>
                <a:schemeClr val="dk1"/>
              </a:solidFill>
              <a:latin typeface="Calibri"/>
              <a:ea typeface="Calibri"/>
              <a:cs typeface="Calibri"/>
              <a:sym typeface="Calibri"/>
            </a:endParaRPr>
          </a:p>
        </p:txBody>
      </p:sp>
      <p:sp>
        <p:nvSpPr>
          <p:cNvPr id="1255" name="Google Shape;1255;p41"/>
          <p:cNvSpPr/>
          <p:nvPr/>
        </p:nvSpPr>
        <p:spPr>
          <a:xfrm>
            <a:off x="6949440" y="4215384"/>
            <a:ext cx="4590288" cy="603504"/>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The micro-VM may vanish between calls. State lives in S3 / DynamoDB / Redis — never in memory or /tmp long-term.</a:t>
            </a:r>
            <a:endParaRPr b="0" i="0" sz="950" u="none" cap="none" strike="noStrike">
              <a:solidFill>
                <a:schemeClr val="dk1"/>
              </a:solidFill>
              <a:latin typeface="Calibri"/>
              <a:ea typeface="Calibri"/>
              <a:cs typeface="Calibri"/>
              <a:sym typeface="Calibri"/>
            </a:endParaRPr>
          </a:p>
        </p:txBody>
      </p:sp>
      <p:sp>
        <p:nvSpPr>
          <p:cNvPr id="1256" name="Google Shape;1256;p41"/>
          <p:cNvSpPr/>
          <p:nvPr/>
        </p:nvSpPr>
        <p:spPr>
          <a:xfrm>
            <a:off x="6748272" y="5010912"/>
            <a:ext cx="4937760" cy="1051560"/>
          </a:xfrm>
          <a:prstGeom prst="roundRect">
            <a:avLst>
              <a:gd fmla="val 6957"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41"/>
          <p:cNvSpPr/>
          <p:nvPr/>
        </p:nvSpPr>
        <p:spPr>
          <a:xfrm>
            <a:off x="6949440" y="5084064"/>
            <a:ext cx="45720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50"/>
              <a:buFont typeface="Bookman Old Style"/>
              <a:buNone/>
            </a:pPr>
            <a:r>
              <a:rPr b="1" i="0" lang="en-US" sz="1250" u="none" cap="none" strike="noStrike">
                <a:solidFill>
                  <a:srgbClr val="2DD4BF"/>
                </a:solidFill>
                <a:latin typeface="Bookman Old Style"/>
                <a:ea typeface="Bookman Old Style"/>
                <a:cs typeface="Bookman Old Style"/>
                <a:sym typeface="Bookman Old Style"/>
              </a:rPr>
              <a:t>Memory = power</a:t>
            </a:r>
            <a:endParaRPr b="0" i="0" sz="1250" u="none" cap="none" strike="noStrike">
              <a:solidFill>
                <a:schemeClr val="dk1"/>
              </a:solidFill>
              <a:latin typeface="Calibri"/>
              <a:ea typeface="Calibri"/>
              <a:cs typeface="Calibri"/>
              <a:sym typeface="Calibri"/>
            </a:endParaRPr>
          </a:p>
        </p:txBody>
      </p:sp>
      <p:sp>
        <p:nvSpPr>
          <p:cNvPr id="1258" name="Google Shape;1258;p41"/>
          <p:cNvSpPr/>
          <p:nvPr/>
        </p:nvSpPr>
        <p:spPr>
          <a:xfrm>
            <a:off x="6949440" y="5413248"/>
            <a:ext cx="4590288" cy="603504"/>
          </a:xfrm>
          <a:prstGeom prst="rect">
            <a:avLst/>
          </a:prstGeom>
          <a:noFill/>
          <a:ln>
            <a:noFill/>
          </a:ln>
        </p:spPr>
        <p:txBody>
          <a:bodyPr anchorCtr="0" anchor="ctr" bIns="0" lIns="0" spcFirstLastPara="1" rIns="0" wrap="square" tIns="0">
            <a:noAutofit/>
          </a:bodyPr>
          <a:lstStyle/>
          <a:p>
            <a:pPr indent="0" lvl="0" marL="0" marR="0" rtl="0" algn="l">
              <a:lnSpc>
                <a:spcPct val="103000"/>
              </a:lnSpc>
              <a:spcBef>
                <a:spcPts val="0"/>
              </a:spcBef>
              <a:spcAft>
                <a:spcPts val="0"/>
              </a:spcAft>
              <a:buClr>
                <a:srgbClr val="E2E8F0"/>
              </a:buClr>
              <a:buSzPts val="950"/>
              <a:buFont typeface="Calibri"/>
              <a:buNone/>
            </a:pPr>
            <a:r>
              <a:rPr b="0" i="0" lang="en-US" sz="950" u="none" cap="none" strike="noStrike">
                <a:solidFill>
                  <a:srgbClr val="E2E8F0"/>
                </a:solidFill>
                <a:latin typeface="Calibri"/>
                <a:ea typeface="Calibri"/>
                <a:cs typeface="Calibri"/>
                <a:sym typeface="Calibri"/>
              </a:rPr>
              <a:t>One dial, 128 MB–10 GB; CPU scales with it. Counterintuitive: more memory often FINISHES faster → cheaper.</a:t>
            </a:r>
            <a:endParaRPr b="0" i="0" sz="950" u="none" cap="none" strike="noStrike">
              <a:solidFill>
                <a:schemeClr val="dk1"/>
              </a:solidFill>
              <a:latin typeface="Calibri"/>
              <a:ea typeface="Calibri"/>
              <a:cs typeface="Calibri"/>
              <a:sym typeface="Calibri"/>
            </a:endParaRPr>
          </a:p>
        </p:txBody>
      </p:sp>
      <p:sp>
        <p:nvSpPr>
          <p:cNvPr id="1259" name="Google Shape;1259;p41"/>
          <p:cNvSpPr/>
          <p:nvPr/>
        </p:nvSpPr>
        <p:spPr>
          <a:xfrm>
            <a:off x="502920" y="4389120"/>
            <a:ext cx="6035040" cy="868680"/>
          </a:xfrm>
          <a:prstGeom prst="roundRect">
            <a:avLst>
              <a:gd fmla="val 8421" name="adj"/>
            </a:avLst>
          </a:prstGeom>
          <a:solidFill>
            <a:srgbClr val="0E2A26"/>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1"/>
          <p:cNvSpPr/>
          <p:nvPr/>
        </p:nvSpPr>
        <p:spPr>
          <a:xfrm>
            <a:off x="731520" y="446227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Bookman Old Style"/>
              <a:buNone/>
            </a:pPr>
            <a:r>
              <a:rPr b="1" i="0" lang="en-US" sz="1200" u="none" cap="none" strike="noStrike">
                <a:solidFill>
                  <a:srgbClr val="2DD4BF"/>
                </a:solidFill>
                <a:latin typeface="Bookman Old Style"/>
                <a:ea typeface="Bookman Old Style"/>
                <a:cs typeface="Bookman Old Style"/>
                <a:sym typeface="Bookman Old Style"/>
              </a:rPr>
              <a:t>Great for</a:t>
            </a:r>
            <a:endParaRPr b="0" i="0" sz="1200" u="none" cap="none" strike="noStrike">
              <a:solidFill>
                <a:schemeClr val="dk1"/>
              </a:solidFill>
              <a:latin typeface="Calibri"/>
              <a:ea typeface="Calibri"/>
              <a:cs typeface="Calibri"/>
              <a:sym typeface="Calibri"/>
            </a:endParaRPr>
          </a:p>
        </p:txBody>
      </p:sp>
      <p:sp>
        <p:nvSpPr>
          <p:cNvPr id="1261" name="Google Shape;1261;p41"/>
          <p:cNvSpPr/>
          <p:nvPr/>
        </p:nvSpPr>
        <p:spPr>
          <a:xfrm>
            <a:off x="731520" y="4754880"/>
            <a:ext cx="562356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Glue between services · S3-triggered processing · cron jobs · webhooks · spiky APIs · ops automation</a:t>
            </a:r>
            <a:endParaRPr b="0" i="0" sz="1050" u="none" cap="none" strike="noStrike">
              <a:solidFill>
                <a:schemeClr val="dk1"/>
              </a:solidFill>
              <a:latin typeface="Calibri"/>
              <a:ea typeface="Calibri"/>
              <a:cs typeface="Calibri"/>
              <a:sym typeface="Calibri"/>
            </a:endParaRPr>
          </a:p>
        </p:txBody>
      </p:sp>
      <p:sp>
        <p:nvSpPr>
          <p:cNvPr id="1262" name="Google Shape;1262;p41"/>
          <p:cNvSpPr/>
          <p:nvPr/>
        </p:nvSpPr>
        <p:spPr>
          <a:xfrm>
            <a:off x="502920" y="5394960"/>
            <a:ext cx="6035040" cy="868680"/>
          </a:xfrm>
          <a:prstGeom prst="roundRect">
            <a:avLst>
              <a:gd fmla="val 8421" name="adj"/>
            </a:avLst>
          </a:prstGeom>
          <a:solidFill>
            <a:srgbClr val="3A2210"/>
          </a:solidFill>
          <a:ln cap="flat" cmpd="sng" w="1587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41"/>
          <p:cNvSpPr/>
          <p:nvPr/>
        </p:nvSpPr>
        <p:spPr>
          <a:xfrm>
            <a:off x="731520" y="546811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Bookman Old Style"/>
              <a:buNone/>
            </a:pPr>
            <a:r>
              <a:rPr b="1" i="0" lang="en-US" sz="1200" u="none" cap="none" strike="noStrike">
                <a:solidFill>
                  <a:srgbClr val="F97316"/>
                </a:solidFill>
                <a:latin typeface="Bookman Old Style"/>
                <a:ea typeface="Bookman Old Style"/>
                <a:cs typeface="Bookman Old Style"/>
                <a:sym typeface="Bookman Old Style"/>
              </a:rPr>
              <a:t>Wrong tool for</a:t>
            </a:r>
            <a:endParaRPr b="0" i="0" sz="1200" u="none" cap="none" strike="noStrike">
              <a:solidFill>
                <a:schemeClr val="dk1"/>
              </a:solidFill>
              <a:latin typeface="Calibri"/>
              <a:ea typeface="Calibri"/>
              <a:cs typeface="Calibri"/>
              <a:sym typeface="Calibri"/>
            </a:endParaRPr>
          </a:p>
        </p:txBody>
      </p:sp>
      <p:sp>
        <p:nvSpPr>
          <p:cNvPr id="1264" name="Google Shape;1264;p41"/>
          <p:cNvSpPr/>
          <p:nvPr/>
        </p:nvSpPr>
        <p:spPr>
          <a:xfrm>
            <a:off x="731520" y="5760720"/>
            <a:ext cx="562356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2E8F0"/>
              </a:buClr>
              <a:buSzPts val="1050"/>
              <a:buFont typeface="Calibri"/>
              <a:buNone/>
            </a:pPr>
            <a:r>
              <a:rPr b="0" i="0" lang="en-US" sz="1050" u="none" cap="none" strike="noStrike">
                <a:solidFill>
                  <a:srgbClr val="E2E8F0"/>
                </a:solidFill>
                <a:latin typeface="Calibri"/>
                <a:ea typeface="Calibri"/>
                <a:cs typeface="Calibri"/>
                <a:sym typeface="Calibri"/>
              </a:rPr>
              <a:t>Long batch jobs · websockets &amp; steady streams · latency-critical hot paths · local state</a:t>
            </a:r>
            <a:endParaRPr b="0" i="0" sz="1050" u="none" cap="none" strike="noStrike">
              <a:solidFill>
                <a:schemeClr val="dk1"/>
              </a:solidFill>
              <a:latin typeface="Calibri"/>
              <a:ea typeface="Calibri"/>
              <a:cs typeface="Calibri"/>
              <a:sym typeface="Calibri"/>
            </a:endParaRPr>
          </a:p>
        </p:txBody>
      </p:sp>
      <p:sp>
        <p:nvSpPr>
          <p:cNvPr id="1265" name="Google Shape;1265;p41"/>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266" name="Google Shape;1266;p41"/>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Lambda limits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71" name="Shape 1271"/>
        <p:cNvGrpSpPr/>
        <p:nvPr/>
      </p:nvGrpSpPr>
      <p:grpSpPr>
        <a:xfrm>
          <a:off x="0" y="0"/>
          <a:ext cx="0" cy="0"/>
          <a:chOff x="0" y="0"/>
          <a:chExt cx="0" cy="0"/>
        </a:xfrm>
      </p:grpSpPr>
      <p:sp>
        <p:nvSpPr>
          <p:cNvPr id="1272" name="Google Shape;1272;p42"/>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PUTTING IT TOGETHER</a:t>
            </a:r>
            <a:endParaRPr b="0" i="0" sz="1200" u="none" cap="none" strike="noStrike">
              <a:solidFill>
                <a:schemeClr val="dk1"/>
              </a:solidFill>
              <a:latin typeface="Calibri"/>
              <a:ea typeface="Calibri"/>
              <a:cs typeface="Calibri"/>
              <a:sym typeface="Calibri"/>
            </a:endParaRPr>
          </a:p>
        </p:txBody>
      </p:sp>
      <p:sp>
        <p:nvSpPr>
          <p:cNvPr id="1273" name="Google Shape;1273;p42"/>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One app, all eight parts</a:t>
            </a:r>
            <a:endParaRPr b="0" i="0" sz="3000" u="none" cap="none" strike="noStrike">
              <a:solidFill>
                <a:schemeClr val="dk1"/>
              </a:solidFill>
              <a:latin typeface="Calibri"/>
              <a:ea typeface="Calibri"/>
              <a:cs typeface="Calibri"/>
              <a:sym typeface="Calibri"/>
            </a:endParaRPr>
          </a:p>
        </p:txBody>
      </p:sp>
      <p:sp>
        <p:nvSpPr>
          <p:cNvPr id="1274" name="Google Shape;1274;p42"/>
          <p:cNvSpPr/>
          <p:nvPr/>
        </p:nvSpPr>
        <p:spPr>
          <a:xfrm>
            <a:off x="502920" y="1371600"/>
            <a:ext cx="11183112" cy="3977640"/>
          </a:xfrm>
          <a:prstGeom prst="roundRect">
            <a:avLst>
              <a:gd fmla="val 1839" name="adj"/>
            </a:avLst>
          </a:prstGeom>
          <a:solidFill>
            <a:srgbClr val="1E293B"/>
          </a:solidFill>
          <a:ln cap="flat" cmpd="sng" w="158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42"/>
          <p:cNvSpPr/>
          <p:nvPr/>
        </p:nvSpPr>
        <p:spPr>
          <a:xfrm>
            <a:off x="777240" y="1463040"/>
            <a:ext cx="10607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Region ap-south-1</a:t>
            </a:r>
            <a:r>
              <a:rPr b="0" i="0" lang="en-US" sz="1150" u="none" cap="none" strike="noStrike">
                <a:solidFill>
                  <a:srgbClr val="94A3B8"/>
                </a:solidFill>
                <a:latin typeface="Courier New"/>
                <a:ea typeface="Courier New"/>
                <a:cs typeface="Courier New"/>
                <a:sym typeface="Courier New"/>
              </a:rPr>
              <a:t>   ·   guarded everywhere by IAM roles  ·  watched everywhere by CloudWatch</a:t>
            </a:r>
            <a:endParaRPr b="0" i="0" sz="1150" u="none" cap="none" strike="noStrike">
              <a:solidFill>
                <a:schemeClr val="dk1"/>
              </a:solidFill>
              <a:latin typeface="Calibri"/>
              <a:ea typeface="Calibri"/>
              <a:cs typeface="Calibri"/>
              <a:sym typeface="Calibri"/>
            </a:endParaRPr>
          </a:p>
        </p:txBody>
      </p:sp>
      <p:pic>
        <p:nvPicPr>
          <p:cNvPr descr="preencoded.png" id="1276" name="Google Shape;1276;p42"/>
          <p:cNvPicPr preferRelativeResize="0"/>
          <p:nvPr/>
        </p:nvPicPr>
        <p:blipFill rotWithShape="1">
          <a:blip r:embed="rId3">
            <a:alphaModFix/>
          </a:blip>
          <a:srcRect b="0" l="0" r="0" t="0"/>
          <a:stretch/>
        </p:blipFill>
        <p:spPr>
          <a:xfrm>
            <a:off x="914400" y="2880360"/>
            <a:ext cx="502920" cy="502920"/>
          </a:xfrm>
          <a:prstGeom prst="rect">
            <a:avLst/>
          </a:prstGeom>
          <a:noFill/>
          <a:ln>
            <a:noFill/>
          </a:ln>
        </p:spPr>
      </p:pic>
      <p:sp>
        <p:nvSpPr>
          <p:cNvPr id="1277" name="Google Shape;1277;p42"/>
          <p:cNvSpPr/>
          <p:nvPr/>
        </p:nvSpPr>
        <p:spPr>
          <a:xfrm>
            <a:off x="685800" y="3401568"/>
            <a:ext cx="10058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00"/>
              <a:buFont typeface="Courier New"/>
              <a:buNone/>
            </a:pPr>
            <a:r>
              <a:rPr b="0" i="0" lang="en-US" sz="1000" u="none" cap="none" strike="noStrike">
                <a:solidFill>
                  <a:srgbClr val="94A3B8"/>
                </a:solidFill>
                <a:latin typeface="Courier New"/>
                <a:ea typeface="Courier New"/>
                <a:cs typeface="Courier New"/>
                <a:sym typeface="Courier New"/>
              </a:rPr>
              <a:t>users</a:t>
            </a:r>
            <a:endParaRPr b="0" i="0" sz="1000" u="none" cap="none" strike="noStrike">
              <a:solidFill>
                <a:schemeClr val="dk1"/>
              </a:solidFill>
              <a:latin typeface="Calibri"/>
              <a:ea typeface="Calibri"/>
              <a:cs typeface="Calibri"/>
              <a:sym typeface="Calibri"/>
            </a:endParaRPr>
          </a:p>
        </p:txBody>
      </p:sp>
      <p:cxnSp>
        <p:nvCxnSpPr>
          <p:cNvPr id="1278" name="Google Shape;1278;p42"/>
          <p:cNvCxnSpPr/>
          <p:nvPr/>
        </p:nvCxnSpPr>
        <p:spPr>
          <a:xfrm>
            <a:off x="1554480" y="3127248"/>
            <a:ext cx="640080" cy="0"/>
          </a:xfrm>
          <a:prstGeom prst="straightConnector1">
            <a:avLst/>
          </a:prstGeom>
          <a:noFill/>
          <a:ln cap="flat" cmpd="sng" w="25400">
            <a:solidFill>
              <a:srgbClr val="E2E8F0"/>
            </a:solidFill>
            <a:prstDash val="solid"/>
            <a:round/>
            <a:headEnd len="sm" w="sm" type="none"/>
            <a:tailEnd len="med" w="med" type="stealth"/>
          </a:ln>
        </p:spPr>
      </p:cxnSp>
      <p:sp>
        <p:nvSpPr>
          <p:cNvPr id="1279" name="Google Shape;1279;p42"/>
          <p:cNvSpPr/>
          <p:nvPr/>
        </p:nvSpPr>
        <p:spPr>
          <a:xfrm>
            <a:off x="2240280" y="2834640"/>
            <a:ext cx="1417320" cy="621792"/>
          </a:xfrm>
          <a:prstGeom prst="roundRect">
            <a:avLst>
              <a:gd fmla="val 8824"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2"/>
          <p:cNvSpPr/>
          <p:nvPr/>
        </p:nvSpPr>
        <p:spPr>
          <a:xfrm>
            <a:off x="2240280" y="2834640"/>
            <a:ext cx="1417320" cy="62179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ALB</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(Ingress)</a:t>
            </a:r>
            <a:endParaRPr b="0" i="0" sz="950" u="none" cap="none" strike="noStrike">
              <a:solidFill>
                <a:schemeClr val="dk1"/>
              </a:solidFill>
              <a:latin typeface="Calibri"/>
              <a:ea typeface="Calibri"/>
              <a:cs typeface="Calibri"/>
              <a:sym typeface="Calibri"/>
            </a:endParaRPr>
          </a:p>
        </p:txBody>
      </p:sp>
      <p:cxnSp>
        <p:nvCxnSpPr>
          <p:cNvPr id="1281" name="Google Shape;1281;p42"/>
          <p:cNvCxnSpPr/>
          <p:nvPr/>
        </p:nvCxnSpPr>
        <p:spPr>
          <a:xfrm>
            <a:off x="3675888" y="3127248"/>
            <a:ext cx="621792" cy="0"/>
          </a:xfrm>
          <a:prstGeom prst="straightConnector1">
            <a:avLst/>
          </a:prstGeom>
          <a:noFill/>
          <a:ln cap="flat" cmpd="sng" w="25400">
            <a:solidFill>
              <a:srgbClr val="E2E8F0"/>
            </a:solidFill>
            <a:prstDash val="solid"/>
            <a:round/>
            <a:headEnd len="sm" w="sm" type="none"/>
            <a:tailEnd len="med" w="med" type="stealth"/>
          </a:ln>
        </p:spPr>
      </p:cxnSp>
      <p:sp>
        <p:nvSpPr>
          <p:cNvPr id="1282" name="Google Shape;1282;p42"/>
          <p:cNvSpPr/>
          <p:nvPr/>
        </p:nvSpPr>
        <p:spPr>
          <a:xfrm>
            <a:off x="4343400" y="2103120"/>
            <a:ext cx="3749040" cy="2286000"/>
          </a:xfrm>
          <a:prstGeom prst="roundRect">
            <a:avLst>
              <a:gd fmla="val 3200" name="adj"/>
            </a:avLst>
          </a:prstGeom>
          <a:solidFill>
            <a:srgbClr val="0F172A"/>
          </a:solidFill>
          <a:ln cap="flat" cmpd="sng" w="19050">
            <a:solidFill>
              <a:srgbClr val="326C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3" name="Google Shape;1283;p42"/>
          <p:cNvPicPr preferRelativeResize="0"/>
          <p:nvPr/>
        </p:nvPicPr>
        <p:blipFill rotWithShape="1">
          <a:blip r:embed="rId4">
            <a:alphaModFix/>
          </a:blip>
          <a:srcRect b="0" l="0" r="0" t="0"/>
          <a:stretch/>
        </p:blipFill>
        <p:spPr>
          <a:xfrm>
            <a:off x="4526280" y="2240280"/>
            <a:ext cx="292608" cy="292608"/>
          </a:xfrm>
          <a:prstGeom prst="rect">
            <a:avLst/>
          </a:prstGeom>
          <a:noFill/>
          <a:ln>
            <a:noFill/>
          </a:ln>
        </p:spPr>
      </p:pic>
      <p:sp>
        <p:nvSpPr>
          <p:cNvPr id="1284" name="Google Shape;1284;p42"/>
          <p:cNvSpPr/>
          <p:nvPr/>
        </p:nvSpPr>
        <p:spPr>
          <a:xfrm>
            <a:off x="4892040" y="2212848"/>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26CE5"/>
              </a:buClr>
              <a:buSzPts val="1300"/>
              <a:buFont typeface="Bookman Old Style"/>
              <a:buNone/>
            </a:pPr>
            <a:r>
              <a:rPr b="1" i="0" lang="en-US" sz="1300" u="none" cap="none" strike="noStrike">
                <a:solidFill>
                  <a:srgbClr val="326CE5"/>
                </a:solidFill>
                <a:latin typeface="Bookman Old Style"/>
                <a:ea typeface="Bookman Old Style"/>
                <a:cs typeface="Bookman Old Style"/>
                <a:sym typeface="Bookman Old Style"/>
              </a:rPr>
              <a:t>EKS cluster</a:t>
            </a:r>
            <a:endParaRPr b="0" i="0" sz="1300" u="none" cap="none" strike="noStrike">
              <a:solidFill>
                <a:schemeClr val="dk1"/>
              </a:solidFill>
              <a:latin typeface="Calibri"/>
              <a:ea typeface="Calibri"/>
              <a:cs typeface="Calibri"/>
              <a:sym typeface="Calibri"/>
            </a:endParaRPr>
          </a:p>
        </p:txBody>
      </p:sp>
      <p:sp>
        <p:nvSpPr>
          <p:cNvPr id="1285" name="Google Shape;1285;p42"/>
          <p:cNvSpPr/>
          <p:nvPr/>
        </p:nvSpPr>
        <p:spPr>
          <a:xfrm>
            <a:off x="4572000" y="2651760"/>
            <a:ext cx="1554480" cy="548640"/>
          </a:xfrm>
          <a:prstGeom prst="roundRect">
            <a:avLst>
              <a:gd fmla="val 10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42"/>
          <p:cNvSpPr/>
          <p:nvPr/>
        </p:nvSpPr>
        <p:spPr>
          <a:xfrm>
            <a:off x="4572000" y="2651760"/>
            <a:ext cx="155448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E2E8F0"/>
              </a:buClr>
              <a:buSzPts val="950"/>
              <a:buFont typeface="Courier New"/>
              <a:buNone/>
            </a:pPr>
            <a:r>
              <a:rPr b="0" i="0" lang="en-US" sz="950" u="none" cap="none" strike="noStrike">
                <a:solidFill>
                  <a:srgbClr val="E2E8F0"/>
                </a:solidFill>
                <a:latin typeface="Courier New"/>
                <a:ea typeface="Courier New"/>
                <a:cs typeface="Courier New"/>
                <a:sym typeface="Courier New"/>
              </a:rPr>
              <a:t>podinfo</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950"/>
              <a:buFont typeface="Courier New"/>
              <a:buNone/>
            </a:pPr>
            <a:r>
              <a:rPr b="0" i="0" lang="en-US" sz="950" u="none" cap="none" strike="noStrike">
                <a:solidFill>
                  <a:srgbClr val="E2E8F0"/>
                </a:solidFill>
                <a:latin typeface="Courier New"/>
                <a:ea typeface="Courier New"/>
                <a:cs typeface="Courier New"/>
                <a:sym typeface="Courier New"/>
              </a:rPr>
              <a:t>pods</a:t>
            </a:r>
            <a:endParaRPr b="0" i="0" sz="950" u="none" cap="none" strike="noStrike">
              <a:solidFill>
                <a:schemeClr val="dk1"/>
              </a:solidFill>
              <a:latin typeface="Calibri"/>
              <a:ea typeface="Calibri"/>
              <a:cs typeface="Calibri"/>
              <a:sym typeface="Calibri"/>
            </a:endParaRPr>
          </a:p>
        </p:txBody>
      </p:sp>
      <p:sp>
        <p:nvSpPr>
          <p:cNvPr id="1287" name="Google Shape;1287;p42"/>
          <p:cNvSpPr/>
          <p:nvPr/>
        </p:nvSpPr>
        <p:spPr>
          <a:xfrm>
            <a:off x="6309360" y="2651760"/>
            <a:ext cx="1554480" cy="548640"/>
          </a:xfrm>
          <a:prstGeom prst="roundRect">
            <a:avLst>
              <a:gd fmla="val 10000" name="adj"/>
            </a:avLst>
          </a:prstGeom>
          <a:solidFill>
            <a:srgbClr val="1E293B"/>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42"/>
          <p:cNvSpPr/>
          <p:nvPr/>
        </p:nvSpPr>
        <p:spPr>
          <a:xfrm>
            <a:off x="6309360" y="2651760"/>
            <a:ext cx="1554480" cy="54864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E2E8F0"/>
              </a:buClr>
              <a:buSzPts val="950"/>
              <a:buFont typeface="Courier New"/>
              <a:buNone/>
            </a:pPr>
            <a:r>
              <a:rPr b="0" i="0" lang="en-US" sz="950" u="none" cap="none" strike="noStrike">
                <a:solidFill>
                  <a:srgbClr val="E2E8F0"/>
                </a:solidFill>
                <a:latin typeface="Courier New"/>
                <a:ea typeface="Courier New"/>
                <a:cs typeface="Courier New"/>
                <a:sym typeface="Courier New"/>
              </a:rPr>
              <a:t>orders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2E8F0"/>
              </a:buClr>
              <a:buSzPts val="950"/>
              <a:buFont typeface="Courier New"/>
              <a:buNone/>
            </a:pPr>
            <a:r>
              <a:rPr b="0" i="0" lang="en-US" sz="950" u="none" cap="none" strike="noStrike">
                <a:solidFill>
                  <a:srgbClr val="E2E8F0"/>
                </a:solidFill>
                <a:latin typeface="Courier New"/>
                <a:ea typeface="Courier New"/>
                <a:cs typeface="Courier New"/>
                <a:sym typeface="Courier New"/>
              </a:rPr>
              <a:t>pods</a:t>
            </a:r>
            <a:endParaRPr b="0" i="0" sz="950" u="none" cap="none" strike="noStrike">
              <a:solidFill>
                <a:schemeClr val="dk1"/>
              </a:solidFill>
              <a:latin typeface="Calibri"/>
              <a:ea typeface="Calibri"/>
              <a:cs typeface="Calibri"/>
              <a:sym typeface="Calibri"/>
            </a:endParaRPr>
          </a:p>
        </p:txBody>
      </p:sp>
      <p:sp>
        <p:nvSpPr>
          <p:cNvPr id="1289" name="Google Shape;1289;p42"/>
          <p:cNvSpPr/>
          <p:nvPr/>
        </p:nvSpPr>
        <p:spPr>
          <a:xfrm>
            <a:off x="4572000" y="3520440"/>
            <a:ext cx="3291840" cy="621792"/>
          </a:xfrm>
          <a:prstGeom prst="roundRect">
            <a:avLst>
              <a:gd fmla="val 8824"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42"/>
          <p:cNvSpPr/>
          <p:nvPr/>
        </p:nvSpPr>
        <p:spPr>
          <a:xfrm>
            <a:off x="4572000" y="3520440"/>
            <a:ext cx="3291840" cy="621792"/>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9900"/>
              </a:buClr>
              <a:buSzPts val="950"/>
              <a:buFont typeface="Courier New"/>
              <a:buNone/>
            </a:pPr>
            <a:r>
              <a:rPr b="0" i="0" lang="en-US" sz="950" u="none" cap="none" strike="noStrike">
                <a:solidFill>
                  <a:srgbClr val="FF9900"/>
                </a:solidFill>
                <a:latin typeface="Courier New"/>
                <a:ea typeface="Courier New"/>
                <a:cs typeface="Courier New"/>
                <a:sym typeface="Courier New"/>
              </a:rPr>
              <a:t>node group — EC2 (spot t3.medium ×3)</a:t>
            </a:r>
            <a:endParaRPr b="0" i="0" sz="950" u="none" cap="none" strike="noStrike">
              <a:solidFill>
                <a:schemeClr val="dk1"/>
              </a:solidFill>
              <a:latin typeface="Calibri"/>
              <a:ea typeface="Calibri"/>
              <a:cs typeface="Calibri"/>
              <a:sym typeface="Calibri"/>
            </a:endParaRPr>
          </a:p>
        </p:txBody>
      </p:sp>
      <p:sp>
        <p:nvSpPr>
          <p:cNvPr id="1291" name="Google Shape;1291;p42"/>
          <p:cNvSpPr/>
          <p:nvPr/>
        </p:nvSpPr>
        <p:spPr>
          <a:xfrm>
            <a:off x="8778240" y="2148840"/>
            <a:ext cx="2606040" cy="685800"/>
          </a:xfrm>
          <a:prstGeom prst="roundRect">
            <a:avLst>
              <a:gd fmla="val 8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42"/>
          <p:cNvSpPr/>
          <p:nvPr/>
        </p:nvSpPr>
        <p:spPr>
          <a:xfrm>
            <a:off x="8778240" y="2148840"/>
            <a:ext cx="2606040" cy="6858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9900"/>
              </a:buClr>
              <a:buSzPts val="950"/>
              <a:buFont typeface="Courier New"/>
              <a:buNone/>
            </a:pPr>
            <a:r>
              <a:rPr b="0" i="0" lang="en-US" sz="950" u="none" cap="none" strike="noStrike">
                <a:solidFill>
                  <a:srgbClr val="FF9900"/>
                </a:solidFill>
                <a:latin typeface="Courier New"/>
                <a:ea typeface="Courier New"/>
                <a:cs typeface="Courier New"/>
                <a:sym typeface="Courier New"/>
              </a:rPr>
              <a:t>ECR</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9900"/>
              </a:buClr>
              <a:buSzPts val="950"/>
              <a:buFont typeface="Courier New"/>
              <a:buNone/>
            </a:pPr>
            <a:r>
              <a:rPr b="0" i="0" lang="en-US" sz="950" u="none" cap="none" strike="noStrike">
                <a:solidFill>
                  <a:srgbClr val="FF9900"/>
                </a:solidFill>
                <a:latin typeface="Courier New"/>
                <a:ea typeface="Courier New"/>
                <a:cs typeface="Courier New"/>
                <a:sym typeface="Courier New"/>
              </a:rPr>
              <a:t>shortlink-api:1.4.2</a:t>
            </a:r>
            <a:endParaRPr b="0" i="0" sz="950" u="none" cap="none" strike="noStrike">
              <a:solidFill>
                <a:schemeClr val="dk1"/>
              </a:solidFill>
              <a:latin typeface="Calibri"/>
              <a:ea typeface="Calibri"/>
              <a:cs typeface="Calibri"/>
              <a:sym typeface="Calibri"/>
            </a:endParaRPr>
          </a:p>
        </p:txBody>
      </p:sp>
      <p:cxnSp>
        <p:nvCxnSpPr>
          <p:cNvPr id="1293" name="Google Shape;1293;p42"/>
          <p:cNvCxnSpPr/>
          <p:nvPr/>
        </p:nvCxnSpPr>
        <p:spPr>
          <a:xfrm flipH="1">
            <a:off x="8110728" y="2651760"/>
            <a:ext cx="649224" cy="182880"/>
          </a:xfrm>
          <a:prstGeom prst="straightConnector1">
            <a:avLst/>
          </a:prstGeom>
          <a:noFill/>
          <a:ln cap="flat" cmpd="sng" w="19050">
            <a:solidFill>
              <a:srgbClr val="94A3B8"/>
            </a:solidFill>
            <a:prstDash val="solid"/>
            <a:round/>
            <a:headEnd len="sm" w="sm" type="none"/>
            <a:tailEnd len="med" w="med" type="stealth"/>
          </a:ln>
        </p:spPr>
      </p:cxnSp>
      <p:sp>
        <p:nvSpPr>
          <p:cNvPr id="1294" name="Google Shape;1294;p42"/>
          <p:cNvSpPr/>
          <p:nvPr/>
        </p:nvSpPr>
        <p:spPr>
          <a:xfrm>
            <a:off x="8183880" y="2395728"/>
            <a:ext cx="640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pull</a:t>
            </a:r>
            <a:endParaRPr b="0" i="0" sz="900" u="none" cap="none" strike="noStrike">
              <a:solidFill>
                <a:schemeClr val="dk1"/>
              </a:solidFill>
              <a:latin typeface="Calibri"/>
              <a:ea typeface="Calibri"/>
              <a:cs typeface="Calibri"/>
              <a:sym typeface="Calibri"/>
            </a:endParaRPr>
          </a:p>
        </p:txBody>
      </p:sp>
      <p:sp>
        <p:nvSpPr>
          <p:cNvPr id="1295" name="Google Shape;1295;p42"/>
          <p:cNvSpPr/>
          <p:nvPr/>
        </p:nvSpPr>
        <p:spPr>
          <a:xfrm>
            <a:off x="8778240" y="3246120"/>
            <a:ext cx="2606040" cy="640080"/>
          </a:xfrm>
          <a:prstGeom prst="roundRect">
            <a:avLst>
              <a:gd fmla="val 8571"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42"/>
          <p:cNvSpPr/>
          <p:nvPr/>
        </p:nvSpPr>
        <p:spPr>
          <a:xfrm>
            <a:off x="8778240" y="3246120"/>
            <a:ext cx="2606040" cy="64008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2DD4BF"/>
              </a:buClr>
              <a:buSzPts val="950"/>
              <a:buFont typeface="Courier New"/>
              <a:buNone/>
            </a:pPr>
            <a:r>
              <a:rPr b="0" i="0" lang="en-US" sz="950" u="none" cap="none" strike="noStrike">
                <a:solidFill>
                  <a:srgbClr val="2DD4BF"/>
                </a:solidFill>
                <a:latin typeface="Courier New"/>
                <a:ea typeface="Courier New"/>
                <a:cs typeface="Courier New"/>
                <a:sym typeface="Courier New"/>
              </a:rPr>
              <a:t>S3 — uploads &amp; assets</a:t>
            </a:r>
            <a:endParaRPr b="0" i="0" sz="950" u="none" cap="none" strike="noStrike">
              <a:solidFill>
                <a:schemeClr val="dk1"/>
              </a:solidFill>
              <a:latin typeface="Calibri"/>
              <a:ea typeface="Calibri"/>
              <a:cs typeface="Calibri"/>
              <a:sym typeface="Calibri"/>
            </a:endParaRPr>
          </a:p>
        </p:txBody>
      </p:sp>
      <p:cxnSp>
        <p:nvCxnSpPr>
          <p:cNvPr id="1297" name="Google Shape;1297;p42"/>
          <p:cNvCxnSpPr/>
          <p:nvPr/>
        </p:nvCxnSpPr>
        <p:spPr>
          <a:xfrm>
            <a:off x="8110728" y="3429000"/>
            <a:ext cx="649224" cy="91440"/>
          </a:xfrm>
          <a:prstGeom prst="straightConnector1">
            <a:avLst/>
          </a:prstGeom>
          <a:noFill/>
          <a:ln cap="flat" cmpd="sng" w="19050">
            <a:solidFill>
              <a:srgbClr val="94A3B8"/>
            </a:solidFill>
            <a:prstDash val="solid"/>
            <a:round/>
            <a:headEnd len="sm" w="sm" type="none"/>
            <a:tailEnd len="med" w="med" type="stealth"/>
          </a:ln>
        </p:spPr>
      </p:cxnSp>
      <p:sp>
        <p:nvSpPr>
          <p:cNvPr id="1298" name="Google Shape;1298;p42"/>
          <p:cNvSpPr/>
          <p:nvPr/>
        </p:nvSpPr>
        <p:spPr>
          <a:xfrm>
            <a:off x="8778240" y="4297680"/>
            <a:ext cx="2606040" cy="640080"/>
          </a:xfrm>
          <a:prstGeom prst="roundRect">
            <a:avLst>
              <a:gd fmla="val 8571"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42"/>
          <p:cNvSpPr/>
          <p:nvPr/>
        </p:nvSpPr>
        <p:spPr>
          <a:xfrm>
            <a:off x="8778240" y="4297680"/>
            <a:ext cx="2606040" cy="64008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FF9900"/>
              </a:buClr>
              <a:buSzPts val="1000"/>
              <a:buFont typeface="Courier New"/>
              <a:buNone/>
            </a:pPr>
            <a:r>
              <a:rPr b="0" i="0" lang="en-US" sz="1000" u="none" cap="none" strike="noStrike">
                <a:solidFill>
                  <a:srgbClr val="FF9900"/>
                </a:solidFill>
                <a:latin typeface="Courier New"/>
                <a:ea typeface="Courier New"/>
                <a:cs typeface="Courier New"/>
                <a:sym typeface="Courier New"/>
              </a:rPr>
              <a:t>λ thumbnailer</a:t>
            </a:r>
            <a:endParaRPr b="0" i="0" sz="1000" u="none" cap="none" strike="noStrike">
              <a:solidFill>
                <a:schemeClr val="dk1"/>
              </a:solidFill>
              <a:latin typeface="Calibri"/>
              <a:ea typeface="Calibri"/>
              <a:cs typeface="Calibri"/>
              <a:sym typeface="Calibri"/>
            </a:endParaRPr>
          </a:p>
        </p:txBody>
      </p:sp>
      <p:cxnSp>
        <p:nvCxnSpPr>
          <p:cNvPr id="1300" name="Google Shape;1300;p42"/>
          <p:cNvCxnSpPr/>
          <p:nvPr/>
        </p:nvCxnSpPr>
        <p:spPr>
          <a:xfrm>
            <a:off x="10058400" y="3904488"/>
            <a:ext cx="0" cy="374904"/>
          </a:xfrm>
          <a:prstGeom prst="straightConnector1">
            <a:avLst/>
          </a:prstGeom>
          <a:noFill/>
          <a:ln cap="flat" cmpd="sng" w="19050">
            <a:solidFill>
              <a:srgbClr val="FBBF24"/>
            </a:solidFill>
            <a:prstDash val="solid"/>
            <a:round/>
            <a:headEnd len="sm" w="sm" type="none"/>
            <a:tailEnd len="med" w="med" type="stealth"/>
          </a:ln>
        </p:spPr>
      </p:cxnSp>
      <p:sp>
        <p:nvSpPr>
          <p:cNvPr id="1301" name="Google Shape;1301;p42"/>
          <p:cNvSpPr/>
          <p:nvPr/>
        </p:nvSpPr>
        <p:spPr>
          <a:xfrm>
            <a:off x="10149840" y="3950208"/>
            <a:ext cx="777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F24"/>
              </a:buClr>
              <a:buSzPts val="900"/>
              <a:buFont typeface="Courier New"/>
              <a:buNone/>
            </a:pPr>
            <a:r>
              <a:rPr b="0" i="0" lang="en-US" sz="900" u="none" cap="none" strike="noStrike">
                <a:solidFill>
                  <a:srgbClr val="FBBF24"/>
                </a:solidFill>
                <a:latin typeface="Courier New"/>
                <a:ea typeface="Courier New"/>
                <a:cs typeface="Courier New"/>
                <a:sym typeface="Courier New"/>
              </a:rPr>
              <a:t>event</a:t>
            </a:r>
            <a:endParaRPr b="0" i="0" sz="900" u="none" cap="none" strike="noStrike">
              <a:solidFill>
                <a:schemeClr val="dk1"/>
              </a:solidFill>
              <a:latin typeface="Calibri"/>
              <a:ea typeface="Calibri"/>
              <a:cs typeface="Calibri"/>
              <a:sym typeface="Calibri"/>
            </a:endParaRPr>
          </a:p>
        </p:txBody>
      </p:sp>
      <p:sp>
        <p:nvSpPr>
          <p:cNvPr id="1302" name="Google Shape;1302;p42"/>
          <p:cNvSpPr/>
          <p:nvPr/>
        </p:nvSpPr>
        <p:spPr>
          <a:xfrm>
            <a:off x="777240" y="4892040"/>
            <a:ext cx="10607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050"/>
              <a:buFont typeface="Courier New"/>
              <a:buNone/>
            </a:pPr>
            <a:r>
              <a:rPr b="0" i="0" lang="en-US" sz="1050" u="none" cap="none" strike="noStrike">
                <a:solidFill>
                  <a:srgbClr val="2DD4BF"/>
                </a:solidFill>
                <a:latin typeface="Courier New"/>
                <a:ea typeface="Courier New"/>
                <a:cs typeface="Courier New"/>
                <a:sym typeface="Courier New"/>
              </a:rPr>
              <a:t>CloudWatch: metrics from every box · logs via Fluent Bit · X-Ray traces across pods</a:t>
            </a:r>
            <a:endParaRPr b="0" i="0" sz="1050" u="none" cap="none" strike="noStrike">
              <a:solidFill>
                <a:schemeClr val="dk1"/>
              </a:solidFill>
              <a:latin typeface="Calibri"/>
              <a:ea typeface="Calibri"/>
              <a:cs typeface="Calibri"/>
              <a:sym typeface="Calibri"/>
            </a:endParaRPr>
          </a:p>
        </p:txBody>
      </p:sp>
      <p:sp>
        <p:nvSpPr>
          <p:cNvPr id="1303" name="Google Shape;1303;p42"/>
          <p:cNvSpPr/>
          <p:nvPr/>
        </p:nvSpPr>
        <p:spPr>
          <a:xfrm>
            <a:off x="502920" y="5532120"/>
            <a:ext cx="11183112" cy="868680"/>
          </a:xfrm>
          <a:prstGeom prst="roundRect">
            <a:avLst>
              <a:gd fmla="val 8421" name="adj"/>
            </a:avLst>
          </a:prstGeom>
          <a:solidFill>
            <a:srgbClr val="0A1A18"/>
          </a:solidFill>
          <a:ln cap="flat" cmpd="sng" w="15875">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4" name="Google Shape;1304;p42"/>
          <p:cNvPicPr preferRelativeResize="0"/>
          <p:nvPr/>
        </p:nvPicPr>
        <p:blipFill rotWithShape="1">
          <a:blip r:embed="rId5">
            <a:alphaModFix/>
          </a:blip>
          <a:srcRect b="0" l="0" r="0" t="0"/>
          <a:stretch/>
        </p:blipFill>
        <p:spPr>
          <a:xfrm>
            <a:off x="704088" y="5820156"/>
            <a:ext cx="292608" cy="292608"/>
          </a:xfrm>
          <a:prstGeom prst="rect">
            <a:avLst/>
          </a:prstGeom>
          <a:noFill/>
          <a:ln>
            <a:noFill/>
          </a:ln>
        </p:spPr>
      </p:pic>
      <p:sp>
        <p:nvSpPr>
          <p:cNvPr id="1305" name="Google Shape;1305;p42"/>
          <p:cNvSpPr/>
          <p:nvPr/>
        </p:nvSpPr>
        <p:spPr>
          <a:xfrm>
            <a:off x="1143000" y="5623560"/>
            <a:ext cx="10341864"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2E8F0"/>
              </a:buClr>
              <a:buSzPts val="1300"/>
              <a:buFont typeface="Calibri"/>
              <a:buNone/>
            </a:pPr>
            <a:r>
              <a:rPr b="0" i="0" lang="en-US" sz="1300" u="none" cap="none" strike="noStrike">
                <a:solidFill>
                  <a:srgbClr val="E2E8F0"/>
                </a:solidFill>
                <a:latin typeface="Calibri"/>
                <a:ea typeface="Calibri"/>
                <a:cs typeface="Calibri"/>
                <a:sym typeface="Calibri"/>
              </a:rPr>
              <a:t>Every arrow is an IAM permission. Every box emits telemetry. Everything came from an API call — which means next stop: writing this whole diagram as code (Terraform).</a:t>
            </a:r>
            <a:endParaRPr b="0" i="0" sz="1300" u="none" cap="none" strike="noStrike">
              <a:solidFill>
                <a:schemeClr val="dk1"/>
              </a:solidFill>
              <a:latin typeface="Calibri"/>
              <a:ea typeface="Calibri"/>
              <a:cs typeface="Calibri"/>
              <a:sym typeface="Calibri"/>
            </a:endParaRPr>
          </a:p>
        </p:txBody>
      </p:sp>
      <p:sp>
        <p:nvSpPr>
          <p:cNvPr id="1306" name="Google Shape;1306;p42"/>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307" name="Google Shape;1307;p42"/>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The big picture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12" name="Shape 1312"/>
        <p:cNvGrpSpPr/>
        <p:nvPr/>
      </p:nvGrpSpPr>
      <p:grpSpPr>
        <a:xfrm>
          <a:off x="0" y="0"/>
          <a:ext cx="0" cy="0"/>
          <a:chOff x="0" y="0"/>
          <a:chExt cx="0" cy="0"/>
        </a:xfrm>
      </p:grpSpPr>
      <p:sp>
        <p:nvSpPr>
          <p:cNvPr id="1313" name="Google Shape;1313;p43"/>
          <p:cNvSpPr/>
          <p:nvPr/>
        </p:nvSpPr>
        <p:spPr>
          <a:xfrm>
            <a:off x="502920" y="292608"/>
            <a:ext cx="11155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200"/>
              <a:buFont typeface="Courier New"/>
              <a:buNone/>
            </a:pPr>
            <a:r>
              <a:rPr b="1" i="0" lang="en-US" sz="1200" u="none" cap="none" strike="noStrike">
                <a:solidFill>
                  <a:srgbClr val="2DD4BF"/>
                </a:solidFill>
                <a:latin typeface="Courier New"/>
                <a:ea typeface="Courier New"/>
                <a:cs typeface="Courier New"/>
                <a:sym typeface="Courier New"/>
              </a:rPr>
              <a:t>RECAP</a:t>
            </a:r>
            <a:endParaRPr b="0" i="0" sz="1200" u="none" cap="none" strike="noStrike">
              <a:solidFill>
                <a:schemeClr val="dk1"/>
              </a:solidFill>
              <a:latin typeface="Calibri"/>
              <a:ea typeface="Calibri"/>
              <a:cs typeface="Calibri"/>
              <a:sym typeface="Calibri"/>
            </a:endParaRPr>
          </a:p>
        </p:txBody>
      </p:sp>
      <p:sp>
        <p:nvSpPr>
          <p:cNvPr id="1314" name="Google Shape;1314;p43"/>
          <p:cNvSpPr/>
          <p:nvPr/>
        </p:nvSpPr>
        <p:spPr>
          <a:xfrm>
            <a:off x="502920" y="56692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Bookman Old Style"/>
              <a:buNone/>
            </a:pPr>
            <a:r>
              <a:rPr b="1" i="0" lang="en-US" sz="3000" u="none" cap="none" strike="noStrike">
                <a:solidFill>
                  <a:srgbClr val="F8FAFC"/>
                </a:solidFill>
                <a:latin typeface="Bookman Old Style"/>
                <a:ea typeface="Bookman Old Style"/>
                <a:cs typeface="Bookman Old Style"/>
                <a:sym typeface="Bookman Old Style"/>
              </a:rPr>
              <a:t>What you can now say with a straight face</a:t>
            </a:r>
            <a:endParaRPr b="0" i="0" sz="3000" u="none" cap="none" strike="noStrike">
              <a:solidFill>
                <a:schemeClr val="dk1"/>
              </a:solidFill>
              <a:latin typeface="Calibri"/>
              <a:ea typeface="Calibri"/>
              <a:cs typeface="Calibri"/>
              <a:sym typeface="Calibri"/>
            </a:endParaRPr>
          </a:p>
        </p:txBody>
      </p:sp>
      <p:sp>
        <p:nvSpPr>
          <p:cNvPr id="1315" name="Google Shape;1315;p43"/>
          <p:cNvSpPr/>
          <p:nvPr/>
        </p:nvSpPr>
        <p:spPr>
          <a:xfrm>
            <a:off x="502920" y="1417320"/>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3"/>
          <p:cNvSpPr/>
          <p:nvPr/>
        </p:nvSpPr>
        <p:spPr>
          <a:xfrm>
            <a:off x="713232" y="1417320"/>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Cloud 101</a:t>
            </a:r>
            <a:endParaRPr b="0" i="0" sz="1150" u="none" cap="none" strike="noStrike">
              <a:solidFill>
                <a:schemeClr val="dk1"/>
              </a:solidFill>
              <a:latin typeface="Calibri"/>
              <a:ea typeface="Calibri"/>
              <a:cs typeface="Calibri"/>
              <a:sym typeface="Calibri"/>
            </a:endParaRPr>
          </a:p>
        </p:txBody>
      </p:sp>
      <p:sp>
        <p:nvSpPr>
          <p:cNvPr id="1317" name="Google Shape;1317;p43"/>
          <p:cNvSpPr/>
          <p:nvPr/>
        </p:nvSpPr>
        <p:spPr>
          <a:xfrm>
            <a:off x="2514600" y="1417320"/>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Self-service API infrastructure; IaaS→SaaS trade control for speed; you secure what you configure.</a:t>
            </a:r>
            <a:endParaRPr b="0" i="0" sz="1150" u="none" cap="none" strike="noStrike">
              <a:solidFill>
                <a:schemeClr val="dk1"/>
              </a:solidFill>
              <a:latin typeface="Calibri"/>
              <a:ea typeface="Calibri"/>
              <a:cs typeface="Calibri"/>
              <a:sym typeface="Calibri"/>
            </a:endParaRPr>
          </a:p>
        </p:txBody>
      </p:sp>
      <p:sp>
        <p:nvSpPr>
          <p:cNvPr id="1318" name="Google Shape;1318;p43"/>
          <p:cNvSpPr/>
          <p:nvPr/>
        </p:nvSpPr>
        <p:spPr>
          <a:xfrm>
            <a:off x="502920" y="2002536"/>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43"/>
          <p:cNvSpPr/>
          <p:nvPr/>
        </p:nvSpPr>
        <p:spPr>
          <a:xfrm>
            <a:off x="713232" y="2002536"/>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EC2</a:t>
            </a:r>
            <a:endParaRPr b="0" i="0" sz="1150" u="none" cap="none" strike="noStrike">
              <a:solidFill>
                <a:schemeClr val="dk1"/>
              </a:solidFill>
              <a:latin typeface="Calibri"/>
              <a:ea typeface="Calibri"/>
              <a:cs typeface="Calibri"/>
              <a:sym typeface="Calibri"/>
            </a:endParaRPr>
          </a:p>
        </p:txBody>
      </p:sp>
      <p:sp>
        <p:nvSpPr>
          <p:cNvPr id="1320" name="Google Shape;1320;p43"/>
          <p:cNvSpPr/>
          <p:nvPr/>
        </p:nvSpPr>
        <p:spPr>
          <a:xfrm>
            <a:off x="2514600" y="2002536"/>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VMs by the second — AMI + type + EBS + SG + key pair. Spot for the brave, terminate what you forget.</a:t>
            </a:r>
            <a:endParaRPr b="0" i="0" sz="1150" u="none" cap="none" strike="noStrike">
              <a:solidFill>
                <a:schemeClr val="dk1"/>
              </a:solidFill>
              <a:latin typeface="Calibri"/>
              <a:ea typeface="Calibri"/>
              <a:cs typeface="Calibri"/>
              <a:sym typeface="Calibri"/>
            </a:endParaRPr>
          </a:p>
        </p:txBody>
      </p:sp>
      <p:sp>
        <p:nvSpPr>
          <p:cNvPr id="1321" name="Google Shape;1321;p43"/>
          <p:cNvSpPr/>
          <p:nvPr/>
        </p:nvSpPr>
        <p:spPr>
          <a:xfrm>
            <a:off x="502920" y="2587752"/>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43"/>
          <p:cNvSpPr/>
          <p:nvPr/>
        </p:nvSpPr>
        <p:spPr>
          <a:xfrm>
            <a:off x="713232" y="2587752"/>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IAM</a:t>
            </a:r>
            <a:endParaRPr b="0" i="0" sz="1150" u="none" cap="none" strike="noStrike">
              <a:solidFill>
                <a:schemeClr val="dk1"/>
              </a:solidFill>
              <a:latin typeface="Calibri"/>
              <a:ea typeface="Calibri"/>
              <a:cs typeface="Calibri"/>
              <a:sym typeface="Calibri"/>
            </a:endParaRPr>
          </a:p>
        </p:txBody>
      </p:sp>
      <p:sp>
        <p:nvSpPr>
          <p:cNvPr id="1323" name="Google Shape;1323;p43"/>
          <p:cNvSpPr/>
          <p:nvPr/>
        </p:nvSpPr>
        <p:spPr>
          <a:xfrm>
            <a:off x="2514600" y="2587752"/>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Users, groups, roles, JSON policies. Humans get MFA, machines get roles, nobody gets s3:*.</a:t>
            </a:r>
            <a:endParaRPr b="0" i="0" sz="1150" u="none" cap="none" strike="noStrike">
              <a:solidFill>
                <a:schemeClr val="dk1"/>
              </a:solidFill>
              <a:latin typeface="Calibri"/>
              <a:ea typeface="Calibri"/>
              <a:cs typeface="Calibri"/>
              <a:sym typeface="Calibri"/>
            </a:endParaRPr>
          </a:p>
        </p:txBody>
      </p:sp>
      <p:sp>
        <p:nvSpPr>
          <p:cNvPr id="1324" name="Google Shape;1324;p43"/>
          <p:cNvSpPr/>
          <p:nvPr/>
        </p:nvSpPr>
        <p:spPr>
          <a:xfrm>
            <a:off x="502920" y="3172968"/>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43"/>
          <p:cNvSpPr/>
          <p:nvPr/>
        </p:nvSpPr>
        <p:spPr>
          <a:xfrm>
            <a:off x="713232" y="3172968"/>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S3</a:t>
            </a:r>
            <a:endParaRPr b="0" i="0" sz="1150" u="none" cap="none" strike="noStrike">
              <a:solidFill>
                <a:schemeClr val="dk1"/>
              </a:solidFill>
              <a:latin typeface="Calibri"/>
              <a:ea typeface="Calibri"/>
              <a:cs typeface="Calibri"/>
              <a:sym typeface="Calibri"/>
            </a:endParaRPr>
          </a:p>
        </p:txBody>
      </p:sp>
      <p:sp>
        <p:nvSpPr>
          <p:cNvPr id="1326" name="Google Shape;1326;p43"/>
          <p:cNvSpPr/>
          <p:nvPr/>
        </p:nvSpPr>
        <p:spPr>
          <a:xfrm>
            <a:off x="2514600" y="3172968"/>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Durable objects behind HTTP. Flat keys, storage classes by temperature, lifecycle rules do the moving.</a:t>
            </a:r>
            <a:endParaRPr b="0" i="0" sz="1150" u="none" cap="none" strike="noStrike">
              <a:solidFill>
                <a:schemeClr val="dk1"/>
              </a:solidFill>
              <a:latin typeface="Calibri"/>
              <a:ea typeface="Calibri"/>
              <a:cs typeface="Calibri"/>
              <a:sym typeface="Calibri"/>
            </a:endParaRPr>
          </a:p>
        </p:txBody>
      </p:sp>
      <p:sp>
        <p:nvSpPr>
          <p:cNvPr id="1327" name="Google Shape;1327;p43"/>
          <p:cNvSpPr/>
          <p:nvPr/>
        </p:nvSpPr>
        <p:spPr>
          <a:xfrm>
            <a:off x="502920" y="3758184"/>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43"/>
          <p:cNvSpPr/>
          <p:nvPr/>
        </p:nvSpPr>
        <p:spPr>
          <a:xfrm>
            <a:off x="713232" y="3758184"/>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ECR</a:t>
            </a:r>
            <a:endParaRPr b="0" i="0" sz="1150" u="none" cap="none" strike="noStrike">
              <a:solidFill>
                <a:schemeClr val="dk1"/>
              </a:solidFill>
              <a:latin typeface="Calibri"/>
              <a:ea typeface="Calibri"/>
              <a:cs typeface="Calibri"/>
              <a:sym typeface="Calibri"/>
            </a:endParaRPr>
          </a:p>
        </p:txBody>
      </p:sp>
      <p:sp>
        <p:nvSpPr>
          <p:cNvPr id="1329" name="Google Shape;1329;p43"/>
          <p:cNvSpPr/>
          <p:nvPr/>
        </p:nvSpPr>
        <p:spPr>
          <a:xfrm>
            <a:off x="2514600" y="3758184"/>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Harbor's job with IAM auth — login token, tag with full path, push, scan, expire the old junk.</a:t>
            </a:r>
            <a:endParaRPr b="0" i="0" sz="1150" u="none" cap="none" strike="noStrike">
              <a:solidFill>
                <a:schemeClr val="dk1"/>
              </a:solidFill>
              <a:latin typeface="Calibri"/>
              <a:ea typeface="Calibri"/>
              <a:cs typeface="Calibri"/>
              <a:sym typeface="Calibri"/>
            </a:endParaRPr>
          </a:p>
        </p:txBody>
      </p:sp>
      <p:sp>
        <p:nvSpPr>
          <p:cNvPr id="1330" name="Google Shape;1330;p43"/>
          <p:cNvSpPr/>
          <p:nvPr/>
        </p:nvSpPr>
        <p:spPr>
          <a:xfrm>
            <a:off x="502920" y="4343400"/>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43"/>
          <p:cNvSpPr/>
          <p:nvPr/>
        </p:nvSpPr>
        <p:spPr>
          <a:xfrm>
            <a:off x="713232" y="4343400"/>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EKS</a:t>
            </a:r>
            <a:endParaRPr b="0" i="0" sz="1150" u="none" cap="none" strike="noStrike">
              <a:solidFill>
                <a:schemeClr val="dk1"/>
              </a:solidFill>
              <a:latin typeface="Calibri"/>
              <a:ea typeface="Calibri"/>
              <a:cs typeface="Calibri"/>
              <a:sym typeface="Calibri"/>
            </a:endParaRPr>
          </a:p>
        </p:txBody>
      </p:sp>
      <p:sp>
        <p:nvSpPr>
          <p:cNvPr id="1332" name="Google Shape;1332;p43"/>
          <p:cNvSpPr/>
          <p:nvPr/>
        </p:nvSpPr>
        <p:spPr>
          <a:xfrm>
            <a:off x="2514600" y="4343400"/>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Managed control plane; your kubectl unchanged; Ingress/PVC now summon real AWS hardware.</a:t>
            </a:r>
            <a:endParaRPr b="0" i="0" sz="1150" u="none" cap="none" strike="noStrike">
              <a:solidFill>
                <a:schemeClr val="dk1"/>
              </a:solidFill>
              <a:latin typeface="Calibri"/>
              <a:ea typeface="Calibri"/>
              <a:cs typeface="Calibri"/>
              <a:sym typeface="Calibri"/>
            </a:endParaRPr>
          </a:p>
        </p:txBody>
      </p:sp>
      <p:sp>
        <p:nvSpPr>
          <p:cNvPr id="1333" name="Google Shape;1333;p43"/>
          <p:cNvSpPr/>
          <p:nvPr/>
        </p:nvSpPr>
        <p:spPr>
          <a:xfrm>
            <a:off x="502920" y="4928616"/>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43"/>
          <p:cNvSpPr/>
          <p:nvPr/>
        </p:nvSpPr>
        <p:spPr>
          <a:xfrm>
            <a:off x="713232" y="4928616"/>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Telemetry</a:t>
            </a:r>
            <a:endParaRPr b="0" i="0" sz="1150" u="none" cap="none" strike="noStrike">
              <a:solidFill>
                <a:schemeClr val="dk1"/>
              </a:solidFill>
              <a:latin typeface="Calibri"/>
              <a:ea typeface="Calibri"/>
              <a:cs typeface="Calibri"/>
              <a:sym typeface="Calibri"/>
            </a:endParaRPr>
          </a:p>
        </p:txBody>
      </p:sp>
      <p:sp>
        <p:nvSpPr>
          <p:cNvPr id="1335" name="Google Shape;1335;p43"/>
          <p:cNvSpPr/>
          <p:nvPr/>
        </p:nvSpPr>
        <p:spPr>
          <a:xfrm>
            <a:off x="2514600" y="4928616"/>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Metrics ask if, logs ask what, traces ask where. CloudWatch is built in; OTel keeps you portable.</a:t>
            </a:r>
            <a:endParaRPr b="0" i="0" sz="1150" u="none" cap="none" strike="noStrike">
              <a:solidFill>
                <a:schemeClr val="dk1"/>
              </a:solidFill>
              <a:latin typeface="Calibri"/>
              <a:ea typeface="Calibri"/>
              <a:cs typeface="Calibri"/>
              <a:sym typeface="Calibri"/>
            </a:endParaRPr>
          </a:p>
        </p:txBody>
      </p:sp>
      <p:sp>
        <p:nvSpPr>
          <p:cNvPr id="1336" name="Google Shape;1336;p43"/>
          <p:cNvSpPr/>
          <p:nvPr/>
        </p:nvSpPr>
        <p:spPr>
          <a:xfrm>
            <a:off x="502920" y="5513832"/>
            <a:ext cx="11183112" cy="512064"/>
          </a:xfrm>
          <a:prstGeom prst="roundRect">
            <a:avLst>
              <a:gd fmla="val 8929" name="adj"/>
            </a:avLst>
          </a:prstGeom>
          <a:solidFill>
            <a:srgbClr val="1E293B"/>
          </a:solidFill>
          <a:ln cap="flat" cmpd="sng" w="9525">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43"/>
          <p:cNvSpPr/>
          <p:nvPr/>
        </p:nvSpPr>
        <p:spPr>
          <a:xfrm>
            <a:off x="713232" y="5513832"/>
            <a:ext cx="16916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150"/>
              <a:buFont typeface="Courier New"/>
              <a:buNone/>
            </a:pPr>
            <a:r>
              <a:rPr b="1" i="0" lang="en-US" sz="1150" u="none" cap="none" strike="noStrike">
                <a:solidFill>
                  <a:srgbClr val="FF9900"/>
                </a:solidFill>
                <a:latin typeface="Courier New"/>
                <a:ea typeface="Courier New"/>
                <a:cs typeface="Courier New"/>
                <a:sym typeface="Courier New"/>
              </a:rPr>
              <a:t>Lambda</a:t>
            </a:r>
            <a:endParaRPr b="0" i="0" sz="1150" u="none" cap="none" strike="noStrike">
              <a:solidFill>
                <a:schemeClr val="dk1"/>
              </a:solidFill>
              <a:latin typeface="Calibri"/>
              <a:ea typeface="Calibri"/>
              <a:cs typeface="Calibri"/>
              <a:sym typeface="Calibri"/>
            </a:endParaRPr>
          </a:p>
        </p:txBody>
      </p:sp>
      <p:sp>
        <p:nvSpPr>
          <p:cNvPr id="1338" name="Google Shape;1338;p43"/>
          <p:cNvSpPr/>
          <p:nvPr/>
        </p:nvSpPr>
        <p:spPr>
          <a:xfrm>
            <a:off x="2514600" y="5513832"/>
            <a:ext cx="90525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150"/>
              <a:buFont typeface="Calibri"/>
              <a:buNone/>
            </a:pPr>
            <a:r>
              <a:rPr b="0" i="0" lang="en-US" sz="1150" u="none" cap="none" strike="noStrike">
                <a:solidFill>
                  <a:srgbClr val="E2E8F0"/>
                </a:solidFill>
                <a:latin typeface="Calibri"/>
                <a:ea typeface="Calibri"/>
                <a:cs typeface="Calibri"/>
                <a:sym typeface="Calibri"/>
              </a:rPr>
              <a:t>Code that runs on events, scales itself, bills per ms — and disappears when idle.</a:t>
            </a:r>
            <a:endParaRPr b="0" i="0" sz="1150" u="none" cap="none" strike="noStrike">
              <a:solidFill>
                <a:schemeClr val="dk1"/>
              </a:solidFill>
              <a:latin typeface="Calibri"/>
              <a:ea typeface="Calibri"/>
              <a:cs typeface="Calibri"/>
              <a:sym typeface="Calibri"/>
            </a:endParaRPr>
          </a:p>
        </p:txBody>
      </p:sp>
      <p:sp>
        <p:nvSpPr>
          <p:cNvPr id="1339" name="Google Shape;1339;p43"/>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340" name="Google Shape;1340;p43"/>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Recap</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45" name="Shape 1345"/>
        <p:cNvGrpSpPr/>
        <p:nvPr/>
      </p:nvGrpSpPr>
      <p:grpSpPr>
        <a:xfrm>
          <a:off x="0" y="0"/>
          <a:ext cx="0" cy="0"/>
          <a:chOff x="0" y="0"/>
          <a:chExt cx="0" cy="0"/>
        </a:xfrm>
      </p:grpSpPr>
      <p:sp>
        <p:nvSpPr>
          <p:cNvPr id="1346" name="Google Shape;1346;p44"/>
          <p:cNvSpPr/>
          <p:nvPr/>
        </p:nvSpPr>
        <p:spPr>
          <a:xfrm>
            <a:off x="822960" y="219456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D4BF"/>
              </a:buClr>
              <a:buSzPts val="1600"/>
              <a:buFont typeface="Courier New"/>
              <a:buNone/>
            </a:pPr>
            <a:r>
              <a:rPr b="0" i="0" lang="en-US" sz="1600" u="none" cap="none" strike="noStrike">
                <a:solidFill>
                  <a:srgbClr val="2DD4BF"/>
                </a:solidFill>
                <a:latin typeface="Courier New"/>
                <a:ea typeface="Courier New"/>
                <a:cs typeface="Courier New"/>
                <a:sym typeface="Courier New"/>
              </a:rPr>
              <a:t>Next stop:</a:t>
            </a:r>
            <a:endParaRPr b="0" i="0" sz="1600" u="none" cap="none" strike="noStrike">
              <a:solidFill>
                <a:schemeClr val="dk1"/>
              </a:solidFill>
              <a:latin typeface="Calibri"/>
              <a:ea typeface="Calibri"/>
              <a:cs typeface="Calibri"/>
              <a:sym typeface="Calibri"/>
            </a:endParaRPr>
          </a:p>
        </p:txBody>
      </p:sp>
      <p:sp>
        <p:nvSpPr>
          <p:cNvPr id="1347" name="Google Shape;1347;p44"/>
          <p:cNvSpPr/>
          <p:nvPr/>
        </p:nvSpPr>
        <p:spPr>
          <a:xfrm>
            <a:off x="822960" y="2697480"/>
            <a:ext cx="9875520" cy="17373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8FAFC"/>
              </a:buClr>
              <a:buSzPts val="4000"/>
              <a:buFont typeface="Bookman Old Style"/>
              <a:buNone/>
            </a:pPr>
            <a:r>
              <a:rPr b="1" i="0" lang="en-US" sz="4000" u="none" cap="none" strike="noStrike">
                <a:solidFill>
                  <a:srgbClr val="F8FAFC"/>
                </a:solidFill>
                <a:latin typeface="Bookman Old Style"/>
                <a:ea typeface="Bookman Old Style"/>
                <a:cs typeface="Bookman Old Style"/>
                <a:sym typeface="Bookman Old Style"/>
              </a:rPr>
              <a:t>Everything you clicked today,</a:t>
            </a:r>
            <a:endParaRPr b="0" i="0" sz="4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8FAFC"/>
              </a:buClr>
              <a:buSzPts val="4000"/>
              <a:buFont typeface="Bookman Old Style"/>
              <a:buNone/>
            </a:pPr>
            <a:r>
              <a:rPr b="1" i="0" lang="en-US" sz="4000" u="none" cap="none" strike="noStrike">
                <a:solidFill>
                  <a:srgbClr val="F8FAFC"/>
                </a:solidFill>
                <a:latin typeface="Bookman Old Style"/>
                <a:ea typeface="Bookman Old Style"/>
                <a:cs typeface="Bookman Old Style"/>
                <a:sym typeface="Bookman Old Style"/>
              </a:rPr>
              <a:t>written as code.</a:t>
            </a:r>
            <a:endParaRPr b="0" i="0" sz="4000" u="none" cap="none" strike="noStrike">
              <a:solidFill>
                <a:schemeClr val="dk1"/>
              </a:solidFill>
              <a:latin typeface="Calibri"/>
              <a:ea typeface="Calibri"/>
              <a:cs typeface="Calibri"/>
              <a:sym typeface="Calibri"/>
            </a:endParaRPr>
          </a:p>
        </p:txBody>
      </p:sp>
      <p:sp>
        <p:nvSpPr>
          <p:cNvPr id="1348" name="Google Shape;1348;p44"/>
          <p:cNvSpPr/>
          <p:nvPr/>
        </p:nvSpPr>
        <p:spPr>
          <a:xfrm>
            <a:off x="822960" y="457200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600"/>
              <a:buFont typeface="Calibri"/>
              <a:buNone/>
            </a:pPr>
            <a:r>
              <a:rPr b="0" i="1" lang="en-US" sz="1600" u="none" cap="none" strike="noStrike">
                <a:solidFill>
                  <a:srgbClr val="94A3B8"/>
                </a:solidFill>
                <a:latin typeface="Calibri"/>
                <a:ea typeface="Calibri"/>
                <a:cs typeface="Calibri"/>
                <a:sym typeface="Calibri"/>
              </a:rPr>
              <a:t>Infrastructure as Code — because the console is for looking, not for building.</a:t>
            </a:r>
            <a:endParaRPr b="0" i="0" sz="1600" u="none" cap="none" strike="noStrike">
              <a:solidFill>
                <a:schemeClr val="dk1"/>
              </a:solidFill>
              <a:latin typeface="Calibri"/>
              <a:ea typeface="Calibri"/>
              <a:cs typeface="Calibri"/>
              <a:sym typeface="Calibri"/>
            </a:endParaRPr>
          </a:p>
        </p:txBody>
      </p:sp>
      <p:sp>
        <p:nvSpPr>
          <p:cNvPr id="1349" name="Google Shape;1349;p44"/>
          <p:cNvSpPr/>
          <p:nvPr/>
        </p:nvSpPr>
        <p:spPr>
          <a:xfrm>
            <a:off x="822960" y="5349240"/>
            <a:ext cx="1732788" cy="384048"/>
          </a:xfrm>
          <a:prstGeom prst="roundRect">
            <a:avLst>
              <a:gd fmla="val 50000" name="adj"/>
            </a:avLst>
          </a:prstGeom>
          <a:solidFill>
            <a:srgbClr val="1E293B"/>
          </a:solidFill>
          <a:ln cap="flat" cmpd="sng" w="127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0" name="Google Shape;1350;p44"/>
          <p:cNvPicPr preferRelativeResize="0"/>
          <p:nvPr/>
        </p:nvPicPr>
        <p:blipFill rotWithShape="1">
          <a:blip r:embed="rId3">
            <a:alphaModFix/>
          </a:blip>
          <a:srcRect b="0" l="0" r="0" t="0"/>
          <a:stretch/>
        </p:blipFill>
        <p:spPr>
          <a:xfrm>
            <a:off x="950976" y="5440680"/>
            <a:ext cx="201168" cy="201168"/>
          </a:xfrm>
          <a:prstGeom prst="rect">
            <a:avLst/>
          </a:prstGeom>
          <a:noFill/>
          <a:ln>
            <a:noFill/>
          </a:ln>
        </p:spPr>
      </p:pic>
      <p:sp>
        <p:nvSpPr>
          <p:cNvPr id="1351" name="Google Shape;1351;p44"/>
          <p:cNvSpPr/>
          <p:nvPr/>
        </p:nvSpPr>
        <p:spPr>
          <a:xfrm>
            <a:off x="1188720" y="5349240"/>
            <a:ext cx="133045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Labs: this week</a:t>
            </a:r>
            <a:endParaRPr b="0" i="0" sz="1050" u="none" cap="none" strike="noStrike">
              <a:solidFill>
                <a:schemeClr val="dk1"/>
              </a:solidFill>
              <a:latin typeface="Calibri"/>
              <a:ea typeface="Calibri"/>
              <a:cs typeface="Calibri"/>
              <a:sym typeface="Calibri"/>
            </a:endParaRPr>
          </a:p>
        </p:txBody>
      </p:sp>
      <p:sp>
        <p:nvSpPr>
          <p:cNvPr id="1352" name="Google Shape;1352;p44"/>
          <p:cNvSpPr/>
          <p:nvPr/>
        </p:nvSpPr>
        <p:spPr>
          <a:xfrm>
            <a:off x="2720340" y="5349240"/>
            <a:ext cx="3287268" cy="384048"/>
          </a:xfrm>
          <a:prstGeom prst="roundRect">
            <a:avLst>
              <a:gd fmla="val 50000" name="adj"/>
            </a:avLst>
          </a:prstGeom>
          <a:solidFill>
            <a:srgbClr val="1E293B"/>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3" name="Google Shape;1353;p44"/>
          <p:cNvPicPr preferRelativeResize="0"/>
          <p:nvPr/>
        </p:nvPicPr>
        <p:blipFill rotWithShape="1">
          <a:blip r:embed="rId4">
            <a:alphaModFix/>
          </a:blip>
          <a:srcRect b="0" l="0" r="0" t="0"/>
          <a:stretch/>
        </p:blipFill>
        <p:spPr>
          <a:xfrm>
            <a:off x="2848356" y="5440680"/>
            <a:ext cx="201168" cy="201168"/>
          </a:xfrm>
          <a:prstGeom prst="rect">
            <a:avLst/>
          </a:prstGeom>
          <a:noFill/>
          <a:ln>
            <a:noFill/>
          </a:ln>
        </p:spPr>
      </p:pic>
      <p:sp>
        <p:nvSpPr>
          <p:cNvPr id="1354" name="Google Shape;1354;p44"/>
          <p:cNvSpPr/>
          <p:nvPr/>
        </p:nvSpPr>
        <p:spPr>
          <a:xfrm>
            <a:off x="3086100" y="5349240"/>
            <a:ext cx="288493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Free tier: set a budget alarm first</a:t>
            </a:r>
            <a:endParaRPr b="0" i="0" sz="1050" u="none" cap="none" strike="noStrike">
              <a:solidFill>
                <a:schemeClr val="dk1"/>
              </a:solidFill>
              <a:latin typeface="Calibri"/>
              <a:ea typeface="Calibri"/>
              <a:cs typeface="Calibri"/>
              <a:sym typeface="Calibri"/>
            </a:endParaRPr>
          </a:p>
        </p:txBody>
      </p:sp>
      <p:sp>
        <p:nvSpPr>
          <p:cNvPr id="1355" name="Google Shape;1355;p44"/>
          <p:cNvSpPr/>
          <p:nvPr/>
        </p:nvSpPr>
        <p:spPr>
          <a:xfrm>
            <a:off x="6172200" y="5349240"/>
            <a:ext cx="2354580" cy="384048"/>
          </a:xfrm>
          <a:prstGeom prst="roundRect">
            <a:avLst>
              <a:gd fmla="val 50000" name="adj"/>
            </a:avLst>
          </a:prstGeom>
          <a:solidFill>
            <a:srgbClr val="1E293B"/>
          </a:solidFill>
          <a:ln cap="flat" cmpd="sng" w="12700">
            <a:solidFill>
              <a:srgbClr val="2DD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6" name="Google Shape;1356;p44"/>
          <p:cNvPicPr preferRelativeResize="0"/>
          <p:nvPr/>
        </p:nvPicPr>
        <p:blipFill rotWithShape="1">
          <a:blip r:embed="rId5">
            <a:alphaModFix/>
          </a:blip>
          <a:srcRect b="0" l="0" r="0" t="0"/>
          <a:stretch/>
        </p:blipFill>
        <p:spPr>
          <a:xfrm>
            <a:off x="6300216" y="5440680"/>
            <a:ext cx="201168" cy="201168"/>
          </a:xfrm>
          <a:prstGeom prst="rect">
            <a:avLst/>
          </a:prstGeom>
          <a:noFill/>
          <a:ln>
            <a:noFill/>
          </a:ln>
        </p:spPr>
      </p:pic>
      <p:sp>
        <p:nvSpPr>
          <p:cNvPr id="1357" name="Google Shape;1357;p44"/>
          <p:cNvSpPr/>
          <p:nvPr/>
        </p:nvSpPr>
        <p:spPr>
          <a:xfrm>
            <a:off x="6537960" y="5349240"/>
            <a:ext cx="195224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050"/>
              <a:buFont typeface="Courier New"/>
              <a:buNone/>
            </a:pPr>
            <a:r>
              <a:rPr b="0" i="0" lang="en-US" sz="1050" u="none" cap="none" strike="noStrike">
                <a:solidFill>
                  <a:srgbClr val="E2E8F0"/>
                </a:solidFill>
                <a:latin typeface="Courier New"/>
                <a:ea typeface="Courier New"/>
                <a:cs typeface="Courier New"/>
                <a:sym typeface="Courier New"/>
              </a:rPr>
              <a:t>blog.sagyamthapa.com.np</a:t>
            </a:r>
            <a:endParaRPr b="0" i="0" sz="1050" u="none" cap="none" strike="noStrike">
              <a:solidFill>
                <a:schemeClr val="dk1"/>
              </a:solidFill>
              <a:latin typeface="Calibri"/>
              <a:ea typeface="Calibri"/>
              <a:cs typeface="Calibri"/>
              <a:sym typeface="Calibri"/>
            </a:endParaRPr>
          </a:p>
        </p:txBody>
      </p:sp>
      <p:sp>
        <p:nvSpPr>
          <p:cNvPr id="1358" name="Google Shape;1358;p44"/>
          <p:cNvSpPr/>
          <p:nvPr/>
        </p:nvSpPr>
        <p:spPr>
          <a:xfrm>
            <a:off x="502920" y="6473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Cloud Computing · AWS</a:t>
            </a:r>
            <a:endParaRPr b="0" i="0" sz="900" u="none" cap="none" strike="noStrike">
              <a:solidFill>
                <a:schemeClr val="dk1"/>
              </a:solidFill>
              <a:latin typeface="Calibri"/>
              <a:ea typeface="Calibri"/>
              <a:cs typeface="Calibri"/>
              <a:sym typeface="Calibri"/>
            </a:endParaRPr>
          </a:p>
        </p:txBody>
      </p:sp>
      <p:sp>
        <p:nvSpPr>
          <p:cNvPr id="1359" name="Google Shape;1359;p44"/>
          <p:cNvSpPr/>
          <p:nvPr/>
        </p:nvSpPr>
        <p:spPr>
          <a:xfrm>
            <a:off x="7132320" y="6473952"/>
            <a:ext cx="4553712"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Fin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