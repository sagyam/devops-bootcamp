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here. One line: 'For the next hour I'm not going to teach you tools — I'm going to show you the problems these tools exist to solve. Learn the problem and the tool becomes obvious.' Set the expectation that this is a practice subject, not watch-and-nod. Then drop the room-temperature questions: hands up — who's used a terminal? who's used Git? who's deployed anything to a server? 90 seconds, tells you the level.</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it as a story, not a definition. Friday-night deploy breaks prod. Dev says it worked locally. Ops says the environment is fine. Nobody owns it — that's the 'wall of confusion'. Every single tool you'll learn this term is an answer to some version of this. Probing question to drop here: 'Has your code ever worked on your machine but broken somewhere else — what happened?' Their stories become your examples all term.</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most valuable few minutes of the hour. The syllabus is 15 chapters of tools that look like a random pile to a beginner — this map makes them one coherent journey. Walk left to right: Plan/Code/Build/Test is the dev half, Release/Deploy/Operate/Monitor is the ops half. Name-drop where the big tools sit: Git on Code, Docker on Build, Jenkins across Build-Test-Release, Kubernetes on Deploy, Prometheus/Grafana on Monitor, AWS underneath all of it. Then: it LOOPS — monitoring tells you what to plan next.</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Why Git won: it's distributed — every clone is a full backup of the entire history, not just a copy from one central server. Hammer the Git-vs-GitHub distinction: Git is the tool on your machine; GitHub is a website that hosts Git repos and adds collaboration. Probing question: 'What does git commit actually save — the whole file, or just the changes?' Great separator between people who've used Git and people who understand it. This is Chapter 5, and it's your homework tonight.</a:t>
            </a:r>
            <a:endParaRPr/>
          </a:p>
        </p:txBody>
      </p:sp>
      <p:sp>
        <p:nvSpPr>
          <p:cNvPr id="69" name="Google Shape;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Contrast with the OLD answer: a full virtual machine — a whole guest OS per app, heavy and slow to boot. A container shares the host's kernel, so it's tiny and starts in seconds. This is exactly the problem behind our environment-setup homework later: containers are how we make everyone's machine identical. Probing question: 'If you had to run the same app on 100 machines identically, how would you guarantee they're actually identical?' Watch how they reason. Chapter 6.</a:t>
            </a:r>
            <a:endParaRPr/>
          </a:p>
        </p:txBody>
      </p:sp>
      <p:sp>
        <p:nvSpPr>
          <p:cNvPr id="95" name="Google Shape;9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honest that this is the steepest climb in the course and it's deliberately near the end — it only makes sense AFTER they're comfortable with containers. 'Desired state' is the key mental model: you don't tell Kubernetes the steps, you tell it the goal and it figures out the steps, forever. Swarm is the simpler on-ramp the syllabus starts with. Chapter 9.</a:t>
            </a:r>
            <a:endParaRPr/>
          </a:p>
        </p:txBody>
      </p:sp>
      <p:sp>
        <p:nvSpPr>
          <p:cNvPr id="119" name="Google Shape;1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 (Continuous Integration): every push is automatically built and tested, so you catch breakage in minutes, not at release. CD (Continuous Delivery/Deployment): the tested build automatically ships. Tie it back to the loop — CI/CD is the engine that moves work from Code through Test to Deploy. This is Chapter 7 and effectively the climax: the final project is a real CI/CD pipeline. Everything before it (Git, Docker) is a prerequisite for it.</a:t>
            </a:r>
            <a:endParaRPr/>
          </a:p>
        </p:txBody>
      </p:sp>
      <p:sp>
        <p:nvSpPr>
          <p:cNvPr id="143" name="Google Shape;1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Draw the distinction clearly because students conflate these: Ansible CONFIGURES machines that already exist (install packages, edit configs). Terraform/OpenTofu PROVISIONS the infrastructure itself (create the servers, networks, databases in the cloud). Same philosophy — infrastructure as code — different layer. Ansible is Chapter 8, Terraform/OpenTofu is Chapter 13. OpenTofu is the open-source fork of Terraform; worth a sentence on why that happened.</a:t>
            </a:r>
            <a:endParaRPr/>
          </a:p>
        </p:txBody>
      </p:sp>
      <p:sp>
        <p:nvSpPr>
          <p:cNvPr id="167" name="Google Shape;16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closes the loop literally — monitoring is the 'Monitor' stage that feeds back into 'Plan'. Prometheus scrapes and stores metrics; Grafana turns them into dashboards and alerts. Keep it concrete: 'CPU is at 95%, page is slow, error rate just spiked' — you want to know that on a screen, not from a customer tweet. Chapter 14. Short chapter, big idea.</a:t>
            </a:r>
            <a:endParaRPr/>
          </a:p>
        </p:txBody>
      </p:sp>
      <p:sp>
        <p:nvSpPr>
          <p:cNvPr id="193" name="Google Shape;19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takeaway you want them to leave with. Redraw the chain verbally and stress that the tools connect — your blog readers and your students both remember the through-line, not the tool list. End on the durable lesson: the field moves fast, tools churn, but the SIX problems are stable. If they internalize the problems, every future tool is just 'oh, that's another orchestration tool.'</a:t>
            </a:r>
            <a:endParaRPr/>
          </a:p>
        </p:txBody>
      </p:sp>
      <p:sp>
        <p:nvSpPr>
          <p:cNvPr id="215" name="Google Shape;21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'make a repo + add a file' as done/not-done — that's checkable next class, unlike 'be familiar with Git' which is vague and skippable. Confirm the community channel and that recordings are posted. Last 5 minutes: take questions, restate the one thing — the loop — and close.</a:t>
            </a:r>
            <a:endParaRPr/>
          </a:p>
        </p:txBody>
      </p:sp>
      <p:sp>
        <p:nvSpPr>
          <p:cNvPr id="242" name="Google Shape;24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blip>
          <a:srcRect b="0" l="0" r="0" t="0"/>
          <a:stretch/>
        </p:blipFill>
        <p:spPr>
          <a:xfrm>
            <a:off x="3886200" y="868680"/>
            <a:ext cx="1371600" cy="1371600"/>
          </a:xfrm>
          <a:prstGeom prst="rect">
            <a:avLst/>
          </a:prstGeom>
          <a:noFill/>
          <a:ln>
            <a:noFill/>
          </a:ln>
        </p:spPr>
      </p:pic>
      <p:sp>
        <p:nvSpPr>
          <p:cNvPr id="17" name="Google Shape;17;p3"/>
          <p:cNvSpPr/>
          <p:nvPr/>
        </p:nvSpPr>
        <p:spPr>
          <a:xfrm>
            <a:off x="457200" y="2240280"/>
            <a:ext cx="822960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6000"/>
              <a:buFont typeface="Bookman Old Style"/>
              <a:buNone/>
            </a:pPr>
            <a:r>
              <a:rPr b="1" i="0" lang="en-US" sz="6000" u="none" cap="none" strike="noStrike">
                <a:solidFill>
                  <a:srgbClr val="FFFFFF"/>
                </a:solidFill>
                <a:latin typeface="Bookman Old Style"/>
                <a:ea typeface="Bookman Old Style"/>
                <a:cs typeface="Bookman Old Style"/>
                <a:sym typeface="Bookman Old Style"/>
              </a:rPr>
              <a:t>DevOps</a:t>
            </a:r>
            <a:endParaRPr b="0" i="0" sz="6000" u="none" cap="none" strike="noStrike">
              <a:solidFill>
                <a:schemeClr val="dk1"/>
              </a:solidFill>
              <a:latin typeface="Calibri"/>
              <a:ea typeface="Calibri"/>
              <a:cs typeface="Calibri"/>
              <a:sym typeface="Calibri"/>
            </a:endParaRPr>
          </a:p>
        </p:txBody>
      </p:sp>
      <p:sp>
        <p:nvSpPr>
          <p:cNvPr id="18" name="Google Shape;18;p3"/>
          <p:cNvSpPr/>
          <p:nvPr/>
        </p:nvSpPr>
        <p:spPr>
          <a:xfrm>
            <a:off x="457200" y="3154680"/>
            <a:ext cx="8229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97316"/>
              </a:buClr>
              <a:buSzPts val="1700"/>
              <a:buFont typeface="Calibri"/>
              <a:buNone/>
            </a:pPr>
            <a:r>
              <a:rPr b="0" i="0" lang="en-US" sz="1700" u="none" cap="none" strike="noStrike">
                <a:solidFill>
                  <a:srgbClr val="F97316"/>
                </a:solidFill>
                <a:latin typeface="Calibri"/>
                <a:ea typeface="Calibri"/>
                <a:cs typeface="Calibri"/>
                <a:sym typeface="Calibri"/>
              </a:rPr>
              <a:t>THE LANDSCAPE  ·  DAY 1</a:t>
            </a:r>
            <a:endParaRPr b="0" i="0" sz="1700" u="none" cap="none" strike="noStrike">
              <a:solidFill>
                <a:schemeClr val="dk1"/>
              </a:solidFill>
              <a:latin typeface="Calibri"/>
              <a:ea typeface="Calibri"/>
              <a:cs typeface="Calibri"/>
              <a:sym typeface="Calibri"/>
            </a:endParaRPr>
          </a:p>
        </p:txBody>
      </p:sp>
      <p:sp>
        <p:nvSpPr>
          <p:cNvPr id="19" name="Google Shape;19;p3"/>
          <p:cNvSpPr/>
          <p:nvPr/>
        </p:nvSpPr>
        <p:spPr>
          <a:xfrm>
            <a:off x="457200" y="370332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400"/>
              <a:buFont typeface="Calibri"/>
              <a:buNone/>
            </a:pPr>
            <a:r>
              <a:rPr b="0" i="1" lang="en-US" sz="1400" u="none" cap="none" strike="noStrike">
                <a:solidFill>
                  <a:srgbClr val="CBD5E1"/>
                </a:solidFill>
                <a:latin typeface="Calibri"/>
                <a:ea typeface="Calibri"/>
                <a:cs typeface="Calibri"/>
                <a:sym typeface="Calibri"/>
              </a:rPr>
              <a:t>Every tool in this course is an answer to a problem.</a:t>
            </a:r>
            <a:endParaRPr b="0" i="0" sz="1400" u="none" cap="none" strike="noStrike">
              <a:solidFill>
                <a:schemeClr val="dk1"/>
              </a:solidFill>
              <a:latin typeface="Calibri"/>
              <a:ea typeface="Calibri"/>
              <a:cs typeface="Calibri"/>
              <a:sym typeface="Calibri"/>
            </a:endParaRPr>
          </a:p>
        </p:txBody>
      </p:sp>
      <p:sp>
        <p:nvSpPr>
          <p:cNvPr id="20" name="Google Shape;20;p3"/>
          <p:cNvSpPr/>
          <p:nvPr/>
        </p:nvSpPr>
        <p:spPr>
          <a:xfrm>
            <a:off x="457200" y="4572000"/>
            <a:ext cx="8229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TechAxis  ·  Instructor: Sagyam Thapa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5" name="Shape 25"/>
        <p:cNvGrpSpPr/>
        <p:nvPr/>
      </p:nvGrpSpPr>
      <p:grpSpPr>
        <a:xfrm>
          <a:off x="0" y="0"/>
          <a:ext cx="0" cy="0"/>
          <a:chOff x="0" y="0"/>
          <a:chExt cx="0" cy="0"/>
        </a:xfrm>
      </p:grpSpPr>
      <p:sp>
        <p:nvSpPr>
          <p:cNvPr id="26" name="Google Shape;26;p4"/>
          <p:cNvSpPr/>
          <p:nvPr/>
        </p:nvSpPr>
        <p:spPr>
          <a:xfrm>
            <a:off x="457200" y="365760"/>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Bookman Old Style"/>
              <a:buNone/>
            </a:pPr>
            <a:r>
              <a:rPr b="1" i="0" lang="en-US" sz="3200" u="none" cap="none" strike="noStrike">
                <a:solidFill>
                  <a:srgbClr val="0F172A"/>
                </a:solidFill>
                <a:latin typeface="Bookman Old Style"/>
                <a:ea typeface="Bookman Old Style"/>
                <a:cs typeface="Bookman Old Style"/>
                <a:sym typeface="Bookman Old Style"/>
              </a:rPr>
              <a:t>It works on my machine.</a:t>
            </a:r>
            <a:endParaRPr b="0" i="0" sz="3200" u="none" cap="none" strike="noStrike">
              <a:solidFill>
                <a:schemeClr val="dk1"/>
              </a:solidFill>
              <a:latin typeface="Calibri"/>
              <a:ea typeface="Calibri"/>
              <a:cs typeface="Calibri"/>
              <a:sym typeface="Calibri"/>
            </a:endParaRPr>
          </a:p>
        </p:txBody>
      </p:sp>
      <p:sp>
        <p:nvSpPr>
          <p:cNvPr id="27" name="Google Shape;27;p4"/>
          <p:cNvSpPr/>
          <p:nvPr/>
        </p:nvSpPr>
        <p:spPr>
          <a:xfrm>
            <a:off x="457200" y="96012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The failure that gave birth to DevOps</a:t>
            </a:r>
            <a:endParaRPr b="0" i="0" sz="1400" u="none" cap="none" strike="noStrike">
              <a:solidFill>
                <a:schemeClr val="dk1"/>
              </a:solidFill>
              <a:latin typeface="Calibri"/>
              <a:ea typeface="Calibri"/>
              <a:cs typeface="Calibri"/>
              <a:sym typeface="Calibri"/>
            </a:endParaRPr>
          </a:p>
        </p:txBody>
      </p:sp>
      <p:sp>
        <p:nvSpPr>
          <p:cNvPr id="28" name="Google Shape;28;p4"/>
          <p:cNvSpPr/>
          <p:nvPr/>
        </p:nvSpPr>
        <p:spPr>
          <a:xfrm>
            <a:off x="457200" y="1600200"/>
            <a:ext cx="3520440" cy="1874520"/>
          </a:xfrm>
          <a:prstGeom prst="roundRect">
            <a:avLst>
              <a:gd fmla="val 4878" name="adj"/>
            </a:avLst>
          </a:prstGeom>
          <a:solidFill>
            <a:srgbClr val="F97316"/>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4"/>
          <p:cNvPicPr preferRelativeResize="0"/>
          <p:nvPr/>
        </p:nvPicPr>
        <p:blipFill rotWithShape="1">
          <a:blip r:embed="rId3">
            <a:alphaModFix/>
          </a:blip>
          <a:srcRect b="0" l="0" r="0" t="0"/>
          <a:stretch/>
        </p:blipFill>
        <p:spPr>
          <a:xfrm>
            <a:off x="676656" y="1801368"/>
            <a:ext cx="411480" cy="411480"/>
          </a:xfrm>
          <a:prstGeom prst="rect">
            <a:avLst/>
          </a:prstGeom>
          <a:noFill/>
          <a:ln>
            <a:noFill/>
          </a:ln>
        </p:spPr>
      </p:pic>
      <p:sp>
        <p:nvSpPr>
          <p:cNvPr id="30" name="Google Shape;30;p4"/>
          <p:cNvSpPr/>
          <p:nvPr/>
        </p:nvSpPr>
        <p:spPr>
          <a:xfrm>
            <a:off x="1188720" y="178308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Bookman Old Style"/>
              <a:buNone/>
            </a:pPr>
            <a:r>
              <a:rPr b="1" i="0" lang="en-US" sz="2000" u="none" cap="none" strike="noStrike">
                <a:solidFill>
                  <a:srgbClr val="FFFFFF"/>
                </a:solidFill>
                <a:latin typeface="Bookman Old Style"/>
                <a:ea typeface="Bookman Old Style"/>
                <a:cs typeface="Bookman Old Style"/>
                <a:sym typeface="Bookman Old Style"/>
              </a:rPr>
              <a:t>DEV</a:t>
            </a:r>
            <a:endParaRPr b="0" i="0" sz="2000" u="none" cap="none" strike="noStrike">
              <a:solidFill>
                <a:schemeClr val="dk1"/>
              </a:solidFill>
              <a:latin typeface="Calibri"/>
              <a:ea typeface="Calibri"/>
              <a:cs typeface="Calibri"/>
              <a:sym typeface="Calibri"/>
            </a:endParaRPr>
          </a:p>
        </p:txBody>
      </p:sp>
      <p:sp>
        <p:nvSpPr>
          <p:cNvPr id="31" name="Google Shape;31;p4"/>
          <p:cNvSpPr/>
          <p:nvPr/>
        </p:nvSpPr>
        <p:spPr>
          <a:xfrm>
            <a:off x="676656" y="2313432"/>
            <a:ext cx="3081528" cy="9601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1400"/>
              <a:buFont typeface="Calibri"/>
              <a:buNone/>
            </a:pPr>
            <a:r>
              <a:rPr b="0" i="1" lang="en-US" sz="1400" u="none" cap="none" strike="noStrike">
                <a:solidFill>
                  <a:srgbClr val="FFFFFF"/>
                </a:solidFill>
                <a:latin typeface="Calibri"/>
                <a:ea typeface="Calibri"/>
                <a:cs typeface="Calibri"/>
                <a:sym typeface="Calibri"/>
              </a:rPr>
              <a:t>“It ran fine when I built it. Ship it.”</a:t>
            </a:r>
            <a:endParaRPr b="0" i="0" sz="1400" u="none" cap="none" strike="noStrike">
              <a:solidFill>
                <a:schemeClr val="dk1"/>
              </a:solidFill>
              <a:latin typeface="Calibri"/>
              <a:ea typeface="Calibri"/>
              <a:cs typeface="Calibri"/>
              <a:sym typeface="Calibri"/>
            </a:endParaRPr>
          </a:p>
        </p:txBody>
      </p:sp>
      <p:sp>
        <p:nvSpPr>
          <p:cNvPr id="32" name="Google Shape;32;p4"/>
          <p:cNvSpPr/>
          <p:nvPr/>
        </p:nvSpPr>
        <p:spPr>
          <a:xfrm>
            <a:off x="4206240" y="1600200"/>
            <a:ext cx="731520" cy="1874520"/>
          </a:xfrm>
          <a:prstGeom prst="roundRect">
            <a:avLst>
              <a:gd fmla="val 7500" name="adj"/>
            </a:avLst>
          </a:prstGeom>
          <a:solidFill>
            <a:srgbClr val="1E293B"/>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4206240" y="1600200"/>
            <a:ext cx="731520" cy="1874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1" i="0" lang="en-US" sz="1300" u="none" cap="none" strike="noStrike">
                <a:solidFill>
                  <a:srgbClr val="94A3B8"/>
                </a:solidFill>
                <a:latin typeface="Calibri"/>
                <a:ea typeface="Calibri"/>
                <a:cs typeface="Calibri"/>
                <a:sym typeface="Calibri"/>
              </a:rPr>
              <a:t>THE</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1300"/>
              <a:buFont typeface="Calibri"/>
              <a:buNone/>
            </a:pPr>
            <a:r>
              <a:rPr b="1" i="0" lang="en-US" sz="1300" u="none" cap="none" strike="noStrike">
                <a:solidFill>
                  <a:srgbClr val="94A3B8"/>
                </a:solidFill>
                <a:latin typeface="Calibri"/>
                <a:ea typeface="Calibri"/>
                <a:cs typeface="Calibri"/>
                <a:sym typeface="Calibri"/>
              </a:rPr>
              <a:t>WALL</a:t>
            </a:r>
            <a:endParaRPr b="0" i="0" sz="1300" u="none" cap="none" strike="noStrike">
              <a:solidFill>
                <a:schemeClr val="dk1"/>
              </a:solidFill>
              <a:latin typeface="Calibri"/>
              <a:ea typeface="Calibri"/>
              <a:cs typeface="Calibri"/>
              <a:sym typeface="Calibri"/>
            </a:endParaRPr>
          </a:p>
        </p:txBody>
      </p:sp>
      <p:sp>
        <p:nvSpPr>
          <p:cNvPr id="34" name="Google Shape;34;p4"/>
          <p:cNvSpPr/>
          <p:nvPr/>
        </p:nvSpPr>
        <p:spPr>
          <a:xfrm>
            <a:off x="5166360" y="1600200"/>
            <a:ext cx="3520440" cy="1874520"/>
          </a:xfrm>
          <a:prstGeom prst="roundRect">
            <a:avLst>
              <a:gd fmla="val 4878" name="adj"/>
            </a:avLst>
          </a:prstGeom>
          <a:solidFill>
            <a:srgbClr val="0D9488"/>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 name="Google Shape;35;p4"/>
          <p:cNvPicPr preferRelativeResize="0"/>
          <p:nvPr/>
        </p:nvPicPr>
        <p:blipFill rotWithShape="1">
          <a:blip r:embed="rId4">
            <a:alphaModFix/>
          </a:blip>
          <a:srcRect b="0" l="0" r="0" t="0"/>
          <a:stretch/>
        </p:blipFill>
        <p:spPr>
          <a:xfrm>
            <a:off x="5385816" y="1801368"/>
            <a:ext cx="411480" cy="411480"/>
          </a:xfrm>
          <a:prstGeom prst="rect">
            <a:avLst/>
          </a:prstGeom>
          <a:noFill/>
          <a:ln>
            <a:noFill/>
          </a:ln>
        </p:spPr>
      </p:pic>
      <p:sp>
        <p:nvSpPr>
          <p:cNvPr id="36" name="Google Shape;36;p4"/>
          <p:cNvSpPr/>
          <p:nvPr/>
        </p:nvSpPr>
        <p:spPr>
          <a:xfrm>
            <a:off x="5897880" y="178308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Bookman Old Style"/>
              <a:buNone/>
            </a:pPr>
            <a:r>
              <a:rPr b="1" i="0" lang="en-US" sz="2000" u="none" cap="none" strike="noStrike">
                <a:solidFill>
                  <a:srgbClr val="FFFFFF"/>
                </a:solidFill>
                <a:latin typeface="Bookman Old Style"/>
                <a:ea typeface="Bookman Old Style"/>
                <a:cs typeface="Bookman Old Style"/>
                <a:sym typeface="Bookman Old Style"/>
              </a:rPr>
              <a:t>OPS</a:t>
            </a:r>
            <a:endParaRPr b="0" i="0" sz="2000" u="none" cap="none" strike="noStrike">
              <a:solidFill>
                <a:schemeClr val="dk1"/>
              </a:solidFill>
              <a:latin typeface="Calibri"/>
              <a:ea typeface="Calibri"/>
              <a:cs typeface="Calibri"/>
              <a:sym typeface="Calibri"/>
            </a:endParaRPr>
          </a:p>
        </p:txBody>
      </p:sp>
      <p:sp>
        <p:nvSpPr>
          <p:cNvPr id="37" name="Google Shape;37;p4"/>
          <p:cNvSpPr/>
          <p:nvPr/>
        </p:nvSpPr>
        <p:spPr>
          <a:xfrm>
            <a:off x="5385816" y="2313432"/>
            <a:ext cx="3081528" cy="9601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FFFFF"/>
              </a:buClr>
              <a:buSzPts val="1400"/>
              <a:buFont typeface="Calibri"/>
              <a:buNone/>
            </a:pPr>
            <a:r>
              <a:rPr b="0" i="1" lang="en-US" sz="1400" u="none" cap="none" strike="noStrike">
                <a:solidFill>
                  <a:srgbClr val="FFFFFF"/>
                </a:solidFill>
                <a:latin typeface="Calibri"/>
                <a:ea typeface="Calibri"/>
                <a:cs typeface="Calibri"/>
                <a:sym typeface="Calibri"/>
              </a:rPr>
              <a:t>“It's broken in production. Not our code.”</a:t>
            </a:r>
            <a:endParaRPr b="0" i="0" sz="1400" u="none" cap="none" strike="noStrike">
              <a:solidFill>
                <a:schemeClr val="dk1"/>
              </a:solidFill>
              <a:latin typeface="Calibri"/>
              <a:ea typeface="Calibri"/>
              <a:cs typeface="Calibri"/>
              <a:sym typeface="Calibri"/>
            </a:endParaRPr>
          </a:p>
        </p:txBody>
      </p:sp>
      <p:sp>
        <p:nvSpPr>
          <p:cNvPr id="38" name="Google Shape;38;p4"/>
          <p:cNvSpPr/>
          <p:nvPr/>
        </p:nvSpPr>
        <p:spPr>
          <a:xfrm>
            <a:off x="457200" y="3749040"/>
            <a:ext cx="82296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72A"/>
              </a:buClr>
              <a:buSzPts val="1450"/>
              <a:buFont typeface="Calibri"/>
              <a:buNone/>
            </a:pPr>
            <a:r>
              <a:rPr b="1" i="0" lang="en-US" sz="1450" u="none" cap="none" strike="noStrike">
                <a:solidFill>
                  <a:srgbClr val="0F172A"/>
                </a:solidFill>
                <a:latin typeface="Calibri"/>
                <a:ea typeface="Calibri"/>
                <a:cs typeface="Calibri"/>
                <a:sym typeface="Calibri"/>
              </a:rPr>
              <a:t>DevOps = tear down the wall.  </a:t>
            </a:r>
            <a:r>
              <a:rPr b="0" i="0" lang="en-US" sz="1450" u="none" cap="none" strike="noStrike">
                <a:solidFill>
                  <a:srgbClr val="1E293B"/>
                </a:solidFill>
                <a:latin typeface="Calibri"/>
                <a:ea typeface="Calibri"/>
                <a:cs typeface="Calibri"/>
                <a:sym typeface="Calibri"/>
              </a:rPr>
              <a:t>Shared ownership + automation, so software ships fast AND reliably.</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3" name="Shape 43"/>
        <p:cNvGrpSpPr/>
        <p:nvPr/>
      </p:nvGrpSpPr>
      <p:grpSpPr>
        <a:xfrm>
          <a:off x="0" y="0"/>
          <a:ext cx="0" cy="0"/>
          <a:chOff x="0" y="0"/>
          <a:chExt cx="0" cy="0"/>
        </a:xfrm>
      </p:grpSpPr>
      <p:sp>
        <p:nvSpPr>
          <p:cNvPr id="44" name="Google Shape;44;p5"/>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Bookman Old Style"/>
              <a:buNone/>
            </a:pPr>
            <a:r>
              <a:rPr b="1" i="0" lang="en-US" sz="3200" u="none" cap="none" strike="noStrike">
                <a:solidFill>
                  <a:srgbClr val="FFFFFF"/>
                </a:solidFill>
                <a:latin typeface="Bookman Old Style"/>
                <a:ea typeface="Bookman Old Style"/>
                <a:cs typeface="Bookman Old Style"/>
                <a:sym typeface="Bookman Old Style"/>
              </a:rPr>
              <a:t>The DevOps Loop</a:t>
            </a:r>
            <a:endParaRPr b="0" i="0" sz="3200" u="none" cap="none" strike="noStrike">
              <a:solidFill>
                <a:schemeClr val="dk1"/>
              </a:solidFill>
              <a:latin typeface="Calibri"/>
              <a:ea typeface="Calibri"/>
              <a:cs typeface="Calibri"/>
              <a:sym typeface="Calibri"/>
            </a:endParaRPr>
          </a:p>
        </p:txBody>
      </p:sp>
      <p:sp>
        <p:nvSpPr>
          <p:cNvPr id="45" name="Google Shape;45;p5"/>
          <p:cNvSpPr/>
          <p:nvPr/>
        </p:nvSpPr>
        <p:spPr>
          <a:xfrm>
            <a:off x="457200" y="932688"/>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BD5E1"/>
              </a:buClr>
              <a:buSzPts val="1400"/>
              <a:buFont typeface="Calibri"/>
              <a:buNone/>
            </a:pPr>
            <a:r>
              <a:rPr b="0" i="1" lang="en-US" sz="1400" u="none" cap="none" strike="noStrike">
                <a:solidFill>
                  <a:srgbClr val="CBD5E1"/>
                </a:solidFill>
                <a:latin typeface="Calibri"/>
                <a:ea typeface="Calibri"/>
                <a:cs typeface="Calibri"/>
                <a:sym typeface="Calibri"/>
              </a:rPr>
              <a:t>Everything you'll learn lives somewhere on this loop — it never stops.</a:t>
            </a:r>
            <a:endParaRPr b="0" i="0" sz="1400" u="none" cap="none" strike="noStrike">
              <a:solidFill>
                <a:schemeClr val="dk1"/>
              </a:solidFill>
              <a:latin typeface="Calibri"/>
              <a:ea typeface="Calibri"/>
              <a:cs typeface="Calibri"/>
              <a:sym typeface="Calibri"/>
            </a:endParaRPr>
          </a:p>
        </p:txBody>
      </p:sp>
      <p:sp>
        <p:nvSpPr>
          <p:cNvPr id="46" name="Google Shape;46;p5"/>
          <p:cNvSpPr/>
          <p:nvPr/>
        </p:nvSpPr>
        <p:spPr>
          <a:xfrm>
            <a:off x="457200" y="1783080"/>
            <a:ext cx="4059936"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97316"/>
              </a:buClr>
              <a:buSzPts val="1300"/>
              <a:buFont typeface="Calibri"/>
              <a:buNone/>
            </a:pPr>
            <a:r>
              <a:rPr b="1" i="0" lang="en-US" sz="1300" u="none" cap="none" strike="noStrike">
                <a:solidFill>
                  <a:srgbClr val="F97316"/>
                </a:solidFill>
                <a:latin typeface="Calibri"/>
                <a:ea typeface="Calibri"/>
                <a:cs typeface="Calibri"/>
                <a:sym typeface="Calibri"/>
              </a:rPr>
              <a:t>DEV</a:t>
            </a:r>
            <a:endParaRPr b="0" i="0" sz="1300" u="none" cap="none" strike="noStrike">
              <a:solidFill>
                <a:schemeClr val="dk1"/>
              </a:solidFill>
              <a:latin typeface="Calibri"/>
              <a:ea typeface="Calibri"/>
              <a:cs typeface="Calibri"/>
              <a:sym typeface="Calibri"/>
            </a:endParaRPr>
          </a:p>
        </p:txBody>
      </p:sp>
      <p:sp>
        <p:nvSpPr>
          <p:cNvPr id="47" name="Google Shape;47;p5"/>
          <p:cNvSpPr/>
          <p:nvPr/>
        </p:nvSpPr>
        <p:spPr>
          <a:xfrm>
            <a:off x="4626864" y="1783080"/>
            <a:ext cx="4059936"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300"/>
              <a:buFont typeface="Calibri"/>
              <a:buNone/>
            </a:pPr>
            <a:r>
              <a:rPr b="1" i="0" lang="en-US" sz="1300" u="none" cap="none" strike="noStrike">
                <a:solidFill>
                  <a:srgbClr val="0D9488"/>
                </a:solidFill>
                <a:latin typeface="Calibri"/>
                <a:ea typeface="Calibri"/>
                <a:cs typeface="Calibri"/>
                <a:sym typeface="Calibri"/>
              </a:rPr>
              <a:t>OPS</a:t>
            </a:r>
            <a:endParaRPr b="0" i="0" sz="1300" u="none" cap="none" strike="noStrike">
              <a:solidFill>
                <a:schemeClr val="dk1"/>
              </a:solidFill>
              <a:latin typeface="Calibri"/>
              <a:ea typeface="Calibri"/>
              <a:cs typeface="Calibri"/>
              <a:sym typeface="Calibri"/>
            </a:endParaRPr>
          </a:p>
        </p:txBody>
      </p:sp>
      <p:sp>
        <p:nvSpPr>
          <p:cNvPr id="48" name="Google Shape;48;p5"/>
          <p:cNvSpPr/>
          <p:nvPr/>
        </p:nvSpPr>
        <p:spPr>
          <a:xfrm>
            <a:off x="457200" y="2286000"/>
            <a:ext cx="932688" cy="868680"/>
          </a:xfrm>
          <a:prstGeom prst="roundRect">
            <a:avLst>
              <a:gd fmla="val 8421"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457200" y="2286000"/>
            <a:ext cx="932688"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Plan</a:t>
            </a:r>
            <a:endParaRPr b="0" i="0" sz="1350" u="none" cap="none" strike="noStrike">
              <a:solidFill>
                <a:schemeClr val="dk1"/>
              </a:solidFill>
              <a:latin typeface="Calibri"/>
              <a:ea typeface="Calibri"/>
              <a:cs typeface="Calibri"/>
              <a:sym typeface="Calibri"/>
            </a:endParaRPr>
          </a:p>
        </p:txBody>
      </p:sp>
      <p:sp>
        <p:nvSpPr>
          <p:cNvPr id="50" name="Google Shape;50;p5"/>
          <p:cNvSpPr/>
          <p:nvPr/>
        </p:nvSpPr>
        <p:spPr>
          <a:xfrm>
            <a:off x="1499616" y="2286000"/>
            <a:ext cx="932688" cy="868680"/>
          </a:xfrm>
          <a:prstGeom prst="roundRect">
            <a:avLst>
              <a:gd fmla="val 8421"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1499616" y="2286000"/>
            <a:ext cx="932688"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Code</a:t>
            </a:r>
            <a:endParaRPr b="0" i="0" sz="1350" u="none" cap="none" strike="noStrike">
              <a:solidFill>
                <a:schemeClr val="dk1"/>
              </a:solidFill>
              <a:latin typeface="Calibri"/>
              <a:ea typeface="Calibri"/>
              <a:cs typeface="Calibri"/>
              <a:sym typeface="Calibri"/>
            </a:endParaRPr>
          </a:p>
        </p:txBody>
      </p:sp>
      <p:sp>
        <p:nvSpPr>
          <p:cNvPr id="52" name="Google Shape;52;p5"/>
          <p:cNvSpPr/>
          <p:nvPr/>
        </p:nvSpPr>
        <p:spPr>
          <a:xfrm>
            <a:off x="2542032" y="2286000"/>
            <a:ext cx="932688" cy="868680"/>
          </a:xfrm>
          <a:prstGeom prst="roundRect">
            <a:avLst>
              <a:gd fmla="val 8421"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2542032" y="2286000"/>
            <a:ext cx="932688"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Build</a:t>
            </a:r>
            <a:endParaRPr b="0" i="0" sz="1350" u="none" cap="none" strike="noStrike">
              <a:solidFill>
                <a:schemeClr val="dk1"/>
              </a:solidFill>
              <a:latin typeface="Calibri"/>
              <a:ea typeface="Calibri"/>
              <a:cs typeface="Calibri"/>
              <a:sym typeface="Calibri"/>
            </a:endParaRPr>
          </a:p>
        </p:txBody>
      </p:sp>
      <p:sp>
        <p:nvSpPr>
          <p:cNvPr id="54" name="Google Shape;54;p5"/>
          <p:cNvSpPr/>
          <p:nvPr/>
        </p:nvSpPr>
        <p:spPr>
          <a:xfrm>
            <a:off x="3584448" y="2286000"/>
            <a:ext cx="932688" cy="868680"/>
          </a:xfrm>
          <a:prstGeom prst="roundRect">
            <a:avLst>
              <a:gd fmla="val 8421" name="adj"/>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3584448" y="2286000"/>
            <a:ext cx="932688"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Test</a:t>
            </a:r>
            <a:endParaRPr b="0" i="0" sz="1350" u="none" cap="none" strike="noStrike">
              <a:solidFill>
                <a:schemeClr val="dk1"/>
              </a:solidFill>
              <a:latin typeface="Calibri"/>
              <a:ea typeface="Calibri"/>
              <a:cs typeface="Calibri"/>
              <a:sym typeface="Calibri"/>
            </a:endParaRPr>
          </a:p>
        </p:txBody>
      </p:sp>
      <p:sp>
        <p:nvSpPr>
          <p:cNvPr id="56" name="Google Shape;56;p5"/>
          <p:cNvSpPr/>
          <p:nvPr/>
        </p:nvSpPr>
        <p:spPr>
          <a:xfrm>
            <a:off x="4626864" y="2286000"/>
            <a:ext cx="932688" cy="868680"/>
          </a:xfrm>
          <a:prstGeom prst="roundRect">
            <a:avLst>
              <a:gd fmla="val 8421" name="adj"/>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4626864" y="2286000"/>
            <a:ext cx="932688"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Release</a:t>
            </a:r>
            <a:endParaRPr b="0" i="0" sz="1350" u="none" cap="none" strike="noStrike">
              <a:solidFill>
                <a:schemeClr val="dk1"/>
              </a:solidFill>
              <a:latin typeface="Calibri"/>
              <a:ea typeface="Calibri"/>
              <a:cs typeface="Calibri"/>
              <a:sym typeface="Calibri"/>
            </a:endParaRPr>
          </a:p>
        </p:txBody>
      </p:sp>
      <p:sp>
        <p:nvSpPr>
          <p:cNvPr id="58" name="Google Shape;58;p5"/>
          <p:cNvSpPr/>
          <p:nvPr/>
        </p:nvSpPr>
        <p:spPr>
          <a:xfrm>
            <a:off x="5669280" y="2286000"/>
            <a:ext cx="932688" cy="868680"/>
          </a:xfrm>
          <a:prstGeom prst="roundRect">
            <a:avLst>
              <a:gd fmla="val 8421" name="adj"/>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5669280" y="2286000"/>
            <a:ext cx="932688"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Deploy</a:t>
            </a:r>
            <a:endParaRPr b="0" i="0" sz="1350" u="none" cap="none" strike="noStrike">
              <a:solidFill>
                <a:schemeClr val="dk1"/>
              </a:solidFill>
              <a:latin typeface="Calibri"/>
              <a:ea typeface="Calibri"/>
              <a:cs typeface="Calibri"/>
              <a:sym typeface="Calibri"/>
            </a:endParaRPr>
          </a:p>
        </p:txBody>
      </p:sp>
      <p:sp>
        <p:nvSpPr>
          <p:cNvPr id="60" name="Google Shape;60;p5"/>
          <p:cNvSpPr/>
          <p:nvPr/>
        </p:nvSpPr>
        <p:spPr>
          <a:xfrm>
            <a:off x="6711696" y="2286000"/>
            <a:ext cx="932688" cy="868680"/>
          </a:xfrm>
          <a:prstGeom prst="roundRect">
            <a:avLst>
              <a:gd fmla="val 8421" name="adj"/>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6711696" y="2286000"/>
            <a:ext cx="932688"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Operate</a:t>
            </a:r>
            <a:endParaRPr b="0" i="0" sz="1350" u="none" cap="none" strike="noStrike">
              <a:solidFill>
                <a:schemeClr val="dk1"/>
              </a:solidFill>
              <a:latin typeface="Calibri"/>
              <a:ea typeface="Calibri"/>
              <a:cs typeface="Calibri"/>
              <a:sym typeface="Calibri"/>
            </a:endParaRPr>
          </a:p>
        </p:txBody>
      </p:sp>
      <p:sp>
        <p:nvSpPr>
          <p:cNvPr id="62" name="Google Shape;62;p5"/>
          <p:cNvSpPr/>
          <p:nvPr/>
        </p:nvSpPr>
        <p:spPr>
          <a:xfrm>
            <a:off x="7754112" y="2286000"/>
            <a:ext cx="932688" cy="868680"/>
          </a:xfrm>
          <a:prstGeom prst="roundRect">
            <a:avLst>
              <a:gd fmla="val 8421" name="adj"/>
            </a:avLst>
          </a:prstGeom>
          <a:solidFill>
            <a:srgbClr val="0D94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7754112" y="2286000"/>
            <a:ext cx="932688"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Monitor</a:t>
            </a:r>
            <a:endParaRPr b="0" i="0" sz="1350" u="none" cap="none" strike="noStrike">
              <a:solidFill>
                <a:schemeClr val="dk1"/>
              </a:solidFill>
              <a:latin typeface="Calibri"/>
              <a:ea typeface="Calibri"/>
              <a:cs typeface="Calibri"/>
              <a:sym typeface="Calibri"/>
            </a:endParaRPr>
          </a:p>
        </p:txBody>
      </p:sp>
      <p:sp>
        <p:nvSpPr>
          <p:cNvPr id="64" name="Google Shape;64;p5"/>
          <p:cNvSpPr/>
          <p:nvPr/>
        </p:nvSpPr>
        <p:spPr>
          <a:xfrm>
            <a:off x="457200" y="342900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300"/>
              <a:buFont typeface="Calibri"/>
              <a:buNone/>
            </a:pPr>
            <a:r>
              <a:rPr b="0" i="1" lang="en-US" sz="1300" u="none" cap="none" strike="noStrike">
                <a:solidFill>
                  <a:srgbClr val="94A3B8"/>
                </a:solidFill>
                <a:latin typeface="Calibri"/>
                <a:ea typeface="Calibri"/>
                <a:cs typeface="Calibri"/>
                <a:sym typeface="Calibri"/>
              </a:rPr>
              <a:t>↺  the output of Monitor feeds straight back into Plan — continuously</a:t>
            </a:r>
            <a:endParaRPr b="0" i="0" sz="1300" u="none" cap="none" strike="noStrike">
              <a:solidFill>
                <a:schemeClr val="dk1"/>
              </a:solidFill>
              <a:latin typeface="Calibri"/>
              <a:ea typeface="Calibri"/>
              <a:cs typeface="Calibri"/>
              <a:sym typeface="Calibri"/>
            </a:endParaRPr>
          </a:p>
        </p:txBody>
      </p:sp>
      <p:sp>
        <p:nvSpPr>
          <p:cNvPr id="65" name="Google Shape;65;p5"/>
          <p:cNvSpPr/>
          <p:nvPr/>
        </p:nvSpPr>
        <p:spPr>
          <a:xfrm>
            <a:off x="457200" y="416052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2E8F0"/>
              </a:buClr>
              <a:buSzPts val="1350"/>
              <a:buFont typeface="Calibri"/>
              <a:buNone/>
            </a:pPr>
            <a:r>
              <a:rPr b="0" i="0" lang="en-US" sz="1350" u="none" cap="none" strike="noStrike">
                <a:solidFill>
                  <a:srgbClr val="E2E8F0"/>
                </a:solidFill>
                <a:latin typeface="Calibri"/>
                <a:ea typeface="Calibri"/>
                <a:cs typeface="Calibri"/>
                <a:sym typeface="Calibri"/>
              </a:rPr>
              <a:t>In every future class I'll point to where we are on this loop.</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0" name="Shape 70"/>
        <p:cNvGrpSpPr/>
        <p:nvPr/>
      </p:nvGrpSpPr>
      <p:grpSpPr>
        <a:xfrm>
          <a:off x="0" y="0"/>
          <a:ext cx="0" cy="0"/>
          <a:chOff x="0" y="0"/>
          <a:chExt cx="0" cy="0"/>
        </a:xfrm>
      </p:grpSpPr>
      <p:sp>
        <p:nvSpPr>
          <p:cNvPr id="71" name="Google Shape;71;p6"/>
          <p:cNvSpPr/>
          <p:nvPr/>
        </p:nvSpPr>
        <p:spPr>
          <a:xfrm>
            <a:off x="457200" y="292608"/>
            <a:ext cx="914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3000"/>
              <a:buFont typeface="Bookman Old Style"/>
              <a:buNone/>
            </a:pPr>
            <a:r>
              <a:rPr b="1" i="0" lang="en-US" sz="3000" u="none" cap="none" strike="noStrike">
                <a:solidFill>
                  <a:srgbClr val="F97316"/>
                </a:solidFill>
                <a:latin typeface="Bookman Old Style"/>
                <a:ea typeface="Bookman Old Style"/>
                <a:cs typeface="Bookman Old Style"/>
                <a:sym typeface="Bookman Old Style"/>
              </a:rPr>
              <a:t>01</a:t>
            </a:r>
            <a:endParaRPr b="0" i="0" sz="3000" u="none" cap="none" strike="noStrike">
              <a:solidFill>
                <a:schemeClr val="dk1"/>
              </a:solidFill>
              <a:latin typeface="Calibri"/>
              <a:ea typeface="Calibri"/>
              <a:cs typeface="Calibri"/>
              <a:sym typeface="Calibri"/>
            </a:endParaRPr>
          </a:p>
        </p:txBody>
      </p:sp>
      <p:sp>
        <p:nvSpPr>
          <p:cNvPr id="72" name="Google Shape;72;p6"/>
          <p:cNvSpPr/>
          <p:nvPr/>
        </p:nvSpPr>
        <p:spPr>
          <a:xfrm>
            <a:off x="1234440" y="292608"/>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000"/>
              <a:buFont typeface="Bookman Old Style"/>
              <a:buNone/>
            </a:pPr>
            <a:r>
              <a:rPr b="1" i="0" lang="en-US" sz="3000" u="none" cap="none" strike="noStrike">
                <a:solidFill>
                  <a:srgbClr val="0F172A"/>
                </a:solidFill>
                <a:latin typeface="Bookman Old Style"/>
                <a:ea typeface="Bookman Old Style"/>
                <a:cs typeface="Bookman Old Style"/>
                <a:sym typeface="Bookman Old Style"/>
              </a:rPr>
              <a:t>Version Control</a:t>
            </a:r>
            <a:endParaRPr b="0" i="0" sz="3000" u="none" cap="none" strike="noStrike">
              <a:solidFill>
                <a:schemeClr val="dk1"/>
              </a:solidFill>
              <a:latin typeface="Calibri"/>
              <a:ea typeface="Calibri"/>
              <a:cs typeface="Calibri"/>
              <a:sym typeface="Calibri"/>
            </a:endParaRPr>
          </a:p>
        </p:txBody>
      </p:sp>
      <p:sp>
        <p:nvSpPr>
          <p:cNvPr id="73" name="Google Shape;73;p6"/>
          <p:cNvSpPr/>
          <p:nvPr/>
        </p:nvSpPr>
        <p:spPr>
          <a:xfrm>
            <a:off x="1252728" y="841248"/>
            <a:ext cx="7406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400"/>
              <a:buFont typeface="Calibri"/>
              <a:buNone/>
            </a:pPr>
            <a:r>
              <a:rPr b="0" i="1" lang="en-US" sz="1400" u="none" cap="none" strike="noStrike">
                <a:solidFill>
                  <a:srgbClr val="C2410C"/>
                </a:solidFill>
                <a:latin typeface="Calibri"/>
                <a:ea typeface="Calibri"/>
                <a:cs typeface="Calibri"/>
                <a:sym typeface="Calibri"/>
              </a:rPr>
              <a:t>“I lost my work — and we keep overwriting each other's code.”</a:t>
            </a:r>
            <a:endParaRPr b="0" i="0" sz="1400" u="none" cap="none" strike="noStrike">
              <a:solidFill>
                <a:schemeClr val="dk1"/>
              </a:solidFill>
              <a:latin typeface="Calibri"/>
              <a:ea typeface="Calibri"/>
              <a:cs typeface="Calibri"/>
              <a:sym typeface="Calibri"/>
            </a:endParaRPr>
          </a:p>
        </p:txBody>
      </p:sp>
      <p:sp>
        <p:nvSpPr>
          <p:cNvPr id="74" name="Google Shape;74;p6"/>
          <p:cNvSpPr/>
          <p:nvPr/>
        </p:nvSpPr>
        <p:spPr>
          <a:xfrm>
            <a:off x="457200" y="1371600"/>
            <a:ext cx="4023360" cy="2011680"/>
          </a:xfrm>
          <a:prstGeom prst="roundRect">
            <a:avLst>
              <a:gd fmla="val 4545" name="adj"/>
            </a:avLst>
          </a:prstGeom>
          <a:solidFill>
            <a:srgbClr val="FFF7ED"/>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6"/>
          <p:cNvPicPr preferRelativeResize="0"/>
          <p:nvPr/>
        </p:nvPicPr>
        <p:blipFill rotWithShape="1">
          <a:blip r:embed="rId3">
            <a:alphaModFix/>
          </a:blip>
          <a:srcRect b="0" l="0" r="0" t="0"/>
          <a:stretch/>
        </p:blipFill>
        <p:spPr>
          <a:xfrm>
            <a:off x="658368" y="1572768"/>
            <a:ext cx="365760" cy="365760"/>
          </a:xfrm>
          <a:prstGeom prst="rect">
            <a:avLst/>
          </a:prstGeom>
          <a:noFill/>
          <a:ln>
            <a:noFill/>
          </a:ln>
        </p:spPr>
      </p:pic>
      <p:sp>
        <p:nvSpPr>
          <p:cNvPr id="76" name="Google Shape;76;p6"/>
          <p:cNvSpPr/>
          <p:nvPr/>
        </p:nvSpPr>
        <p:spPr>
          <a:xfrm>
            <a:off x="1115568" y="1554480"/>
            <a:ext cx="2743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THE PROBLEM</a:t>
            </a:r>
            <a:endParaRPr b="0" i="0" sz="1300" u="none" cap="none" strike="noStrike">
              <a:solidFill>
                <a:schemeClr val="dk1"/>
              </a:solidFill>
              <a:latin typeface="Calibri"/>
              <a:ea typeface="Calibri"/>
              <a:cs typeface="Calibri"/>
              <a:sym typeface="Calibri"/>
            </a:endParaRPr>
          </a:p>
        </p:txBody>
      </p:sp>
      <p:sp>
        <p:nvSpPr>
          <p:cNvPr id="77" name="Google Shape;77;p6"/>
          <p:cNvSpPr/>
          <p:nvPr/>
        </p:nvSpPr>
        <p:spPr>
          <a:xfrm>
            <a:off x="67665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Two people edit the same file and one save destroys the other's work. You delete something on Friday and there's no way to get it back. No history, no parallel work, no safety net.</a:t>
            </a:r>
            <a:endParaRPr b="0" i="0" sz="1350" u="none" cap="none" strike="noStrike">
              <a:solidFill>
                <a:schemeClr val="dk1"/>
              </a:solidFill>
              <a:latin typeface="Calibri"/>
              <a:ea typeface="Calibri"/>
              <a:cs typeface="Calibri"/>
              <a:sym typeface="Calibri"/>
            </a:endParaRPr>
          </a:p>
        </p:txBody>
      </p:sp>
      <p:sp>
        <p:nvSpPr>
          <p:cNvPr id="78" name="Google Shape;78;p6"/>
          <p:cNvSpPr/>
          <p:nvPr/>
        </p:nvSpPr>
        <p:spPr>
          <a:xfrm>
            <a:off x="4663440" y="1371600"/>
            <a:ext cx="4023360" cy="2011680"/>
          </a:xfrm>
          <a:prstGeom prst="roundRect">
            <a:avLst>
              <a:gd fmla="val 4545" name="adj"/>
            </a:avLst>
          </a:prstGeom>
          <a:solidFill>
            <a:srgbClr val="F0FDFA"/>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 name="Google Shape;79;p6"/>
          <p:cNvPicPr preferRelativeResize="0"/>
          <p:nvPr/>
        </p:nvPicPr>
        <p:blipFill rotWithShape="1">
          <a:blip r:embed="rId4">
            <a:alphaModFix/>
          </a:blip>
          <a:srcRect b="0" l="0" r="0" t="0"/>
          <a:stretch/>
        </p:blipFill>
        <p:spPr>
          <a:xfrm>
            <a:off x="4864608" y="1572768"/>
            <a:ext cx="365760" cy="365760"/>
          </a:xfrm>
          <a:prstGeom prst="rect">
            <a:avLst/>
          </a:prstGeom>
          <a:noFill/>
          <a:ln>
            <a:noFill/>
          </a:ln>
        </p:spPr>
      </p:pic>
      <p:sp>
        <p:nvSpPr>
          <p:cNvPr id="80" name="Google Shape;80;p6"/>
          <p:cNvSpPr/>
          <p:nvPr/>
        </p:nvSpPr>
        <p:spPr>
          <a:xfrm>
            <a:off x="5321808" y="155448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300"/>
              <a:buFont typeface="Calibri"/>
              <a:buNone/>
            </a:pPr>
            <a:r>
              <a:rPr b="1" i="0" lang="en-US" sz="1300" u="none" cap="none" strike="noStrike">
                <a:solidFill>
                  <a:srgbClr val="0F766E"/>
                </a:solidFill>
                <a:latin typeface="Calibri"/>
                <a:ea typeface="Calibri"/>
                <a:cs typeface="Calibri"/>
                <a:sym typeface="Calibri"/>
              </a:rPr>
              <a:t>THE IDEA THAT FIXES IT</a:t>
            </a:r>
            <a:endParaRPr b="0" i="0" sz="1300" u="none" cap="none" strike="noStrike">
              <a:solidFill>
                <a:schemeClr val="dk1"/>
              </a:solidFill>
              <a:latin typeface="Calibri"/>
              <a:ea typeface="Calibri"/>
              <a:cs typeface="Calibri"/>
              <a:sym typeface="Calibri"/>
            </a:endParaRPr>
          </a:p>
        </p:txBody>
      </p:sp>
      <p:sp>
        <p:nvSpPr>
          <p:cNvPr id="81" name="Google Shape;81;p6"/>
          <p:cNvSpPr/>
          <p:nvPr/>
        </p:nvSpPr>
        <p:spPr>
          <a:xfrm>
            <a:off x="488289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Track every change as a recoverable snapshot, and let many people work in parallel on the same code without stepping on each other.</a:t>
            </a:r>
            <a:endParaRPr b="0" i="0" sz="1350" u="none" cap="none" strike="noStrike">
              <a:solidFill>
                <a:schemeClr val="dk1"/>
              </a:solidFill>
              <a:latin typeface="Calibri"/>
              <a:ea typeface="Calibri"/>
              <a:cs typeface="Calibri"/>
              <a:sym typeface="Calibri"/>
            </a:endParaRPr>
          </a:p>
        </p:txBody>
      </p:sp>
      <p:sp>
        <p:nvSpPr>
          <p:cNvPr id="82" name="Google Shape;82;p6"/>
          <p:cNvSpPr/>
          <p:nvPr/>
        </p:nvSpPr>
        <p:spPr>
          <a:xfrm>
            <a:off x="457200" y="354787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1" i="0" lang="en-US" sz="1150" u="none" cap="none" strike="noStrike">
                <a:solidFill>
                  <a:srgbClr val="64748B"/>
                </a:solidFill>
                <a:latin typeface="Calibri"/>
                <a:ea typeface="Calibri"/>
                <a:cs typeface="Calibri"/>
                <a:sym typeface="Calibri"/>
              </a:rPr>
              <a:t>TOOLS YOU'LL MEET</a:t>
            </a:r>
            <a:endParaRPr b="0" i="0" sz="1150" u="none" cap="none" strike="noStrike">
              <a:solidFill>
                <a:schemeClr val="dk1"/>
              </a:solidFill>
              <a:latin typeface="Calibri"/>
              <a:ea typeface="Calibri"/>
              <a:cs typeface="Calibri"/>
              <a:sym typeface="Calibri"/>
            </a:endParaRPr>
          </a:p>
        </p:txBody>
      </p:sp>
      <p:sp>
        <p:nvSpPr>
          <p:cNvPr id="83" name="Google Shape;83;p6"/>
          <p:cNvSpPr/>
          <p:nvPr/>
        </p:nvSpPr>
        <p:spPr>
          <a:xfrm>
            <a:off x="457200" y="3877056"/>
            <a:ext cx="868680" cy="420624"/>
          </a:xfrm>
          <a:prstGeom prst="roundRect">
            <a:avLst>
              <a:gd fmla="val 17391" name="adj"/>
            </a:avLst>
          </a:prstGeom>
          <a:solidFill>
            <a:srgbClr val="0D9488"/>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457200" y="3877056"/>
            <a:ext cx="86868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Git</a:t>
            </a:r>
            <a:endParaRPr b="0" i="0" sz="1250" u="none" cap="none" strike="noStrike">
              <a:solidFill>
                <a:schemeClr val="dk1"/>
              </a:solidFill>
              <a:latin typeface="Calibri"/>
              <a:ea typeface="Calibri"/>
              <a:cs typeface="Calibri"/>
              <a:sym typeface="Calibri"/>
            </a:endParaRPr>
          </a:p>
        </p:txBody>
      </p:sp>
      <p:sp>
        <p:nvSpPr>
          <p:cNvPr id="85" name="Google Shape;85;p6"/>
          <p:cNvSpPr/>
          <p:nvPr/>
        </p:nvSpPr>
        <p:spPr>
          <a:xfrm>
            <a:off x="1472184" y="3877056"/>
            <a:ext cx="961949"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1472184" y="3877056"/>
            <a:ext cx="961949"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GitHub</a:t>
            </a:r>
            <a:endParaRPr b="0" i="0" sz="1250" u="none" cap="none" strike="noStrike">
              <a:solidFill>
                <a:schemeClr val="dk1"/>
              </a:solidFill>
              <a:latin typeface="Calibri"/>
              <a:ea typeface="Calibri"/>
              <a:cs typeface="Calibri"/>
              <a:sym typeface="Calibri"/>
            </a:endParaRPr>
          </a:p>
        </p:txBody>
      </p:sp>
      <p:sp>
        <p:nvSpPr>
          <p:cNvPr id="87" name="Google Shape;87;p6"/>
          <p:cNvSpPr/>
          <p:nvPr/>
        </p:nvSpPr>
        <p:spPr>
          <a:xfrm>
            <a:off x="2580437" y="3877056"/>
            <a:ext cx="961949"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2580437" y="3877056"/>
            <a:ext cx="961949"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GitLab</a:t>
            </a:r>
            <a:endParaRPr b="0" i="0" sz="1250" u="none" cap="none" strike="noStrike">
              <a:solidFill>
                <a:schemeClr val="dk1"/>
              </a:solidFill>
              <a:latin typeface="Calibri"/>
              <a:ea typeface="Calibri"/>
              <a:cs typeface="Calibri"/>
              <a:sym typeface="Calibri"/>
            </a:endParaRPr>
          </a:p>
        </p:txBody>
      </p:sp>
      <p:sp>
        <p:nvSpPr>
          <p:cNvPr id="89" name="Google Shape;89;p6"/>
          <p:cNvSpPr/>
          <p:nvPr/>
        </p:nvSpPr>
        <p:spPr>
          <a:xfrm>
            <a:off x="3688690" y="3877056"/>
            <a:ext cx="1214323"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3688690" y="3877056"/>
            <a:ext cx="1214323"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SVN (old)</a:t>
            </a:r>
            <a:endParaRPr b="0" i="0" sz="1250" u="none" cap="none" strike="noStrike">
              <a:solidFill>
                <a:schemeClr val="dk1"/>
              </a:solidFill>
              <a:latin typeface="Calibri"/>
              <a:ea typeface="Calibri"/>
              <a:cs typeface="Calibri"/>
              <a:sym typeface="Calibri"/>
            </a:endParaRPr>
          </a:p>
        </p:txBody>
      </p:sp>
      <p:sp>
        <p:nvSpPr>
          <p:cNvPr id="91" name="Google Shape;91;p6"/>
          <p:cNvSpPr/>
          <p:nvPr/>
        </p:nvSpPr>
        <p:spPr>
          <a:xfrm>
            <a:off x="5095037" y="3877056"/>
            <a:ext cx="3637483"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Remember: Git is NOT GitHub</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6" name="Shape 96"/>
        <p:cNvGrpSpPr/>
        <p:nvPr/>
      </p:nvGrpSpPr>
      <p:grpSpPr>
        <a:xfrm>
          <a:off x="0" y="0"/>
          <a:ext cx="0" cy="0"/>
          <a:chOff x="0" y="0"/>
          <a:chExt cx="0" cy="0"/>
        </a:xfrm>
      </p:grpSpPr>
      <p:sp>
        <p:nvSpPr>
          <p:cNvPr id="97" name="Google Shape;97;p7"/>
          <p:cNvSpPr/>
          <p:nvPr/>
        </p:nvSpPr>
        <p:spPr>
          <a:xfrm>
            <a:off x="457200" y="292608"/>
            <a:ext cx="914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3000"/>
              <a:buFont typeface="Bookman Old Style"/>
              <a:buNone/>
            </a:pPr>
            <a:r>
              <a:rPr b="1" i="0" lang="en-US" sz="3000" u="none" cap="none" strike="noStrike">
                <a:solidFill>
                  <a:srgbClr val="F97316"/>
                </a:solidFill>
                <a:latin typeface="Bookman Old Style"/>
                <a:ea typeface="Bookman Old Style"/>
                <a:cs typeface="Bookman Old Style"/>
                <a:sym typeface="Bookman Old Style"/>
              </a:rPr>
              <a:t>02</a:t>
            </a:r>
            <a:endParaRPr b="0" i="0" sz="3000" u="none" cap="none" strike="noStrike">
              <a:solidFill>
                <a:schemeClr val="dk1"/>
              </a:solidFill>
              <a:latin typeface="Calibri"/>
              <a:ea typeface="Calibri"/>
              <a:cs typeface="Calibri"/>
              <a:sym typeface="Calibri"/>
            </a:endParaRPr>
          </a:p>
        </p:txBody>
      </p:sp>
      <p:sp>
        <p:nvSpPr>
          <p:cNvPr id="98" name="Google Shape;98;p7"/>
          <p:cNvSpPr/>
          <p:nvPr/>
        </p:nvSpPr>
        <p:spPr>
          <a:xfrm>
            <a:off x="1234440" y="292608"/>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000"/>
              <a:buFont typeface="Bookman Old Style"/>
              <a:buNone/>
            </a:pPr>
            <a:r>
              <a:rPr b="1" i="0" lang="en-US" sz="3000" u="none" cap="none" strike="noStrike">
                <a:solidFill>
                  <a:srgbClr val="0F172A"/>
                </a:solidFill>
                <a:latin typeface="Bookman Old Style"/>
                <a:ea typeface="Bookman Old Style"/>
                <a:cs typeface="Bookman Old Style"/>
                <a:sym typeface="Bookman Old Style"/>
              </a:rPr>
              <a:t>Containers</a:t>
            </a:r>
            <a:endParaRPr b="0" i="0" sz="3000" u="none" cap="none" strike="noStrike">
              <a:solidFill>
                <a:schemeClr val="dk1"/>
              </a:solidFill>
              <a:latin typeface="Calibri"/>
              <a:ea typeface="Calibri"/>
              <a:cs typeface="Calibri"/>
              <a:sym typeface="Calibri"/>
            </a:endParaRPr>
          </a:p>
        </p:txBody>
      </p:sp>
      <p:sp>
        <p:nvSpPr>
          <p:cNvPr id="99" name="Google Shape;99;p7"/>
          <p:cNvSpPr/>
          <p:nvPr/>
        </p:nvSpPr>
        <p:spPr>
          <a:xfrm>
            <a:off x="1252728" y="841248"/>
            <a:ext cx="7406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400"/>
              <a:buFont typeface="Calibri"/>
              <a:buNone/>
            </a:pPr>
            <a:r>
              <a:rPr b="0" i="1" lang="en-US" sz="1400" u="none" cap="none" strike="noStrike">
                <a:solidFill>
                  <a:srgbClr val="C2410C"/>
                </a:solidFill>
                <a:latin typeface="Calibri"/>
                <a:ea typeface="Calibri"/>
                <a:cs typeface="Calibri"/>
                <a:sym typeface="Calibri"/>
              </a:rPr>
              <a:t>“It works on my machine… but it dies on the server.”</a:t>
            </a:r>
            <a:endParaRPr b="0" i="0" sz="1400" u="none" cap="none" strike="noStrike">
              <a:solidFill>
                <a:schemeClr val="dk1"/>
              </a:solidFill>
              <a:latin typeface="Calibri"/>
              <a:ea typeface="Calibri"/>
              <a:cs typeface="Calibri"/>
              <a:sym typeface="Calibri"/>
            </a:endParaRPr>
          </a:p>
        </p:txBody>
      </p:sp>
      <p:sp>
        <p:nvSpPr>
          <p:cNvPr id="100" name="Google Shape;100;p7"/>
          <p:cNvSpPr/>
          <p:nvPr/>
        </p:nvSpPr>
        <p:spPr>
          <a:xfrm>
            <a:off x="457200" y="1371600"/>
            <a:ext cx="4023360" cy="2011680"/>
          </a:xfrm>
          <a:prstGeom prst="roundRect">
            <a:avLst>
              <a:gd fmla="val 4545" name="adj"/>
            </a:avLst>
          </a:prstGeom>
          <a:solidFill>
            <a:srgbClr val="FFF7ED"/>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1" name="Google Shape;101;p7"/>
          <p:cNvPicPr preferRelativeResize="0"/>
          <p:nvPr/>
        </p:nvPicPr>
        <p:blipFill rotWithShape="1">
          <a:blip r:embed="rId3">
            <a:alphaModFix/>
          </a:blip>
          <a:srcRect b="0" l="0" r="0" t="0"/>
          <a:stretch/>
        </p:blipFill>
        <p:spPr>
          <a:xfrm>
            <a:off x="658368" y="1572768"/>
            <a:ext cx="365760" cy="365760"/>
          </a:xfrm>
          <a:prstGeom prst="rect">
            <a:avLst/>
          </a:prstGeom>
          <a:noFill/>
          <a:ln>
            <a:noFill/>
          </a:ln>
        </p:spPr>
      </p:pic>
      <p:sp>
        <p:nvSpPr>
          <p:cNvPr id="102" name="Google Shape;102;p7"/>
          <p:cNvSpPr/>
          <p:nvPr/>
        </p:nvSpPr>
        <p:spPr>
          <a:xfrm>
            <a:off x="1115568" y="1554480"/>
            <a:ext cx="2743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THE PROBLEM</a:t>
            </a:r>
            <a:endParaRPr b="0" i="0" sz="1300" u="none" cap="none" strike="noStrike">
              <a:solidFill>
                <a:schemeClr val="dk1"/>
              </a:solidFill>
              <a:latin typeface="Calibri"/>
              <a:ea typeface="Calibri"/>
              <a:cs typeface="Calibri"/>
              <a:sym typeface="Calibri"/>
            </a:endParaRPr>
          </a:p>
        </p:txBody>
      </p:sp>
      <p:sp>
        <p:nvSpPr>
          <p:cNvPr id="103" name="Google Shape;103;p7"/>
          <p:cNvSpPr/>
          <p:nvPr/>
        </p:nvSpPr>
        <p:spPr>
          <a:xfrm>
            <a:off x="67665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The app runs on the developer's laptop and breaks in production  different OS, a missing library, the wrong version of something. The environment is never quite the same twice.</a:t>
            </a:r>
            <a:endParaRPr b="0" i="0" sz="1350" u="none" cap="none" strike="noStrike">
              <a:solidFill>
                <a:schemeClr val="dk1"/>
              </a:solidFill>
              <a:latin typeface="Calibri"/>
              <a:ea typeface="Calibri"/>
              <a:cs typeface="Calibri"/>
              <a:sym typeface="Calibri"/>
            </a:endParaRPr>
          </a:p>
        </p:txBody>
      </p:sp>
      <p:sp>
        <p:nvSpPr>
          <p:cNvPr id="104" name="Google Shape;104;p7"/>
          <p:cNvSpPr/>
          <p:nvPr/>
        </p:nvSpPr>
        <p:spPr>
          <a:xfrm>
            <a:off x="4663440" y="1371600"/>
            <a:ext cx="4023360" cy="2011680"/>
          </a:xfrm>
          <a:prstGeom prst="roundRect">
            <a:avLst>
              <a:gd fmla="val 4545" name="adj"/>
            </a:avLst>
          </a:prstGeom>
          <a:solidFill>
            <a:srgbClr val="F0FDFA"/>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5" name="Google Shape;105;p7"/>
          <p:cNvPicPr preferRelativeResize="0"/>
          <p:nvPr/>
        </p:nvPicPr>
        <p:blipFill rotWithShape="1">
          <a:blip r:embed="rId4">
            <a:alphaModFix/>
          </a:blip>
          <a:srcRect b="0" l="0" r="0" t="0"/>
          <a:stretch/>
        </p:blipFill>
        <p:spPr>
          <a:xfrm>
            <a:off x="4864608" y="1572768"/>
            <a:ext cx="365760" cy="365760"/>
          </a:xfrm>
          <a:prstGeom prst="rect">
            <a:avLst/>
          </a:prstGeom>
          <a:noFill/>
          <a:ln>
            <a:noFill/>
          </a:ln>
        </p:spPr>
      </p:pic>
      <p:sp>
        <p:nvSpPr>
          <p:cNvPr id="106" name="Google Shape;106;p7"/>
          <p:cNvSpPr/>
          <p:nvPr/>
        </p:nvSpPr>
        <p:spPr>
          <a:xfrm>
            <a:off x="5321808" y="155448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300"/>
              <a:buFont typeface="Calibri"/>
              <a:buNone/>
            </a:pPr>
            <a:r>
              <a:rPr b="1" i="0" lang="en-US" sz="1300" u="none" cap="none" strike="noStrike">
                <a:solidFill>
                  <a:srgbClr val="0F766E"/>
                </a:solidFill>
                <a:latin typeface="Calibri"/>
                <a:ea typeface="Calibri"/>
                <a:cs typeface="Calibri"/>
                <a:sym typeface="Calibri"/>
              </a:rPr>
              <a:t>THE IDEA THAT FIXES IT</a:t>
            </a:r>
            <a:endParaRPr b="0" i="0" sz="1300" u="none" cap="none" strike="noStrike">
              <a:solidFill>
                <a:schemeClr val="dk1"/>
              </a:solidFill>
              <a:latin typeface="Calibri"/>
              <a:ea typeface="Calibri"/>
              <a:cs typeface="Calibri"/>
              <a:sym typeface="Calibri"/>
            </a:endParaRPr>
          </a:p>
        </p:txBody>
      </p:sp>
      <p:sp>
        <p:nvSpPr>
          <p:cNvPr id="107" name="Google Shape;107;p7"/>
          <p:cNvSpPr/>
          <p:nvPr/>
        </p:nvSpPr>
        <p:spPr>
          <a:xfrm>
            <a:off x="488289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Package the app together with its entire environment into one portable unit that runs identically everywhere  your laptop, a teammate's, the server.</a:t>
            </a:r>
            <a:endParaRPr b="0" i="0" sz="1350" u="none" cap="none" strike="noStrike">
              <a:solidFill>
                <a:schemeClr val="dk1"/>
              </a:solidFill>
              <a:latin typeface="Calibri"/>
              <a:ea typeface="Calibri"/>
              <a:cs typeface="Calibri"/>
              <a:sym typeface="Calibri"/>
            </a:endParaRPr>
          </a:p>
        </p:txBody>
      </p:sp>
      <p:sp>
        <p:nvSpPr>
          <p:cNvPr id="108" name="Google Shape;108;p7"/>
          <p:cNvSpPr/>
          <p:nvPr/>
        </p:nvSpPr>
        <p:spPr>
          <a:xfrm>
            <a:off x="457200" y="354787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1" i="0" lang="en-US" sz="1150" u="none" cap="none" strike="noStrike">
                <a:solidFill>
                  <a:srgbClr val="64748B"/>
                </a:solidFill>
                <a:latin typeface="Calibri"/>
                <a:ea typeface="Calibri"/>
                <a:cs typeface="Calibri"/>
                <a:sym typeface="Calibri"/>
              </a:rPr>
              <a:t>TOOLS YOU'LL MEET</a:t>
            </a:r>
            <a:endParaRPr b="0" i="0" sz="1150" u="none" cap="none" strike="noStrike">
              <a:solidFill>
                <a:schemeClr val="dk1"/>
              </a:solidFill>
              <a:latin typeface="Calibri"/>
              <a:ea typeface="Calibri"/>
              <a:cs typeface="Calibri"/>
              <a:sym typeface="Calibri"/>
            </a:endParaRPr>
          </a:p>
        </p:txBody>
      </p:sp>
      <p:sp>
        <p:nvSpPr>
          <p:cNvPr id="109" name="Google Shape;109;p7"/>
          <p:cNvSpPr/>
          <p:nvPr/>
        </p:nvSpPr>
        <p:spPr>
          <a:xfrm>
            <a:off x="457200" y="3877056"/>
            <a:ext cx="961949" cy="420624"/>
          </a:xfrm>
          <a:prstGeom prst="roundRect">
            <a:avLst>
              <a:gd fmla="val 17391" name="adj"/>
            </a:avLst>
          </a:prstGeom>
          <a:solidFill>
            <a:srgbClr val="0D9488"/>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457200" y="3877056"/>
            <a:ext cx="961949"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Docker</a:t>
            </a:r>
            <a:endParaRPr b="0" i="0" sz="1250" u="none" cap="none" strike="noStrike">
              <a:solidFill>
                <a:schemeClr val="dk1"/>
              </a:solidFill>
              <a:latin typeface="Calibri"/>
              <a:ea typeface="Calibri"/>
              <a:cs typeface="Calibri"/>
              <a:sym typeface="Calibri"/>
            </a:endParaRPr>
          </a:p>
        </p:txBody>
      </p:sp>
      <p:sp>
        <p:nvSpPr>
          <p:cNvPr id="111" name="Google Shape;111;p7"/>
          <p:cNvSpPr/>
          <p:nvPr/>
        </p:nvSpPr>
        <p:spPr>
          <a:xfrm>
            <a:off x="1565453" y="3877056"/>
            <a:ext cx="1298448"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1565453" y="3877056"/>
            <a:ext cx="1298448"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containerd</a:t>
            </a:r>
            <a:endParaRPr b="0" i="0" sz="1250" u="none" cap="none" strike="noStrike">
              <a:solidFill>
                <a:schemeClr val="dk1"/>
              </a:solidFill>
              <a:latin typeface="Calibri"/>
              <a:ea typeface="Calibri"/>
              <a:cs typeface="Calibri"/>
              <a:sym typeface="Calibri"/>
            </a:endParaRPr>
          </a:p>
        </p:txBody>
      </p:sp>
      <p:sp>
        <p:nvSpPr>
          <p:cNvPr id="113" name="Google Shape;113;p7"/>
          <p:cNvSpPr/>
          <p:nvPr/>
        </p:nvSpPr>
        <p:spPr>
          <a:xfrm>
            <a:off x="3010205" y="3877056"/>
            <a:ext cx="961949"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3010205" y="3877056"/>
            <a:ext cx="961949"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Podman</a:t>
            </a:r>
            <a:endParaRPr b="0" i="0" sz="1250" u="none" cap="none" strike="noStrike">
              <a:solidFill>
                <a:schemeClr val="dk1"/>
              </a:solidFill>
              <a:latin typeface="Calibri"/>
              <a:ea typeface="Calibri"/>
              <a:cs typeface="Calibri"/>
              <a:sym typeface="Calibri"/>
            </a:endParaRPr>
          </a:p>
        </p:txBody>
      </p:sp>
      <p:sp>
        <p:nvSpPr>
          <p:cNvPr id="115" name="Google Shape;115;p7"/>
          <p:cNvSpPr/>
          <p:nvPr/>
        </p:nvSpPr>
        <p:spPr>
          <a:xfrm>
            <a:off x="4164178" y="3877056"/>
            <a:ext cx="456834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Lighter than a full VM — shares the host kernel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0" name="Shape 120"/>
        <p:cNvGrpSpPr/>
        <p:nvPr/>
      </p:nvGrpSpPr>
      <p:grpSpPr>
        <a:xfrm>
          <a:off x="0" y="0"/>
          <a:ext cx="0" cy="0"/>
          <a:chOff x="0" y="0"/>
          <a:chExt cx="0" cy="0"/>
        </a:xfrm>
      </p:grpSpPr>
      <p:sp>
        <p:nvSpPr>
          <p:cNvPr id="121" name="Google Shape;121;p8"/>
          <p:cNvSpPr/>
          <p:nvPr/>
        </p:nvSpPr>
        <p:spPr>
          <a:xfrm>
            <a:off x="457200" y="292608"/>
            <a:ext cx="914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3000"/>
              <a:buFont typeface="Bookman Old Style"/>
              <a:buNone/>
            </a:pPr>
            <a:r>
              <a:rPr b="1" i="0" lang="en-US" sz="3000" u="none" cap="none" strike="noStrike">
                <a:solidFill>
                  <a:srgbClr val="F97316"/>
                </a:solidFill>
                <a:latin typeface="Bookman Old Style"/>
                <a:ea typeface="Bookman Old Style"/>
                <a:cs typeface="Bookman Old Style"/>
                <a:sym typeface="Bookman Old Style"/>
              </a:rPr>
              <a:t>03</a:t>
            </a:r>
            <a:endParaRPr b="0" i="0" sz="3000" u="none" cap="none" strike="noStrike">
              <a:solidFill>
                <a:schemeClr val="dk1"/>
              </a:solidFill>
              <a:latin typeface="Calibri"/>
              <a:ea typeface="Calibri"/>
              <a:cs typeface="Calibri"/>
              <a:sym typeface="Calibri"/>
            </a:endParaRPr>
          </a:p>
        </p:txBody>
      </p:sp>
      <p:sp>
        <p:nvSpPr>
          <p:cNvPr id="122" name="Google Shape;122;p8"/>
          <p:cNvSpPr/>
          <p:nvPr/>
        </p:nvSpPr>
        <p:spPr>
          <a:xfrm>
            <a:off x="1234440" y="292608"/>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000"/>
              <a:buFont typeface="Bookman Old Style"/>
              <a:buNone/>
            </a:pPr>
            <a:r>
              <a:rPr b="1" i="0" lang="en-US" sz="3000" u="none" cap="none" strike="noStrike">
                <a:solidFill>
                  <a:srgbClr val="0F172A"/>
                </a:solidFill>
                <a:latin typeface="Bookman Old Style"/>
                <a:ea typeface="Bookman Old Style"/>
                <a:cs typeface="Bookman Old Style"/>
                <a:sym typeface="Bookman Old Style"/>
              </a:rPr>
              <a:t>Container Orchestration</a:t>
            </a:r>
            <a:endParaRPr b="0" i="0" sz="3000" u="none" cap="none" strike="noStrike">
              <a:solidFill>
                <a:schemeClr val="dk1"/>
              </a:solidFill>
              <a:latin typeface="Calibri"/>
              <a:ea typeface="Calibri"/>
              <a:cs typeface="Calibri"/>
              <a:sym typeface="Calibri"/>
            </a:endParaRPr>
          </a:p>
        </p:txBody>
      </p:sp>
      <p:sp>
        <p:nvSpPr>
          <p:cNvPr id="123" name="Google Shape;123;p8"/>
          <p:cNvSpPr/>
          <p:nvPr/>
        </p:nvSpPr>
        <p:spPr>
          <a:xfrm>
            <a:off x="1252728" y="841248"/>
            <a:ext cx="7406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400"/>
              <a:buFont typeface="Calibri"/>
              <a:buNone/>
            </a:pPr>
            <a:r>
              <a:rPr b="0" i="1" lang="en-US" sz="1400" u="none" cap="none" strike="noStrike">
                <a:solidFill>
                  <a:srgbClr val="C2410C"/>
                </a:solidFill>
                <a:latin typeface="Calibri"/>
                <a:ea typeface="Calibri"/>
                <a:cs typeface="Calibri"/>
                <a:sym typeface="Calibri"/>
              </a:rPr>
              <a:t>“50 containers across 10 machines — and one just died at 3 a.m.”</a:t>
            </a:r>
            <a:endParaRPr b="0" i="0" sz="1400" u="none" cap="none" strike="noStrike">
              <a:solidFill>
                <a:schemeClr val="dk1"/>
              </a:solidFill>
              <a:latin typeface="Calibri"/>
              <a:ea typeface="Calibri"/>
              <a:cs typeface="Calibri"/>
              <a:sym typeface="Calibri"/>
            </a:endParaRPr>
          </a:p>
        </p:txBody>
      </p:sp>
      <p:sp>
        <p:nvSpPr>
          <p:cNvPr id="124" name="Google Shape;124;p8"/>
          <p:cNvSpPr/>
          <p:nvPr/>
        </p:nvSpPr>
        <p:spPr>
          <a:xfrm>
            <a:off x="457200" y="1371600"/>
            <a:ext cx="4023360" cy="2011680"/>
          </a:xfrm>
          <a:prstGeom prst="roundRect">
            <a:avLst>
              <a:gd fmla="val 4545" name="adj"/>
            </a:avLst>
          </a:prstGeom>
          <a:solidFill>
            <a:srgbClr val="FFF7ED"/>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5" name="Google Shape;125;p8"/>
          <p:cNvPicPr preferRelativeResize="0"/>
          <p:nvPr/>
        </p:nvPicPr>
        <p:blipFill rotWithShape="1">
          <a:blip r:embed="rId3">
            <a:alphaModFix/>
          </a:blip>
          <a:srcRect b="0" l="0" r="0" t="0"/>
          <a:stretch/>
        </p:blipFill>
        <p:spPr>
          <a:xfrm>
            <a:off x="658368" y="1572768"/>
            <a:ext cx="365760" cy="365760"/>
          </a:xfrm>
          <a:prstGeom prst="rect">
            <a:avLst/>
          </a:prstGeom>
          <a:noFill/>
          <a:ln>
            <a:noFill/>
          </a:ln>
        </p:spPr>
      </p:pic>
      <p:sp>
        <p:nvSpPr>
          <p:cNvPr id="126" name="Google Shape;126;p8"/>
          <p:cNvSpPr/>
          <p:nvPr/>
        </p:nvSpPr>
        <p:spPr>
          <a:xfrm>
            <a:off x="1115568" y="1554480"/>
            <a:ext cx="2743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THE PROBLEM</a:t>
            </a:r>
            <a:endParaRPr b="0" i="0" sz="1300" u="none" cap="none" strike="noStrike">
              <a:solidFill>
                <a:schemeClr val="dk1"/>
              </a:solidFill>
              <a:latin typeface="Calibri"/>
              <a:ea typeface="Calibri"/>
              <a:cs typeface="Calibri"/>
              <a:sym typeface="Calibri"/>
            </a:endParaRPr>
          </a:p>
        </p:txBody>
      </p:sp>
      <p:sp>
        <p:nvSpPr>
          <p:cNvPr id="127" name="Google Shape;127;p8"/>
          <p:cNvSpPr/>
          <p:nvPr/>
        </p:nvSpPr>
        <p:spPr>
          <a:xfrm>
            <a:off x="67665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One container is easy. Running hundreds across a fleet — restarting dead ones, scaling under load, rolling out updates with zero downtime, wiring them together — is impossible to do by hand.</a:t>
            </a:r>
            <a:endParaRPr b="0" i="0" sz="1350" u="none" cap="none" strike="noStrike">
              <a:solidFill>
                <a:schemeClr val="dk1"/>
              </a:solidFill>
              <a:latin typeface="Calibri"/>
              <a:ea typeface="Calibri"/>
              <a:cs typeface="Calibri"/>
              <a:sym typeface="Calibri"/>
            </a:endParaRPr>
          </a:p>
        </p:txBody>
      </p:sp>
      <p:sp>
        <p:nvSpPr>
          <p:cNvPr id="128" name="Google Shape;128;p8"/>
          <p:cNvSpPr/>
          <p:nvPr/>
        </p:nvSpPr>
        <p:spPr>
          <a:xfrm>
            <a:off x="4663440" y="1371600"/>
            <a:ext cx="4023360" cy="2011680"/>
          </a:xfrm>
          <a:prstGeom prst="roundRect">
            <a:avLst>
              <a:gd fmla="val 4545" name="adj"/>
            </a:avLst>
          </a:prstGeom>
          <a:solidFill>
            <a:srgbClr val="F0FDFA"/>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9" name="Google Shape;129;p8"/>
          <p:cNvPicPr preferRelativeResize="0"/>
          <p:nvPr/>
        </p:nvPicPr>
        <p:blipFill rotWithShape="1">
          <a:blip r:embed="rId4">
            <a:alphaModFix/>
          </a:blip>
          <a:srcRect b="0" l="0" r="0" t="0"/>
          <a:stretch/>
        </p:blipFill>
        <p:spPr>
          <a:xfrm>
            <a:off x="4864608" y="1572768"/>
            <a:ext cx="365760" cy="365760"/>
          </a:xfrm>
          <a:prstGeom prst="rect">
            <a:avLst/>
          </a:prstGeom>
          <a:noFill/>
          <a:ln>
            <a:noFill/>
          </a:ln>
        </p:spPr>
      </p:pic>
      <p:sp>
        <p:nvSpPr>
          <p:cNvPr id="130" name="Google Shape;130;p8"/>
          <p:cNvSpPr/>
          <p:nvPr/>
        </p:nvSpPr>
        <p:spPr>
          <a:xfrm>
            <a:off x="5321808" y="155448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300"/>
              <a:buFont typeface="Calibri"/>
              <a:buNone/>
            </a:pPr>
            <a:r>
              <a:rPr b="1" i="0" lang="en-US" sz="1300" u="none" cap="none" strike="noStrike">
                <a:solidFill>
                  <a:srgbClr val="0F766E"/>
                </a:solidFill>
                <a:latin typeface="Calibri"/>
                <a:ea typeface="Calibri"/>
                <a:cs typeface="Calibri"/>
                <a:sym typeface="Calibri"/>
              </a:rPr>
              <a:t>THE IDEA THAT FIXES IT</a:t>
            </a:r>
            <a:endParaRPr b="0" i="0" sz="1300" u="none" cap="none" strike="noStrike">
              <a:solidFill>
                <a:schemeClr val="dk1"/>
              </a:solidFill>
              <a:latin typeface="Calibri"/>
              <a:ea typeface="Calibri"/>
              <a:cs typeface="Calibri"/>
              <a:sym typeface="Calibri"/>
            </a:endParaRPr>
          </a:p>
        </p:txBody>
      </p:sp>
      <p:sp>
        <p:nvSpPr>
          <p:cNvPr id="131" name="Google Shape;131;p8"/>
          <p:cNvSpPr/>
          <p:nvPr/>
        </p:nvSpPr>
        <p:spPr>
          <a:xfrm>
            <a:off x="488289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Declare your desired state ("I want 5 healthy copies of this") and a control system continuously makes reality match it — healing, scaling, and updating on its own.</a:t>
            </a:r>
            <a:endParaRPr b="0" i="0" sz="1350" u="none" cap="none" strike="noStrike">
              <a:solidFill>
                <a:schemeClr val="dk1"/>
              </a:solidFill>
              <a:latin typeface="Calibri"/>
              <a:ea typeface="Calibri"/>
              <a:cs typeface="Calibri"/>
              <a:sym typeface="Calibri"/>
            </a:endParaRPr>
          </a:p>
        </p:txBody>
      </p:sp>
      <p:sp>
        <p:nvSpPr>
          <p:cNvPr id="132" name="Google Shape;132;p8"/>
          <p:cNvSpPr/>
          <p:nvPr/>
        </p:nvSpPr>
        <p:spPr>
          <a:xfrm>
            <a:off x="457200" y="354787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1" i="0" lang="en-US" sz="1150" u="none" cap="none" strike="noStrike">
                <a:solidFill>
                  <a:srgbClr val="64748B"/>
                </a:solidFill>
                <a:latin typeface="Calibri"/>
                <a:ea typeface="Calibri"/>
                <a:cs typeface="Calibri"/>
                <a:sym typeface="Calibri"/>
              </a:rPr>
              <a:t>TOOLS YOU'LL MEET</a:t>
            </a:r>
            <a:endParaRPr b="0" i="0" sz="1150" u="none" cap="none" strike="noStrike">
              <a:solidFill>
                <a:schemeClr val="dk1"/>
              </a:solidFill>
              <a:latin typeface="Calibri"/>
              <a:ea typeface="Calibri"/>
              <a:cs typeface="Calibri"/>
              <a:sym typeface="Calibri"/>
            </a:endParaRPr>
          </a:p>
        </p:txBody>
      </p:sp>
      <p:sp>
        <p:nvSpPr>
          <p:cNvPr id="133" name="Google Shape;133;p8"/>
          <p:cNvSpPr/>
          <p:nvPr/>
        </p:nvSpPr>
        <p:spPr>
          <a:xfrm>
            <a:off x="457200" y="3877056"/>
            <a:ext cx="1298448" cy="420624"/>
          </a:xfrm>
          <a:prstGeom prst="roundRect">
            <a:avLst>
              <a:gd fmla="val 17391" name="adj"/>
            </a:avLst>
          </a:prstGeom>
          <a:solidFill>
            <a:srgbClr val="0D9488"/>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457200" y="3877056"/>
            <a:ext cx="1298448"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Kubernetes</a:t>
            </a:r>
            <a:endParaRPr b="0" i="0" sz="1250" u="none" cap="none" strike="noStrike">
              <a:solidFill>
                <a:schemeClr val="dk1"/>
              </a:solidFill>
              <a:latin typeface="Calibri"/>
              <a:ea typeface="Calibri"/>
              <a:cs typeface="Calibri"/>
              <a:sym typeface="Calibri"/>
            </a:endParaRPr>
          </a:p>
        </p:txBody>
      </p:sp>
      <p:sp>
        <p:nvSpPr>
          <p:cNvPr id="135" name="Google Shape;135;p8"/>
          <p:cNvSpPr/>
          <p:nvPr/>
        </p:nvSpPr>
        <p:spPr>
          <a:xfrm>
            <a:off x="1901952" y="3877056"/>
            <a:ext cx="1466698"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1901952" y="3877056"/>
            <a:ext cx="1466698"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Docker Swarm</a:t>
            </a:r>
            <a:endParaRPr b="0" i="0" sz="1250" u="none" cap="none" strike="noStrike">
              <a:solidFill>
                <a:schemeClr val="dk1"/>
              </a:solidFill>
              <a:latin typeface="Calibri"/>
              <a:ea typeface="Calibri"/>
              <a:cs typeface="Calibri"/>
              <a:sym typeface="Calibri"/>
            </a:endParaRPr>
          </a:p>
        </p:txBody>
      </p:sp>
      <p:sp>
        <p:nvSpPr>
          <p:cNvPr id="137" name="Google Shape;137;p8"/>
          <p:cNvSpPr/>
          <p:nvPr/>
        </p:nvSpPr>
        <p:spPr>
          <a:xfrm>
            <a:off x="3514954" y="3877056"/>
            <a:ext cx="1214323"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3514954" y="3877056"/>
            <a:ext cx="1214323"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EKS / GKE</a:t>
            </a:r>
            <a:endParaRPr b="0" i="0" sz="1250" u="none" cap="none" strike="noStrike">
              <a:solidFill>
                <a:schemeClr val="dk1"/>
              </a:solidFill>
              <a:latin typeface="Calibri"/>
              <a:ea typeface="Calibri"/>
              <a:cs typeface="Calibri"/>
              <a:sym typeface="Calibri"/>
            </a:endParaRPr>
          </a:p>
        </p:txBody>
      </p:sp>
      <p:sp>
        <p:nvSpPr>
          <p:cNvPr id="139" name="Google Shape;139;p8"/>
          <p:cNvSpPr/>
          <p:nvPr/>
        </p:nvSpPr>
        <p:spPr>
          <a:xfrm>
            <a:off x="4921301" y="3877056"/>
            <a:ext cx="3811219"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The hardest topic — and it's late on purpose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4" name="Shape 144"/>
        <p:cNvGrpSpPr/>
        <p:nvPr/>
      </p:nvGrpSpPr>
      <p:grpSpPr>
        <a:xfrm>
          <a:off x="0" y="0"/>
          <a:ext cx="0" cy="0"/>
          <a:chOff x="0" y="0"/>
          <a:chExt cx="0" cy="0"/>
        </a:xfrm>
      </p:grpSpPr>
      <p:sp>
        <p:nvSpPr>
          <p:cNvPr id="145" name="Google Shape;145;p9"/>
          <p:cNvSpPr/>
          <p:nvPr/>
        </p:nvSpPr>
        <p:spPr>
          <a:xfrm>
            <a:off x="457200" y="292608"/>
            <a:ext cx="914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3000"/>
              <a:buFont typeface="Bookman Old Style"/>
              <a:buNone/>
            </a:pPr>
            <a:r>
              <a:rPr b="1" i="0" lang="en-US" sz="3000" u="none" cap="none" strike="noStrike">
                <a:solidFill>
                  <a:srgbClr val="F97316"/>
                </a:solidFill>
                <a:latin typeface="Bookman Old Style"/>
                <a:ea typeface="Bookman Old Style"/>
                <a:cs typeface="Bookman Old Style"/>
                <a:sym typeface="Bookman Old Style"/>
              </a:rPr>
              <a:t>04</a:t>
            </a:r>
            <a:endParaRPr b="0" i="0" sz="3000" u="none" cap="none" strike="noStrike">
              <a:solidFill>
                <a:schemeClr val="dk1"/>
              </a:solidFill>
              <a:latin typeface="Calibri"/>
              <a:ea typeface="Calibri"/>
              <a:cs typeface="Calibri"/>
              <a:sym typeface="Calibri"/>
            </a:endParaRPr>
          </a:p>
        </p:txBody>
      </p:sp>
      <p:sp>
        <p:nvSpPr>
          <p:cNvPr id="146" name="Google Shape;146;p9"/>
          <p:cNvSpPr/>
          <p:nvPr/>
        </p:nvSpPr>
        <p:spPr>
          <a:xfrm>
            <a:off x="1234440" y="292608"/>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000"/>
              <a:buFont typeface="Bookman Old Style"/>
              <a:buNone/>
            </a:pPr>
            <a:r>
              <a:rPr b="1" i="0" lang="en-US" sz="3000" u="none" cap="none" strike="noStrike">
                <a:solidFill>
                  <a:srgbClr val="0F172A"/>
                </a:solidFill>
                <a:latin typeface="Bookman Old Style"/>
                <a:ea typeface="Bookman Old Style"/>
                <a:cs typeface="Bookman Old Style"/>
                <a:sym typeface="Bookman Old Style"/>
              </a:rPr>
              <a:t>CI / CD</a:t>
            </a:r>
            <a:endParaRPr b="0" i="0" sz="3000" u="none" cap="none" strike="noStrike">
              <a:solidFill>
                <a:schemeClr val="dk1"/>
              </a:solidFill>
              <a:latin typeface="Calibri"/>
              <a:ea typeface="Calibri"/>
              <a:cs typeface="Calibri"/>
              <a:sym typeface="Calibri"/>
            </a:endParaRPr>
          </a:p>
        </p:txBody>
      </p:sp>
      <p:sp>
        <p:nvSpPr>
          <p:cNvPr id="147" name="Google Shape;147;p9"/>
          <p:cNvSpPr/>
          <p:nvPr/>
        </p:nvSpPr>
        <p:spPr>
          <a:xfrm>
            <a:off x="1252728" y="841248"/>
            <a:ext cx="7406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400"/>
              <a:buFont typeface="Calibri"/>
              <a:buNone/>
            </a:pPr>
            <a:r>
              <a:rPr b="0" i="1" lang="en-US" sz="1400" u="none" cap="none" strike="noStrike">
                <a:solidFill>
                  <a:srgbClr val="C2410C"/>
                </a:solidFill>
                <a:latin typeface="Calibri"/>
                <a:ea typeface="Calibri"/>
                <a:cs typeface="Calibri"/>
                <a:sym typeface="Calibri"/>
              </a:rPr>
              <a:t>“Deploying is a scary manual ritual nobody wants to do on a Friday.”</a:t>
            </a:r>
            <a:endParaRPr b="0" i="0" sz="1400" u="none" cap="none" strike="noStrike">
              <a:solidFill>
                <a:schemeClr val="dk1"/>
              </a:solidFill>
              <a:latin typeface="Calibri"/>
              <a:ea typeface="Calibri"/>
              <a:cs typeface="Calibri"/>
              <a:sym typeface="Calibri"/>
            </a:endParaRPr>
          </a:p>
        </p:txBody>
      </p:sp>
      <p:sp>
        <p:nvSpPr>
          <p:cNvPr id="148" name="Google Shape;148;p9"/>
          <p:cNvSpPr/>
          <p:nvPr/>
        </p:nvSpPr>
        <p:spPr>
          <a:xfrm>
            <a:off x="457200" y="1371600"/>
            <a:ext cx="4023360" cy="2011680"/>
          </a:xfrm>
          <a:prstGeom prst="roundRect">
            <a:avLst>
              <a:gd fmla="val 4545" name="adj"/>
            </a:avLst>
          </a:prstGeom>
          <a:solidFill>
            <a:srgbClr val="FFF7ED"/>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9" name="Google Shape;149;p9"/>
          <p:cNvPicPr preferRelativeResize="0"/>
          <p:nvPr/>
        </p:nvPicPr>
        <p:blipFill rotWithShape="1">
          <a:blip r:embed="rId3">
            <a:alphaModFix/>
          </a:blip>
          <a:srcRect b="0" l="0" r="0" t="0"/>
          <a:stretch/>
        </p:blipFill>
        <p:spPr>
          <a:xfrm>
            <a:off x="658368" y="1572768"/>
            <a:ext cx="365760" cy="365760"/>
          </a:xfrm>
          <a:prstGeom prst="rect">
            <a:avLst/>
          </a:prstGeom>
          <a:noFill/>
          <a:ln>
            <a:noFill/>
          </a:ln>
        </p:spPr>
      </p:pic>
      <p:sp>
        <p:nvSpPr>
          <p:cNvPr id="150" name="Google Shape;150;p9"/>
          <p:cNvSpPr/>
          <p:nvPr/>
        </p:nvSpPr>
        <p:spPr>
          <a:xfrm>
            <a:off x="1115568" y="1554480"/>
            <a:ext cx="2743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THE PROBLEM</a:t>
            </a:r>
            <a:endParaRPr b="0" i="0" sz="1300" u="none" cap="none" strike="noStrike">
              <a:solidFill>
                <a:schemeClr val="dk1"/>
              </a:solidFill>
              <a:latin typeface="Calibri"/>
              <a:ea typeface="Calibri"/>
              <a:cs typeface="Calibri"/>
              <a:sym typeface="Calibri"/>
            </a:endParaRPr>
          </a:p>
        </p:txBody>
      </p:sp>
      <p:sp>
        <p:nvSpPr>
          <p:cNvPr id="151" name="Google Shape;151;p9"/>
          <p:cNvSpPr/>
          <p:nvPr/>
        </p:nvSpPr>
        <p:spPr>
          <a:xfrm>
            <a:off x="67665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Every release is a human running steps by hand — build, test, copy, restart. Someone forgets a step, prod breaks, and it's 6 p.m. on a Friday. Slow, error-prone, and stressful.</a:t>
            </a:r>
            <a:endParaRPr b="0" i="0" sz="1350" u="none" cap="none" strike="noStrike">
              <a:solidFill>
                <a:schemeClr val="dk1"/>
              </a:solidFill>
              <a:latin typeface="Calibri"/>
              <a:ea typeface="Calibri"/>
              <a:cs typeface="Calibri"/>
              <a:sym typeface="Calibri"/>
            </a:endParaRPr>
          </a:p>
        </p:txBody>
      </p:sp>
      <p:sp>
        <p:nvSpPr>
          <p:cNvPr id="152" name="Google Shape;152;p9"/>
          <p:cNvSpPr/>
          <p:nvPr/>
        </p:nvSpPr>
        <p:spPr>
          <a:xfrm>
            <a:off x="4663440" y="1371600"/>
            <a:ext cx="4023360" cy="2011680"/>
          </a:xfrm>
          <a:prstGeom prst="roundRect">
            <a:avLst>
              <a:gd fmla="val 4545" name="adj"/>
            </a:avLst>
          </a:prstGeom>
          <a:solidFill>
            <a:srgbClr val="F0FDFA"/>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 name="Google Shape;153;p9"/>
          <p:cNvPicPr preferRelativeResize="0"/>
          <p:nvPr/>
        </p:nvPicPr>
        <p:blipFill rotWithShape="1">
          <a:blip r:embed="rId4">
            <a:alphaModFix/>
          </a:blip>
          <a:srcRect b="0" l="0" r="0" t="0"/>
          <a:stretch/>
        </p:blipFill>
        <p:spPr>
          <a:xfrm>
            <a:off x="4864608" y="1572768"/>
            <a:ext cx="365760" cy="365760"/>
          </a:xfrm>
          <a:prstGeom prst="rect">
            <a:avLst/>
          </a:prstGeom>
          <a:noFill/>
          <a:ln>
            <a:noFill/>
          </a:ln>
        </p:spPr>
      </p:pic>
      <p:sp>
        <p:nvSpPr>
          <p:cNvPr id="154" name="Google Shape;154;p9"/>
          <p:cNvSpPr/>
          <p:nvPr/>
        </p:nvSpPr>
        <p:spPr>
          <a:xfrm>
            <a:off x="5321808" y="155448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300"/>
              <a:buFont typeface="Calibri"/>
              <a:buNone/>
            </a:pPr>
            <a:r>
              <a:rPr b="1" i="0" lang="en-US" sz="1300" u="none" cap="none" strike="noStrike">
                <a:solidFill>
                  <a:srgbClr val="0F766E"/>
                </a:solidFill>
                <a:latin typeface="Calibri"/>
                <a:ea typeface="Calibri"/>
                <a:cs typeface="Calibri"/>
                <a:sym typeface="Calibri"/>
              </a:rPr>
              <a:t>THE IDEA THAT FIXES IT</a:t>
            </a:r>
            <a:endParaRPr b="0" i="0" sz="1300" u="none" cap="none" strike="noStrike">
              <a:solidFill>
                <a:schemeClr val="dk1"/>
              </a:solidFill>
              <a:latin typeface="Calibri"/>
              <a:ea typeface="Calibri"/>
              <a:cs typeface="Calibri"/>
              <a:sym typeface="Calibri"/>
            </a:endParaRPr>
          </a:p>
        </p:txBody>
      </p:sp>
      <p:sp>
        <p:nvSpPr>
          <p:cNvPr id="155" name="Google Shape;155;p9"/>
          <p:cNvSpPr/>
          <p:nvPr/>
        </p:nvSpPr>
        <p:spPr>
          <a:xfrm>
            <a:off x="488289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Automate the whole path from "code pushed" to "tested and deployed" so releasing becomes boring and repeatable. CI = auto-build &amp; test every change. CD = auto-ship it.</a:t>
            </a:r>
            <a:endParaRPr b="0" i="0" sz="1350" u="none" cap="none" strike="noStrike">
              <a:solidFill>
                <a:schemeClr val="dk1"/>
              </a:solidFill>
              <a:latin typeface="Calibri"/>
              <a:ea typeface="Calibri"/>
              <a:cs typeface="Calibri"/>
              <a:sym typeface="Calibri"/>
            </a:endParaRPr>
          </a:p>
        </p:txBody>
      </p:sp>
      <p:sp>
        <p:nvSpPr>
          <p:cNvPr id="156" name="Google Shape;156;p9"/>
          <p:cNvSpPr/>
          <p:nvPr/>
        </p:nvSpPr>
        <p:spPr>
          <a:xfrm>
            <a:off x="457200" y="354787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1" i="0" lang="en-US" sz="1150" u="none" cap="none" strike="noStrike">
                <a:solidFill>
                  <a:srgbClr val="64748B"/>
                </a:solidFill>
                <a:latin typeface="Calibri"/>
                <a:ea typeface="Calibri"/>
                <a:cs typeface="Calibri"/>
                <a:sym typeface="Calibri"/>
              </a:rPr>
              <a:t>TOOLS YOU'LL MEET</a:t>
            </a:r>
            <a:endParaRPr b="0" i="0" sz="1150" u="none" cap="none" strike="noStrike">
              <a:solidFill>
                <a:schemeClr val="dk1"/>
              </a:solidFill>
              <a:latin typeface="Calibri"/>
              <a:ea typeface="Calibri"/>
              <a:cs typeface="Calibri"/>
              <a:sym typeface="Calibri"/>
            </a:endParaRPr>
          </a:p>
        </p:txBody>
      </p:sp>
      <p:sp>
        <p:nvSpPr>
          <p:cNvPr id="157" name="Google Shape;157;p9"/>
          <p:cNvSpPr/>
          <p:nvPr/>
        </p:nvSpPr>
        <p:spPr>
          <a:xfrm>
            <a:off x="457200" y="3877056"/>
            <a:ext cx="1046074" cy="420624"/>
          </a:xfrm>
          <a:prstGeom prst="roundRect">
            <a:avLst>
              <a:gd fmla="val 17391" name="adj"/>
            </a:avLst>
          </a:prstGeom>
          <a:solidFill>
            <a:srgbClr val="0D9488"/>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457200" y="3877056"/>
            <a:ext cx="104607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Jenkins</a:t>
            </a:r>
            <a:endParaRPr b="0" i="0" sz="1250" u="none" cap="none" strike="noStrike">
              <a:solidFill>
                <a:schemeClr val="dk1"/>
              </a:solidFill>
              <a:latin typeface="Calibri"/>
              <a:ea typeface="Calibri"/>
              <a:cs typeface="Calibri"/>
              <a:sym typeface="Calibri"/>
            </a:endParaRPr>
          </a:p>
        </p:txBody>
      </p:sp>
      <p:sp>
        <p:nvSpPr>
          <p:cNvPr id="159" name="Google Shape;159;p9"/>
          <p:cNvSpPr/>
          <p:nvPr/>
        </p:nvSpPr>
        <p:spPr>
          <a:xfrm>
            <a:off x="1649578" y="3877056"/>
            <a:ext cx="1634947"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1649578" y="3877056"/>
            <a:ext cx="1634947"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GitHub Actions</a:t>
            </a:r>
            <a:endParaRPr b="0" i="0" sz="1250" u="none" cap="none" strike="noStrike">
              <a:solidFill>
                <a:schemeClr val="dk1"/>
              </a:solidFill>
              <a:latin typeface="Calibri"/>
              <a:ea typeface="Calibri"/>
              <a:cs typeface="Calibri"/>
              <a:sym typeface="Calibri"/>
            </a:endParaRPr>
          </a:p>
        </p:txBody>
      </p:sp>
      <p:sp>
        <p:nvSpPr>
          <p:cNvPr id="161" name="Google Shape;161;p9"/>
          <p:cNvSpPr/>
          <p:nvPr/>
        </p:nvSpPr>
        <p:spPr>
          <a:xfrm>
            <a:off x="3430829" y="3877056"/>
            <a:ext cx="1214323"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3430829" y="3877056"/>
            <a:ext cx="1214323"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GitLab CI</a:t>
            </a:r>
            <a:endParaRPr b="0" i="0" sz="1250" u="none" cap="none" strike="noStrike">
              <a:solidFill>
                <a:schemeClr val="dk1"/>
              </a:solidFill>
              <a:latin typeface="Calibri"/>
              <a:ea typeface="Calibri"/>
              <a:cs typeface="Calibri"/>
              <a:sym typeface="Calibri"/>
            </a:endParaRPr>
          </a:p>
        </p:txBody>
      </p:sp>
      <p:sp>
        <p:nvSpPr>
          <p:cNvPr id="163" name="Google Shape;163;p9"/>
          <p:cNvSpPr/>
          <p:nvPr/>
        </p:nvSpPr>
        <p:spPr>
          <a:xfrm>
            <a:off x="4837176" y="3877056"/>
            <a:ext cx="3895344"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This is the spine the whole course builds toward</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8" name="Shape 168"/>
        <p:cNvGrpSpPr/>
        <p:nvPr/>
      </p:nvGrpSpPr>
      <p:grpSpPr>
        <a:xfrm>
          <a:off x="0" y="0"/>
          <a:ext cx="0" cy="0"/>
          <a:chOff x="0" y="0"/>
          <a:chExt cx="0" cy="0"/>
        </a:xfrm>
      </p:grpSpPr>
      <p:sp>
        <p:nvSpPr>
          <p:cNvPr id="169" name="Google Shape;169;p10"/>
          <p:cNvSpPr/>
          <p:nvPr/>
        </p:nvSpPr>
        <p:spPr>
          <a:xfrm>
            <a:off x="457200" y="292608"/>
            <a:ext cx="914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3000"/>
              <a:buFont typeface="Bookman Old Style"/>
              <a:buNone/>
            </a:pPr>
            <a:r>
              <a:rPr b="1" i="0" lang="en-US" sz="3000" u="none" cap="none" strike="noStrike">
                <a:solidFill>
                  <a:srgbClr val="F97316"/>
                </a:solidFill>
                <a:latin typeface="Bookman Old Style"/>
                <a:ea typeface="Bookman Old Style"/>
                <a:cs typeface="Bookman Old Style"/>
                <a:sym typeface="Bookman Old Style"/>
              </a:rPr>
              <a:t>05</a:t>
            </a:r>
            <a:endParaRPr b="0" i="0" sz="3000" u="none" cap="none" strike="noStrike">
              <a:solidFill>
                <a:schemeClr val="dk1"/>
              </a:solidFill>
              <a:latin typeface="Calibri"/>
              <a:ea typeface="Calibri"/>
              <a:cs typeface="Calibri"/>
              <a:sym typeface="Calibri"/>
            </a:endParaRPr>
          </a:p>
        </p:txBody>
      </p:sp>
      <p:sp>
        <p:nvSpPr>
          <p:cNvPr id="170" name="Google Shape;170;p10"/>
          <p:cNvSpPr/>
          <p:nvPr/>
        </p:nvSpPr>
        <p:spPr>
          <a:xfrm>
            <a:off x="1234440" y="292608"/>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000"/>
              <a:buFont typeface="Bookman Old Style"/>
              <a:buNone/>
            </a:pPr>
            <a:r>
              <a:rPr b="1" i="0" lang="en-US" sz="3000" u="none" cap="none" strike="noStrike">
                <a:solidFill>
                  <a:srgbClr val="0F172A"/>
                </a:solidFill>
                <a:latin typeface="Bookman Old Style"/>
                <a:ea typeface="Bookman Old Style"/>
                <a:cs typeface="Bookman Old Style"/>
                <a:sym typeface="Bookman Old Style"/>
              </a:rPr>
              <a:t>Config Management &amp; Infra as Code</a:t>
            </a:r>
            <a:endParaRPr b="0" i="0" sz="3000" u="none" cap="none" strike="noStrike">
              <a:solidFill>
                <a:schemeClr val="dk1"/>
              </a:solidFill>
              <a:latin typeface="Calibri"/>
              <a:ea typeface="Calibri"/>
              <a:cs typeface="Calibri"/>
              <a:sym typeface="Calibri"/>
            </a:endParaRPr>
          </a:p>
        </p:txBody>
      </p:sp>
      <p:sp>
        <p:nvSpPr>
          <p:cNvPr id="171" name="Google Shape;171;p10"/>
          <p:cNvSpPr/>
          <p:nvPr/>
        </p:nvSpPr>
        <p:spPr>
          <a:xfrm>
            <a:off x="1252728" y="841248"/>
            <a:ext cx="7406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400"/>
              <a:buFont typeface="Calibri"/>
              <a:buNone/>
            </a:pPr>
            <a:r>
              <a:rPr b="0" i="1" lang="en-US" sz="1400" u="none" cap="none" strike="noStrike">
                <a:solidFill>
                  <a:srgbClr val="C2410C"/>
                </a:solidFill>
                <a:latin typeface="Calibri"/>
                <a:ea typeface="Calibri"/>
                <a:cs typeface="Calibri"/>
                <a:sym typeface="Calibri"/>
              </a:rPr>
              <a:t>“I set up that server by hand months ago — and now I can't reproduce it.”</a:t>
            </a:r>
            <a:endParaRPr b="0" i="0" sz="1400" u="none" cap="none" strike="noStrike">
              <a:solidFill>
                <a:schemeClr val="dk1"/>
              </a:solidFill>
              <a:latin typeface="Calibri"/>
              <a:ea typeface="Calibri"/>
              <a:cs typeface="Calibri"/>
              <a:sym typeface="Calibri"/>
            </a:endParaRPr>
          </a:p>
        </p:txBody>
      </p:sp>
      <p:sp>
        <p:nvSpPr>
          <p:cNvPr id="172" name="Google Shape;172;p10"/>
          <p:cNvSpPr/>
          <p:nvPr/>
        </p:nvSpPr>
        <p:spPr>
          <a:xfrm>
            <a:off x="457200" y="1371600"/>
            <a:ext cx="4023360" cy="2011680"/>
          </a:xfrm>
          <a:prstGeom prst="roundRect">
            <a:avLst>
              <a:gd fmla="val 4545" name="adj"/>
            </a:avLst>
          </a:prstGeom>
          <a:solidFill>
            <a:srgbClr val="FFF7ED"/>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3" name="Google Shape;173;p10"/>
          <p:cNvPicPr preferRelativeResize="0"/>
          <p:nvPr/>
        </p:nvPicPr>
        <p:blipFill rotWithShape="1">
          <a:blip r:embed="rId3">
            <a:alphaModFix/>
          </a:blip>
          <a:srcRect b="0" l="0" r="0" t="0"/>
          <a:stretch/>
        </p:blipFill>
        <p:spPr>
          <a:xfrm>
            <a:off x="658368" y="1572768"/>
            <a:ext cx="365760" cy="365760"/>
          </a:xfrm>
          <a:prstGeom prst="rect">
            <a:avLst/>
          </a:prstGeom>
          <a:noFill/>
          <a:ln>
            <a:noFill/>
          </a:ln>
        </p:spPr>
      </p:pic>
      <p:sp>
        <p:nvSpPr>
          <p:cNvPr id="174" name="Google Shape;174;p10"/>
          <p:cNvSpPr/>
          <p:nvPr/>
        </p:nvSpPr>
        <p:spPr>
          <a:xfrm>
            <a:off x="1115568" y="1554480"/>
            <a:ext cx="2743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THE PROBLEM</a:t>
            </a:r>
            <a:endParaRPr b="0" i="0" sz="1300" u="none" cap="none" strike="noStrike">
              <a:solidFill>
                <a:schemeClr val="dk1"/>
              </a:solidFill>
              <a:latin typeface="Calibri"/>
              <a:ea typeface="Calibri"/>
              <a:cs typeface="Calibri"/>
              <a:sym typeface="Calibri"/>
            </a:endParaRPr>
          </a:p>
        </p:txBody>
      </p:sp>
      <p:sp>
        <p:nvSpPr>
          <p:cNvPr id="175" name="Google Shape;175;p10"/>
          <p:cNvSpPr/>
          <p:nvPr/>
        </p:nvSpPr>
        <p:spPr>
          <a:xfrm>
            <a:off x="67665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Servers configured manually become unique 'snowflakes' nobody can rebuild. When one dies, or you need ten more just like it, you're stuck reconstructing magic from memory.</a:t>
            </a:r>
            <a:endParaRPr b="0" i="0" sz="1350" u="none" cap="none" strike="noStrike">
              <a:solidFill>
                <a:schemeClr val="dk1"/>
              </a:solidFill>
              <a:latin typeface="Calibri"/>
              <a:ea typeface="Calibri"/>
              <a:cs typeface="Calibri"/>
              <a:sym typeface="Calibri"/>
            </a:endParaRPr>
          </a:p>
        </p:txBody>
      </p:sp>
      <p:sp>
        <p:nvSpPr>
          <p:cNvPr id="176" name="Google Shape;176;p10"/>
          <p:cNvSpPr/>
          <p:nvPr/>
        </p:nvSpPr>
        <p:spPr>
          <a:xfrm>
            <a:off x="4663440" y="1371600"/>
            <a:ext cx="4023360" cy="2011680"/>
          </a:xfrm>
          <a:prstGeom prst="roundRect">
            <a:avLst>
              <a:gd fmla="val 4545" name="adj"/>
            </a:avLst>
          </a:prstGeom>
          <a:solidFill>
            <a:srgbClr val="F0FDFA"/>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7" name="Google Shape;177;p10"/>
          <p:cNvPicPr preferRelativeResize="0"/>
          <p:nvPr/>
        </p:nvPicPr>
        <p:blipFill rotWithShape="1">
          <a:blip r:embed="rId4">
            <a:alphaModFix/>
          </a:blip>
          <a:srcRect b="0" l="0" r="0" t="0"/>
          <a:stretch/>
        </p:blipFill>
        <p:spPr>
          <a:xfrm>
            <a:off x="4864608" y="1572768"/>
            <a:ext cx="365760" cy="365760"/>
          </a:xfrm>
          <a:prstGeom prst="rect">
            <a:avLst/>
          </a:prstGeom>
          <a:noFill/>
          <a:ln>
            <a:noFill/>
          </a:ln>
        </p:spPr>
      </p:pic>
      <p:sp>
        <p:nvSpPr>
          <p:cNvPr id="178" name="Google Shape;178;p10"/>
          <p:cNvSpPr/>
          <p:nvPr/>
        </p:nvSpPr>
        <p:spPr>
          <a:xfrm>
            <a:off x="5321808" y="155448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300"/>
              <a:buFont typeface="Calibri"/>
              <a:buNone/>
            </a:pPr>
            <a:r>
              <a:rPr b="1" i="0" lang="en-US" sz="1300" u="none" cap="none" strike="noStrike">
                <a:solidFill>
                  <a:srgbClr val="0F766E"/>
                </a:solidFill>
                <a:latin typeface="Calibri"/>
                <a:ea typeface="Calibri"/>
                <a:cs typeface="Calibri"/>
                <a:sym typeface="Calibri"/>
              </a:rPr>
              <a:t>THE IDEA THAT FIXES IT</a:t>
            </a:r>
            <a:endParaRPr b="0" i="0" sz="1300" u="none" cap="none" strike="noStrike">
              <a:solidFill>
                <a:schemeClr val="dk1"/>
              </a:solidFill>
              <a:latin typeface="Calibri"/>
              <a:ea typeface="Calibri"/>
              <a:cs typeface="Calibri"/>
              <a:sym typeface="Calibri"/>
            </a:endParaRPr>
          </a:p>
        </p:txBody>
      </p:sp>
      <p:sp>
        <p:nvSpPr>
          <p:cNvPr id="179" name="Google Shape;179;p10"/>
          <p:cNvSpPr/>
          <p:nvPr/>
        </p:nvSpPr>
        <p:spPr>
          <a:xfrm>
            <a:off x="488289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Describe your infrastructure and configuration AS CODE — version it, review it, and run it to recreate everything from scratch, identically, on demand.</a:t>
            </a:r>
            <a:endParaRPr b="0" i="0" sz="1350" u="none" cap="none" strike="noStrike">
              <a:solidFill>
                <a:schemeClr val="dk1"/>
              </a:solidFill>
              <a:latin typeface="Calibri"/>
              <a:ea typeface="Calibri"/>
              <a:cs typeface="Calibri"/>
              <a:sym typeface="Calibri"/>
            </a:endParaRPr>
          </a:p>
        </p:txBody>
      </p:sp>
      <p:sp>
        <p:nvSpPr>
          <p:cNvPr id="180" name="Google Shape;180;p10"/>
          <p:cNvSpPr/>
          <p:nvPr/>
        </p:nvSpPr>
        <p:spPr>
          <a:xfrm>
            <a:off x="457200" y="354787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1" i="0" lang="en-US" sz="1150" u="none" cap="none" strike="noStrike">
                <a:solidFill>
                  <a:srgbClr val="64748B"/>
                </a:solidFill>
                <a:latin typeface="Calibri"/>
                <a:ea typeface="Calibri"/>
                <a:cs typeface="Calibri"/>
                <a:sym typeface="Calibri"/>
              </a:rPr>
              <a:t>TOOLS YOU'LL MEET</a:t>
            </a:r>
            <a:endParaRPr b="0" i="0" sz="1150" u="none" cap="none" strike="noStrike">
              <a:solidFill>
                <a:schemeClr val="dk1"/>
              </a:solidFill>
              <a:latin typeface="Calibri"/>
              <a:ea typeface="Calibri"/>
              <a:cs typeface="Calibri"/>
              <a:sym typeface="Calibri"/>
            </a:endParaRPr>
          </a:p>
        </p:txBody>
      </p:sp>
      <p:sp>
        <p:nvSpPr>
          <p:cNvPr id="181" name="Google Shape;181;p10"/>
          <p:cNvSpPr/>
          <p:nvPr/>
        </p:nvSpPr>
        <p:spPr>
          <a:xfrm>
            <a:off x="457200" y="3877056"/>
            <a:ext cx="1046074" cy="420624"/>
          </a:xfrm>
          <a:prstGeom prst="roundRect">
            <a:avLst>
              <a:gd fmla="val 17391" name="adj"/>
            </a:avLst>
          </a:prstGeom>
          <a:solidFill>
            <a:srgbClr val="0D9488"/>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0"/>
          <p:cNvSpPr/>
          <p:nvPr/>
        </p:nvSpPr>
        <p:spPr>
          <a:xfrm>
            <a:off x="457200" y="3877056"/>
            <a:ext cx="104607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Ansible</a:t>
            </a:r>
            <a:endParaRPr b="0" i="0" sz="1250" u="none" cap="none" strike="noStrike">
              <a:solidFill>
                <a:schemeClr val="dk1"/>
              </a:solidFill>
              <a:latin typeface="Calibri"/>
              <a:ea typeface="Calibri"/>
              <a:cs typeface="Calibri"/>
              <a:sym typeface="Calibri"/>
            </a:endParaRPr>
          </a:p>
        </p:txBody>
      </p:sp>
      <p:sp>
        <p:nvSpPr>
          <p:cNvPr id="183" name="Google Shape;183;p10"/>
          <p:cNvSpPr/>
          <p:nvPr/>
        </p:nvSpPr>
        <p:spPr>
          <a:xfrm>
            <a:off x="1649578" y="3877056"/>
            <a:ext cx="1214323"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1649578" y="3877056"/>
            <a:ext cx="1214323"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Terraform</a:t>
            </a:r>
            <a:endParaRPr b="0" i="0" sz="1250" u="none" cap="none" strike="noStrike">
              <a:solidFill>
                <a:schemeClr val="dk1"/>
              </a:solidFill>
              <a:latin typeface="Calibri"/>
              <a:ea typeface="Calibri"/>
              <a:cs typeface="Calibri"/>
              <a:sym typeface="Calibri"/>
            </a:endParaRPr>
          </a:p>
        </p:txBody>
      </p:sp>
      <p:sp>
        <p:nvSpPr>
          <p:cNvPr id="185" name="Google Shape;185;p10"/>
          <p:cNvSpPr/>
          <p:nvPr/>
        </p:nvSpPr>
        <p:spPr>
          <a:xfrm>
            <a:off x="3010205" y="3877056"/>
            <a:ext cx="1130198"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0"/>
          <p:cNvSpPr/>
          <p:nvPr/>
        </p:nvSpPr>
        <p:spPr>
          <a:xfrm>
            <a:off x="3010205" y="3877056"/>
            <a:ext cx="1130198"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OpenTofu</a:t>
            </a:r>
            <a:endParaRPr b="0" i="0" sz="1250" u="none" cap="none" strike="noStrike">
              <a:solidFill>
                <a:schemeClr val="dk1"/>
              </a:solidFill>
              <a:latin typeface="Calibri"/>
              <a:ea typeface="Calibri"/>
              <a:cs typeface="Calibri"/>
              <a:sym typeface="Calibri"/>
            </a:endParaRPr>
          </a:p>
        </p:txBody>
      </p:sp>
      <p:sp>
        <p:nvSpPr>
          <p:cNvPr id="187" name="Google Shape;187;p10"/>
          <p:cNvSpPr/>
          <p:nvPr/>
        </p:nvSpPr>
        <p:spPr>
          <a:xfrm>
            <a:off x="4286707" y="3877056"/>
            <a:ext cx="1634947"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p:nvPr/>
        </p:nvSpPr>
        <p:spPr>
          <a:xfrm>
            <a:off x="4286707" y="3877056"/>
            <a:ext cx="1634947"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CloudFormation</a:t>
            </a:r>
            <a:endParaRPr b="0" i="0" sz="1250" u="none" cap="none" strike="noStrike">
              <a:solidFill>
                <a:schemeClr val="dk1"/>
              </a:solidFill>
              <a:latin typeface="Calibri"/>
              <a:ea typeface="Calibri"/>
              <a:cs typeface="Calibri"/>
              <a:sym typeface="Calibri"/>
            </a:endParaRPr>
          </a:p>
        </p:txBody>
      </p:sp>
      <p:sp>
        <p:nvSpPr>
          <p:cNvPr id="189" name="Google Shape;189;p10"/>
          <p:cNvSpPr/>
          <p:nvPr/>
        </p:nvSpPr>
        <p:spPr>
          <a:xfrm>
            <a:off x="6113678" y="3877056"/>
            <a:ext cx="2618842"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Configure existing machines  vs  provision the infra itself</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4" name="Shape 194"/>
        <p:cNvGrpSpPr/>
        <p:nvPr/>
      </p:nvGrpSpPr>
      <p:grpSpPr>
        <a:xfrm>
          <a:off x="0" y="0"/>
          <a:ext cx="0" cy="0"/>
          <a:chOff x="0" y="0"/>
          <a:chExt cx="0" cy="0"/>
        </a:xfrm>
      </p:grpSpPr>
      <p:sp>
        <p:nvSpPr>
          <p:cNvPr id="195" name="Google Shape;195;p11"/>
          <p:cNvSpPr/>
          <p:nvPr/>
        </p:nvSpPr>
        <p:spPr>
          <a:xfrm>
            <a:off x="457200" y="292608"/>
            <a:ext cx="914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7316"/>
              </a:buClr>
              <a:buSzPts val="3000"/>
              <a:buFont typeface="Bookman Old Style"/>
              <a:buNone/>
            </a:pPr>
            <a:r>
              <a:rPr b="1" i="0" lang="en-US" sz="3000" u="none" cap="none" strike="noStrike">
                <a:solidFill>
                  <a:srgbClr val="F97316"/>
                </a:solidFill>
                <a:latin typeface="Bookman Old Style"/>
                <a:ea typeface="Bookman Old Style"/>
                <a:cs typeface="Bookman Old Style"/>
                <a:sym typeface="Bookman Old Style"/>
              </a:rPr>
              <a:t>06</a:t>
            </a:r>
            <a:endParaRPr b="0" i="0" sz="3000" u="none" cap="none" strike="noStrike">
              <a:solidFill>
                <a:schemeClr val="dk1"/>
              </a:solidFill>
              <a:latin typeface="Calibri"/>
              <a:ea typeface="Calibri"/>
              <a:cs typeface="Calibri"/>
              <a:sym typeface="Calibri"/>
            </a:endParaRPr>
          </a:p>
        </p:txBody>
      </p:sp>
      <p:sp>
        <p:nvSpPr>
          <p:cNvPr id="196" name="Google Shape;196;p11"/>
          <p:cNvSpPr/>
          <p:nvPr/>
        </p:nvSpPr>
        <p:spPr>
          <a:xfrm>
            <a:off x="1234440" y="292608"/>
            <a:ext cx="74066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000"/>
              <a:buFont typeface="Bookman Old Style"/>
              <a:buNone/>
            </a:pPr>
            <a:r>
              <a:rPr b="1" i="0" lang="en-US" sz="3000" u="none" cap="none" strike="noStrike">
                <a:solidFill>
                  <a:srgbClr val="0F172A"/>
                </a:solidFill>
                <a:latin typeface="Bookman Old Style"/>
                <a:ea typeface="Bookman Old Style"/>
                <a:cs typeface="Bookman Old Style"/>
                <a:sym typeface="Bookman Old Style"/>
              </a:rPr>
              <a:t>Monitoring &amp; Observability</a:t>
            </a:r>
            <a:endParaRPr b="0" i="0" sz="3000" u="none" cap="none" strike="noStrike">
              <a:solidFill>
                <a:schemeClr val="dk1"/>
              </a:solidFill>
              <a:latin typeface="Calibri"/>
              <a:ea typeface="Calibri"/>
              <a:cs typeface="Calibri"/>
              <a:sym typeface="Calibri"/>
            </a:endParaRPr>
          </a:p>
        </p:txBody>
      </p:sp>
      <p:sp>
        <p:nvSpPr>
          <p:cNvPr id="197" name="Google Shape;197;p11"/>
          <p:cNvSpPr/>
          <p:nvPr/>
        </p:nvSpPr>
        <p:spPr>
          <a:xfrm>
            <a:off x="1252728" y="841248"/>
            <a:ext cx="7406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400"/>
              <a:buFont typeface="Calibri"/>
              <a:buNone/>
            </a:pPr>
            <a:r>
              <a:rPr b="0" i="1" lang="en-US" sz="1400" u="none" cap="none" strike="noStrike">
                <a:solidFill>
                  <a:srgbClr val="C2410C"/>
                </a:solidFill>
                <a:latin typeface="Calibri"/>
                <a:ea typeface="Calibri"/>
                <a:cs typeface="Calibri"/>
                <a:sym typeface="Calibri"/>
              </a:rPr>
              <a:t>“We only found out the site was down… from angry users.”</a:t>
            </a:r>
            <a:endParaRPr b="0" i="0" sz="1400" u="none" cap="none" strike="noStrike">
              <a:solidFill>
                <a:schemeClr val="dk1"/>
              </a:solidFill>
              <a:latin typeface="Calibri"/>
              <a:ea typeface="Calibri"/>
              <a:cs typeface="Calibri"/>
              <a:sym typeface="Calibri"/>
            </a:endParaRPr>
          </a:p>
        </p:txBody>
      </p:sp>
      <p:sp>
        <p:nvSpPr>
          <p:cNvPr id="198" name="Google Shape;198;p11"/>
          <p:cNvSpPr/>
          <p:nvPr/>
        </p:nvSpPr>
        <p:spPr>
          <a:xfrm>
            <a:off x="457200" y="1371600"/>
            <a:ext cx="4023360" cy="2011680"/>
          </a:xfrm>
          <a:prstGeom prst="roundRect">
            <a:avLst>
              <a:gd fmla="val 4545" name="adj"/>
            </a:avLst>
          </a:prstGeom>
          <a:solidFill>
            <a:srgbClr val="FFF7ED"/>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9" name="Google Shape;199;p11"/>
          <p:cNvPicPr preferRelativeResize="0"/>
          <p:nvPr/>
        </p:nvPicPr>
        <p:blipFill rotWithShape="1">
          <a:blip r:embed="rId3">
            <a:alphaModFix/>
          </a:blip>
          <a:srcRect b="0" l="0" r="0" t="0"/>
          <a:stretch/>
        </p:blipFill>
        <p:spPr>
          <a:xfrm>
            <a:off x="658368" y="1572768"/>
            <a:ext cx="365760" cy="365760"/>
          </a:xfrm>
          <a:prstGeom prst="rect">
            <a:avLst/>
          </a:prstGeom>
          <a:noFill/>
          <a:ln>
            <a:noFill/>
          </a:ln>
        </p:spPr>
      </p:pic>
      <p:sp>
        <p:nvSpPr>
          <p:cNvPr id="200" name="Google Shape;200;p11"/>
          <p:cNvSpPr/>
          <p:nvPr/>
        </p:nvSpPr>
        <p:spPr>
          <a:xfrm>
            <a:off x="1115568" y="1554480"/>
            <a:ext cx="2743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THE PROBLEM</a:t>
            </a:r>
            <a:endParaRPr b="0" i="0" sz="1300" u="none" cap="none" strike="noStrike">
              <a:solidFill>
                <a:schemeClr val="dk1"/>
              </a:solidFill>
              <a:latin typeface="Calibri"/>
              <a:ea typeface="Calibri"/>
              <a:cs typeface="Calibri"/>
              <a:sym typeface="Calibri"/>
            </a:endParaRPr>
          </a:p>
        </p:txBody>
      </p:sp>
      <p:sp>
        <p:nvSpPr>
          <p:cNvPr id="201" name="Google Shape;201;p11"/>
          <p:cNvSpPr/>
          <p:nvPr/>
        </p:nvSpPr>
        <p:spPr>
          <a:xfrm>
            <a:off x="67665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You're flying blind. There's no view into whether things are healthy, fast, or failing — so your users become your alerting system, and you're always reacting after the damage is done.</a:t>
            </a:r>
            <a:endParaRPr b="0" i="0" sz="1350" u="none" cap="none" strike="noStrike">
              <a:solidFill>
                <a:schemeClr val="dk1"/>
              </a:solidFill>
              <a:latin typeface="Calibri"/>
              <a:ea typeface="Calibri"/>
              <a:cs typeface="Calibri"/>
              <a:sym typeface="Calibri"/>
            </a:endParaRPr>
          </a:p>
        </p:txBody>
      </p:sp>
      <p:sp>
        <p:nvSpPr>
          <p:cNvPr id="202" name="Google Shape;202;p11"/>
          <p:cNvSpPr/>
          <p:nvPr/>
        </p:nvSpPr>
        <p:spPr>
          <a:xfrm>
            <a:off x="4663440" y="1371600"/>
            <a:ext cx="4023360" cy="2011680"/>
          </a:xfrm>
          <a:prstGeom prst="roundRect">
            <a:avLst>
              <a:gd fmla="val 4545" name="adj"/>
            </a:avLst>
          </a:prstGeom>
          <a:solidFill>
            <a:srgbClr val="F0FDFA"/>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 name="Google Shape;203;p11"/>
          <p:cNvPicPr preferRelativeResize="0"/>
          <p:nvPr/>
        </p:nvPicPr>
        <p:blipFill rotWithShape="1">
          <a:blip r:embed="rId4">
            <a:alphaModFix/>
          </a:blip>
          <a:srcRect b="0" l="0" r="0" t="0"/>
          <a:stretch/>
        </p:blipFill>
        <p:spPr>
          <a:xfrm>
            <a:off x="4864608" y="1572768"/>
            <a:ext cx="365760" cy="365760"/>
          </a:xfrm>
          <a:prstGeom prst="rect">
            <a:avLst/>
          </a:prstGeom>
          <a:noFill/>
          <a:ln>
            <a:noFill/>
          </a:ln>
        </p:spPr>
      </p:pic>
      <p:sp>
        <p:nvSpPr>
          <p:cNvPr id="204" name="Google Shape;204;p11"/>
          <p:cNvSpPr/>
          <p:nvPr/>
        </p:nvSpPr>
        <p:spPr>
          <a:xfrm>
            <a:off x="5321808" y="155448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300"/>
              <a:buFont typeface="Calibri"/>
              <a:buNone/>
            </a:pPr>
            <a:r>
              <a:rPr b="1" i="0" lang="en-US" sz="1300" u="none" cap="none" strike="noStrike">
                <a:solidFill>
                  <a:srgbClr val="0F766E"/>
                </a:solidFill>
                <a:latin typeface="Calibri"/>
                <a:ea typeface="Calibri"/>
                <a:cs typeface="Calibri"/>
                <a:sym typeface="Calibri"/>
              </a:rPr>
              <a:t>THE IDEA THAT FIXES IT</a:t>
            </a:r>
            <a:endParaRPr b="0" i="0" sz="1300" u="none" cap="none" strike="noStrike">
              <a:solidFill>
                <a:schemeClr val="dk1"/>
              </a:solidFill>
              <a:latin typeface="Calibri"/>
              <a:ea typeface="Calibri"/>
              <a:cs typeface="Calibri"/>
              <a:sym typeface="Calibri"/>
            </a:endParaRPr>
          </a:p>
        </p:txBody>
      </p:sp>
      <p:sp>
        <p:nvSpPr>
          <p:cNvPr id="205" name="Google Shape;205;p11"/>
          <p:cNvSpPr/>
          <p:nvPr/>
        </p:nvSpPr>
        <p:spPr>
          <a:xfrm>
            <a:off x="4882896" y="2084832"/>
            <a:ext cx="3584448"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Continuously collect metrics and logs, visualize them on dashboards, and get alerted automatically — so you catch problems BEFORE your users ever notice.</a:t>
            </a:r>
            <a:endParaRPr b="0" i="0" sz="1350" u="none" cap="none" strike="noStrike">
              <a:solidFill>
                <a:schemeClr val="dk1"/>
              </a:solidFill>
              <a:latin typeface="Calibri"/>
              <a:ea typeface="Calibri"/>
              <a:cs typeface="Calibri"/>
              <a:sym typeface="Calibri"/>
            </a:endParaRPr>
          </a:p>
        </p:txBody>
      </p:sp>
      <p:sp>
        <p:nvSpPr>
          <p:cNvPr id="206" name="Google Shape;206;p11"/>
          <p:cNvSpPr/>
          <p:nvPr/>
        </p:nvSpPr>
        <p:spPr>
          <a:xfrm>
            <a:off x="457200" y="3547872"/>
            <a:ext cx="2743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1" i="0" lang="en-US" sz="1150" u="none" cap="none" strike="noStrike">
                <a:solidFill>
                  <a:srgbClr val="64748B"/>
                </a:solidFill>
                <a:latin typeface="Calibri"/>
                <a:ea typeface="Calibri"/>
                <a:cs typeface="Calibri"/>
                <a:sym typeface="Calibri"/>
              </a:rPr>
              <a:t>TOOLS YOU'LL MEET</a:t>
            </a:r>
            <a:endParaRPr b="0" i="0" sz="1150" u="none" cap="none" strike="noStrike">
              <a:solidFill>
                <a:schemeClr val="dk1"/>
              </a:solidFill>
              <a:latin typeface="Calibri"/>
              <a:ea typeface="Calibri"/>
              <a:cs typeface="Calibri"/>
              <a:sym typeface="Calibri"/>
            </a:endParaRPr>
          </a:p>
        </p:txBody>
      </p:sp>
      <p:sp>
        <p:nvSpPr>
          <p:cNvPr id="207" name="Google Shape;207;p11"/>
          <p:cNvSpPr/>
          <p:nvPr/>
        </p:nvSpPr>
        <p:spPr>
          <a:xfrm>
            <a:off x="457200" y="3877056"/>
            <a:ext cx="1298448" cy="420624"/>
          </a:xfrm>
          <a:prstGeom prst="roundRect">
            <a:avLst>
              <a:gd fmla="val 17391" name="adj"/>
            </a:avLst>
          </a:prstGeom>
          <a:solidFill>
            <a:srgbClr val="0D9488"/>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1"/>
          <p:cNvSpPr/>
          <p:nvPr/>
        </p:nvSpPr>
        <p:spPr>
          <a:xfrm>
            <a:off x="457200" y="3877056"/>
            <a:ext cx="1298448"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Prometheus</a:t>
            </a:r>
            <a:endParaRPr b="0" i="0" sz="1250" u="none" cap="none" strike="noStrike">
              <a:solidFill>
                <a:schemeClr val="dk1"/>
              </a:solidFill>
              <a:latin typeface="Calibri"/>
              <a:ea typeface="Calibri"/>
              <a:cs typeface="Calibri"/>
              <a:sym typeface="Calibri"/>
            </a:endParaRPr>
          </a:p>
        </p:txBody>
      </p:sp>
      <p:sp>
        <p:nvSpPr>
          <p:cNvPr id="209" name="Google Shape;209;p11"/>
          <p:cNvSpPr/>
          <p:nvPr/>
        </p:nvSpPr>
        <p:spPr>
          <a:xfrm>
            <a:off x="1901952" y="3877056"/>
            <a:ext cx="1046074" cy="420624"/>
          </a:xfrm>
          <a:prstGeom prst="roundRect">
            <a:avLst>
              <a:gd fmla="val 17391" name="adj"/>
            </a:avLst>
          </a:prstGeom>
          <a:solidFill>
            <a:srgbClr val="FFFFFF"/>
          </a:solidFill>
          <a:ln cap="flat" cmpd="sng" w="12700">
            <a:solidFill>
              <a:srgbClr val="CBD5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a:off x="1901952" y="3877056"/>
            <a:ext cx="104607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Grafana</a:t>
            </a:r>
            <a:endParaRPr b="0" i="0" sz="1250" u="none" cap="none" strike="noStrike">
              <a:solidFill>
                <a:schemeClr val="dk1"/>
              </a:solidFill>
              <a:latin typeface="Calibri"/>
              <a:ea typeface="Calibri"/>
              <a:cs typeface="Calibri"/>
              <a:sym typeface="Calibri"/>
            </a:endParaRPr>
          </a:p>
        </p:txBody>
      </p:sp>
      <p:sp>
        <p:nvSpPr>
          <p:cNvPr id="211" name="Google Shape;211;p11"/>
          <p:cNvSpPr/>
          <p:nvPr/>
        </p:nvSpPr>
        <p:spPr>
          <a:xfrm>
            <a:off x="3140050" y="3877056"/>
            <a:ext cx="5592470" cy="4206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1" lang="en-US" sz="1100" u="none" cap="none" strike="noStrike">
                <a:solidFill>
                  <a:srgbClr val="64748B"/>
                </a:solidFill>
                <a:latin typeface="Calibri"/>
                <a:ea typeface="Calibri"/>
                <a:cs typeface="Calibri"/>
                <a:sym typeface="Calibri"/>
              </a:rPr>
              <a:t>Prometheus collects  ·  Grafana visualizes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16" name="Shape 216"/>
        <p:cNvGrpSpPr/>
        <p:nvPr/>
      </p:nvGrpSpPr>
      <p:grpSpPr>
        <a:xfrm>
          <a:off x="0" y="0"/>
          <a:ext cx="0" cy="0"/>
          <a:chOff x="0" y="0"/>
          <a:chExt cx="0" cy="0"/>
        </a:xfrm>
      </p:grpSpPr>
      <p:sp>
        <p:nvSpPr>
          <p:cNvPr id="217" name="Google Shape;217;p12"/>
          <p:cNvSpPr/>
          <p:nvPr/>
        </p:nvSpPr>
        <p:spPr>
          <a:xfrm>
            <a:off x="457200" y="3657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72A"/>
              </a:buClr>
              <a:buSzPts val="3200"/>
              <a:buFont typeface="Bookman Old Style"/>
              <a:buNone/>
            </a:pPr>
            <a:r>
              <a:rPr b="1" i="0" lang="en-US" sz="3200" u="none" cap="none" strike="noStrike">
                <a:solidFill>
                  <a:srgbClr val="0F172A"/>
                </a:solidFill>
                <a:latin typeface="Bookman Old Style"/>
                <a:ea typeface="Bookman Old Style"/>
                <a:cs typeface="Bookman Old Style"/>
                <a:sym typeface="Bookman Old Style"/>
              </a:rPr>
              <a:t>Six problems. One chain.</a:t>
            </a:r>
            <a:endParaRPr b="0" i="0" sz="3200" u="none" cap="none" strike="noStrike">
              <a:solidFill>
                <a:schemeClr val="dk1"/>
              </a:solidFill>
              <a:latin typeface="Calibri"/>
              <a:ea typeface="Calibri"/>
              <a:cs typeface="Calibri"/>
              <a:sym typeface="Calibri"/>
            </a:endParaRPr>
          </a:p>
        </p:txBody>
      </p:sp>
      <p:sp>
        <p:nvSpPr>
          <p:cNvPr id="218" name="Google Shape;218;p12"/>
          <p:cNvSpPr/>
          <p:nvPr/>
        </p:nvSpPr>
        <p:spPr>
          <a:xfrm>
            <a:off x="457200" y="932688"/>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400"/>
              <a:buFont typeface="Calibri"/>
              <a:buNone/>
            </a:pPr>
            <a:r>
              <a:rPr b="0" i="1" lang="en-US" sz="1400" u="none" cap="none" strike="noStrike">
                <a:solidFill>
                  <a:srgbClr val="64748B"/>
                </a:solidFill>
                <a:latin typeface="Calibri"/>
                <a:ea typeface="Calibri"/>
                <a:cs typeface="Calibri"/>
                <a:sym typeface="Calibri"/>
              </a:rPr>
              <a:t>They don't just sit side by side — each one feeds the next.</a:t>
            </a:r>
            <a:endParaRPr b="0" i="0" sz="1400" u="none" cap="none" strike="noStrike">
              <a:solidFill>
                <a:schemeClr val="dk1"/>
              </a:solidFill>
              <a:latin typeface="Calibri"/>
              <a:ea typeface="Calibri"/>
              <a:cs typeface="Calibri"/>
              <a:sym typeface="Calibri"/>
            </a:endParaRPr>
          </a:p>
        </p:txBody>
      </p:sp>
      <p:sp>
        <p:nvSpPr>
          <p:cNvPr id="219" name="Google Shape;219;p12"/>
          <p:cNvSpPr/>
          <p:nvPr/>
        </p:nvSpPr>
        <p:spPr>
          <a:xfrm>
            <a:off x="457200" y="1691640"/>
            <a:ext cx="1264920" cy="868680"/>
          </a:xfrm>
          <a:prstGeom prst="roundRect">
            <a:avLst>
              <a:gd fmla="val 8421" name="adj"/>
            </a:avLst>
          </a:prstGeom>
          <a:solidFill>
            <a:srgbClr val="0F172A"/>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2"/>
          <p:cNvSpPr/>
          <p:nvPr/>
        </p:nvSpPr>
        <p:spPr>
          <a:xfrm>
            <a:off x="457200" y="1691640"/>
            <a:ext cx="1264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Version</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Control</a:t>
            </a:r>
            <a:endParaRPr b="0" i="0" sz="1200" u="none" cap="none" strike="noStrike">
              <a:solidFill>
                <a:schemeClr val="dk1"/>
              </a:solidFill>
              <a:latin typeface="Calibri"/>
              <a:ea typeface="Calibri"/>
              <a:cs typeface="Calibri"/>
              <a:sym typeface="Calibri"/>
            </a:endParaRPr>
          </a:p>
        </p:txBody>
      </p:sp>
      <p:sp>
        <p:nvSpPr>
          <p:cNvPr id="221" name="Google Shape;221;p12"/>
          <p:cNvSpPr/>
          <p:nvPr/>
        </p:nvSpPr>
        <p:spPr>
          <a:xfrm>
            <a:off x="1703832" y="1691640"/>
            <a:ext cx="164592"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800"/>
              <a:buFont typeface="Calibri"/>
              <a:buNone/>
            </a:pPr>
            <a:r>
              <a:rPr b="1" i="0" lang="en-US" sz="1800" u="none" cap="none" strike="noStrike">
                <a:solidFill>
                  <a:srgbClr val="64748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22" name="Google Shape;222;p12"/>
          <p:cNvSpPr/>
          <p:nvPr/>
        </p:nvSpPr>
        <p:spPr>
          <a:xfrm>
            <a:off x="1850136" y="1691640"/>
            <a:ext cx="1264920" cy="868680"/>
          </a:xfrm>
          <a:prstGeom prst="roundRect">
            <a:avLst>
              <a:gd fmla="val 8421" name="adj"/>
            </a:avLst>
          </a:prstGeom>
          <a:solidFill>
            <a:srgbClr val="0D9488"/>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
          <p:cNvSpPr/>
          <p:nvPr/>
        </p:nvSpPr>
        <p:spPr>
          <a:xfrm>
            <a:off x="1850136" y="1691640"/>
            <a:ext cx="1264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CI / CD</a:t>
            </a:r>
            <a:endParaRPr b="0" i="0" sz="1200" u="none" cap="none" strike="noStrike">
              <a:solidFill>
                <a:schemeClr val="dk1"/>
              </a:solidFill>
              <a:latin typeface="Calibri"/>
              <a:ea typeface="Calibri"/>
              <a:cs typeface="Calibri"/>
              <a:sym typeface="Calibri"/>
            </a:endParaRPr>
          </a:p>
        </p:txBody>
      </p:sp>
      <p:sp>
        <p:nvSpPr>
          <p:cNvPr id="224" name="Google Shape;224;p12"/>
          <p:cNvSpPr/>
          <p:nvPr/>
        </p:nvSpPr>
        <p:spPr>
          <a:xfrm>
            <a:off x="3096768" y="1691640"/>
            <a:ext cx="164592"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800"/>
              <a:buFont typeface="Calibri"/>
              <a:buNone/>
            </a:pPr>
            <a:r>
              <a:rPr b="1" i="0" lang="en-US" sz="1800" u="none" cap="none" strike="noStrike">
                <a:solidFill>
                  <a:srgbClr val="64748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25" name="Google Shape;225;p12"/>
          <p:cNvSpPr/>
          <p:nvPr/>
        </p:nvSpPr>
        <p:spPr>
          <a:xfrm>
            <a:off x="3243072" y="1691640"/>
            <a:ext cx="1264920" cy="868680"/>
          </a:xfrm>
          <a:prstGeom prst="roundRect">
            <a:avLst>
              <a:gd fmla="val 8421" name="adj"/>
            </a:avLst>
          </a:prstGeom>
          <a:solidFill>
            <a:srgbClr val="0F172A"/>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
          <p:cNvSpPr/>
          <p:nvPr/>
        </p:nvSpPr>
        <p:spPr>
          <a:xfrm>
            <a:off x="3243072" y="1691640"/>
            <a:ext cx="1264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Containers</a:t>
            </a:r>
            <a:endParaRPr b="0" i="0" sz="1200" u="none" cap="none" strike="noStrike">
              <a:solidFill>
                <a:schemeClr val="dk1"/>
              </a:solidFill>
              <a:latin typeface="Calibri"/>
              <a:ea typeface="Calibri"/>
              <a:cs typeface="Calibri"/>
              <a:sym typeface="Calibri"/>
            </a:endParaRPr>
          </a:p>
        </p:txBody>
      </p:sp>
      <p:sp>
        <p:nvSpPr>
          <p:cNvPr id="227" name="Google Shape;227;p12"/>
          <p:cNvSpPr/>
          <p:nvPr/>
        </p:nvSpPr>
        <p:spPr>
          <a:xfrm>
            <a:off x="4489704" y="1691640"/>
            <a:ext cx="164592"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800"/>
              <a:buFont typeface="Calibri"/>
              <a:buNone/>
            </a:pPr>
            <a:r>
              <a:rPr b="1" i="0" lang="en-US" sz="1800" u="none" cap="none" strike="noStrike">
                <a:solidFill>
                  <a:srgbClr val="64748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28" name="Google Shape;228;p12"/>
          <p:cNvSpPr/>
          <p:nvPr/>
        </p:nvSpPr>
        <p:spPr>
          <a:xfrm>
            <a:off x="4636008" y="1691640"/>
            <a:ext cx="1264920" cy="868680"/>
          </a:xfrm>
          <a:prstGeom prst="roundRect">
            <a:avLst>
              <a:gd fmla="val 8421" name="adj"/>
            </a:avLst>
          </a:prstGeom>
          <a:solidFill>
            <a:srgbClr val="0D9488"/>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
          <p:cNvSpPr/>
          <p:nvPr/>
        </p:nvSpPr>
        <p:spPr>
          <a:xfrm>
            <a:off x="4636008" y="1691640"/>
            <a:ext cx="1264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Orchestration</a:t>
            </a:r>
            <a:endParaRPr b="0" i="0" sz="1200" u="none" cap="none" strike="noStrike">
              <a:solidFill>
                <a:schemeClr val="dk1"/>
              </a:solidFill>
              <a:latin typeface="Calibri"/>
              <a:ea typeface="Calibri"/>
              <a:cs typeface="Calibri"/>
              <a:sym typeface="Calibri"/>
            </a:endParaRPr>
          </a:p>
        </p:txBody>
      </p:sp>
      <p:sp>
        <p:nvSpPr>
          <p:cNvPr id="230" name="Google Shape;230;p12"/>
          <p:cNvSpPr/>
          <p:nvPr/>
        </p:nvSpPr>
        <p:spPr>
          <a:xfrm>
            <a:off x="5882640" y="1691640"/>
            <a:ext cx="164592"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800"/>
              <a:buFont typeface="Calibri"/>
              <a:buNone/>
            </a:pPr>
            <a:r>
              <a:rPr b="1" i="0" lang="en-US" sz="1800" u="none" cap="none" strike="noStrike">
                <a:solidFill>
                  <a:srgbClr val="64748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31" name="Google Shape;231;p12"/>
          <p:cNvSpPr/>
          <p:nvPr/>
        </p:nvSpPr>
        <p:spPr>
          <a:xfrm>
            <a:off x="6028944" y="1691640"/>
            <a:ext cx="1264920" cy="868680"/>
          </a:xfrm>
          <a:prstGeom prst="roundRect">
            <a:avLst>
              <a:gd fmla="val 8421" name="adj"/>
            </a:avLst>
          </a:prstGeom>
          <a:solidFill>
            <a:srgbClr val="0F172A"/>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p:nvPr/>
        </p:nvSpPr>
        <p:spPr>
          <a:xfrm>
            <a:off x="6028944" y="1691640"/>
            <a:ext cx="1264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Infra</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as Code</a:t>
            </a:r>
            <a:endParaRPr b="0" i="0" sz="1200" u="none" cap="none" strike="noStrike">
              <a:solidFill>
                <a:schemeClr val="dk1"/>
              </a:solidFill>
              <a:latin typeface="Calibri"/>
              <a:ea typeface="Calibri"/>
              <a:cs typeface="Calibri"/>
              <a:sym typeface="Calibri"/>
            </a:endParaRPr>
          </a:p>
        </p:txBody>
      </p:sp>
      <p:sp>
        <p:nvSpPr>
          <p:cNvPr id="233" name="Google Shape;233;p12"/>
          <p:cNvSpPr/>
          <p:nvPr/>
        </p:nvSpPr>
        <p:spPr>
          <a:xfrm>
            <a:off x="7275576" y="1691640"/>
            <a:ext cx="164592"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800"/>
              <a:buFont typeface="Calibri"/>
              <a:buNone/>
            </a:pPr>
            <a:r>
              <a:rPr b="1" i="0" lang="en-US" sz="1800" u="none" cap="none" strike="noStrike">
                <a:solidFill>
                  <a:srgbClr val="64748B"/>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34" name="Google Shape;234;p12"/>
          <p:cNvSpPr/>
          <p:nvPr/>
        </p:nvSpPr>
        <p:spPr>
          <a:xfrm>
            <a:off x="7421880" y="1691640"/>
            <a:ext cx="1264920" cy="868680"/>
          </a:xfrm>
          <a:prstGeom prst="roundRect">
            <a:avLst>
              <a:gd fmla="val 8421" name="adj"/>
            </a:avLst>
          </a:prstGeom>
          <a:solidFill>
            <a:srgbClr val="0D9488"/>
          </a:solidFill>
          <a:ln>
            <a:noFill/>
          </a:ln>
          <a:effectLst>
            <a:outerShdw blurRad="88900" rotWithShape="0" algn="bl" dir="2700000" dist="38100">
              <a:srgbClr val="94A3B8">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2"/>
          <p:cNvSpPr/>
          <p:nvPr/>
        </p:nvSpPr>
        <p:spPr>
          <a:xfrm>
            <a:off x="7421880" y="1691640"/>
            <a:ext cx="126492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Monitoring</a:t>
            </a:r>
            <a:endParaRPr b="0" i="0" sz="1200" u="none" cap="none" strike="noStrike">
              <a:solidFill>
                <a:schemeClr val="dk1"/>
              </a:solidFill>
              <a:latin typeface="Calibri"/>
              <a:ea typeface="Calibri"/>
              <a:cs typeface="Calibri"/>
              <a:sym typeface="Calibri"/>
            </a:endParaRPr>
          </a:p>
        </p:txBody>
      </p:sp>
      <p:sp>
        <p:nvSpPr>
          <p:cNvPr id="236" name="Google Shape;236;p12"/>
          <p:cNvSpPr/>
          <p:nvPr/>
        </p:nvSpPr>
        <p:spPr>
          <a:xfrm>
            <a:off x="640080" y="2834640"/>
            <a:ext cx="7863840" cy="64008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1E293B"/>
              </a:buClr>
              <a:buSzPts val="1350"/>
              <a:buFont typeface="Calibri"/>
              <a:buNone/>
            </a:pPr>
            <a:r>
              <a:rPr b="0" i="0" lang="en-US" sz="1350" u="none" cap="none" strike="noStrike">
                <a:solidFill>
                  <a:srgbClr val="1E293B"/>
                </a:solidFill>
                <a:latin typeface="Calibri"/>
                <a:ea typeface="Calibri"/>
                <a:cs typeface="Calibri"/>
                <a:sym typeface="Calibri"/>
              </a:rPr>
              <a:t>Code is versioned, a pipeline builds &amp; tests it, the result is a container, orchestration runs it, infra-as-code provisions the ground it runs on, and monitoring watches the whole thing.</a:t>
            </a:r>
            <a:endParaRPr b="0" i="0" sz="1350" u="none" cap="none" strike="noStrike">
              <a:solidFill>
                <a:schemeClr val="dk1"/>
              </a:solidFill>
              <a:latin typeface="Calibri"/>
              <a:ea typeface="Calibri"/>
              <a:cs typeface="Calibri"/>
              <a:sym typeface="Calibri"/>
            </a:endParaRPr>
          </a:p>
        </p:txBody>
      </p:sp>
      <p:sp>
        <p:nvSpPr>
          <p:cNvPr id="237" name="Google Shape;237;p12"/>
          <p:cNvSpPr/>
          <p:nvPr/>
        </p:nvSpPr>
        <p:spPr>
          <a:xfrm>
            <a:off x="914400" y="3657600"/>
            <a:ext cx="7315200" cy="960120"/>
          </a:xfrm>
          <a:prstGeom prst="roundRect">
            <a:avLst>
              <a:gd fmla="val 9524" name="adj"/>
            </a:avLst>
          </a:prstGeom>
          <a:solidFill>
            <a:srgbClr val="FFF7ED"/>
          </a:solidFill>
          <a:ln>
            <a:noFill/>
          </a:ln>
          <a:effectLst>
            <a:outerShdw blurRad="88900" rotWithShape="0" algn="bl" dir="2700000" dist="38100">
              <a:srgbClr val="94A3B8">
                <a:alpha val="1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2"/>
          <p:cNvSpPr/>
          <p:nvPr/>
        </p:nvSpPr>
        <p:spPr>
          <a:xfrm>
            <a:off x="1188720" y="3657600"/>
            <a:ext cx="6766560" cy="9601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C2410C"/>
              </a:buClr>
              <a:buSzPts val="1450"/>
              <a:buFont typeface="Calibri"/>
              <a:buNone/>
            </a:pPr>
            <a:r>
              <a:rPr b="1" i="0" lang="en-US" sz="1450" u="none" cap="none" strike="noStrike">
                <a:solidFill>
                  <a:srgbClr val="C2410C"/>
                </a:solidFill>
                <a:latin typeface="Calibri"/>
                <a:ea typeface="Calibri"/>
                <a:cs typeface="Calibri"/>
                <a:sym typeface="Calibri"/>
              </a:rPr>
              <a:t>The lesson that outlasts every tool:  </a:t>
            </a:r>
            <a:r>
              <a:rPr b="0" i="0" lang="en-US" sz="1450" u="none" cap="none" strike="noStrike">
                <a:solidFill>
                  <a:srgbClr val="1E293B"/>
                </a:solidFill>
                <a:latin typeface="Calibri"/>
                <a:ea typeface="Calibri"/>
                <a:cs typeface="Calibri"/>
                <a:sym typeface="Calibri"/>
              </a:rPr>
              <a:t>when a new tool appears in five years, don't panic — just ask “which of these problems does it solve?” and slot it in.</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43" name="Shape 243"/>
        <p:cNvGrpSpPr/>
        <p:nvPr/>
      </p:nvGrpSpPr>
      <p:grpSpPr>
        <a:xfrm>
          <a:off x="0" y="0"/>
          <a:ext cx="0" cy="0"/>
          <a:chOff x="0" y="0"/>
          <a:chExt cx="0" cy="0"/>
        </a:xfrm>
      </p:grpSpPr>
      <p:sp>
        <p:nvSpPr>
          <p:cNvPr id="244" name="Google Shape;244;p13"/>
          <p:cNvSpPr/>
          <p:nvPr/>
        </p:nvSpPr>
        <p:spPr>
          <a:xfrm>
            <a:off x="457200" y="45720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Bookman Old Style"/>
              <a:buNone/>
            </a:pPr>
            <a:r>
              <a:rPr b="1" i="0" lang="en-US" sz="3200" u="none" cap="none" strike="noStrike">
                <a:solidFill>
                  <a:srgbClr val="FFFFFF"/>
                </a:solidFill>
                <a:latin typeface="Bookman Old Style"/>
                <a:ea typeface="Bookman Old Style"/>
                <a:cs typeface="Bookman Old Style"/>
                <a:sym typeface="Bookman Old Style"/>
              </a:rPr>
              <a:t>Before next class</a:t>
            </a:r>
            <a:endParaRPr b="0" i="0" sz="3200" u="none" cap="none" strike="noStrike">
              <a:solidFill>
                <a:schemeClr val="dk1"/>
              </a:solidFill>
              <a:latin typeface="Calibri"/>
              <a:ea typeface="Calibri"/>
              <a:cs typeface="Calibri"/>
              <a:sym typeface="Calibri"/>
            </a:endParaRPr>
          </a:p>
        </p:txBody>
      </p:sp>
      <p:sp>
        <p:nvSpPr>
          <p:cNvPr id="245" name="Google Shape;245;p13"/>
          <p:cNvSpPr/>
          <p:nvPr/>
        </p:nvSpPr>
        <p:spPr>
          <a:xfrm>
            <a:off x="457200" y="1024128"/>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400"/>
              <a:buFont typeface="Calibri"/>
              <a:buNone/>
            </a:pPr>
            <a:r>
              <a:rPr b="0" i="1" lang="en-US" sz="1400" u="none" cap="none" strike="noStrike">
                <a:solidFill>
                  <a:srgbClr val="CBD5E1"/>
                </a:solidFill>
                <a:latin typeface="Calibri"/>
                <a:ea typeface="Calibri"/>
                <a:cs typeface="Calibri"/>
                <a:sym typeface="Calibri"/>
              </a:rPr>
              <a:t>Small, but do it — everything in Chapter 5 builds on this.</a:t>
            </a:r>
            <a:endParaRPr b="0" i="0" sz="1400" u="none" cap="none" strike="noStrike">
              <a:solidFill>
                <a:schemeClr val="dk1"/>
              </a:solidFill>
              <a:latin typeface="Calibri"/>
              <a:ea typeface="Calibri"/>
              <a:cs typeface="Calibri"/>
              <a:sym typeface="Calibri"/>
            </a:endParaRPr>
          </a:p>
        </p:txBody>
      </p:sp>
      <p:sp>
        <p:nvSpPr>
          <p:cNvPr id="246" name="Google Shape;246;p13"/>
          <p:cNvSpPr/>
          <p:nvPr/>
        </p:nvSpPr>
        <p:spPr>
          <a:xfrm>
            <a:off x="640080" y="1691640"/>
            <a:ext cx="7863840" cy="960120"/>
          </a:xfrm>
          <a:prstGeom prst="roundRect">
            <a:avLst>
              <a:gd fmla="val 9524" name="adj"/>
            </a:avLst>
          </a:prstGeom>
          <a:solidFill>
            <a:srgbClr val="1E293B"/>
          </a:solidFill>
          <a:ln>
            <a:noFill/>
          </a:ln>
          <a:effectLst>
            <a:outerShdw blurRad="88900" rotWithShape="0" algn="bl" dir="2700000" dist="38100">
              <a:srgbClr val="94A3B8">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
          <p:cNvSpPr/>
          <p:nvPr/>
        </p:nvSpPr>
        <p:spPr>
          <a:xfrm>
            <a:off x="868680" y="1938528"/>
            <a:ext cx="457200" cy="45720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3"/>
          <p:cNvSpPr/>
          <p:nvPr/>
        </p:nvSpPr>
        <p:spPr>
          <a:xfrm>
            <a:off x="868680" y="193852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Bookman Old Style"/>
              <a:buNone/>
            </a:pPr>
            <a:r>
              <a:rPr b="1" i="0" lang="en-US" sz="2000" u="none" cap="none" strike="noStrike">
                <a:solidFill>
                  <a:srgbClr val="FFFFFF"/>
                </a:solidFill>
                <a:latin typeface="Bookman Old Style"/>
                <a:ea typeface="Bookman Old Style"/>
                <a:cs typeface="Bookman Old Style"/>
                <a:sym typeface="Bookman Old Style"/>
              </a:rPr>
              <a:t>1</a:t>
            </a:r>
            <a:endParaRPr b="0" i="0" sz="2000" u="none" cap="none" strike="noStrike">
              <a:solidFill>
                <a:schemeClr val="dk1"/>
              </a:solidFill>
              <a:latin typeface="Calibri"/>
              <a:ea typeface="Calibri"/>
              <a:cs typeface="Calibri"/>
              <a:sym typeface="Calibri"/>
            </a:endParaRPr>
          </a:p>
        </p:txBody>
      </p:sp>
      <p:sp>
        <p:nvSpPr>
          <p:cNvPr id="249" name="Google Shape;249;p13"/>
          <p:cNvSpPr/>
          <p:nvPr/>
        </p:nvSpPr>
        <p:spPr>
          <a:xfrm>
            <a:off x="1508760" y="1837944"/>
            <a:ext cx="67665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50"/>
              <a:buFont typeface="Calibri"/>
              <a:buNone/>
            </a:pPr>
            <a:r>
              <a:rPr b="1" i="0" lang="en-US" sz="1650" u="none" cap="none" strike="noStrike">
                <a:solidFill>
                  <a:srgbClr val="FFFFFF"/>
                </a:solidFill>
                <a:latin typeface="Calibri"/>
                <a:ea typeface="Calibri"/>
                <a:cs typeface="Calibri"/>
                <a:sym typeface="Calibri"/>
              </a:rPr>
              <a:t>Create a GitHub account</a:t>
            </a:r>
            <a:endParaRPr b="0" i="0" sz="1650" u="none" cap="none" strike="noStrike">
              <a:solidFill>
                <a:schemeClr val="dk1"/>
              </a:solidFill>
              <a:latin typeface="Calibri"/>
              <a:ea typeface="Calibri"/>
              <a:cs typeface="Calibri"/>
              <a:sym typeface="Calibri"/>
            </a:endParaRPr>
          </a:p>
        </p:txBody>
      </p:sp>
      <p:sp>
        <p:nvSpPr>
          <p:cNvPr id="250" name="Google Shape;250;p13"/>
          <p:cNvSpPr/>
          <p:nvPr/>
        </p:nvSpPr>
        <p:spPr>
          <a:xfrm>
            <a:off x="1508760" y="2203704"/>
            <a:ext cx="6766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50"/>
              <a:buFont typeface="Calibri"/>
              <a:buNone/>
            </a:pPr>
            <a:r>
              <a:rPr b="0" i="0" lang="en-US" sz="1250" u="none" cap="none" strike="noStrike">
                <a:solidFill>
                  <a:srgbClr val="94A3B8"/>
                </a:solidFill>
                <a:latin typeface="Calibri"/>
                <a:ea typeface="Calibri"/>
                <a:cs typeface="Calibri"/>
                <a:sym typeface="Calibri"/>
              </a:rPr>
              <a:t>Free. Use a name you don't mind being public — it's your portfolio later.</a:t>
            </a:r>
            <a:endParaRPr b="0" i="0" sz="1250" u="none" cap="none" strike="noStrike">
              <a:solidFill>
                <a:schemeClr val="dk1"/>
              </a:solidFill>
              <a:latin typeface="Calibri"/>
              <a:ea typeface="Calibri"/>
              <a:cs typeface="Calibri"/>
              <a:sym typeface="Calibri"/>
            </a:endParaRPr>
          </a:p>
        </p:txBody>
      </p:sp>
      <p:sp>
        <p:nvSpPr>
          <p:cNvPr id="251" name="Google Shape;251;p13"/>
          <p:cNvSpPr/>
          <p:nvPr/>
        </p:nvSpPr>
        <p:spPr>
          <a:xfrm>
            <a:off x="640080" y="2788920"/>
            <a:ext cx="7863840" cy="960120"/>
          </a:xfrm>
          <a:prstGeom prst="roundRect">
            <a:avLst>
              <a:gd fmla="val 9524" name="adj"/>
            </a:avLst>
          </a:prstGeom>
          <a:solidFill>
            <a:srgbClr val="1E293B"/>
          </a:solidFill>
          <a:ln>
            <a:noFill/>
          </a:ln>
          <a:effectLst>
            <a:outerShdw blurRad="88900" rotWithShape="0" algn="bl" dir="2700000" dist="38100">
              <a:srgbClr val="94A3B8">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3"/>
          <p:cNvSpPr/>
          <p:nvPr/>
        </p:nvSpPr>
        <p:spPr>
          <a:xfrm>
            <a:off x="868680" y="3035808"/>
            <a:ext cx="457200" cy="457200"/>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3"/>
          <p:cNvSpPr/>
          <p:nvPr/>
        </p:nvSpPr>
        <p:spPr>
          <a:xfrm>
            <a:off x="868680" y="30358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Bookman Old Style"/>
              <a:buNone/>
            </a:pPr>
            <a:r>
              <a:rPr b="1" i="0" lang="en-US" sz="2000" u="none" cap="none" strike="noStrike">
                <a:solidFill>
                  <a:srgbClr val="FFFFFF"/>
                </a:solidFill>
                <a:latin typeface="Bookman Old Style"/>
                <a:ea typeface="Bookman Old Style"/>
                <a:cs typeface="Bookman Old Style"/>
                <a:sym typeface="Bookman Old Style"/>
              </a:rPr>
              <a:t>2</a:t>
            </a:r>
            <a:endParaRPr b="0" i="0" sz="2000" u="none" cap="none" strike="noStrike">
              <a:solidFill>
                <a:schemeClr val="dk1"/>
              </a:solidFill>
              <a:latin typeface="Calibri"/>
              <a:ea typeface="Calibri"/>
              <a:cs typeface="Calibri"/>
              <a:sym typeface="Calibri"/>
            </a:endParaRPr>
          </a:p>
        </p:txBody>
      </p:sp>
      <p:sp>
        <p:nvSpPr>
          <p:cNvPr id="254" name="Google Shape;254;p13"/>
          <p:cNvSpPr/>
          <p:nvPr/>
        </p:nvSpPr>
        <p:spPr>
          <a:xfrm>
            <a:off x="1508760" y="2935224"/>
            <a:ext cx="67665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50"/>
              <a:buFont typeface="Calibri"/>
              <a:buNone/>
            </a:pPr>
            <a:r>
              <a:rPr b="1" i="0" lang="en-US" sz="1650" u="none" cap="none" strike="noStrike">
                <a:solidFill>
                  <a:srgbClr val="FFFFFF"/>
                </a:solidFill>
                <a:latin typeface="Calibri"/>
                <a:ea typeface="Calibri"/>
                <a:cs typeface="Calibri"/>
                <a:sym typeface="Calibri"/>
              </a:rPr>
              <a:t>Make one repository and put a single file in it</a:t>
            </a:r>
            <a:endParaRPr b="0" i="0" sz="1650" u="none" cap="none" strike="noStrike">
              <a:solidFill>
                <a:schemeClr val="dk1"/>
              </a:solidFill>
              <a:latin typeface="Calibri"/>
              <a:ea typeface="Calibri"/>
              <a:cs typeface="Calibri"/>
              <a:sym typeface="Calibri"/>
            </a:endParaRPr>
          </a:p>
        </p:txBody>
      </p:sp>
      <p:sp>
        <p:nvSpPr>
          <p:cNvPr id="255" name="Google Shape;255;p13"/>
          <p:cNvSpPr/>
          <p:nvPr/>
        </p:nvSpPr>
        <p:spPr>
          <a:xfrm>
            <a:off x="1508760" y="3300984"/>
            <a:ext cx="67665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250"/>
              <a:buFont typeface="Calibri"/>
              <a:buNone/>
            </a:pPr>
            <a:r>
              <a:rPr b="0" i="0" lang="en-US" sz="1250" u="none" cap="none" strike="noStrike">
                <a:solidFill>
                  <a:srgbClr val="94A3B8"/>
                </a:solidFill>
                <a:latin typeface="Calibri"/>
                <a:ea typeface="Calibri"/>
                <a:cs typeface="Calibri"/>
                <a:sym typeface="Calibri"/>
              </a:rPr>
              <a:t>Any way you can — the web upload button counts. The goal is just to have touched it once.</a:t>
            </a:r>
            <a:endParaRPr b="0" i="0" sz="1250" u="none" cap="none" strike="noStrike">
              <a:solidFill>
                <a:schemeClr val="dk1"/>
              </a:solidFill>
              <a:latin typeface="Calibri"/>
              <a:ea typeface="Calibri"/>
              <a:cs typeface="Calibri"/>
              <a:sym typeface="Calibri"/>
            </a:endParaRPr>
          </a:p>
        </p:txBody>
      </p:sp>
      <p:sp>
        <p:nvSpPr>
          <p:cNvPr id="256" name="Google Shape;256;p13"/>
          <p:cNvSpPr/>
          <p:nvPr/>
        </p:nvSpPr>
        <p:spPr>
          <a:xfrm>
            <a:off x="457200" y="4069080"/>
            <a:ext cx="8229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9488"/>
              </a:buClr>
              <a:buSzPts val="1400"/>
              <a:buFont typeface="Calibri"/>
              <a:buNone/>
            </a:pPr>
            <a:r>
              <a:rPr b="0" i="0" lang="en-US" sz="1400" u="none" cap="none" strike="noStrike">
                <a:solidFill>
                  <a:srgbClr val="0D9488"/>
                </a:solidFill>
                <a:latin typeface="Calibri"/>
                <a:ea typeface="Calibri"/>
                <a:cs typeface="Calibri"/>
                <a:sym typeface="Calibri"/>
              </a:rPr>
              <a:t>Bring questions. Next time we go deeper on the lifecycle and get your environment set up.</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